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6"/>
  </p:notesMasterIdLst>
  <p:handoutMasterIdLst>
    <p:handoutMasterId r:id="rId189"/>
  </p:handoutMasterIdLst>
  <p:sldIdLst>
    <p:sldId id="256" r:id="rId4"/>
    <p:sldId id="257" r:id="rId5"/>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 id="373" r:id="rId117"/>
    <p:sldId id="374" r:id="rId118"/>
    <p:sldId id="375" r:id="rId119"/>
    <p:sldId id="376" r:id="rId120"/>
    <p:sldId id="377" r:id="rId121"/>
    <p:sldId id="378" r:id="rId122"/>
    <p:sldId id="379" r:id="rId123"/>
    <p:sldId id="380" r:id="rId124"/>
    <p:sldId id="381" r:id="rId125"/>
    <p:sldId id="382" r:id="rId126"/>
    <p:sldId id="383" r:id="rId127"/>
    <p:sldId id="384" r:id="rId128"/>
    <p:sldId id="385" r:id="rId129"/>
    <p:sldId id="386" r:id="rId130"/>
    <p:sldId id="387" r:id="rId131"/>
    <p:sldId id="388" r:id="rId132"/>
    <p:sldId id="389" r:id="rId133"/>
    <p:sldId id="390" r:id="rId134"/>
    <p:sldId id="391" r:id="rId135"/>
    <p:sldId id="392" r:id="rId136"/>
    <p:sldId id="393" r:id="rId137"/>
    <p:sldId id="394" r:id="rId138"/>
    <p:sldId id="395" r:id="rId139"/>
    <p:sldId id="396" r:id="rId140"/>
    <p:sldId id="397" r:id="rId141"/>
    <p:sldId id="398" r:id="rId142"/>
    <p:sldId id="399" r:id="rId143"/>
    <p:sldId id="400" r:id="rId144"/>
    <p:sldId id="401" r:id="rId145"/>
    <p:sldId id="402" r:id="rId146"/>
    <p:sldId id="403" r:id="rId147"/>
    <p:sldId id="404" r:id="rId148"/>
    <p:sldId id="405" r:id="rId149"/>
    <p:sldId id="406" r:id="rId150"/>
    <p:sldId id="407" r:id="rId151"/>
    <p:sldId id="408" r:id="rId152"/>
    <p:sldId id="409" r:id="rId153"/>
    <p:sldId id="410" r:id="rId154"/>
    <p:sldId id="411" r:id="rId155"/>
    <p:sldId id="412" r:id="rId156"/>
    <p:sldId id="413" r:id="rId157"/>
    <p:sldId id="414" r:id="rId158"/>
    <p:sldId id="415" r:id="rId159"/>
    <p:sldId id="416" r:id="rId160"/>
    <p:sldId id="417" r:id="rId161"/>
    <p:sldId id="418" r:id="rId162"/>
    <p:sldId id="419" r:id="rId163"/>
    <p:sldId id="420" r:id="rId164"/>
    <p:sldId id="421" r:id="rId165"/>
    <p:sldId id="422" r:id="rId166"/>
    <p:sldId id="423" r:id="rId167"/>
    <p:sldId id="424" r:id="rId168"/>
    <p:sldId id="425" r:id="rId169"/>
    <p:sldId id="426" r:id="rId170"/>
    <p:sldId id="427" r:id="rId171"/>
    <p:sldId id="428" r:id="rId172"/>
    <p:sldId id="429" r:id="rId173"/>
    <p:sldId id="430" r:id="rId174"/>
    <p:sldId id="431" r:id="rId175"/>
    <p:sldId id="432" r:id="rId176"/>
    <p:sldId id="433" r:id="rId177"/>
    <p:sldId id="434" r:id="rId178"/>
    <p:sldId id="435" r:id="rId179"/>
    <p:sldId id="436" r:id="rId180"/>
    <p:sldId id="437" r:id="rId181"/>
    <p:sldId id="438" r:id="rId182"/>
    <p:sldId id="439" r:id="rId183"/>
    <p:sldId id="440" r:id="rId184"/>
    <p:sldId id="441" r:id="rId185"/>
    <p:sldId id="278" r:id="rId186"/>
    <p:sldId id="279" r:id="rId187"/>
    <p:sldId id="280" r:id="rId18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80" userDrawn="1">
          <p15:clr>
            <a:srgbClr val="747775"/>
          </p15:clr>
        </p15:guide>
        <p15:guide id="2" pos="2895"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80"/>
        <p:guide pos="2895"/>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2" Type="http://schemas.openxmlformats.org/officeDocument/2006/relationships/tableStyles" Target="tableStyles.xml"/><Relationship Id="rId191" Type="http://schemas.openxmlformats.org/officeDocument/2006/relationships/viewProps" Target="viewProps.xml"/><Relationship Id="rId190" Type="http://schemas.openxmlformats.org/officeDocument/2006/relationships/presProps" Target="presProps.xml"/><Relationship Id="rId19" Type="http://schemas.openxmlformats.org/officeDocument/2006/relationships/slide" Target="slides/slide15.xml"/><Relationship Id="rId189" Type="http://schemas.openxmlformats.org/officeDocument/2006/relationships/handoutMaster" Target="handoutMasters/handoutMaster1.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4.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Bienvenue à la leçon 37, dont le thème est les indicateurs de performance — Performance Metrics. Cette leçon couvre les FLOPS, la bande passante, la latence, le taux d utilisation ainsi que le modèle Roofline, qui sont les outils d analyse fondamentaux pour l optimisation des systèmes de calcul haute performance et d IA. Ils nous aident à mesurer quantitativement les goulots d étranglement de performance des programmes et du 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Pourquoi avons-nous besoin d indicateurs de performance ? Dans le HPC et l optimisation de systèmes, nous devons analyser quantitativement les performances des programmes et du matériel — différents indicateurs révèlent différents niveaux de goulots d étranglement. Cette leçon présente cinq catégories d indicateurs clés : les FLOPS mesurent la capacité de calcul, la bande passante mesure le débit de données, la latence mesure le temps d accès simple, le taux d utilisation mesure l efficacité d utilisation des ressources, et le Roofline Model est un outil de visualisation pour l analyse complète des types de goulots d étranglement.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Les indicateurs de performance peuvent être classés en deux grandes catégories selon le type de goulot d'étranglement. La première est liée à la capacité de calcul : FLOPS mesure le nombre d'opérations en virgule flottante par seconde, c'est l'indicateur clé pour les tâches à forte intensité de calcul ; le taux d'utilisation reflète l'efficacité d'utilisation réelle des ressources matérielles. La deuxième est liée à la capacité d'accès aux données : la bande passante détermine la limite de débit des applications à forte intensité de données ; la latence mesure le coût temporel d'un accès aux données. Le Roofline Model combine les deux types de goulots d'étranglement pour déterminer si le programme est limité par le calcul ou par l'accès mémoire, orientant ainsi les directions d'optimisation.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FLOPS, dont le nom complet est Floating Point Operations Per Second, soit opérations en virgule flottante par seconde, est l'indicateur clé pour mesurer la capacité de calcul. Les unités courantes, de la plus petite à la plus grande, sont : MFLOPS, 10 puissance 6 ; GFLOPS, 10 puissance 9 ; TFLOPS, 10 puissance 12 ; PFLOPS, 10 puissance 15. La puissance de crête des GPU modernes se situe généralement au niveau de centaines de TFLOPS, tandis que les clusters d'entraînement IA à grande échelle peuvent atteindre le niveau PFLOPS.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Examinons un exemple de calcul FLOPS. En supposant un CPU avec une fréquence de 3 GHz et capable d'exécuter 8 opérations en virgule flottante par cycle d'horloge, la performance de crête théorique est égale à la fréquence multipliée par le nombre de FLOP par cycle, soit 3×10 puissance 9 multiplié par 8, ce qui donne 24 GFLOPS. Il faut souligner qu'il s'agit d'une valeur de crête théorique ; la performance réelle est généralement bien inférieure, car les stalls de pipeline, la latence d'accès mémoire et d'autres facteurs réduisent la capacité de calcul effective.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Il existe souvent un ecart significatif entre les FLOPS theoriques et les FLOPS reels. Le pic theorique est entierement determine par les specifications materielles, calcule a partir du nombre de coeurs, de la frequence d'horloge et des instructions par cycle. Les FLOPS reels sont influences par de nombreux facteurs et sont generalement bien inferieurs au pic theorique. Les quatre principaux facteurs d'influence sont: le Cache miss qui provoque des arrets d'acces memoire; l'echec de prediction de branchement qui entraine le vidage du pipeline; les dependances d'instructions qui limitent le parallelisme; et la bande passante memoire insuffisante qui empeche l'approvisionnement en donnees de suivre la vitesse de calcul. L'objectif de l'optimisation est de combler cet ecart autant que possible.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bande passante (Bandwidth) represente la quantite de donnees transmissible par unite de temps, determinant la limite superieure du debit des applications intensives en donnees. Les unites courantes sont MB/s, GB/s et TB/s. Il existe trois scenarios typiques pour la bande passante: la bande passante memoire, c'est-a-dire la vitesse d'acces CPU/GPU a la memoire principale; la bande passante disque, determinant le debit I/O; la bande passante reseau, affectant l'efficacite de communication dans l'entrainement distribue. Dans les scenarios d'entrainement AI, la bande passante de la memoire GPU est l'un des goulots d'etranglement les plus surveilles.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Exemple de calcul de bande passante: en supposant une bande passante memoire de 100 GB/s et que le programme doit lire 200 GB de donnees, le temps theorique minimum est de 200 GB divise par 100 GB/s, soit 2 secondes. C'est la borne inferieure du cout d'acces memoire pur, le temps reel ne peut qu'etre plus long. Cet exemple illustre de maniere intuitive: lorsque la quantite de donnees est importante et la bande passante limitee, le temps d'acces memoire domine la performance globale, et le programme se retrouve dans un etat Memory Bound.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latence represente le temps necessaire pour terminer une operation, en se concentrant sur la vitesse de reponse d'une requete unique. Les scenarios typiques incluent : la latence d'acces memoire, la latence reseau et la latence d'acces disque. Les unites courantes sont : ns (nanoseconde), soit 10 puissance moins 9 secondes ; us (microseconde), 10 puissance moins 6 secondes ; ms (milliseconde), 10 puissance moins 3 secondes. La difference essentielle entre latence et bande passante est que la latence decrit la rapidite d'une operation unique, tandis que la bande passante decrit la capacite de debit pour traiter les donnees en continu.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Les donnees de latence typiques des niveaux de stockage sont les suivantes : L1 Cache environ 1 nanoseconde ; L2 Cache environ 4 nanosecondes ; DRAM memoire principale environ 100 nanosecondes. La regle est claire : plus le niveau de stockage est eloigne, plus la latence est importante, avec un ecart pouvant atteindre deux ordres de grandeur. C'est precisement la raison fondamentale pour laquelle, en programmation, il faut maximiser le taux de reussite du Cache - eviter les acces frequents a la DRAM et garder les donnees chaudes dans les caches L1/L2 permet de reduire la latence d'acces memoire de 100 fois.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latence et la bande passante sont deux dimensions de performance complementaires qu'il faut clairement distinguer. La latence repond a la question : combien de temps faut-il pour terminer une operation independante, en se concentrant sur la vitesse de reponse d'une requete unique. La bande passante repond a : combien de donnees peuvent etre traitees par unite de temps, en se concentrant sur la capacite globale de debit du systeme. Une analogie intuitive : la latence correspond au temps qu'il faut a une voiture pour demarrer depuis l'arret ; la bande passante correspond au nombre de voies sur une autoroute. Une bande passante elevee avec une faible latence est l'etat ideal, mais les methodes d'optimisation des deux sont souvent differentes.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L'utilization (taux d'utilisation) mesure l'efficacité réelle d'utilisation des ressources matérielles. La formule est : le taux d'utilisation égale la performance réelle divisée par le pic théorique, généralement exprimé en pourcentage. Exemple : si le pic théorique du GPU est de 10 TFLOPS et que le programme atteint 5 TFLOPS, le taux d'utilisation est de 50%. L'utilization est un indicateur direct pour mesurer l'effet de l'optimisation — avec le même matériel, faire passer le taux d'utilisation de 30% à 80% signifie une amélioration des performances d'environ 3 fois, sans changer aucun 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Même avec du matériel puissant, si le taux d'utilisation est faible, les performances réelles restent mauvaises. Les causes courantes de faible taux d'utilisation sont au nombre de quatre : le goulot d'étranglement mémoire, où la vitesse d'approvisionnement des données n'arrive pas à suivre la vitesse de consommation des unités de calcul ; l'attente de synchronisation, où les threads ou processus attendent à des barrières, laissant les unités de calcul tourner à vide ; le déséquilibre de charge, où certains cœurs sont surchargés tandis que d'autres sont inactifs ; et l'attente E/S, où les unités de calcul sont forcées de s'arrêter en attendant des données du disque ou du réseau. Trouver la véritable cause racine du faible taux d'utilisation est la première étape de l'optimisation des performances.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Les goulots d'étranglement de performance se divisent en deux catégories, nécessitant des stratégies d'optimisation complètement différentes. Le goulot de calcul (Compute Bound) : caractérisé par des FLOPS atteignant leur limite, les unités de calcul sont saturées ; la direction d'optimisation est d'améliorer l'efficacité de calcul, incluant l'optimisation d'algorithme, la parallélisation et la vectorisation SIMD. Le goulot mémoire (Memory Bound) : caractérisé par une bande passante limitée, un approvisionnement en données insuffisant ; la direction d'optimisation est d'améliorer l'efficacité d'accès aux données, incluant l'optimisation de la disposition des données, le Cache blocking et l'augmentation du taux de réutilisation des données. Connaissance clé : il faut d'abord déterminer le type de goulot, puis choisir la stratégie d'optimisation, sinon l'optimisation risque d'être complètement mal orientée.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 modele Roofline est un modele d'analyse de performance visuelle propose par Berkeley Lab, specialement concu pour identifier les types de goulots d'etranglement des programmes. Son objectif principal est double : premierement, determiner si un programme est Compute Bound ou Memory Bound ; deuxiemement, guider le choix de bonnes orientations d'optimisation en fonction du type de goulot d'etranglement. Le modele Roofline combine l'intensite arithmetique du programme avec la puissance de calcul de pointe du materiel et les contraintes de bande passante sur un meme graphique, rendant les goulots d'etranglement clairement visibles.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Les deux axes du modele Roofline sont definis comme suit. L'axe X est l'intensite arithmetique (Arithmetic Intensity), en unite FLOP/Byte, c'est-a-dire le nombre d'operations flottantes effectuees par octet de donnees transferees, refletant le rapport calcul/acces memoire du programme. L'axe Y est la performance, en unite FLOPS, c'est-a-dire le nombre d'operations flottantes par seconde. Les programmes avec une faible intensite arithmetique ont tendance a etre limites par la memoire, tandis que ceux avec une forte intensite arithmetique ont tendance a etre limites par le calcul ; ce point de separation est le coeur du modele Roofline.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 modele Roofline comprend deux lignes de contrainte. La premiere est la ligne de bande passante (Bandwidth Line) : la pente correspond a la bande passante memoire, representant la limite de performance sous la contrainte de bande passante actuelle ; les programmes situes dans cette zone sont Memory Bound. La deuxieme est le plafond de calcul (Compute Roof) : une ligne horizontale egale au pic theorique FLOPS du materiel, representant la limite materielle de capacite de calcul ; les programmes situes dans cette zone sont Compute Bound. Conclusion cle : la performance reelle de tout programme ne peut depasser ces deux lignes, et l'objectif de l'optimisation est de rapprocher le programme de la ligne de plafond correspondante.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multiplication matricielle est un exemple typique de Compute Bound. Le volume de calcul est O(n³), le volume de données est O(n²), donc l'intensité arithmétique égale O(n³) divisé par O(n²) soit O(n) — elle croît linéairement avec la taille de la matrice, l'intensité arithmétique est très élevée. Cela signifie que pour des matrices suffisamment grandes, chaque octet de données chargé permet d'effectuer O(n) opérations à virgule flottante, les données étant hautement réutilisées. Par conséquent, la multiplication matricielle se situe dans la zone du plafond de calcul dans le diagramme Roofline, et l'accent de l'optimisation porte sur l'amélioration de l'efficacité de calcul, comme l'utilisation de Tensor Core ou d'instructions SIMD.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L'addition vectorielle est un exemple typique de Memory Bound. L'opération est C[i] = A[i] + B[i], chaque itération de boucle effectue seulement 1 addition, mais nécessite la lecture de A[i], la lecture de B[i] et l'écriture de C[i], soit 3 accès mémoire. L'intensité arithmétique est extrêmement faible, environ 1/3 FLOP/Byte. Le volume de calcul est minime, le volume d'accès mémoire est énorme, et dans le diagramme Roofline, elle se situe dans la zone Memory Bound à gauche de la ligne de bande passante. L'accent de l'optimisation n'est pas sur l'accélération du calcul, mais sur la réduction du nombre d'accès mémoire et l'amélioration du taux de réutilisation des données.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Comment le modèle Roofline guide-t-il l'optimisation ? Pour les programmes dans la zone Memory Bound, les stratégies d'optimisation sont : augmenter la réutilisation des données, réduire les chargements répétés par le découpage en blocs (Blocking) dans le Cache ; optimiser la disposition des données pour améliorer la localité des accès mémoire. Pour les programmes dans la zone Compute Bound, les stratégies d'optimisation sont : vectorisation SIMD, une instruction traitant plusieurs données ; parallélisation, utilisant pleinement les multi-cœurs ; ou utilisation de l'accélération parallèle massive par GPU. Idée centrale : traiter le problème de manière ciblée, d'abord localiser la position du programme dans le diagramme Roofline, puis choisir les moyens d'optimisation adaptés.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Résumé de cette leçon. Nous avons présenté cinq catégories d'indicateurs de performance essentiels : les FLOPS mesurent la capacité de calcul ; la bande passante mesure le débit de données ; la latence mesure le temps d'accès unitaire ; le taux d'utilisation mesure l'efficacité d'utilisation des ressources ; le Roofline Model est un outil visuel pour analyser globalement les goulots d'étranglement de performance et déterminer s'il s'agit de Compute Bound ou Memory Bound. Ces indicateurs constituent le langage fondamental de l'optimisation des calculs haute performance, et constituent également le cadre d'analyse pour les prochaines sessions sur l'optimisation des opérateurs CUDA et le réglage des compilateurs AI. Maîtriser l'analyse de performance est essentiel pour écrire des programmes véritablement efficaces.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à tous, aujourd'hui nous entamons la trente-huitième leçon, dont le thème est l'auto-optimisation. Les cours précédents ont déjà couvert l'implémentation d'opérateurs, Flash Attention et d'autres opérateurs spécifiques ainsi que des techniques d'optimisation; cette leçon traite de la manière de rechercher systématiquement et automatiquement des implémentations haute performance pour différents matériels et opérateurs, c'est-à-dire l'auto-optimisation de noyaux. Le contenu couvre le contexte et les défis, TVM et AutoTVM, la recherche de modèles, divers algorithmes de recherche ainsi que des conseils expérimentaux basés sur FlagPerf, formant une boucle complète avec les compilateurs AI et le développement d'opérateurs.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présente une vue d'ensemble de l'auto-optimisation : les algorithmes d'auto-optimisation et leur implémentation bas niveau, de la recherche de modèles à l'optimisation des opérateurs pilotée par l'IA. Pour un même opérateur sur différents matériels ou à différentes échelles, la taille de bloc optimale, le degré de parallélisme, l'ordre des boucles, etc. diffèrent souvent; l'écriture manuelle ou le réglage manuel sont coûteux et difficiles à transférer. L'auto-optimisation permet, en définissant un espace de recherche, en échantillonnant des configurations, en mesurant les performances et en itérant, d'approcher une implémentation optimale ou quasi-optimale dans un temps acceptable. Le schéma accompagnera des illustrations telles que "optimisation automatique de noyaux pour toutes les plateformes matérielles" pour établir une impression d'ensemble.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est le sommaire, presentant la structure du cours : contexte et defis ; cadre principal et flux de travail, incluant TVM, AutoTVM et analyse de recherche de modeles ; algorithmes de recherche heuristiques classiques, tels que le recuit simule et les algorithmes genetiques ; optimisation basee sur apprentissage automatique, comme optimisation bayesienne et apprentissage par renforcement ; guide experimental, c est-a-dire evaluation des performances du noyau basee sur FlagPerf.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explique la necessite de optimisation automatique. Explosion des combinaisons materiel-operateur : differents GPU, NPU, CPU ont des hierarchies de stockage, des jeux dinstructions et des granularites de parallelisme differentes. Optimisation automatique transforme comment ecrire le code optimal en trouver la configuration optimale dans espace de recherche.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Google Sans Text"/>
              </a:defRPr>
            </a:lvl1pPr>
          </a:lstStyle>
          <a:p>
            <a:pPr indent="0" algn="l">
              <a:lnSpc>
                <a:spcPct val="100000"/>
              </a:lnSpc>
            </a:pPr>
            <a:r>
              <a:t>Cette page definit le concept doptimisation automatique du noyau. Un noyau designe lunite de code executant une ou quelques operations sur le materiel cible. Optimisation automatique consiste a rechercher la configuration optimale en echantillonnant des configurations et en collectant les metriques de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retrace l'evolution des principaux cadres d'optimisation. Des premiers Halide, OpenTuner a TVM et AutoTVM, puis Ansor, TensorIR, etc., la tendance est d'elargir l'espace de recherche, passant de modeles ecrits manuellement a des espaces generes automatiquement plus vastes et plus flexibles, avec des strategies de recherche evoluant de l'aleatoire et genetique vers des methodes bayesiennes, l'apprentissage par renforcement, etc. Le schema montrera une ligne temporelle ou une comparaison de cadres. A souligner lors du cours : cette lecon se concentre sur TVM/AutoTVM, mais les concepts s'appliquent a d'autres systemes d'optimisation automatique modernes.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se concentre sur TVM et AutoTVM. TVM fournit des graphes de calcul et expressions tensorielles, des primitives d'ordonnancement, ainsi qu'une generation de code multi-cibles ; AutoTVM ajoute l'optimisation automatique au-dessus de TVM : les utilisateurs ou modeles definissent l'espace d'ordonnancement, l'optimiseur echantillonne dans cet espace, compile, execute et enregistre les performances, utilisant des algorithmes de recherche pour trouver la configuration optimale. Le schema montrera la relation entre la pile TVM et les composants d'AutoTVM. C'est le cadre central de cette lecon ; le "flux de travail complet" et la "recherche de modeles" subsequents s'appuient sur cette base.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等线" panose="02010600030101010101" charset="-122"/>
              </a:defRPr>
            </a:lvl1pPr>
          </a:lstStyle>
          <a:p>
            <a:pPr indent="0" algn="l">
              <a:lnSpc>
                <a:spcPct val="100000"/>
              </a:lnSpc>
            </a:pPr>
            <a:r>
              <a:t>Cette page detaille le flux de travail complet d'AutoTVM. Il comprend generalement : rediger des modeles pour les operateurs avec les primitives d'ordonnancement de TVM, definir les parametres ajustables et l'espace de recherche ; la tache d'optimisation echantillonne l'espace, chaque echantillon genere une configuration specifique, compile pour l'appareil cible, execute et mesure ; les resultats de mesure sont passes a l'algorithme de recherche, qui met a jour le modele ou la strategie et decide du prochain lot d'echantillons ; repetition jusqu'a atteindre le budget ou la convergence. Le schema montrera un diagramme de flux du "modele + espace" au "compiler-executer-retour d'information". Une fois ce flux compris, les motivations pour les "limitations de la recherche de modeles" et "algorithmes de recherche avances" deviennent plus claires.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r>
              <a:rPr>
                <a:sym typeface="+mn-ea"/>
              </a:rPr>
              <a:t>Cette page présente la recherche basée sur des modèles. Les modèles sont rédigés par des experts et définissent la structure du code des opérateurs ainsi que les paramètres ajustables (knobs), tels que la taille des blocs ou le facteur de déroulement (unroll). L'espace de recherche correspond au produit cartésien ou à un sous-ensemble de ces paramètres. L'algorithme de recherche échantillonne et évalue dans cet espace, sans avoir besoin de générer du code à partir de zéro, ce qui rend l'implémentation simple, contrôlable et garantit une correction de base du code généré. La figure illustre la relation « modèle + paramètres → implémentation concrète ». C'est une utilisation typique d'AutoTVM, et prépare également la page suivante sur les « limitations ».</a:t>
            </a:r>
            <a:endParaRPr>
              <a:sym typeface="+mn-ea"/>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r>
              <a:rPr>
                <a:sym typeface="+mn-ea"/>
              </a:rPr>
              <a:t>Cette page analyse les limites de la recherche par modèles. Les avantages sont un espace de recherche relativement restreint, une convergence rapide, et une qualité de code générée garantie par un seuil minimum. Les limites sont: un coût de développement élevé, chaque nouvel opérateur ou nouveau matériel nécessitant souvent que les experts réécrivent les modèles; une optimalité non globale, si l'implémentation optimale n'est pas dans la structure définie par les modèles, la recherche ne la trouvera jamais. Cela a motivé l'exploration d'approches « sans modèle » ou « à espace plus large », ainsi que des algorithmes de recherche plus efficaces. Le diagramme présente les avantages et limites côte à côte. Lors de l'enseignement, on peut souligner: les approches génétiques, bayésiennes et l'apprentissage par renforcement visent toutes à effectuer une recherche efficace dans un espace plus large avec moins d'intervention humaine.</a:t>
            </a:r>
            <a:endParaRPr>
              <a:sym typeface="+mn-ea"/>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rPr>
                <a:sym typeface="+mn-ea"/>
              </a:rPr>
              <a:t>Cette page présente une vue d'ensemble de plusieurs algorithmes d'exploration avancés, pouvant inclure le recuit simulé, les algorithmes génétiques, l'optimisation bayésienne et le rôle de l'apprentissage par renforcement dans le réglage. Elle aborde également le compromis entre l'espace de recherche et l'efficacité de l'échantillonnage. Le texte de transition peut brièvement expliquer que dans les scénarios de réglage discrets, de haute dimensionnalité et à évaluation coûteuse, la recherche aléatoire ou par grille simple est insuffisante, nécessitant des stratégies d'exploration et d'exploitation plus intelligentes.</a:t>
            </a:r>
            <a:endParaRPr>
              <a:sym typeface="+mn-ea"/>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等线" panose="02010600030101010101" charset="-122"/>
              </a:defRPr>
            </a:lvl1pPr>
          </a:lstStyle>
          <a:p>
            <a:pPr indent="0" algn="l">
              <a:lnSpc>
                <a:spcPct val="100000"/>
              </a:lnSpc>
            </a:pPr>
            <a:r>
              <a:t>Cette page presente lapplication du recuit simule dans lauto-optimisation. Le recuit simule controle la probabilite daccepter des solutions inferieures via un parametre de temperature, favorisant lexploration en debut de processus et lexploitation en fin de processus, ce qui convient aux espaces de planification non convexes et multimodaux. Dans des frameworks comme TVM, il permet une iteration ponctuelle : echantillonnage de voisinage de la configuration actuelle, mise a jour du point courant selon un critere dacceptation. Le schema montrera la courbe de refroidissement ou sa correspondance avec la boucle doptimisation. Lenseignement soulignera sa caracteristique de marche aleatoire ponctuelle, attenuation de temperature en contraste avec lalgorithme genetique de la page suivante avec sa population, parallelisme multipoint.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presente lalgorithme genetique comme lun des algorithmes dexploration avances. Lalgorithme genetique maintient une population de configurations, produisant de nouvelles generations par selection, croisement et mutation, pour converger vers une solution optimale sur plusieurs iterations. Dans lespace de planification, chaque individu correspond a un ensemble de parametres de planification, ladaptation etant la performance mesuree reellement. Le schema montrera le processus de GA ou son integration avec TVM. Lenseignement soulignera que GA ne depend pas des gradients, convient aux espaces discrets et irreguliers, et est compatible avec les contraintes comme la taille de bloc sur GPU devant etre un multiple de 32.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detaille les avantages de lalgorithme genetique dans la recherche despaces doptimisation. Recherche parallele multipoint : contrairement a la marche ponctuelle du recuit simule, GA explore simultanement plusieurs regions, evitant les optimaux locaux. Adapte aux espaces discrets et irreguliers : les parametres doptimisation materielle sont souvent discontinus, la descente de gradient est difficile a appliquer directement, GA na aucune exigence de differenciabilite. Des travaux comme Ansor de TVM utilisent largement les idees genetiques pour la recherche evolutive dans les espaces de planification. Le schema accompagnera dune illustration de lespace de recherche ou dun tableau comparatif. Le tout sinscrit dans le fil conducteur du cours compilateurs AI et optimisation doperateurs.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présente l'application de l'optimisation bayésienne dans le réglage automatique. L'optimisation bayésienne utilise des modèles de substitution comme les processus gaussiens pour ajuster la fonction inconnue « configuration → performance », et combine des fonctions d'acquisition pour équilibrer exploration et exploitation, atteignant l'optimal global avec moins d'évaluations. Dans AutoTVM, elle est couramment utilisée comme backend de réglage : chaque nouvelle mesure met à jour le modèle de substitution, puis la fonction d'acquisition choisit la prochaine configuration à tester. Le schéma montre le cycle d'optimisation bayésienne ou l'interface avec TVM. À enseigner en soulignant ses caractéristiques : « efficacité d'échantillonnage élevée, adaptée aux évaluations coûteuses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présente l'application de l'apprentissage par renforcement dans l'auto-optimisation. Le processus d'optimisation est modélisé comme une décision séquentielle : l'état est la configuration testée actuelle et les performances, ou les caractéristiques du code actuel ; l'action est la configuration à échantillonner ensuite ou la transformation d'ordonnancement ; la récompense est la performance finale ou l'amélioration. On apprend "quelle configuration choisir dans quel état" via des réseaux de politiques ou l'apprentissage Q. Le schéma montrera la correspondance entre RL et le cycle d'optimisation. À noter lors de l'enseignement : RL peut traiter de grands espaces et des dépendances à long terme, mais les besoins en échantillons et la stabilité sont des défis pour le déploiement pratique.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rPr>
                <a:sym typeface="+mn-ea"/>
              </a:rPr>
              <a:t>Cette page présente un résumé comparatif des algorithmes de recherche mentionnés ci-dessus, en comparant potentiellement le recuit simulé, les algorithmes génétiques, l'optimisation bayésienne et l'apprentissage par renforcement selon des dimensions telles que la méthode de recherche, l'efficacité des échantillons, le type d'espace applicable et la complexité de mise en œuvre. Lors de l'enseignement, on peut résumer : il n'existe pas d'algorithme universellement optimal, il faut choisir en fonction de la taille de l'espace, du coût d'évaluation, de la possibilité d'évaluation parallèle, etc. ; l'industrie utilise souvent des stratégies hybrides ou un réglage automatique des optimiseurs.</a:t>
            </a:r>
            <a:endParaRPr>
              <a:sym typeface="+mn-ea"/>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Google Sans"/>
              </a:defRPr>
            </a:lvl1pPr>
          </a:lstStyle>
          <a:p>
            <a:r>
              <a:rPr>
                <a:sym typeface="+mn-ea"/>
              </a:rPr>
              <a:t>Cette page présente les cas d'application de l'auto-réglage dans des systèmes réels, comme l'optimisation par lots d'opérateurs courants pour un nouveau GPU, l'exécution d'un réglage hors ligne sur des noyaux clés avant le déploiement avec configuration figée, ou l'optimisation conjointe du recouvrement communication-calcul avec des frameworks d'entraînement distribué. Les figures peuvent présenter des cas d'usage ou des données d'amélioration des performances. Elle fait écho à l'objectif du cours « acquérir la capacité de déployer et d'optimiser dans des environnements multi-GPU/multi-machines ».</a:t>
            </a:r>
            <a:endParaRPr>
              <a:sym typeface="+mn-ea"/>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a:sym typeface="+mn-ea"/>
              </a:rPr>
              <a:t>Cette page résume l'autoréglage. L'autoréglage résout le problème critique de la migration des performances d'opérateurs entre différentes plateformes matérielles ; de l'approche basée sur des modèles à l'approche sans modèle, l'intervention manuelle diminue progressivement ; la combinaison de plusieurs algorithmes de recherche IA améliore l'efficacité de l'optimisation dans des espaces de haute dimension. Les tendances futures incluent : l'introduction de grands modèles au niveau de la couche logique du compilateur pour comprendre directement la sémantique matérielle et générer ou guider le réglage ; le réglage sensible aux multi-puces et aux clusters, en s'intégrant avec des plateformes comme FlagScale pour réaliser un réglage conjoint à travers des cartes multiples et des architectures de communication. Le schéma résume les points clés et les perspectives. Cette conclusion rassemble l'ensemble du cours et peut servir de transition vers les cours sur les systèmes distribués et les compilateurs.</a:t>
            </a:r>
            <a:endParaRPr>
              <a:sym typeface="+mn-ea"/>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Discutons maintenant du premier facteur clé affectant le taux d'occupation : les registres. La quantité disponible de registres est souvent l'un des principaux goulots d'étranglement limitant la performance des grands noyaux. Prenons un exemple concret : supposons qu'un GPU ait 16384 registres par SM, et qu'un noyau en cours d'exécution nécessite 35 registres par thread. Un calcul simple montre que chaque SM ne peut exécuter que 468 threads simultanément. Cela affecte directement notre choix de taille de bloc de threads. Une taille de bloc de 512 est alors impossible. Si nous choisissons des blocs de 256 threads, un seul bloc peut résider à la fois, ce qui gaspille une capacité de calcul théorique de 212 threads. En ajustant à des blocs de 128 threads, trois blocs peuvent s'exécuter simultanément, offrant 384 threads planifiables. Par conséquent, une allocation rationnelle des registres est cruciale pour améliorer la concurrence.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un autre exemple intuitif concernant le taux d'occupation des registres. Prenons un SM avec 16384 registres. Cette fois, nous fixons la taille de bloc de threads du noyau à 256 threads. Supposons que dans l'implémentation actuelle du code, chaque thread nécessite 17 registres. Chaque bloc consommera donc 4352 registres. Si les registres sont le seul facteur limitant, ce processeur permet au maximum 3 blocs actifs simultanés. Cependant, il suffit de refactoriser le code sous-jacent de l'opérateur pour réduire l'utilisation des registres par thread à 16, pour permettre à 4 blocs actifs de s'exécuter simultanément. Utiliser un registre de moins permet ainsi une augmentation significative de la concurrence globale.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deuxième facteur affectant le taux d'occupation est la mémoire partagée. La capacité de mémoire partagée de chaque SM sur un GPU est extrêmement limitée. Dans les architectures matérielles récentes, elle ne fait généralement que quelques dizaines à quelques centaines de Ko. Cette précieuse mémoire cache sur puce limite directement le nombre de blocs actifs que chaque processeur peut accueillir. Il est important de noter que selon l'algorithme spécifique du noyau, les exigences en mémoire partagée varient considérablement. Par exemple, pour le calcul d'histogramme, la quantité de données est souvent indépendante du nombre de threads. Tandis que pour les opérateurs comme la multiplication matricielle et la convolution, les besoins en mémoire partagée varient dynamiquement en fonction du nombre de threads. Il faut donc être très prudent lors de la conception des opérateurs.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troisieme facteur limitant est la limite materielle stricte sur le nombre de threads. Les GPU de differents fabricants imposent des restrictions strictes sur le nombre maximum de threads par bloc. Par exemple, les AMD GPU supportent au maximum 256 threads par bloc, tandis que les NVIDIA GPU supportent au maximum 512 threads voire plus. De plus, NVIDIA limite egalement le nombre total de threads actifs et de blocs actifs sur chaque SM, ce qui depend generalement de l architecture specifique. Par exemple, chaque SM peut etre limite a 768 ou 1024 threads, soit 8 a 16 Warp. Sur l architecture AMD, il existe une limite au niveau de tout le GPU pour le nombre de Wavefronts, par exemple le modele 5870 possede 496 wavefronts au total, soit environ 1600 threads par unite de calcul.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 resume, les limites de Register, de Shared Memory et du nombre de threads mentionnees precedemment constituent ensemble l effet de seau de la capacite de calcul du systeme. La plus petite de ces trois valeurs determine finalement la limite superieure du nombre de threads actifs dans une unite de calcul, c est-a-dire le taux d occupation physique. Les relations entre elles sont tres complexes. La granularite des limites peut etre au niveau d un thread individuel ou au niveau d un Wavefront. Dans le developpement pratique, modifier la taille du groupe de travail (c est-a-dire du bloc de threads) entraine directement une variation soudaine de la consommation globale de Register ou de Shared Memory. Parfois, sacrifier moderement certains indicateurs, comme reduire l utilisation de Register, permet a plus de groupes de travail d etre dans un etat actif. Le calculateur de taux d occupation NVIDIA Nsight peut presenter ces facteurs complexes sous forme de graphiques visuels, constituant un outil auxiliaire important pour les arbitrages.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examine plus en detail les mecanismes d arbitrage du taux d occupation au niveau de l ordonnancement systeme. Lorsque d autres Warps sont en cours d execution, les Warps qui sont en pause a cause d acces memoire ou de dependances d instructions continuent d occuper le Shared Memory et les Register dans le SM, qui restent physiquement persistants. Cette conception materielle est la garantie fondamentale permettant aux GPU de realiser des changements de contexte a tres faible cout. Cependant, le nombre de Warps actifs que chaque SM peut supporter a inevitabelement une limite physique. Son plafond est contraint conjointement par l utilisation de Shared Memory par bloc et l utilisation de Register par thread. Nous utilisons generalement l indicateur de taux d utilisation pour quantifier la situation des Warps actifs sur un SM. Que ce soit sur les plateformes NVIDIA ou AMD, maintenir un plus grand nombre de Warps actifs est un moyen cle pour realiser un masquage de latence profond et s aprocher de la limite de la capacite de calcul.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Apres avoir compris les principes d'execution au niveau materiel, nous devons introduire un outil d'analyse professionnel, a savoir Nsight Compute. C'est un outil d'analyse de performance approfondie concu specialement pour les noyaux CUDA. Sa valeur essentielle reside dans l'extraction et la synthese des donnees statistiques d'execution complexes de bas niveau en des indicateurs de performance cibles et faciles a verifier. En pratique, les developpeurs peuvent selectionner de maniere tres flexible la portee de collecte de donnees ainsi que le mode de presentation final du rapport. Que ce soit pour l'automatisation cote serveur via une interface en ligne de commande complete ou pour l'analyse interactive approfondie cote local via une interface graphique conviviale, il offre un support tres complet.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les options de ligne de commande essentielles de Nsight Compute. Lors de l'execution de taches en ligne de commande, la maitrise de ces parametres peut ameliorer considerablement notre efficacite d'analyse. Par exemple, l'option -O permet de specifier le fichier de rapport de sortie, l'option -F permet de forcer l'ecrasement d'un fichier existant. Les options -C ou -S permettent de controler precisement le nombre de lancements de noyaux a tracer ou a ignorer, ce qui est crucial pour eliminer le bruit des donnees de la phase de rechauffement. De plus, l'option set permet de configurer globalement le niveau de precision des indicateurs collectes, l'option -K permet de filtrer avec precision les noms d'operations a analyser via des expressions regulieres. Les options de la serie nvtx permettent une integration avec les points detrace dans le code, et l'option d'importation de code source peut meme mapper directement les resultats d'analyse aux lignes de votre code source.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l'interface graphique de Nsight Compute, la vue d'ensemble la plus essentielle est l'analyse de performance GPU Speed of Light. Ici, Speed of Light fait reference au rapport entre le debit d'execution de l'operation et la limite theorique du materiel, exprime en pourcentage. Elle peut montrer directement le taux d'utilisation de crete de l'operation actuelle sur les processeurs multiprocesseurs de flux et la memoire. De plus, l'outil fournit une fonction d'analyse du modele Roofline extremement importante. En generant un nuage de points Roofline, nous pouvons determiner en un coup d'oeil si l'operation actuelle se trouve dans une zone limitee par le calcul ou une zone limitee par la memoire. L'intensite operationnelle de l'operation, c'est-a-dire le rapport entre les instructions arithmetiques et les octets d'acces memoire, est clairement mappee sur le graphique. La distance du point a la limite du toit revele directement l'espace potentiel d'optimisation de la puissance de calcul pour cette operation.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dernière partie du rapport se concentre sur la topologie de charge de travail mémoire extrêmement technique. Grâce à ce diagramme de flux de données, l'outil quantifie avec précision la destination exacte de chaque requête de chargement et de stockage émise par le noyau. Nous pouvons surveiller très clairement le débit de transfert de données, depuis le cache de niveau un jusqu'au cache de niveau deux, puis vers la mémoire globale du périphérique. Il convient particulièrement de mentionner que le panneau d'avertissement à gauche détecte et met en évidence automatiquement les modèles d'accès mémoire potentiellement catastrophiques, comme les conflits d'accès sévères à la mémoire partagée ou les lectures non alignées de la mémoire globale entraînant un gaspillage important de la bande passante de transmission de secteurs invalides. Ces données de diagnostic précises constituent la base directe pour la restructuration de la logique d'accès mémoire des opérateurs.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theme central de cette quarantieme seance est la programmation assistee par les grands modeles de langage. Nous explorerons principalement comment les grands modeles reconfigurent l'ecosysteme de la pile logicielle existante et les modes de developpement des systemes sous-jacents.</a:t>
            </a:r>
            <a:br/>
            <a:br/>
            <a:b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indent="0" algn="l">
              <a:lnSpc>
                <a:spcPct val="100000"/>
              </a:lnSpc>
            </a:pPr>
            <a:r>
              <a:t>Bien, entrons dans la premiere partie : une nouvelle ere de programmation. Dans cette section, nous allons explorer pourquoi l'apparition des grands modeles marque l'avenement d'une nouvelle ere dans le domaine de la programmation. Nous partirons des points douloureux de la programmation traditionnelle pour voir comment l'assistance intelligente nous apporte de nouvelles possibilites.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Avant l'apparition des grands modeles, notre travail de programmation faisait face a de nombreux defis. Tout d'abord, un goulot d'etranglement d'efficacite : nous devions souvent ecrire beaucoup de code repete et consacrer de l'enerrie a memoriser divers details de syntaxe. Ensuite, le renouvellement technologique est tres rapide, la courbe d'apprentissage est tres abrupte, obligeant les developpeurs a courir sans cesse. De plus, l'ocean de connaissances est immense, nous rencontrons toujours des domaines qui nous sont inconnus, ce qui necessite des consultations frequentes de documentation. Enfin, le processus de debogage prend souvent beaucoup de temps et d'energie, c'est l'une des etapes les plus penibles du developpement. Ces points douloureux ont prepare le terrain pour l'essor de la programmation assistee par IA.</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Pour resoudre ces points douloureux, la programmation assistee par IA est nee, nous apportant un nouveau paradigme de programmation. En termes simples, la programmation assistee par IA consiste a utiliser les technologies d'IA, notamment les grands modeles de langage, pour nous aider a ecrire du code plus efficacement. Ses avantages sont tres evident : tout d'abord, elle accelere grandement la vitesse de codage ; ensuite, elle reduit significativement la barriere d'apprentissage de la programmation ; de plus, elle peut reduire efficacement les erreurs de code ; enfin, elle peut aussi nous fournir plus d'idees creatives. Aujourd'hui, la programmation assistee par IA a evolue d'une simple completion de code originelle vers la capacite de generer des fonctions completes, voire des projets, transformant profondement le processus de developpement logiciel.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Alors, quelle est la technologie centrale derrière la programmation assistée par IA ? Il faut mentionner les grands modèles de langage, ou LLM. Dans cette deuxième partie, nous allons lever le voile sur les secrets de la génération de code et comprendre en profondeur comment les grands modèles « apprennent » à programmer.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Tout d'abord, comprenons les bases des grands modèles de langage. Les LLM sont essentiellement des modèles d'apprentissage profond basés sur l'architecture Transformer, qui leur confère de puissantes capacités de calcul parallèle et de capture des dépendances à longue distance. Leur capacité centrale est de comprendre et de générer du langage, qu'il s'agisse du langage naturel de notre communication quotidienne ou du code. Ces capacités proviennent de leur processus de pré-entraînement sur des données massives, permettant au modèle d'apprendre une riche connaissance et des modèles de programmation.</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它的核心能力是理解和生成语言，这里的语言既包括我们日常交流的自然语言，也包括代码。</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这些能力的获得，源于它在海量数据上的预训练过程，这使得模型学习到了丰富的编程知识和模式。</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Après avoir compris les bases des LLM, voyons comment ils génèrent concrètement du code. Ce processus peut se résumer en quatre étapes : d'abord l'entrée, c'est-à-dire l'invite que nous donnons au modèle, qui peut être une ligne de commentaire ou un fragment de code. Ensuite, le modèle effectue une compréhension approfondie du contexte de cette entrée. Puis, en se basant sur cette compréhension, le modèle commence à générer le code correspondant. Enfin, le code généré nous est renvoyé et peut être optimisé selon nos retours. C'est un processus complet de la compréhension à la création.</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Pour mieux servir la génération de code avec les LLM, les chercheurs et ingénieurs ont développé une série de technologies clés. Parmi elles, l'ingénierie des prompts est une compétence que chaque développeur doit maîtriser, nous apprenant à « poser des questions » pour obtenir les meilleures réponses. La technique de fine-tuning permet aux modèles généraux de devenir plus spécialisés. La génération augmentée par récupération (RAG) résout les problèmes de mise à jour des connaissances et d'« hallucinations » possibles du modèle en introduisant des connaissances externes. La technologie d'entrées multimodales nous permet d'utiliser des méthodes plus intuitives, comme une image de conception, pour générer du code. Ces technologies contribuent ensemble au développement de la programmation assistée par IA.</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indent="0" algn="l">
              <a:lnSpc>
                <a:spcPct val="100000"/>
              </a:lnSpc>
            </a:pPr>
            <a:r>
              <a:t>Nous avons beaucoup parlé de théorie, maintenant entrons dans la troisième partie pour examiner un cas pratique très représentatif : GitHub Copilot. En tant qu'un des assistants de programmation IA les plus populaires, Copilot applique toutes les technologies que nous avons discutées dans le développement réel. Voyons à quel point il est puissant.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等线" panose="02010600030101010101" charset="-122"/>
              </a:defRPr>
            </a:lvl1pPr>
          </a:lstStyle>
          <a:p>
            <a:pPr indent="0" algn="l">
              <a:lnSpc>
                <a:spcPct val="100000"/>
              </a:lnSpc>
            </a:pPr>
            <a:r>
              <a:t>GitHub Copilot est le fruit de la collaboration entre GitHub et OpenAI. Son cœur repose sur des modèles de langage puissants, passant des premiers Codex aux GPT-4 actuels, avec des capacités en constante amélioration. Les fonctionnalités de Copilot sont très complètes, incluant la complétion de code en temps réel que nous connaissons, mais aussi la génération de fonctions voire de classes entières à partir de commentaires, réalisant la conversion du langage naturel vers le code, et même l'explication de passages de code complexes. Son écosystème est également très complet, prenant en charge la majorité des langages de programmation et IDE que nous utilisons quotidiennement, sans coût d'apprentissage ni de migration.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Alors, que se passe-t-il exactement derrière Copilot lorsque nous écrivons du code ? Ce processus se déroule en quatre étapes : d'abord, le plugin Copilot dans l'IDE collecte discrètement le contexte de notre code ; ensuite, il empaquette ces informations dans une requête envoyée aux serveurs dans le cloud ; puis, le puissant modèle dans le cloud génère rapidement plusieurs propositions de complétion de code possibles ; enfin, ces propositions sont renvoyées à notre IDE et présentées sous la forme des suggestions de complétion que nous connaissons. L'ensemble du processus est très rapide, nous donnant l'impression de dialoguer en temps réel avec un assistant intelligent.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Dans le développement réel, les cas d'utilisation de Copilot sont très variés. La fonctionnalité de complétion de code la plus basique est devenue un standard pour de nombreux développeurs, améliorant considérablement la fluidité du codage. Plus puissamment, il suffit d'écrire quelques lignes de commentaires pour qu'il génère des fonctions complètes. Il peut également écrire automatiquement des tests unitaires, une tâche autrefois très chronophage. De plus, les fonctionnalités de refactorisation et d'explication de code ont amélioré la qualité du code et l'efficacité du travail d'équipe. On peut dire que Copilot s'est profondément intégré dans tous les aspects de notre développement.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indent="0" algn="l">
              <a:lnSpc>
                <a:spcPct val="100000"/>
              </a:lnSpc>
            </a:pPr>
            <a:r>
              <a:t>Après avoir découvert l'assistant de programmation IA généraliste Copilot, nous tournons notre regard vers un domaine plus avant-gardiste et plus spécialisé. Dans la quatrième partie, nous analyserons un projet appelé KernelGen, pour voir comment l'IA génère automatiquement des noyaux GPU hautes performances. Cela représente une direction importante dans l'évolution de la programmation assistée par l'IA, passant d'outils généralistes à des outils spécialisés.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Tout d'abord, comprenons le contexte. FlagOS est un système d'exploitation optimisé pour des scénarios spécifiques. Le projet KernelGen, quant à lui, explore sur la base de FlagOS l'utilisation de l'IA pour résoudre un problème très spécifique et stimulant : la génération automatique de code de noyaux GPU. La programmation GPU a toujours eu un seuil d'entrée élevé, l'optimisation manuelle est non seulement complexe mais nécessite des stratégies différentes selon les architectures GPU. La valeur du projet KernelGen réside dans sa tentative d'automatiser ce processus par l'IA, réduisant ainsi le seuil de développement tout en garantissant que le code généré exploite pleinement le potentiel de performances du matériel.</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Collecte des informations Kernel : L'utilisateur fournit a KernelGen une definition semantique de l'operateur, par exemple en se referant a la definition de l'operateur ReLU. KernelGen collecte les parametres de base de l'operateur a partir de la definition.</a:t>
            </a:r>
            <a:br/>
            <a:br/>
            <a:r>
              <a:t>Recherche de fragments de code : KernelGen recherche des fragments de code similaires a la definition de l'utilisateur comme reference et extrait les parametres Kernel. A cette etape, l'utilisateur peut choisir d'utiliser ou non les fragments de code trouves.</a:t>
            </a:r>
            <a:br/>
            <a:br/>
            <a:r>
              <a:t>Generation du code Kernel et du code CUDA de reference : KernelGen genere le code Kernel ainsi que le code CUDA de reference. Le code CUDA de reference servira de reference PyTorch.</a:t>
            </a:r>
            <a:br/>
            <a:br/>
            <a:r>
              <a:t>Test du Kernel base sur le code CUDA de reference : KernelGen teste le Kernel sur la base de PyTorch et affiche les resultats de test de validite et le rapport d'acceleration.</a:t>
            </a: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搜索代码片段：KernelGen 搜索与用户定义相似的代码片段作为参考，并提取 Kernel 参数。在此步骤中，用户可以选择是否使用搜索到的代码片段。</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生成 Kernel 代码和 CUDA 版基准实现代码：KernelGen 生成 Kernel 代码及 CUDA 版基准实现代码。CUDA 版基准实现代码将作为 PyTorch 基准参考。</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 CUDA 版基准实现代码测试 Kernel</a:t>
            </a:r>
            <a:r>
              <a:rPr lang="en-US" sz="1200" b="0" i="0" u="none" strike="noStrike">
                <a:solidFill>
                  <a:srgbClr val="000000"/>
                </a:solidFill>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KernelGen 基于 PyTorch 基准测试 Kernel</a:t>
            </a:r>
            <a:r>
              <a:rPr lang="en-US" sz="1200" b="0" i="0" u="none" strike="noStrike">
                <a:solidFill>
                  <a:srgbClr val="000000"/>
                </a:solidFill>
              </a:rPr>
              <a:t>，并输出正确性和加速比的测试结果。</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Grace a ce tableau comparatif, nous pouvons voir plus clairement la difference entre KernelGen et les LLM generiques comme GPT. La difference la plus fondamentale reside dans l'objectif : KernelGen vise une performance extreme sur du materiel specifique, tandis que GPT vise une efficacite de developpement dans des scenarios generiques. Par consequent, KernelGen necessite une integration profonde des connaissances materiels, avec un mode d'entree plus specialise, et produit finalement du code hautement optimise et specialise. GPT est plus general et plus accessible, produisant du code plus universel. Cela represente deux directions differentes de l'assistance a la programmation par IA : l'une vers l'optimisation specialisee extreme, l'autre vers l'assistance generale large.</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等线" panose="02010600030101010101" charset="-122"/>
              </a:defRPr>
            </a:lvl1pPr>
          </a:lstStyle>
          <a:p>
            <a:pPr indent="0" algn="l">
              <a:lnSpc>
                <a:spcPct val="100000"/>
              </a:lnSpc>
            </a:pPr>
            <a:r>
              <a:t>Les perspectives d'application du projet KernelGen sont tres vastes. Tout d'abord, il peut simplifier considerablement le developpement GPU, rendant la programmation GPU accessible au-dela d'un petit nombre d'experts. Ensuite, il autonomisera puissamment le domaine du calcul scientifique, accelerant divers travaux de recherche necessitant du calcul parallele a grande echelle. Troisiemement, dans l'industrie, il peut permettre l'automatisation de l'adaptation materielle, accelerant la mise sur le marche et l'adoption des nouveaux materiels. Enfin, dans une perspective plus long terme, ce type de technologie pourrait meme promouvoir une transformation de la co-conception logiciel-materiel, permettant une meilleure integration entre la conception materielle et l'optimisation logicielle.</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Enfin, concluons cette présentation par un bilan et des perspectives. En résumé, les grands modèles de langage ont révolutionné l'efficacité de la programmation, et la programmation assistée par IA est devenue une tendance incontournable. Nous avons vu le succès d'outils généralistes comme Copilot ainsi que le potentiel d'outils spécialisés comme KernelGen, ces deux axes étant en plein développement. À l'avenir, l'IA deviendra notre partenaire de programmation plus intelligent et s'approfondira dans divers domaines sectoriels. Dans certains contextes spécifiques, nous pourrions même voir émerger les prémices de la programmation autonome par IA. On peut dire qu'une nouvelle ère de programmation en collaboration homme-machine a déjà commencé.</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cours est le quarante-et-unième. Le thème principal est l'architecture de KernelGen et l'ingénierie des prompts. Nous apprendrons comment utiliser les grands modèles et les techniques de prompting pour générer automatiquement du code d'opérateurs GPU bas niveau haute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contenu de cette leçon se divise principalement en quatre parties. Nous présentons d'abord le contexte du projet KernelGen. Ensuite, nous analysons le flux de travail de KernelGen. Puis, nous expliquons en détail les normes d'ingénierie Prompt nécessaires pour écrire du code de génération de haute qualité. Enfin, nous vous guidons à travers une démonstration pratique à l'aide d'exemples concrets d'utilisation de KernelGen.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Tout d'abord, nous allons comprendre le contexte. FlagOS est un système d'exploitation optimisé pour des scénarios spécifiques. Le projet KernelGen, quant à lui, explore l'utilisation de l'IA pour résoudre un problème très spécifique mais ambitieux : la génération automatique de code de noyau GPU. La programmation GPU a toujours eu un seuil d'entrée élevé, l'optimisation manuelle est non seulement complexe, mais nécessite également des stratégies différentes selon les architectures GPU. La valeur du projet KernelGen réside dans sa tentative d'automatiser ce processus grâce à l'IA, réduisant ainsi le seuil de développement tout en garantissant que le code généré puisse pleinement exploiter le potentiel de performance du matériel.</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Voyons maintenant le flux de travail standard de KernelGen, qui se divise principalement en quatre etapes cles. La premiere etape consiste a collecter les informations du Kernel : l'utilisateur doit saisir dans le systeme une definition semantique de l'operateur. La deuxieme etape consiste a rechercher des extraits de code : le systeme recherche des codes historiques de haute qualite similaires a la definition de l'utilisateur comme base de reference. La troisieme etape est la generation de code : le systeme genere de maniere synchrone le code Kernel ainsi que le code d'implementation de reference CUDA. Enfin, la quatrieme etape consiste a tester le Kernel base sur l'implementation de reference CUDA : concretement, le systeme effectue des tests de reference bases sur le framework PyTorch et produit les resultats finaux de correction et du rapport d'acceleration.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Lors de la génération automatique de code de bas niveau pour les grands modèles, l'ingénierie de prompts est cruciale. La rédaction de prompts de haute qualité repose sur quatre principes fondamentaux. Premièrement, la clarté : il faut décrire de manière précise et concrète la fonction de l'opérateur ainsi que les formes des tenseurs d'entrée et de sortie et les contraintes associées. Deuxièmement, le contexte et l'environnement : fournir la plateforme matérielle cible comme le NVIDIA A100 et les exigences de performance, ce qui aide le modèle à générer un code adapté aux besoins réels de l'architecture. Troisièmement, l'approche par exemples, c'est-à-dire l'apprentissage few-shot : fournir des exemples d'entrées-sorties ou du code de référence pour que le grand modèle s'aligne rapidement sur les attentes du développeur. Quatrièmement, le guidage par chaîne de pensée : demander au modèle de présenter son raisonnement étape par étape, par exemple d'abord analyser la logique, puis concevoir la disposition mémoire, et enfin écrire le code, garantissant ainsi que la logique de l'opérateur généré soit claire et fiable.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Voici une démonstration pratique montrant comment utiliser KernelGen pour générer un noyau de fonction d'activation ReLU. Vous pouvez accéder au lien affiché à l'écran pour accéder à la page d'accueil de la plateforme. On y trouve un champ de saisie pour le nom de l'opérateur ainsi que des raccourcis vers divers opérateurs basiques typiques.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Lors de la saisie des besoins de l'operateur, la qualite du prompt determine la limite inferieure du code genere. Comparons les deux approches. Un prompt flou et de faible qualite se contente d'une simple phrase : aidez-moi a ecrire un Kernel ReLU. En revanche, un prompt clair et de haute qualite definit explicitement le nom de l'operateur comme relu, avec une categorie de calcul pointwise. Il precise egalement les parametres d'entree, y compris un tenseur avec son type de donnees, et decrit en detail les regles de forme du tenseur de sortie ainsi que la logique principale : appliquer une valeur maximale element par element.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Après avoir saisi une demande d'opérateur de haute qualité, le système détecte en arrière-plan des fragments de code open source similaires. Vous pouvez cocher une meilleure implémentation avec un nombre élevé d'étoiles comme référence pour la génération automatique ultérieure. Une fois sélectionné, cliquez sur Suivant. Si aucun des dépôts recommandés par le système ne convient, vous pouvez également choisir de laisser le grand modèle générer directement en zero-shot.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https://developer.download.nvidia.cn/video/gputechconf/gtc/2019/presentation/s9345-cuda-kernel-profiling-using-nvidia-nsight-compute.pdf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a:t>Enfin, voici quelques avanc</a:t>
            </a:r>
            <a:r>
              <a:rPr lang="en-US" altLang="en-US"/>
              <a:t>é</a:t>
            </a:r>
            <a:r>
              <a:rPr lang="en-US" altLang="zh-CN"/>
              <a:t>es au niveau syst</a:t>
            </a:r>
            <a:r>
              <a:rPr lang="en-US" altLang="en-US"/>
              <a:t>è</a:t>
            </a:r>
            <a:r>
              <a:rPr lang="en-US" altLang="zh-CN"/>
              <a:t>me et </a:t>
            </a:r>
            <a:r>
              <a:rPr lang="en-US" altLang="en-US"/>
              <a:t>é</a:t>
            </a:r>
            <a:r>
              <a:rPr lang="en-US" altLang="zh-CN"/>
              <a:t>cologique qui m</a:t>
            </a:r>
            <a:r>
              <a:rPr lang="en-US" altLang="en-US"/>
              <a:t>é</a:t>
            </a:r>
            <a:r>
              <a:rPr lang="en-US" altLang="zh-CN"/>
              <a:t>ritent d’</a:t>
            </a:r>
            <a:r>
              <a:rPr lang="en-US" altLang="en-US"/>
              <a:t>ê</a:t>
            </a:r>
            <a:r>
              <a:rPr lang="en-US" altLang="zh-CN"/>
              <a:t>tre soulign</a:t>
            </a:r>
            <a:r>
              <a:rPr lang="en-US" altLang="en-US"/>
              <a:t>é</a:t>
            </a:r>
            <a:r>
              <a:rPr lang="en-US" altLang="zh-CN"/>
              <a:t>es. Actuellement, KernelGen ne prend en charge que les invites en une seule </a:t>
            </a:r>
            <a:r>
              <a:rPr lang="en-US" altLang="en-US"/>
              <a:t>é</a:t>
            </a:r>
            <a:r>
              <a:rPr lang="en-US" altLang="zh-CN"/>
              <a:t>tape, mais une toute nouvelle version sera bientôt disponible, permettant à chacun d’effectuer des it</a:t>
            </a:r>
            <a:r>
              <a:rPr lang="en-US" altLang="en-US"/>
              <a:t>é</a:t>
            </a:r>
            <a:r>
              <a:rPr lang="en-US" altLang="zh-CN"/>
              <a:t>rations et des optimisations interactives sur plusieurs tours, en fonction des retours d’erreur sur des cas de test sp</a:t>
            </a:r>
            <a:r>
              <a:rPr lang="en-US" altLang="en-US"/>
              <a:t>é</a:t>
            </a:r>
            <a:r>
              <a:rPr lang="en-US" altLang="zh-CN"/>
              <a:t>cifiques. En ce qui concerne la construction de l’</a:t>
            </a:r>
            <a:r>
              <a:rPr lang="en-US" altLang="en-US"/>
              <a:t>é</a:t>
            </a:r>
            <a:r>
              <a:rPr lang="en-US" altLang="zh-CN"/>
              <a:t>cosyst</a:t>
            </a:r>
            <a:r>
              <a:rPr lang="en-US" altLang="en-US"/>
              <a:t>è</a:t>
            </a:r>
            <a:r>
              <a:rPr lang="en-US" altLang="zh-CN"/>
              <a:t>me logiciel syst</a:t>
            </a:r>
            <a:r>
              <a:rPr lang="en-US" altLang="en-US"/>
              <a:t>è</a:t>
            </a:r>
            <a:r>
              <a:rPr lang="en-US" altLang="zh-CN"/>
              <a:t>me, il est profond</a:t>
            </a:r>
            <a:r>
              <a:rPr lang="en-US" altLang="en-US"/>
              <a:t>é</a:t>
            </a:r>
            <a:r>
              <a:rPr lang="en-US" altLang="zh-CN"/>
              <a:t>ment int</a:t>
            </a:r>
            <a:r>
              <a:rPr lang="en-US" altLang="en-US"/>
              <a:t>é</a:t>
            </a:r>
            <a:r>
              <a:rPr lang="en-US" altLang="zh-CN"/>
              <a:t>gr</a:t>
            </a:r>
            <a:r>
              <a:rPr lang="en-US" altLang="en-US"/>
              <a:t>é</a:t>
            </a:r>
            <a:r>
              <a:rPr lang="en-US" altLang="zh-CN"/>
              <a:t> à FlagOS, une pile logicielle syst</a:t>
            </a:r>
            <a:r>
              <a:rPr lang="en-US" altLang="en-US"/>
              <a:t>è</a:t>
            </a:r>
            <a:r>
              <a:rPr lang="en-US" altLang="zh-CN"/>
              <a:t>me unifi</a:t>
            </a:r>
            <a:r>
              <a:rPr lang="en-US" altLang="en-US"/>
              <a:t>é</a:t>
            </a:r>
            <a:r>
              <a:rPr lang="en-US" altLang="zh-CN"/>
              <a:t>e pour l’IA. Des outils sp</a:t>
            </a:r>
            <a:r>
              <a:rPr lang="en-US" altLang="en-US"/>
              <a:t>é</a:t>
            </a:r>
            <a:r>
              <a:rPr lang="en-US" altLang="zh-CN"/>
              <a:t>cialis</a:t>
            </a:r>
            <a:r>
              <a:rPr lang="en-US" altLang="en-US"/>
              <a:t>é</a:t>
            </a:r>
            <a:r>
              <a:rPr lang="en-US" altLang="zh-CN"/>
              <a:t>s sont d</a:t>
            </a:r>
            <a:r>
              <a:rPr lang="en-US" altLang="en-US"/>
              <a:t>é</a:t>
            </a:r>
            <a:r>
              <a:rPr lang="en-US" altLang="zh-CN"/>
              <a:t>jà disponibles dans le d</a:t>
            </a:r>
            <a:r>
              <a:rPr lang="en-US" altLang="en-US"/>
              <a:t>é</a:t>
            </a:r>
            <a:r>
              <a:rPr lang="en-US" altLang="zh-CN"/>
              <a:t>pôt open source pour convertir de mani</a:t>
            </a:r>
            <a:r>
              <a:rPr lang="en-US" altLang="en-US"/>
              <a:t>è</a:t>
            </a:r>
            <a:r>
              <a:rPr lang="en-US" altLang="zh-CN"/>
              <a:t>re transparente le code g</a:t>
            </a:r>
            <a:r>
              <a:rPr lang="en-US" altLang="en-US"/>
              <a:t>é</a:t>
            </a:r>
            <a:r>
              <a:rPr lang="en-US" altLang="zh-CN"/>
              <a:t>n</a:t>
            </a:r>
            <a:r>
              <a:rPr lang="en-US" altLang="en-US"/>
              <a:t>é</a:t>
            </a:r>
            <a:r>
              <a:rPr lang="en-US" altLang="zh-CN"/>
              <a:t>r</a:t>
            </a:r>
            <a:r>
              <a:rPr lang="en-US" altLang="en-US"/>
              <a:t>é</a:t>
            </a:r>
            <a:r>
              <a:rPr lang="en-US" altLang="zh-CN"/>
              <a:t> par KernelGen et l’int</a:t>
            </a:r>
            <a:r>
              <a:rPr lang="en-US" altLang="en-US"/>
              <a:t>é</a:t>
            </a:r>
            <a:r>
              <a:rPr lang="en-US" altLang="zh-CN"/>
              <a:t>grer au format de la biblioth</a:t>
            </a:r>
            <a:r>
              <a:rPr lang="en-US" altLang="en-US"/>
              <a:t>è</a:t>
            </a:r>
            <a:r>
              <a:rPr lang="en-US" altLang="zh-CN"/>
              <a:t>que d’op</a:t>
            </a:r>
            <a:r>
              <a:rPr lang="en-US" altLang="en-US"/>
              <a:t>é</a:t>
            </a:r>
            <a:r>
              <a:rPr lang="en-US" altLang="zh-CN"/>
              <a:t>rateurs FlagGems. En outre, l’</a:t>
            </a:r>
            <a:r>
              <a:rPr lang="en-US" altLang="en-US"/>
              <a:t>é</a:t>
            </a:r>
            <a:r>
              <a:rPr lang="en-US" altLang="zh-CN"/>
              <a:t>quipe pr</a:t>
            </a:r>
            <a:r>
              <a:rPr lang="en-US" altLang="en-US"/>
              <a:t>é</a:t>
            </a:r>
            <a:r>
              <a:rPr lang="en-US" altLang="zh-CN"/>
              <a:t>voit d’int</a:t>
            </a:r>
            <a:r>
              <a:rPr lang="en-US" altLang="en-US"/>
              <a:t>é</a:t>
            </a:r>
            <a:r>
              <a:rPr lang="en-US" altLang="zh-CN"/>
              <a:t>grer KernelGen sous forme de plugin dans des environnements de d</a:t>
            </a:r>
            <a:r>
              <a:rPr lang="en-US" altLang="en-US"/>
              <a:t>é</a:t>
            </a:r>
            <a:r>
              <a:rPr lang="en-US" altLang="zh-CN"/>
              <a:t>veloppement int</a:t>
            </a:r>
            <a:r>
              <a:rPr lang="en-US" altLang="en-US"/>
              <a:t>é</a:t>
            </a:r>
            <a:r>
              <a:rPr lang="en-US" altLang="zh-CN"/>
              <a:t>gr</a:t>
            </a:r>
            <a:r>
              <a:rPr lang="en-US" altLang="en-US"/>
              <a:t>é</a:t>
            </a:r>
            <a:r>
              <a:rPr lang="en-US" altLang="zh-CN"/>
              <a:t>s (IDE) dans un avenir proche, abaissant ainsi au maximum le seuil de d</a:t>
            </a:r>
            <a:r>
              <a:rPr lang="en-US" altLang="en-US"/>
              <a:t>é</a:t>
            </a:r>
            <a:r>
              <a:rPr lang="en-US" altLang="zh-CN"/>
              <a:t>veloppement d’op</a:t>
            </a:r>
            <a:r>
              <a:rPr lang="en-US" altLang="en-US"/>
              <a:t>é</a:t>
            </a:r>
            <a:r>
              <a:rPr lang="en-US" altLang="zh-CN"/>
              <a:t>rateurs tensoriels de bas niveau.</a:t>
            </a:r>
            <a:endParaRPr lang="en-US" altLang="zh-CN"/>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cours est la quarante-deuxième leçon, dont le thème principal est de la génération au déploiement. Nous nous concentrerons sur le processus d'intégration au niveau système du code généré par les grands modèles. Vous apprendrez comment intégrer de manière rigoureuse et normalisée les opérateurs de bas niveau générés par l'intelligence artificielle dans les pipelines de calcul haute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Tout d'abord, examinons l'architecture de l'ecosysteme FlagOS d'un point de vue macroscopique. La philosophie de conception centrale de cet ecosysteme est la decoupe en trois couches : modele, systeme et puce, vise a realiser l'objectif ultime de developper une fois et executer partout. L'ecosysteme comprend trois pierres angulaires. Premierement, KernelGen, la source intelligente, un agent de generation et de test d'operateurs pilote par un grand modele de langage. Deuxiemement, FlagGems, une bibliotheque d'operateurs generalises haute performance construite sur Triton. Troisiemement, FlagTree, le moteur de compilation unifie, responsable du mappage efficace des operateurs de niveau superieur vers plus de dix types d'architectures de puces heterogenes.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Ensuite, nous disséquons la bibliothèque d'opérateurs FlagGems. Elle est écrite en Triton, un langage spécifique au domaine, ce qui lui confère naturellement une forte capacité de généralisation matérielle, avec un support transparent des principaux backends matériels nationaux et internationaux. La bibliothèque regroupe des opérateurs de calcul matriciel, de mécanismes d'attention et d'autres opérateurs fréquents pour l'entraînement et l'inférence. Pour surpasser les goulot d'étranglement de performance des systèmes natifs, l'équipe de développement a conçu LibEntry, une couche d'ordonnancement autodidacte remplaçant l'autotuner natif, réduisant considérablement le coût de compilation initiale et la latence de dispatch. De plus, elle prend en charge un déploiement en double mode : package Python pur et extension C++. Enfin, grâce à une conception pilotée par configuration, LibTuner peut rechercher automatiquement les hyperparamètres optimaux et les persister localement, permettant une réutilisation ultra-rapide à froid.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présente en détail le mécanisme d'enregistrement dynamique et de routage de répartition des opérateurs. L'ensemble du processus commence par l'appel d'initialisation du module au niveau applicatif. Ensuite, au niveau de l'enregistrement, le système extrait la clé de dispatch en fonction du nom matériel spécifique à l'exécution et monte l'implémentation dans la bibliothèque interne. Au niveau C++ inférieur, le système utilise des macros spécifiques pour remplacer directement l'implémentation par défaut dans la table des opérateurs. Finalement, le répartiteur de tenseurs combine la liste de configuration pour accomplir un routage précis. Ce mécanisme réalise élégamment une bascule sans code entre plusieurs plateformes matérielles.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la phase de compilation et d'exécution des opérateurs, FlagGems démontre une stratégie de cache sophistiquée. La logique des opérateurs est encapsulée dans du code source Python. L'innovation technique réside dans l'introduction d'un décorateur d'entrée indépendant qui prend entièrement en charge et contourne les composants d'exécution natifs. Lors du premier appel d'un opérateur, le système déclenche un pipeline de compilation juste-à-temps, envoyant les produits intermédiaires vers le backend spécifié, avec une latence relativement longue. Cependant, les produits de compilation sont immédiatement enregistrés dans le cache du noyau, permettant à tous les appels suivants d'être servis directement depuis le cache, réalisant un saut de performance. Simultanément, le module de réglage inférieur enregistre de manière asynchrone les paramètres architecturaux optimaux tels que la taille des blocs de threads.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Face a des scenarios d'application varies, FlagGems propose deux dimensions de solutions de chargement a l'execution. Le mode Python pur ne necessite pas de chaine de compilation C++ complexe et s'enregistre directement via la bibliotheque, ce qui est ideal pour la conception de prototypes algorithmiques et les environnements de tests d'integration continue, au prix toutefois de la contention GIL et des couts de trames d'appel. Pour les environnements de deploiement en production extrêmement sensibles a la latence, le mode extension C++ est la solution incontournable. Il utilise des modules d'extension precompiles pour l'enregistrement macro, et son chemin de repartition repose entierement sur des pointeurs de fonction de bas niveau, realisant ainsi un cout supplementaire Python vraiment nul, un atout majeur pour l'acceleration d'inference des operateurs courts.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 descendant dans l'architecture, nous arrivons à la couche du moteur de compilation FlagTree. En tant que compilateur unifié multi-puces d'opérateurs AI, il s'enracine profondément dans l'écosystème de compilation Triton et MLIR. Il prend actuellement en charge de manière stable plus d'une dizaine de puces de calcul hétérogène nationales et internationales principales, dont NVIDIA, Cambricon et Huawei Ascend. L'équipe d'ingénierie maintient en parallèle plusieurs branches de version avec des canaux d'intégration et de déploiement isolés. Du point de vue du flux architectural, il transmet le code généré par le frontend vers la couche intermédiaire des dialectes MLIR pour des optimisations indépendantes du matériel, avant d'être finalement transmis via le générateur aux chaînes d'outils spécifiques des constructeurs.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présente une analyse découpée du frontend du pipeline de compilation de FlagTree. Lors de la phase d'analyse du frontend, le système analyse en profondeur l'arbre syntaxique abstrait Python pour capturer précisément les opérateurs au niveau tensoriel, construisant ainsi la représentation intermédiaire initiale. Ensuite, lors de la phase de transformation centrale, le système injecte la logique d'encodage de disposition mémoire, génère une représentation intermédiaire orientée matériel et exécute rigoureusement les passes classiques d'optimisation de compilation comme l'élimination des sous-expressions communes et la suppression du code mort. Enfin, en combinant les caractéristiques de la puce, des optimisations spécifiques sont appliquées et converties en code intermédiaire standard LLVM via la couche de pont, complétant ainsi toute la phase indépendante de la machine.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seconde moitié du pipeline appartient entièrement à la génération de code backend et à la distribution assembleur. Le système reprend le code intermédiaire LLVM de l'étape précédente et appelle l'optimiseur bas niveau pour les dernières retouches. Ensuite, il s'appuie sur les générateurs d'assembleur personnalisés de chaque constructeur pour le traduire en code d'architecture d'instructions spécifique. Puis, il appelle un compilateur dédié pour générer un fichier binaire cible directement chargeable. Au cours de ce processus, le système calcule le condensé de hachage du fichier et l'écrit dans le répertoire de cache local, servant de base de données pour les démarrages à froid ultra-rapides ultérieurs.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Enfin, l'abstraction matérielle à l'exécution assure l'ordonnancement. Lorsque l'application de niveau supérieur déclenche pour la première fois l'exécution d'un noyau, le système extrait les caractéristiques de type de données et de forme pour constituer une clé de caractérisation, et lance une requête de recherche dans le cache disque. En cas de défaut de cache, le pipeline de compilation décrit précédemment est entièrement exécuté et le résultat réécrit sur disque ; en cas de succès, le flux binaire déjà compilé est lu très rapidement. Ensuite, le système invoque les interfaces de pilote de bas niveau spécifiques au fabricant pour charger les instructions dans la mémoire vidéo et récupérer le handle d'exécution. Toute cette interaction matérielle complexe est parfaitement encapsulée par le gestionnaire unifié, garantissant une transparence absolue et une transition imperceptible pour les frameworks d'apprentissage profond de niveau supérieur.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Ayant compris les fondations du système, revenons à la source du code : KernelGen. En tant qu'agent piloté par un grand modèle de langage, il produit un code d'opérateur mathématiquement autonome et complet. Comme le montre ce code de normalisation par racine carrée moyenne, pour répondre aux contraintes de sortie unique des grands modèles, sa structure est généralement celle d'un fichier unique fortement couplé. Ce fichier contient non seulement la logique de calcul principale de l'opérateur, mais intègre aussi inévitablement des échafaudages de test temporaires et des scripts de visualisation des performances.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Bien que cette forme de fichier unique facilite la validation rapide, elle ne doit jamais être directement intégrée dans la branche principale du code. Elle doit franchir des exigences techniques extrêmement strictes. Un opérateur qualifié doit satisfaire simultanément trois lois fondamentales. Premièrement, il doit avoir passé la validation de correction absolue dans un bac à sable isolé et propre. Deuxièmement, il doit subir une comparaison bit à bit avec la version de référence, et cette référence est généralement construite simultanément par la chaîne de génération. Enfin, et c'est le plus crucial, sous une matrice de test de formes et de types de données multidimensionnelle, son débit d'exécution et sa latence d'accès mémoire doivent strictement atteindre le seuil de performance prédéfini par le système.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franchir cette étape, nous avons introduit un pipeline automatisé de refonte de normalisation. Sa logique principale consiste à analyser de manière extrêmement détaillée l'arbre syntaxique abstrait du fichier original et à nettoyer sa structure, le déconstruisant et le transformant en modules de projet conformes aux normes industrielles. La refonte comprend trois points clés. Le premier est la suppression de la logique de test de référence codée en dur et la rendu entièrement dynamique de la stratégie de planification de la grille. Le deuxième est la mise en œuvre de l'injection de dépendances, avec le montage forcé du décorateur d'entrée dédié au framework pour activer le mécanisme sous-jacent d'interception du cache. Le troisième est la migration du paradigme de test, réécrivant les scripts d'assertion arbitraires en un framework de tests unitaires paramétrés à couverture élevée.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détaille la topologie de mapping des fichiers physiques lors du processus de refactorisation. Le script d'analyse agit comme un système nerveux central, découpant précisément chaque fichier unitaire. La logique des opérateurs de noyau, purifiée et injectée de mécanismes de mise en cache, est archivée dans la bibliothèque d'opérations principale. L'implémentation de référence du framework natif est extraite vers un module de comparaison indépendant pour des appels ultérieurs. L'élément le plus important est la restructuration du système de tests : les tests de précision ont injecté des décorateurs paramétrés couvrant divers types de données, et ont ajouté des tests de défense aux limites pour les valeurs flottantes atypiques. Les tests de performance, quant à eux, ont été allégés de la logique redondante de génération de graphiques, et leur évaluation principale du débit a été intégralement orchestrée dans le pipeline d'intégration continue, garantissant l'absence de régression de performance lors de l'évolution du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Après avoir traversé l'épreuve de la validation en bac à sable et d'une refonte approfondie, le code des opérateurs accueille enfin le moment de s'intégrer à la branche principale. Comme le montre l'instantané actuel du dépôt open source, ces opérateurs générés par l'intelligence silicium et renforcés par le système seront déposés via des pull requests dans la matrice des opérateurs expérimentaux. C'est là qu'ils seront soumis aux tests conjoints du trafic réel de la communauté et de scénarios plus marginaux, jusqu'à leur stabilisation complète.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leçon est la quarante-troisième, consacrée à l'optimisation extrême des systèmes hétérogènes. Nous nous concentrerons sur la manière de dépasser les limites des compilateurs génériques dans des environnements matériels hétérogènes complexes réels, afin d'exploiter au maximum les performances du matériel sous-jacent.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Commençons par la microarchitecture des systèmes hétérogènes. Ces dernières années, l'architecture matérielle a connu une évolution profonde, passant du modèle traditionnel SIMT unique vers des architectures complexes intégrant des moteurs de tenseurs fusionnés, une mémoire asynchrone et un cache sur puce massif. Cette évolution engendre des différences d'écosystème significatives, chaque matériel différant fondamentalement en termes de débit d'instructions, de taille des bancs de registres et de topologie mémoire. Par conséquent, nos exigences d'optimisation doivent évoluer. Se fier uniquement à un compilateur générique abstrait entraîne souvent des blocages de pipeline ou une bande passante inutilisée, nous obligeant à des optimisations spécialisées selon les caractéristiques matérielles.</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Prenons comme exemples des accélérateurs nationaux typiques. L'architecture Huagang de cinquième génération de Moore Threads prend non seulement en charge le modèle de programmation asynchrone de nouvelle génération, mais supporte aussi nativement le format de données quantifiées FP4, capable de supporter des clusters massifs de plus de 100 000 cartes. L'architecture BR100 de Biren Technology adopte une conception de stockage très ambitieuse, dotée d'un cache sur puce massif de 300 mégaoctets et de 64 gigaoctets de mémoire HBM2E, dont le principe de conception central est d'éviter au maximum les latences élevées des accès mémoire globaux.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illustrer concrètement le processus d'optimisation, nous introduisons une étude de cas. L'objectif est d'utiliser la primitive de pointeur spécial dans le projet FlagTree pour analyser comment réaliser une optimisation microarchitecturelle ciblée. Les défis majeurs sont au nombre de quatre. Premièrement, l'optimisation générique peine à atteindre les détails matériels inférieurs. Deuxièmement, la mémoire partagée devient souvent un goulot d'étranglement d'accès. Troisièmement, les écarts de performance entre différents opérateurs sont très marqués, notamment pour le traitement des opérateurs comme l'alignement MoE ou topk. Quatrièmement, l'ensemble de la pile logicielle souffre d'un grave problème de fragmentation, comme le montre le tableau où les temps d'exécution entre implémentation générique et optimisation spécialisée diffèrent significativement selon les générations matérielles.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bien optimiser, il faut comprendre en profondeur les principes matériels. L'essentiel réside dans la mémoire partagée. Elle est généralement divisée en 32 banks, et tant que l'accès traverse les banks tous les 4 octets, on obtient un accès parallèle sans conflit. Elle est entièrement visible au sein d'un même bloc de threads, mais nécessite des instructions de synchronisation explicites pour garantir la cohérence. Contrairement au cache ordinaire, la mémoire partagée nécessite une gestion explicite. Il faut noter particulièrement que la largeur de bank et le mécanisme de mappage d'adresses de certaines puces nationales diffèrent de ceux de NVIDIA. C'est pourquoi nous introduisons la signification principale du pointeur local dédié, qui permet d'exprimer de manière unifiée les opérations de pointeur de mémoire partagée sous-jacente. Combiné à la pyramide de latence sur la droite, des registres d'un à quelques cycles jusqu'à la mémoire globale de plusieurs centaines de cycles, notre objectif d'optimisation est de maintenir les données le plus possible au sommet de la pyramide.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Présentons maintenant notre bibliothèque logicielle de base FlagGems. Écrite en Triton, elle possède naturellement une capacité d'unification跨matériel, supportant plus de dix backends matériels. Elle fournit des opérateurs centraux comme le calcul matriciel et le mécanisme d'attention. Architecturalement, elle intègre une couche de cache de noyau propriétaire, réduisant considérablement les coûts de compilation. Elle supporte simultanément un déploiement double mode avec paquet Python pur et extension C++, éliminant les frais d'appel. De plus, elle adopte une optimisation pilotée par configuration, pouvant réutiliser directement les hyperparamètres optimaux, évitant les recherches répétées au démarrage à froid.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supporter les opérateurs de niveau supérieur, nous avons construit un compilateur multi-puces unifié. Il supporte en aval plus de dix puces nationales et internationales principales, et maintient en parallèle plusieurs versions de branches en amont. Son pipeline de compilation est très clair : partant de la compilation à la volée du frontend Python, entrant dans la couche intermédiaire du compilateur, puis passant par la phase de génération de code spécifique au backend pour se transformer en assembleur de bas niveau, finalement chargé via le gestionnaire matériel unifié à l'exécution.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Voici les considérations principales de l'extension de pointeur de mémoire partagée que nous avons introduite dans le compilateur. C'est une primitive dédiée. L'idée centrale est d'exposer une interface dédiée au niveau du langage, permettant au compilateur de percevoir explicitement que l'opération de pointeur actuelle cible la mémoire partagée, générant ainsi des instructions spécialisées. Ses points de conception incluent la déclaration explicite du domaine d'opération, le maintien de la visibilité pour les passes du compilateur, la définition unifiée au niveau supérieur avec implémentation indépendante par backend, et surtout la garantie de zéro surcoût d'exécution. L'exemple de code ci-dessous montre comment elle opère directement sur les adresses brutes, brisant les limitations des pointeurs de bloc traditionnels.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Avec la primitive, nous devons intégrer les passes correspondantes dans le compilateur pour effectuer l'abaissement. L'élément clé est la passe de conversion du pointeur local vers la mémoire partagée. Le processus est le suivant : après l'appel de la primitive dans le code source supérieur, ce nœud est conservé tel quel dans la représentation intermédiaire initiale. Lorsqu'on entre dans la représentation intermédiaire de niveau GPU, la passe de spécialisation identifie précisément ce nœud et le remplace par des opérations de lecture/écriture locales spécifiques à la puce cible. Finalement, lors de la génération des instructions de bas niveau, on obtient la séquence optimale d'instructions d'accès mémoire. Le code à droite illustre la logique d'implémentation, centrée sur les opérations de parcours et de remplacement.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Après intégration de cette passe dans le backend, les effets d'optimisation sont remarquables. Elle réduit non seulement considérablement les allers-retours d'accès à la mémoire globale, mais exploite pleinement la localité, réduisant globalement la latence d'accès mémoire de 5 à 10 fois, tout en améliorant le parallélisme au niveau instruction. Le code à gauche montre le processus d'enregistrement de cette passe dans le pipeline backend, n'activant la spécialisation que lorsque le backend correspondant est détecté. En bas se trouve la comparaison concrète de conversion de représentation intermédiaire, où l'on peut voir l'instruction abstraite mapping précisément vers les instructions de lecture/écriture de mémoire partagée haute vitesse spécifiques à l'accélérateur.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Alors, comment intégrer cette fonctionnalité dans la bibliothèque d'opérateurs ? De haut en bas, la couche supérieure est la couche d'enregistrement des opérateurs, suivie par la gestion du cache de noyaux et de l'autotuning. Le point d'injection clé se trouve dans la couche de noyau, c'est-à-dire dans le code d'implémentation spécifique des opérateurs, où les développeurs appellent explicitement le pointeur de mémoire partagée. Ensuite, le compilateur prend le relais pour le traitement de spécialisation. Actuellement, cette optimisation a été appliquée à plusieurs opérateurs centraux comme topk, les différents types de tri et la médiane.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Prenons l'opérateur TopK comme exemple pour une analyse approfondie. Dans cette pratique, nous avons suivi quatre principes d'optimisation microarchitecturelle. Premièrement, le stockage des données à proximité, tous les résultats de tri intermédiaires restent en mémoire partagée. Deuxièmement, l'optimisation d'accès bank, en utilisant l'information d'offset portée par la primitive, le compilateur a réorganisé les accès en bas niveau pour éliminer les conflits. Troisièmement, la fusion d'instructions, combinant le calcul d'adresse et l'opération de chargement. Quatrièmement, le masquage de latence, grâce à un ordonnancement raisonnable pour masquer la latence d'accès à la mémoire partagée. Le code à droite montre clairement la méthode optimisée de lecture/écriture de mémoire partagée.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 connectant tout ce qui précède, voici le cycle de vie complet de l'optimisation. Première étape, la demande d'appel est initiée dans la couche d'enregistrement. Deuxième étape, on entre dans l'exécution du noyau et on rencontre notre primitive injectée. Troisième étape, le compilateur prend le relais, la passe d'abaissement spécifique convertit précisément cette primitive en instruction d'écriture dédiée à l'architecture cible. Quatrième étape, génération de la séquence de code cible de bas niveau optimisée à l'extrême, réalisant une pleine exploitation des performances matérielles.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Après l'optimisation approfondie conjointe matériel-logiciel, l'amélioration des performances est immédiate. Dans l'environnement de test, l'amélioration moyenne des performances des opérateurs de type TopK atteint 60%, et celle des opérateurs de type tri atteint en moyenne 40%. La logique physique centrale derrière cela est la transformation des accès extrêmement lents à la mémoire globale en accès à la mémoire partagée sur puce 5 à 10 fois plus rapides. De plus, cette optimisation a une intrusion nulle sur le code du modèle de niveau supérieur. Les données d'amélioration spécifiques par opérateur sont consultables dans le graphique à barres à droite.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modèle d'optimisation possède une extensibilité très forte. Tout opérateur correspondant aux modèles suivants peut adopter une approche similaire : scénarios où les résultats intermédiaires nécessitent des lectures/écritures répétées, scénarios d'échange de données au sein d'un même bloc de threads, opérations de réduction inter-threads, ou traitements par blocs comme le tri radix. Les étapes d'intégration de nouveaux opérateurs sont également très standardisées, formant un cycle fermé allant de l'identification des scénarios, au remplacement des primitives, à la validation de compilation et aux tests de régression. Enfin, cette solution d'optimisation est également un élément important de notre pile logicielle système unifiée,支撑ant des applications allant des grands modèles à l'intelligence incarnée.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à tous, aujourd'hui nous entamons la quarante-quatrième leçon, dont le thème est l'optimisation des performances de bout en bout. Les cours précédents ont couvert le développement d'opérateurs, Flash Attention, le réglage automatique et d'autres techniques ponctuelles; cette leçon adopte une perspective système pour examiner comment coordonner la conception d'algorithmes, l'optimisation du compilateur et l'implémentation des opérateurs, afin de former une optimisation des performances de bout en bout, de l'entraînement à l'inférence, d'une seule machine à plusieurs machines, et présente le rôle de FlagOS, FlagScale, FlagGems, vLLM-Plugin-FL et d'autres infrastructures.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souligne le cœur de l'optimisation des performances de bout en bout : l'accélération collaborative. De la conception d'algorithmes à l'optimisation du compilateur jusqu'à l'implémentation des opérateurs, chaque couche doit collaborer plutôt que fonctionner de manière isolée. La couche algorithmique détermine le graphe de calcul et le flux de données; le compilateur est responsable de la fusion, de la planification mémoire et de l'ordonnancement; la couche des opérateurs fournit des kernels et des bibliothèques efficaces. Seul l'alignement des trois permet de maximiser l'utilisation du matériel sans modifier la sémantique de l'algorithme.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présente la table des matières, listant le contenu principal de cette leçon : le concept d'optimisation collaborative de bout en bout au niveau macroscopique ; l'implémentation des opérateurs et l'optimisation mémoire/communication ; le rôle et l'écosystème de la bibliothèque d'opérateurs FlagGems ; FlagOS et FlagScale ; la philosophie de conception de vLLM-Plugin-FL ; l'optimisation approfondie de PagedAttention ; le traitement par lots continu ; et la combinaison de vLLM-Plugin-FL avec FlagGems ; enfin, le résumé de l'optimisation de bout en bout.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définit le sens de l'optimisation collaborative de bout en bout. De bout en bout désigne le fait de considérer de manière non fragmentée toutes les couches, depuis l'entrée du modèle et des données par l'utilisateur ou le framework, jusqu'à l'obtention d'un résultat d'exécution correct et efficace sur le matériel. L'optimisation collaborative signifie que les algorithmes, compilateurs, opérateurs, runtime et bibliothèques de communication participent tous aux décisions d'optimisation, plutôt que de travailler isolément. Par exemple, la fusion d'opérateurs nécessite que le compilateur et la bibliothèque d'opérateurs conviennent d'une interface; l'entraînement distribué nécessite une collaboration entre algorithme, communication et ordonnancement.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adopte une perspective macroscopique sur les couches et les compromis impliqués dans l'optimisation de bout en bout. Elle peut inclure : le chevauchement calcul/communication, l'équilibre mémoire/bande passante, la collaboration mono-carte/multi-cartes, les différences entre entraînement et inférence, etc. L'illustration sera accompagnée d'un schéma de la pile système ou du flux de données. Lors de l'enseignement, il faut souligner que l'optimisation de bout en bout nécessite souvent des compromis entre plusieurs objectifs, sans solution miracle unique, et demande une analyse systématique en fonction de la charge de travail et de l'environnement de déploiement.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Le mur de calcul apparaît généralement dans la phase de pré-remplissage (Prefill Phase), où le modèle doit traiter en parallèle un grand nombre de tokens d'entrée, avec une intensité arithmétique extrême ; la capacité de calcul en virgule flottante de pointe du matériel (TFLOPS) devient le principal goulot d'étranglement. La nécessité centrale de l'optimisation de bout en bout réside dans : la collaboration sur l'ensemble de la chaîne pour améliorer le taux de réutilisation du cache et briser le mur mémoire lorsque la mémoire est limitée ; utiliser la parallélisation des opérateurs et l'optimisation des instructions matérielles pour combler le mur de calcul lorsque le calcul est limité.</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E3E3E3">
                    <a:alpha val="100000"/>
                  </a:srgbClr>
                </a:solidFill>
              </a:defRPr>
            </a:lvl1pPr>
          </a:lstStyle>
          <a:p>
            <a:pPr indent="0" algn="l">
              <a:lnSpc>
                <a:spcPct val="100000"/>
              </a:lnSpc>
            </a:pPr>
            <a:r>
              <a:t>La nécessité centrale de l'optimisation de bout en bout réside dans : la collaboration sur l'ensemble de la chaîne pour améliorer le taux de réutilisation du cache et briser le mur mémoire lorsque la mémoire est limitée ; utiliser la parallélisation des opérateurs et l'optimisation des instructions matérielles pour combler le mur de calcul lorsque le calcul est limité.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se concentre sur le chevauchement communication/calcul dans les scénarios distribués. Dans l'entraînement multi-carte ou multi-machine, les communications AllReduce, AllGather, etc., deviennent souvent des goulots d'étranglement ; la compression de gradient, le pipeline communication/calcul, ainsi que le chevauchement au niveau de l'ordonnancement, peuvent améliorer le débit de bout en bout.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compare les différences d'optimisation de bout en bout entre inférence et entraînement. L'entraînement privilégie le débit, la mémoire vidéo et la communication ; l'inférence privilégie la latence, le traitement par lots et le cache KV, etc. Un même ensemble d'opérateurs et de capacités de compilation peut nécessiter des configurations différentes ou des chemins d'implémentation différents selon les modes. Prépare la transition vers vLLM, PagedAttention, le traitement par lots continu et autres contenus orientés inférence.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explique la position de la bibliothèque d'opérateurs dans la pile logicielle globale. Les frameworks supérieurs appellent des implémentations haute performance via la bibliothèque d'opérateurs ; celle-ci peut à son tour appeler cuBLAS, Flash Attention, des kernels personnalisés, etc. Une interface unifiée d'opérateurs et une conception en couches facilite le remplacement et l'optimisation de bout en bout. Transition naturelle vers la bibliothèque d'opérateurs FlagGems.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développe les moyens concrets d'optimisation mémoire et communication. Peut inclure : points de contrôle de gradient, recalcul d'activation, fusion de communication, communications collectives sensibles à la topologie, etc. L'illustration sera accompagnée d'un schéma de flux de données ou d'éléments de configuration. Lors de l'enseignement, souligner le lien entre ces méthodes et le Roofline, l'analyse de bande passante, les primitives de communication distribuée vus dans les cours précédents.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se concentre sur le rôle de l'implémentation des opérateurs dans l'optimisation de bout en bout. Une implémentation d'opérateurs de qualité est le fondement de la performance : exactitude, stabilité numérique, support de différentes tailles et précisions, ainsi qu'une invocation correcte par le compilateur ou le runtime. Les technologies CUDA/Triton, Flash Attention, le réglage automatique apprises dans ce cours sont toutes des techniques de la couche implémentation.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Google Sans"/>
              </a:defRPr>
            </a:lvl1pPr>
          </a:lstStyle>
          <a:p>
            <a:pPr indent="0" algn="l">
              <a:lnSpc>
                <a:spcPct val="100000"/>
              </a:lnSpc>
            </a:pPr>
            <a:r>
              <a:t>Cette page présente le positionnement et l'écosystème de la bibliothèque d'opérateurs FlagGems. FlagGems fournit un ensemble d'opérateurs haute performance pour les grands modèles et le calcul intelligent, s'interfaçant avec les frameworks supérieurs et le matériel inférieur, jouant un rôle clé de "couche implémentation" dans la pile de bout en bout. L'illustration montrera sa position dans l'écosystème, sa relation avec FlagOS/FlagScale et d'autres composants, ainsi que les types d'opérateurs typiques.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présente FlagOS et FlagScale. FlagOS est un système d'exploitation ou runtime orienté calcul intelligent, FlagScale offre des capacités distribuées et d'ordonnancement pour l'entraînement à grande échelle. Ensemble avec FlagGems, ils constituent l'infrastructure de bout en bout : la couche opérateurs, la couche runtime et la couche d'extension de scale collaborant de concert.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peut présenter l'extension de stockage et le pipeline de données dans l'entraînement et l'inférence IA, par exemple le stockage multi-niveaux, le chargement de données et le prétraitement en relation avec le pipeline de calcul. L'illustration sera accompagnée d'un schéma d'extension de stockage issu de l'industrie ou du matériel pédagogique. Lors de l'enseignement, indiquer brièvement que la performance de bout en bout ne dépend pas seulement du calcul et de la communication ; l'alimentation en données et la bande passante de stockage sont aussi souvent des goulots d'étranglement, à considérer dans la conception système.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présente la philosophie de conception de vLLM-Plugin-FL. vLLM est un moteur d'inférence haute performance pour grands modèles ; Plugin-FL désigne probablement son approche plugin ou l'intégration avec l'écosystème Flag. La philosophie de conception inclut généralement : haut débit, faible latence, combinaison avec PagedAttention et autres optimisations mémoire, ainsi que des opérateurs et backends plug-and-play. Prépare la page suivante sur PagedAttention et le traitement par lots continu.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Google Sans Text"/>
              </a:defRPr>
            </a:lvl1pPr>
          </a:lstStyle>
          <a:p>
            <a:pPr indent="0" algn="l">
              <a:lnSpc>
                <a:spcPct val="100000"/>
              </a:lnSpc>
            </a:pPr>
            <a:r>
              <a:t>Cette page explore en profondeur l'idée d'optimisation de PagedAttention. PagedAttention gère le cache KV par blocs, similaire à la pagination du système d'exploitation, réduisant la fragmentation de la mémoire vidéo, améliorant le taux d'utilisabilité et supportant un partage flexible et l'éviction. L'optimisation approfondie peut concerner le choix de la taille des blocs, la combinaison avec Flash Attention, et l'ordonnancement multi-requêtes.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présente le traitement par lots continu ou dynamique. Lors de l'inférence, l'arrivée des requêtes est dynamique ; un lot statique fixe gaspille de la puissance de calcul ou augmente la latence. Le traitement par lots continu ajuste dynamiquement le batch à l'entrée et sortie des requêtes, obtenant un meilleur équilibre entre utilisation GPU et latence.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présente la combinaison de vLLM-Plugin-FL avec FlagGems et autres composants. Via des plugins ou des interfaces unifiées, les opérateurs haute performance de FlagGems sont combinés au moteur d'inférence vLLM, PagedAttention, le traitement par lots continu, etc., pour former une solution d'inférence de bout en bout déployable.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résume les points clés de la pratique d'optimisation de bout en bout, pouvant inclure : comment réaliser un profilage de performance et localiser les goulots d'étranglement, comment optimiser et arbitrer par couches, comment utiliser FlagOS/FlagScale/FlagGems et autres infrastructures. Prépare la page de résumé.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fait le lien entre l'optimisation de bout en bout et le fil conducteur du cours. En passant en revue le calcul hétérogène, CUDA, le développement d'opérateurs, l'attention et Flash Attention, le réglage automatique jusqu'à l'optimisation de bout en bout de cette leçon, souligner la compréhension de la chaîne complète "matériel - opérateurs - compilation - framework - distribué".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résume l'optimisation des performances de bout en bout. L'optimisation de bout en bout nécessite la collaboration entre algorithmes, compilateurs, opérateurs, runtime et communication ; FlagOS, FlagScale, FlagGems, vLLM-Plugin-FL et autres composants ont chacun leur rôle et collaborent dans les scénarios d'entraînement et d'inférence ; mémoire, communication et ordonnancement sont les dimensions d'optimisation qui traversent l'ensemble. Clôture de la leçon, pouvant s'enchaîner avec le résumé du cours ou des suggestions d'apprentissage ultérieur.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Bienvenue dans cette 45e seance, dont le theme est "contribution open source et collaboration communautaire".</a:t>
            </a:r>
            <a:br/>
            <a:r>
              <a:t>Au cours des seances precedentes, vous avez systematiquement appris les principes techniques fondamentaux de la pile logicielle IA. Aujourd'hui, nous nous tournons vers la pratique de l'ingenierie -</a:t>
            </a:r>
            <a:br/>
            <a:r>
              <a:t>comment participer, en tant que contributeur, a un veritable projet logiciel de systeme IA de niveau industriel.</a:t>
            </a:r>
            <a:br/>
            <a:r>
              <a:t>L'open source est le paradigme de collaboration central dans l'ecosysteme logiciel IA actuel. PyTorch, TVM et vLLM sont tous des projets open source.</a:t>
            </a:r>
            <a:br/>
            <a:r>
              <a:t>Comprendre le processus de collaboration open source est une competence fondamentale indispensable pour tout ingenieur systeme IA.</a:t>
            </a:r>
          </a:p>
          <a:p>
            <a:pPr indent="0" algn="l">
              <a:lnSpc>
                <a:spcPct val="100000"/>
              </a:lnSpc>
            </a:pPr>
            <a:r>
              <a:rPr lang="en-US" sz="1400" b="0" i="0" u="none" strike="noStrike">
                <a:solidFill>
                  <a:srgbClr val="000000"/>
                </a:solidFill>
              </a:rPr>
              <a:t>理解开源协作流程是AI系统工程师的必备基本功。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Etablissons d'abord une comprehension fondamentale de la communaute open source.</a:t>
            </a:r>
            <a:br/>
            <a:r>
              <a:t>L'idee centrale du logiciel open source : rende le code source public, afin que tout le monde puisse le consulter, l'utiliser, le modifier et le distribuer.</a:t>
            </a:r>
            <a:br/>
            <a:r>
              <a:t>Les developpeurs du monde entier collaborent de maniere asynchrone par le biais de revues de code et de discussions sur les Issues, iterant continuellement pour ameliorer la qualite du logiciel.</a:t>
            </a:r>
            <a:br/>
            <a:r>
              <a:t>GitHub est la plateforme de collaboration open source la plus populaire, offrant une chaine d'outils complete : hebergement de code, controle de version, suivi des Issues, PR, etc.</a:t>
            </a:r>
            <a:br/>
            <a:r>
              <a:t>Dans le domaine de l'IA, PyTorch, TensorFlow et Hugging Face adoptent tous le modele open source.</a:t>
            </a:r>
            <a:br/>
            <a:r>
              <a:t>C'est cette ouverture qui favorise la circulation rapide des technologies IA entre le monde academique et l'industrie.</a:t>
            </a:r>
          </a:p>
          <a:p>
            <a:pPr indent="0" algn="l">
              <a:lnSpc>
                <a:spcPct val="100000"/>
              </a:lnSpc>
            </a:pPr>
            <a:r>
              <a:rPr lang="en-US" sz="1200" b="0" i="0" u="none" strike="noStrike">
                <a:solidFill>
                  <a:srgbClr val="000000"/>
                </a:solidFill>
              </a:rPr>
              <a:t>正是这种开放性推动了AI技术在学界和工业界之间的快速流动。</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Presentons maintenant les projets centraux de la pratique de ce cours - FlagOS et FlagTree.</a:t>
            </a:r>
            <a:br/>
            <a:r>
              <a:t>L'objectif de FlagOS est de construire une pile logicielle de systeme IA unifiee, permettant via une interface de programmation unifiee de masquer les differences materielles sous-jacentes,</a:t>
            </a:r>
            <a:br/>
            <a:r>
              <a:t>afin que le code d'application IA de niveau superieur puisse s'executer sur differentes plateformes comme NVIDIA, AMD, Ascend et Cambricon.</a:t>
            </a:r>
            <a:br/>
            <a:r>
              <a:t>FlagTree est un sous-projet central de FlagOS, positionne comme compilateur unifie multi-puces IA,</a:t>
            </a:r>
            <a:br/>
            <a:r>
              <a:t>avec des competences principales incluant la generation et l'optimisation de code pour differentes puces IA, ainsi que la garantie de compatibilite multi-plateformes.</a:t>
            </a:r>
            <a:br/>
            <a:r>
              <a:t>Comme le montre le diagramme d'architecture, FlagOS se situe au-dessus de la couche d'abstraction materielle et en dessous du framework d'apprentissage profond,</a:t>
            </a:r>
            <a:br/>
            <a:r>
              <a:t>c'est le pont cle connectant les applications de niveau superieur aux materiaux diversifies sous-jacents.</a:t>
            </a:r>
          </a:p>
          <a:p>
            <a:pPr indent="0" algn="l">
              <a:lnSpc>
                <a:spcPct val="100000"/>
              </a:lnSpc>
            </a:pPr>
            <a:r>
              <a:rPr lang="en-US" sz="1200" b="0" i="0" u="none" strike="noStrike">
                <a:solidFill>
                  <a:srgbClr val="000000"/>
                </a:solidFill>
              </a:rPr>
              <a:t>是连接上层应用与底层多样化硬件的关键桥梁。</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Pourquoi participer aux contributions open source ? Examinons cela sous deux angles.</a:t>
            </a:r>
            <a:br/>
            <a:r>
              <a:t>Sur le plan de la croissance technique : les projets open source offrent des opportunites d'apprentissage de code industriel reel difficiles a obtenir en cours.</a:t>
            </a:r>
            <a:br/>
            <a:r>
              <a:t>Lire le code source de projets comme PyTorch permet d'acceder directement a des conceptions systeme complexes comme le moteur de differentiation automatique, l'ordonnancement d'operateurs et la gestion memoire,</a:t>
            </a:r>
            <a:br/>
            <a:r>
              <a:t>et d'apprendre les connaissances implicites des excellents ingenieurs en matiere de conception d'interfaces, de commentaires et de cas de test.</a:t>
            </a:r>
            <a:br/>
            <a:r>
              <a:t>Sur le plan du developpement professionnel : l'historique de contribution open source sur GitHub est une "carte de visite technique" solide pour les entretiens de postes en systeme IA,</a:t>
            </a:r>
            <a:br/>
            <a:r>
              <a:t>qui peut ameliorer significativement la competitivite et aider a etablir de veritables connexions avec des ingenieurs de l'industrie.</a:t>
            </a:r>
            <a:br/>
            <a:r>
              <a:t>En un mot : contribuer a l'open source est l'etape la plus importante pour passer de l'apprentissage a la contribution.</a:t>
            </a:r>
          </a:p>
          <a:p>
            <a:pPr indent="0" algn="l">
              <a:lnSpc>
                <a:spcPct val="100000"/>
              </a:lnSpc>
            </a:pPr>
            <a:r>
              <a:rPr lang="en-US" sz="1200" b="0" i="0" u="none" strike="noStrike">
                <a:solidFill>
                  <a:srgbClr val="000000"/>
                </a:solidFill>
              </a:rPr>
              <a:t>一句话：参与开源，是从学习者转变为贡献者的最重要一步。</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Pour participer a l'open source, il faut d'abord maitriser deux outils fondamentaux : Git et GitHub.</a:t>
            </a:r>
            <a:br/>
            <a:r>
              <a:t>Git est un systeme de controle de version distribue. Chaque developpeur possede localement une copie complete du depot de code,</a:t>
            </a:r>
            <a:br/>
            <a:r>
              <a:t>permettant le developpement parallele par branches multiples et le trace complet de chaque historique de modification.</a:t>
            </a:r>
            <a:br/>
            <a:r>
              <a:t>GitHub est une plateforme d'hebergement et de collaboration de code construite sur Git.</a:t>
            </a:r>
            <a:br/>
            <a:r>
              <a:t>Quatre concepts cles a retenir :</a:t>
            </a:r>
            <a:br/>
            <a:r>
              <a:t>Repository - le depot de code, contenant tout l'historique des versions du projet ;</a:t>
            </a:r>
            <a:br/>
            <a:r>
              <a:t>Commit - un enregistrement de modification atomique du code, avec un identifiant de hachage unique ;</a:t>
            </a:r>
            <a:br/>
            <a:r>
              <a:t>Issue - pour enregistrer les rapports de bugs et les demandes de fonctionnalites, canal principal de communication asynchrone de la communaute ;</a:t>
            </a:r>
            <a:br/>
            <a:r>
              <a:t>Pull Request - le mecanisme central de collaboration open source, detaille sur la page suivante.</a:t>
            </a:r>
          </a:p>
          <a:p>
            <a:pPr indent="0" algn="l">
              <a:lnSpc>
                <a:spcPct val="100000"/>
              </a:lnSpc>
            </a:pPr>
            <a:r>
              <a:rPr lang="en-US" sz="1200" b="0" i="0" u="none" strike="noStrike">
                <a:solidFill>
                  <a:srgbClr val="000000"/>
                </a:solidFill>
              </a:rPr>
              <a:t>Pull Request——开源协作的核心机制，下一页重点讲解。</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Pull Request, ou PR en abrege, est le mecanisme de contribution de code le plus central dans la collaboration open source.</a:t>
            </a:r>
            <a:br/>
            <a:r>
              <a:t>L'essence d'une PR : une demande de fusion adressee par un contributeur au maintainer du projet,</a:t>
            </a:r>
            <a:br/>
            <a:r>
              <a:t>c'est egalement une etape cle de la revue de code structuree, ou les maintainers et membres de la communaute peuvent examiner ligne par ligne et proposer des suggestions de modification.</a:t>
            </a:r>
            <a:br/>
            <a:r>
              <a:t>Le processus type d'une PR se decompose en cinq etapes :</a:t>
            </a:r>
            <a:br/>
            <a:r>
              <a:t>Premiere etape Fork - copier le depot cible sous son propre compte ;</a:t>
            </a:r>
            <a:br/>
            <a:r>
              <a:t>Deuxieme etape Modifier - effectuer des modifications de code ou de documentation sur une nouvelle branche ;</a:t>
            </a:r>
            <a:br/>
            <a:r>
              <a:t>Troisieme etape Soumettre - push les modifications vers son propre depot Fork ;</a:t>
            </a:r>
            <a:br/>
            <a:r>
              <a:t>Quatrieme etape Examiner - lancer la PR, repondre serieusement a chaque commentaire de Review, ce qui peut necessiter plusieurs iterations ;</a:t>
            </a:r>
            <a:br/>
            <a:r>
              <a:t>Cinquieme etape Fusionner - une fois tous les checks CI passes et le maintainer Approve, le code entre officiellement dans le projet principal.</a:t>
            </a:r>
            <a:br/>
            <a:r>
              <a:t>Ces cinq etapes constituent le paradigme universel pour contribuer du code a n'importe quel projet open source - a retenir absolument.</a:t>
            </a:r>
          </a:p>
          <a:p>
            <a:pPr indent="0" algn="l">
              <a:lnSpc>
                <a:spcPct val="100000"/>
              </a:lnSpc>
            </a:pPr>
            <a:r>
              <a:rPr lang="en-US" sz="1200" b="0" i="0" u="none" strike="noStrike">
                <a:solidFill>
                  <a:srgbClr val="000000"/>
                </a:solidFill>
              </a:rPr>
              <a:t>这五步是向任何开源项目贡献代码的通用范式，请务必牢记。</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Avec le concept de base de la PR, voyons le processus operationnel specifique pour soumettre une PR a FlagOS/FlagTree.</a:t>
            </a:r>
            <a:br/>
            <a:r>
              <a:t>Les cinq etapes sont : Fork depot -&gt; Creer nouvelle branche de developpement -&gt; Modifier code ou documentation -&gt; Commit soumettre -&gt; Lancer PR.</a:t>
            </a:r>
            <a:br/>
            <a:r>
              <a:t>Un point cle a souligner : ne jamais modifier directement sur la branche main,</a:t>
            </a:r>
            <a:br/>
            <a:r>
              <a:t>il faut creer une branche feature clairement nommee a partir du main le plus recent, par exemple fix/doc-typo ou feature/add-backend.</a:t>
            </a:r>
            <a:br/>
            <a:r>
              <a:t>Une PR qualifiee doit contenir trois elements :</a:t>
            </a:r>
            <a:br/>
            <a:r>
              <a:t>Premier, une description claire des modifications ; deuxieme, une explication suffisante de la raison ; troisieme, les cas de test correspondants (si applicable).</a:t>
            </a:r>
            <a:br/>
            <a:r>
              <a:t>Une PR bien decrite et bien testee est un signe de respect envers les maintainers et augmente considerablement les chances d'etre fusionnee.</a:t>
            </a:r>
          </a:p>
          <a:p>
            <a:pPr indent="0" algn="l">
              <a:lnSpc>
                <a:spcPct val="100000"/>
              </a:lnSpc>
            </a:pPr>
            <a:r>
              <a:rPr lang="en-US" sz="1200" b="0" i="0" u="none" strike="noStrike">
                <a:solidFill>
                  <a:srgbClr val="000000"/>
                </a:solidFill>
              </a:rPr>
              <a:t>描述完整、测试充分的PR，是对维护者的尊重，也大大提高被合并的成功率。</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En plus de soumettre des PR, signaler des Issues est egalement une forme importante de contribution open source.</a:t>
            </a:r>
            <a:br/>
            <a:r>
              <a:t>Un rapport de bug de qualite a souvent plus de valeur qu'un correctif de code grossier.</a:t>
            </a:r>
            <a:br/>
            <a:r>
              <a:t>Un rapport de bug conforme doit contenir quatre parties :</a:t>
            </a:r>
            <a:br/>
            <a:r>
              <a:t>Summary - resumer le probleme en une ou deux phrases ;</a:t>
            </a:r>
            <a:br/>
            <a:r>
              <a:t>Steps to Reproduce - c'est la partie la plus critique, lister les etapes precises permettant de reproduire le probleme de maniere stable ;</a:t>
            </a:r>
            <a:br/>
            <a:r>
              <a:t>Expected Behavior - decrire le resultat attendu dans des conditions normales ;</a:t>
            </a:r>
            <a:br/>
            <a:r>
              <a:t>Actual Behavior - decrire le phenomene d'erreur observe, y compris les journaux d'erreur et les piles d'exceptions.</a:t>
            </a:r>
            <a:br/>
            <a:r>
              <a:t>Si possible, joindre un exemple de code minimal reproductible accelerera considerablement le diagnostic du probleme.</a:t>
            </a:r>
            <a:br/>
            <a:r>
              <a:t>Rappelez-vous : un vague "le programme a plante" vaut infiniment moins qu'une Issue avec des etapes de reproduction completes.</a:t>
            </a:r>
          </a:p>
          <a:p>
            <a:pPr indent="0" algn="l">
              <a:lnSpc>
                <a:spcPct val="100000"/>
              </a:lnSpc>
            </a:pPr>
            <a:r>
              <a:rPr lang="en-US" sz="1200" b="0" i="0" u="none" strike="noStrike">
                <a:solidFill>
                  <a:srgbClr val="000000"/>
                </a:solidFill>
              </a:rPr>
              <a:t>请记住：一个含糊的"程序崩溃了"，和一个包含完整复现步骤的Issue，价值天壤之别。</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Pour soumettre une PR a FlagTree, des exigences de contribution claires s'appliquent.</a:t>
            </a:r>
            <a:br/>
            <a:r>
              <a:t>Lors de la soumission d'une PR, le contributeur doit : decrire clairement le contenu des modifications, expliquer suffisamment la raison, fournir les cas de test.</a:t>
            </a:r>
            <a:br/>
            <a:r>
              <a:t>Avant qu'une PR puisse etre fusionnee, trois preconditions doivent etre satisfaites :</a:t>
            </a:r>
            <a:br/>
            <a:r>
              <a:t>Premier, approbation d'au moins un maintainer - passer le Code Review, repondre serieusement a chaque commentaire de revue ;</a:t>
            </a:r>
            <a:br/>
            <a:r>
              <a:t>Deuxieme, passer tous les checks CI - incluant les verifications de format de code, tests unitaires et tests d'integration, tout echec interdit la fusion ;</a:t>
            </a:r>
            <a:br/>
            <a:r>
              <a:t>Troisieme, attendre la fin du Review - les maintainers sont des contributeurs benevoles, il faut patienter pour les retours.</a:t>
            </a:r>
            <a:br/>
            <a:r>
              <a:t>Ces trois conditions constituent la configuration standard pour la garantie de qualite du code dans les projets open source majeurs de l'industrie.</a:t>
            </a:r>
          </a:p>
          <a:p>
            <a:pPr indent="0" algn="l">
              <a:lnSpc>
                <a:spcPct val="100000"/>
              </a:lnSpc>
            </a:pPr>
            <a:r>
              <a:rPr lang="en-US" sz="1200" b="0" i="0" u="none" strike="noStrike">
                <a:solidFill>
                  <a:srgbClr val="000000"/>
                </a:solidFill>
              </a:rPr>
              <a:t>这三个条件是业界主流开源项目代码质量保障的标准配置。</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Parlons maintenant d'un sujet souvent neglige par les debutants mais extremement important - les normes de code.</a:t>
            </a:r>
            <a:br/>
            <a:r>
              <a:t>Pourquoi les grands projets open source imposent-ils un style de code unifie ?</a:t>
            </a:r>
            <a:br/>
            <a:r>
              <a:t>Premierement, un style unifie ameliore significativement la lisibilite, permettant a n'importe quel membre de comprendre rapidement la logique du code ;</a:t>
            </a:r>
            <a:br/>
            <a:r>
              <a:t>Deuxiemement, le code standardise est plus facile a refactorer et a etendre, reduisant efficacement la dette technique ;</a:t>
            </a:r>
            <a:br/>
            <a:r>
              <a:t>Troisiemement, des normes unifiees eliminent les debats futiles sur le format lors des Code Reviews, concentrant l'examen sur la logique et les performances.</a:t>
            </a:r>
            <a:br/>
            <a:r>
              <a:t>Les normes de code couvrent generalement trois niveaux :</a:t>
            </a:r>
            <a:br/>
            <a:r>
              <a:t>Format de code - indentation, espaces, longueur de ligne, etc. ;</a:t>
            </a:r>
            <a:br/>
            <a:r>
              <a:t>Regles de nommage - conventions de nommage pour variables, fonctions, classes ;</a:t>
            </a:r>
            <a:br/>
            <a:r>
              <a:t>Structure de fichier - organisation des repertoires et division des modules.</a:t>
            </a:r>
            <a:br/>
            <a:r>
              <a:t>FlagTree applique ces trois niveaux de normes via des outils automatises que nous presenterons dans les pages suivantes.</a:t>
            </a:r>
          </a:p>
          <a:p>
            <a:pPr indent="0" algn="l">
              <a:lnSpc>
                <a:spcPct val="100000"/>
              </a:lnSpc>
            </a:pPr>
            <a:r>
              <a:rPr lang="en-US" sz="1200" b="0" i="0" u="none" strike="noStrike">
                <a:solidFill>
                  <a:srgbClr val="000000"/>
                </a:solidFill>
              </a:rPr>
              <a:t>FlagTree通过自动化工具强制执行这三个层面的规范，接下来几页逐一介绍。</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FlagTree utilise le framework pre-commit pour executer automatiquement les outils de verification avant la soumission du code.</a:t>
            </a:r>
            <a:br/>
            <a:r>
              <a:t>C'est une strategie de controle qualite "preventive" - trouver les problemes localement avant que le code n'entre dans le depot de version.</a:t>
            </a:r>
            <a:br/>
            <a:r>
              <a:t>L'installation et la configuration se font en quatre etapes :</a:t>
            </a:r>
            <a:br/>
            <a:r>
              <a:t>pip install pre-commit pour installer l'outil ;</a:t>
            </a:r>
            <a:br/>
            <a:r>
              <a:t>cd flagtree pour entrer dans le repertoire du projet ;</a:t>
            </a:r>
            <a:br/>
            <a:r>
              <a:t>pre-commit install pour enregistrer le hook Git ;</a:t>
            </a:r>
            <a:br/>
            <a:r>
              <a:t>Des lors, a chaque git commit, le hook declenche automatiquement la verification - si ca passe, la soumission a lieu, sinon ca s'arrete et demande de corriger.</a:t>
            </a:r>
            <a:br/>
            <a:r>
              <a:t>La valeur centrale de pre-commit : deplacer le controle qualite en amont localement,</a:t>
            </a:r>
            <a:br/>
            <a:r>
              <a:t>evitant de decouvrir les problemes de format par CI apres avoir soumis la PR, reduisant les allers-retours inutiles.</a:t>
            </a:r>
          </a:p>
          <a:p>
            <a:pPr indent="0" algn="l">
              <a:lnSpc>
                <a:spcPct val="100000"/>
              </a:lnSpc>
            </a:pPr>
            <a:r>
              <a:rPr lang="en-US" sz="1200" b="0" i="0" u="none" strike="noStrike">
                <a:solidFill>
                  <a:srgbClr val="000000"/>
                </a:solidFill>
              </a:rPr>
              <a:t>避免提交PR后才由CI发现格式问题，减少不必要的远程往返。</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FlagTree utilise l'outil ruff pour l'analyse statique du code Python.</a:t>
            </a:r>
            <a:br/>
            <a:r>
              <a:t>ruff est ecrit en Rust, son temps d'execution est des dizaines de fois plus rapide que les outils traditionnels comme flake8 et pylint, adapté aux flux CI des grandes bases de code.</a:t>
            </a:r>
            <a:br/>
            <a:r>
              <a:t>Couverture fonctionnelle : detection des erreurs de syntaxe, problemes de style (conforme a PEP 8 et autres standards), bugs potentiels, avec support de correction automatique.</a:t>
            </a:r>
            <a:br/>
            <a:r>
              <a:t>Configuration ruff de FlagTree : limite de longueur de ligne a 120 caracteres, correction automatique activee.</a:t>
            </a:r>
            <a:br/>
            <a:r>
              <a:t>Trois commandes courantes :</a:t>
            </a:r>
            <a:br/>
            <a:r>
              <a:t>ruff check . - verifier tous les fichiers Python du repertoire courant ;</a:t>
            </a:r>
            <a:br/>
            <a:r>
              <a:t>ruff check --fix . - verifier et corriger automatiquement les problemes réparables ;</a:t>
            </a:r>
            <a:br/>
            <a:r>
              <a:t>ruff check --select E,W,F . - specifier un ensemble de regles specifique pour la verification.</a:t>
            </a:r>
          </a:p>
          <a:p>
            <a:pPr indent="0" algn="l">
              <a:lnSpc>
                <a:spcPct val="100000"/>
              </a:lnSpc>
            </a:pPr>
            <a:r>
              <a:rPr lang="en-US" sz="1200" b="0" i="0" u="none" strike="noStrike">
                <a:solidFill>
                  <a:srgbClr val="000000"/>
                </a:solidFill>
              </a:rPr>
              <a:t>ruff check --select E,W,F . ——指定特定规则集进行检查。</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FlagTree utilise yapf pour le formatage automatique du code Python.</a:t>
            </a:r>
            <a:br/>
            <a:r>
              <a:t>yapf est un outil de formatage Python open source par Google. L'idee centrale :</a:t>
            </a:r>
            <a:br/>
            <a:r>
              <a:t>definir un algorithme de formatage, laisser l'outil formater automatiquement le code selon les normes, eliminant a la source les problemes d'incoherence de style au sein de l'equipe.</a:t>
            </a:r>
            <a:br/>
            <a:r>
              <a:t>Trois caracteristiques cles : conforme au guide de style Python de Google, formatage d'un repertoire entier en une commande, garantie d'uniformite absolue du style de l'equipe.</a:t>
            </a:r>
            <a:br/>
            <a:r>
              <a:t>Commandes courantes :</a:t>
            </a:r>
            <a:br/>
            <a:r>
              <a:t>yapf -i file.py - formater un fichier unique, -i signifie modification directe du fichier original ;</a:t>
            </a:r>
            <a:br/>
            <a:r>
              <a:t>yapf -i -r . - formater recursivement tout un repertoire ;</a:t>
            </a:r>
            <a:br/>
            <a:r>
              <a:t>yapf -d file.py - afficher uniquement le diff, sans modifier le fichier, pour confirmer l'effet du formatage.</a:t>
            </a:r>
            <a:br/>
            <a:r>
              <a:t>Note supplementaire : ruff se concentre sur le linting (trouver les problemes), yapf se concentre sur le formatting (formatage), les deux sont complementaires et s'utilisent ensemble.</a:t>
            </a:r>
          </a:p>
          <a:p>
            <a:pPr indent="0" algn="l">
              <a:lnSpc>
                <a:spcPct val="100000"/>
              </a:lnSpc>
            </a:pPr>
            <a:r>
              <a:rPr lang="en-US" sz="1200" b="0" i="0" u="none" strike="noStrike">
                <a:solidFill>
                  <a:srgbClr val="000000"/>
                </a:solidFill>
              </a:rPr>
              <a:t>补充说明：ruff侧重linting（找问题），yapf侧重formatting（格式化），两者互补配合使用。</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FlagTree possede beaucoup de code C++ en sous-couche, utilise clang-format pour le formatage.</a:t>
            </a:r>
            <a:br/>
            <a:r>
              <a:t>clang-format est l'outil officiel de formatage C++ du projet LLVM.</a:t>
            </a:r>
            <a:br/>
            <a:r>
              <a:t>Comme FlagTree est construit sur le compilateur Triton, Triton et LLVM suivant tous les conventions de codage LLVM,</a:t>
            </a:r>
            <a:br/>
            <a:r>
              <a:t>le code C++ de FlagTree adopte egalement le style LLVM.</a:t>
            </a:r>
            <a:br/>
            <a:r>
              <a:t>Deux avantages majeurs : ameliore significativement la lisibilite du code ; elimine completement les debats sur le format, concentrant le Code Review sur la logique.</a:t>
            </a:r>
            <a:br/>
            <a:r>
              <a:t>Commandes courantes :</a:t>
            </a:r>
            <a:br/>
            <a:r>
              <a:t>clang-format -i file.cpp - formater un fichier C++ unique ;</a:t>
            </a:r>
            <a:br/>
            <a:r>
              <a:t>clang-format -i *.cpp *.h - formater plusieurs fichiers ;</a:t>
            </a:r>
            <a:br/>
            <a:r>
              <a:t>clang-format --style=LLVM -i file.cpp - specifier explicitement le style LLVM.</a:t>
            </a:r>
            <a:br/>
            <a:r>
              <a:t>A noter : les projets de compilateurs IA majeurs comme TVM, MLIR et FlagTree utilisent tous clang-format avec le style LLVM,</a:t>
            </a:r>
            <a:br/>
            <a:r>
              <a:t>ce qui est devenu le standard de fait pour le code C++ des logiciels systemes IA.</a:t>
            </a:r>
          </a:p>
          <a:p>
            <a:pPr indent="0" algn="l">
              <a:lnSpc>
                <a:spcPct val="100000"/>
              </a:lnSpc>
            </a:pPr>
            <a:r>
              <a:rPr lang="en-US" sz="1200" b="0" i="0" u="none" strike="noStrike">
                <a:solidFill>
                  <a:srgbClr val="000000"/>
                </a:solidFill>
              </a:rPr>
              <a:t>这已成为AI系统软件C++代码的事实标准。</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Passons maintenant au sujet CI/CD.</a:t>
            </a:r>
            <a:br/>
            <a:r>
              <a:t>CI/CD signifie Continuous Integration / Continuous Deployment, integration continue et deploiement continu,</a:t>
            </a:r>
            <a:br/>
            <a:r>
              <a:t>un pilier central des pratiques d'ingenierie des projets open source modernes.</a:t>
            </a:r>
            <a:br/>
            <a:r>
              <a:t>L'objectif de la CI : a chaque soumission de code, declencher automatiquement la construction et les tests, verifier rapidement si les modifications cassent les fonctionnalites existantes,</a:t>
            </a:r>
            <a:br/>
            <a:r>
              <a:t>permettant de decouvrir les problemes dans les plus brefs delais apres leur introduction.</a:t>
            </a:r>
            <a:br/>
            <a:r>
              <a:t>L'objectif de la CD : deployer automatiquement dans l'environnement cible le code valide par CI, reduisant la fenetre de temps entre le developpement et la mise en production.</a:t>
            </a:r>
            <a:br/>
            <a:r>
              <a:t>Dans les projets open source, la CI est un mecanisme plus central que la CD -</a:t>
            </a:r>
            <a:br/>
            <a:r>
              <a:t>chaque PR entrant dans le depot de code doit passer les verifications completes de la CI, c'est le moyen technique le plus important pour garantir la qualite de la branche principale.</a:t>
            </a:r>
          </a:p>
          <a:p>
            <a:pPr indent="0" algn="l">
              <a:lnSpc>
                <a:spcPct val="100000"/>
              </a:lnSpc>
            </a:pPr>
            <a:r>
              <a:rPr lang="en-US" sz="1200" b="0" i="0" u="none" strike="noStrike">
                <a:solidFill>
                  <a:srgbClr val="000000"/>
                </a:solidFill>
              </a:rPr>
              <a:t>每个进入代码库的PR都必须通过CI的全面检验，这是保障主分支质量的最重要技术手段。</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L'architecture CI de FlagTree reflete parfaitement son objectif de conception central - support unifie multi-puces IA.</a:t>
            </a:r>
            <a:br/>
            <a:r>
              <a:t>Le flux CI couvre l'ecosysteme actuel de puces d'acceleration IA grand publique :</a:t>
            </a:r>
            <a:br/>
            <a:r>
              <a:t>NVIDIA, AMD, Iluvatar, Moore Threads, MetaX, Huawei Ascend, Cambricon, et d'autres backends.</a:t>
            </a:r>
            <a:br/>
            <a:r>
              <a:t>A chaque soumission de modification de code, le systeme CI execute la construction et les tests separement sur toutes ces plateformes materielles,</a:t>
            </a:r>
            <a:br/>
            <a:r>
              <a:t>verifiant la correctitude du code sur chaque plateforme - c'est une tache d'ingenierie extremement difficile,</a:t>
            </a:r>
            <a:br/>
            <a:r>
              <a:t>car les jeux d'instructions, modeles memoire et interfaces de pilotes des differentes puces sont tres differents.</a:t>
            </a:r>
            <a:br/>
            <a:r>
              <a:t>L'objectif central : garantir le fonctionnement correct sur differentes plateformes materielles, offrir une experience de developpement unifiee.</a:t>
            </a:r>
          </a:p>
          <a:p>
            <a:pPr indent="0" algn="l">
              <a:lnSpc>
                <a:spcPct val="100000"/>
              </a:lnSpc>
            </a:pPr>
            <a:r>
              <a:rPr lang="en-US" sz="1200" b="0" i="0" u="none" strike="noStrike">
                <a:solidFill>
                  <a:srgbClr val="000000"/>
                </a:solidFill>
              </a:rPr>
              <a:t>核心目标：保证不同硬件平台都能正常运行，提供统一的开发体验。</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Examinons les etapes specifiques du flux de travail CI de FlagTree, cinq phases executant sequentiellement.</a:t>
            </a:r>
            <a:br/>
            <a:r>
              <a:t>Premier, Setup configuration environnement : configurer OS, pilotes CUDA ou ROCm, version Python, dependances et autre base d'environnement d'execution.</a:t>
            </a:r>
            <a:br/>
            <a:r>
              <a:t>Deuxieme, Checkout recuperation code : extraire le code de la PR dans l'environnement d'execution CI.</a:t>
            </a:r>
            <a:br/>
            <a:r>
              <a:t>Troisieme, Docs verification documentation : verifier le format de la documentation et la validite des liens.</a:t>
            </a:r>
            <a:br/>
            <a:r>
              <a:t>Quatrieme, Build construction projet : c'est la phase la plus intensive en calcul, necessitant la compilation de grandes quantites de code C++ et CUDA.</a:t>
            </a:r>
            <a:br/>
            <a:r>
              <a:t>Commande de construction : MAX_JOBS=32 python3 -m pip install . --no-build-isolation</a:t>
            </a:r>
            <a:br/>
            <a:r>
              <a:t>Ou MAX_JOBS=32 signifie 32 taches de compilation paralleles, utilisant pleinement le CPU multi-coeur pour accelerer la construction ;</a:t>
            </a:r>
            <a:br/>
            <a:r>
              <a:t>--no-build-isolation utilise directement les dependances de l'environnement courant, evitant les reinstallations.</a:t>
            </a:r>
            <a:br/>
            <a:r>
              <a:t>Cinquieme, Test execution tests : executer les tests unitaires et d'integration, verifier la correctitude du code.</a:t>
            </a:r>
            <a:br/>
            <a:r>
              <a:t>Si une phase echoue, la CI s'arrete immediatemment et renvoie les informations d'echec au soumetteur de la PR.</a:t>
            </a:r>
          </a:p>
          <a:p>
            <a:pPr indent="0" algn="l">
              <a:lnSpc>
                <a:spcPct val="100000"/>
              </a:lnSpc>
            </a:pPr>
            <a:r>
              <a:rPr lang="en-US" sz="1200" b="0" i="0" u="none" strike="noStrike">
                <a:solidFill>
                  <a:srgbClr val="000000"/>
                </a:solidFill>
              </a:rPr>
              <a:t>任何一个阶段失败，CI立即中止并将失败信息反馈给PR提交者。</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phase la plus centrale du flux CI est l'execution des tests unitaires. FlagTree a des chemins de tests differents selon le backend materiel.</a:t>
            </a:r>
            <a:br/>
            <a:r>
              <a:t>Pour les backends NVIDIA et AMD, le repertoire de tests est python/test/unit/, executer pytest -s.</a:t>
            </a:r>
            <a:br/>
            <a:r>
              <a:t>Pour les autres backends comme Ascend et Cambricon, le repertoire de tests est third_party/backend/python/test/unit/,</a:t>
            </a:r>
            <a:br/>
            <a:r>
              <a:t>executer egalement pytest -s.</a:t>
            </a:r>
            <a:br/>
            <a:r>
              <a:t>Explication du parametre -s : c'est l'abreviation de --capture=no, desactive la capture de sortie par defaut de pytest,</a:t>
            </a:r>
            <a:br/>
            <a:r>
              <a:t>affichant tous les stdout et stderr directement dans la console, tres important pour l'analyse des logs CI et le debogage local.</a:t>
            </a:r>
            <a:br/>
            <a:r>
              <a:t>Il est conseille d'executer les tests unitaires localement avant de soumettre une PR pour s'assurer qu'ils passent tous,</a:t>
            </a:r>
            <a:br/>
            <a:r>
              <a:t>ce qui augmentera considerablement la probabilite que la PR soit fusionnee avec succes.</a:t>
            </a:r>
          </a:p>
          <a:p>
            <a:pPr indent="0" algn="l">
              <a:lnSpc>
                <a:spcPct val="100000"/>
              </a:lnSpc>
            </a:pPr>
            <a:r>
              <a:rPr lang="en-US" sz="1200" b="0" i="0" u="none" strike="noStrike">
                <a:solidFill>
                  <a:srgbClr val="000000"/>
                </a:solidFill>
              </a:rPr>
              <a:t>这会极大提高PR被顺利合并的概率。</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 flux CI de FlagTree integre egalement un scan automatique de securite du code, une pratique importante des projets open source matures.</a:t>
            </a:r>
            <a:br/>
            <a:r>
              <a:t>Conditions de declenchement : push vers la branche main ; soumission d'une nouvelle PR.</a:t>
            </a:r>
            <a:br/>
            <a:r>
              <a:t>Garantissant que tout le code entrant dans le depot passe le scan de securite.</a:t>
            </a:r>
            <a:br/>
            <a:r>
              <a:t>Apres le scan, un rapport detaille est genere et les developpeurs concernes sont automatiquement notifies.</a:t>
            </a:r>
            <a:br/>
            <a:r>
              <a:t>Il y a deux objectifs :</a:t>
            </a:r>
            <a:br/>
            <a:r>
              <a:t>Premier, ameliorer la securite - detecter rapidement les vulnerabilites potentielles comme les debordements de tampon et les risques d'injection ;</a:t>
            </a:r>
            <a:br/>
            <a:r>
              <a:t>Deuxieme, garantir la conformite - s'assurer du respect des exigences de licence open source, evitant l'introduction de dependances incompatibles.</a:t>
            </a:r>
            <a:br/>
            <a:r>
              <a:t>En tant que compilateur unifie pour plusieurs fabricants de puces, le code de FlagTree peut etre integre dans des produits commerciaux,</a:t>
            </a:r>
            <a:br/>
            <a:r>
              <a:t>les vulnerabilites de securite et les conflits de licence poseraient de graves risques juridiques et techniques.</a:t>
            </a:r>
            <a:br/>
            <a:r>
              <a:t>La garantie de qualite du code des projets open source industriels est multicouche - normes de format, tests fonctionnels, securite et conformite, aucun element ne doit manquer.</a:t>
            </a:r>
          </a:p>
          <a:p>
            <a:pPr indent="0" algn="l">
              <a:lnSpc>
                <a:spcPct val="100000"/>
              </a:lnSpc>
            </a:pPr>
            <a:r>
              <a:rPr lang="en-US" sz="1200" b="0" i="0" u="none" strike="noStrike">
                <a:solidFill>
                  <a:srgbClr val="000000"/>
                </a:solidFill>
              </a:rPr>
              <a:t>工业级开源项目的代码质量保障是多层次的——格式规范、功能测试、安全合规，缺一不可。</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Presentons aux etudiants une opportunite de pratique importante - le Challenge mondial de calcul ouvert FlagOS.</a:t>
            </a:r>
            <a:br/>
            <a:r>
              <a:t>Ce challenge est organise conjointement par la communaute FlagOS Zhongzhi et l'Institut de recherche en intelligence artificielle de Pekin (BAAI).</a:t>
            </a:r>
            <a:br/>
            <a:r>
              <a:t>Presentation officielle : flagos.io/RaceDetail, portail d'inscription : flagos.io/events.</a:t>
            </a:r>
            <a:br/>
            <a:r>
              <a:t>La valeur de la participation se manifeste sur trois aspects :</a:t>
            </a:r>
            <a:br/>
            <a:r>
              <a:t>Premier, les sujets proviennent de besoins industriels reels, c'est un excellent terrain d'entrainement pour tester les competences en logiciels systemes IA ;</a:t>
            </a:r>
            <a:br/>
            <a:r>
              <a:t>Deuxieme, le classement et le processus de resolution sont des elements de CV de poids ;</a:t>
            </a:r>
            <a:br/>
            <a:r>
              <a:t>Troisieme, c'est un canal important pour entrer en contact avec des ingenieurs de l'industrie et comprendre les tendances technologiques avancees.</a:t>
            </a:r>
            <a:br/>
            <a:r>
              <a:t>Les etudiants ayant complete ce cours possedent deja les connaissances necessaires pour participer a ce type de challenge, esperons que vous saisirez cette opportunite.</a:t>
            </a:r>
          </a:p>
          <a:p>
            <a:pPr indent="0" algn="l">
              <a:lnSpc>
                <a:spcPct val="100000"/>
              </a:lnSpc>
            </a:pPr>
            <a:r>
              <a:rPr lang="en-US" sz="1200" b="0" i="0" u="none" strike="noStrike">
                <a:solidFill>
                  <a:srgbClr val="000000"/>
                </a:solidFill>
              </a:rPr>
              <a:t>修完本课程的同学，已经具备了参与此类挑战的知识储备，希望大家把握这个机会。</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Enfin, voici le travail pratique de cette seance.</a:t>
            </a:r>
            <a:br/>
            <a:r>
              <a:t>Exigence centrale : chaque etudiant doit Fork un depot lie a FlagOS et soumettre avec succes une Pull Request.</a:t>
            </a:r>
            <a:br/>
            <a:r>
              <a:t>Type de tache au choix : Documentation Fix (modification de documentation) ou Bug Fix (correction de petits problemes).</a:t>
            </a:r>
            <a:br/>
            <a:r>
              <a:t>Contenu a soumettre : lien de la PR plus description des modifications.</a:t>
            </a:r>
            <a:br/>
            <a:r>
              <a:t>Les objectifs d'apprentissage de ce travail se declinent en trois niveaux :</a:t>
            </a:r>
            <a:br/>
            <a:r>
              <a:t>Premier, maitriser le flux open source sur GitHub, comprendre la chaine operationnelle complete de Fork a PR ;</a:t>
            </a:r>
            <a:br/>
            <a:r>
              <a:t>Deuxieme, experimenter la vraie collaboration open source, ressentir les pratiques industrielles de Code Review et de verification CI ;</a:t>
            </a:r>
            <a:br/>
            <a:r>
              <a:t>Troisieme, par la pratique personnelle, comprendre profondement le role reel de CI/CD et des normes de code.</a:t>
            </a:r>
            <a:br/>
            <a:r>
              <a:t>Dernier point : ne sous-estimez pas les contributions simples comme la modification de documentation,</a:t>
            </a:r>
            <a:br/>
            <a:r>
              <a:t>beaucoup de contributeurs open source renommes ont commence par leur premiere PR de documentation.</a:t>
            </a:r>
            <a:br/>
            <a:r>
              <a:t>L'important est de faire le premier pas, d'etablir l'experience complete d'interaction avec la communaute open source.</a:t>
            </a:r>
            <a:br/>
            <a:r>
              <a:t>Le cours d'aujourd'hui se termine ici. Bonne reussite a tous pour votre travail et bienvenue dans le monde de la contribution open source !</a:t>
            </a:r>
          </a:p>
          <a:p>
            <a:pPr indent="0" algn="l">
              <a:lnSpc>
                <a:spcPct val="100000"/>
              </a:lnSpc>
            </a:pPr>
            <a:r>
              <a:rPr lang="en-US" sz="1200" b="0" i="0" u="none" strike="noStrike">
                <a:solidFill>
                  <a:srgbClr val="000000"/>
                </a:solidFill>
              </a:rPr>
              <a:t>今天的课程到这里结束，祝同学们顺利完成作业，开启开源贡献之旅！</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cours comprend les quarante-sixième et quarante-septième séances, dont le contenu principal est la soutenance du projet de cours. Il s'agit d'une évaluation complète de vos connaissances sur les couches basses du système et de vos capacités de mise en œuvre technique acquises tout au long du semestre.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de commencer officiellement, revenons d'abord sur le parcours des projets de ce semestre. De la cinquième séance sur la mise en place de l'environnement et la validation de la chaîne d'outils jusqu'à la neuvième séance sur le développement de l'opérateur Softmax en tant que projet intermédiaire, vous avez eu une première approche de l'optimisation bas niveau. Ensuite, lors de la dix-huitième séance, vous avez terminé le projet individuel final sur RMSNorm et la fusion résiduelle, avec une performance devant atteindre 90 % de la référence FlagGems. La vingt-septième séance vous a demandé de contribuer du code à la branche d'optimisation de compilation FlagTree et de valider par des tests. Lors de la trente-sixième séance, par groupes de trois, vous avez effectué l'entraînement distribué multi-machine d'un modèle 7B et comparé les ratios d'accélération linéaire de trois stratégies de parallélisme. Aujourd'hui, nous procédons à la soutenance du grand projet. Nous examinerons particulièrement la faisabilité technique de vos solutions ainsi que l'authenticité de l'avancement du projet.</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projet principal se déroule en groupes de trois à quatre personnes et couvre l'ensemble du cinquième module d'apprentissage. La soutenance est divisée en deux sessions : la séance 46 est principalement consacrée à la vérification de l'avancement intermédiaire, et la séance 47 à la présentation des résultats finaux. Votre sujet doit couvrir l'une des quatre dimensions principales suivantes. Premièrement, la conception et la réalisation autonome d'un schéma d'évaluation de nouveaux matériels. Deuxièmement, l'évaluation des capacités et l'optimisation de l'outil de génération automatique d'opérateurs KernelGen sur des tâches spécifiques. Troisièmement, la pratique d'optimisation complète de la pile logicielle (FlagTree et FlagGems) sur des plateformes GPU nationales. Quatrièmement, l'exploration de l'application pratique de la programmation assistée par IA dans le développement de logiciels système. Veuillez préciser clairement votre point d'ancrage technique lors de votre présentation.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Précisons maintenant le déroulement spécifique de la soutenance. Chaque groupe dispose de douze minutes de présentation, suivies de cinq minutes de questions-réponses. L'ordre de passage a été publié une semaine à l'avance. Veuillez vous assurer de télécharger votre présentation sur la plateforme du cours avant 8 heures le jour de la soutenance.</a:t>
            </a:r>
            <a:br/>
            <a:r>
              <a:t>Le contenu du rapport doit couvrir cinq éléments essentiels. Premièrement, le contexte du projet et la motivation du sujet : expliquez pourquoi vous avez choisi ce problème et sa valeur technique. Deuxièmement, la solution technique : présentez un diagramme d'architecture clair, la feuille de route des technologies clés, ainsi que les points d'intégration avec l'écosystème FlagOS. Troisièmement, l'avancement actuel : exigez la présentation de données expérimentales réelles ou d'une démonstration de code des parties terminées, il est strictement interdit de s'en tenir à une simple description verbale. Quatrièmement, analysez les difficultés techniques spécifiques rencontrées et les solutions que vous avez essayées. Enfin, la planification future avec des jalons temporels précis.</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Concernant le rapport final à soumettre en fin de semestre, veuillez respecter scrupuleusement les exigences de format suivantes. La longueur du texte principal doit être comprise entre huit et douze pages, sans inclure la couverture, la table des matières et les références. Utilisez un format A4, avec une police de douze points pour le corps du texte, et toutes les figures et tableaux doivent être accompagnés d'un numéro et d'un titre. La langue est principalement le chinois, mais le code et les termes techniques peuvent rester en anglais.</a:t>
            </a:r>
            <a:br/>
            <a:r>
              <a:t>Le rapport doit contenir quatre chapitres essentiels. Premièrement, un résumé de trois cents caractères maximum résumant les contributions et conclusions principales. Deuxièmement, un chapitre sur la conception système avec un diagramme d'architecture et une description des structures de données clés. Troisièmement, un chapitre expérimental détaillant la configuration expérimentale, le choix de la base de référence et l'analyse des résultats, avec au moins un graphique à lignes ou histogramme de comparaison de performances. Enfin, un chapitre de discussion nécessitant une analyse objective des limitations et des orientations d'amélioration si le projet était à refaire.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score total de cette soutenance et du rapport est de cent points, évalué selon cinq dimensions. La profondeur technique et l'innovation comptent pour trente points, évaluant la difficulté du problème et le niveau de conception de la solution. Les résultats expérimentaux et la qualité des données comptent pour trente points, exigeant des données complètes, une base de référence raisonnable et des conclusions fondées. La qualité de la présentation et de la démonstration compte pour vingt points, portant sur la clarté de la présentation, l'exécution du programme et la précision des réponses. La prise en compte des retours lors de la séance 46 compte pour dix points, évaluant l'adoption raisonnable des suggestions d'amélioration. Enfin, la qualité du code et du rapport compte pour dix points, exigeant une documentation complète et un code reproductible.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Bonjour à tous, bienvenue à la dernière leçon du cours sur les fondements logiciels et matériels des systèmes de calcul intelligent. Dans cette leçon, nous résumerons l'ensemble du cours et explorerons ensemble les tendances de développement des technologies de pointe.</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thème central de cette leçon, la leçon 48, est les perspectives technologiques de pointe et le résumé. Nous explorerons comment les architectures système peuvent évoluer vers un calcul durable, ainsi que les défis et opportunités au niveau système pour réaliser l'intelligence artificielle générale. Tout d'abord, faisons une rétrospective des cours précédents. Au cours du temps passé, nous avons systématiquement étudié cinq modules clés. Le module 1 couvrait les fondements des systèmes d'intelligence artificielle et du calcul hétérogène. Le module 2 a exploré en détail la mise en œuvre des opérateurs hautes performances et l'ingénierie des opérateurs. Le module 3 a analysé les principes des compilateurs et les techniques d'optimisation des graphes de calcul. Le module 4 a mis l'accent sur la formation et l'inférence distribuées parallèles et les mécanismes de communication. Enfin, dans le module 5, nous avons appris l'évaluation des performances et les techniques de génération d'opérateurs assistée. Ces contenus constituent les fondations des systèmes de calcul intelligents modernes.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ensuite les moteurs clés récents qui font évoluer les systèmes de calcul. L'industrie est actuellement significativement influencée par plusieurs tendances. Premièrement, les lois d'échelle, qui se manifestent non seulement dans la phase de pré-entraînement, mais s'étendent également au post-entraînement et à la phase de test. Deuxièmement, l'essor des flux de travail des agents et des systèmes multi-agents. Troisièmement, le développement rapide de l'intelligence incarnée et des modèles du monde. Ces changements de paradigmes algorithmiques de niveau supérieur exigent que nous redessinions les systèmes et les piles logicielles au niveau inférieur pour un objectif de capacité de calcul décuplé.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spécifiquement l'évolution des lois d'échelle. Auparavant, nous dépendions principalement de la mise à l'échelle du pré-entraînement, c'est-à-dire simplement augmenter les paramètres du modèle et la quantité de données d'entraînement pour améliorer les capacités du modèle. Mais maintenant, nous observons que la mise à l'échelle du post-entraînement peut également apporter des gains de performance significatifs. Plus important encore, la mise à l'échelle au moment du test, qui consiste à donner au modèle plus de temps de réflexion, en investissant plus de capacité de calcul pendant la phase d'inférence pour obtenir une sortie de meilleure qualité. Ces trois lois d'échelle combinées imposent des exigences extrêmement élevées sur le débit des unités de calcul de base.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Face à l'explosion de la demande en capacité de calcul, nous sommes confrontés à de graves défis matériels. À une époque où la loi de Moore ralentit, les goulots d'étranglement système deviennent de plus en plus évidents. Le premier est le mur mémoire. Le taux de croissance annuel de la bande passante de la mémoire haute bande passante n'est que d'environ deux pour cent, bien plus lent que la croissance de la puissance de calcul, ce qui fait que le processeur passe beaucoup de temps à attendre les données pendant l'exécution. Le deuxième est le mur de consommation. L'effet de mise à l'échelle Dennard a pris fin vers 2005, entraînant une augmentation drastique de la puissance thermique nominale des puces. Enfin, le mur d'interconnexion. Dans les clusters distribués, les coûts de communication entre cartes représentent plus de trente pour cent du temps de formation total, ce qui limite sérieusement la capacité de mise à l'échelle horizontale du système.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briser ces limites physiques, les milieux académiques et industriels explorent activement de nouvelles architectures. Voici deux directions typiques. Premièrement, l'architecture de calcul en mémoire, comme les produits de d-Matrix. Son idée centrale est d'intégrer directement la logique de calcul dans la mémoire SRAM, éliminant ainsi totalement les coûts de transfert de données. Mais cela pose des défis pour les logiciels système, le compilateur doit comprendre le modèle d'exécution en mémoire, et notre compilateur unifié doit développer un backend dédié au calcul en mémoire. Deuxièmement, l'architecture d'intégration au niveau du wafer. Son concept est de traiter une tranche de wafer entière comme un processeur ultra-large, dont la mémoire sur puce considérable peut directement contenir les paramètres complets du modèle. Cela pose également des défis logiciels, comme l'absence de mécanisme de pagination mémoire traditionnel, et le système d'exécution doit être profondément conscient de la topologie physique interne du wafer.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Outre le calcul en mémoire et les puces au niveau du wafer, une autre direction architecturale de pointe est l'architecture super-nœud. L'industrie a proposé le concept de "rack comme puce", interconnectant soixante-douze GPU via un backplane cuivre et des commutateurs haute vitesse, avec pour objectif d'utiliser des composants discrets pour réaliser une capacité de calcul similaire aux puces au niveau du wafer, la bande passante agrégée à l'intérieur du rack atteignant un niveau stupéfiant de pétaoctets par seconde. En Chine, nous voyons également le développement de super-nœuds unifiés, interconnectant des centaines de processeurs de réseaux neuronaux via des protocoles haute vitesse, construisant un pool mémoire unifié capable de répondre aux doubles besoins de formation à grande échelle et d'inférence efficace, et dont la pile logicielle de base peut co-évoluer avec les systèmes open source.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Discutons ensuite des défis au niveau système posés par les modèles Vision-Language-Action (VLA) et les modèles du monde. Dans le domaine de l'intelligence incarnée, l'inférence robotique a des exigences de temps réel extrêmement strictes. Les modules de perception et d'inférence doivent suivre la fréquence d'image des caméras physiques de vingt-quatre à soixante hertz. Le taux d'inférence cible idéal devrait atteindre dix à cent hertz. Cependant, la réalité est que nous sommes confrontés à un précipice de performance sérieux sur le matériel edge. Même les unités de calcul edge avancées, en exécutant des modèles de base de quelques milliards de paramètres, n'atteignent qu'à peine environ dix-neuf hertz, et exécuter des modèles très larges est complètement impraticable. La cause fondamentale réside dans la bande passante mémoire limitée des appareils edge, où l'encodeur visuel et le backbone du modèle sont sérieusement freinés par la bande passante de stockage, et la puissance de calcul ne peut pas être pleinement utilisée.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les systèmes d'intelligence incarnée, nous sommes également confrontés à trois autres défis difficiles. Le premier est la fragmentation de la pile logicielle. Si nous utilisons des middlewares traditionnels pour relier les frameworks algorithmiques et les systèmes d'exploitation temps réel robotiques, cela entraîne des coûts importants de sérialisation de données et de communication inter-processus. Souvent, la latence introduite par le middleware dépasse même le temps d'exécution de l'inférence du modèle. Le deuxième est le mur mémoire dû à l'expansion des paramètres du modèle. Les modèles ultra-larges combinés à un énorme cache d'état du monde peuvent facilement dépasser les limites physiques de mémoire et de bande passante des appareils edge. Selon les tests, certains modèles massiques optimisés à l'extrême sur les clusters les plus avancés ont toujours une latence d'inférence bien en deçà de la ligne de base pour le contrôle robotique temps réel. Enfin, le goulot d'étranglement du contexte long. Les futurs modèles nécessiteront inévitablement l'introduction de mécanismes de mémoire historique à long terme, ce qui entraînera une expansion drastique du cache KV, exacerbant davantage les contraintes du mur mémoire.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Avec la généralisation des agents, nous devons comprendre la différence fondamentale entre les agents multi-systèmes et les grands modèles de langage traditionnels en termes de besoins en puissance de calcul. Les modèles de langage traditionnels sont principalement une inférence auto-régressive à tour unique et déterministe, où le coût de calcul est linéairement corrélé au nombre de tokens, et très adapté à l'optimisation du débit par l'augmentation de la taille des lots. Alors que l'agent est un système de décision autonome en boucle fermée, son flux de calcul est multi-étapes et non-déterministe, et implique des interactions multi-modales et multi-agents, entraînant un changement de paradigme des besoins en calcul. Plus spécifiquement, il y a trois différences fondamentales. Premièrement, le non-déterminisme du chemin de calcul, une tâche peut nécessiter de quelques tours à des centaines de tours d'appels de modèle, avec une consommation de calcul multipliée de plusieurs fois à cent fois. Deuxièmement, l'hybridation des paradigmes de calcul, le processus de calcul est entrelacé d'inférence, de récupération, d'appel d'outils et d'autres charges hétérogènes. Troisièmement, la continuité du mode de calcul, passant de requêtes uniques pulsatoires à une charge continue incluant alignement en ligne et mémoire à vie.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Face à l'évolution des agents, le système sous-jacent rencontre des défis sans précédent. Le défi 1 est la mutation du paradigme de calcul. Comme l'inférence unique évolue vers un calcul en boucle de réflexion-action-observation, cela entraîne une expansion non-linéaire de la puissance de calcul. De plus, en raison de la divergence des chemins d'inférence et de la forte dépendance aux retours de l'environnement externe, les stratégies traditionnelles d'optimisation par lots statiques échouent complètement, entraînant une grave sous-utilisation de la capacité de calcul sous-jacente, avec des taux d'utilisation matérielle chutant généralement sous les quinze pour cent. Le défi 2 est le mur mémoire et le coût de la mémoire à long terme au niveau architectural matériel. Le contexte ultra-long a un impact massif sur le système de stockage. Une fenêtre de contexte au niveau du million fait que la mémoire vidéo des cartes de calcul s'épuise instantanément, limitant drastiquement le nombre d'agents concurrents. Les récupérations RAG fréquentes et les lectures mémoire font que le goulot d'étranglement se déplace complètement vers l'étape de transfert de données.</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Le défi 3 des systèmes d'agents réside dans les obstacles de la chaîne d'interaction. Lorsque le système se connecte au monde physique ou à des outils externes, la tolérance à la latence est extrêmement faible, et une latence de l'ordre de la milliseconde peut entraîner l'échec complet de la tâche. Nous devons satisfaire simultanément une haute concurrence et une faible latence, avec les latences TTFT et ITL devant être comprimées à l'extrême. De plus, lors des appels d'outils externes, des blocages E/S sont inévitables, et le changement de contexte des systèmes d'exploitation traditionnels est trop lent, entraînant une perte de précieuse capacité de calcul pendant l'attente des retours. Le défi 4 est la restructuration de la distribution du calcul. Le calcul futur ne se limitera pas à une seule machine ou un seul nœud, mais nécessitera une coordination cloud-edge-device, où la communication réseau elle-même devient une extension de la capacité de calcul. Dans une architecture de perception edge et planification cloud, un réseau à haute bande passante et faible latence devient une contrainte stricte. Le système doit avoir la capacité d'ordonnancement dynamique du calcul hétérogène, découpant et routant intelligemment les tâches entre différentes unités de calcul.</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Présentation de FlagOS, pile logicielle système AI unifiée et open source</a:t>
            </a:r>
            <a:br/>
            <a:r>
              <a:t>FlagOS, une pile logicielle système AI unifiée et open source destinée aux multi-puces, a été initiée et fondée conjointement par plus d'une dizaine d'institutions nationales et internationales, dont des entreprises de semi-conducteurs, des fabricants de systèmes, des unités algorithmiques et logicielles, des organisations à but non lucratif et des institutions de recherche. Centrée sur les problèmes majeurs de l'utilisation de diverses puces AI, elle constitue un écosystème logiciel comprenant la bibliothèque d'opérateurs universels FlagGems, le compilateur unifié FlagTree, le cadre d'entraînement et d'inférence parallèle FlagScale, la bibliothèque de communication unifiée FlagCX, la plateforme de migration et de publication automatique FlagRelease et l'outil d'évaluation multi-puces FlagPerf. FlagOS nous montre la possibilité de rompre l'isolement écologique entre les différentes piles logicielles de puces, ce qui réduira efficacement les coûts de migration pour les développeurs.</a:t>
            </a:r>
            <a:br/>
            <a:r>
              <a:t>Site officiel :</a:t>
            </a:r>
            <a:br/>
            <a:r>
              <a:t>https://flagos.io</a:t>
            </a:r>
            <a:br/>
            <a:br/>
            <a:r>
              <a:t>Portail de questions-réponses interactif :</a:t>
            </a:r>
            <a:br/>
            <a:r>
              <a:t>https://wiki.flagos.io</a:t>
            </a:r>
            <a:br/>
            <a:br/>
            <a:r>
              <a:t>Documentation officielle :</a:t>
            </a:r>
            <a:br/>
            <a:r>
              <a:t>https://docs.flagos.io</a:t>
            </a:r>
            <a:br/>
            <a:br/>
            <a:r>
              <a:t>Présentation de la dernière version 1.6 :</a:t>
            </a:r>
            <a:br/>
            <a:r>
              <a:t>https://mp.weixin.qq.com/s/eBgg6_5FJV-RuYk5fBQvOg</a:t>
            </a:r>
            <a:br/>
            <a:br/>
            <a:r>
              <a:t>Open source sincère, bienvenue Star-Watch-Fork</a:t>
            </a:r>
            <a:br/>
            <a:r>
              <a:t>1. Bibliothèque d'opérateurs AI universels haute performance FlagGems : https://github.com/flagos-ai/FlagGems</a:t>
            </a:r>
            <a:br/>
            <a:r>
              <a:t>2. Compilateur AI unifié FlagTree : https://github.com/flagos-ai/flagtree</a:t>
            </a:r>
            <a:br/>
            <a:r>
              <a:t>3. Cadre d'entraînement et d'inférence parallèle FlagScale : https://github.com/flagos-ai/FlagScale</a:t>
            </a:r>
            <a:br/>
            <a:r>
              <a:t>4. Bibliothèque de communication unifiée FlagCX : https://github.com/flagos-ai/FlagCX</a:t>
            </a:r>
            <a:br/>
            <a:r>
              <a:t>5. Outil d'évaluation de grands modèles FlagPerf : https://github.com/flagos-ai/flagperf</a:t>
            </a:r>
            <a:br/>
            <a:r>
              <a:t>6. Outil de génération automatique d'opérateurs KernelGen : https://kernelgen.flagos.io</a:t>
            </a:r>
            <a:br/>
            <a:r>
              <a:t>7. Outil de publication de grands modèles FlagRelease :</a:t>
            </a:r>
            <a:br/>
            <a:r>
              <a:t>https://modelscope.cn/organization/FlagRelease</a:t>
            </a:r>
            <a:br/>
            <a:r>
              <a:t>https://huggingface.co/FlagRelease/models</a:t>
            </a:r>
            <a:br/>
            <a:r>
              <a:t>https://www.wisemodel.cn/models/FlagRelease</a:t>
            </a:r>
            <a:br/>
            <a:r>
              <a:t>https://www.gpufree.cn</a:t>
            </a:r>
            <a:br/>
            <a:r>
              <a:t>https://www.aihuanxin.cn</a:t>
            </a:r>
            <a:br/>
            <a:br/>
            <a:r>
              <a:t>Sites miroirs nationaux :</a:t>
            </a:r>
            <a:br/>
            <a:r>
              <a:t>https://gitcode.com/flagos-ai</a:t>
            </a:r>
            <a:br/>
            <a:r>
              <a:t>https://gitee.com/flagos-ai</a:t>
            </a: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7" Type="http://schemas.openxmlformats.org/officeDocument/2006/relationships/theme" Target="../theme/theme2.xml"/><Relationship Id="rId16" Type="http://schemas.openxmlformats.org/officeDocument/2006/relationships/image" Target="../media/image5.png"/><Relationship Id="rId15" Type="http://schemas.openxmlformats.org/officeDocument/2006/relationships/image" Target="../media/image1.png"/><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pic>
        <p:nvPicPr>
          <p:cNvPr id="1"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5" name="Shape 5"/>
        <p:cNvGrpSpPr/>
        <p:nvPr/>
      </p:nvGrpSpPr>
      <p:grpSpPr>
        <a:xfrm>
          <a:off x="0" y="0"/>
          <a:ext cx="0" cy="0"/>
          <a:chOff x="0" y="0"/>
          <a:chExt cx="0" cy="0"/>
        </a:xfrm>
      </p:grpSpPr>
      <p:sp>
        <p:nvSpPr>
          <p:cNvPr id="1"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pic>
        <p:nvPicPr>
          <p:cNvPr id="6" name="Picture 6"/>
          <p:cNvPicPr>
            <a:picLocks noChangeAspect="1"/>
          </p:cNvPicPr>
          <p:nvPr userDrawn="1"/>
        </p:nvPicPr>
        <p:blipFill>
          <a:blip r:embed="rId15"/>
          <a:stretch>
            <a:fillRect/>
          </a:stretch>
        </p:blipFill>
        <p:spPr>
          <a:xfrm>
            <a:off x="9017000" y="5029200"/>
            <a:ext cx="2286000" cy="1371600"/>
          </a:xfrm>
          <a:prstGeom prst="rect">
            <a:avLst/>
          </a:prstGeom>
        </p:spPr>
      </p:pic>
      <p:pic>
        <p:nvPicPr>
          <p:cNvPr id="10" name="图片 9" descr="/Users/jieran/Library/Containers/com.kingsoft.wpsoffice.mac/Data/tmp/picturecompress_20260414165320/output_1.pngoutput_1"/>
          <p:cNvPicPr>
            <a:picLocks noChangeAspect="1"/>
          </p:cNvPicPr>
          <p:nvPr userDrawn="1"/>
        </p:nvPicPr>
        <p:blipFill>
          <a:blip r:embed="rId16"/>
          <a:stretch>
            <a:fillRect/>
          </a:stretch>
        </p:blipFill>
        <p:spPr>
          <a:xfrm>
            <a:off x="8084820" y="222885"/>
            <a:ext cx="927735" cy="386715"/>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image" Target="../media/image9.GI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notesSlide" Target="../notesSlides/notesSlide7.xml"/><Relationship Id="rId11" Type="http://schemas.openxmlformats.org/officeDocument/2006/relationships/slideLayout" Target="../slideLayouts/slideLayout18.xml"/><Relationship Id="rId10" Type="http://schemas.openxmlformats.org/officeDocument/2006/relationships/image" Target="../media/image10.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8.xml"/><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8.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8.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8.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8.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8.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8.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8.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4.xml"/><Relationship Id="rId2" Type="http://schemas.openxmlformats.org/officeDocument/2006/relationships/image" Target="../media/image22.jpeg"/><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3.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3.xml"/><Relationship Id="rId2" Type="http://schemas.openxmlformats.org/officeDocument/2006/relationships/image" Target="../media/image27.png"/><Relationship Id="rId1"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3.xml"/><Relationship Id="rId2" Type="http://schemas.openxmlformats.org/officeDocument/2006/relationships/image" Target="../media/image28.png"/><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3.xml"/><Relationship Id="rId2" Type="http://schemas.openxmlformats.org/officeDocument/2006/relationships/image" Target="../media/image31.png"/><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3.xml"/><Relationship Id="rId2" Type="http://schemas.openxmlformats.org/officeDocument/2006/relationships/image" Target="../media/image35.jpeg"/><Relationship Id="rId1" Type="http://schemas.openxmlformats.org/officeDocument/2006/relationships/image" Target="../media/image34.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3.xml"/><Relationship Id="rId2" Type="http://schemas.openxmlformats.org/officeDocument/2006/relationships/image" Target="../media/image38.png"/><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3.xml"/><Relationship Id="rId2" Type="http://schemas.openxmlformats.org/officeDocument/2006/relationships/image" Target="../media/image41.png"/><Relationship Id="rId1" Type="http://schemas.openxmlformats.org/officeDocument/2006/relationships/image" Target="../media/image4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13.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4.xml"/><Relationship Id="rId2" Type="http://schemas.openxmlformats.org/officeDocument/2006/relationships/image" Target="../media/image49.png"/><Relationship Id="rId1" Type="http://schemas.openxmlformats.org/officeDocument/2006/relationships/image" Target="../media/image48.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4.xml"/><Relationship Id="rId1" Type="http://schemas.openxmlformats.org/officeDocument/2006/relationships/image" Target="../media/image50.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image" Target="../media/image5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image" Target="../media/image5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image" Target="../media/image53.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image" Target="../media/image55.png"/><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image" Target="../media/image54.png"/><Relationship Id="rId23" Type="http://schemas.openxmlformats.org/officeDocument/2006/relationships/notesSlide" Target="../notesSlides/notesSlide58.xml"/><Relationship Id="rId22" Type="http://schemas.openxmlformats.org/officeDocument/2006/relationships/slideLayout" Target="../slideLayouts/slideLayout13.xml"/><Relationship Id="rId21" Type="http://schemas.openxmlformats.org/officeDocument/2006/relationships/image" Target="../media/image58.jpeg"/><Relationship Id="rId20" Type="http://schemas.openxmlformats.org/officeDocument/2006/relationships/tags" Target="../tags/tag25.xml"/><Relationship Id="rId2" Type="http://schemas.openxmlformats.org/officeDocument/2006/relationships/tags" Target="../tags/tag11.xml"/><Relationship Id="rId19" Type="http://schemas.openxmlformats.org/officeDocument/2006/relationships/tags" Target="../tags/tag24.xml"/><Relationship Id="rId18" Type="http://schemas.openxmlformats.org/officeDocument/2006/relationships/image" Target="../media/image57.png"/><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image" Target="../media/image56.png"/><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10.xml"/></Relationships>
</file>

<file path=ppt/slides/_rels/slide60.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image" Target="../media/image54.png"/><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image" Target="../media/image61.png"/><Relationship Id="rId26" Type="http://schemas.openxmlformats.org/officeDocument/2006/relationships/notesSlide" Target="../notesSlides/notesSlide59.xml"/><Relationship Id="rId25" Type="http://schemas.openxmlformats.org/officeDocument/2006/relationships/slideLayout" Target="../slideLayouts/slideLayout13.xml"/><Relationship Id="rId24" Type="http://schemas.openxmlformats.org/officeDocument/2006/relationships/image" Target="../media/image65.png"/><Relationship Id="rId23" Type="http://schemas.openxmlformats.org/officeDocument/2006/relationships/tags" Target="../tags/tag41.xml"/><Relationship Id="rId22" Type="http://schemas.openxmlformats.org/officeDocument/2006/relationships/tags" Target="../tags/tag40.xml"/><Relationship Id="rId21" Type="http://schemas.openxmlformats.org/officeDocument/2006/relationships/image" Target="../media/image64.png"/><Relationship Id="rId20" Type="http://schemas.openxmlformats.org/officeDocument/2006/relationships/tags" Target="../tags/tag39.xml"/><Relationship Id="rId2" Type="http://schemas.openxmlformats.org/officeDocument/2006/relationships/image" Target="../media/image60.jpeg"/><Relationship Id="rId19" Type="http://schemas.openxmlformats.org/officeDocument/2006/relationships/tags" Target="../tags/tag38.xml"/><Relationship Id="rId18" Type="http://schemas.openxmlformats.org/officeDocument/2006/relationships/tags" Target="../tags/tag37.xml"/><Relationship Id="rId17" Type="http://schemas.openxmlformats.org/officeDocument/2006/relationships/tags" Target="../tags/tag36.xml"/><Relationship Id="rId16" Type="http://schemas.openxmlformats.org/officeDocument/2006/relationships/image" Target="../media/image63.png"/><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image" Target="../media/image62.png"/><Relationship Id="rId10" Type="http://schemas.openxmlformats.org/officeDocument/2006/relationships/tags" Target="../tags/tag31.xml"/><Relationship Id="rId1" Type="http://schemas.openxmlformats.org/officeDocument/2006/relationships/image" Target="../media/image5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13.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59.png"/></Relationships>
</file>

<file path=ppt/slides/_rels/slide63.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image" Target="../media/image69.png"/><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image" Target="../media/image66.png"/><Relationship Id="rId23" Type="http://schemas.openxmlformats.org/officeDocument/2006/relationships/notesSlide" Target="../notesSlides/notesSlide62.xml"/><Relationship Id="rId22" Type="http://schemas.openxmlformats.org/officeDocument/2006/relationships/slideLayout" Target="../slideLayouts/slideLayout13.xml"/><Relationship Id="rId21" Type="http://schemas.openxmlformats.org/officeDocument/2006/relationships/image" Target="../media/image72.png"/><Relationship Id="rId20" Type="http://schemas.openxmlformats.org/officeDocument/2006/relationships/tags" Target="../tags/tag57.xml"/><Relationship Id="rId2" Type="http://schemas.openxmlformats.org/officeDocument/2006/relationships/tags" Target="../tags/tag43.xml"/><Relationship Id="rId19" Type="http://schemas.openxmlformats.org/officeDocument/2006/relationships/tags" Target="../tags/tag56.xml"/><Relationship Id="rId18" Type="http://schemas.openxmlformats.org/officeDocument/2006/relationships/image" Target="../media/image71.png"/><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image" Target="../media/image70.png"/><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2.xml"/></Relationships>
</file>

<file path=ppt/slides/_rels/slide64.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image" Target="../media/image74.jpeg"/><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image" Target="../media/image73.jpeg"/><Relationship Id="rId22" Type="http://schemas.openxmlformats.org/officeDocument/2006/relationships/notesSlide" Target="../notesSlides/notesSlide63.xml"/><Relationship Id="rId21" Type="http://schemas.openxmlformats.org/officeDocument/2006/relationships/slideLayout" Target="../slideLayouts/slideLayout13.xml"/><Relationship Id="rId20" Type="http://schemas.openxmlformats.org/officeDocument/2006/relationships/tags" Target="../tags/tag73.xml"/><Relationship Id="rId2" Type="http://schemas.openxmlformats.org/officeDocument/2006/relationships/tags" Target="../tags/tag59.xml"/><Relationship Id="rId19" Type="http://schemas.openxmlformats.org/officeDocument/2006/relationships/tags" Target="../tags/tag72.xml"/><Relationship Id="rId18" Type="http://schemas.openxmlformats.org/officeDocument/2006/relationships/image" Target="../media/image76.jpeg"/><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image" Target="../media/image75.jpeg"/><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7" Type="http://schemas.openxmlformats.org/officeDocument/2006/relationships/notesSlide" Target="../notesSlides/notesSlide65.xml"/><Relationship Id="rId6" Type="http://schemas.openxmlformats.org/officeDocument/2006/relationships/slideLayout" Target="../slideLayouts/slideLayout13.xml"/><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7.jpeg"/></Relationships>
</file>

<file path=ppt/slides/_rels/slide67.xml.rels><?xml version="1.0" encoding="UTF-8" standalone="yes"?>
<Relationships xmlns="http://schemas.openxmlformats.org/package/2006/relationships"><Relationship Id="rId7" Type="http://schemas.openxmlformats.org/officeDocument/2006/relationships/notesSlide" Target="../notesSlides/notesSlide66.xml"/><Relationship Id="rId6" Type="http://schemas.openxmlformats.org/officeDocument/2006/relationships/slideLayout" Target="../slideLayouts/slideLayout13.xml"/><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68.xml.rels><?xml version="1.0" encoding="UTF-8" standalone="yes"?>
<Relationships xmlns="http://schemas.openxmlformats.org/package/2006/relationships"><Relationship Id="rId7" Type="http://schemas.openxmlformats.org/officeDocument/2006/relationships/notesSlide" Target="../notesSlides/notesSlide67.xml"/><Relationship Id="rId6" Type="http://schemas.openxmlformats.org/officeDocument/2006/relationships/slideLayout" Target="../slideLayouts/slideLayout13.xml"/><Relationship Id="rId5" Type="http://schemas.openxmlformats.org/officeDocument/2006/relationships/image" Target="../media/image90.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66.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6" Type="http://schemas.openxmlformats.org/officeDocument/2006/relationships/notesSlide" Target="../notesSlides/notesSlide69.xml"/><Relationship Id="rId5" Type="http://schemas.openxmlformats.org/officeDocument/2006/relationships/slideLayout" Target="../slideLayouts/slideLayout13.xml"/><Relationship Id="rId4" Type="http://schemas.openxmlformats.org/officeDocument/2006/relationships/image" Target="../media/image92.jpeg"/><Relationship Id="rId3" Type="http://schemas.openxmlformats.org/officeDocument/2006/relationships/image" Target="../media/image61.png"/><Relationship Id="rId2" Type="http://schemas.openxmlformats.org/officeDocument/2006/relationships/image" Target="../media/image91.png"/><Relationship Id="rId1" Type="http://schemas.openxmlformats.org/officeDocument/2006/relationships/image" Target="../media/image59.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3.xml"/><Relationship Id="rId1" Type="http://schemas.openxmlformats.org/officeDocument/2006/relationships/image" Target="../media/image93.png"/></Relationships>
</file>

<file path=ppt/slides/_rels/slide72.xml.rels><?xml version="1.0" encoding="UTF-8" standalone="yes"?>
<Relationships xmlns="http://schemas.openxmlformats.org/package/2006/relationships"><Relationship Id="rId7" Type="http://schemas.openxmlformats.org/officeDocument/2006/relationships/notesSlide" Target="../notesSlides/notesSlide71.xml"/><Relationship Id="rId6" Type="http://schemas.openxmlformats.org/officeDocument/2006/relationships/slideLayout" Target="../slideLayouts/slideLayout13.xml"/><Relationship Id="rId5" Type="http://schemas.openxmlformats.org/officeDocument/2006/relationships/image" Target="../media/image66.png"/><Relationship Id="rId4" Type="http://schemas.openxmlformats.org/officeDocument/2006/relationships/image" Target="../media/image59.png"/><Relationship Id="rId3" Type="http://schemas.openxmlformats.org/officeDocument/2006/relationships/image" Target="../media/image95.png"/><Relationship Id="rId2" Type="http://schemas.openxmlformats.org/officeDocument/2006/relationships/image" Target="../media/image91.png"/><Relationship Id="rId1" Type="http://schemas.openxmlformats.org/officeDocument/2006/relationships/image" Target="../media/image94.png"/></Relationships>
</file>

<file path=ppt/slides/_rels/slide73.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image" Target="../media/image97.jpeg"/><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image" Target="../media/image96.jpeg"/><Relationship Id="rId22" Type="http://schemas.openxmlformats.org/officeDocument/2006/relationships/notesSlide" Target="../notesSlides/notesSlide72.xml"/><Relationship Id="rId21" Type="http://schemas.openxmlformats.org/officeDocument/2006/relationships/slideLayout" Target="../slideLayouts/slideLayout13.xml"/><Relationship Id="rId20" Type="http://schemas.openxmlformats.org/officeDocument/2006/relationships/tags" Target="../tags/tag89.xml"/><Relationship Id="rId2" Type="http://schemas.openxmlformats.org/officeDocument/2006/relationships/tags" Target="../tags/tag75.xml"/><Relationship Id="rId19" Type="http://schemas.openxmlformats.org/officeDocument/2006/relationships/tags" Target="../tags/tag88.xml"/><Relationship Id="rId18" Type="http://schemas.openxmlformats.org/officeDocument/2006/relationships/image" Target="../media/image99.png"/><Relationship Id="rId17" Type="http://schemas.openxmlformats.org/officeDocument/2006/relationships/tags" Target="../tags/tag87.xml"/><Relationship Id="rId16" Type="http://schemas.openxmlformats.org/officeDocument/2006/relationships/tags" Target="../tags/tag86.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image" Target="../media/image98.jpeg"/><Relationship Id="rId12" Type="http://schemas.openxmlformats.org/officeDocument/2006/relationships/tags" Target="../tags/tag83.xml"/><Relationship Id="rId11" Type="http://schemas.openxmlformats.org/officeDocument/2006/relationships/tags" Target="../tags/tag82.xml"/><Relationship Id="rId10" Type="http://schemas.openxmlformats.org/officeDocument/2006/relationships/tags" Target="../tags/tag81.xml"/><Relationship Id="rId1" Type="http://schemas.openxmlformats.org/officeDocument/2006/relationships/tags" Target="../tags/tag74.xml"/></Relationships>
</file>

<file path=ppt/slides/_rels/slide7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106.png"/><Relationship Id="rId7" Type="http://schemas.openxmlformats.org/officeDocument/2006/relationships/image" Target="../media/image105.png"/><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 Id="rId3" Type="http://schemas.openxmlformats.org/officeDocument/2006/relationships/image" Target="../media/image101.png"/><Relationship Id="rId2" Type="http://schemas.openxmlformats.org/officeDocument/2006/relationships/image" Target="../media/image54.png"/><Relationship Id="rId10" Type="http://schemas.openxmlformats.org/officeDocument/2006/relationships/notesSlide" Target="../notesSlides/notesSlide73.xml"/><Relationship Id="rId1" Type="http://schemas.openxmlformats.org/officeDocument/2006/relationships/image" Target="../media/image100.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image" Target="../media/image91.png"/><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image" Target="../media/image59.png"/><Relationship Id="rId2" Type="http://schemas.openxmlformats.org/officeDocument/2006/relationships/tags" Target="../tags/tag91.xml"/><Relationship Id="rId18" Type="http://schemas.openxmlformats.org/officeDocument/2006/relationships/notesSlide" Target="../notesSlides/notesSlide76.xml"/><Relationship Id="rId17" Type="http://schemas.openxmlformats.org/officeDocument/2006/relationships/slideLayout" Target="../slideLayouts/slideLayout13.xml"/><Relationship Id="rId16" Type="http://schemas.openxmlformats.org/officeDocument/2006/relationships/image" Target="../media/image92.jpeg"/><Relationship Id="rId15" Type="http://schemas.openxmlformats.org/officeDocument/2006/relationships/tags" Target="../tags/tag101.xml"/><Relationship Id="rId14" Type="http://schemas.openxmlformats.org/officeDocument/2006/relationships/tags" Target="../tags/tag100.xml"/><Relationship Id="rId13" Type="http://schemas.openxmlformats.org/officeDocument/2006/relationships/image" Target="../media/image61.png"/><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tags" Target="../tags/tag90.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3.xml"/><Relationship Id="rId1" Type="http://schemas.openxmlformats.org/officeDocument/2006/relationships/image" Target="../media/image93.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3.xml"/><Relationship Id="rId1" Type="http://schemas.openxmlformats.org/officeDocument/2006/relationships/image" Target="../media/image107.png"/></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79.xml"/><Relationship Id="rId3" Type="http://schemas.openxmlformats.org/officeDocument/2006/relationships/slideLayout" Target="../slideLayouts/slideLayout13.xml"/><Relationship Id="rId2" Type="http://schemas.openxmlformats.org/officeDocument/2006/relationships/image" Target="../media/image108.png"/><Relationship Id="rId1" Type="http://schemas.openxmlformats.org/officeDocument/2006/relationships/hyperlink" Target="https://kernelgen.flagos.io/home" TargetMode="External"/></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13.xml"/><Relationship Id="rId2" Type="http://schemas.openxmlformats.org/officeDocument/2006/relationships/image" Target="../media/image110.png"/><Relationship Id="rId1" Type="http://schemas.openxmlformats.org/officeDocument/2006/relationships/image" Target="../media/image109.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3.xml"/><Relationship Id="rId1" Type="http://schemas.openxmlformats.org/officeDocument/2006/relationships/image" Target="../media/image111.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3.xml"/><Relationship Id="rId1" Type="http://schemas.openxmlformats.org/officeDocument/2006/relationships/image" Target="../media/image112.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3.xml"/><Relationship Id="rId1" Type="http://schemas.openxmlformats.org/officeDocument/2006/relationships/image" Target="../media/image113.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3.xml"/><Relationship Id="rId1" Type="http://schemas.openxmlformats.org/officeDocument/2006/relationships/image" Target="../media/image114.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3.xml"/><Relationship Id="rId1" Type="http://schemas.openxmlformats.org/officeDocument/2006/relationships/image" Target="../media/image115.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3.xml"/><Relationship Id="rId1" Type="http://schemas.openxmlformats.org/officeDocument/2006/relationships/image" Target="../media/image116.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3.xml"/><Relationship Id="rId1" Type="http://schemas.openxmlformats.org/officeDocument/2006/relationships/image" Target="../media/image117.png"/></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88.xml"/><Relationship Id="rId3" Type="http://schemas.openxmlformats.org/officeDocument/2006/relationships/slideLayout" Target="../slideLayouts/slideLayout13.xml"/><Relationship Id="rId2" Type="http://schemas.openxmlformats.org/officeDocument/2006/relationships/image" Target="../media/image119.png"/><Relationship Id="rId1" Type="http://schemas.openxmlformats.org/officeDocument/2006/relationships/image" Target="../media/image118.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3.xml"/><Relationship Id="rId1" Type="http://schemas.openxmlformats.org/officeDocument/2006/relationships/image" Target="../media/image120.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3.xml"/><Relationship Id="rId1" Type="http://schemas.openxmlformats.org/officeDocument/2006/relationships/image" Target="../media/image121.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3.xml"/><Relationship Id="rId1" Type="http://schemas.openxmlformats.org/officeDocument/2006/relationships/image" Target="../media/image122.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13.xml"/><Relationship Id="rId2" Type="http://schemas.openxmlformats.org/officeDocument/2006/relationships/image" Target="../media/image124.png"/><Relationship Id="rId1" Type="http://schemas.openxmlformats.org/officeDocument/2006/relationships/image" Target="../media/image123.png"/></Relationships>
</file>

<file path=ppt/slides/_rels/slide102.xml.rels><?xml version="1.0" encoding="UTF-8" standalone="yes"?>
<Relationships xmlns="http://schemas.openxmlformats.org/package/2006/relationships"><Relationship Id="rId4" Type="http://schemas.openxmlformats.org/officeDocument/2006/relationships/notesSlide" Target="../notesSlides/notesSlide101.xml"/><Relationship Id="rId3" Type="http://schemas.openxmlformats.org/officeDocument/2006/relationships/slideLayout" Target="../slideLayouts/slideLayout13.xml"/><Relationship Id="rId2" Type="http://schemas.openxmlformats.org/officeDocument/2006/relationships/image" Target="../media/image126.png"/><Relationship Id="rId1" Type="http://schemas.openxmlformats.org/officeDocument/2006/relationships/image" Target="../media/image125.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13.xml"/><Relationship Id="rId1" Type="http://schemas.openxmlformats.org/officeDocument/2006/relationships/tags" Target="../tags/tag102.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3.xml"/><Relationship Id="rId1" Type="http://schemas.openxmlformats.org/officeDocument/2006/relationships/image" Target="../media/image127.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107.xml"/><Relationship Id="rId3" Type="http://schemas.openxmlformats.org/officeDocument/2006/relationships/slideLayout" Target="../slideLayouts/slideLayout13.xml"/><Relationship Id="rId2" Type="http://schemas.openxmlformats.org/officeDocument/2006/relationships/image" Target="../media/image129.png"/><Relationship Id="rId1" Type="http://schemas.openxmlformats.org/officeDocument/2006/relationships/image" Target="../media/image128.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13.xml"/><Relationship Id="rId1" Type="http://schemas.openxmlformats.org/officeDocument/2006/relationships/image" Target="../media/image130.png"/></Relationships>
</file>

<file path=ppt/slides/_rels/slide110.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5" Type="http://schemas.openxmlformats.org/officeDocument/2006/relationships/notesSlide" Target="../notesSlides/notesSlide109.xml"/><Relationship Id="rId14" Type="http://schemas.openxmlformats.org/officeDocument/2006/relationships/slideLayout" Target="../slideLayouts/slideLayout13.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tags" Target="../tags/tag103.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13.xml"/><Relationship Id="rId1" Type="http://schemas.openxmlformats.org/officeDocument/2006/relationships/image" Target="../media/image121.pn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121.xml"/><Relationship Id="rId3" Type="http://schemas.openxmlformats.org/officeDocument/2006/relationships/slideLayout" Target="../slideLayouts/slideLayout13.xml"/><Relationship Id="rId2" Type="http://schemas.openxmlformats.org/officeDocument/2006/relationships/image" Target="../media/image132.png"/><Relationship Id="rId1" Type="http://schemas.openxmlformats.org/officeDocument/2006/relationships/image" Target="../media/image131.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13.xml"/><Relationship Id="rId1" Type="http://schemas.openxmlformats.org/officeDocument/2006/relationships/image" Target="../media/image133.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13.xml"/><Relationship Id="rId1" Type="http://schemas.openxmlformats.org/officeDocument/2006/relationships/image" Target="../media/image134.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13.xml"/><Relationship Id="rId1" Type="http://schemas.openxmlformats.org/officeDocument/2006/relationships/image" Target="../media/image135.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4" Type="http://schemas.openxmlformats.org/officeDocument/2006/relationships/notesSlide" Target="../notesSlides/notesSlide127.xml"/><Relationship Id="rId3" Type="http://schemas.openxmlformats.org/officeDocument/2006/relationships/slideLayout" Target="../slideLayouts/slideLayout13.xml"/><Relationship Id="rId2" Type="http://schemas.openxmlformats.org/officeDocument/2006/relationships/image" Target="../media/image137.png"/><Relationship Id="rId1" Type="http://schemas.openxmlformats.org/officeDocument/2006/relationships/image" Target="../media/image136.png"/></Relationships>
</file>

<file path=ppt/slides/_rels/slide129.xml.rels><?xml version="1.0" encoding="UTF-8" standalone="yes"?>
<Relationships xmlns="http://schemas.openxmlformats.org/package/2006/relationships"><Relationship Id="rId4" Type="http://schemas.openxmlformats.org/officeDocument/2006/relationships/notesSlide" Target="../notesSlides/notesSlide128.xml"/><Relationship Id="rId3" Type="http://schemas.openxmlformats.org/officeDocument/2006/relationships/slideLayout" Target="../slideLayouts/slideLayout13.xml"/><Relationship Id="rId2" Type="http://schemas.openxmlformats.org/officeDocument/2006/relationships/image" Target="../media/image139.png"/><Relationship Id="rId1" Type="http://schemas.openxmlformats.org/officeDocument/2006/relationships/image" Target="../media/image138.png"/></Relationships>
</file>

<file path=ppt/slides/_rels/slide130.xml.rels><?xml version="1.0" encoding="UTF-8" standalone="yes"?>
<Relationships xmlns="http://schemas.openxmlformats.org/package/2006/relationships"><Relationship Id="rId4" Type="http://schemas.openxmlformats.org/officeDocument/2006/relationships/notesSlide" Target="../notesSlides/notesSlide129.xml"/><Relationship Id="rId3" Type="http://schemas.openxmlformats.org/officeDocument/2006/relationships/slideLayout" Target="../slideLayouts/slideLayout13.xml"/><Relationship Id="rId2" Type="http://schemas.openxmlformats.org/officeDocument/2006/relationships/image" Target="../media/image141.png"/><Relationship Id="rId1" Type="http://schemas.openxmlformats.org/officeDocument/2006/relationships/image" Target="../media/image140.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13.xml"/><Relationship Id="rId1" Type="http://schemas.openxmlformats.org/officeDocument/2006/relationships/image" Target="../media/image142.png"/></Relationships>
</file>

<file path=ppt/slides/_rels/slide132.xml.rels><?xml version="1.0" encoding="UTF-8" standalone="yes"?>
<Relationships xmlns="http://schemas.openxmlformats.org/package/2006/relationships"><Relationship Id="rId5" Type="http://schemas.openxmlformats.org/officeDocument/2006/relationships/notesSlide" Target="../notesSlides/notesSlide131.xml"/><Relationship Id="rId4" Type="http://schemas.openxmlformats.org/officeDocument/2006/relationships/slideLayout" Target="../slideLayouts/slideLayout13.xml"/><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image" Target="../media/image143.png"/></Relationships>
</file>

<file path=ppt/slides/_rels/slide133.xml.rels><?xml version="1.0" encoding="UTF-8" standalone="yes"?>
<Relationships xmlns="http://schemas.openxmlformats.org/package/2006/relationships"><Relationship Id="rId4" Type="http://schemas.openxmlformats.org/officeDocument/2006/relationships/notesSlide" Target="../notesSlides/notesSlide132.xml"/><Relationship Id="rId3" Type="http://schemas.openxmlformats.org/officeDocument/2006/relationships/slideLayout" Target="../slideLayouts/slideLayout13.xml"/><Relationship Id="rId2" Type="http://schemas.openxmlformats.org/officeDocument/2006/relationships/image" Target="../media/image147.png"/><Relationship Id="rId1" Type="http://schemas.openxmlformats.org/officeDocument/2006/relationships/image" Target="../media/image146.jpeg"/></Relationships>
</file>

<file path=ppt/slides/_rels/slide134.xml.rels><?xml version="1.0" encoding="UTF-8" standalone="yes"?>
<Relationships xmlns="http://schemas.openxmlformats.org/package/2006/relationships"><Relationship Id="rId4" Type="http://schemas.openxmlformats.org/officeDocument/2006/relationships/notesSlide" Target="../notesSlides/notesSlide133.xml"/><Relationship Id="rId3" Type="http://schemas.openxmlformats.org/officeDocument/2006/relationships/slideLayout" Target="../slideLayouts/slideLayout13.xml"/><Relationship Id="rId2" Type="http://schemas.openxmlformats.org/officeDocument/2006/relationships/image" Target="../media/image149.png"/><Relationship Id="rId1" Type="http://schemas.openxmlformats.org/officeDocument/2006/relationships/image" Target="../media/image148.png"/></Relationships>
</file>

<file path=ppt/slides/_rels/slide135.xml.rels><?xml version="1.0" encoding="UTF-8" standalone="yes"?>
<Relationships xmlns="http://schemas.openxmlformats.org/package/2006/relationships"><Relationship Id="rId5" Type="http://schemas.openxmlformats.org/officeDocument/2006/relationships/notesSlide" Target="../notesSlides/notesSlide134.xml"/><Relationship Id="rId4" Type="http://schemas.openxmlformats.org/officeDocument/2006/relationships/slideLayout" Target="../slideLayouts/slideLayout13.xml"/><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image" Target="../media/image150.png"/></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135.xml"/><Relationship Id="rId3" Type="http://schemas.openxmlformats.org/officeDocument/2006/relationships/slideLayout" Target="../slideLayouts/slideLayout13.xml"/><Relationship Id="rId2" Type="http://schemas.openxmlformats.org/officeDocument/2006/relationships/image" Target="../media/image154.png"/><Relationship Id="rId1" Type="http://schemas.openxmlformats.org/officeDocument/2006/relationships/image" Target="../media/image153.png"/></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136.xml"/><Relationship Id="rId3" Type="http://schemas.openxmlformats.org/officeDocument/2006/relationships/slideLayout" Target="../slideLayouts/slideLayout13.xml"/><Relationship Id="rId2" Type="http://schemas.openxmlformats.org/officeDocument/2006/relationships/image" Target="../media/image156.GIF"/><Relationship Id="rId1" Type="http://schemas.openxmlformats.org/officeDocument/2006/relationships/image" Target="../media/image155.png"/></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13.xml"/><Relationship Id="rId1" Type="http://schemas.openxmlformats.org/officeDocument/2006/relationships/image" Target="../media/image157.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13.xml"/><Relationship Id="rId1" Type="http://schemas.openxmlformats.org/officeDocument/2006/relationships/image" Target="../media/image158.png"/></Relationships>
</file>

<file path=ppt/slides/_rels/slide140.xml.rels><?xml version="1.0" encoding="UTF-8" standalone="yes"?>
<Relationships xmlns="http://schemas.openxmlformats.org/package/2006/relationships"><Relationship Id="rId4" Type="http://schemas.openxmlformats.org/officeDocument/2006/relationships/notesSlide" Target="../notesSlides/notesSlide139.xml"/><Relationship Id="rId3" Type="http://schemas.openxmlformats.org/officeDocument/2006/relationships/slideLayout" Target="../slideLayouts/slideLayout13.xml"/><Relationship Id="rId2" Type="http://schemas.openxmlformats.org/officeDocument/2006/relationships/image" Target="../media/image160.png"/><Relationship Id="rId1" Type="http://schemas.openxmlformats.org/officeDocument/2006/relationships/image" Target="../media/image159.png"/></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13.xml"/><Relationship Id="rId1" Type="http://schemas.openxmlformats.org/officeDocument/2006/relationships/image" Target="../media/image161.png"/></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9" Type="http://schemas.openxmlformats.org/officeDocument/2006/relationships/image" Target="../media/image162.png"/><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1" Type="http://schemas.openxmlformats.org/officeDocument/2006/relationships/notesSlide" Target="../notesSlides/notesSlide143.xml"/><Relationship Id="rId10" Type="http://schemas.openxmlformats.org/officeDocument/2006/relationships/slideLayout" Target="../slideLayouts/slideLayout18.xml"/><Relationship Id="rId1" Type="http://schemas.openxmlformats.org/officeDocument/2006/relationships/tags" Target="../tags/tag116.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18.xml"/><Relationship Id="rId1" Type="http://schemas.openxmlformats.org/officeDocument/2006/relationships/image" Target="../media/image163.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18.xml"/><Relationship Id="rId1" Type="http://schemas.openxmlformats.org/officeDocument/2006/relationships/image" Target="../media/image164.png"/></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8.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7.xml"/><Relationship Id="rId2" Type="http://schemas.openxmlformats.org/officeDocument/2006/relationships/slideLayout" Target="../slideLayouts/slideLayout18.xml"/><Relationship Id="rId1" Type="http://schemas.openxmlformats.org/officeDocument/2006/relationships/image" Target="../media/image165.png"/></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8.xml"/></Relationships>
</file>

<file path=ppt/slides/_rels/slide150.xml.rels><?xml version="1.0" encoding="UTF-8" standalone="yes"?>
<Relationships xmlns="http://schemas.openxmlformats.org/package/2006/relationships"><Relationship Id="rId4" Type="http://schemas.openxmlformats.org/officeDocument/2006/relationships/notesSlide" Target="../notesSlides/notesSlide149.xml"/><Relationship Id="rId3" Type="http://schemas.openxmlformats.org/officeDocument/2006/relationships/slideLayout" Target="../slideLayouts/slideLayout18.xml"/><Relationship Id="rId2" Type="http://schemas.openxmlformats.org/officeDocument/2006/relationships/image" Target="../media/image167.png"/><Relationship Id="rId1" Type="http://schemas.openxmlformats.org/officeDocument/2006/relationships/image" Target="../media/image166.png"/></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8.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8.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8.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8.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8.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8.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8.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8.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8.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8.xml"/></Relationships>
</file>

<file path=ppt/slides/_rels/slide161.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2" Type="http://schemas.openxmlformats.org/officeDocument/2006/relationships/notesSlide" Target="../notesSlides/notesSlide160.xml"/><Relationship Id="rId11" Type="http://schemas.openxmlformats.org/officeDocument/2006/relationships/slideLayout" Target="../slideLayouts/slideLayout18.xml"/><Relationship Id="rId10" Type="http://schemas.openxmlformats.org/officeDocument/2006/relationships/tags" Target="../tags/tag133.xml"/><Relationship Id="rId1" Type="http://schemas.openxmlformats.org/officeDocument/2006/relationships/tags" Target="../tags/tag124.xml"/></Relationships>
</file>

<file path=ppt/slides/_rels/slide162.xml.rels><?xml version="1.0" encoding="UTF-8" standalone="yes"?>
<Relationships xmlns="http://schemas.openxmlformats.org/package/2006/relationships"><Relationship Id="rId5" Type="http://schemas.openxmlformats.org/officeDocument/2006/relationships/notesSlide" Target="../notesSlides/notesSlide161.xml"/><Relationship Id="rId4" Type="http://schemas.openxmlformats.org/officeDocument/2006/relationships/slideLayout" Target="../slideLayouts/slideLayout18.xml"/><Relationship Id="rId3" Type="http://schemas.openxmlformats.org/officeDocument/2006/relationships/image" Target="../media/image168.png"/><Relationship Id="rId2" Type="http://schemas.openxmlformats.org/officeDocument/2006/relationships/hyperlink" Target="https://flagos.io/events?tab=competition" TargetMode="External"/><Relationship Id="rId1" Type="http://schemas.openxmlformats.org/officeDocument/2006/relationships/hyperlink" Target="https://flagos.io/RaceDetail" TargetMode="Externa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8.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3" Type="http://schemas.openxmlformats.org/officeDocument/2006/relationships/notesSlide" Target="../notesSlides/notesSlide172.xml"/><Relationship Id="rId2" Type="http://schemas.openxmlformats.org/officeDocument/2006/relationships/slideLayout" Target="../slideLayouts/slideLayout13.xml"/><Relationship Id="rId1" Type="http://schemas.openxmlformats.org/officeDocument/2006/relationships/image" Target="../media/image169.jpeg"/></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73.xml"/><Relationship Id="rId2" Type="http://schemas.openxmlformats.org/officeDocument/2006/relationships/slideLayout" Target="../slideLayouts/slideLayout13.xml"/><Relationship Id="rId1" Type="http://schemas.openxmlformats.org/officeDocument/2006/relationships/image" Target="../media/image170.png"/></Relationships>
</file>

<file path=ppt/slides/_rels/slide175.xml.rels><?xml version="1.0" encoding="UTF-8" standalone="yes"?>
<Relationships xmlns="http://schemas.openxmlformats.org/package/2006/relationships"><Relationship Id="rId4" Type="http://schemas.openxmlformats.org/officeDocument/2006/relationships/notesSlide" Target="../notesSlides/notesSlide174.xml"/><Relationship Id="rId3" Type="http://schemas.openxmlformats.org/officeDocument/2006/relationships/slideLayout" Target="../slideLayouts/slideLayout14.xml"/><Relationship Id="rId2" Type="http://schemas.openxmlformats.org/officeDocument/2006/relationships/image" Target="../media/image172.png"/><Relationship Id="rId1" Type="http://schemas.openxmlformats.org/officeDocument/2006/relationships/image" Target="../media/image171.png"/></Relationships>
</file>

<file path=ppt/slides/_rels/slide176.xml.rels><?xml version="1.0" encoding="UTF-8" standalone="yes"?>
<Relationships xmlns="http://schemas.openxmlformats.org/package/2006/relationships"><Relationship Id="rId4" Type="http://schemas.openxmlformats.org/officeDocument/2006/relationships/notesSlide" Target="../notesSlides/notesSlide175.xml"/><Relationship Id="rId3" Type="http://schemas.openxmlformats.org/officeDocument/2006/relationships/slideLayout" Target="../slideLayouts/slideLayout14.xml"/><Relationship Id="rId2" Type="http://schemas.openxmlformats.org/officeDocument/2006/relationships/image" Target="../media/image174.png"/><Relationship Id="rId1" Type="http://schemas.openxmlformats.org/officeDocument/2006/relationships/image" Target="../media/image173.png"/></Relationships>
</file>

<file path=ppt/slides/_rels/slide177.xml.rels><?xml version="1.0" encoding="UTF-8" standalone="yes"?>
<Relationships xmlns="http://schemas.openxmlformats.org/package/2006/relationships"><Relationship Id="rId4" Type="http://schemas.openxmlformats.org/officeDocument/2006/relationships/notesSlide" Target="../notesSlides/notesSlide176.xml"/><Relationship Id="rId3" Type="http://schemas.openxmlformats.org/officeDocument/2006/relationships/slideLayout" Target="../slideLayouts/slideLayout13.xml"/><Relationship Id="rId2" Type="http://schemas.openxmlformats.org/officeDocument/2006/relationships/image" Target="../media/image176.png"/><Relationship Id="rId1" Type="http://schemas.openxmlformats.org/officeDocument/2006/relationships/image" Target="../media/image175.png"/></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177.xml"/><Relationship Id="rId2" Type="http://schemas.openxmlformats.org/officeDocument/2006/relationships/slideLayout" Target="../slideLayouts/slideLayout13.xml"/><Relationship Id="rId1" Type="http://schemas.openxmlformats.org/officeDocument/2006/relationships/image" Target="../media/image177.png"/></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178.xml"/><Relationship Id="rId2" Type="http://schemas.openxmlformats.org/officeDocument/2006/relationships/slideLayout" Target="../slideLayouts/slideLayout13.xml"/><Relationship Id="rId1" Type="http://schemas.openxmlformats.org/officeDocument/2006/relationships/image" Target="../media/image178.png"/></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79.xml"/><Relationship Id="rId2" Type="http://schemas.openxmlformats.org/officeDocument/2006/relationships/slideLayout" Target="../slideLayouts/slideLayout13.xml"/><Relationship Id="rId1" Type="http://schemas.openxmlformats.org/officeDocument/2006/relationships/image" Target="../media/image179.jpeg"/></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80.xml"/><Relationship Id="rId2" Type="http://schemas.openxmlformats.org/officeDocument/2006/relationships/slideLayout" Target="../slideLayouts/slideLayout13.xml"/><Relationship Id="rId1" Type="http://schemas.openxmlformats.org/officeDocument/2006/relationships/image" Target="../media/image180.png"/></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81.xml"/><Relationship Id="rId2" Type="http://schemas.openxmlformats.org/officeDocument/2006/relationships/slideLayout" Target="../slideLayouts/slideLayout13.xml"/><Relationship Id="rId1" Type="http://schemas.openxmlformats.org/officeDocument/2006/relationships/image" Target="../media/image181.png"/></Relationships>
</file>

<file path=ppt/slides/_rels/slide183.xml.rels><?xml version="1.0" encoding="UTF-8" standalone="yes"?>
<Relationships xmlns="http://schemas.openxmlformats.org/package/2006/relationships"><Relationship Id="rId9" Type="http://schemas.openxmlformats.org/officeDocument/2006/relationships/hyperlink" Target="https://www.zhihu.com/people/95-22-20-18/posts" TargetMode="External"/><Relationship Id="rId8" Type="http://schemas.openxmlformats.org/officeDocument/2006/relationships/hyperlink" Target="https://space.bilibili.com/3546791834290849" TargetMode="External"/><Relationship Id="rId7" Type="http://schemas.openxmlformats.org/officeDocument/2006/relationships/hyperlink" Target="https://github.com/flagos-ai" TargetMode="External"/><Relationship Id="rId6" Type="http://schemas.openxmlformats.org/officeDocument/2006/relationships/image" Target="../media/image187.png"/><Relationship Id="rId5" Type="http://schemas.openxmlformats.org/officeDocument/2006/relationships/image" Target="../media/image186.png"/><Relationship Id="rId4" Type="http://schemas.openxmlformats.org/officeDocument/2006/relationships/image" Target="../media/image185.png"/><Relationship Id="rId3" Type="http://schemas.openxmlformats.org/officeDocument/2006/relationships/image" Target="../media/image184.png"/><Relationship Id="rId2" Type="http://schemas.openxmlformats.org/officeDocument/2006/relationships/image" Target="../media/image183.png"/><Relationship Id="rId13" Type="http://schemas.openxmlformats.org/officeDocument/2006/relationships/slideLayout" Target="../slideLayouts/slideLayout17.xml"/><Relationship Id="rId12" Type="http://schemas.openxmlformats.org/officeDocument/2006/relationships/image" Target="../media/image189.png"/><Relationship Id="rId11" Type="http://schemas.openxmlformats.org/officeDocument/2006/relationships/image" Target="../media/image188.jpeg"/><Relationship Id="rId10" Type="http://schemas.openxmlformats.org/officeDocument/2006/relationships/hyperlink" Target="https://flagos.io/Home" TargetMode="External"/><Relationship Id="rId1" Type="http://schemas.openxmlformats.org/officeDocument/2006/relationships/image" Target="../media/image182.png"/></Relationships>
</file>

<file path=ppt/slides/_rels/slide184.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9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p:nvPr>
            <p:ph type="body" sz="quarter" idx="26" hasCustomPrompt="1"/>
          </p:nvPr>
        </p:nvSpPr>
        <p:spPr>
          <a:prstGeom prst="rect">
            <a:avLst/>
          </a:prstGeom>
        </p:spPr>
        <p:txBody>
          <a:bodyPr wrap="square" lIns="91440" tIns="45720" rIns="91440" bIns="45720" anchor="ctr">
            <a:noAutofit/>
          </a:bodyPr>
          <a:lstStyle>
            <a:lvl1pPr algn="l">
              <a:lnSpc>
                <a:spcPct val="92000"/>
              </a:lnSpc>
              <a:defRPr sz="4400" b="1" i="0" u="none" strike="noStrike" spc="0">
                <a:solidFill>
                  <a:srgbClr val="44546A">
                    <a:alpha val="100000"/>
                  </a:srgbClr>
                </a:solidFill>
                <a:latin typeface="微软雅黑" panose="020B0503020204020204" charset="-122"/>
              </a:defRPr>
            </a:lvl1pPr>
          </a:lstStyle>
          <a:p>
            <a:pPr indent="0" algn="l">
              <a:lnSpc>
                <a:spcPct val="92000"/>
              </a:lnSpc>
              <a:defRPr sz="4400" b="1"/>
            </a:pPr>
            <a:r>
              <a:t>Systèmes de Calcul Intelligent</a:t>
            </a:r>
            <a:endParaRPr lang="en-US" b="1"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endParaRPr>
          </a:p>
          <a:p>
            <a:pPr>
              <a:defRPr sz="4400" b="1"/>
            </a:pPr>
            <a:r>
              <a:t>Fondements Logiciels et Matériels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8110855" y="296545"/>
            <a:ext cx="927735" cy="3867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37</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Indicateurs d’analyse des performances</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1878" y="628223"/>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altLang="zh-CN"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Pourquoi des indicateurs de performance？</a:t>
            </a:r>
            <a:endParaRPr lang="en-US" sz="1100"/>
          </a:p>
        </p:txBody>
      </p:sp>
      <p:sp>
        <p:nvSpPr>
          <p:cNvPr id="3" name="AutoShape 3"/>
          <p:cNvSpPr/>
          <p:nvPr/>
        </p:nvSpPr>
        <p:spPr>
          <a:xfrm>
            <a:off x="380956" y="1206068"/>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altLang="zh-CN"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En calcul haute performance (HPC) et optimisation syst</a:t>
            </a:r>
            <a:r>
              <a:rPr lang="en-US" alt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me</a:t>
            </a:r>
            <a:endParaRPr lang="en-US" sz="1100"/>
          </a:p>
        </p:txBody>
      </p:sp>
      <p:sp>
        <p:nvSpPr>
          <p:cNvPr id="4" name="AutoShape 4"/>
          <p:cNvSpPr/>
          <p:nvPr/>
        </p:nvSpPr>
        <p:spPr>
          <a:xfrm>
            <a:off x="380956" y="1575916"/>
            <a:ext cx="56578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altLang="zh-CN" sz="1100"/>
              <a:t>Il faut quantifier les performances des programmes et du mat</a:t>
            </a:r>
            <a:r>
              <a:rPr lang="en-US" altLang="en-US" sz="1100"/>
              <a:t>é</a:t>
            </a:r>
            <a:r>
              <a:rPr lang="en-US" altLang="zh-CN" sz="1100"/>
              <a:t>riel. Diff</a:t>
            </a:r>
            <a:r>
              <a:rPr lang="en-US" altLang="en-US" sz="1100"/>
              <a:t>é</a:t>
            </a:r>
            <a:r>
              <a:rPr lang="en-US" altLang="zh-CN" sz="1100"/>
              <a:t>rents indicateurs r</a:t>
            </a:r>
            <a:r>
              <a:rPr lang="en-US" altLang="en-US" sz="1100"/>
              <a:t>é</a:t>
            </a:r>
            <a:r>
              <a:rPr lang="en-US" altLang="zh-CN" sz="1100"/>
              <a:t>v</a:t>
            </a:r>
            <a:r>
              <a:rPr lang="en-US" altLang="en-US" sz="1100"/>
              <a:t>è</a:t>
            </a:r>
            <a:r>
              <a:rPr lang="en-US" altLang="zh-CN" sz="1100"/>
              <a:t>lent des goulots d'</a:t>
            </a:r>
            <a:r>
              <a:rPr lang="en-US" altLang="en-US" sz="1100"/>
              <a:t>é</a:t>
            </a:r>
            <a:r>
              <a:rPr lang="en-US" altLang="zh-CN" sz="1100"/>
              <a:t>tranglement à diff</a:t>
            </a:r>
            <a:r>
              <a:rPr lang="en-US" altLang="en-US" sz="1100"/>
              <a:t>é</a:t>
            </a:r>
            <a:r>
              <a:rPr lang="en-US" altLang="zh-CN" sz="1100"/>
              <a:t>rents niveaux.</a:t>
            </a:r>
            <a:endParaRPr lang="en-US" altLang="zh-CN" sz="1100"/>
          </a:p>
        </p:txBody>
      </p:sp>
      <p:sp>
        <p:nvSpPr>
          <p:cNvPr id="5" name="Freeform 5"/>
          <p:cNvSpPr/>
          <p:nvPr/>
        </p:nvSpPr>
        <p:spPr>
          <a:xfrm>
            <a:off x="380956" y="3124280"/>
            <a:ext cx="5562600" cy="2895600"/>
          </a:xfrm>
          <a:custGeom>
            <a:avLst/>
            <a:gdLst/>
            <a:ahLst/>
            <a:cxnLst/>
            <a:rect l="l" t="t" r="r" b="b"/>
            <a:pathLst>
              <a:path w="5562600" h="2895600">
                <a:moveTo>
                  <a:pt x="76211" y="0"/>
                </a:moveTo>
                <a:lnTo>
                  <a:pt x="5486389" y="0"/>
                </a:lnTo>
                <a:cubicBezTo>
                  <a:pt x="5528479" y="0"/>
                  <a:pt x="5562600" y="34121"/>
                  <a:pt x="5562600" y="76211"/>
                </a:cubicBezTo>
                <a:lnTo>
                  <a:pt x="5562600" y="2819389"/>
                </a:lnTo>
                <a:cubicBezTo>
                  <a:pt x="5562600" y="2861479"/>
                  <a:pt x="5528479" y="2895600"/>
                  <a:pt x="5486389" y="2895600"/>
                </a:cubicBezTo>
                <a:lnTo>
                  <a:pt x="76211" y="2895600"/>
                </a:lnTo>
                <a:cubicBezTo>
                  <a:pt x="34121" y="2895600"/>
                  <a:pt x="0" y="2861479"/>
                  <a:pt x="0" y="2819389"/>
                </a:cubicBezTo>
                <a:lnTo>
                  <a:pt x="0" y="76211"/>
                </a:lnTo>
                <a:cubicBezTo>
                  <a:pt x="0" y="34150"/>
                  <a:pt x="34150" y="0"/>
                  <a:pt x="7621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09529" y="3352853"/>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Indicateurs de performance courants</a:t>
            </a:r>
            <a:endParaRPr lang="en-US" sz="1100"/>
          </a:p>
        </p:txBody>
      </p:sp>
      <p:sp>
        <p:nvSpPr>
          <p:cNvPr id="7" name="Freeform 7"/>
          <p:cNvSpPr/>
          <p:nvPr/>
        </p:nvSpPr>
        <p:spPr>
          <a:xfrm>
            <a:off x="609529" y="382910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733309" y="3933801"/>
            <a:ext cx="128588" cy="171450"/>
          </a:xfrm>
          <a:custGeom>
            <a:avLst/>
            <a:gdLst/>
            <a:ahLst/>
            <a:cxnLst/>
            <a:rect l="l" t="t" r="r" b="b"/>
            <a:pathLst>
              <a:path w="128588" h="171450">
                <a:moveTo>
                  <a:pt x="21431" y="0"/>
                </a:moveTo>
                <a:cubicBezTo>
                  <a:pt x="9611" y="0"/>
                  <a:pt x="0" y="9611"/>
                  <a:pt x="0" y="21431"/>
                </a:cubicBezTo>
                <a:lnTo>
                  <a:pt x="0" y="150019"/>
                </a:lnTo>
                <a:cubicBezTo>
                  <a:pt x="0" y="161839"/>
                  <a:pt x="9611" y="171450"/>
                  <a:pt x="21431" y="171450"/>
                </a:cubicBezTo>
                <a:lnTo>
                  <a:pt x="107156" y="171450"/>
                </a:lnTo>
                <a:cubicBezTo>
                  <a:pt x="118977" y="171450"/>
                  <a:pt x="128587" y="161839"/>
                  <a:pt x="128587" y="150019"/>
                </a:cubicBezTo>
                <a:lnTo>
                  <a:pt x="128587" y="21431"/>
                </a:lnTo>
                <a:cubicBezTo>
                  <a:pt x="128587" y="9611"/>
                  <a:pt x="118977" y="0"/>
                  <a:pt x="107156" y="0"/>
                </a:cubicBezTo>
                <a:lnTo>
                  <a:pt x="21431" y="0"/>
                </a:lnTo>
                <a:close/>
                <a:moveTo>
                  <a:pt x="32148" y="21431"/>
                </a:moveTo>
                <a:lnTo>
                  <a:pt x="96441" y="21431"/>
                </a:lnTo>
                <a:cubicBezTo>
                  <a:pt x="102368" y="21431"/>
                  <a:pt x="107156" y="26220"/>
                  <a:pt x="107156" y="32148"/>
                </a:cubicBezTo>
                <a:lnTo>
                  <a:pt x="107156" y="42863"/>
                </a:lnTo>
                <a:cubicBezTo>
                  <a:pt x="107156" y="48790"/>
                  <a:pt x="102368" y="53577"/>
                  <a:pt x="96441" y="53577"/>
                </a:cubicBezTo>
                <a:lnTo>
                  <a:pt x="32148" y="53577"/>
                </a:lnTo>
                <a:cubicBezTo>
                  <a:pt x="26220" y="53577"/>
                  <a:pt x="21431" y="48790"/>
                  <a:pt x="21431" y="42863"/>
                </a:cubicBezTo>
                <a:lnTo>
                  <a:pt x="21431" y="32148"/>
                </a:lnTo>
                <a:cubicBezTo>
                  <a:pt x="21431" y="26220"/>
                  <a:pt x="26220" y="21431"/>
                  <a:pt x="32148" y="21431"/>
                </a:cubicBezTo>
                <a:close/>
                <a:moveTo>
                  <a:pt x="37504" y="77688"/>
                </a:moveTo>
                <a:cubicBezTo>
                  <a:pt x="37504" y="82125"/>
                  <a:pt x="33904" y="85725"/>
                  <a:pt x="29468" y="85725"/>
                </a:cubicBezTo>
                <a:cubicBezTo>
                  <a:pt x="25032" y="85725"/>
                  <a:pt x="21431" y="82125"/>
                  <a:pt x="21431" y="77688"/>
                </a:cubicBezTo>
                <a:cubicBezTo>
                  <a:pt x="21431" y="73254"/>
                  <a:pt x="25032" y="69652"/>
                  <a:pt x="29468" y="69652"/>
                </a:cubicBezTo>
                <a:cubicBezTo>
                  <a:pt x="33904" y="69652"/>
                  <a:pt x="37504" y="73254"/>
                  <a:pt x="37504" y="77688"/>
                </a:cubicBezTo>
                <a:close/>
                <a:moveTo>
                  <a:pt x="64294" y="85725"/>
                </a:moveTo>
                <a:cubicBezTo>
                  <a:pt x="59858" y="85725"/>
                  <a:pt x="56257" y="82125"/>
                  <a:pt x="56257" y="77688"/>
                </a:cubicBezTo>
                <a:cubicBezTo>
                  <a:pt x="56257" y="73254"/>
                  <a:pt x="59858" y="69652"/>
                  <a:pt x="64294" y="69652"/>
                </a:cubicBezTo>
                <a:cubicBezTo>
                  <a:pt x="68729" y="69652"/>
                  <a:pt x="72330" y="73254"/>
                  <a:pt x="72330" y="77688"/>
                </a:cubicBezTo>
                <a:cubicBezTo>
                  <a:pt x="72330" y="82125"/>
                  <a:pt x="68729" y="85725"/>
                  <a:pt x="64294" y="85725"/>
                </a:cubicBezTo>
                <a:close/>
                <a:moveTo>
                  <a:pt x="107156" y="77688"/>
                </a:moveTo>
                <a:cubicBezTo>
                  <a:pt x="107156" y="82125"/>
                  <a:pt x="103555" y="85725"/>
                  <a:pt x="99120" y="85725"/>
                </a:cubicBezTo>
                <a:cubicBezTo>
                  <a:pt x="94684" y="85725"/>
                  <a:pt x="91083" y="82125"/>
                  <a:pt x="91083" y="77688"/>
                </a:cubicBezTo>
                <a:cubicBezTo>
                  <a:pt x="91083" y="73254"/>
                  <a:pt x="94684" y="69652"/>
                  <a:pt x="99120" y="69652"/>
                </a:cubicBezTo>
                <a:cubicBezTo>
                  <a:pt x="103555" y="69652"/>
                  <a:pt x="107156" y="73254"/>
                  <a:pt x="107156" y="77688"/>
                </a:cubicBezTo>
                <a:close/>
                <a:moveTo>
                  <a:pt x="29468" y="117873"/>
                </a:moveTo>
                <a:cubicBezTo>
                  <a:pt x="25032" y="117873"/>
                  <a:pt x="21431" y="114271"/>
                  <a:pt x="21431" y="109835"/>
                </a:cubicBezTo>
                <a:cubicBezTo>
                  <a:pt x="21431" y="105400"/>
                  <a:pt x="25032" y="101798"/>
                  <a:pt x="29468" y="101798"/>
                </a:cubicBezTo>
                <a:cubicBezTo>
                  <a:pt x="33904" y="101798"/>
                  <a:pt x="37504" y="105400"/>
                  <a:pt x="37504" y="109835"/>
                </a:cubicBezTo>
                <a:cubicBezTo>
                  <a:pt x="37504" y="114271"/>
                  <a:pt x="33904" y="117873"/>
                  <a:pt x="29468" y="117873"/>
                </a:cubicBezTo>
                <a:close/>
                <a:moveTo>
                  <a:pt x="72330" y="109835"/>
                </a:moveTo>
                <a:cubicBezTo>
                  <a:pt x="72330" y="114271"/>
                  <a:pt x="68729" y="117873"/>
                  <a:pt x="64294" y="117873"/>
                </a:cubicBezTo>
                <a:cubicBezTo>
                  <a:pt x="59858" y="117873"/>
                  <a:pt x="56257" y="114271"/>
                  <a:pt x="56257" y="109835"/>
                </a:cubicBezTo>
                <a:cubicBezTo>
                  <a:pt x="56257" y="105400"/>
                  <a:pt x="59858" y="101798"/>
                  <a:pt x="64294" y="101798"/>
                </a:cubicBezTo>
                <a:cubicBezTo>
                  <a:pt x="68729" y="101798"/>
                  <a:pt x="72330" y="105400"/>
                  <a:pt x="72330" y="109835"/>
                </a:cubicBezTo>
                <a:close/>
                <a:moveTo>
                  <a:pt x="99120" y="117873"/>
                </a:moveTo>
                <a:cubicBezTo>
                  <a:pt x="94684" y="117873"/>
                  <a:pt x="91083" y="114271"/>
                  <a:pt x="91083" y="109835"/>
                </a:cubicBezTo>
                <a:cubicBezTo>
                  <a:pt x="91083" y="105400"/>
                  <a:pt x="94684" y="101798"/>
                  <a:pt x="99120" y="101798"/>
                </a:cubicBezTo>
                <a:cubicBezTo>
                  <a:pt x="103555" y="101798"/>
                  <a:pt x="107156" y="105400"/>
                  <a:pt x="107156" y="109835"/>
                </a:cubicBezTo>
                <a:cubicBezTo>
                  <a:pt x="107156" y="114271"/>
                  <a:pt x="103555" y="117873"/>
                  <a:pt x="99120" y="117873"/>
                </a:cubicBezTo>
                <a:close/>
                <a:moveTo>
                  <a:pt x="21431" y="141982"/>
                </a:moveTo>
                <a:cubicBezTo>
                  <a:pt x="21431" y="137528"/>
                  <a:pt x="25014" y="133946"/>
                  <a:pt x="29468" y="133946"/>
                </a:cubicBezTo>
                <a:lnTo>
                  <a:pt x="66973" y="133946"/>
                </a:lnTo>
                <a:cubicBezTo>
                  <a:pt x="71426" y="133946"/>
                  <a:pt x="75009" y="137528"/>
                  <a:pt x="75009" y="141982"/>
                </a:cubicBezTo>
                <a:cubicBezTo>
                  <a:pt x="75009" y="146436"/>
                  <a:pt x="71426" y="150019"/>
                  <a:pt x="66973" y="150019"/>
                </a:cubicBezTo>
                <a:lnTo>
                  <a:pt x="29468" y="150019"/>
                </a:lnTo>
                <a:cubicBezTo>
                  <a:pt x="25014" y="150019"/>
                  <a:pt x="21431" y="146436"/>
                  <a:pt x="21431" y="141982"/>
                </a:cubicBezTo>
                <a:close/>
                <a:moveTo>
                  <a:pt x="99120" y="133946"/>
                </a:moveTo>
                <a:cubicBezTo>
                  <a:pt x="103574" y="133946"/>
                  <a:pt x="107156" y="137528"/>
                  <a:pt x="107156" y="141982"/>
                </a:cubicBezTo>
                <a:cubicBezTo>
                  <a:pt x="107156" y="146436"/>
                  <a:pt x="103574" y="150019"/>
                  <a:pt x="99120" y="150019"/>
                </a:cubicBezTo>
                <a:cubicBezTo>
                  <a:pt x="94666" y="150019"/>
                  <a:pt x="91083" y="146436"/>
                  <a:pt x="91083" y="141982"/>
                </a:cubicBezTo>
                <a:cubicBezTo>
                  <a:pt x="91083" y="137528"/>
                  <a:pt x="94666" y="133946"/>
                  <a:pt x="99120" y="13394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1104734" y="3771941"/>
            <a:ext cx="695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FLOPS</a:t>
            </a:r>
            <a:endParaRPr lang="en-US" sz="1100"/>
          </a:p>
        </p:txBody>
      </p:sp>
      <p:sp>
        <p:nvSpPr>
          <p:cNvPr id="10" name="AutoShape 10"/>
          <p:cNvSpPr/>
          <p:nvPr/>
        </p:nvSpPr>
        <p:spPr>
          <a:xfrm>
            <a:off x="1104734" y="4038647"/>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Capacité de calcul</a:t>
            </a:r>
            <a:endParaRPr lang="en-US" sz="1100"/>
          </a:p>
        </p:txBody>
      </p:sp>
      <p:sp>
        <p:nvSpPr>
          <p:cNvPr id="11" name="Freeform 11"/>
          <p:cNvSpPr/>
          <p:nvPr/>
        </p:nvSpPr>
        <p:spPr>
          <a:xfrm>
            <a:off x="3238456" y="382910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3340805" y="3933801"/>
            <a:ext cx="171450" cy="171450"/>
          </a:xfrm>
          <a:custGeom>
            <a:avLst/>
            <a:gdLst/>
            <a:ahLst/>
            <a:cxnLst/>
            <a:rect l="l" t="t" r="r" b="b"/>
            <a:pathLst>
              <a:path w="171450" h="171450">
                <a:moveTo>
                  <a:pt x="0" y="85725"/>
                </a:moveTo>
                <a:cubicBezTo>
                  <a:pt x="0" y="38412"/>
                  <a:pt x="38412" y="0"/>
                  <a:pt x="85725" y="0"/>
                </a:cubicBezTo>
                <a:cubicBezTo>
                  <a:pt x="133038" y="0"/>
                  <a:pt x="171450" y="38412"/>
                  <a:pt x="171450" y="85725"/>
                </a:cubicBezTo>
                <a:cubicBezTo>
                  <a:pt x="171450" y="133038"/>
                  <a:pt x="133038" y="171450"/>
                  <a:pt x="85725" y="171450"/>
                </a:cubicBezTo>
                <a:cubicBezTo>
                  <a:pt x="38412" y="171450"/>
                  <a:pt x="0" y="133038"/>
                  <a:pt x="0" y="85725"/>
                </a:cubicBezTo>
                <a:close/>
                <a:moveTo>
                  <a:pt x="96441" y="32148"/>
                </a:moveTo>
                <a:cubicBezTo>
                  <a:pt x="96441" y="26233"/>
                  <a:pt x="91639" y="21431"/>
                  <a:pt x="85725" y="21431"/>
                </a:cubicBezTo>
                <a:cubicBezTo>
                  <a:pt x="79811" y="21431"/>
                  <a:pt x="75009" y="26233"/>
                  <a:pt x="75009" y="32148"/>
                </a:cubicBezTo>
                <a:cubicBezTo>
                  <a:pt x="75009" y="38061"/>
                  <a:pt x="79811" y="42863"/>
                  <a:pt x="85725" y="42863"/>
                </a:cubicBezTo>
                <a:cubicBezTo>
                  <a:pt x="91639" y="42863"/>
                  <a:pt x="96441" y="38061"/>
                  <a:pt x="96441" y="32148"/>
                </a:cubicBezTo>
                <a:close/>
                <a:moveTo>
                  <a:pt x="85725" y="139302"/>
                </a:moveTo>
                <a:cubicBezTo>
                  <a:pt x="97546" y="139302"/>
                  <a:pt x="107156" y="129692"/>
                  <a:pt x="107156" y="117873"/>
                </a:cubicBezTo>
                <a:cubicBezTo>
                  <a:pt x="107156" y="112447"/>
                  <a:pt x="105147" y="107459"/>
                  <a:pt x="101798" y="103707"/>
                </a:cubicBezTo>
                <a:lnTo>
                  <a:pt x="125071" y="57194"/>
                </a:lnTo>
                <a:cubicBezTo>
                  <a:pt x="127047" y="53210"/>
                  <a:pt x="125440" y="48388"/>
                  <a:pt x="121488" y="46412"/>
                </a:cubicBezTo>
                <a:cubicBezTo>
                  <a:pt x="117537" y="44436"/>
                  <a:pt x="112681" y="46044"/>
                  <a:pt x="110706" y="49995"/>
                </a:cubicBezTo>
                <a:lnTo>
                  <a:pt x="87433" y="96509"/>
                </a:lnTo>
                <a:cubicBezTo>
                  <a:pt x="86864" y="96474"/>
                  <a:pt x="86294" y="96441"/>
                  <a:pt x="85725" y="96441"/>
                </a:cubicBezTo>
                <a:cubicBezTo>
                  <a:pt x="73904" y="96441"/>
                  <a:pt x="64294" y="106051"/>
                  <a:pt x="64294" y="117873"/>
                </a:cubicBezTo>
                <a:cubicBezTo>
                  <a:pt x="64294" y="129692"/>
                  <a:pt x="73904" y="139302"/>
                  <a:pt x="85725" y="139302"/>
                </a:cubicBezTo>
                <a:close/>
                <a:moveTo>
                  <a:pt x="58936" y="48221"/>
                </a:moveTo>
                <a:cubicBezTo>
                  <a:pt x="58936" y="42306"/>
                  <a:pt x="54134" y="37504"/>
                  <a:pt x="48221" y="37504"/>
                </a:cubicBezTo>
                <a:cubicBezTo>
                  <a:pt x="42306" y="37504"/>
                  <a:pt x="37504" y="42306"/>
                  <a:pt x="37504" y="48221"/>
                </a:cubicBezTo>
                <a:cubicBezTo>
                  <a:pt x="37504" y="54134"/>
                  <a:pt x="42306" y="58936"/>
                  <a:pt x="48221" y="58936"/>
                </a:cubicBezTo>
                <a:cubicBezTo>
                  <a:pt x="54134" y="58936"/>
                  <a:pt x="58936" y="54134"/>
                  <a:pt x="58936" y="48221"/>
                </a:cubicBezTo>
                <a:close/>
                <a:moveTo>
                  <a:pt x="32148" y="96441"/>
                </a:moveTo>
                <a:cubicBezTo>
                  <a:pt x="38061" y="96441"/>
                  <a:pt x="42863" y="91639"/>
                  <a:pt x="42863" y="85725"/>
                </a:cubicBezTo>
                <a:cubicBezTo>
                  <a:pt x="42863" y="79811"/>
                  <a:pt x="38061" y="75009"/>
                  <a:pt x="32148" y="75009"/>
                </a:cubicBezTo>
                <a:cubicBezTo>
                  <a:pt x="26233" y="75009"/>
                  <a:pt x="21431" y="79811"/>
                  <a:pt x="21431" y="85725"/>
                </a:cubicBezTo>
                <a:cubicBezTo>
                  <a:pt x="21431" y="91639"/>
                  <a:pt x="26233" y="96441"/>
                  <a:pt x="32148" y="96441"/>
                </a:cubicBezTo>
                <a:close/>
                <a:moveTo>
                  <a:pt x="150019" y="85725"/>
                </a:moveTo>
                <a:cubicBezTo>
                  <a:pt x="150019" y="79811"/>
                  <a:pt x="145217" y="75009"/>
                  <a:pt x="139302" y="75009"/>
                </a:cubicBezTo>
                <a:cubicBezTo>
                  <a:pt x="133389" y="75009"/>
                  <a:pt x="128587" y="79811"/>
                  <a:pt x="128587" y="85725"/>
                </a:cubicBezTo>
                <a:cubicBezTo>
                  <a:pt x="128587" y="91639"/>
                  <a:pt x="133389" y="96441"/>
                  <a:pt x="139302" y="96441"/>
                </a:cubicBezTo>
                <a:cubicBezTo>
                  <a:pt x="145217" y="96441"/>
                  <a:pt x="150019" y="91639"/>
                  <a:pt x="150019" y="8572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3733661" y="3771941"/>
            <a:ext cx="10191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Bandwidth</a:t>
            </a:r>
            <a:endParaRPr lang="en-US" sz="1100"/>
          </a:p>
        </p:txBody>
      </p:sp>
      <p:sp>
        <p:nvSpPr>
          <p:cNvPr id="14" name="AutoShape 14"/>
          <p:cNvSpPr/>
          <p:nvPr/>
        </p:nvSpPr>
        <p:spPr>
          <a:xfrm>
            <a:off x="3733661" y="4038647"/>
            <a:ext cx="1009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Bande passante</a:t>
            </a:r>
            <a:endParaRPr lang="en-US" sz="1100"/>
          </a:p>
        </p:txBody>
      </p:sp>
      <p:sp>
        <p:nvSpPr>
          <p:cNvPr id="15" name="Freeform 15"/>
          <p:cNvSpPr/>
          <p:nvPr/>
        </p:nvSpPr>
        <p:spPr>
          <a:xfrm>
            <a:off x="609529" y="447676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711878" y="4581463"/>
            <a:ext cx="171450" cy="171450"/>
          </a:xfrm>
          <a:custGeom>
            <a:avLst/>
            <a:gdLst/>
            <a:ahLst/>
            <a:cxnLst/>
            <a:rect l="l" t="t" r="r" b="b"/>
            <a:pathLst>
              <a:path w="171450" h="171450">
                <a:moveTo>
                  <a:pt x="85725" y="0"/>
                </a:moveTo>
                <a:cubicBezTo>
                  <a:pt x="133038" y="0"/>
                  <a:pt x="171450" y="38412"/>
                  <a:pt x="171450" y="85725"/>
                </a:cubicBezTo>
                <a:cubicBezTo>
                  <a:pt x="171450" y="133038"/>
                  <a:pt x="133038" y="171450"/>
                  <a:pt x="85725" y="171450"/>
                </a:cubicBezTo>
                <a:cubicBezTo>
                  <a:pt x="38412" y="171450"/>
                  <a:pt x="0" y="133038"/>
                  <a:pt x="0" y="85725"/>
                </a:cubicBezTo>
                <a:cubicBezTo>
                  <a:pt x="0" y="38412"/>
                  <a:pt x="38412" y="0"/>
                  <a:pt x="85725" y="0"/>
                </a:cubicBezTo>
                <a:close/>
                <a:moveTo>
                  <a:pt x="77688" y="40184"/>
                </a:moveTo>
                <a:lnTo>
                  <a:pt x="77688" y="85725"/>
                </a:lnTo>
                <a:cubicBezTo>
                  <a:pt x="77688" y="88403"/>
                  <a:pt x="79028" y="90915"/>
                  <a:pt x="81271" y="92422"/>
                </a:cubicBezTo>
                <a:lnTo>
                  <a:pt x="113419" y="113854"/>
                </a:lnTo>
                <a:cubicBezTo>
                  <a:pt x="117102" y="116332"/>
                  <a:pt x="122091" y="115327"/>
                  <a:pt x="124569" y="111610"/>
                </a:cubicBezTo>
                <a:cubicBezTo>
                  <a:pt x="127047" y="107893"/>
                  <a:pt x="126042" y="102937"/>
                  <a:pt x="122326" y="100460"/>
                </a:cubicBezTo>
                <a:lnTo>
                  <a:pt x="93762" y="81439"/>
                </a:lnTo>
                <a:lnTo>
                  <a:pt x="93762" y="40184"/>
                </a:lnTo>
                <a:cubicBezTo>
                  <a:pt x="93762" y="35730"/>
                  <a:pt x="90179" y="32148"/>
                  <a:pt x="85725" y="32148"/>
                </a:cubicBezTo>
                <a:cubicBezTo>
                  <a:pt x="81271" y="32148"/>
                  <a:pt x="77688" y="35730"/>
                  <a:pt x="77688" y="4018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1104734" y="4419603"/>
            <a:ext cx="7429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Latency</a:t>
            </a:r>
            <a:endParaRPr lang="en-US" sz="1100"/>
          </a:p>
        </p:txBody>
      </p:sp>
      <p:sp>
        <p:nvSpPr>
          <p:cNvPr id="18" name="AutoShape 18"/>
          <p:cNvSpPr/>
          <p:nvPr/>
        </p:nvSpPr>
        <p:spPr>
          <a:xfrm>
            <a:off x="1104734" y="4686309"/>
            <a:ext cx="7334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Latence</a:t>
            </a:r>
            <a:endParaRPr lang="en-US" sz="1100"/>
          </a:p>
        </p:txBody>
      </p:sp>
      <p:sp>
        <p:nvSpPr>
          <p:cNvPr id="19" name="Freeform 19"/>
          <p:cNvSpPr/>
          <p:nvPr/>
        </p:nvSpPr>
        <p:spPr>
          <a:xfrm>
            <a:off x="3238456" y="447676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3340805" y="4592179"/>
            <a:ext cx="171450" cy="150017"/>
          </a:xfrm>
          <a:custGeom>
            <a:avLst/>
            <a:gdLst/>
            <a:ahLst/>
            <a:cxnLst/>
            <a:rect l="l" t="t" r="r" b="b"/>
            <a:pathLst>
              <a:path w="171450" h="150017">
                <a:moveTo>
                  <a:pt x="21431" y="10715"/>
                </a:moveTo>
                <a:cubicBezTo>
                  <a:pt x="21431" y="4788"/>
                  <a:pt x="16643" y="0"/>
                  <a:pt x="10716" y="0"/>
                </a:cubicBezTo>
                <a:cubicBezTo>
                  <a:pt x="4789" y="0"/>
                  <a:pt x="0" y="4788"/>
                  <a:pt x="0" y="10715"/>
                </a:cubicBezTo>
                <a:lnTo>
                  <a:pt x="0" y="123230"/>
                </a:lnTo>
                <a:cubicBezTo>
                  <a:pt x="0" y="138030"/>
                  <a:pt x="11988" y="150018"/>
                  <a:pt x="26789" y="150018"/>
                </a:cubicBezTo>
                <a:lnTo>
                  <a:pt x="160734" y="150018"/>
                </a:lnTo>
                <a:cubicBezTo>
                  <a:pt x="166661" y="150018"/>
                  <a:pt x="171450" y="145230"/>
                  <a:pt x="171450" y="139303"/>
                </a:cubicBezTo>
                <a:cubicBezTo>
                  <a:pt x="171450" y="133376"/>
                  <a:pt x="166661" y="128586"/>
                  <a:pt x="160734" y="128586"/>
                </a:cubicBezTo>
                <a:lnTo>
                  <a:pt x="26789" y="128586"/>
                </a:lnTo>
                <a:cubicBezTo>
                  <a:pt x="23842" y="128586"/>
                  <a:pt x="21431" y="126176"/>
                  <a:pt x="21431" y="123230"/>
                </a:cubicBezTo>
                <a:lnTo>
                  <a:pt x="21431" y="10715"/>
                </a:lnTo>
                <a:close/>
                <a:moveTo>
                  <a:pt x="157587" y="39714"/>
                </a:moveTo>
                <a:cubicBezTo>
                  <a:pt x="161773" y="35529"/>
                  <a:pt x="161773" y="28731"/>
                  <a:pt x="157587" y="24546"/>
                </a:cubicBezTo>
                <a:cubicBezTo>
                  <a:pt x="153401" y="20360"/>
                  <a:pt x="146602" y="20360"/>
                  <a:pt x="142417" y="24546"/>
                </a:cubicBezTo>
                <a:lnTo>
                  <a:pt x="107156" y="59840"/>
                </a:lnTo>
                <a:lnTo>
                  <a:pt x="87935" y="40652"/>
                </a:lnTo>
                <a:cubicBezTo>
                  <a:pt x="83749" y="36466"/>
                  <a:pt x="76952" y="36466"/>
                  <a:pt x="72766" y="40652"/>
                </a:cubicBezTo>
                <a:lnTo>
                  <a:pt x="40618" y="72799"/>
                </a:lnTo>
                <a:cubicBezTo>
                  <a:pt x="36432" y="76985"/>
                  <a:pt x="36432" y="83782"/>
                  <a:pt x="40618" y="87968"/>
                </a:cubicBezTo>
                <a:cubicBezTo>
                  <a:pt x="44806" y="92154"/>
                  <a:pt x="51601" y="92154"/>
                  <a:pt x="55789" y="87968"/>
                </a:cubicBezTo>
                <a:lnTo>
                  <a:pt x="80367" y="63389"/>
                </a:lnTo>
                <a:lnTo>
                  <a:pt x="99588" y="82610"/>
                </a:lnTo>
                <a:cubicBezTo>
                  <a:pt x="103774" y="86796"/>
                  <a:pt x="110573" y="86796"/>
                  <a:pt x="114758" y="82610"/>
                </a:cubicBezTo>
                <a:lnTo>
                  <a:pt x="157620" y="3974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3733661" y="4419603"/>
            <a:ext cx="9715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Utilization</a:t>
            </a:r>
            <a:endParaRPr lang="en-US" sz="1100"/>
          </a:p>
        </p:txBody>
      </p:sp>
      <p:sp>
        <p:nvSpPr>
          <p:cNvPr id="22" name="AutoShape 22"/>
          <p:cNvSpPr/>
          <p:nvPr/>
        </p:nvSpPr>
        <p:spPr>
          <a:xfrm>
            <a:off x="3733661" y="4686309"/>
            <a:ext cx="9620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Taux d utilisation des ressources</a:t>
            </a:r>
            <a:endParaRPr lang="en-US" sz="1100"/>
          </a:p>
        </p:txBody>
      </p:sp>
      <p:sp>
        <p:nvSpPr>
          <p:cNvPr id="23" name="Freeform 23"/>
          <p:cNvSpPr/>
          <p:nvPr/>
        </p:nvSpPr>
        <p:spPr>
          <a:xfrm>
            <a:off x="628484" y="5067265"/>
            <a:ext cx="5086255" cy="723900"/>
          </a:xfrm>
          <a:custGeom>
            <a:avLst/>
            <a:gdLst/>
            <a:ahLst/>
            <a:cxnLst/>
            <a:rect l="l" t="t" r="r" b="b"/>
            <a:pathLst>
              <a:path w="5086255" h="723900">
                <a:moveTo>
                  <a:pt x="37910" y="0"/>
                </a:moveTo>
                <a:lnTo>
                  <a:pt x="5048156" y="0"/>
                </a:lnTo>
                <a:cubicBezTo>
                  <a:pt x="5069183" y="0"/>
                  <a:pt x="5086255" y="17073"/>
                  <a:pt x="5086255" y="38099"/>
                </a:cubicBezTo>
                <a:lnTo>
                  <a:pt x="5086255" y="685801"/>
                </a:lnTo>
                <a:cubicBezTo>
                  <a:pt x="5086255" y="706827"/>
                  <a:pt x="5069183" y="723900"/>
                  <a:pt x="5048156" y="723900"/>
                </a:cubicBezTo>
                <a:lnTo>
                  <a:pt x="37910" y="723900"/>
                </a:lnTo>
                <a:cubicBezTo>
                  <a:pt x="16974" y="723900"/>
                  <a:pt x="0" y="706926"/>
                  <a:pt x="0" y="6859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28484" y="5067265"/>
            <a:ext cx="37909" cy="723900"/>
          </a:xfrm>
          <a:custGeom>
            <a:avLst/>
            <a:gdLst/>
            <a:ahLst/>
            <a:cxnLst/>
            <a:rect l="l" t="t" r="r" b="b"/>
            <a:pathLst>
              <a:path w="37909" h="723900">
                <a:moveTo>
                  <a:pt x="37910" y="0"/>
                </a:moveTo>
                <a:lnTo>
                  <a:pt x="37910" y="0"/>
                </a:lnTo>
                <a:lnTo>
                  <a:pt x="37910" y="723900"/>
                </a:lnTo>
                <a:lnTo>
                  <a:pt x="37910" y="723900"/>
                </a:lnTo>
                <a:cubicBezTo>
                  <a:pt x="16974" y="723900"/>
                  <a:pt x="0" y="706926"/>
                  <a:pt x="0" y="685991"/>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61689" y="5181514"/>
            <a:ext cx="4924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Roofline Model</a:t>
            </a:r>
            <a:endParaRPr lang="en-US" sz="1100"/>
          </a:p>
        </p:txBody>
      </p:sp>
      <p:sp>
        <p:nvSpPr>
          <p:cNvPr id="26" name="AutoShape 26"/>
          <p:cNvSpPr/>
          <p:nvPr/>
        </p:nvSpPr>
        <p:spPr>
          <a:xfrm>
            <a:off x="761689" y="5448220"/>
            <a:ext cx="4914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Modèle de limite de performance</a:t>
            </a:r>
            <a:endParaRPr lang="en-US" sz="1100"/>
          </a:p>
        </p:txBody>
      </p:sp>
      <p:sp>
        <p:nvSpPr>
          <p:cNvPr id="27" name="Freeform 27"/>
          <p:cNvSpPr/>
          <p:nvPr/>
        </p:nvSpPr>
        <p:spPr>
          <a:xfrm>
            <a:off x="6248338" y="1066676"/>
            <a:ext cx="5562600" cy="4648200"/>
          </a:xfrm>
          <a:custGeom>
            <a:avLst/>
            <a:gdLst/>
            <a:ahLst/>
            <a:cxnLst/>
            <a:rect l="l" t="t" r="r" b="b"/>
            <a:pathLst>
              <a:path w="5562600" h="4648200">
                <a:moveTo>
                  <a:pt x="76183" y="0"/>
                </a:moveTo>
                <a:lnTo>
                  <a:pt x="5486417" y="0"/>
                </a:lnTo>
                <a:cubicBezTo>
                  <a:pt x="5528462" y="0"/>
                  <a:pt x="5562600" y="34138"/>
                  <a:pt x="5562600" y="76183"/>
                </a:cubicBezTo>
                <a:lnTo>
                  <a:pt x="5562600" y="4572017"/>
                </a:lnTo>
                <a:cubicBezTo>
                  <a:pt x="5562600" y="4614092"/>
                  <a:pt x="5528492" y="4648200"/>
                  <a:pt x="5486417" y="4648200"/>
                </a:cubicBezTo>
                <a:lnTo>
                  <a:pt x="76183" y="4648200"/>
                </a:lnTo>
                <a:cubicBezTo>
                  <a:pt x="34138" y="4648200"/>
                  <a:pt x="0" y="4614062"/>
                  <a:pt x="0" y="4572017"/>
                </a:cubicBezTo>
                <a:lnTo>
                  <a:pt x="0" y="76183"/>
                </a:lnTo>
                <a:cubicBezTo>
                  <a:pt x="0" y="34108"/>
                  <a:pt x="34108" y="0"/>
                  <a:pt x="7618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8" name="Picture 28"/>
          <p:cNvPicPr>
            <a:picLocks noChangeAspect="1"/>
          </p:cNvPicPr>
          <p:nvPr/>
        </p:nvPicPr>
        <p:blipFill>
          <a:blip r:embed="rId1"/>
          <a:srcRect t="5" b="4"/>
          <a:stretch>
            <a:fillRect/>
          </a:stretch>
        </p:blipFill>
        <p:spPr>
          <a:xfrm>
            <a:off x="6400720" y="1771351"/>
            <a:ext cx="5257800" cy="3238500"/>
          </a:xfrm>
          <a:prstGeom prst="roundRect">
            <a:avLst>
              <a:gd name="adj" fmla="val 0"/>
            </a:avLst>
          </a:prstGeom>
          <a:ln w="12700">
            <a:noFill/>
            <a:prstDash val="solid"/>
          </a:ln>
        </p:spPr>
      </p:pic>
      <p:sp>
        <p:nvSpPr>
          <p:cNvPr id="29" name="AutoShape 29"/>
          <p:cNvSpPr/>
          <p:nvPr/>
        </p:nvSpPr>
        <p:spPr>
          <a:xfrm>
            <a:off x="6210238" y="5791043"/>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 Medium - CPU vs GPU Architecture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6233" y="607604"/>
            <a:ext cx="11629571" cy="362857"/>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37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Classification des indicateurs de performance</a:t>
            </a:r>
            <a:endParaRPr lang="en-US" sz="1100"/>
          </a:p>
        </p:txBody>
      </p:sp>
      <p:sp>
        <p:nvSpPr>
          <p:cNvPr id="3" name="Freeform 3"/>
          <p:cNvSpPr/>
          <p:nvPr/>
        </p:nvSpPr>
        <p:spPr>
          <a:xfrm>
            <a:off x="371841" y="1194893"/>
            <a:ext cx="5569767" cy="4698910"/>
          </a:xfrm>
          <a:custGeom>
            <a:avLst/>
            <a:gdLst/>
            <a:ahLst/>
            <a:cxnLst/>
            <a:rect l="l" t="t" r="r" b="b"/>
            <a:pathLst>
              <a:path w="5569767" h="4698910">
                <a:moveTo>
                  <a:pt x="108875" y="0"/>
                </a:moveTo>
                <a:lnTo>
                  <a:pt x="5460893" y="0"/>
                </a:lnTo>
                <a:cubicBezTo>
                  <a:pt x="5521021" y="0"/>
                  <a:pt x="5569767" y="48744"/>
                  <a:pt x="5569767" y="108875"/>
                </a:cubicBezTo>
                <a:lnTo>
                  <a:pt x="5569767" y="4590037"/>
                </a:lnTo>
                <a:cubicBezTo>
                  <a:pt x="5569767" y="4650165"/>
                  <a:pt x="5521021" y="4698910"/>
                  <a:pt x="5460893" y="4698910"/>
                </a:cubicBezTo>
                <a:lnTo>
                  <a:pt x="108875" y="4698910"/>
                </a:lnTo>
                <a:cubicBezTo>
                  <a:pt x="48744" y="4698910"/>
                  <a:pt x="0" y="4650165"/>
                  <a:pt x="0" y="4590037"/>
                </a:cubicBezTo>
                <a:lnTo>
                  <a:pt x="0" y="108875"/>
                </a:lnTo>
                <a:cubicBezTo>
                  <a:pt x="0" y="48785"/>
                  <a:pt x="48785" y="0"/>
                  <a:pt x="108875"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98556" y="1421608"/>
            <a:ext cx="580572" cy="580572"/>
          </a:xfrm>
          <a:custGeom>
            <a:avLst/>
            <a:gdLst/>
            <a:ahLst/>
            <a:cxnLst/>
            <a:rect l="l" t="t" r="r" b="b"/>
            <a:pathLst>
              <a:path w="580572" h="580572">
                <a:moveTo>
                  <a:pt x="108857" y="0"/>
                </a:moveTo>
                <a:lnTo>
                  <a:pt x="471714" y="0"/>
                </a:lnTo>
                <a:cubicBezTo>
                  <a:pt x="531834" y="0"/>
                  <a:pt x="580572" y="48738"/>
                  <a:pt x="580572" y="108857"/>
                </a:cubicBezTo>
                <a:lnTo>
                  <a:pt x="580572" y="471714"/>
                </a:lnTo>
                <a:cubicBezTo>
                  <a:pt x="580572" y="531834"/>
                  <a:pt x="531834" y="580572"/>
                  <a:pt x="471714" y="580572"/>
                </a:cubicBezTo>
                <a:lnTo>
                  <a:pt x="108857" y="580572"/>
                </a:lnTo>
                <a:cubicBezTo>
                  <a:pt x="48738" y="580572"/>
                  <a:pt x="0" y="531834"/>
                  <a:pt x="0" y="471714"/>
                </a:cubicBezTo>
                <a:lnTo>
                  <a:pt x="0" y="108857"/>
                </a:lnTo>
                <a:cubicBezTo>
                  <a:pt x="0" y="48777"/>
                  <a:pt x="48777" y="0"/>
                  <a:pt x="108857" y="0"/>
                </a:cubicBezTo>
                <a:close/>
              </a:path>
            </a:pathLst>
          </a:custGeom>
          <a:solidFill>
            <a:srgbClr val="8B0000">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755005" y="1575760"/>
            <a:ext cx="272143" cy="272143"/>
          </a:xfrm>
          <a:custGeom>
            <a:avLst/>
            <a:gdLst/>
            <a:ahLst/>
            <a:cxnLst/>
            <a:rect l="l" t="t" r="r" b="b"/>
            <a:pathLst>
              <a:path w="272143" h="272143">
                <a:moveTo>
                  <a:pt x="93549" y="12757"/>
                </a:moveTo>
                <a:cubicBezTo>
                  <a:pt x="93549" y="5687"/>
                  <a:pt x="87862" y="0"/>
                  <a:pt x="80792" y="0"/>
                </a:cubicBezTo>
                <a:cubicBezTo>
                  <a:pt x="73723" y="0"/>
                  <a:pt x="68036" y="5687"/>
                  <a:pt x="68036" y="12757"/>
                </a:cubicBezTo>
                <a:lnTo>
                  <a:pt x="68036" y="34018"/>
                </a:lnTo>
                <a:cubicBezTo>
                  <a:pt x="49273" y="34018"/>
                  <a:pt x="34018" y="49273"/>
                  <a:pt x="34018" y="68036"/>
                </a:cubicBezTo>
                <a:lnTo>
                  <a:pt x="12757" y="68036"/>
                </a:lnTo>
                <a:cubicBezTo>
                  <a:pt x="5687" y="68036"/>
                  <a:pt x="0" y="73724"/>
                  <a:pt x="0" y="80792"/>
                </a:cubicBezTo>
                <a:cubicBezTo>
                  <a:pt x="0" y="87862"/>
                  <a:pt x="5687" y="93549"/>
                  <a:pt x="12757" y="93549"/>
                </a:cubicBezTo>
                <a:lnTo>
                  <a:pt x="34018" y="93549"/>
                </a:lnTo>
                <a:lnTo>
                  <a:pt x="34018" y="123314"/>
                </a:lnTo>
                <a:lnTo>
                  <a:pt x="12757" y="123314"/>
                </a:lnTo>
                <a:cubicBezTo>
                  <a:pt x="5687" y="123314"/>
                  <a:pt x="0" y="129002"/>
                  <a:pt x="0" y="136072"/>
                </a:cubicBezTo>
                <a:cubicBezTo>
                  <a:pt x="0" y="143140"/>
                  <a:pt x="5687" y="148827"/>
                  <a:pt x="12757" y="148827"/>
                </a:cubicBezTo>
                <a:lnTo>
                  <a:pt x="34018" y="148827"/>
                </a:lnTo>
                <a:lnTo>
                  <a:pt x="34018" y="178594"/>
                </a:lnTo>
                <a:lnTo>
                  <a:pt x="12757" y="178594"/>
                </a:lnTo>
                <a:cubicBezTo>
                  <a:pt x="5687" y="178594"/>
                  <a:pt x="0" y="184281"/>
                  <a:pt x="0" y="191350"/>
                </a:cubicBezTo>
                <a:cubicBezTo>
                  <a:pt x="0" y="198420"/>
                  <a:pt x="5687" y="204107"/>
                  <a:pt x="12757" y="204107"/>
                </a:cubicBezTo>
                <a:lnTo>
                  <a:pt x="34018" y="204107"/>
                </a:lnTo>
                <a:cubicBezTo>
                  <a:pt x="34018" y="222870"/>
                  <a:pt x="49273" y="238125"/>
                  <a:pt x="68036" y="238125"/>
                </a:cubicBezTo>
                <a:lnTo>
                  <a:pt x="68036" y="259386"/>
                </a:lnTo>
                <a:cubicBezTo>
                  <a:pt x="68036" y="266455"/>
                  <a:pt x="73723" y="272143"/>
                  <a:pt x="80792" y="272143"/>
                </a:cubicBezTo>
                <a:cubicBezTo>
                  <a:pt x="87862" y="272143"/>
                  <a:pt x="93549" y="266455"/>
                  <a:pt x="93549" y="259386"/>
                </a:cubicBezTo>
                <a:lnTo>
                  <a:pt x="93549" y="238125"/>
                </a:lnTo>
                <a:lnTo>
                  <a:pt x="123314" y="238125"/>
                </a:lnTo>
                <a:lnTo>
                  <a:pt x="123314" y="259386"/>
                </a:lnTo>
                <a:cubicBezTo>
                  <a:pt x="123314" y="266455"/>
                  <a:pt x="129002" y="272143"/>
                  <a:pt x="136072" y="272143"/>
                </a:cubicBezTo>
                <a:cubicBezTo>
                  <a:pt x="143140" y="272143"/>
                  <a:pt x="148827" y="266455"/>
                  <a:pt x="148827" y="259386"/>
                </a:cubicBezTo>
                <a:lnTo>
                  <a:pt x="148827" y="238125"/>
                </a:lnTo>
                <a:lnTo>
                  <a:pt x="178594" y="238125"/>
                </a:lnTo>
                <a:lnTo>
                  <a:pt x="178594" y="259386"/>
                </a:lnTo>
                <a:cubicBezTo>
                  <a:pt x="178594" y="266455"/>
                  <a:pt x="184281" y="272143"/>
                  <a:pt x="191350" y="272143"/>
                </a:cubicBezTo>
                <a:cubicBezTo>
                  <a:pt x="198420" y="272143"/>
                  <a:pt x="204107" y="266455"/>
                  <a:pt x="204107" y="259386"/>
                </a:cubicBezTo>
                <a:lnTo>
                  <a:pt x="204107" y="238125"/>
                </a:lnTo>
                <a:cubicBezTo>
                  <a:pt x="222870" y="238125"/>
                  <a:pt x="238125" y="222870"/>
                  <a:pt x="238125" y="204107"/>
                </a:cubicBezTo>
                <a:lnTo>
                  <a:pt x="259386" y="204107"/>
                </a:lnTo>
                <a:cubicBezTo>
                  <a:pt x="266455" y="204107"/>
                  <a:pt x="272143" y="198420"/>
                  <a:pt x="272143" y="191350"/>
                </a:cubicBezTo>
                <a:cubicBezTo>
                  <a:pt x="272143" y="184281"/>
                  <a:pt x="266455" y="178594"/>
                  <a:pt x="259386" y="178594"/>
                </a:cubicBezTo>
                <a:lnTo>
                  <a:pt x="238125" y="178594"/>
                </a:lnTo>
                <a:lnTo>
                  <a:pt x="238125" y="148827"/>
                </a:lnTo>
                <a:lnTo>
                  <a:pt x="259386" y="148827"/>
                </a:lnTo>
                <a:cubicBezTo>
                  <a:pt x="266455" y="148827"/>
                  <a:pt x="272143" y="143140"/>
                  <a:pt x="272143" y="136072"/>
                </a:cubicBezTo>
                <a:cubicBezTo>
                  <a:pt x="272143" y="129002"/>
                  <a:pt x="266455" y="123314"/>
                  <a:pt x="259386" y="123314"/>
                </a:cubicBezTo>
                <a:lnTo>
                  <a:pt x="238125" y="123314"/>
                </a:lnTo>
                <a:lnTo>
                  <a:pt x="238125" y="93549"/>
                </a:lnTo>
                <a:lnTo>
                  <a:pt x="259386" y="93549"/>
                </a:lnTo>
                <a:cubicBezTo>
                  <a:pt x="266455" y="93549"/>
                  <a:pt x="272143" y="87862"/>
                  <a:pt x="272143" y="80792"/>
                </a:cubicBezTo>
                <a:cubicBezTo>
                  <a:pt x="272143" y="73724"/>
                  <a:pt x="266455" y="68036"/>
                  <a:pt x="259386" y="68036"/>
                </a:cubicBezTo>
                <a:lnTo>
                  <a:pt x="238125" y="68036"/>
                </a:lnTo>
                <a:cubicBezTo>
                  <a:pt x="238125" y="49273"/>
                  <a:pt x="222870" y="34018"/>
                  <a:pt x="204107" y="34018"/>
                </a:cubicBezTo>
                <a:lnTo>
                  <a:pt x="204107" y="12757"/>
                </a:lnTo>
                <a:cubicBezTo>
                  <a:pt x="204107" y="5687"/>
                  <a:pt x="198420" y="0"/>
                  <a:pt x="191350" y="0"/>
                </a:cubicBezTo>
                <a:cubicBezTo>
                  <a:pt x="184281" y="0"/>
                  <a:pt x="178594" y="5687"/>
                  <a:pt x="178594" y="12757"/>
                </a:cubicBezTo>
                <a:lnTo>
                  <a:pt x="178594" y="34018"/>
                </a:lnTo>
                <a:lnTo>
                  <a:pt x="148827" y="34018"/>
                </a:lnTo>
                <a:lnTo>
                  <a:pt x="148827" y="12757"/>
                </a:lnTo>
                <a:cubicBezTo>
                  <a:pt x="148827" y="5687"/>
                  <a:pt x="143140" y="0"/>
                  <a:pt x="136072" y="0"/>
                </a:cubicBezTo>
                <a:cubicBezTo>
                  <a:pt x="129002" y="0"/>
                  <a:pt x="123314" y="5687"/>
                  <a:pt x="123314" y="12757"/>
                </a:cubicBezTo>
                <a:lnTo>
                  <a:pt x="123314" y="34018"/>
                </a:lnTo>
                <a:lnTo>
                  <a:pt x="93549" y="34018"/>
                </a:lnTo>
                <a:lnTo>
                  <a:pt x="93549" y="12757"/>
                </a:lnTo>
                <a:close/>
                <a:moveTo>
                  <a:pt x="85046" y="68036"/>
                </a:moveTo>
                <a:lnTo>
                  <a:pt x="187098" y="68036"/>
                </a:lnTo>
                <a:cubicBezTo>
                  <a:pt x="196506" y="68036"/>
                  <a:pt x="204107" y="75637"/>
                  <a:pt x="204107" y="85046"/>
                </a:cubicBezTo>
                <a:lnTo>
                  <a:pt x="204107" y="187098"/>
                </a:lnTo>
                <a:cubicBezTo>
                  <a:pt x="204107" y="196506"/>
                  <a:pt x="196506" y="204107"/>
                  <a:pt x="187098" y="204107"/>
                </a:cubicBezTo>
                <a:lnTo>
                  <a:pt x="85046" y="204107"/>
                </a:lnTo>
                <a:cubicBezTo>
                  <a:pt x="75637" y="204107"/>
                  <a:pt x="68036" y="196506"/>
                  <a:pt x="68036" y="187098"/>
                </a:cubicBezTo>
                <a:lnTo>
                  <a:pt x="68036" y="85046"/>
                </a:lnTo>
                <a:cubicBezTo>
                  <a:pt x="68036" y="75637"/>
                  <a:pt x="75637" y="68036"/>
                  <a:pt x="85046" y="68036"/>
                </a:cubicBezTo>
                <a:close/>
                <a:moveTo>
                  <a:pt x="93549" y="93549"/>
                </a:moveTo>
                <a:lnTo>
                  <a:pt x="93549" y="178594"/>
                </a:lnTo>
                <a:lnTo>
                  <a:pt x="178594" y="178594"/>
                </a:lnTo>
                <a:lnTo>
                  <a:pt x="178594" y="93549"/>
                </a:lnTo>
                <a:lnTo>
                  <a:pt x="93549" y="9354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324186" y="1439731"/>
            <a:ext cx="1596571" cy="290286"/>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Capacité de calcul</a:t>
            </a:r>
            <a:endParaRPr lang="en-US" sz="1100"/>
          </a:p>
        </p:txBody>
      </p:sp>
      <p:sp>
        <p:nvSpPr>
          <p:cNvPr id="7" name="AutoShape 7"/>
          <p:cNvSpPr/>
          <p:nvPr/>
        </p:nvSpPr>
        <p:spPr>
          <a:xfrm>
            <a:off x="1324186" y="1729912"/>
            <a:ext cx="1578429"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2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Bound</a:t>
            </a:r>
            <a:endParaRPr lang="en-US" sz="1100"/>
          </a:p>
        </p:txBody>
      </p:sp>
      <p:sp>
        <p:nvSpPr>
          <p:cNvPr id="8" name="Freeform 8"/>
          <p:cNvSpPr/>
          <p:nvPr/>
        </p:nvSpPr>
        <p:spPr>
          <a:xfrm>
            <a:off x="616609" y="2505681"/>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7"/>
                  <a:pt x="0" y="1252038"/>
                </a:cubicBezTo>
                <a:lnTo>
                  <a:pt x="0" y="36105"/>
                </a:lnTo>
                <a:cubicBezTo>
                  <a:pt x="0" y="16165"/>
                  <a:pt x="16165" y="0"/>
                  <a:pt x="36105"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Freeform 9"/>
          <p:cNvSpPr/>
          <p:nvPr/>
        </p:nvSpPr>
        <p:spPr>
          <a:xfrm>
            <a:off x="616609" y="2505681"/>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7"/>
                  <a:pt x="0" y="1252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897708" y="2759615"/>
            <a:ext cx="136072" cy="181428"/>
          </a:xfrm>
          <a:custGeom>
            <a:avLst/>
            <a:gdLst/>
            <a:ahLst/>
            <a:cxnLst/>
            <a:rect l="l" t="t" r="r" b="b"/>
            <a:pathLst>
              <a:path w="136072" h="181428">
                <a:moveTo>
                  <a:pt x="22678" y="0"/>
                </a:moveTo>
                <a:cubicBezTo>
                  <a:pt x="10170" y="0"/>
                  <a:pt x="0" y="10170"/>
                  <a:pt x="0" y="22678"/>
                </a:cubicBezTo>
                <a:lnTo>
                  <a:pt x="0" y="158750"/>
                </a:lnTo>
                <a:cubicBezTo>
                  <a:pt x="0" y="171259"/>
                  <a:pt x="10170" y="181428"/>
                  <a:pt x="22678" y="181428"/>
                </a:cubicBezTo>
                <a:lnTo>
                  <a:pt x="113393" y="181428"/>
                </a:lnTo>
                <a:cubicBezTo>
                  <a:pt x="125901" y="181428"/>
                  <a:pt x="136072" y="171259"/>
                  <a:pt x="136072" y="158750"/>
                </a:cubicBezTo>
                <a:lnTo>
                  <a:pt x="136072" y="22678"/>
                </a:lnTo>
                <a:cubicBezTo>
                  <a:pt x="136072" y="10170"/>
                  <a:pt x="125901" y="0"/>
                  <a:pt x="113393" y="0"/>
                </a:cubicBezTo>
                <a:lnTo>
                  <a:pt x="22678" y="0"/>
                </a:lnTo>
                <a:close/>
                <a:moveTo>
                  <a:pt x="34018" y="22678"/>
                </a:moveTo>
                <a:lnTo>
                  <a:pt x="102053" y="22678"/>
                </a:lnTo>
                <a:cubicBezTo>
                  <a:pt x="108326" y="22678"/>
                  <a:pt x="113393" y="27746"/>
                  <a:pt x="113393" y="34018"/>
                </a:cubicBezTo>
                <a:lnTo>
                  <a:pt x="113393" y="45357"/>
                </a:lnTo>
                <a:cubicBezTo>
                  <a:pt x="113393" y="51629"/>
                  <a:pt x="108326" y="56697"/>
                  <a:pt x="102053" y="56697"/>
                </a:cubicBezTo>
                <a:lnTo>
                  <a:pt x="34018" y="56697"/>
                </a:lnTo>
                <a:cubicBezTo>
                  <a:pt x="27746" y="56697"/>
                  <a:pt x="22678" y="51629"/>
                  <a:pt x="22678" y="45357"/>
                </a:cubicBezTo>
                <a:lnTo>
                  <a:pt x="22678" y="34018"/>
                </a:lnTo>
                <a:cubicBezTo>
                  <a:pt x="22678" y="27746"/>
                  <a:pt x="27746" y="22678"/>
                  <a:pt x="34018" y="22678"/>
                </a:cubicBezTo>
                <a:close/>
                <a:moveTo>
                  <a:pt x="39688" y="82210"/>
                </a:moveTo>
                <a:cubicBezTo>
                  <a:pt x="39688" y="86904"/>
                  <a:pt x="35878" y="90714"/>
                  <a:pt x="31184" y="90714"/>
                </a:cubicBezTo>
                <a:cubicBezTo>
                  <a:pt x="26488" y="90714"/>
                  <a:pt x="22678" y="86904"/>
                  <a:pt x="22678" y="82210"/>
                </a:cubicBezTo>
                <a:cubicBezTo>
                  <a:pt x="22678" y="77516"/>
                  <a:pt x="26488" y="73704"/>
                  <a:pt x="31184" y="73704"/>
                </a:cubicBezTo>
                <a:cubicBezTo>
                  <a:pt x="35878" y="73704"/>
                  <a:pt x="39688" y="77516"/>
                  <a:pt x="39688" y="82210"/>
                </a:cubicBezTo>
                <a:close/>
                <a:moveTo>
                  <a:pt x="68036" y="90714"/>
                </a:moveTo>
                <a:cubicBezTo>
                  <a:pt x="63343" y="90714"/>
                  <a:pt x="59531" y="86904"/>
                  <a:pt x="59531" y="82210"/>
                </a:cubicBezTo>
                <a:cubicBezTo>
                  <a:pt x="59531" y="77516"/>
                  <a:pt x="63343" y="73704"/>
                  <a:pt x="68036" y="73704"/>
                </a:cubicBezTo>
                <a:cubicBezTo>
                  <a:pt x="72729" y="73704"/>
                  <a:pt x="76540" y="77516"/>
                  <a:pt x="76540" y="82210"/>
                </a:cubicBezTo>
                <a:cubicBezTo>
                  <a:pt x="76540" y="86904"/>
                  <a:pt x="72729" y="90714"/>
                  <a:pt x="68036" y="90714"/>
                </a:cubicBezTo>
                <a:close/>
                <a:moveTo>
                  <a:pt x="113393" y="82210"/>
                </a:moveTo>
                <a:cubicBezTo>
                  <a:pt x="113393" y="86904"/>
                  <a:pt x="109582" y="90714"/>
                  <a:pt x="104888" y="90714"/>
                </a:cubicBezTo>
                <a:cubicBezTo>
                  <a:pt x="100195" y="90714"/>
                  <a:pt x="96384" y="86904"/>
                  <a:pt x="96384" y="82210"/>
                </a:cubicBezTo>
                <a:cubicBezTo>
                  <a:pt x="96384" y="77516"/>
                  <a:pt x="100195" y="73704"/>
                  <a:pt x="104888" y="73704"/>
                </a:cubicBezTo>
                <a:cubicBezTo>
                  <a:pt x="109582" y="73704"/>
                  <a:pt x="113393" y="77516"/>
                  <a:pt x="113393" y="82210"/>
                </a:cubicBezTo>
                <a:close/>
                <a:moveTo>
                  <a:pt x="31184" y="124732"/>
                </a:moveTo>
                <a:cubicBezTo>
                  <a:pt x="26488" y="124732"/>
                  <a:pt x="22678" y="120921"/>
                  <a:pt x="22678" y="116228"/>
                </a:cubicBezTo>
                <a:cubicBezTo>
                  <a:pt x="22678" y="111534"/>
                  <a:pt x="26488" y="107723"/>
                  <a:pt x="31184" y="107723"/>
                </a:cubicBezTo>
                <a:cubicBezTo>
                  <a:pt x="35878" y="107723"/>
                  <a:pt x="39688" y="111534"/>
                  <a:pt x="39688" y="116228"/>
                </a:cubicBezTo>
                <a:cubicBezTo>
                  <a:pt x="39688" y="120921"/>
                  <a:pt x="35878" y="124732"/>
                  <a:pt x="31184" y="124732"/>
                </a:cubicBezTo>
                <a:close/>
                <a:moveTo>
                  <a:pt x="76540" y="116228"/>
                </a:moveTo>
                <a:cubicBezTo>
                  <a:pt x="76540" y="120921"/>
                  <a:pt x="72729" y="124732"/>
                  <a:pt x="68036" y="124732"/>
                </a:cubicBezTo>
                <a:cubicBezTo>
                  <a:pt x="63343" y="124732"/>
                  <a:pt x="59531" y="120921"/>
                  <a:pt x="59531" y="116228"/>
                </a:cubicBezTo>
                <a:cubicBezTo>
                  <a:pt x="59531" y="111534"/>
                  <a:pt x="63343" y="107723"/>
                  <a:pt x="68036" y="107723"/>
                </a:cubicBezTo>
                <a:cubicBezTo>
                  <a:pt x="72729" y="107723"/>
                  <a:pt x="76540" y="111534"/>
                  <a:pt x="76540" y="116228"/>
                </a:cubicBezTo>
                <a:close/>
                <a:moveTo>
                  <a:pt x="104888" y="124732"/>
                </a:moveTo>
                <a:cubicBezTo>
                  <a:pt x="100195" y="124732"/>
                  <a:pt x="96384" y="120921"/>
                  <a:pt x="96384" y="116228"/>
                </a:cubicBezTo>
                <a:cubicBezTo>
                  <a:pt x="96384" y="111534"/>
                  <a:pt x="100195" y="107723"/>
                  <a:pt x="104888" y="107723"/>
                </a:cubicBezTo>
                <a:cubicBezTo>
                  <a:pt x="109582" y="107723"/>
                  <a:pt x="113393" y="111534"/>
                  <a:pt x="113393" y="116228"/>
                </a:cubicBezTo>
                <a:cubicBezTo>
                  <a:pt x="113393" y="120921"/>
                  <a:pt x="109582" y="124732"/>
                  <a:pt x="104888" y="124732"/>
                </a:cubicBezTo>
                <a:close/>
                <a:moveTo>
                  <a:pt x="22678" y="150246"/>
                </a:moveTo>
                <a:cubicBezTo>
                  <a:pt x="22678" y="145533"/>
                  <a:pt x="26471" y="141741"/>
                  <a:pt x="31184" y="141741"/>
                </a:cubicBezTo>
                <a:lnTo>
                  <a:pt x="70871" y="141741"/>
                </a:lnTo>
                <a:cubicBezTo>
                  <a:pt x="75583" y="141741"/>
                  <a:pt x="79375" y="145533"/>
                  <a:pt x="79375" y="150246"/>
                </a:cubicBezTo>
                <a:cubicBezTo>
                  <a:pt x="79375" y="154958"/>
                  <a:pt x="75583" y="158750"/>
                  <a:pt x="70871" y="158750"/>
                </a:cubicBezTo>
                <a:lnTo>
                  <a:pt x="31184" y="158750"/>
                </a:lnTo>
                <a:cubicBezTo>
                  <a:pt x="26471" y="158750"/>
                  <a:pt x="22678" y="154958"/>
                  <a:pt x="22678" y="150246"/>
                </a:cubicBezTo>
                <a:close/>
                <a:moveTo>
                  <a:pt x="104888" y="141741"/>
                </a:moveTo>
                <a:cubicBezTo>
                  <a:pt x="109601" y="141741"/>
                  <a:pt x="113393" y="145533"/>
                  <a:pt x="113393" y="150246"/>
                </a:cubicBezTo>
                <a:cubicBezTo>
                  <a:pt x="113393" y="154958"/>
                  <a:pt x="109601" y="158750"/>
                  <a:pt x="104888" y="158750"/>
                </a:cubicBezTo>
                <a:cubicBezTo>
                  <a:pt x="100176" y="158750"/>
                  <a:pt x="96384" y="154958"/>
                  <a:pt x="96384" y="150246"/>
                </a:cubicBezTo>
                <a:cubicBezTo>
                  <a:pt x="96384" y="145533"/>
                  <a:pt x="100176" y="141741"/>
                  <a:pt x="104888" y="14174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187945" y="2723370"/>
            <a:ext cx="671286"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2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a:t>
            </a:r>
            <a:endParaRPr lang="en-US" sz="1100"/>
          </a:p>
        </p:txBody>
      </p:sp>
      <p:sp>
        <p:nvSpPr>
          <p:cNvPr id="12" name="AutoShape 12"/>
          <p:cNvSpPr/>
          <p:nvPr/>
        </p:nvSpPr>
        <p:spPr>
          <a:xfrm>
            <a:off x="852350" y="3049938"/>
            <a:ext cx="4726214" cy="535214"/>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77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Mesure le nombre d'opérations en virgule flottante qu'un processeur peut exécuter par seconde ; c'est l'indicateur clé pour évaluer les performances des tâches à forte intensité de calcul.</a:t>
            </a:r>
            <a:endParaRPr lang="en-US" sz="1100"/>
          </a:p>
        </p:txBody>
      </p:sp>
      <p:sp>
        <p:nvSpPr>
          <p:cNvPr id="13" name="Freeform 13"/>
          <p:cNvSpPr/>
          <p:nvPr/>
        </p:nvSpPr>
        <p:spPr>
          <a:xfrm>
            <a:off x="616609" y="4088597"/>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7"/>
                  <a:pt x="0" y="1252038"/>
                </a:cubicBezTo>
                <a:lnTo>
                  <a:pt x="0" y="36105"/>
                </a:lnTo>
                <a:cubicBezTo>
                  <a:pt x="0" y="16165"/>
                  <a:pt x="16165" y="0"/>
                  <a:pt x="36105"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4" name="Freeform 14"/>
          <p:cNvSpPr/>
          <p:nvPr/>
        </p:nvSpPr>
        <p:spPr>
          <a:xfrm>
            <a:off x="616609" y="4088597"/>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7"/>
                  <a:pt x="0" y="1252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75029" y="4353871"/>
            <a:ext cx="181428" cy="158750"/>
          </a:xfrm>
          <a:custGeom>
            <a:avLst/>
            <a:gdLst/>
            <a:ahLst/>
            <a:cxnLst/>
            <a:rect l="l" t="t" r="r" b="b"/>
            <a:pathLst>
              <a:path w="181428" h="158750">
                <a:moveTo>
                  <a:pt x="22678" y="11339"/>
                </a:moveTo>
                <a:cubicBezTo>
                  <a:pt x="22678" y="5068"/>
                  <a:pt x="17611" y="0"/>
                  <a:pt x="11339" y="0"/>
                </a:cubicBezTo>
                <a:cubicBezTo>
                  <a:pt x="5067" y="0"/>
                  <a:pt x="0" y="5068"/>
                  <a:pt x="0" y="11339"/>
                </a:cubicBezTo>
                <a:lnTo>
                  <a:pt x="0" y="130402"/>
                </a:lnTo>
                <a:cubicBezTo>
                  <a:pt x="0" y="146064"/>
                  <a:pt x="12686" y="158750"/>
                  <a:pt x="28348" y="158750"/>
                </a:cubicBezTo>
                <a:lnTo>
                  <a:pt x="170089" y="158750"/>
                </a:lnTo>
                <a:cubicBezTo>
                  <a:pt x="176361" y="158750"/>
                  <a:pt x="181428" y="153684"/>
                  <a:pt x="181428" y="147411"/>
                </a:cubicBezTo>
                <a:cubicBezTo>
                  <a:pt x="181428" y="141138"/>
                  <a:pt x="176361" y="136072"/>
                  <a:pt x="170089" y="136072"/>
                </a:cubicBezTo>
                <a:lnTo>
                  <a:pt x="28348" y="136072"/>
                </a:lnTo>
                <a:cubicBezTo>
                  <a:pt x="25230" y="136072"/>
                  <a:pt x="22678" y="133520"/>
                  <a:pt x="22678" y="130402"/>
                </a:cubicBezTo>
                <a:lnTo>
                  <a:pt x="22678" y="11339"/>
                </a:lnTo>
                <a:close/>
                <a:moveTo>
                  <a:pt x="166759" y="42026"/>
                </a:moveTo>
                <a:cubicBezTo>
                  <a:pt x="171188" y="37597"/>
                  <a:pt x="171188" y="30405"/>
                  <a:pt x="166759" y="25974"/>
                </a:cubicBezTo>
                <a:cubicBezTo>
                  <a:pt x="162329" y="21545"/>
                  <a:pt x="155136" y="21545"/>
                  <a:pt x="150706" y="25974"/>
                </a:cubicBezTo>
                <a:lnTo>
                  <a:pt x="113393" y="63323"/>
                </a:lnTo>
                <a:lnTo>
                  <a:pt x="93053" y="43020"/>
                </a:lnTo>
                <a:cubicBezTo>
                  <a:pt x="88624" y="38589"/>
                  <a:pt x="81430" y="38589"/>
                  <a:pt x="77001" y="43020"/>
                </a:cubicBezTo>
                <a:lnTo>
                  <a:pt x="42983" y="77036"/>
                </a:lnTo>
                <a:cubicBezTo>
                  <a:pt x="38553" y="81466"/>
                  <a:pt x="38553" y="88660"/>
                  <a:pt x="42983" y="93089"/>
                </a:cubicBezTo>
                <a:cubicBezTo>
                  <a:pt x="47412" y="97518"/>
                  <a:pt x="54606" y="97518"/>
                  <a:pt x="59035" y="93089"/>
                </a:cubicBezTo>
                <a:lnTo>
                  <a:pt x="85046" y="67078"/>
                </a:lnTo>
                <a:lnTo>
                  <a:pt x="105385" y="87419"/>
                </a:lnTo>
                <a:cubicBezTo>
                  <a:pt x="109814" y="91849"/>
                  <a:pt x="117006" y="91849"/>
                  <a:pt x="121437" y="87419"/>
                </a:cubicBezTo>
                <a:lnTo>
                  <a:pt x="166794" y="4206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1187945" y="4306286"/>
            <a:ext cx="1034143"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2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a:t>
            </a:r>
            <a:endParaRPr lang="en-US" sz="1100"/>
          </a:p>
        </p:txBody>
      </p:sp>
      <p:sp>
        <p:nvSpPr>
          <p:cNvPr id="17" name="AutoShape 17"/>
          <p:cNvSpPr/>
          <p:nvPr/>
        </p:nvSpPr>
        <p:spPr>
          <a:xfrm>
            <a:off x="852350" y="4632854"/>
            <a:ext cx="4726214" cy="535214"/>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805"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Reflète l'efficacité d'utilisation réelle des ressources matérielles, permettant d'identifier si les unités de calcul sont pleinement exploitées.</a:t>
            </a:r>
            <a:endParaRPr lang="en-US" sz="1100"/>
          </a:p>
        </p:txBody>
      </p:sp>
      <p:sp>
        <p:nvSpPr>
          <p:cNvPr id="18" name="Freeform 18"/>
          <p:cNvSpPr/>
          <p:nvPr/>
        </p:nvSpPr>
        <p:spPr>
          <a:xfrm>
            <a:off x="6250146" y="1194893"/>
            <a:ext cx="5569767" cy="4698910"/>
          </a:xfrm>
          <a:custGeom>
            <a:avLst/>
            <a:gdLst/>
            <a:ahLst/>
            <a:cxnLst/>
            <a:rect l="l" t="t" r="r" b="b"/>
            <a:pathLst>
              <a:path w="5569767" h="4698910">
                <a:moveTo>
                  <a:pt x="108875" y="0"/>
                </a:moveTo>
                <a:lnTo>
                  <a:pt x="5460893" y="0"/>
                </a:lnTo>
                <a:cubicBezTo>
                  <a:pt x="5521021" y="0"/>
                  <a:pt x="5569767" y="48744"/>
                  <a:pt x="5569767" y="108875"/>
                </a:cubicBezTo>
                <a:lnTo>
                  <a:pt x="5569767" y="4590037"/>
                </a:lnTo>
                <a:cubicBezTo>
                  <a:pt x="5569767" y="4650165"/>
                  <a:pt x="5521021" y="4698910"/>
                  <a:pt x="5460893" y="4698910"/>
                </a:cubicBezTo>
                <a:lnTo>
                  <a:pt x="108875" y="4698910"/>
                </a:lnTo>
                <a:cubicBezTo>
                  <a:pt x="48744" y="4698910"/>
                  <a:pt x="0" y="4650165"/>
                  <a:pt x="0" y="4590037"/>
                </a:cubicBezTo>
                <a:lnTo>
                  <a:pt x="0" y="108875"/>
                </a:lnTo>
                <a:cubicBezTo>
                  <a:pt x="0" y="48785"/>
                  <a:pt x="48785" y="0"/>
                  <a:pt x="108875"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9" name="Freeform 19"/>
          <p:cNvSpPr/>
          <p:nvPr/>
        </p:nvSpPr>
        <p:spPr>
          <a:xfrm>
            <a:off x="6476862" y="1421608"/>
            <a:ext cx="580572" cy="580572"/>
          </a:xfrm>
          <a:custGeom>
            <a:avLst/>
            <a:gdLst/>
            <a:ahLst/>
            <a:cxnLst/>
            <a:rect l="l" t="t" r="r" b="b"/>
            <a:pathLst>
              <a:path w="580572" h="580572">
                <a:moveTo>
                  <a:pt x="108857" y="0"/>
                </a:moveTo>
                <a:lnTo>
                  <a:pt x="471714" y="0"/>
                </a:lnTo>
                <a:cubicBezTo>
                  <a:pt x="531834" y="0"/>
                  <a:pt x="580572" y="48738"/>
                  <a:pt x="580572" y="108857"/>
                </a:cubicBezTo>
                <a:lnTo>
                  <a:pt x="580572" y="471714"/>
                </a:lnTo>
                <a:cubicBezTo>
                  <a:pt x="580572" y="531834"/>
                  <a:pt x="531834" y="580572"/>
                  <a:pt x="471714" y="580572"/>
                </a:cubicBezTo>
                <a:lnTo>
                  <a:pt x="108857" y="580572"/>
                </a:lnTo>
                <a:cubicBezTo>
                  <a:pt x="48738" y="580572"/>
                  <a:pt x="0" y="531834"/>
                  <a:pt x="0" y="471714"/>
                </a:cubicBezTo>
                <a:lnTo>
                  <a:pt x="0" y="108857"/>
                </a:lnTo>
                <a:cubicBezTo>
                  <a:pt x="0" y="48777"/>
                  <a:pt x="48777" y="0"/>
                  <a:pt x="108857" y="0"/>
                </a:cubicBezTo>
                <a:close/>
              </a:path>
            </a:pathLst>
          </a:custGeom>
          <a:solidFill>
            <a:srgbClr val="8B0000">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nvSpPr>
        <p:spPr>
          <a:xfrm>
            <a:off x="6650319" y="1575760"/>
            <a:ext cx="238125" cy="272143"/>
          </a:xfrm>
          <a:custGeom>
            <a:avLst/>
            <a:gdLst/>
            <a:ahLst/>
            <a:cxnLst/>
            <a:rect l="l" t="t" r="r" b="b"/>
            <a:pathLst>
              <a:path w="238125" h="272143">
                <a:moveTo>
                  <a:pt x="238125" y="109389"/>
                </a:moveTo>
                <a:cubicBezTo>
                  <a:pt x="230259" y="114598"/>
                  <a:pt x="221223" y="118797"/>
                  <a:pt x="211814" y="122145"/>
                </a:cubicBezTo>
                <a:cubicBezTo>
                  <a:pt x="186832" y="131075"/>
                  <a:pt x="154037" y="136072"/>
                  <a:pt x="119063" y="136072"/>
                </a:cubicBezTo>
                <a:cubicBezTo>
                  <a:pt x="84088" y="136072"/>
                  <a:pt x="51239" y="131022"/>
                  <a:pt x="26311" y="122145"/>
                </a:cubicBezTo>
                <a:cubicBezTo>
                  <a:pt x="16956" y="118797"/>
                  <a:pt x="7866" y="114598"/>
                  <a:pt x="0" y="109389"/>
                </a:cubicBezTo>
                <a:lnTo>
                  <a:pt x="0" y="153079"/>
                </a:lnTo>
                <a:cubicBezTo>
                  <a:pt x="0" y="176574"/>
                  <a:pt x="53312" y="195603"/>
                  <a:pt x="119063" y="195603"/>
                </a:cubicBezTo>
                <a:cubicBezTo>
                  <a:pt x="184813" y="195603"/>
                  <a:pt x="238125" y="176574"/>
                  <a:pt x="238125" y="153079"/>
                </a:cubicBezTo>
                <a:lnTo>
                  <a:pt x="238125" y="109389"/>
                </a:lnTo>
                <a:close/>
                <a:moveTo>
                  <a:pt x="238125" y="68036"/>
                </a:moveTo>
                <a:lnTo>
                  <a:pt x="238125" y="42522"/>
                </a:lnTo>
                <a:cubicBezTo>
                  <a:pt x="238125" y="19028"/>
                  <a:pt x="184813" y="0"/>
                  <a:pt x="119063" y="0"/>
                </a:cubicBezTo>
                <a:cubicBezTo>
                  <a:pt x="53312" y="0"/>
                  <a:pt x="0" y="19028"/>
                  <a:pt x="0" y="42522"/>
                </a:cubicBezTo>
                <a:lnTo>
                  <a:pt x="0" y="68036"/>
                </a:lnTo>
                <a:cubicBezTo>
                  <a:pt x="0" y="91529"/>
                  <a:pt x="53312" y="110559"/>
                  <a:pt x="119063" y="110559"/>
                </a:cubicBezTo>
                <a:cubicBezTo>
                  <a:pt x="184813" y="110559"/>
                  <a:pt x="238125" y="91529"/>
                  <a:pt x="238125" y="68036"/>
                </a:cubicBezTo>
                <a:close/>
                <a:moveTo>
                  <a:pt x="211814" y="207190"/>
                </a:moveTo>
                <a:cubicBezTo>
                  <a:pt x="186886" y="216066"/>
                  <a:pt x="154090" y="221116"/>
                  <a:pt x="119063" y="221116"/>
                </a:cubicBezTo>
                <a:cubicBezTo>
                  <a:pt x="84035" y="221116"/>
                  <a:pt x="51239" y="216066"/>
                  <a:pt x="26311" y="207190"/>
                </a:cubicBezTo>
                <a:cubicBezTo>
                  <a:pt x="16956" y="203841"/>
                  <a:pt x="7866" y="199641"/>
                  <a:pt x="0" y="194433"/>
                </a:cubicBezTo>
                <a:lnTo>
                  <a:pt x="0" y="229621"/>
                </a:lnTo>
                <a:cubicBezTo>
                  <a:pt x="0" y="253114"/>
                  <a:pt x="53312" y="272143"/>
                  <a:pt x="119063" y="272143"/>
                </a:cubicBezTo>
                <a:cubicBezTo>
                  <a:pt x="184813" y="272143"/>
                  <a:pt x="238125" y="253114"/>
                  <a:pt x="238125" y="229621"/>
                </a:cubicBezTo>
                <a:lnTo>
                  <a:pt x="238125" y="194433"/>
                </a:lnTo>
                <a:cubicBezTo>
                  <a:pt x="230259" y="199641"/>
                  <a:pt x="221223" y="203841"/>
                  <a:pt x="211814" y="20719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202491" y="1439731"/>
            <a:ext cx="1533071" cy="290286"/>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5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Capacité d'accès aux données</a:t>
            </a:r>
            <a:endParaRPr lang="en-US" sz="1100"/>
          </a:p>
        </p:txBody>
      </p:sp>
      <p:sp>
        <p:nvSpPr>
          <p:cNvPr id="22" name="AutoShape 22"/>
          <p:cNvSpPr/>
          <p:nvPr/>
        </p:nvSpPr>
        <p:spPr>
          <a:xfrm>
            <a:off x="7202491" y="1729912"/>
            <a:ext cx="1514929"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2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Memory Bound</a:t>
            </a:r>
            <a:endParaRPr lang="en-US" sz="1100"/>
          </a:p>
        </p:txBody>
      </p:sp>
      <p:sp>
        <p:nvSpPr>
          <p:cNvPr id="23" name="Freeform 23"/>
          <p:cNvSpPr/>
          <p:nvPr/>
        </p:nvSpPr>
        <p:spPr>
          <a:xfrm>
            <a:off x="6494914" y="2505681"/>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7"/>
                  <a:pt x="0" y="1252038"/>
                </a:cubicBezTo>
                <a:lnTo>
                  <a:pt x="0" y="36105"/>
                </a:lnTo>
                <a:cubicBezTo>
                  <a:pt x="0" y="16165"/>
                  <a:pt x="16165" y="0"/>
                  <a:pt x="36105"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4" name="Freeform 24"/>
          <p:cNvSpPr/>
          <p:nvPr/>
        </p:nvSpPr>
        <p:spPr>
          <a:xfrm>
            <a:off x="6494914" y="2505681"/>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7"/>
                  <a:pt x="0" y="1252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753334" y="2759615"/>
            <a:ext cx="181428" cy="181428"/>
          </a:xfrm>
          <a:custGeom>
            <a:avLst/>
            <a:gdLst/>
            <a:ahLst/>
            <a:cxnLst/>
            <a:rect l="l" t="t" r="r" b="b"/>
            <a:pathLst>
              <a:path w="181428" h="181428">
                <a:moveTo>
                  <a:pt x="0" y="90714"/>
                </a:moveTo>
                <a:cubicBezTo>
                  <a:pt x="0" y="40648"/>
                  <a:pt x="40648" y="0"/>
                  <a:pt x="90714" y="0"/>
                </a:cubicBezTo>
                <a:cubicBezTo>
                  <a:pt x="140781" y="0"/>
                  <a:pt x="181428" y="40648"/>
                  <a:pt x="181428" y="90714"/>
                </a:cubicBezTo>
                <a:cubicBezTo>
                  <a:pt x="181428" y="140781"/>
                  <a:pt x="140781" y="181428"/>
                  <a:pt x="90714" y="181428"/>
                </a:cubicBezTo>
                <a:cubicBezTo>
                  <a:pt x="40648" y="181428"/>
                  <a:pt x="0" y="140781"/>
                  <a:pt x="0" y="90714"/>
                </a:cubicBezTo>
                <a:close/>
                <a:moveTo>
                  <a:pt x="102053" y="34018"/>
                </a:moveTo>
                <a:cubicBezTo>
                  <a:pt x="102053" y="27760"/>
                  <a:pt x="96973" y="22678"/>
                  <a:pt x="90714" y="22678"/>
                </a:cubicBezTo>
                <a:cubicBezTo>
                  <a:pt x="84456" y="22678"/>
                  <a:pt x="79375" y="27760"/>
                  <a:pt x="79375" y="34018"/>
                </a:cubicBezTo>
                <a:cubicBezTo>
                  <a:pt x="79375" y="40276"/>
                  <a:pt x="84456" y="45357"/>
                  <a:pt x="90714" y="45357"/>
                </a:cubicBezTo>
                <a:cubicBezTo>
                  <a:pt x="96973" y="45357"/>
                  <a:pt x="102053" y="40276"/>
                  <a:pt x="102053" y="34018"/>
                </a:cubicBezTo>
                <a:close/>
                <a:moveTo>
                  <a:pt x="90714" y="147411"/>
                </a:moveTo>
                <a:cubicBezTo>
                  <a:pt x="103223" y="147411"/>
                  <a:pt x="113393" y="137241"/>
                  <a:pt x="113393" y="124732"/>
                </a:cubicBezTo>
                <a:cubicBezTo>
                  <a:pt x="113393" y="118991"/>
                  <a:pt x="111267" y="113712"/>
                  <a:pt x="107723" y="109743"/>
                </a:cubicBezTo>
                <a:lnTo>
                  <a:pt x="132351" y="60523"/>
                </a:lnTo>
                <a:cubicBezTo>
                  <a:pt x="134441" y="56307"/>
                  <a:pt x="132740" y="51204"/>
                  <a:pt x="128560" y="49113"/>
                </a:cubicBezTo>
                <a:cubicBezTo>
                  <a:pt x="124377" y="47023"/>
                  <a:pt x="119240" y="48724"/>
                  <a:pt x="117149" y="52904"/>
                </a:cubicBezTo>
                <a:lnTo>
                  <a:pt x="92521" y="102125"/>
                </a:lnTo>
                <a:cubicBezTo>
                  <a:pt x="91919" y="102089"/>
                  <a:pt x="91317" y="102053"/>
                  <a:pt x="90714" y="102053"/>
                </a:cubicBezTo>
                <a:cubicBezTo>
                  <a:pt x="78207" y="102053"/>
                  <a:pt x="68036" y="112224"/>
                  <a:pt x="68036" y="124732"/>
                </a:cubicBezTo>
                <a:cubicBezTo>
                  <a:pt x="68036" y="137241"/>
                  <a:pt x="78207" y="147411"/>
                  <a:pt x="90714" y="147411"/>
                </a:cubicBezTo>
                <a:close/>
                <a:moveTo>
                  <a:pt x="62366" y="51027"/>
                </a:moveTo>
                <a:cubicBezTo>
                  <a:pt x="62366" y="44767"/>
                  <a:pt x="57285" y="39687"/>
                  <a:pt x="51027" y="39687"/>
                </a:cubicBezTo>
                <a:cubicBezTo>
                  <a:pt x="44768" y="39687"/>
                  <a:pt x="39688" y="44767"/>
                  <a:pt x="39688" y="51027"/>
                </a:cubicBezTo>
                <a:cubicBezTo>
                  <a:pt x="39688" y="57285"/>
                  <a:pt x="44768" y="62366"/>
                  <a:pt x="51027" y="62366"/>
                </a:cubicBezTo>
                <a:cubicBezTo>
                  <a:pt x="57285" y="62366"/>
                  <a:pt x="62366" y="57285"/>
                  <a:pt x="62366" y="51027"/>
                </a:cubicBezTo>
                <a:close/>
                <a:moveTo>
                  <a:pt x="34018" y="102053"/>
                </a:moveTo>
                <a:cubicBezTo>
                  <a:pt x="40276" y="102053"/>
                  <a:pt x="45357" y="96973"/>
                  <a:pt x="45357" y="90714"/>
                </a:cubicBezTo>
                <a:cubicBezTo>
                  <a:pt x="45357" y="84456"/>
                  <a:pt x="40276" y="79375"/>
                  <a:pt x="34018" y="79375"/>
                </a:cubicBezTo>
                <a:cubicBezTo>
                  <a:pt x="27760" y="79375"/>
                  <a:pt x="22678" y="84456"/>
                  <a:pt x="22678" y="90714"/>
                </a:cubicBezTo>
                <a:cubicBezTo>
                  <a:pt x="22678" y="96973"/>
                  <a:pt x="27760" y="102053"/>
                  <a:pt x="34018" y="102053"/>
                </a:cubicBezTo>
                <a:close/>
                <a:moveTo>
                  <a:pt x="158750" y="90714"/>
                </a:moveTo>
                <a:cubicBezTo>
                  <a:pt x="158750" y="84456"/>
                  <a:pt x="153669" y="79375"/>
                  <a:pt x="147411" y="79375"/>
                </a:cubicBezTo>
                <a:cubicBezTo>
                  <a:pt x="141152" y="79375"/>
                  <a:pt x="136072" y="84456"/>
                  <a:pt x="136072" y="90714"/>
                </a:cubicBezTo>
                <a:cubicBezTo>
                  <a:pt x="136072" y="96973"/>
                  <a:pt x="141152" y="102053"/>
                  <a:pt x="147411" y="102053"/>
                </a:cubicBezTo>
                <a:cubicBezTo>
                  <a:pt x="153669" y="102053"/>
                  <a:pt x="158750" y="96973"/>
                  <a:pt x="158750" y="9071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7066251" y="2723370"/>
            <a:ext cx="1079500"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2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a:t>
            </a:r>
            <a:endParaRPr lang="en-US" sz="1100"/>
          </a:p>
        </p:txBody>
      </p:sp>
      <p:sp>
        <p:nvSpPr>
          <p:cNvPr id="27" name="AutoShape 27"/>
          <p:cNvSpPr/>
          <p:nvPr/>
        </p:nvSpPr>
        <p:spPr>
          <a:xfrm>
            <a:off x="6730656" y="3049938"/>
            <a:ext cx="4726214" cy="535214"/>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8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Indique la quantité de données pouvant être transférées par unité de temps, déterminant la capacité de débit des applications à forte intensité de données.</a:t>
            </a:r>
            <a:endParaRPr lang="en-US" sz="1100"/>
          </a:p>
        </p:txBody>
      </p:sp>
      <p:sp>
        <p:nvSpPr>
          <p:cNvPr id="28" name="Freeform 28"/>
          <p:cNvSpPr/>
          <p:nvPr/>
        </p:nvSpPr>
        <p:spPr>
          <a:xfrm>
            <a:off x="6494914" y="4088597"/>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7"/>
                  <a:pt x="0" y="1252038"/>
                </a:cubicBezTo>
                <a:lnTo>
                  <a:pt x="0" y="36105"/>
                </a:lnTo>
                <a:cubicBezTo>
                  <a:pt x="0" y="16165"/>
                  <a:pt x="16165" y="0"/>
                  <a:pt x="36105"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9" name="Freeform 29"/>
          <p:cNvSpPr/>
          <p:nvPr/>
        </p:nvSpPr>
        <p:spPr>
          <a:xfrm>
            <a:off x="6494914" y="4088597"/>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7"/>
                  <a:pt x="0" y="1252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753334" y="4342532"/>
            <a:ext cx="181428" cy="181428"/>
          </a:xfrm>
          <a:custGeom>
            <a:avLst/>
            <a:gdLst/>
            <a:ahLst/>
            <a:cxnLst/>
            <a:rect l="l" t="t" r="r" b="b"/>
            <a:pathLst>
              <a:path w="181428" h="181428">
                <a:moveTo>
                  <a:pt x="90714" y="0"/>
                </a:moveTo>
                <a:cubicBezTo>
                  <a:pt x="140781" y="0"/>
                  <a:pt x="181428" y="40648"/>
                  <a:pt x="181428" y="90714"/>
                </a:cubicBezTo>
                <a:cubicBezTo>
                  <a:pt x="181428" y="140781"/>
                  <a:pt x="140781" y="181428"/>
                  <a:pt x="90714" y="181428"/>
                </a:cubicBezTo>
                <a:cubicBezTo>
                  <a:pt x="40648" y="181428"/>
                  <a:pt x="0" y="140781"/>
                  <a:pt x="0" y="90714"/>
                </a:cubicBezTo>
                <a:cubicBezTo>
                  <a:pt x="0" y="40648"/>
                  <a:pt x="40648" y="0"/>
                  <a:pt x="90714" y="0"/>
                </a:cubicBezTo>
                <a:close/>
                <a:moveTo>
                  <a:pt x="82210" y="42522"/>
                </a:moveTo>
                <a:lnTo>
                  <a:pt x="82210" y="90714"/>
                </a:lnTo>
                <a:cubicBezTo>
                  <a:pt x="82210" y="93549"/>
                  <a:pt x="83627" y="96208"/>
                  <a:pt x="86001" y="97801"/>
                </a:cubicBezTo>
                <a:lnTo>
                  <a:pt x="120019" y="120480"/>
                </a:lnTo>
                <a:cubicBezTo>
                  <a:pt x="123916" y="123102"/>
                  <a:pt x="129197" y="122039"/>
                  <a:pt x="131818" y="118106"/>
                </a:cubicBezTo>
                <a:cubicBezTo>
                  <a:pt x="134441" y="114172"/>
                  <a:pt x="133378" y="108928"/>
                  <a:pt x="129445" y="106307"/>
                </a:cubicBezTo>
                <a:lnTo>
                  <a:pt x="99219" y="86178"/>
                </a:lnTo>
                <a:lnTo>
                  <a:pt x="99219" y="42522"/>
                </a:lnTo>
                <a:cubicBezTo>
                  <a:pt x="99219" y="37809"/>
                  <a:pt x="95427" y="34018"/>
                  <a:pt x="90714" y="34018"/>
                </a:cubicBezTo>
                <a:cubicBezTo>
                  <a:pt x="86001" y="34018"/>
                  <a:pt x="82210" y="37809"/>
                  <a:pt x="82210" y="4252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7066251" y="4306286"/>
            <a:ext cx="789214"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2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Latency</a:t>
            </a:r>
            <a:endParaRPr lang="en-US" sz="1100"/>
          </a:p>
        </p:txBody>
      </p:sp>
      <p:sp>
        <p:nvSpPr>
          <p:cNvPr id="32" name="AutoShape 32"/>
          <p:cNvSpPr/>
          <p:nvPr/>
        </p:nvSpPr>
        <p:spPr>
          <a:xfrm>
            <a:off x="6730656" y="4632854"/>
            <a:ext cx="4726214" cy="535214"/>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805"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Indique le temps nécessaire pour effectuer un accès aux données, affectant directement la vitesse de réponse du programme et la capacité temps réel.</a:t>
            </a:r>
            <a:endParaRPr lang="en-US" sz="1100"/>
          </a:p>
        </p:txBody>
      </p:sp>
      <p:sp>
        <p:nvSpPr>
          <p:cNvPr id="33" name="Freeform 33"/>
          <p:cNvSpPr/>
          <p:nvPr/>
        </p:nvSpPr>
        <p:spPr>
          <a:xfrm>
            <a:off x="380867" y="5950657"/>
            <a:ext cx="11448053" cy="544286"/>
          </a:xfrm>
          <a:custGeom>
            <a:avLst/>
            <a:gdLst/>
            <a:ahLst/>
            <a:cxnLst/>
            <a:rect l="l" t="t" r="r" b="b"/>
            <a:pathLst>
              <a:path w="11448053" h="544286">
                <a:moveTo>
                  <a:pt x="36105" y="0"/>
                </a:moveTo>
                <a:lnTo>
                  <a:pt x="11375483" y="0"/>
                </a:lnTo>
                <a:cubicBezTo>
                  <a:pt x="11415561" y="0"/>
                  <a:pt x="11448053" y="32490"/>
                  <a:pt x="11448053" y="72570"/>
                </a:cubicBezTo>
                <a:lnTo>
                  <a:pt x="11448053" y="471716"/>
                </a:lnTo>
                <a:cubicBezTo>
                  <a:pt x="11448053" y="511795"/>
                  <a:pt x="11415561" y="544286"/>
                  <a:pt x="11375483" y="544286"/>
                </a:cubicBezTo>
                <a:lnTo>
                  <a:pt x="36105" y="544286"/>
                </a:lnTo>
                <a:cubicBezTo>
                  <a:pt x="16165" y="544286"/>
                  <a:pt x="0" y="528121"/>
                  <a:pt x="0" y="508182"/>
                </a:cubicBezTo>
                <a:lnTo>
                  <a:pt x="0" y="36105"/>
                </a:lnTo>
                <a:cubicBezTo>
                  <a:pt x="0" y="16165"/>
                  <a:pt x="16165" y="0"/>
                  <a:pt x="36105"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380867" y="5950657"/>
            <a:ext cx="36105" cy="544286"/>
          </a:xfrm>
          <a:custGeom>
            <a:avLst/>
            <a:gdLst/>
            <a:ahLst/>
            <a:cxnLst/>
            <a:rect l="l" t="t" r="r" b="b"/>
            <a:pathLst>
              <a:path w="36105" h="544286">
                <a:moveTo>
                  <a:pt x="36105" y="0"/>
                </a:moveTo>
                <a:lnTo>
                  <a:pt x="36105" y="0"/>
                </a:lnTo>
                <a:lnTo>
                  <a:pt x="36105" y="544286"/>
                </a:lnTo>
                <a:lnTo>
                  <a:pt x="36105" y="544286"/>
                </a:lnTo>
                <a:cubicBezTo>
                  <a:pt x="16165" y="544286"/>
                  <a:pt x="0" y="528121"/>
                  <a:pt x="0" y="508182"/>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544046" y="6095783"/>
            <a:ext cx="11221357" cy="2540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2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Roofline Model</a:t>
            </a:r>
            <a:r>
              <a:rPr lang="en-US" sz="82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Permet d'analyser de manière unifiée les deux types de goulots d'étranglement, aidant à déterminer si le programme est limité par le calcul ou par la mémoire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09202" y="619758"/>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Qu'est-ce que les FLOPS</a:t>
            </a:r>
            <a:endParaRPr lang="en-US" sz="1100"/>
          </a:p>
        </p:txBody>
      </p:sp>
      <p:sp>
        <p:nvSpPr>
          <p:cNvPr id="3" name="Freeform 3"/>
          <p:cNvSpPr/>
          <p:nvPr/>
        </p:nvSpPr>
        <p:spPr>
          <a:xfrm>
            <a:off x="380956" y="1153721"/>
            <a:ext cx="5543455" cy="1409700"/>
          </a:xfrm>
          <a:custGeom>
            <a:avLst/>
            <a:gdLst/>
            <a:ahLst/>
            <a:cxnLst/>
            <a:rect l="l" t="t" r="r" b="b"/>
            <a:pathLst>
              <a:path w="5543455" h="1409700">
                <a:moveTo>
                  <a:pt x="37910" y="0"/>
                </a:moveTo>
                <a:lnTo>
                  <a:pt x="5429157" y="0"/>
                </a:lnTo>
                <a:cubicBezTo>
                  <a:pt x="5492281" y="0"/>
                  <a:pt x="5543455" y="51173"/>
                  <a:pt x="5543455" y="114297"/>
                </a:cubicBezTo>
                <a:lnTo>
                  <a:pt x="5543455" y="1295403"/>
                </a:lnTo>
                <a:cubicBezTo>
                  <a:pt x="5543455" y="1358527"/>
                  <a:pt x="5492281" y="1409700"/>
                  <a:pt x="5429157" y="1409700"/>
                </a:cubicBezTo>
                <a:lnTo>
                  <a:pt x="37910" y="1409700"/>
                </a:lnTo>
                <a:cubicBezTo>
                  <a:pt x="16974" y="1409700"/>
                  <a:pt x="0" y="1392726"/>
                  <a:pt x="0" y="1371790"/>
                </a:cubicBezTo>
                <a:lnTo>
                  <a:pt x="0" y="37909"/>
                </a:lnTo>
                <a:cubicBezTo>
                  <a:pt x="0" y="16988"/>
                  <a:pt x="16988" y="0"/>
                  <a:pt x="37910"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0956" y="1153721"/>
            <a:ext cx="37909" cy="1409700"/>
          </a:xfrm>
          <a:custGeom>
            <a:avLst/>
            <a:gdLst/>
            <a:ahLst/>
            <a:cxnLst/>
            <a:rect l="l" t="t" r="r" b="b"/>
            <a:pathLst>
              <a:path w="37909" h="1409700">
                <a:moveTo>
                  <a:pt x="37910" y="0"/>
                </a:moveTo>
                <a:lnTo>
                  <a:pt x="37910" y="0"/>
                </a:lnTo>
                <a:lnTo>
                  <a:pt x="37910" y="1409700"/>
                </a:lnTo>
                <a:lnTo>
                  <a:pt x="37910" y="1409700"/>
                </a:lnTo>
                <a:cubicBezTo>
                  <a:pt x="16974" y="1409700"/>
                  <a:pt x="0" y="1392726"/>
                  <a:pt x="0" y="1371790"/>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28484" y="1382294"/>
            <a:ext cx="5181600" cy="6096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 = Floating Point Operations Per Second</a:t>
            </a:r>
            <a:endParaRPr lang="en-US" sz="1100"/>
          </a:p>
        </p:txBody>
      </p:sp>
      <p:sp>
        <p:nvSpPr>
          <p:cNvPr id="6" name="AutoShape 6"/>
          <p:cNvSpPr/>
          <p:nvPr/>
        </p:nvSpPr>
        <p:spPr>
          <a:xfrm>
            <a:off x="628484" y="2067866"/>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55"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Indique combien d'opérations en virgule flottante peuvent être exécutées par seconde</a:t>
            </a:r>
            <a:endParaRPr lang="en-US" sz="1100"/>
          </a:p>
        </p:txBody>
      </p:sp>
      <p:sp>
        <p:nvSpPr>
          <p:cNvPr id="7" name="AutoShape 7"/>
          <p:cNvSpPr/>
          <p:nvPr/>
        </p:nvSpPr>
        <p:spPr>
          <a:xfrm>
            <a:off x="380956" y="2628483"/>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Unités courantes</a:t>
            </a:r>
            <a:endParaRPr lang="en-US" sz="1100"/>
          </a:p>
        </p:txBody>
      </p:sp>
      <p:sp>
        <p:nvSpPr>
          <p:cNvPr id="8" name="Freeform 8"/>
          <p:cNvSpPr/>
          <p:nvPr/>
        </p:nvSpPr>
        <p:spPr>
          <a:xfrm>
            <a:off x="380956" y="3085556"/>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47580" y="3199805"/>
            <a:ext cx="857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MFLOPS</a:t>
            </a:r>
            <a:endParaRPr lang="en-US" sz="1100"/>
          </a:p>
        </p:txBody>
      </p:sp>
      <p:sp>
        <p:nvSpPr>
          <p:cNvPr id="10" name="AutoShape 10"/>
          <p:cNvSpPr/>
          <p:nvPr/>
        </p:nvSpPr>
        <p:spPr>
          <a:xfrm>
            <a:off x="1409573" y="3199805"/>
            <a:ext cx="5238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10⁶</a:t>
            </a:r>
            <a:endParaRPr lang="en-US" sz="1100"/>
          </a:p>
        </p:txBody>
      </p:sp>
      <p:sp>
        <p:nvSpPr>
          <p:cNvPr id="11" name="Freeform 11"/>
          <p:cNvSpPr/>
          <p:nvPr/>
        </p:nvSpPr>
        <p:spPr>
          <a:xfrm>
            <a:off x="380956" y="3695011"/>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447580" y="3809261"/>
            <a:ext cx="857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GFLOPS</a:t>
            </a:r>
            <a:endParaRPr lang="en-US" sz="1100"/>
          </a:p>
        </p:txBody>
      </p:sp>
      <p:sp>
        <p:nvSpPr>
          <p:cNvPr id="13" name="AutoShape 13"/>
          <p:cNvSpPr/>
          <p:nvPr/>
        </p:nvSpPr>
        <p:spPr>
          <a:xfrm>
            <a:off x="1409573" y="3809261"/>
            <a:ext cx="5238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10⁹</a:t>
            </a:r>
            <a:endParaRPr lang="en-US" sz="1100"/>
          </a:p>
        </p:txBody>
      </p:sp>
      <p:sp>
        <p:nvSpPr>
          <p:cNvPr id="14" name="Freeform 14"/>
          <p:cNvSpPr/>
          <p:nvPr/>
        </p:nvSpPr>
        <p:spPr>
          <a:xfrm>
            <a:off x="380956" y="4304465"/>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447580" y="4418714"/>
            <a:ext cx="857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TFLOPS</a:t>
            </a:r>
            <a:endParaRPr lang="en-US" sz="1100"/>
          </a:p>
        </p:txBody>
      </p:sp>
      <p:sp>
        <p:nvSpPr>
          <p:cNvPr id="16" name="AutoShape 16"/>
          <p:cNvSpPr/>
          <p:nvPr/>
        </p:nvSpPr>
        <p:spPr>
          <a:xfrm>
            <a:off x="1409573" y="4418714"/>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10¹²</a:t>
            </a:r>
            <a:endParaRPr lang="en-US" sz="1100"/>
          </a:p>
        </p:txBody>
      </p:sp>
      <p:sp>
        <p:nvSpPr>
          <p:cNvPr id="17" name="Freeform 17"/>
          <p:cNvSpPr/>
          <p:nvPr/>
        </p:nvSpPr>
        <p:spPr>
          <a:xfrm>
            <a:off x="380956" y="4913921"/>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447580" y="5028170"/>
            <a:ext cx="857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PFLOPS</a:t>
            </a:r>
            <a:endParaRPr lang="en-US" sz="1100"/>
          </a:p>
        </p:txBody>
      </p:sp>
      <p:sp>
        <p:nvSpPr>
          <p:cNvPr id="19" name="AutoShape 19"/>
          <p:cNvSpPr/>
          <p:nvPr/>
        </p:nvSpPr>
        <p:spPr>
          <a:xfrm>
            <a:off x="1409573" y="5028170"/>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10¹⁵</a:t>
            </a:r>
            <a:endParaRPr lang="en-US" sz="1100"/>
          </a:p>
        </p:txBody>
      </p:sp>
      <p:sp>
        <p:nvSpPr>
          <p:cNvPr id="20" name="Freeform 20"/>
          <p:cNvSpPr/>
          <p:nvPr/>
        </p:nvSpPr>
        <p:spPr>
          <a:xfrm>
            <a:off x="380956" y="5561507"/>
            <a:ext cx="5562600" cy="647700"/>
          </a:xfrm>
          <a:custGeom>
            <a:avLst/>
            <a:gdLst/>
            <a:ahLst/>
            <a:cxnLst/>
            <a:rect l="l" t="t" r="r" b="b"/>
            <a:pathLst>
              <a:path w="5562600" h="647700">
                <a:moveTo>
                  <a:pt x="114300" y="0"/>
                </a:moveTo>
                <a:lnTo>
                  <a:pt x="5448300" y="0"/>
                </a:lnTo>
                <a:cubicBezTo>
                  <a:pt x="5511427" y="0"/>
                  <a:pt x="5562600" y="51173"/>
                  <a:pt x="5562600" y="114300"/>
                </a:cubicBezTo>
                <a:lnTo>
                  <a:pt x="5562600" y="533400"/>
                </a:lnTo>
                <a:cubicBezTo>
                  <a:pt x="5562600" y="596527"/>
                  <a:pt x="5511427" y="647700"/>
                  <a:pt x="5448300" y="647700"/>
                </a:cubicBezTo>
                <a:lnTo>
                  <a:pt x="114300" y="647700"/>
                </a:lnTo>
                <a:cubicBezTo>
                  <a:pt x="51217" y="647700"/>
                  <a:pt x="0" y="596483"/>
                  <a:pt x="0" y="533400"/>
                </a:cubicBezTo>
                <a:lnTo>
                  <a:pt x="0" y="114300"/>
                </a:lnTo>
                <a:cubicBezTo>
                  <a:pt x="0" y="51217"/>
                  <a:pt x="51217" y="0"/>
                  <a:pt x="1143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71396" y="5751949"/>
            <a:ext cx="5276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Les FLOPS sont l'indicateur clé pour mesurer la capacité de calcul</a:t>
            </a:r>
            <a:endParaRPr lang="en-US" sz="1100"/>
          </a:p>
        </p:txBody>
      </p:sp>
      <p:sp>
        <p:nvSpPr>
          <p:cNvPr id="22" name="Freeform 22"/>
          <p:cNvSpPr/>
          <p:nvPr/>
        </p:nvSpPr>
        <p:spPr>
          <a:xfrm>
            <a:off x="6248338" y="990485"/>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6210238" y="5905367"/>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The FPS Review - GPU Performance Growth</a:t>
            </a:r>
            <a:endParaRPr lang="en-US" sz="1100"/>
          </a:p>
        </p:txBody>
      </p:sp>
      <p:pic>
        <p:nvPicPr>
          <p:cNvPr id="25" name="Picture 25"/>
          <p:cNvPicPr>
            <a:picLocks noChangeAspect="1"/>
          </p:cNvPicPr>
          <p:nvPr/>
        </p:nvPicPr>
        <p:blipFill>
          <a:blip r:embed="rId1"/>
          <a:stretch>
            <a:fillRect/>
          </a:stretch>
        </p:blipFill>
        <p:spPr>
          <a:xfrm>
            <a:off x="6248338" y="1440112"/>
            <a:ext cx="5257800" cy="40259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6213" y="599243"/>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Exemple de calcul de FLOPS</a:t>
            </a:r>
            <a:endParaRPr lang="en-US" sz="1100"/>
          </a:p>
        </p:txBody>
      </p:sp>
      <p:sp>
        <p:nvSpPr>
          <p:cNvPr id="3" name="AutoShape 3"/>
          <p:cNvSpPr/>
          <p:nvPr/>
        </p:nvSpPr>
        <p:spPr>
          <a:xfrm>
            <a:off x="380956" y="1189787"/>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Spécifications CPU supposées</a:t>
            </a:r>
            <a:endParaRPr lang="en-US" sz="1100"/>
          </a:p>
        </p:txBody>
      </p:sp>
      <p:sp>
        <p:nvSpPr>
          <p:cNvPr id="4" name="Freeform 4"/>
          <p:cNvSpPr/>
          <p:nvPr/>
        </p:nvSpPr>
        <p:spPr>
          <a:xfrm>
            <a:off x="380956" y="1652712"/>
            <a:ext cx="5562600" cy="876300"/>
          </a:xfrm>
          <a:custGeom>
            <a:avLst/>
            <a:gdLst/>
            <a:ahLst/>
            <a:cxnLst/>
            <a:rect l="l" t="t" r="r" b="b"/>
            <a:pathLst>
              <a:path w="5562600" h="876300">
                <a:moveTo>
                  <a:pt x="76203" y="0"/>
                </a:moveTo>
                <a:lnTo>
                  <a:pt x="5486397" y="0"/>
                </a:lnTo>
                <a:cubicBezTo>
                  <a:pt x="5528483" y="0"/>
                  <a:pt x="5562600" y="34117"/>
                  <a:pt x="5562600" y="76203"/>
                </a:cubicBezTo>
                <a:lnTo>
                  <a:pt x="5562600" y="800097"/>
                </a:lnTo>
                <a:cubicBezTo>
                  <a:pt x="5562600" y="842183"/>
                  <a:pt x="5528483" y="876300"/>
                  <a:pt x="5486397" y="876300"/>
                </a:cubicBezTo>
                <a:lnTo>
                  <a:pt x="76203" y="876300"/>
                </a:lnTo>
                <a:cubicBezTo>
                  <a:pt x="34117" y="876300"/>
                  <a:pt x="0" y="842183"/>
                  <a:pt x="0" y="8000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61913" y="1976506"/>
            <a:ext cx="228600" cy="228600"/>
          </a:xfrm>
          <a:custGeom>
            <a:avLst/>
            <a:gdLst/>
            <a:ahLst/>
            <a:cxnLst/>
            <a:rect l="l" t="t" r="r" b="b"/>
            <a:pathLst>
              <a:path w="228600" h="228600">
                <a:moveTo>
                  <a:pt x="78581" y="10716"/>
                </a:moveTo>
                <a:cubicBezTo>
                  <a:pt x="78581" y="4776"/>
                  <a:pt x="73804" y="0"/>
                  <a:pt x="67866" y="0"/>
                </a:cubicBezTo>
                <a:cubicBezTo>
                  <a:pt x="61926" y="0"/>
                  <a:pt x="57150" y="4776"/>
                  <a:pt x="57150" y="10716"/>
                </a:cubicBezTo>
                <a:lnTo>
                  <a:pt x="57150" y="28575"/>
                </a:lnTo>
                <a:cubicBezTo>
                  <a:pt x="41389" y="28575"/>
                  <a:pt x="28575" y="41389"/>
                  <a:pt x="28575" y="57150"/>
                </a:cubicBezTo>
                <a:lnTo>
                  <a:pt x="10716" y="57150"/>
                </a:lnTo>
                <a:cubicBezTo>
                  <a:pt x="4776" y="57150"/>
                  <a:pt x="0" y="61926"/>
                  <a:pt x="0" y="67866"/>
                </a:cubicBezTo>
                <a:cubicBezTo>
                  <a:pt x="0" y="73804"/>
                  <a:pt x="4776" y="78581"/>
                  <a:pt x="10716" y="78581"/>
                </a:cubicBezTo>
                <a:lnTo>
                  <a:pt x="28575" y="78581"/>
                </a:lnTo>
                <a:lnTo>
                  <a:pt x="28575" y="103584"/>
                </a:lnTo>
                <a:lnTo>
                  <a:pt x="10716" y="103584"/>
                </a:lnTo>
                <a:cubicBezTo>
                  <a:pt x="4776" y="103584"/>
                  <a:pt x="0" y="108361"/>
                  <a:pt x="0" y="114300"/>
                </a:cubicBezTo>
                <a:cubicBezTo>
                  <a:pt x="0" y="120239"/>
                  <a:pt x="4776" y="125016"/>
                  <a:pt x="10716" y="125016"/>
                </a:cubicBezTo>
                <a:lnTo>
                  <a:pt x="28575" y="125016"/>
                </a:lnTo>
                <a:lnTo>
                  <a:pt x="28575" y="150019"/>
                </a:lnTo>
                <a:lnTo>
                  <a:pt x="10716" y="150019"/>
                </a:lnTo>
                <a:cubicBezTo>
                  <a:pt x="4776" y="150019"/>
                  <a:pt x="0" y="154796"/>
                  <a:pt x="0" y="160734"/>
                </a:cubicBezTo>
                <a:cubicBezTo>
                  <a:pt x="0" y="166674"/>
                  <a:pt x="4776" y="171450"/>
                  <a:pt x="10716" y="171450"/>
                </a:cubicBezTo>
                <a:lnTo>
                  <a:pt x="28575" y="171450"/>
                </a:lnTo>
                <a:cubicBezTo>
                  <a:pt x="28575" y="187211"/>
                  <a:pt x="41389" y="200025"/>
                  <a:pt x="57150" y="200025"/>
                </a:cubicBezTo>
                <a:lnTo>
                  <a:pt x="57150" y="217884"/>
                </a:lnTo>
                <a:cubicBezTo>
                  <a:pt x="57150" y="223824"/>
                  <a:pt x="61926" y="228600"/>
                  <a:pt x="67866" y="228600"/>
                </a:cubicBezTo>
                <a:cubicBezTo>
                  <a:pt x="73804" y="228600"/>
                  <a:pt x="78581" y="223824"/>
                  <a:pt x="78581" y="217884"/>
                </a:cubicBezTo>
                <a:lnTo>
                  <a:pt x="78581" y="200025"/>
                </a:lnTo>
                <a:lnTo>
                  <a:pt x="103584" y="200025"/>
                </a:lnTo>
                <a:lnTo>
                  <a:pt x="103584" y="217884"/>
                </a:lnTo>
                <a:cubicBezTo>
                  <a:pt x="103584" y="223824"/>
                  <a:pt x="108361" y="228600"/>
                  <a:pt x="114300" y="228600"/>
                </a:cubicBezTo>
                <a:cubicBezTo>
                  <a:pt x="120239" y="228600"/>
                  <a:pt x="125016" y="223824"/>
                  <a:pt x="125016" y="217884"/>
                </a:cubicBezTo>
                <a:lnTo>
                  <a:pt x="125016" y="200025"/>
                </a:lnTo>
                <a:lnTo>
                  <a:pt x="150019" y="200025"/>
                </a:lnTo>
                <a:lnTo>
                  <a:pt x="150019" y="217884"/>
                </a:lnTo>
                <a:cubicBezTo>
                  <a:pt x="150019" y="223824"/>
                  <a:pt x="154796" y="228600"/>
                  <a:pt x="160734" y="228600"/>
                </a:cubicBezTo>
                <a:cubicBezTo>
                  <a:pt x="166674" y="228600"/>
                  <a:pt x="171450" y="223824"/>
                  <a:pt x="171450" y="217884"/>
                </a:cubicBezTo>
                <a:lnTo>
                  <a:pt x="171450" y="200025"/>
                </a:lnTo>
                <a:cubicBezTo>
                  <a:pt x="187211" y="200025"/>
                  <a:pt x="200025" y="187211"/>
                  <a:pt x="200025" y="171450"/>
                </a:cubicBezTo>
                <a:lnTo>
                  <a:pt x="217884" y="171450"/>
                </a:lnTo>
                <a:cubicBezTo>
                  <a:pt x="223824" y="171450"/>
                  <a:pt x="228600" y="166674"/>
                  <a:pt x="228600" y="160734"/>
                </a:cubicBezTo>
                <a:cubicBezTo>
                  <a:pt x="228600" y="154796"/>
                  <a:pt x="223824" y="150019"/>
                  <a:pt x="217884" y="150019"/>
                </a:cubicBezTo>
                <a:lnTo>
                  <a:pt x="200025" y="150019"/>
                </a:lnTo>
                <a:lnTo>
                  <a:pt x="200025" y="125016"/>
                </a:lnTo>
                <a:lnTo>
                  <a:pt x="217884" y="125016"/>
                </a:lnTo>
                <a:cubicBezTo>
                  <a:pt x="223824" y="125016"/>
                  <a:pt x="228600" y="120239"/>
                  <a:pt x="228600" y="114300"/>
                </a:cubicBezTo>
                <a:cubicBezTo>
                  <a:pt x="228600" y="108361"/>
                  <a:pt x="223824" y="103584"/>
                  <a:pt x="217884" y="103584"/>
                </a:cubicBezTo>
                <a:lnTo>
                  <a:pt x="200025" y="103584"/>
                </a:lnTo>
                <a:lnTo>
                  <a:pt x="200025" y="78581"/>
                </a:lnTo>
                <a:lnTo>
                  <a:pt x="217884" y="78581"/>
                </a:lnTo>
                <a:cubicBezTo>
                  <a:pt x="223824" y="78581"/>
                  <a:pt x="228600" y="73804"/>
                  <a:pt x="228600" y="67866"/>
                </a:cubicBezTo>
                <a:cubicBezTo>
                  <a:pt x="228600" y="61926"/>
                  <a:pt x="223824" y="57150"/>
                  <a:pt x="217884" y="57150"/>
                </a:cubicBezTo>
                <a:lnTo>
                  <a:pt x="200025" y="57150"/>
                </a:lnTo>
                <a:cubicBezTo>
                  <a:pt x="200025" y="41389"/>
                  <a:pt x="187211" y="28575"/>
                  <a:pt x="171450" y="28575"/>
                </a:cubicBezTo>
                <a:lnTo>
                  <a:pt x="171450" y="10716"/>
                </a:lnTo>
                <a:cubicBezTo>
                  <a:pt x="171450" y="4776"/>
                  <a:pt x="166674" y="0"/>
                  <a:pt x="160734" y="0"/>
                </a:cubicBezTo>
                <a:cubicBezTo>
                  <a:pt x="154796" y="0"/>
                  <a:pt x="150019" y="4776"/>
                  <a:pt x="150019" y="10716"/>
                </a:cubicBezTo>
                <a:lnTo>
                  <a:pt x="150019" y="28575"/>
                </a:lnTo>
                <a:lnTo>
                  <a:pt x="125016" y="28575"/>
                </a:lnTo>
                <a:lnTo>
                  <a:pt x="125016" y="10716"/>
                </a:lnTo>
                <a:cubicBezTo>
                  <a:pt x="125016" y="4776"/>
                  <a:pt x="120239" y="0"/>
                  <a:pt x="114300" y="0"/>
                </a:cubicBezTo>
                <a:cubicBezTo>
                  <a:pt x="108361" y="0"/>
                  <a:pt x="103584" y="4776"/>
                  <a:pt x="103584" y="10716"/>
                </a:cubicBezTo>
                <a:lnTo>
                  <a:pt x="103584" y="28575"/>
                </a:lnTo>
                <a:lnTo>
                  <a:pt x="78581" y="28575"/>
                </a:lnTo>
                <a:lnTo>
                  <a:pt x="78581" y="10716"/>
                </a:lnTo>
                <a:close/>
                <a:moveTo>
                  <a:pt x="71437" y="57150"/>
                </a:moveTo>
                <a:lnTo>
                  <a:pt x="157163" y="57150"/>
                </a:lnTo>
                <a:cubicBezTo>
                  <a:pt x="165064" y="57150"/>
                  <a:pt x="171450" y="63536"/>
                  <a:pt x="171450" y="71438"/>
                </a:cubicBezTo>
                <a:lnTo>
                  <a:pt x="171450" y="157162"/>
                </a:lnTo>
                <a:cubicBezTo>
                  <a:pt x="171450" y="165064"/>
                  <a:pt x="165064" y="171450"/>
                  <a:pt x="157163" y="171450"/>
                </a:cubicBezTo>
                <a:lnTo>
                  <a:pt x="71437" y="171450"/>
                </a:lnTo>
                <a:cubicBezTo>
                  <a:pt x="63536" y="171450"/>
                  <a:pt x="57150" y="165064"/>
                  <a:pt x="57150" y="157162"/>
                </a:cubicBezTo>
                <a:lnTo>
                  <a:pt x="57150" y="71438"/>
                </a:lnTo>
                <a:cubicBezTo>
                  <a:pt x="57150" y="63536"/>
                  <a:pt x="63536" y="57150"/>
                  <a:pt x="71437" y="57150"/>
                </a:cubicBezTo>
                <a:close/>
                <a:moveTo>
                  <a:pt x="78581" y="78581"/>
                </a:moveTo>
                <a:lnTo>
                  <a:pt x="78581" y="150019"/>
                </a:lnTo>
                <a:lnTo>
                  <a:pt x="150019" y="150019"/>
                </a:lnTo>
                <a:lnTo>
                  <a:pt x="150019" y="78581"/>
                </a:lnTo>
                <a:lnTo>
                  <a:pt x="78581" y="78581"/>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971455" y="1805093"/>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Fréquence</a:t>
            </a:r>
            <a:endParaRPr lang="en-US" sz="1100"/>
          </a:p>
        </p:txBody>
      </p:sp>
      <p:sp>
        <p:nvSpPr>
          <p:cNvPr id="7" name="AutoShape 7"/>
          <p:cNvSpPr/>
          <p:nvPr/>
        </p:nvSpPr>
        <p:spPr>
          <a:xfrm>
            <a:off x="971455" y="2071800"/>
            <a:ext cx="800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3 GHz</a:t>
            </a:r>
            <a:endParaRPr lang="en-US" sz="1100"/>
          </a:p>
        </p:txBody>
      </p:sp>
      <p:sp>
        <p:nvSpPr>
          <p:cNvPr id="8" name="Freeform 8"/>
          <p:cNvSpPr/>
          <p:nvPr/>
        </p:nvSpPr>
        <p:spPr>
          <a:xfrm>
            <a:off x="380956" y="2681256"/>
            <a:ext cx="5562600" cy="876300"/>
          </a:xfrm>
          <a:custGeom>
            <a:avLst/>
            <a:gdLst/>
            <a:ahLst/>
            <a:cxnLst/>
            <a:rect l="l" t="t" r="r" b="b"/>
            <a:pathLst>
              <a:path w="5562600" h="876300">
                <a:moveTo>
                  <a:pt x="76203" y="0"/>
                </a:moveTo>
                <a:lnTo>
                  <a:pt x="5486397" y="0"/>
                </a:lnTo>
                <a:cubicBezTo>
                  <a:pt x="5528483" y="0"/>
                  <a:pt x="5562600" y="34117"/>
                  <a:pt x="5562600" y="76203"/>
                </a:cubicBezTo>
                <a:lnTo>
                  <a:pt x="5562600" y="800097"/>
                </a:lnTo>
                <a:cubicBezTo>
                  <a:pt x="5562600" y="842183"/>
                  <a:pt x="5528483" y="876300"/>
                  <a:pt x="5486397" y="876300"/>
                </a:cubicBezTo>
                <a:lnTo>
                  <a:pt x="76203" y="876300"/>
                </a:lnTo>
                <a:cubicBezTo>
                  <a:pt x="34117" y="876300"/>
                  <a:pt x="0" y="842183"/>
                  <a:pt x="0" y="8000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40348" y="2983304"/>
            <a:ext cx="272132" cy="272132"/>
          </a:xfrm>
          <a:custGeom>
            <a:avLst/>
            <a:gdLst/>
            <a:ahLst/>
            <a:cxnLst/>
            <a:rect l="l" t="t" r="r" b="b"/>
            <a:pathLst>
              <a:path w="272132" h="272132">
                <a:moveTo>
                  <a:pt x="178683" y="115729"/>
                </a:moveTo>
                <a:cubicBezTo>
                  <a:pt x="184130" y="114256"/>
                  <a:pt x="189845" y="116845"/>
                  <a:pt x="192301" y="121890"/>
                </a:cubicBezTo>
                <a:lnTo>
                  <a:pt x="200605" y="138678"/>
                </a:lnTo>
                <a:cubicBezTo>
                  <a:pt x="205204" y="139303"/>
                  <a:pt x="209714" y="140552"/>
                  <a:pt x="213955" y="142295"/>
                </a:cubicBezTo>
                <a:lnTo>
                  <a:pt x="229582" y="131892"/>
                </a:lnTo>
                <a:cubicBezTo>
                  <a:pt x="234270" y="128766"/>
                  <a:pt x="240476" y="129390"/>
                  <a:pt x="244450" y="133366"/>
                </a:cubicBezTo>
                <a:lnTo>
                  <a:pt x="253022" y="141938"/>
                </a:lnTo>
                <a:cubicBezTo>
                  <a:pt x="256996" y="145911"/>
                  <a:pt x="257621" y="152162"/>
                  <a:pt x="254496" y="156806"/>
                </a:cubicBezTo>
                <a:lnTo>
                  <a:pt x="244093" y="172388"/>
                </a:lnTo>
                <a:cubicBezTo>
                  <a:pt x="244941" y="174486"/>
                  <a:pt x="245700" y="176674"/>
                  <a:pt x="246325" y="178951"/>
                </a:cubicBezTo>
                <a:cubicBezTo>
                  <a:pt x="246951" y="181228"/>
                  <a:pt x="247352" y="183461"/>
                  <a:pt x="247664" y="185738"/>
                </a:cubicBezTo>
                <a:lnTo>
                  <a:pt x="264497" y="194042"/>
                </a:lnTo>
                <a:cubicBezTo>
                  <a:pt x="269541" y="196543"/>
                  <a:pt x="272132" y="202258"/>
                  <a:pt x="270659" y="207661"/>
                </a:cubicBezTo>
                <a:lnTo>
                  <a:pt x="267534" y="219359"/>
                </a:lnTo>
                <a:cubicBezTo>
                  <a:pt x="266060" y="224760"/>
                  <a:pt x="261015" y="228423"/>
                  <a:pt x="255389" y="228064"/>
                </a:cubicBezTo>
                <a:lnTo>
                  <a:pt x="236637" y="226859"/>
                </a:lnTo>
                <a:cubicBezTo>
                  <a:pt x="233824" y="230475"/>
                  <a:pt x="230564" y="233824"/>
                  <a:pt x="226859" y="236683"/>
                </a:cubicBezTo>
                <a:lnTo>
                  <a:pt x="228064" y="255388"/>
                </a:lnTo>
                <a:cubicBezTo>
                  <a:pt x="228421" y="261015"/>
                  <a:pt x="224760" y="266105"/>
                  <a:pt x="219359" y="267533"/>
                </a:cubicBezTo>
                <a:lnTo>
                  <a:pt x="207659" y="270659"/>
                </a:lnTo>
                <a:cubicBezTo>
                  <a:pt x="202214" y="272132"/>
                  <a:pt x="196542" y="269543"/>
                  <a:pt x="194042" y="264498"/>
                </a:cubicBezTo>
                <a:lnTo>
                  <a:pt x="185737" y="247710"/>
                </a:lnTo>
                <a:cubicBezTo>
                  <a:pt x="181139" y="247085"/>
                  <a:pt x="176629" y="245836"/>
                  <a:pt x="172386" y="244093"/>
                </a:cubicBezTo>
                <a:lnTo>
                  <a:pt x="156760" y="254496"/>
                </a:lnTo>
                <a:cubicBezTo>
                  <a:pt x="152071" y="257622"/>
                  <a:pt x="145866" y="256998"/>
                  <a:pt x="141892" y="253022"/>
                </a:cubicBezTo>
                <a:lnTo>
                  <a:pt x="133320" y="244450"/>
                </a:lnTo>
                <a:cubicBezTo>
                  <a:pt x="129346" y="240477"/>
                  <a:pt x="128721" y="234271"/>
                  <a:pt x="131847" y="229582"/>
                </a:cubicBezTo>
                <a:lnTo>
                  <a:pt x="142251" y="213956"/>
                </a:lnTo>
                <a:cubicBezTo>
                  <a:pt x="141401" y="211857"/>
                  <a:pt x="140641" y="209668"/>
                  <a:pt x="140017" y="207393"/>
                </a:cubicBezTo>
                <a:cubicBezTo>
                  <a:pt x="139392" y="205115"/>
                  <a:pt x="138990" y="202838"/>
                  <a:pt x="138678" y="200606"/>
                </a:cubicBezTo>
                <a:lnTo>
                  <a:pt x="121845" y="192301"/>
                </a:lnTo>
                <a:cubicBezTo>
                  <a:pt x="116800" y="189801"/>
                  <a:pt x="114255" y="184086"/>
                  <a:pt x="115683" y="178683"/>
                </a:cubicBezTo>
                <a:lnTo>
                  <a:pt x="118809" y="166985"/>
                </a:lnTo>
                <a:cubicBezTo>
                  <a:pt x="120283" y="161582"/>
                  <a:pt x="125328" y="157922"/>
                  <a:pt x="130954" y="158279"/>
                </a:cubicBezTo>
                <a:lnTo>
                  <a:pt x="149661" y="159484"/>
                </a:lnTo>
                <a:cubicBezTo>
                  <a:pt x="152474" y="155867"/>
                  <a:pt x="155734" y="152518"/>
                  <a:pt x="159439" y="149662"/>
                </a:cubicBezTo>
                <a:lnTo>
                  <a:pt x="158234" y="131000"/>
                </a:lnTo>
                <a:cubicBezTo>
                  <a:pt x="157877" y="125373"/>
                  <a:pt x="161538" y="120283"/>
                  <a:pt x="166941" y="118855"/>
                </a:cubicBezTo>
                <a:lnTo>
                  <a:pt x="178639" y="115729"/>
                </a:lnTo>
                <a:close/>
                <a:moveTo>
                  <a:pt x="193194" y="173548"/>
                </a:moveTo>
                <a:cubicBezTo>
                  <a:pt x="182351" y="173561"/>
                  <a:pt x="173559" y="182374"/>
                  <a:pt x="173571" y="193216"/>
                </a:cubicBezTo>
                <a:cubicBezTo>
                  <a:pt x="173583" y="204059"/>
                  <a:pt x="182397" y="212852"/>
                  <a:pt x="193239" y="212840"/>
                </a:cubicBezTo>
                <a:cubicBezTo>
                  <a:pt x="204081" y="212827"/>
                  <a:pt x="212874" y="204014"/>
                  <a:pt x="212861" y="193172"/>
                </a:cubicBezTo>
                <a:cubicBezTo>
                  <a:pt x="212849" y="182329"/>
                  <a:pt x="204036" y="173536"/>
                  <a:pt x="193194" y="173548"/>
                </a:cubicBezTo>
                <a:close/>
                <a:moveTo>
                  <a:pt x="93404" y="1429"/>
                </a:moveTo>
                <a:lnTo>
                  <a:pt x="105102" y="4555"/>
                </a:lnTo>
                <a:cubicBezTo>
                  <a:pt x="110504" y="6028"/>
                  <a:pt x="114166" y="11118"/>
                  <a:pt x="113809" y="16700"/>
                </a:cubicBezTo>
                <a:lnTo>
                  <a:pt x="112602" y="35362"/>
                </a:lnTo>
                <a:cubicBezTo>
                  <a:pt x="116310" y="38218"/>
                  <a:pt x="119568" y="41523"/>
                  <a:pt x="122381" y="45184"/>
                </a:cubicBezTo>
                <a:lnTo>
                  <a:pt x="141134" y="43979"/>
                </a:lnTo>
                <a:cubicBezTo>
                  <a:pt x="146715" y="43622"/>
                  <a:pt x="151804" y="47282"/>
                  <a:pt x="153278" y="52685"/>
                </a:cubicBezTo>
                <a:lnTo>
                  <a:pt x="156403" y="64383"/>
                </a:lnTo>
                <a:cubicBezTo>
                  <a:pt x="157832" y="69786"/>
                  <a:pt x="155287" y="75501"/>
                  <a:pt x="150241" y="78001"/>
                </a:cubicBezTo>
                <a:lnTo>
                  <a:pt x="133409" y="86306"/>
                </a:lnTo>
                <a:cubicBezTo>
                  <a:pt x="133096" y="88583"/>
                  <a:pt x="132651" y="90860"/>
                  <a:pt x="132070" y="93093"/>
                </a:cubicBezTo>
                <a:cubicBezTo>
                  <a:pt x="131489" y="95325"/>
                  <a:pt x="130686" y="97557"/>
                  <a:pt x="129838" y="99656"/>
                </a:cubicBezTo>
                <a:lnTo>
                  <a:pt x="140241" y="115282"/>
                </a:lnTo>
                <a:cubicBezTo>
                  <a:pt x="143366" y="119971"/>
                  <a:pt x="142741" y="126177"/>
                  <a:pt x="138767" y="130150"/>
                </a:cubicBezTo>
                <a:lnTo>
                  <a:pt x="130194" y="138722"/>
                </a:lnTo>
                <a:cubicBezTo>
                  <a:pt x="126221" y="142698"/>
                  <a:pt x="120015" y="143322"/>
                  <a:pt x="115327" y="140196"/>
                </a:cubicBezTo>
                <a:lnTo>
                  <a:pt x="99700" y="129793"/>
                </a:lnTo>
                <a:cubicBezTo>
                  <a:pt x="95457" y="131536"/>
                  <a:pt x="90949" y="132785"/>
                  <a:pt x="86350" y="133410"/>
                </a:cubicBezTo>
                <a:lnTo>
                  <a:pt x="78044" y="150198"/>
                </a:lnTo>
                <a:cubicBezTo>
                  <a:pt x="75545" y="155243"/>
                  <a:pt x="69830" y="157788"/>
                  <a:pt x="64428" y="156359"/>
                </a:cubicBezTo>
                <a:lnTo>
                  <a:pt x="52730" y="153233"/>
                </a:lnTo>
                <a:cubicBezTo>
                  <a:pt x="47282" y="151760"/>
                  <a:pt x="43666" y="146670"/>
                  <a:pt x="44022" y="141088"/>
                </a:cubicBezTo>
                <a:lnTo>
                  <a:pt x="45229" y="122383"/>
                </a:lnTo>
                <a:cubicBezTo>
                  <a:pt x="41523" y="119524"/>
                  <a:pt x="38264" y="116221"/>
                  <a:pt x="35451" y="112559"/>
                </a:cubicBezTo>
                <a:lnTo>
                  <a:pt x="16698" y="113764"/>
                </a:lnTo>
                <a:cubicBezTo>
                  <a:pt x="11117" y="114123"/>
                  <a:pt x="6027" y="110460"/>
                  <a:pt x="4555" y="105059"/>
                </a:cubicBezTo>
                <a:lnTo>
                  <a:pt x="1429" y="93361"/>
                </a:lnTo>
                <a:cubicBezTo>
                  <a:pt x="0" y="87958"/>
                  <a:pt x="2545" y="82243"/>
                  <a:pt x="7590" y="79742"/>
                </a:cubicBezTo>
                <a:lnTo>
                  <a:pt x="24422" y="71438"/>
                </a:lnTo>
                <a:cubicBezTo>
                  <a:pt x="24735" y="69161"/>
                  <a:pt x="25182" y="66928"/>
                  <a:pt x="25762" y="64651"/>
                </a:cubicBezTo>
                <a:cubicBezTo>
                  <a:pt x="26387" y="62374"/>
                  <a:pt x="27101" y="60186"/>
                  <a:pt x="27994" y="58088"/>
                </a:cubicBezTo>
                <a:lnTo>
                  <a:pt x="17591" y="42506"/>
                </a:lnTo>
                <a:cubicBezTo>
                  <a:pt x="14466" y="37817"/>
                  <a:pt x="15091" y="31611"/>
                  <a:pt x="19064" y="27638"/>
                </a:cubicBezTo>
                <a:lnTo>
                  <a:pt x="27637" y="19066"/>
                </a:lnTo>
                <a:cubicBezTo>
                  <a:pt x="31611" y="15090"/>
                  <a:pt x="37817" y="14466"/>
                  <a:pt x="42505" y="17592"/>
                </a:cubicBezTo>
                <a:lnTo>
                  <a:pt x="58132" y="27995"/>
                </a:lnTo>
                <a:cubicBezTo>
                  <a:pt x="62374" y="26252"/>
                  <a:pt x="66882" y="25003"/>
                  <a:pt x="71482" y="24378"/>
                </a:cubicBezTo>
                <a:lnTo>
                  <a:pt x="79787" y="7590"/>
                </a:lnTo>
                <a:cubicBezTo>
                  <a:pt x="82288" y="2545"/>
                  <a:pt x="87957" y="0"/>
                  <a:pt x="93404" y="1429"/>
                </a:cubicBezTo>
                <a:close/>
                <a:moveTo>
                  <a:pt x="78894" y="59248"/>
                </a:moveTo>
                <a:cubicBezTo>
                  <a:pt x="68051" y="59248"/>
                  <a:pt x="59248" y="68051"/>
                  <a:pt x="59248" y="78894"/>
                </a:cubicBezTo>
                <a:cubicBezTo>
                  <a:pt x="59248" y="89737"/>
                  <a:pt x="68051" y="98540"/>
                  <a:pt x="78894" y="98540"/>
                </a:cubicBezTo>
                <a:cubicBezTo>
                  <a:pt x="89736" y="98540"/>
                  <a:pt x="98538" y="89737"/>
                  <a:pt x="98538" y="78894"/>
                </a:cubicBezTo>
                <a:cubicBezTo>
                  <a:pt x="98538" y="68051"/>
                  <a:pt x="89736" y="59248"/>
                  <a:pt x="78894" y="5924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971455" y="2833637"/>
            <a:ext cx="10191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6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FLOP par cycle</a:t>
            </a:r>
            <a:endParaRPr lang="en-US" sz="1100"/>
          </a:p>
        </p:txBody>
      </p:sp>
      <p:sp>
        <p:nvSpPr>
          <p:cNvPr id="11" name="AutoShape 11"/>
          <p:cNvSpPr/>
          <p:nvPr/>
        </p:nvSpPr>
        <p:spPr>
          <a:xfrm>
            <a:off x="971455" y="3100344"/>
            <a:ext cx="10477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8 FLOP</a:t>
            </a:r>
            <a:endParaRPr lang="en-US" sz="1100"/>
          </a:p>
        </p:txBody>
      </p:sp>
      <p:sp>
        <p:nvSpPr>
          <p:cNvPr id="12" name="AutoShape 12"/>
          <p:cNvSpPr/>
          <p:nvPr/>
        </p:nvSpPr>
        <p:spPr>
          <a:xfrm>
            <a:off x="380956" y="3657023"/>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Calcul de performance théorique</a:t>
            </a:r>
            <a:endParaRPr lang="en-US" sz="1100"/>
          </a:p>
        </p:txBody>
      </p:sp>
      <p:sp>
        <p:nvSpPr>
          <p:cNvPr id="13" name="Freeform 13"/>
          <p:cNvSpPr/>
          <p:nvPr/>
        </p:nvSpPr>
        <p:spPr>
          <a:xfrm>
            <a:off x="399911" y="4114098"/>
            <a:ext cx="5543455" cy="1562100"/>
          </a:xfrm>
          <a:custGeom>
            <a:avLst/>
            <a:gdLst/>
            <a:ahLst/>
            <a:cxnLst/>
            <a:rect l="l" t="t" r="r" b="b"/>
            <a:pathLst>
              <a:path w="5543455" h="1562100">
                <a:moveTo>
                  <a:pt x="37909" y="0"/>
                </a:moveTo>
                <a:lnTo>
                  <a:pt x="5429156" y="0"/>
                </a:lnTo>
                <a:cubicBezTo>
                  <a:pt x="5492281" y="0"/>
                  <a:pt x="5543455" y="51173"/>
                  <a:pt x="5543455" y="114299"/>
                </a:cubicBezTo>
                <a:lnTo>
                  <a:pt x="5543455" y="1447801"/>
                </a:lnTo>
                <a:cubicBezTo>
                  <a:pt x="5543455" y="1510927"/>
                  <a:pt x="5492281" y="1562100"/>
                  <a:pt x="5429156" y="1562100"/>
                </a:cubicBezTo>
                <a:lnTo>
                  <a:pt x="37909" y="1562100"/>
                </a:lnTo>
                <a:cubicBezTo>
                  <a:pt x="16974" y="1562100"/>
                  <a:pt x="0" y="1545126"/>
                  <a:pt x="0" y="15241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99911" y="4114098"/>
            <a:ext cx="37909" cy="1562100"/>
          </a:xfrm>
          <a:custGeom>
            <a:avLst/>
            <a:gdLst/>
            <a:ahLst/>
            <a:cxnLst/>
            <a:rect l="l" t="t" r="r" b="b"/>
            <a:pathLst>
              <a:path w="37909" h="1562100">
                <a:moveTo>
                  <a:pt x="37909" y="0"/>
                </a:moveTo>
                <a:lnTo>
                  <a:pt x="37909" y="0"/>
                </a:lnTo>
                <a:lnTo>
                  <a:pt x="37909" y="1562100"/>
                </a:lnTo>
                <a:lnTo>
                  <a:pt x="37909" y="1562100"/>
                </a:lnTo>
                <a:cubicBezTo>
                  <a:pt x="16974" y="1562100"/>
                  <a:pt x="0" y="1545126"/>
                  <a:pt x="0" y="15241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47439" y="4342670"/>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 = Fréquence × FLOP par cycle</a:t>
            </a:r>
            <a:endParaRPr lang="en-US" sz="1100"/>
          </a:p>
        </p:txBody>
      </p:sp>
      <p:sp>
        <p:nvSpPr>
          <p:cNvPr id="16" name="AutoShape 16"/>
          <p:cNvSpPr/>
          <p:nvPr/>
        </p:nvSpPr>
        <p:spPr>
          <a:xfrm>
            <a:off x="647439" y="4723626"/>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3×10⁹ × 8</a:t>
            </a:r>
            <a:endParaRPr lang="en-US" sz="1100"/>
          </a:p>
        </p:txBody>
      </p:sp>
      <p:sp>
        <p:nvSpPr>
          <p:cNvPr id="17" name="AutoShape 17"/>
          <p:cNvSpPr/>
          <p:nvPr/>
        </p:nvSpPr>
        <p:spPr>
          <a:xfrm>
            <a:off x="647439" y="5104581"/>
            <a:ext cx="52101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7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24 GFLOPS</a:t>
            </a:r>
            <a:endParaRPr lang="en-US" sz="1100"/>
          </a:p>
        </p:txBody>
      </p:sp>
      <p:sp>
        <p:nvSpPr>
          <p:cNvPr id="18" name="Freeform 18"/>
          <p:cNvSpPr/>
          <p:nvPr/>
        </p:nvSpPr>
        <p:spPr>
          <a:xfrm>
            <a:off x="399911" y="5828361"/>
            <a:ext cx="5543455" cy="571500"/>
          </a:xfrm>
          <a:custGeom>
            <a:avLst/>
            <a:gdLst/>
            <a:ahLst/>
            <a:cxnLst/>
            <a:rect l="l" t="t" r="r" b="b"/>
            <a:pathLst>
              <a:path w="5543455" h="571500">
                <a:moveTo>
                  <a:pt x="37909" y="0"/>
                </a:moveTo>
                <a:lnTo>
                  <a:pt x="5467257" y="0"/>
                </a:lnTo>
                <a:cubicBezTo>
                  <a:pt x="5509340" y="0"/>
                  <a:pt x="5543455" y="34115"/>
                  <a:pt x="5543455" y="76197"/>
                </a:cubicBezTo>
                <a:lnTo>
                  <a:pt x="5543455" y="495303"/>
                </a:lnTo>
                <a:cubicBezTo>
                  <a:pt x="5543455" y="537385"/>
                  <a:pt x="5509340" y="571500"/>
                  <a:pt x="5467257" y="571500"/>
                </a:cubicBezTo>
                <a:lnTo>
                  <a:pt x="37909" y="571500"/>
                </a:lnTo>
                <a:cubicBezTo>
                  <a:pt x="16974" y="571500"/>
                  <a:pt x="0" y="554526"/>
                  <a:pt x="0" y="533591"/>
                </a:cubicBezTo>
                <a:lnTo>
                  <a:pt x="0" y="37909"/>
                </a:lnTo>
                <a:cubicBezTo>
                  <a:pt x="0" y="16988"/>
                  <a:pt x="16988" y="0"/>
                  <a:pt x="37909" y="0"/>
                </a:cubicBezTo>
                <a:close/>
              </a:path>
            </a:pathLst>
          </a:custGeom>
          <a:solidFill>
            <a:srgbClr val="FEFCE8">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99911" y="5828361"/>
            <a:ext cx="37909" cy="571500"/>
          </a:xfrm>
          <a:custGeom>
            <a:avLst/>
            <a:gdLst/>
            <a:ahLst/>
            <a:cxnLst/>
            <a:rect l="l" t="t" r="r" b="b"/>
            <a:pathLst>
              <a:path w="37909" h="571500">
                <a:moveTo>
                  <a:pt x="37909" y="0"/>
                </a:moveTo>
                <a:lnTo>
                  <a:pt x="37909" y="0"/>
                </a:lnTo>
                <a:lnTo>
                  <a:pt x="37909" y="571500"/>
                </a:lnTo>
                <a:lnTo>
                  <a:pt x="37909" y="571500"/>
                </a:lnTo>
                <a:cubicBezTo>
                  <a:pt x="16974" y="571500"/>
                  <a:pt x="0" y="554526"/>
                  <a:pt x="0" y="533591"/>
                </a:cubicBezTo>
                <a:lnTo>
                  <a:pt x="0" y="37909"/>
                </a:lnTo>
                <a:cubicBezTo>
                  <a:pt x="0" y="16988"/>
                  <a:pt x="16988" y="0"/>
                  <a:pt x="37909" y="0"/>
                </a:cubicBezTo>
                <a:close/>
              </a:path>
            </a:pathLst>
          </a:custGeom>
          <a:solidFill>
            <a:srgbClr val="F0B1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1248" y="598074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Remarque :</a:t>
            </a:r>
            <a:r>
              <a:rPr lang="en-US" sz="7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Il s'agit d'une valeur de crête théorique, la performance réelle est généralement inférieure</a:t>
            </a:r>
            <a:endParaRPr lang="en-US" sz="1100"/>
          </a:p>
        </p:txBody>
      </p:sp>
      <p:sp>
        <p:nvSpPr>
          <p:cNvPr id="21" name="Freeform 21"/>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l="59" r="58"/>
          <a:stretch>
            <a:fillRect/>
          </a:stretch>
        </p:blipFill>
        <p:spPr>
          <a:xfrm>
            <a:off x="6400720" y="1863830"/>
            <a:ext cx="5257800" cy="3095625"/>
          </a:xfrm>
          <a:prstGeom prst="roundRect">
            <a:avLst>
              <a:gd name="adj" fmla="val 0"/>
            </a:avLst>
          </a:prstGeom>
          <a:ln w="12700">
            <a:noFill/>
            <a:prstDash val="solid"/>
          </a:ln>
        </p:spPr>
      </p:pic>
      <p:sp>
        <p:nvSpPr>
          <p:cNvPr id="23" name="AutoShape 23"/>
          <p:cNvSpPr/>
          <p:nvPr/>
        </p:nvSpPr>
        <p:spPr>
          <a:xfrm>
            <a:off x="6210238" y="5905365"/>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University of Florida - CPU Pipeline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2406" y="638738"/>
            <a:ext cx="11685701" cy="326644"/>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altLang="zh-CN" sz="11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 r</a:t>
            </a:r>
            <a:r>
              <a:rPr lang="en-US" altLang="en-US" sz="11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1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els vs FLOPS th</a:t>
            </a:r>
            <a:r>
              <a:rPr lang="en-US" altLang="en-US" sz="11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1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orique</a:t>
            </a:r>
            <a:r>
              <a:rPr lang="en-US" sz="11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endParaRPr lang="en-US" sz="1100"/>
          </a:p>
        </p:txBody>
      </p:sp>
      <p:sp>
        <p:nvSpPr>
          <p:cNvPr id="3" name="Freeform 3"/>
          <p:cNvSpPr/>
          <p:nvPr/>
        </p:nvSpPr>
        <p:spPr>
          <a:xfrm>
            <a:off x="334732" y="1162104"/>
            <a:ext cx="5626368" cy="4393286"/>
          </a:xfrm>
          <a:custGeom>
            <a:avLst/>
            <a:gdLst/>
            <a:ahLst/>
            <a:cxnLst/>
            <a:rect l="l" t="t" r="r" b="b"/>
            <a:pathLst>
              <a:path w="5626368" h="4393286">
                <a:moveTo>
                  <a:pt x="98014" y="0"/>
                </a:moveTo>
                <a:lnTo>
                  <a:pt x="5528353" y="0"/>
                </a:lnTo>
                <a:cubicBezTo>
                  <a:pt x="5582484" y="0"/>
                  <a:pt x="5626368" y="43882"/>
                  <a:pt x="5626368" y="98014"/>
                </a:cubicBezTo>
                <a:lnTo>
                  <a:pt x="5626368" y="4295271"/>
                </a:lnTo>
                <a:cubicBezTo>
                  <a:pt x="5626368" y="4349403"/>
                  <a:pt x="5582484" y="4393286"/>
                  <a:pt x="5528353" y="4393286"/>
                </a:cubicBezTo>
                <a:lnTo>
                  <a:pt x="98014" y="4393286"/>
                </a:lnTo>
                <a:cubicBezTo>
                  <a:pt x="43882" y="4393286"/>
                  <a:pt x="0" y="4349403"/>
                  <a:pt x="0" y="4295271"/>
                </a:cubicBezTo>
                <a:lnTo>
                  <a:pt x="0" y="98014"/>
                </a:lnTo>
                <a:cubicBezTo>
                  <a:pt x="0" y="43919"/>
                  <a:pt x="43919" y="0"/>
                  <a:pt x="98014"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38821" y="1366194"/>
            <a:ext cx="457302" cy="457302"/>
          </a:xfrm>
          <a:custGeom>
            <a:avLst/>
            <a:gdLst/>
            <a:ahLst/>
            <a:cxnLst/>
            <a:rect l="l" t="t" r="r" b="b"/>
            <a:pathLst>
              <a:path w="457302" h="457302">
                <a:moveTo>
                  <a:pt x="97994" y="0"/>
                </a:moveTo>
                <a:lnTo>
                  <a:pt x="359307" y="0"/>
                </a:lnTo>
                <a:cubicBezTo>
                  <a:pt x="413428" y="0"/>
                  <a:pt x="457302" y="43873"/>
                  <a:pt x="457302" y="97994"/>
                </a:cubicBezTo>
                <a:lnTo>
                  <a:pt x="457302" y="359307"/>
                </a:lnTo>
                <a:cubicBezTo>
                  <a:pt x="457302" y="413428"/>
                  <a:pt x="413428" y="457302"/>
                  <a:pt x="359307" y="457302"/>
                </a:cubicBezTo>
                <a:lnTo>
                  <a:pt x="97994" y="457302"/>
                </a:lnTo>
                <a:cubicBezTo>
                  <a:pt x="43873" y="457302"/>
                  <a:pt x="0" y="413428"/>
                  <a:pt x="0" y="359307"/>
                </a:cubicBezTo>
                <a:lnTo>
                  <a:pt x="0" y="97994"/>
                </a:lnTo>
                <a:cubicBezTo>
                  <a:pt x="0" y="43873"/>
                  <a:pt x="43873" y="0"/>
                  <a:pt x="97994" y="0"/>
                </a:cubicBezTo>
                <a:close/>
              </a:path>
            </a:pathLst>
          </a:custGeom>
          <a:solidFill>
            <a:srgbClr val="8B0000">
              <a:alpha val="100000"/>
            </a:srgbClr>
          </a:solidFill>
          <a:ln w="12700">
            <a:noFill/>
            <a:prstDash val="solid"/>
          </a:ln>
          <a:effectLst>
            <a:outerShdw blurRad="381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663448" y="1506253"/>
            <a:ext cx="192580" cy="192579"/>
          </a:xfrm>
          <a:custGeom>
            <a:avLst/>
            <a:gdLst/>
            <a:ahLst/>
            <a:cxnLst/>
            <a:rect l="l" t="t" r="r" b="b"/>
            <a:pathLst>
              <a:path w="192580" h="192579">
                <a:moveTo>
                  <a:pt x="55007" y="113074"/>
                </a:moveTo>
                <a:lnTo>
                  <a:pt x="15388" y="113074"/>
                </a:lnTo>
                <a:cubicBezTo>
                  <a:pt x="5858" y="113074"/>
                  <a:pt x="0" y="102701"/>
                  <a:pt x="4900" y="94508"/>
                </a:cubicBezTo>
                <a:lnTo>
                  <a:pt x="25149" y="60748"/>
                </a:lnTo>
                <a:cubicBezTo>
                  <a:pt x="28480" y="55197"/>
                  <a:pt x="34450" y="51829"/>
                  <a:pt x="40920" y="51829"/>
                </a:cubicBezTo>
                <a:lnTo>
                  <a:pt x="77285" y="51829"/>
                </a:lnTo>
                <a:cubicBezTo>
                  <a:pt x="106415" y="2488"/>
                  <a:pt x="149862" y="0"/>
                  <a:pt x="178915" y="4248"/>
                </a:cubicBezTo>
                <a:cubicBezTo>
                  <a:pt x="183814" y="4976"/>
                  <a:pt x="187642" y="8804"/>
                  <a:pt x="188331" y="13665"/>
                </a:cubicBezTo>
                <a:cubicBezTo>
                  <a:pt x="192581" y="42718"/>
                  <a:pt x="190091" y="86164"/>
                  <a:pt x="140751" y="115294"/>
                </a:cubicBezTo>
                <a:lnTo>
                  <a:pt x="140751" y="151658"/>
                </a:lnTo>
                <a:cubicBezTo>
                  <a:pt x="140751" y="158129"/>
                  <a:pt x="137383" y="164101"/>
                  <a:pt x="131831" y="167431"/>
                </a:cubicBezTo>
                <a:lnTo>
                  <a:pt x="98070" y="187679"/>
                </a:lnTo>
                <a:cubicBezTo>
                  <a:pt x="89918" y="192579"/>
                  <a:pt x="79505" y="186684"/>
                  <a:pt x="79505" y="177190"/>
                </a:cubicBezTo>
                <a:lnTo>
                  <a:pt x="79505" y="137573"/>
                </a:lnTo>
                <a:cubicBezTo>
                  <a:pt x="79505" y="124061"/>
                  <a:pt x="68519" y="113074"/>
                  <a:pt x="55007" y="113074"/>
                </a:cubicBezTo>
                <a:lnTo>
                  <a:pt x="54968" y="113074"/>
                </a:lnTo>
                <a:close/>
                <a:moveTo>
                  <a:pt x="159125" y="51829"/>
                </a:moveTo>
                <a:cubicBezTo>
                  <a:pt x="159125" y="41688"/>
                  <a:pt x="150892" y="33454"/>
                  <a:pt x="140751" y="33454"/>
                </a:cubicBezTo>
                <a:cubicBezTo>
                  <a:pt x="130610" y="33454"/>
                  <a:pt x="122378" y="41688"/>
                  <a:pt x="122378" y="51829"/>
                </a:cubicBezTo>
                <a:cubicBezTo>
                  <a:pt x="122378" y="61970"/>
                  <a:pt x="130610" y="70203"/>
                  <a:pt x="140751" y="70203"/>
                </a:cubicBezTo>
                <a:cubicBezTo>
                  <a:pt x="150892" y="70203"/>
                  <a:pt x="159125" y="61970"/>
                  <a:pt x="159125" y="5182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126712" y="1464207"/>
            <a:ext cx="881940" cy="26131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3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Pic theorique</a:t>
            </a:r>
            <a:endParaRPr lang="en-US" sz="1100"/>
          </a:p>
        </p:txBody>
      </p:sp>
      <p:sp>
        <p:nvSpPr>
          <p:cNvPr id="7" name="Freeform 7"/>
          <p:cNvSpPr/>
          <p:nvPr/>
        </p:nvSpPr>
        <p:spPr>
          <a:xfrm>
            <a:off x="538821" y="2557801"/>
            <a:ext cx="5218143" cy="2196683"/>
          </a:xfrm>
          <a:custGeom>
            <a:avLst/>
            <a:gdLst/>
            <a:ahLst/>
            <a:cxnLst/>
            <a:rect l="l" t="t" r="r" b="b"/>
            <a:pathLst>
              <a:path w="5218143" h="2196683">
                <a:moveTo>
                  <a:pt x="65329" y="0"/>
                </a:moveTo>
                <a:lnTo>
                  <a:pt x="5152814" y="0"/>
                </a:lnTo>
                <a:cubicBezTo>
                  <a:pt x="5188894" y="0"/>
                  <a:pt x="5218143" y="29249"/>
                  <a:pt x="5218143" y="65329"/>
                </a:cubicBezTo>
                <a:lnTo>
                  <a:pt x="5218143" y="2131353"/>
                </a:lnTo>
                <a:cubicBezTo>
                  <a:pt x="5218143" y="2167434"/>
                  <a:pt x="5188894" y="2196683"/>
                  <a:pt x="5152814" y="2196683"/>
                </a:cubicBezTo>
                <a:lnTo>
                  <a:pt x="65329" y="2196683"/>
                </a:lnTo>
                <a:cubicBezTo>
                  <a:pt x="29249" y="2196683"/>
                  <a:pt x="0" y="2167434"/>
                  <a:pt x="0" y="2131353"/>
                </a:cubicBezTo>
                <a:lnTo>
                  <a:pt x="0" y="65329"/>
                </a:lnTo>
                <a:cubicBezTo>
                  <a:pt x="0" y="29273"/>
                  <a:pt x="29273" y="0"/>
                  <a:pt x="65329"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8" name="AutoShape 8"/>
          <p:cNvSpPr/>
          <p:nvPr/>
        </p:nvSpPr>
        <p:spPr>
          <a:xfrm>
            <a:off x="800106" y="2848396"/>
            <a:ext cx="4777173" cy="53079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81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 pic theorique est entierement determine par </a:t>
            </a:r>
            <a:r>
              <a:rPr lang="en-US" sz="81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les specifications materielles</a:t>
            </a:r>
            <a:r>
              <a:rPr lang="en-US" sz="81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il represente la performance maximale que le processeur peut atteindre dans des conditions ideales.</a:t>
            </a:r>
            <a:endParaRPr lang="en-US" sz="1100"/>
          </a:p>
        </p:txBody>
      </p:sp>
      <p:sp>
        <p:nvSpPr>
          <p:cNvPr id="9" name="Freeform 9"/>
          <p:cNvSpPr/>
          <p:nvPr/>
        </p:nvSpPr>
        <p:spPr>
          <a:xfrm>
            <a:off x="820521" y="3607810"/>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108584" y="67848"/>
                </a:moveTo>
                <a:lnTo>
                  <a:pt x="83066" y="108679"/>
                </a:lnTo>
                <a:cubicBezTo>
                  <a:pt x="81724" y="110816"/>
                  <a:pt x="79428" y="112156"/>
                  <a:pt x="76907" y="112285"/>
                </a:cubicBezTo>
                <a:cubicBezTo>
                  <a:pt x="74388" y="112412"/>
                  <a:pt x="71965" y="111263"/>
                  <a:pt x="70465" y="109223"/>
                </a:cubicBezTo>
                <a:lnTo>
                  <a:pt x="55154" y="88806"/>
                </a:lnTo>
                <a:cubicBezTo>
                  <a:pt x="52601" y="85425"/>
                  <a:pt x="53303" y="80640"/>
                  <a:pt x="56684" y="78088"/>
                </a:cubicBezTo>
                <a:cubicBezTo>
                  <a:pt x="60066" y="75537"/>
                  <a:pt x="64850" y="76238"/>
                  <a:pt x="67401" y="79620"/>
                </a:cubicBezTo>
                <a:lnTo>
                  <a:pt x="76015" y="91103"/>
                </a:lnTo>
                <a:lnTo>
                  <a:pt x="95601" y="59747"/>
                </a:lnTo>
                <a:cubicBezTo>
                  <a:pt x="97834" y="56173"/>
                  <a:pt x="102555" y="55057"/>
                  <a:pt x="106159" y="57321"/>
                </a:cubicBezTo>
                <a:cubicBezTo>
                  <a:pt x="109764" y="59587"/>
                  <a:pt x="110849" y="64276"/>
                  <a:pt x="108584" y="6788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1102209" y="3575182"/>
            <a:ext cx="1625056"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Base sur le nombre de coeurs CPU/GPU</a:t>
            </a:r>
            <a:endParaRPr lang="en-US" sz="1100"/>
          </a:p>
        </p:txBody>
      </p:sp>
      <p:sp>
        <p:nvSpPr>
          <p:cNvPr id="11" name="Freeform 11"/>
          <p:cNvSpPr/>
          <p:nvPr/>
        </p:nvSpPr>
        <p:spPr>
          <a:xfrm>
            <a:off x="820521" y="3967109"/>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108584" y="67848"/>
                </a:moveTo>
                <a:lnTo>
                  <a:pt x="83066" y="108679"/>
                </a:lnTo>
                <a:cubicBezTo>
                  <a:pt x="81724" y="110816"/>
                  <a:pt x="79428" y="112156"/>
                  <a:pt x="76907" y="112285"/>
                </a:cubicBezTo>
                <a:cubicBezTo>
                  <a:pt x="74388" y="112412"/>
                  <a:pt x="71965" y="111263"/>
                  <a:pt x="70465" y="109223"/>
                </a:cubicBezTo>
                <a:lnTo>
                  <a:pt x="55154" y="88806"/>
                </a:lnTo>
                <a:cubicBezTo>
                  <a:pt x="52601" y="85425"/>
                  <a:pt x="53303" y="80640"/>
                  <a:pt x="56684" y="78088"/>
                </a:cubicBezTo>
                <a:cubicBezTo>
                  <a:pt x="60066" y="75537"/>
                  <a:pt x="64850" y="76238"/>
                  <a:pt x="67401" y="79620"/>
                </a:cubicBezTo>
                <a:lnTo>
                  <a:pt x="76015" y="91103"/>
                </a:lnTo>
                <a:lnTo>
                  <a:pt x="95601" y="59747"/>
                </a:lnTo>
                <a:cubicBezTo>
                  <a:pt x="97834" y="56173"/>
                  <a:pt x="102555" y="55057"/>
                  <a:pt x="106159" y="57321"/>
                </a:cubicBezTo>
                <a:cubicBezTo>
                  <a:pt x="109764" y="59587"/>
                  <a:pt x="110849" y="64276"/>
                  <a:pt x="108584" y="6788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1102209" y="3934481"/>
            <a:ext cx="955435"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Base sur la frequence d'horloge</a:t>
            </a:r>
            <a:endParaRPr lang="en-US" sz="1100"/>
          </a:p>
        </p:txBody>
      </p:sp>
      <p:sp>
        <p:nvSpPr>
          <p:cNvPr id="13" name="Freeform 13"/>
          <p:cNvSpPr/>
          <p:nvPr/>
        </p:nvSpPr>
        <p:spPr>
          <a:xfrm>
            <a:off x="820521" y="4326408"/>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108584" y="67848"/>
                </a:moveTo>
                <a:lnTo>
                  <a:pt x="83066" y="108679"/>
                </a:lnTo>
                <a:cubicBezTo>
                  <a:pt x="81724" y="110816"/>
                  <a:pt x="79428" y="112156"/>
                  <a:pt x="76907" y="112285"/>
                </a:cubicBezTo>
                <a:cubicBezTo>
                  <a:pt x="74388" y="112412"/>
                  <a:pt x="71965" y="111263"/>
                  <a:pt x="70465" y="109223"/>
                </a:cubicBezTo>
                <a:lnTo>
                  <a:pt x="55154" y="88806"/>
                </a:lnTo>
                <a:cubicBezTo>
                  <a:pt x="52601" y="85425"/>
                  <a:pt x="53303" y="80640"/>
                  <a:pt x="56684" y="78088"/>
                </a:cubicBezTo>
                <a:cubicBezTo>
                  <a:pt x="60066" y="75537"/>
                  <a:pt x="64850" y="76238"/>
                  <a:pt x="67401" y="79620"/>
                </a:cubicBezTo>
                <a:lnTo>
                  <a:pt x="76015" y="91103"/>
                </a:lnTo>
                <a:lnTo>
                  <a:pt x="95601" y="59747"/>
                </a:lnTo>
                <a:cubicBezTo>
                  <a:pt x="97834" y="56173"/>
                  <a:pt x="102555" y="55057"/>
                  <a:pt x="106159" y="57321"/>
                </a:cubicBezTo>
                <a:cubicBezTo>
                  <a:pt x="109764" y="59587"/>
                  <a:pt x="110849" y="64276"/>
                  <a:pt x="108584" y="6788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102209" y="4293780"/>
            <a:ext cx="1249415"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Base sur les instructions par cycle</a:t>
            </a:r>
            <a:endParaRPr lang="en-US" sz="1100"/>
          </a:p>
        </p:txBody>
      </p:sp>
      <p:sp>
        <p:nvSpPr>
          <p:cNvPr id="15" name="Freeform 15"/>
          <p:cNvSpPr/>
          <p:nvPr/>
        </p:nvSpPr>
        <p:spPr>
          <a:xfrm>
            <a:off x="6236116" y="1162104"/>
            <a:ext cx="5626368" cy="4393286"/>
          </a:xfrm>
          <a:custGeom>
            <a:avLst/>
            <a:gdLst/>
            <a:ahLst/>
            <a:cxnLst/>
            <a:rect l="l" t="t" r="r" b="b"/>
            <a:pathLst>
              <a:path w="5626368" h="4393286">
                <a:moveTo>
                  <a:pt x="98014" y="0"/>
                </a:moveTo>
                <a:lnTo>
                  <a:pt x="5528353" y="0"/>
                </a:lnTo>
                <a:cubicBezTo>
                  <a:pt x="5582484" y="0"/>
                  <a:pt x="5626368" y="43882"/>
                  <a:pt x="5626368" y="98014"/>
                </a:cubicBezTo>
                <a:lnTo>
                  <a:pt x="5626368" y="4295271"/>
                </a:lnTo>
                <a:cubicBezTo>
                  <a:pt x="5626368" y="4349403"/>
                  <a:pt x="5582484" y="4393286"/>
                  <a:pt x="5528353" y="4393286"/>
                </a:cubicBezTo>
                <a:lnTo>
                  <a:pt x="98014" y="4393286"/>
                </a:lnTo>
                <a:cubicBezTo>
                  <a:pt x="43882" y="4393286"/>
                  <a:pt x="0" y="4349403"/>
                  <a:pt x="0" y="4295271"/>
                </a:cubicBezTo>
                <a:lnTo>
                  <a:pt x="0" y="98014"/>
                </a:lnTo>
                <a:cubicBezTo>
                  <a:pt x="0" y="43919"/>
                  <a:pt x="43919" y="0"/>
                  <a:pt x="98014"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6440206" y="1366194"/>
            <a:ext cx="457302" cy="457302"/>
          </a:xfrm>
          <a:custGeom>
            <a:avLst/>
            <a:gdLst/>
            <a:ahLst/>
            <a:cxnLst/>
            <a:rect l="l" t="t" r="r" b="b"/>
            <a:pathLst>
              <a:path w="457302" h="457302">
                <a:moveTo>
                  <a:pt x="97994" y="0"/>
                </a:moveTo>
                <a:lnTo>
                  <a:pt x="359307" y="0"/>
                </a:lnTo>
                <a:cubicBezTo>
                  <a:pt x="413428" y="0"/>
                  <a:pt x="457302" y="43873"/>
                  <a:pt x="457302" y="97994"/>
                </a:cubicBezTo>
                <a:lnTo>
                  <a:pt x="457302" y="359307"/>
                </a:lnTo>
                <a:cubicBezTo>
                  <a:pt x="457302" y="413428"/>
                  <a:pt x="413428" y="457302"/>
                  <a:pt x="359307" y="457302"/>
                </a:cubicBezTo>
                <a:lnTo>
                  <a:pt x="97994" y="457302"/>
                </a:lnTo>
                <a:cubicBezTo>
                  <a:pt x="43873" y="457302"/>
                  <a:pt x="0" y="413428"/>
                  <a:pt x="0" y="359307"/>
                </a:cubicBezTo>
                <a:lnTo>
                  <a:pt x="0" y="97994"/>
                </a:lnTo>
                <a:cubicBezTo>
                  <a:pt x="0" y="43873"/>
                  <a:pt x="43873" y="0"/>
                  <a:pt x="97994" y="0"/>
                </a:cubicBezTo>
                <a:close/>
              </a:path>
            </a:pathLst>
          </a:custGeom>
          <a:solidFill>
            <a:srgbClr val="8B0000">
              <a:alpha val="100000"/>
            </a:srgbClr>
          </a:solidFill>
          <a:ln w="12700">
            <a:noFill/>
            <a:prstDash val="solid"/>
          </a:ln>
          <a:effectLst>
            <a:outerShdw blurRad="381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6570843" y="1509085"/>
            <a:ext cx="195986" cy="171488"/>
          </a:xfrm>
          <a:custGeom>
            <a:avLst/>
            <a:gdLst/>
            <a:ahLst/>
            <a:cxnLst/>
            <a:rect l="l" t="t" r="r" b="b"/>
            <a:pathLst>
              <a:path w="195986" h="171488">
                <a:moveTo>
                  <a:pt x="24498" y="12249"/>
                </a:moveTo>
                <a:cubicBezTo>
                  <a:pt x="24498" y="5474"/>
                  <a:pt x="19025" y="0"/>
                  <a:pt x="12249" y="0"/>
                </a:cubicBezTo>
                <a:cubicBezTo>
                  <a:pt x="5474" y="0"/>
                  <a:pt x="0" y="5474"/>
                  <a:pt x="0" y="12249"/>
                </a:cubicBezTo>
                <a:lnTo>
                  <a:pt x="0" y="140866"/>
                </a:lnTo>
                <a:cubicBezTo>
                  <a:pt x="0" y="157785"/>
                  <a:pt x="13705" y="171488"/>
                  <a:pt x="30624" y="171488"/>
                </a:cubicBezTo>
                <a:lnTo>
                  <a:pt x="183737" y="171488"/>
                </a:lnTo>
                <a:cubicBezTo>
                  <a:pt x="190513" y="171488"/>
                  <a:pt x="195986" y="166015"/>
                  <a:pt x="195986" y="159239"/>
                </a:cubicBezTo>
                <a:cubicBezTo>
                  <a:pt x="195986" y="152464"/>
                  <a:pt x="190513" y="146990"/>
                  <a:pt x="183737" y="146990"/>
                </a:cubicBezTo>
                <a:lnTo>
                  <a:pt x="30624" y="146990"/>
                </a:lnTo>
                <a:cubicBezTo>
                  <a:pt x="27254" y="146990"/>
                  <a:pt x="24498" y="144234"/>
                  <a:pt x="24498" y="140866"/>
                </a:cubicBezTo>
                <a:lnTo>
                  <a:pt x="24498" y="12249"/>
                </a:lnTo>
                <a:close/>
                <a:moveTo>
                  <a:pt x="180139" y="45399"/>
                </a:moveTo>
                <a:cubicBezTo>
                  <a:pt x="184923" y="40613"/>
                  <a:pt x="184923" y="32844"/>
                  <a:pt x="180139" y="28058"/>
                </a:cubicBezTo>
                <a:cubicBezTo>
                  <a:pt x="175354" y="23274"/>
                  <a:pt x="167584" y="23274"/>
                  <a:pt x="162799" y="28058"/>
                </a:cubicBezTo>
                <a:lnTo>
                  <a:pt x="122491" y="68404"/>
                </a:lnTo>
                <a:lnTo>
                  <a:pt x="100520" y="46469"/>
                </a:lnTo>
                <a:cubicBezTo>
                  <a:pt x="95735" y="41687"/>
                  <a:pt x="87964" y="41687"/>
                  <a:pt x="83179" y="46469"/>
                </a:cubicBezTo>
                <a:lnTo>
                  <a:pt x="46432" y="83218"/>
                </a:lnTo>
                <a:cubicBezTo>
                  <a:pt x="41647" y="88004"/>
                  <a:pt x="41647" y="95773"/>
                  <a:pt x="46432" y="100557"/>
                </a:cubicBezTo>
                <a:cubicBezTo>
                  <a:pt x="51217" y="105343"/>
                  <a:pt x="58986" y="105343"/>
                  <a:pt x="63772" y="100557"/>
                </a:cubicBezTo>
                <a:lnTo>
                  <a:pt x="91869" y="72463"/>
                </a:lnTo>
                <a:lnTo>
                  <a:pt x="113842" y="94434"/>
                </a:lnTo>
                <a:cubicBezTo>
                  <a:pt x="118626" y="99218"/>
                  <a:pt x="126395" y="99218"/>
                  <a:pt x="131181" y="94434"/>
                </a:cubicBezTo>
                <a:lnTo>
                  <a:pt x="180177" y="4543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028097" y="1464207"/>
            <a:ext cx="1110591" cy="26131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5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 reels</a:t>
            </a:r>
            <a:endParaRPr lang="en-US" sz="1100"/>
          </a:p>
        </p:txBody>
      </p:sp>
      <p:sp>
        <p:nvSpPr>
          <p:cNvPr id="19" name="Freeform 19"/>
          <p:cNvSpPr/>
          <p:nvPr/>
        </p:nvSpPr>
        <p:spPr>
          <a:xfrm>
            <a:off x="6440206" y="2587111"/>
            <a:ext cx="5218143" cy="2196683"/>
          </a:xfrm>
          <a:custGeom>
            <a:avLst/>
            <a:gdLst/>
            <a:ahLst/>
            <a:cxnLst/>
            <a:rect l="l" t="t" r="r" b="b"/>
            <a:pathLst>
              <a:path w="5218143" h="2196683">
                <a:moveTo>
                  <a:pt x="65329" y="0"/>
                </a:moveTo>
                <a:lnTo>
                  <a:pt x="5152814" y="0"/>
                </a:lnTo>
                <a:cubicBezTo>
                  <a:pt x="5188894" y="0"/>
                  <a:pt x="5218143" y="29249"/>
                  <a:pt x="5218143" y="65329"/>
                </a:cubicBezTo>
                <a:lnTo>
                  <a:pt x="5218143" y="2131353"/>
                </a:lnTo>
                <a:cubicBezTo>
                  <a:pt x="5218143" y="2167434"/>
                  <a:pt x="5188894" y="2196683"/>
                  <a:pt x="5152814" y="2196683"/>
                </a:cubicBezTo>
                <a:lnTo>
                  <a:pt x="65329" y="2196683"/>
                </a:lnTo>
                <a:cubicBezTo>
                  <a:pt x="29249" y="2196683"/>
                  <a:pt x="0" y="2167434"/>
                  <a:pt x="0" y="2131353"/>
                </a:cubicBezTo>
                <a:lnTo>
                  <a:pt x="0" y="65329"/>
                </a:lnTo>
                <a:cubicBezTo>
                  <a:pt x="0" y="29273"/>
                  <a:pt x="29274" y="0"/>
                  <a:pt x="65329"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AutoShape 20"/>
          <p:cNvSpPr/>
          <p:nvPr/>
        </p:nvSpPr>
        <p:spPr>
          <a:xfrm>
            <a:off x="6701490" y="2848396"/>
            <a:ext cx="4777173" cy="53079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87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Les FLOPS reels sont determines par </a:t>
            </a:r>
            <a:r>
              <a:rPr lang="en-US" sz="8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l'execution du programme</a:t>
            </a:r>
            <a:r>
              <a:rPr lang="en-US" sz="87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et sont influences par une combinaison de facteurs complexes.</a:t>
            </a:r>
            <a:endParaRPr lang="en-US" sz="1100"/>
          </a:p>
        </p:txBody>
      </p:sp>
      <p:sp>
        <p:nvSpPr>
          <p:cNvPr id="21" name="Freeform 21"/>
          <p:cNvSpPr/>
          <p:nvPr/>
        </p:nvSpPr>
        <p:spPr>
          <a:xfrm>
            <a:off x="6721906" y="3607810"/>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53271" y="53271"/>
                </a:moveTo>
                <a:cubicBezTo>
                  <a:pt x="56270" y="50273"/>
                  <a:pt x="61117" y="50273"/>
                  <a:pt x="64085" y="53271"/>
                </a:cubicBezTo>
                <a:lnTo>
                  <a:pt x="81629" y="70815"/>
                </a:lnTo>
                <a:lnTo>
                  <a:pt x="99174" y="53271"/>
                </a:lnTo>
                <a:cubicBezTo>
                  <a:pt x="102171" y="50273"/>
                  <a:pt x="107022" y="50273"/>
                  <a:pt x="109987" y="53271"/>
                </a:cubicBezTo>
                <a:cubicBezTo>
                  <a:pt x="112954" y="56270"/>
                  <a:pt x="112986" y="61117"/>
                  <a:pt x="109987" y="64085"/>
                </a:cubicBezTo>
                <a:lnTo>
                  <a:pt x="92443" y="81629"/>
                </a:lnTo>
                <a:lnTo>
                  <a:pt x="109987" y="99174"/>
                </a:lnTo>
                <a:cubicBezTo>
                  <a:pt x="112986" y="102172"/>
                  <a:pt x="112986" y="107022"/>
                  <a:pt x="109987" y="109987"/>
                </a:cubicBezTo>
                <a:cubicBezTo>
                  <a:pt x="106989" y="112954"/>
                  <a:pt x="102140" y="112986"/>
                  <a:pt x="99174" y="109987"/>
                </a:cubicBezTo>
                <a:lnTo>
                  <a:pt x="81629" y="92443"/>
                </a:lnTo>
                <a:lnTo>
                  <a:pt x="64085" y="109987"/>
                </a:lnTo>
                <a:cubicBezTo>
                  <a:pt x="61086" y="112986"/>
                  <a:pt x="56238" y="112986"/>
                  <a:pt x="53271" y="109987"/>
                </a:cubicBezTo>
                <a:cubicBezTo>
                  <a:pt x="50305" y="106989"/>
                  <a:pt x="50273" y="102140"/>
                  <a:pt x="53271" y="99174"/>
                </a:cubicBezTo>
                <a:lnTo>
                  <a:pt x="70815" y="81629"/>
                </a:lnTo>
                <a:lnTo>
                  <a:pt x="53271" y="64085"/>
                </a:lnTo>
                <a:cubicBezTo>
                  <a:pt x="50273" y="61086"/>
                  <a:pt x="50273" y="56238"/>
                  <a:pt x="53271" y="53271"/>
                </a:cubicBezTo>
                <a:close/>
              </a:path>
            </a:pathLst>
          </a:custGeom>
          <a:solidFill>
            <a:srgbClr val="E7000B">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003593" y="3575182"/>
            <a:ext cx="1396405"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Generalement bien en dessous du pic theorique</a:t>
            </a:r>
            <a:endParaRPr lang="en-US" sz="1100"/>
          </a:p>
        </p:txBody>
      </p:sp>
      <p:sp>
        <p:nvSpPr>
          <p:cNvPr id="23" name="Freeform 23"/>
          <p:cNvSpPr/>
          <p:nvPr/>
        </p:nvSpPr>
        <p:spPr>
          <a:xfrm>
            <a:off x="6721906" y="3967109"/>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53271" y="53271"/>
                </a:moveTo>
                <a:cubicBezTo>
                  <a:pt x="56270" y="50273"/>
                  <a:pt x="61117" y="50273"/>
                  <a:pt x="64085" y="53271"/>
                </a:cubicBezTo>
                <a:lnTo>
                  <a:pt x="81629" y="70815"/>
                </a:lnTo>
                <a:lnTo>
                  <a:pt x="99174" y="53271"/>
                </a:lnTo>
                <a:cubicBezTo>
                  <a:pt x="102171" y="50273"/>
                  <a:pt x="107022" y="50273"/>
                  <a:pt x="109987" y="53271"/>
                </a:cubicBezTo>
                <a:cubicBezTo>
                  <a:pt x="112954" y="56270"/>
                  <a:pt x="112986" y="61117"/>
                  <a:pt x="109987" y="64085"/>
                </a:cubicBezTo>
                <a:lnTo>
                  <a:pt x="92443" y="81629"/>
                </a:lnTo>
                <a:lnTo>
                  <a:pt x="109987" y="99174"/>
                </a:lnTo>
                <a:cubicBezTo>
                  <a:pt x="112986" y="102172"/>
                  <a:pt x="112986" y="107022"/>
                  <a:pt x="109987" y="109987"/>
                </a:cubicBezTo>
                <a:cubicBezTo>
                  <a:pt x="106989" y="112954"/>
                  <a:pt x="102140" y="112986"/>
                  <a:pt x="99174" y="109987"/>
                </a:cubicBezTo>
                <a:lnTo>
                  <a:pt x="81629" y="92443"/>
                </a:lnTo>
                <a:lnTo>
                  <a:pt x="64085" y="109987"/>
                </a:lnTo>
                <a:cubicBezTo>
                  <a:pt x="61086" y="112986"/>
                  <a:pt x="56238" y="112986"/>
                  <a:pt x="53271" y="109987"/>
                </a:cubicBezTo>
                <a:cubicBezTo>
                  <a:pt x="50305" y="106989"/>
                  <a:pt x="50273" y="102140"/>
                  <a:pt x="53271" y="99174"/>
                </a:cubicBezTo>
                <a:lnTo>
                  <a:pt x="70815" y="81629"/>
                </a:lnTo>
                <a:lnTo>
                  <a:pt x="53271" y="64085"/>
                </a:lnTo>
                <a:cubicBezTo>
                  <a:pt x="50273" y="61086"/>
                  <a:pt x="50273" y="56238"/>
                  <a:pt x="53271" y="53271"/>
                </a:cubicBezTo>
                <a:close/>
              </a:path>
            </a:pathLst>
          </a:custGeom>
          <a:solidFill>
            <a:srgbClr val="E7000B">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7003593" y="3934481"/>
            <a:ext cx="1102425"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Affecte par de multiples facteurs</a:t>
            </a:r>
            <a:endParaRPr lang="en-US" sz="1100"/>
          </a:p>
        </p:txBody>
      </p:sp>
      <p:sp>
        <p:nvSpPr>
          <p:cNvPr id="25" name="Freeform 25"/>
          <p:cNvSpPr/>
          <p:nvPr/>
        </p:nvSpPr>
        <p:spPr>
          <a:xfrm>
            <a:off x="6721906" y="4326408"/>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53271" y="53271"/>
                </a:moveTo>
                <a:cubicBezTo>
                  <a:pt x="56270" y="50273"/>
                  <a:pt x="61117" y="50273"/>
                  <a:pt x="64085" y="53271"/>
                </a:cubicBezTo>
                <a:lnTo>
                  <a:pt x="81629" y="70815"/>
                </a:lnTo>
                <a:lnTo>
                  <a:pt x="99174" y="53271"/>
                </a:lnTo>
                <a:cubicBezTo>
                  <a:pt x="102171" y="50273"/>
                  <a:pt x="107022" y="50273"/>
                  <a:pt x="109987" y="53271"/>
                </a:cubicBezTo>
                <a:cubicBezTo>
                  <a:pt x="112954" y="56270"/>
                  <a:pt x="112986" y="61117"/>
                  <a:pt x="109987" y="64085"/>
                </a:cubicBezTo>
                <a:lnTo>
                  <a:pt x="92443" y="81629"/>
                </a:lnTo>
                <a:lnTo>
                  <a:pt x="109987" y="99174"/>
                </a:lnTo>
                <a:cubicBezTo>
                  <a:pt x="112986" y="102172"/>
                  <a:pt x="112986" y="107022"/>
                  <a:pt x="109987" y="109987"/>
                </a:cubicBezTo>
                <a:cubicBezTo>
                  <a:pt x="106989" y="112954"/>
                  <a:pt x="102140" y="112986"/>
                  <a:pt x="99174" y="109987"/>
                </a:cubicBezTo>
                <a:lnTo>
                  <a:pt x="81629" y="92443"/>
                </a:lnTo>
                <a:lnTo>
                  <a:pt x="64085" y="109987"/>
                </a:lnTo>
                <a:cubicBezTo>
                  <a:pt x="61086" y="112986"/>
                  <a:pt x="56238" y="112986"/>
                  <a:pt x="53271" y="109987"/>
                </a:cubicBezTo>
                <a:cubicBezTo>
                  <a:pt x="50305" y="106989"/>
                  <a:pt x="50273" y="102140"/>
                  <a:pt x="53271" y="99174"/>
                </a:cubicBezTo>
                <a:lnTo>
                  <a:pt x="70815" y="81629"/>
                </a:lnTo>
                <a:lnTo>
                  <a:pt x="53271" y="64085"/>
                </a:lnTo>
                <a:cubicBezTo>
                  <a:pt x="50273" y="61086"/>
                  <a:pt x="50273" y="56238"/>
                  <a:pt x="53271" y="53271"/>
                </a:cubicBezTo>
                <a:close/>
              </a:path>
            </a:pathLst>
          </a:custGeom>
          <a:solidFill>
            <a:srgbClr val="E7000B">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7003593" y="4293780"/>
            <a:ext cx="1249415"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Necessite une optimisation pour s'ameliorer</a:t>
            </a:r>
            <a:endParaRPr lang="en-US" sz="1100"/>
          </a:p>
        </p:txBody>
      </p:sp>
      <p:sp>
        <p:nvSpPr>
          <p:cNvPr id="27" name="Freeform 27"/>
          <p:cNvSpPr/>
          <p:nvPr/>
        </p:nvSpPr>
        <p:spPr>
          <a:xfrm>
            <a:off x="342857" y="5454801"/>
            <a:ext cx="11522299" cy="1077926"/>
          </a:xfrm>
          <a:custGeom>
            <a:avLst/>
            <a:gdLst/>
            <a:ahLst/>
            <a:cxnLst/>
            <a:rect l="l" t="t" r="r" b="b"/>
            <a:pathLst>
              <a:path w="11522299" h="1077926">
                <a:moveTo>
                  <a:pt x="32502" y="0"/>
                </a:moveTo>
                <a:lnTo>
                  <a:pt x="11424304" y="0"/>
                </a:lnTo>
                <a:cubicBezTo>
                  <a:pt x="11478424" y="0"/>
                  <a:pt x="11522299" y="43873"/>
                  <a:pt x="11522299" y="97994"/>
                </a:cubicBezTo>
                <a:lnTo>
                  <a:pt x="11522299" y="979932"/>
                </a:lnTo>
                <a:cubicBezTo>
                  <a:pt x="11522299" y="1034053"/>
                  <a:pt x="11478424" y="1077926"/>
                  <a:pt x="11424304" y="1077926"/>
                </a:cubicBezTo>
                <a:lnTo>
                  <a:pt x="32502" y="1077926"/>
                </a:lnTo>
                <a:cubicBezTo>
                  <a:pt x="14552" y="1077926"/>
                  <a:pt x="0" y="1063375"/>
                  <a:pt x="0" y="1045425"/>
                </a:cubicBezTo>
                <a:lnTo>
                  <a:pt x="0" y="32502"/>
                </a:lnTo>
                <a:cubicBezTo>
                  <a:pt x="0" y="14564"/>
                  <a:pt x="14564" y="0"/>
                  <a:pt x="3250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342857" y="5454801"/>
            <a:ext cx="32502" cy="1077926"/>
          </a:xfrm>
          <a:custGeom>
            <a:avLst/>
            <a:gdLst/>
            <a:ahLst/>
            <a:cxnLst/>
            <a:rect l="l" t="t" r="r" b="b"/>
            <a:pathLst>
              <a:path w="32502" h="1077926">
                <a:moveTo>
                  <a:pt x="32502" y="0"/>
                </a:moveTo>
                <a:lnTo>
                  <a:pt x="32502" y="0"/>
                </a:lnTo>
                <a:lnTo>
                  <a:pt x="32502" y="1077926"/>
                </a:lnTo>
                <a:lnTo>
                  <a:pt x="32502" y="1077926"/>
                </a:lnTo>
                <a:cubicBezTo>
                  <a:pt x="14552" y="1077926"/>
                  <a:pt x="0" y="1063375"/>
                  <a:pt x="0" y="1045425"/>
                </a:cubicBezTo>
                <a:lnTo>
                  <a:pt x="0" y="32502"/>
                </a:lnTo>
                <a:cubicBezTo>
                  <a:pt x="0" y="14564"/>
                  <a:pt x="14564" y="0"/>
                  <a:pt x="3250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522380" y="5618071"/>
            <a:ext cx="11261064" cy="22865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Principaux facteurs d'influence</a:t>
            </a:r>
            <a:endParaRPr lang="en-US" sz="1100"/>
          </a:p>
        </p:txBody>
      </p:sp>
      <p:sp>
        <p:nvSpPr>
          <p:cNvPr id="30" name="Freeform 30"/>
          <p:cNvSpPr/>
          <p:nvPr/>
        </p:nvSpPr>
        <p:spPr>
          <a:xfrm>
            <a:off x="522380" y="5944678"/>
            <a:ext cx="2694816" cy="424638"/>
          </a:xfrm>
          <a:custGeom>
            <a:avLst/>
            <a:gdLst/>
            <a:ahLst/>
            <a:cxnLst/>
            <a:rect l="l" t="t" r="r" b="b"/>
            <a:pathLst>
              <a:path w="2694816" h="424638">
                <a:moveTo>
                  <a:pt x="65331" y="0"/>
                </a:moveTo>
                <a:lnTo>
                  <a:pt x="2629485" y="0"/>
                </a:lnTo>
                <a:cubicBezTo>
                  <a:pt x="2665566" y="0"/>
                  <a:pt x="2694816" y="29249"/>
                  <a:pt x="2694816" y="65331"/>
                </a:cubicBezTo>
                <a:lnTo>
                  <a:pt x="2694816" y="359307"/>
                </a:lnTo>
                <a:cubicBezTo>
                  <a:pt x="2694816" y="395388"/>
                  <a:pt x="2665566" y="424638"/>
                  <a:pt x="2629485" y="424638"/>
                </a:cubicBezTo>
                <a:lnTo>
                  <a:pt x="65331" y="424638"/>
                </a:lnTo>
                <a:cubicBezTo>
                  <a:pt x="29249" y="424638"/>
                  <a:pt x="0" y="395388"/>
                  <a:pt x="0" y="359307"/>
                </a:cubicBezTo>
                <a:lnTo>
                  <a:pt x="0" y="65331"/>
                </a:lnTo>
                <a:cubicBezTo>
                  <a:pt x="0" y="29274"/>
                  <a:pt x="29273" y="0"/>
                  <a:pt x="6533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1" name="Freeform 31"/>
          <p:cNvSpPr/>
          <p:nvPr/>
        </p:nvSpPr>
        <p:spPr>
          <a:xfrm>
            <a:off x="640745" y="6095673"/>
            <a:ext cx="163322" cy="122491"/>
          </a:xfrm>
          <a:custGeom>
            <a:avLst/>
            <a:gdLst/>
            <a:ahLst/>
            <a:cxnLst/>
            <a:rect l="l" t="t" r="r" b="b"/>
            <a:pathLst>
              <a:path w="163322" h="122491">
                <a:moveTo>
                  <a:pt x="20415" y="0"/>
                </a:moveTo>
                <a:cubicBezTo>
                  <a:pt x="9155" y="0"/>
                  <a:pt x="0" y="9154"/>
                  <a:pt x="0" y="20415"/>
                </a:cubicBezTo>
                <a:lnTo>
                  <a:pt x="0" y="22776"/>
                </a:lnTo>
                <a:cubicBezTo>
                  <a:pt x="0" y="24946"/>
                  <a:pt x="1405" y="26795"/>
                  <a:pt x="3222" y="27976"/>
                </a:cubicBezTo>
                <a:cubicBezTo>
                  <a:pt x="7432" y="30719"/>
                  <a:pt x="10208" y="35440"/>
                  <a:pt x="10208" y="40831"/>
                </a:cubicBezTo>
                <a:cubicBezTo>
                  <a:pt x="10208" y="46222"/>
                  <a:pt x="7432" y="50942"/>
                  <a:pt x="3222" y="53686"/>
                </a:cubicBezTo>
                <a:cubicBezTo>
                  <a:pt x="1405" y="54866"/>
                  <a:pt x="0" y="56716"/>
                  <a:pt x="0" y="58886"/>
                </a:cubicBezTo>
                <a:lnTo>
                  <a:pt x="0" y="76558"/>
                </a:lnTo>
                <a:lnTo>
                  <a:pt x="163322" y="76558"/>
                </a:lnTo>
                <a:lnTo>
                  <a:pt x="163322" y="58886"/>
                </a:lnTo>
                <a:cubicBezTo>
                  <a:pt x="163322" y="56716"/>
                  <a:pt x="161919" y="54866"/>
                  <a:pt x="160100" y="53686"/>
                </a:cubicBezTo>
                <a:cubicBezTo>
                  <a:pt x="155890" y="50942"/>
                  <a:pt x="153115" y="46222"/>
                  <a:pt x="153115" y="40831"/>
                </a:cubicBezTo>
                <a:cubicBezTo>
                  <a:pt x="153115" y="35440"/>
                  <a:pt x="155890" y="30719"/>
                  <a:pt x="160100" y="27976"/>
                </a:cubicBezTo>
                <a:cubicBezTo>
                  <a:pt x="161919" y="26795"/>
                  <a:pt x="163322" y="24946"/>
                  <a:pt x="163322" y="22776"/>
                </a:cubicBezTo>
                <a:lnTo>
                  <a:pt x="163322" y="20415"/>
                </a:lnTo>
                <a:cubicBezTo>
                  <a:pt x="163322" y="9154"/>
                  <a:pt x="154167" y="0"/>
                  <a:pt x="142907" y="0"/>
                </a:cubicBezTo>
                <a:lnTo>
                  <a:pt x="20415" y="0"/>
                </a:lnTo>
                <a:close/>
                <a:moveTo>
                  <a:pt x="163322" y="112283"/>
                </a:moveTo>
                <a:lnTo>
                  <a:pt x="163322" y="91870"/>
                </a:lnTo>
                <a:lnTo>
                  <a:pt x="0" y="91870"/>
                </a:lnTo>
                <a:lnTo>
                  <a:pt x="0" y="112283"/>
                </a:lnTo>
                <a:cubicBezTo>
                  <a:pt x="0" y="117930"/>
                  <a:pt x="4562" y="122492"/>
                  <a:pt x="10208" y="122492"/>
                </a:cubicBezTo>
                <a:lnTo>
                  <a:pt x="30624" y="122492"/>
                </a:lnTo>
                <a:lnTo>
                  <a:pt x="30624" y="114836"/>
                </a:lnTo>
                <a:cubicBezTo>
                  <a:pt x="30624" y="110594"/>
                  <a:pt x="34036" y="107181"/>
                  <a:pt x="38279" y="107181"/>
                </a:cubicBezTo>
                <a:cubicBezTo>
                  <a:pt x="42521" y="107181"/>
                  <a:pt x="45935" y="110594"/>
                  <a:pt x="45935" y="114836"/>
                </a:cubicBezTo>
                <a:lnTo>
                  <a:pt x="45935" y="122492"/>
                </a:lnTo>
                <a:lnTo>
                  <a:pt x="74005" y="122492"/>
                </a:lnTo>
                <a:lnTo>
                  <a:pt x="74005" y="114836"/>
                </a:lnTo>
                <a:cubicBezTo>
                  <a:pt x="74005" y="110594"/>
                  <a:pt x="77419" y="107181"/>
                  <a:pt x="81661" y="107181"/>
                </a:cubicBezTo>
                <a:cubicBezTo>
                  <a:pt x="85904" y="107181"/>
                  <a:pt x="89317" y="110594"/>
                  <a:pt x="89317" y="114836"/>
                </a:cubicBezTo>
                <a:lnTo>
                  <a:pt x="89317" y="122492"/>
                </a:lnTo>
                <a:lnTo>
                  <a:pt x="117387" y="122492"/>
                </a:lnTo>
                <a:lnTo>
                  <a:pt x="117387" y="114836"/>
                </a:lnTo>
                <a:cubicBezTo>
                  <a:pt x="117387" y="110594"/>
                  <a:pt x="120801" y="107181"/>
                  <a:pt x="125044" y="107181"/>
                </a:cubicBezTo>
                <a:cubicBezTo>
                  <a:pt x="129286" y="107181"/>
                  <a:pt x="132698" y="110594"/>
                  <a:pt x="132698" y="114836"/>
                </a:cubicBezTo>
                <a:lnTo>
                  <a:pt x="132698" y="122492"/>
                </a:lnTo>
                <a:lnTo>
                  <a:pt x="153115" y="122492"/>
                </a:lnTo>
                <a:cubicBezTo>
                  <a:pt x="158761" y="122492"/>
                  <a:pt x="163322" y="117930"/>
                  <a:pt x="163322" y="112283"/>
                </a:cubicBezTo>
                <a:close/>
                <a:moveTo>
                  <a:pt x="51037" y="30622"/>
                </a:moveTo>
                <a:lnTo>
                  <a:pt x="51037" y="51038"/>
                </a:lnTo>
                <a:cubicBezTo>
                  <a:pt x="51037" y="56685"/>
                  <a:pt x="46477" y="61246"/>
                  <a:pt x="40831" y="61246"/>
                </a:cubicBezTo>
                <a:cubicBezTo>
                  <a:pt x="35184" y="61246"/>
                  <a:pt x="30624" y="56685"/>
                  <a:pt x="30624" y="51038"/>
                </a:cubicBezTo>
                <a:lnTo>
                  <a:pt x="30624" y="30622"/>
                </a:lnTo>
                <a:cubicBezTo>
                  <a:pt x="30624" y="24977"/>
                  <a:pt x="35184" y="20415"/>
                  <a:pt x="40831" y="20415"/>
                </a:cubicBezTo>
                <a:cubicBezTo>
                  <a:pt x="46477" y="20415"/>
                  <a:pt x="51037" y="24977"/>
                  <a:pt x="51037" y="30622"/>
                </a:cubicBezTo>
                <a:close/>
                <a:moveTo>
                  <a:pt x="91869" y="30622"/>
                </a:moveTo>
                <a:lnTo>
                  <a:pt x="91869" y="51038"/>
                </a:lnTo>
                <a:cubicBezTo>
                  <a:pt x="91869" y="56685"/>
                  <a:pt x="87307" y="61246"/>
                  <a:pt x="81661" y="61246"/>
                </a:cubicBezTo>
                <a:cubicBezTo>
                  <a:pt x="76015" y="61246"/>
                  <a:pt x="71453" y="56685"/>
                  <a:pt x="71453" y="51038"/>
                </a:cubicBezTo>
                <a:lnTo>
                  <a:pt x="71453" y="30622"/>
                </a:lnTo>
                <a:cubicBezTo>
                  <a:pt x="71453" y="24977"/>
                  <a:pt x="76015" y="20415"/>
                  <a:pt x="81661" y="20415"/>
                </a:cubicBezTo>
                <a:cubicBezTo>
                  <a:pt x="87307" y="20415"/>
                  <a:pt x="91869" y="24977"/>
                  <a:pt x="91869" y="30622"/>
                </a:cubicBezTo>
                <a:close/>
                <a:moveTo>
                  <a:pt x="132698" y="30622"/>
                </a:moveTo>
                <a:lnTo>
                  <a:pt x="132698" y="51038"/>
                </a:lnTo>
                <a:cubicBezTo>
                  <a:pt x="132698" y="56685"/>
                  <a:pt x="128138" y="61246"/>
                  <a:pt x="122491" y="61246"/>
                </a:cubicBezTo>
                <a:cubicBezTo>
                  <a:pt x="116846" y="61246"/>
                  <a:pt x="112285" y="56685"/>
                  <a:pt x="112285" y="51038"/>
                </a:cubicBezTo>
                <a:lnTo>
                  <a:pt x="112285" y="30622"/>
                </a:lnTo>
                <a:cubicBezTo>
                  <a:pt x="112285" y="24977"/>
                  <a:pt x="116846" y="20415"/>
                  <a:pt x="122491" y="20415"/>
                </a:cubicBezTo>
                <a:cubicBezTo>
                  <a:pt x="128138" y="20415"/>
                  <a:pt x="132698" y="24977"/>
                  <a:pt x="132698" y="3062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922433" y="6042627"/>
            <a:ext cx="661455"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Acces memoire</a:t>
            </a:r>
            <a:endParaRPr lang="en-US" sz="1100"/>
          </a:p>
        </p:txBody>
      </p:sp>
      <p:sp>
        <p:nvSpPr>
          <p:cNvPr id="33" name="Freeform 33"/>
          <p:cNvSpPr/>
          <p:nvPr/>
        </p:nvSpPr>
        <p:spPr>
          <a:xfrm>
            <a:off x="3350618" y="5944678"/>
            <a:ext cx="2694816" cy="424638"/>
          </a:xfrm>
          <a:custGeom>
            <a:avLst/>
            <a:gdLst/>
            <a:ahLst/>
            <a:cxnLst/>
            <a:rect l="l" t="t" r="r" b="b"/>
            <a:pathLst>
              <a:path w="2694816" h="424638">
                <a:moveTo>
                  <a:pt x="65331" y="0"/>
                </a:moveTo>
                <a:lnTo>
                  <a:pt x="2629485" y="0"/>
                </a:lnTo>
                <a:cubicBezTo>
                  <a:pt x="2665566" y="0"/>
                  <a:pt x="2694816" y="29249"/>
                  <a:pt x="2694816" y="65331"/>
                </a:cubicBezTo>
                <a:lnTo>
                  <a:pt x="2694816" y="359307"/>
                </a:lnTo>
                <a:cubicBezTo>
                  <a:pt x="2694816" y="395388"/>
                  <a:pt x="2665566" y="424638"/>
                  <a:pt x="2629485" y="424638"/>
                </a:cubicBezTo>
                <a:lnTo>
                  <a:pt x="65331" y="424638"/>
                </a:lnTo>
                <a:cubicBezTo>
                  <a:pt x="29249" y="424638"/>
                  <a:pt x="0" y="395388"/>
                  <a:pt x="0" y="359307"/>
                </a:cubicBezTo>
                <a:lnTo>
                  <a:pt x="0" y="65331"/>
                </a:lnTo>
                <a:cubicBezTo>
                  <a:pt x="0" y="29274"/>
                  <a:pt x="29274" y="0"/>
                  <a:pt x="6533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4" name="Freeform 34"/>
          <p:cNvSpPr/>
          <p:nvPr/>
        </p:nvSpPr>
        <p:spPr>
          <a:xfrm>
            <a:off x="3479191" y="6075258"/>
            <a:ext cx="142907" cy="163322"/>
          </a:xfrm>
          <a:custGeom>
            <a:avLst/>
            <a:gdLst/>
            <a:ahLst/>
            <a:cxnLst/>
            <a:rect l="l" t="t" r="r" b="b"/>
            <a:pathLst>
              <a:path w="142907" h="163322">
                <a:moveTo>
                  <a:pt x="25519" y="33175"/>
                </a:moveTo>
                <a:cubicBezTo>
                  <a:pt x="29743" y="33175"/>
                  <a:pt x="33175" y="29743"/>
                  <a:pt x="33175" y="25519"/>
                </a:cubicBezTo>
                <a:cubicBezTo>
                  <a:pt x="33175" y="21294"/>
                  <a:pt x="29743" y="17863"/>
                  <a:pt x="25519" y="17863"/>
                </a:cubicBezTo>
                <a:cubicBezTo>
                  <a:pt x="21294" y="17863"/>
                  <a:pt x="17863" y="21294"/>
                  <a:pt x="17863" y="25519"/>
                </a:cubicBezTo>
                <a:cubicBezTo>
                  <a:pt x="17863" y="29743"/>
                  <a:pt x="21294" y="33175"/>
                  <a:pt x="25519" y="33175"/>
                </a:cubicBezTo>
                <a:close/>
                <a:moveTo>
                  <a:pt x="51037" y="25519"/>
                </a:moveTo>
                <a:cubicBezTo>
                  <a:pt x="51037" y="35982"/>
                  <a:pt x="44754" y="44977"/>
                  <a:pt x="35726" y="48901"/>
                </a:cubicBezTo>
                <a:lnTo>
                  <a:pt x="35726" y="71453"/>
                </a:lnTo>
                <a:lnTo>
                  <a:pt x="91869" y="71453"/>
                </a:lnTo>
                <a:cubicBezTo>
                  <a:pt x="100322" y="71453"/>
                  <a:pt x="107180" y="64595"/>
                  <a:pt x="107180" y="56142"/>
                </a:cubicBezTo>
                <a:lnTo>
                  <a:pt x="107180" y="48901"/>
                </a:lnTo>
                <a:cubicBezTo>
                  <a:pt x="98153" y="44977"/>
                  <a:pt x="91869" y="35982"/>
                  <a:pt x="91869" y="25519"/>
                </a:cubicBezTo>
                <a:cubicBezTo>
                  <a:pt x="91869" y="11420"/>
                  <a:pt x="103289" y="0"/>
                  <a:pt x="117387" y="0"/>
                </a:cubicBezTo>
                <a:cubicBezTo>
                  <a:pt x="131487" y="0"/>
                  <a:pt x="142907" y="11420"/>
                  <a:pt x="142907" y="25519"/>
                </a:cubicBezTo>
                <a:cubicBezTo>
                  <a:pt x="142907" y="35982"/>
                  <a:pt x="136623" y="44977"/>
                  <a:pt x="127596" y="48901"/>
                </a:cubicBezTo>
                <a:lnTo>
                  <a:pt x="127596" y="56142"/>
                </a:lnTo>
                <a:cubicBezTo>
                  <a:pt x="127596" y="75888"/>
                  <a:pt x="111614" y="91869"/>
                  <a:pt x="91869" y="91869"/>
                </a:cubicBezTo>
                <a:lnTo>
                  <a:pt x="35726" y="91869"/>
                </a:lnTo>
                <a:lnTo>
                  <a:pt x="35726" y="114421"/>
                </a:lnTo>
                <a:cubicBezTo>
                  <a:pt x="44754" y="118345"/>
                  <a:pt x="51037" y="127340"/>
                  <a:pt x="51037" y="137803"/>
                </a:cubicBezTo>
                <a:cubicBezTo>
                  <a:pt x="51037" y="151902"/>
                  <a:pt x="39618" y="163322"/>
                  <a:pt x="25519" y="163322"/>
                </a:cubicBezTo>
                <a:cubicBezTo>
                  <a:pt x="11420" y="163322"/>
                  <a:pt x="0" y="151902"/>
                  <a:pt x="0" y="137803"/>
                </a:cubicBezTo>
                <a:cubicBezTo>
                  <a:pt x="0" y="127340"/>
                  <a:pt x="6284" y="118345"/>
                  <a:pt x="15311" y="114421"/>
                </a:cubicBezTo>
                <a:lnTo>
                  <a:pt x="15311" y="48933"/>
                </a:lnTo>
                <a:cubicBezTo>
                  <a:pt x="6284" y="44977"/>
                  <a:pt x="0" y="35982"/>
                  <a:pt x="0" y="25519"/>
                </a:cubicBezTo>
                <a:cubicBezTo>
                  <a:pt x="0" y="11420"/>
                  <a:pt x="11420" y="0"/>
                  <a:pt x="25519" y="0"/>
                </a:cubicBezTo>
                <a:cubicBezTo>
                  <a:pt x="39618" y="0"/>
                  <a:pt x="51037" y="11420"/>
                  <a:pt x="51037" y="25519"/>
                </a:cubicBezTo>
                <a:close/>
                <a:moveTo>
                  <a:pt x="125044" y="25519"/>
                </a:moveTo>
                <a:cubicBezTo>
                  <a:pt x="125044" y="21294"/>
                  <a:pt x="121613" y="17863"/>
                  <a:pt x="117387" y="17863"/>
                </a:cubicBezTo>
                <a:cubicBezTo>
                  <a:pt x="113162" y="17863"/>
                  <a:pt x="109732" y="21294"/>
                  <a:pt x="109732" y="25519"/>
                </a:cubicBezTo>
                <a:cubicBezTo>
                  <a:pt x="109732" y="29743"/>
                  <a:pt x="113162" y="33175"/>
                  <a:pt x="117387" y="33175"/>
                </a:cubicBezTo>
                <a:cubicBezTo>
                  <a:pt x="121613" y="33175"/>
                  <a:pt x="125044" y="29743"/>
                  <a:pt x="125044" y="25519"/>
                </a:cubicBezTo>
                <a:close/>
                <a:moveTo>
                  <a:pt x="25519" y="145459"/>
                </a:moveTo>
                <a:cubicBezTo>
                  <a:pt x="29743" y="145459"/>
                  <a:pt x="33175" y="142028"/>
                  <a:pt x="33175" y="137803"/>
                </a:cubicBezTo>
                <a:cubicBezTo>
                  <a:pt x="33175" y="133579"/>
                  <a:pt x="29743" y="130147"/>
                  <a:pt x="25519" y="130147"/>
                </a:cubicBezTo>
                <a:cubicBezTo>
                  <a:pt x="21294" y="130147"/>
                  <a:pt x="17863" y="133579"/>
                  <a:pt x="17863" y="137803"/>
                </a:cubicBezTo>
                <a:cubicBezTo>
                  <a:pt x="17863" y="142028"/>
                  <a:pt x="21294" y="145459"/>
                  <a:pt x="25519" y="14545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3750671" y="6042627"/>
            <a:ext cx="661455"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Prediction de branchement</a:t>
            </a:r>
            <a:endParaRPr lang="en-US" sz="1100"/>
          </a:p>
        </p:txBody>
      </p:sp>
      <p:sp>
        <p:nvSpPr>
          <p:cNvPr id="36" name="Freeform 36"/>
          <p:cNvSpPr/>
          <p:nvPr/>
        </p:nvSpPr>
        <p:spPr>
          <a:xfrm>
            <a:off x="6178921" y="5944678"/>
            <a:ext cx="2694816" cy="424638"/>
          </a:xfrm>
          <a:custGeom>
            <a:avLst/>
            <a:gdLst/>
            <a:ahLst/>
            <a:cxnLst/>
            <a:rect l="l" t="t" r="r" b="b"/>
            <a:pathLst>
              <a:path w="2694816" h="424638">
                <a:moveTo>
                  <a:pt x="65331" y="0"/>
                </a:moveTo>
                <a:lnTo>
                  <a:pt x="2629485" y="0"/>
                </a:lnTo>
                <a:cubicBezTo>
                  <a:pt x="2665566" y="0"/>
                  <a:pt x="2694816" y="29249"/>
                  <a:pt x="2694816" y="65331"/>
                </a:cubicBezTo>
                <a:lnTo>
                  <a:pt x="2694816" y="359307"/>
                </a:lnTo>
                <a:cubicBezTo>
                  <a:pt x="2694816" y="395388"/>
                  <a:pt x="2665566" y="424638"/>
                  <a:pt x="2629485" y="424638"/>
                </a:cubicBezTo>
                <a:lnTo>
                  <a:pt x="65331" y="424638"/>
                </a:lnTo>
                <a:cubicBezTo>
                  <a:pt x="29249" y="424638"/>
                  <a:pt x="0" y="395388"/>
                  <a:pt x="0" y="359307"/>
                </a:cubicBezTo>
                <a:lnTo>
                  <a:pt x="0" y="65331"/>
                </a:lnTo>
                <a:cubicBezTo>
                  <a:pt x="0" y="29274"/>
                  <a:pt x="29273" y="0"/>
                  <a:pt x="6533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7" name="Freeform 37"/>
          <p:cNvSpPr/>
          <p:nvPr/>
        </p:nvSpPr>
        <p:spPr>
          <a:xfrm>
            <a:off x="6287078" y="6085466"/>
            <a:ext cx="183737" cy="142970"/>
          </a:xfrm>
          <a:custGeom>
            <a:avLst/>
            <a:gdLst/>
            <a:ahLst/>
            <a:cxnLst/>
            <a:rect l="l" t="t" r="r" b="b"/>
            <a:pathLst>
              <a:path w="183737" h="142970">
                <a:moveTo>
                  <a:pt x="133816" y="20416"/>
                </a:moveTo>
                <a:cubicBezTo>
                  <a:pt x="128521" y="20416"/>
                  <a:pt x="123386" y="21851"/>
                  <a:pt x="118887" y="24466"/>
                </a:cubicBezTo>
                <a:cubicBezTo>
                  <a:pt x="113847" y="19361"/>
                  <a:pt x="107978" y="15088"/>
                  <a:pt x="101502" y="11866"/>
                </a:cubicBezTo>
                <a:cubicBezTo>
                  <a:pt x="110498" y="4210"/>
                  <a:pt x="121949" y="0"/>
                  <a:pt x="133816" y="0"/>
                </a:cubicBezTo>
                <a:cubicBezTo>
                  <a:pt x="161376" y="0"/>
                  <a:pt x="183737" y="22329"/>
                  <a:pt x="183737" y="49921"/>
                </a:cubicBezTo>
                <a:cubicBezTo>
                  <a:pt x="183737" y="63159"/>
                  <a:pt x="178474" y="75855"/>
                  <a:pt x="169128" y="85201"/>
                </a:cubicBezTo>
                <a:lnTo>
                  <a:pt x="146448" y="107882"/>
                </a:lnTo>
                <a:cubicBezTo>
                  <a:pt x="137102" y="117228"/>
                  <a:pt x="124405" y="122490"/>
                  <a:pt x="111168" y="122490"/>
                </a:cubicBezTo>
                <a:cubicBezTo>
                  <a:pt x="83607" y="122490"/>
                  <a:pt x="61246" y="100163"/>
                  <a:pt x="61246" y="72571"/>
                </a:cubicBezTo>
                <a:cubicBezTo>
                  <a:pt x="61246" y="72091"/>
                  <a:pt x="61246" y="71613"/>
                  <a:pt x="61278" y="71134"/>
                </a:cubicBezTo>
                <a:cubicBezTo>
                  <a:pt x="61438" y="65488"/>
                  <a:pt x="66126" y="61054"/>
                  <a:pt x="71772" y="61214"/>
                </a:cubicBezTo>
                <a:cubicBezTo>
                  <a:pt x="77419" y="61373"/>
                  <a:pt x="81852" y="66062"/>
                  <a:pt x="81693" y="71708"/>
                </a:cubicBezTo>
                <a:cubicBezTo>
                  <a:pt x="81693" y="71995"/>
                  <a:pt x="81693" y="72282"/>
                  <a:pt x="81693" y="72538"/>
                </a:cubicBezTo>
                <a:cubicBezTo>
                  <a:pt x="81693" y="88838"/>
                  <a:pt x="94899" y="102043"/>
                  <a:pt x="111199" y="102043"/>
                </a:cubicBezTo>
                <a:cubicBezTo>
                  <a:pt x="119016" y="102043"/>
                  <a:pt x="126511" y="98950"/>
                  <a:pt x="132061" y="93400"/>
                </a:cubicBezTo>
                <a:lnTo>
                  <a:pt x="154741" y="70719"/>
                </a:lnTo>
                <a:cubicBezTo>
                  <a:pt x="160260" y="65201"/>
                  <a:pt x="163386" y="57674"/>
                  <a:pt x="163386" y="49858"/>
                </a:cubicBezTo>
                <a:cubicBezTo>
                  <a:pt x="163386" y="33557"/>
                  <a:pt x="150180" y="20351"/>
                  <a:pt x="133880" y="20351"/>
                </a:cubicBezTo>
                <a:close/>
                <a:moveTo>
                  <a:pt x="87786" y="45073"/>
                </a:moveTo>
                <a:cubicBezTo>
                  <a:pt x="87180" y="44819"/>
                  <a:pt x="86575" y="44467"/>
                  <a:pt x="86031" y="44084"/>
                </a:cubicBezTo>
                <a:cubicBezTo>
                  <a:pt x="82012" y="42011"/>
                  <a:pt x="77419" y="40829"/>
                  <a:pt x="72602" y="40829"/>
                </a:cubicBezTo>
                <a:cubicBezTo>
                  <a:pt x="64787" y="40829"/>
                  <a:pt x="57290" y="43924"/>
                  <a:pt x="51740" y="49474"/>
                </a:cubicBezTo>
                <a:lnTo>
                  <a:pt x="29060" y="72155"/>
                </a:lnTo>
                <a:cubicBezTo>
                  <a:pt x="23541" y="77673"/>
                  <a:pt x="20415" y="85201"/>
                  <a:pt x="20415" y="93018"/>
                </a:cubicBezTo>
                <a:cubicBezTo>
                  <a:pt x="20415" y="109317"/>
                  <a:pt x="33621" y="122524"/>
                  <a:pt x="49922" y="122524"/>
                </a:cubicBezTo>
                <a:cubicBezTo>
                  <a:pt x="55185" y="122524"/>
                  <a:pt x="60321" y="121120"/>
                  <a:pt x="64818" y="118504"/>
                </a:cubicBezTo>
                <a:cubicBezTo>
                  <a:pt x="69859" y="123608"/>
                  <a:pt x="75728" y="127882"/>
                  <a:pt x="82235" y="131104"/>
                </a:cubicBezTo>
                <a:cubicBezTo>
                  <a:pt x="73240" y="138727"/>
                  <a:pt x="61820" y="142971"/>
                  <a:pt x="49922" y="142971"/>
                </a:cubicBezTo>
                <a:cubicBezTo>
                  <a:pt x="22361" y="142971"/>
                  <a:pt x="0" y="120641"/>
                  <a:pt x="0" y="93049"/>
                </a:cubicBezTo>
                <a:cubicBezTo>
                  <a:pt x="0" y="79811"/>
                  <a:pt x="5263" y="67115"/>
                  <a:pt x="14610" y="57767"/>
                </a:cubicBezTo>
                <a:lnTo>
                  <a:pt x="37290" y="35088"/>
                </a:lnTo>
                <a:cubicBezTo>
                  <a:pt x="46636" y="25742"/>
                  <a:pt x="59332" y="20479"/>
                  <a:pt x="72570" y="20479"/>
                </a:cubicBezTo>
                <a:cubicBezTo>
                  <a:pt x="100194" y="20479"/>
                  <a:pt x="122492" y="42999"/>
                  <a:pt x="122492" y="70528"/>
                </a:cubicBezTo>
                <a:cubicBezTo>
                  <a:pt x="122492" y="70942"/>
                  <a:pt x="122492" y="71356"/>
                  <a:pt x="122492" y="71772"/>
                </a:cubicBezTo>
                <a:cubicBezTo>
                  <a:pt x="122364" y="77418"/>
                  <a:pt x="117674" y="81852"/>
                  <a:pt x="112029" y="81725"/>
                </a:cubicBezTo>
                <a:cubicBezTo>
                  <a:pt x="106383" y="81596"/>
                  <a:pt x="101949" y="76908"/>
                  <a:pt x="102076" y="71262"/>
                </a:cubicBezTo>
                <a:cubicBezTo>
                  <a:pt x="102076" y="71007"/>
                  <a:pt x="102076" y="70782"/>
                  <a:pt x="102076" y="70528"/>
                </a:cubicBezTo>
                <a:cubicBezTo>
                  <a:pt x="102076" y="59778"/>
                  <a:pt x="96335" y="50335"/>
                  <a:pt x="87786" y="4513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6578973" y="6042627"/>
            <a:ext cx="661455"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Dependances d'instructions</a:t>
            </a:r>
            <a:endParaRPr lang="en-US" sz="1100"/>
          </a:p>
        </p:txBody>
      </p:sp>
      <p:sp>
        <p:nvSpPr>
          <p:cNvPr id="39" name="Freeform 39"/>
          <p:cNvSpPr/>
          <p:nvPr/>
        </p:nvSpPr>
        <p:spPr>
          <a:xfrm>
            <a:off x="9007159" y="5944678"/>
            <a:ext cx="2694816" cy="424638"/>
          </a:xfrm>
          <a:custGeom>
            <a:avLst/>
            <a:gdLst/>
            <a:ahLst/>
            <a:cxnLst/>
            <a:rect l="l" t="t" r="r" b="b"/>
            <a:pathLst>
              <a:path w="2694816" h="424638">
                <a:moveTo>
                  <a:pt x="65331" y="0"/>
                </a:moveTo>
                <a:lnTo>
                  <a:pt x="2629485" y="0"/>
                </a:lnTo>
                <a:cubicBezTo>
                  <a:pt x="2665566" y="0"/>
                  <a:pt x="2694816" y="29249"/>
                  <a:pt x="2694816" y="65331"/>
                </a:cubicBezTo>
                <a:lnTo>
                  <a:pt x="2694816" y="359307"/>
                </a:lnTo>
                <a:cubicBezTo>
                  <a:pt x="2694816" y="395388"/>
                  <a:pt x="2665566" y="424638"/>
                  <a:pt x="2629485" y="424638"/>
                </a:cubicBezTo>
                <a:lnTo>
                  <a:pt x="65331" y="424638"/>
                </a:lnTo>
                <a:cubicBezTo>
                  <a:pt x="29249" y="424638"/>
                  <a:pt x="0" y="395388"/>
                  <a:pt x="0" y="359307"/>
                </a:cubicBezTo>
                <a:lnTo>
                  <a:pt x="0" y="65331"/>
                </a:lnTo>
                <a:cubicBezTo>
                  <a:pt x="0" y="29274"/>
                  <a:pt x="29273" y="0"/>
                  <a:pt x="6533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40" name="Freeform 40"/>
          <p:cNvSpPr/>
          <p:nvPr/>
        </p:nvSpPr>
        <p:spPr>
          <a:xfrm>
            <a:off x="9145079" y="6094653"/>
            <a:ext cx="124534" cy="124532"/>
          </a:xfrm>
          <a:custGeom>
            <a:avLst/>
            <a:gdLst/>
            <a:ahLst/>
            <a:cxnLst/>
            <a:rect l="l" t="t" r="r" b="b"/>
            <a:pathLst>
              <a:path w="124534" h="124532">
                <a:moveTo>
                  <a:pt x="18437" y="4019"/>
                </a:moveTo>
                <a:cubicBezTo>
                  <a:pt x="14450" y="31"/>
                  <a:pt x="7974" y="31"/>
                  <a:pt x="3986" y="4019"/>
                </a:cubicBezTo>
                <a:cubicBezTo>
                  <a:pt x="0" y="8007"/>
                  <a:pt x="0" y="14482"/>
                  <a:pt x="3986" y="18469"/>
                </a:cubicBezTo>
                <a:lnTo>
                  <a:pt x="47815" y="62266"/>
                </a:lnTo>
                <a:lnTo>
                  <a:pt x="4019" y="106095"/>
                </a:lnTo>
                <a:cubicBezTo>
                  <a:pt x="32" y="110081"/>
                  <a:pt x="32" y="116559"/>
                  <a:pt x="4019" y="120545"/>
                </a:cubicBezTo>
                <a:cubicBezTo>
                  <a:pt x="8006" y="124533"/>
                  <a:pt x="14482" y="124533"/>
                  <a:pt x="18470" y="120545"/>
                </a:cubicBezTo>
                <a:lnTo>
                  <a:pt x="62266" y="76716"/>
                </a:lnTo>
                <a:lnTo>
                  <a:pt x="106094" y="120513"/>
                </a:lnTo>
                <a:cubicBezTo>
                  <a:pt x="110084" y="124501"/>
                  <a:pt x="116558" y="124501"/>
                  <a:pt x="120546" y="120513"/>
                </a:cubicBezTo>
                <a:cubicBezTo>
                  <a:pt x="124534" y="116525"/>
                  <a:pt x="124534" y="110051"/>
                  <a:pt x="120546" y="106063"/>
                </a:cubicBezTo>
                <a:lnTo>
                  <a:pt x="76716" y="62266"/>
                </a:lnTo>
                <a:lnTo>
                  <a:pt x="120514" y="18437"/>
                </a:lnTo>
                <a:cubicBezTo>
                  <a:pt x="124501" y="14451"/>
                  <a:pt x="124501" y="7973"/>
                  <a:pt x="120514" y="3987"/>
                </a:cubicBezTo>
                <a:cubicBezTo>
                  <a:pt x="116526" y="0"/>
                  <a:pt x="110051" y="0"/>
                  <a:pt x="106063" y="3987"/>
                </a:cubicBezTo>
                <a:lnTo>
                  <a:pt x="62266" y="47816"/>
                </a:lnTo>
                <a:lnTo>
                  <a:pt x="18437" y="401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9407212" y="6042627"/>
            <a:ext cx="890106"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Cache miss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6787" y="60347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a:t>
            </a:r>
            <a:endParaRPr lang="en-US" sz="1100"/>
          </a:p>
        </p:txBody>
      </p:sp>
      <p:sp>
        <p:nvSpPr>
          <p:cNvPr id="3" name="Freeform 3"/>
          <p:cNvSpPr/>
          <p:nvPr/>
        </p:nvSpPr>
        <p:spPr>
          <a:xfrm>
            <a:off x="399911" y="1213226"/>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213226"/>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41800"/>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 (bande passante)</a:t>
            </a:r>
            <a:endParaRPr lang="en-US" sz="1100"/>
          </a:p>
        </p:txBody>
      </p:sp>
      <p:sp>
        <p:nvSpPr>
          <p:cNvPr id="6" name="AutoShape 6"/>
          <p:cNvSpPr/>
          <p:nvPr/>
        </p:nvSpPr>
        <p:spPr>
          <a:xfrm>
            <a:off x="647439" y="1822679"/>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Represente la quantite de donnees transmissible par unite de temps</a:t>
            </a:r>
            <a:endParaRPr lang="en-US" sz="1100"/>
          </a:p>
        </p:txBody>
      </p:sp>
      <p:sp>
        <p:nvSpPr>
          <p:cNvPr id="7" name="AutoShape 7"/>
          <p:cNvSpPr/>
          <p:nvPr/>
        </p:nvSpPr>
        <p:spPr>
          <a:xfrm>
            <a:off x="380956" y="2546533"/>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Unites courantes</a:t>
            </a:r>
            <a:endParaRPr lang="en-US" sz="1100"/>
          </a:p>
        </p:txBody>
      </p:sp>
      <p:sp>
        <p:nvSpPr>
          <p:cNvPr id="8" name="Freeform 8"/>
          <p:cNvSpPr/>
          <p:nvPr>
            <p:custDataLst>
              <p:tags r:id="rId1"/>
            </p:custDataLst>
          </p:nvPr>
        </p:nvSpPr>
        <p:spPr>
          <a:xfrm>
            <a:off x="380956" y="3003607"/>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custDataLst>
              <p:tags r:id="rId2"/>
            </p:custDataLst>
          </p:nvPr>
        </p:nvSpPr>
        <p:spPr>
          <a:xfrm>
            <a:off x="447580" y="3117856"/>
            <a:ext cx="1009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MB/s</a:t>
            </a:r>
            <a:endParaRPr lang="en-US" sz="1100"/>
          </a:p>
        </p:txBody>
      </p:sp>
      <p:sp>
        <p:nvSpPr>
          <p:cNvPr id="10" name="AutoShape 10"/>
          <p:cNvSpPr/>
          <p:nvPr>
            <p:custDataLst>
              <p:tags r:id="rId3"/>
            </p:custDataLst>
          </p:nvPr>
        </p:nvSpPr>
        <p:spPr>
          <a:xfrm>
            <a:off x="1562100" y="3117850"/>
            <a:ext cx="207073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2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Megaoctets/seconde</a:t>
            </a:r>
            <a:endParaRPr lang="en-US" sz="1100"/>
          </a:p>
        </p:txBody>
      </p:sp>
      <p:sp>
        <p:nvSpPr>
          <p:cNvPr id="11" name="Freeform 11"/>
          <p:cNvSpPr/>
          <p:nvPr>
            <p:custDataLst>
              <p:tags r:id="rId4"/>
            </p:custDataLst>
          </p:nvPr>
        </p:nvSpPr>
        <p:spPr>
          <a:xfrm>
            <a:off x="380956" y="3613063"/>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custDataLst>
              <p:tags r:id="rId5"/>
            </p:custDataLst>
          </p:nvPr>
        </p:nvSpPr>
        <p:spPr>
          <a:xfrm>
            <a:off x="447580" y="3727312"/>
            <a:ext cx="1009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GB/s</a:t>
            </a:r>
            <a:endParaRPr lang="en-US" sz="1100"/>
          </a:p>
        </p:txBody>
      </p:sp>
      <p:sp>
        <p:nvSpPr>
          <p:cNvPr id="13" name="AutoShape 13"/>
          <p:cNvSpPr/>
          <p:nvPr>
            <p:custDataLst>
              <p:tags r:id="rId6"/>
            </p:custDataLst>
          </p:nvPr>
        </p:nvSpPr>
        <p:spPr>
          <a:xfrm>
            <a:off x="1562100" y="3727450"/>
            <a:ext cx="207073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2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Gigaoctets/seconde</a:t>
            </a:r>
            <a:endParaRPr lang="en-US" sz="1100"/>
          </a:p>
        </p:txBody>
      </p:sp>
      <p:sp>
        <p:nvSpPr>
          <p:cNvPr id="14" name="Freeform 14"/>
          <p:cNvSpPr/>
          <p:nvPr>
            <p:custDataLst>
              <p:tags r:id="rId7"/>
            </p:custDataLst>
          </p:nvPr>
        </p:nvSpPr>
        <p:spPr>
          <a:xfrm>
            <a:off x="380956" y="4222514"/>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custDataLst>
              <p:tags r:id="rId8"/>
            </p:custDataLst>
          </p:nvPr>
        </p:nvSpPr>
        <p:spPr>
          <a:xfrm>
            <a:off x="447580" y="4336763"/>
            <a:ext cx="1009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TB/s</a:t>
            </a:r>
            <a:endParaRPr lang="en-US" sz="1100"/>
          </a:p>
        </p:txBody>
      </p:sp>
      <p:sp>
        <p:nvSpPr>
          <p:cNvPr id="16" name="AutoShape 16"/>
          <p:cNvSpPr/>
          <p:nvPr>
            <p:custDataLst>
              <p:tags r:id="rId9"/>
            </p:custDataLst>
          </p:nvPr>
        </p:nvSpPr>
        <p:spPr>
          <a:xfrm>
            <a:off x="1562100" y="4337050"/>
            <a:ext cx="207073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2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Teraoctets/seconde</a:t>
            </a:r>
            <a:endParaRPr lang="en-US" sz="1100"/>
          </a:p>
        </p:txBody>
      </p:sp>
      <p:sp>
        <p:nvSpPr>
          <p:cNvPr id="17" name="AutoShape 17"/>
          <p:cNvSpPr/>
          <p:nvPr/>
        </p:nvSpPr>
        <p:spPr>
          <a:xfrm>
            <a:off x="380956" y="4743471"/>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Scenarios d'application</a:t>
            </a:r>
            <a:endParaRPr lang="en-US" sz="1100"/>
          </a:p>
        </p:txBody>
      </p:sp>
      <p:sp>
        <p:nvSpPr>
          <p:cNvPr id="18" name="Freeform 18"/>
          <p:cNvSpPr/>
          <p:nvPr/>
        </p:nvSpPr>
        <p:spPr>
          <a:xfrm>
            <a:off x="380956" y="5200541"/>
            <a:ext cx="1752600" cy="933450"/>
          </a:xfrm>
          <a:custGeom>
            <a:avLst/>
            <a:gdLst/>
            <a:ahLst/>
            <a:cxnLst/>
            <a:rect l="l" t="t" r="r" b="b"/>
            <a:pathLst>
              <a:path w="1752600" h="933450">
                <a:moveTo>
                  <a:pt x="76197" y="0"/>
                </a:moveTo>
                <a:lnTo>
                  <a:pt x="1676403" y="0"/>
                </a:lnTo>
                <a:cubicBezTo>
                  <a:pt x="1718485" y="0"/>
                  <a:pt x="1752600" y="34115"/>
                  <a:pt x="1752600" y="76197"/>
                </a:cubicBezTo>
                <a:lnTo>
                  <a:pt x="1752600" y="857253"/>
                </a:lnTo>
                <a:cubicBezTo>
                  <a:pt x="1752600" y="899335"/>
                  <a:pt x="1718485" y="933450"/>
                  <a:pt x="1676403" y="933450"/>
                </a:cubicBezTo>
                <a:lnTo>
                  <a:pt x="76197" y="933450"/>
                </a:lnTo>
                <a:cubicBezTo>
                  <a:pt x="34115" y="933450"/>
                  <a:pt x="0" y="899335"/>
                  <a:pt x="0" y="85725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1116771" y="5388646"/>
            <a:ext cx="285750" cy="214312"/>
          </a:xfrm>
          <a:custGeom>
            <a:avLst/>
            <a:gdLst/>
            <a:ahLst/>
            <a:cxnLst/>
            <a:rect l="l" t="t" r="r" b="b"/>
            <a:pathLst>
              <a:path w="285750" h="214312">
                <a:moveTo>
                  <a:pt x="35719" y="0"/>
                </a:moveTo>
                <a:cubicBezTo>
                  <a:pt x="16019" y="0"/>
                  <a:pt x="0" y="16017"/>
                  <a:pt x="0" y="35718"/>
                </a:cubicBezTo>
                <a:lnTo>
                  <a:pt x="0" y="39849"/>
                </a:lnTo>
                <a:cubicBezTo>
                  <a:pt x="0" y="43645"/>
                  <a:pt x="2456" y="46881"/>
                  <a:pt x="5638" y="48946"/>
                </a:cubicBezTo>
                <a:cubicBezTo>
                  <a:pt x="13004" y="53745"/>
                  <a:pt x="17859" y="62005"/>
                  <a:pt x="17859" y="71437"/>
                </a:cubicBezTo>
                <a:cubicBezTo>
                  <a:pt x="17859" y="80870"/>
                  <a:pt x="13004" y="89130"/>
                  <a:pt x="5638" y="93929"/>
                </a:cubicBezTo>
                <a:cubicBezTo>
                  <a:pt x="2456" y="95994"/>
                  <a:pt x="0" y="99231"/>
                  <a:pt x="0" y="103026"/>
                </a:cubicBezTo>
                <a:lnTo>
                  <a:pt x="0" y="133945"/>
                </a:lnTo>
                <a:lnTo>
                  <a:pt x="285750" y="133945"/>
                </a:lnTo>
                <a:lnTo>
                  <a:pt x="285750" y="103026"/>
                </a:lnTo>
                <a:cubicBezTo>
                  <a:pt x="285750" y="99231"/>
                  <a:pt x="283294" y="95994"/>
                  <a:pt x="280112" y="93929"/>
                </a:cubicBezTo>
                <a:cubicBezTo>
                  <a:pt x="272746" y="89130"/>
                  <a:pt x="267891" y="80870"/>
                  <a:pt x="267891" y="71437"/>
                </a:cubicBezTo>
                <a:cubicBezTo>
                  <a:pt x="267891" y="62005"/>
                  <a:pt x="272746" y="53745"/>
                  <a:pt x="280112" y="48946"/>
                </a:cubicBezTo>
                <a:cubicBezTo>
                  <a:pt x="283294" y="46881"/>
                  <a:pt x="285750" y="43645"/>
                  <a:pt x="285750" y="39849"/>
                </a:cubicBezTo>
                <a:lnTo>
                  <a:pt x="285750" y="35718"/>
                </a:lnTo>
                <a:cubicBezTo>
                  <a:pt x="285750" y="16017"/>
                  <a:pt x="269731" y="0"/>
                  <a:pt x="250031" y="0"/>
                </a:cubicBezTo>
                <a:lnTo>
                  <a:pt x="35719" y="0"/>
                </a:lnTo>
                <a:close/>
                <a:moveTo>
                  <a:pt x="285750" y="196454"/>
                </a:moveTo>
                <a:lnTo>
                  <a:pt x="285750" y="160733"/>
                </a:lnTo>
                <a:lnTo>
                  <a:pt x="0" y="160733"/>
                </a:lnTo>
                <a:lnTo>
                  <a:pt x="0" y="196454"/>
                </a:lnTo>
                <a:cubicBezTo>
                  <a:pt x="0" y="206332"/>
                  <a:pt x="7981" y="214312"/>
                  <a:pt x="17859" y="214312"/>
                </a:cubicBezTo>
                <a:lnTo>
                  <a:pt x="53577" y="214312"/>
                </a:lnTo>
                <a:lnTo>
                  <a:pt x="53577" y="200918"/>
                </a:lnTo>
                <a:cubicBezTo>
                  <a:pt x="53577" y="193494"/>
                  <a:pt x="59550" y="187523"/>
                  <a:pt x="66973" y="187523"/>
                </a:cubicBezTo>
                <a:cubicBezTo>
                  <a:pt x="74395" y="187523"/>
                  <a:pt x="80367" y="193494"/>
                  <a:pt x="80367" y="200918"/>
                </a:cubicBezTo>
                <a:lnTo>
                  <a:pt x="80367" y="214312"/>
                </a:lnTo>
                <a:lnTo>
                  <a:pt x="129480" y="214312"/>
                </a:lnTo>
                <a:lnTo>
                  <a:pt x="129480" y="200918"/>
                </a:lnTo>
                <a:cubicBezTo>
                  <a:pt x="129480" y="193494"/>
                  <a:pt x="135452" y="187523"/>
                  <a:pt x="142875" y="187523"/>
                </a:cubicBezTo>
                <a:cubicBezTo>
                  <a:pt x="150298" y="187523"/>
                  <a:pt x="156270" y="193494"/>
                  <a:pt x="156270" y="200918"/>
                </a:cubicBezTo>
                <a:lnTo>
                  <a:pt x="156270" y="214312"/>
                </a:lnTo>
                <a:lnTo>
                  <a:pt x="205383" y="214312"/>
                </a:lnTo>
                <a:lnTo>
                  <a:pt x="205383" y="200918"/>
                </a:lnTo>
                <a:cubicBezTo>
                  <a:pt x="205383" y="193494"/>
                  <a:pt x="211355" y="187523"/>
                  <a:pt x="218777" y="187523"/>
                </a:cubicBezTo>
                <a:cubicBezTo>
                  <a:pt x="226200" y="187523"/>
                  <a:pt x="232173" y="193494"/>
                  <a:pt x="232173" y="200918"/>
                </a:cubicBezTo>
                <a:lnTo>
                  <a:pt x="232173" y="214312"/>
                </a:lnTo>
                <a:lnTo>
                  <a:pt x="267891" y="214312"/>
                </a:lnTo>
                <a:cubicBezTo>
                  <a:pt x="277769" y="214312"/>
                  <a:pt x="285750" y="206332"/>
                  <a:pt x="285750" y="196454"/>
                </a:cubicBezTo>
                <a:close/>
                <a:moveTo>
                  <a:pt x="89298" y="53579"/>
                </a:moveTo>
                <a:lnTo>
                  <a:pt x="89298" y="89297"/>
                </a:lnTo>
                <a:cubicBezTo>
                  <a:pt x="89298" y="99175"/>
                  <a:pt x="81316" y="107156"/>
                  <a:pt x="71437" y="107156"/>
                </a:cubicBezTo>
                <a:cubicBezTo>
                  <a:pt x="61559" y="107156"/>
                  <a:pt x="53577" y="99175"/>
                  <a:pt x="53577" y="89297"/>
                </a:cubicBezTo>
                <a:lnTo>
                  <a:pt x="53577" y="53579"/>
                </a:lnTo>
                <a:cubicBezTo>
                  <a:pt x="53577" y="43699"/>
                  <a:pt x="61559" y="35718"/>
                  <a:pt x="71437" y="35718"/>
                </a:cubicBezTo>
                <a:cubicBezTo>
                  <a:pt x="81316" y="35718"/>
                  <a:pt x="89298" y="43699"/>
                  <a:pt x="89298" y="53579"/>
                </a:cubicBezTo>
                <a:close/>
                <a:moveTo>
                  <a:pt x="160734" y="53579"/>
                </a:moveTo>
                <a:lnTo>
                  <a:pt x="160734" y="89297"/>
                </a:lnTo>
                <a:cubicBezTo>
                  <a:pt x="160734" y="99175"/>
                  <a:pt x="152753" y="107156"/>
                  <a:pt x="142875" y="107156"/>
                </a:cubicBezTo>
                <a:cubicBezTo>
                  <a:pt x="132997" y="107156"/>
                  <a:pt x="125016" y="99175"/>
                  <a:pt x="125016" y="89297"/>
                </a:cubicBezTo>
                <a:lnTo>
                  <a:pt x="125016" y="53579"/>
                </a:lnTo>
                <a:cubicBezTo>
                  <a:pt x="125016" y="43699"/>
                  <a:pt x="132997" y="35718"/>
                  <a:pt x="142875" y="35718"/>
                </a:cubicBezTo>
                <a:cubicBezTo>
                  <a:pt x="152753" y="35718"/>
                  <a:pt x="160734" y="43699"/>
                  <a:pt x="160734" y="53579"/>
                </a:cubicBezTo>
                <a:close/>
                <a:moveTo>
                  <a:pt x="232173" y="53579"/>
                </a:moveTo>
                <a:lnTo>
                  <a:pt x="232173" y="89297"/>
                </a:lnTo>
                <a:cubicBezTo>
                  <a:pt x="232173" y="99175"/>
                  <a:pt x="224191" y="107156"/>
                  <a:pt x="214313" y="107156"/>
                </a:cubicBezTo>
                <a:cubicBezTo>
                  <a:pt x="204434" y="107156"/>
                  <a:pt x="196452" y="99175"/>
                  <a:pt x="196452" y="89297"/>
                </a:cubicBezTo>
                <a:lnTo>
                  <a:pt x="196452" y="53579"/>
                </a:lnTo>
                <a:cubicBezTo>
                  <a:pt x="196452" y="43699"/>
                  <a:pt x="204434" y="35718"/>
                  <a:pt x="214313" y="35718"/>
                </a:cubicBezTo>
                <a:cubicBezTo>
                  <a:pt x="224191" y="35718"/>
                  <a:pt x="232173" y="43699"/>
                  <a:pt x="232173" y="5357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490475" y="5714849"/>
            <a:ext cx="1533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7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Bande passante memoire</a:t>
            </a:r>
            <a:endParaRPr lang="en-US" sz="1100"/>
          </a:p>
        </p:txBody>
      </p:sp>
      <p:sp>
        <p:nvSpPr>
          <p:cNvPr id="21" name="Freeform 21"/>
          <p:cNvSpPr/>
          <p:nvPr/>
        </p:nvSpPr>
        <p:spPr>
          <a:xfrm>
            <a:off x="2285956" y="5200541"/>
            <a:ext cx="1752600" cy="933450"/>
          </a:xfrm>
          <a:custGeom>
            <a:avLst/>
            <a:gdLst/>
            <a:ahLst/>
            <a:cxnLst/>
            <a:rect l="l" t="t" r="r" b="b"/>
            <a:pathLst>
              <a:path w="1752600" h="933450">
                <a:moveTo>
                  <a:pt x="76197" y="0"/>
                </a:moveTo>
                <a:lnTo>
                  <a:pt x="1676403" y="0"/>
                </a:lnTo>
                <a:cubicBezTo>
                  <a:pt x="1718485" y="0"/>
                  <a:pt x="1752600" y="34115"/>
                  <a:pt x="1752600" y="76197"/>
                </a:cubicBezTo>
                <a:lnTo>
                  <a:pt x="1752600" y="857253"/>
                </a:lnTo>
                <a:cubicBezTo>
                  <a:pt x="1752600" y="899335"/>
                  <a:pt x="1718485" y="933450"/>
                  <a:pt x="1676403" y="933450"/>
                </a:cubicBezTo>
                <a:lnTo>
                  <a:pt x="76197" y="933450"/>
                </a:lnTo>
                <a:cubicBezTo>
                  <a:pt x="34115" y="933450"/>
                  <a:pt x="0" y="899335"/>
                  <a:pt x="0" y="85725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3039630" y="5370786"/>
            <a:ext cx="250031" cy="250033"/>
          </a:xfrm>
          <a:custGeom>
            <a:avLst/>
            <a:gdLst/>
            <a:ahLst/>
            <a:cxnLst/>
            <a:rect l="l" t="t" r="r" b="b"/>
            <a:pathLst>
              <a:path w="250031" h="250033">
                <a:moveTo>
                  <a:pt x="35719" y="0"/>
                </a:moveTo>
                <a:cubicBezTo>
                  <a:pt x="16019" y="0"/>
                  <a:pt x="0" y="16018"/>
                  <a:pt x="0" y="35718"/>
                </a:cubicBezTo>
                <a:lnTo>
                  <a:pt x="0" y="127305"/>
                </a:lnTo>
                <a:cubicBezTo>
                  <a:pt x="10102" y="120215"/>
                  <a:pt x="22436" y="116087"/>
                  <a:pt x="35719" y="116087"/>
                </a:cubicBezTo>
                <a:lnTo>
                  <a:pt x="214312" y="116087"/>
                </a:lnTo>
                <a:cubicBezTo>
                  <a:pt x="227595" y="116087"/>
                  <a:pt x="239930" y="120215"/>
                  <a:pt x="250031" y="127305"/>
                </a:cubicBezTo>
                <a:lnTo>
                  <a:pt x="250031" y="35718"/>
                </a:lnTo>
                <a:cubicBezTo>
                  <a:pt x="250031" y="16018"/>
                  <a:pt x="234014" y="0"/>
                  <a:pt x="214312" y="0"/>
                </a:cubicBezTo>
                <a:lnTo>
                  <a:pt x="35719" y="0"/>
                </a:lnTo>
                <a:close/>
                <a:moveTo>
                  <a:pt x="250031" y="178593"/>
                </a:moveTo>
                <a:cubicBezTo>
                  <a:pt x="250031" y="158893"/>
                  <a:pt x="234014" y="142875"/>
                  <a:pt x="214312" y="142875"/>
                </a:cubicBezTo>
                <a:lnTo>
                  <a:pt x="35719" y="142875"/>
                </a:lnTo>
                <a:cubicBezTo>
                  <a:pt x="16019" y="142875"/>
                  <a:pt x="0" y="158893"/>
                  <a:pt x="0" y="178593"/>
                </a:cubicBezTo>
                <a:lnTo>
                  <a:pt x="0" y="214314"/>
                </a:lnTo>
                <a:cubicBezTo>
                  <a:pt x="0" y="234014"/>
                  <a:pt x="16019" y="250032"/>
                  <a:pt x="35719" y="250032"/>
                </a:cubicBezTo>
                <a:lnTo>
                  <a:pt x="214312" y="250032"/>
                </a:lnTo>
                <a:cubicBezTo>
                  <a:pt x="234014" y="250032"/>
                  <a:pt x="250031" y="234014"/>
                  <a:pt x="250031" y="214314"/>
                </a:cubicBezTo>
                <a:lnTo>
                  <a:pt x="250031" y="178593"/>
                </a:lnTo>
                <a:close/>
                <a:moveTo>
                  <a:pt x="125016" y="196454"/>
                </a:moveTo>
                <a:cubicBezTo>
                  <a:pt x="125016" y="186597"/>
                  <a:pt x="133019" y="178593"/>
                  <a:pt x="142875" y="178593"/>
                </a:cubicBezTo>
                <a:cubicBezTo>
                  <a:pt x="152731" y="178593"/>
                  <a:pt x="160734" y="186597"/>
                  <a:pt x="160734" y="196454"/>
                </a:cubicBezTo>
                <a:cubicBezTo>
                  <a:pt x="160734" y="206310"/>
                  <a:pt x="152731" y="214314"/>
                  <a:pt x="142875" y="214314"/>
                </a:cubicBezTo>
                <a:cubicBezTo>
                  <a:pt x="133019" y="214314"/>
                  <a:pt x="125016" y="206310"/>
                  <a:pt x="125016" y="196454"/>
                </a:cubicBezTo>
                <a:close/>
                <a:moveTo>
                  <a:pt x="196452" y="178593"/>
                </a:moveTo>
                <a:cubicBezTo>
                  <a:pt x="206310" y="178593"/>
                  <a:pt x="214312" y="186597"/>
                  <a:pt x="214312" y="196454"/>
                </a:cubicBezTo>
                <a:cubicBezTo>
                  <a:pt x="214312" y="206310"/>
                  <a:pt x="206310" y="214314"/>
                  <a:pt x="196452" y="214314"/>
                </a:cubicBezTo>
                <a:cubicBezTo>
                  <a:pt x="186596" y="214314"/>
                  <a:pt x="178594" y="206310"/>
                  <a:pt x="178594" y="196454"/>
                </a:cubicBezTo>
                <a:cubicBezTo>
                  <a:pt x="178594" y="186597"/>
                  <a:pt x="186596" y="178593"/>
                  <a:pt x="196452" y="17859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2395475" y="5714849"/>
            <a:ext cx="1533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Bande passante disque</a:t>
            </a:r>
            <a:endParaRPr lang="en-US" sz="1100"/>
          </a:p>
        </p:txBody>
      </p:sp>
      <p:sp>
        <p:nvSpPr>
          <p:cNvPr id="24" name="Freeform 24"/>
          <p:cNvSpPr/>
          <p:nvPr/>
        </p:nvSpPr>
        <p:spPr>
          <a:xfrm>
            <a:off x="4190956" y="5200541"/>
            <a:ext cx="1752600" cy="933450"/>
          </a:xfrm>
          <a:custGeom>
            <a:avLst/>
            <a:gdLst/>
            <a:ahLst/>
            <a:cxnLst/>
            <a:rect l="l" t="t" r="r" b="b"/>
            <a:pathLst>
              <a:path w="1752600" h="933450">
                <a:moveTo>
                  <a:pt x="76197" y="0"/>
                </a:moveTo>
                <a:lnTo>
                  <a:pt x="1676403" y="0"/>
                </a:lnTo>
                <a:cubicBezTo>
                  <a:pt x="1718485" y="0"/>
                  <a:pt x="1752600" y="34115"/>
                  <a:pt x="1752600" y="76197"/>
                </a:cubicBezTo>
                <a:lnTo>
                  <a:pt x="1752600" y="857253"/>
                </a:lnTo>
                <a:cubicBezTo>
                  <a:pt x="1752600" y="899335"/>
                  <a:pt x="1718485" y="933450"/>
                  <a:pt x="1676403" y="933450"/>
                </a:cubicBezTo>
                <a:lnTo>
                  <a:pt x="76197" y="933450"/>
                </a:lnTo>
                <a:cubicBezTo>
                  <a:pt x="34115" y="933450"/>
                  <a:pt x="0" y="899335"/>
                  <a:pt x="0" y="85725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4908911" y="5370786"/>
            <a:ext cx="321469" cy="250033"/>
          </a:xfrm>
          <a:custGeom>
            <a:avLst/>
            <a:gdLst/>
            <a:ahLst/>
            <a:cxnLst/>
            <a:rect l="l" t="t" r="r" b="b"/>
            <a:pathLst>
              <a:path w="321469" h="250033">
                <a:moveTo>
                  <a:pt x="138410" y="31254"/>
                </a:moveTo>
                <a:lnTo>
                  <a:pt x="183059" y="31254"/>
                </a:lnTo>
                <a:lnTo>
                  <a:pt x="183059" y="58043"/>
                </a:lnTo>
                <a:lnTo>
                  <a:pt x="138410" y="58043"/>
                </a:lnTo>
                <a:lnTo>
                  <a:pt x="138410" y="31254"/>
                </a:lnTo>
                <a:close/>
                <a:moveTo>
                  <a:pt x="133946" y="0"/>
                </a:moveTo>
                <a:cubicBezTo>
                  <a:pt x="119156" y="0"/>
                  <a:pt x="107156" y="12000"/>
                  <a:pt x="107156" y="26789"/>
                </a:cubicBezTo>
                <a:lnTo>
                  <a:pt x="107156" y="62508"/>
                </a:lnTo>
                <a:cubicBezTo>
                  <a:pt x="107156" y="77298"/>
                  <a:pt x="119156" y="89297"/>
                  <a:pt x="133946" y="89297"/>
                </a:cubicBezTo>
                <a:lnTo>
                  <a:pt x="142875" y="89297"/>
                </a:lnTo>
                <a:lnTo>
                  <a:pt x="142875" y="107157"/>
                </a:lnTo>
                <a:lnTo>
                  <a:pt x="17859" y="107157"/>
                </a:lnTo>
                <a:cubicBezTo>
                  <a:pt x="7981" y="107157"/>
                  <a:pt x="0" y="115138"/>
                  <a:pt x="0" y="125016"/>
                </a:cubicBezTo>
                <a:cubicBezTo>
                  <a:pt x="0" y="134894"/>
                  <a:pt x="7981" y="142875"/>
                  <a:pt x="17859" y="142875"/>
                </a:cubicBezTo>
                <a:lnTo>
                  <a:pt x="71437" y="142875"/>
                </a:lnTo>
                <a:lnTo>
                  <a:pt x="71437" y="160735"/>
                </a:lnTo>
                <a:lnTo>
                  <a:pt x="62508" y="160735"/>
                </a:lnTo>
                <a:cubicBezTo>
                  <a:pt x="47718" y="160735"/>
                  <a:pt x="35719" y="172734"/>
                  <a:pt x="35719" y="187524"/>
                </a:cubicBezTo>
                <a:lnTo>
                  <a:pt x="35719" y="223243"/>
                </a:lnTo>
                <a:cubicBezTo>
                  <a:pt x="35719" y="238032"/>
                  <a:pt x="47718" y="250032"/>
                  <a:pt x="62508" y="250032"/>
                </a:cubicBezTo>
                <a:lnTo>
                  <a:pt x="116086" y="250032"/>
                </a:lnTo>
                <a:cubicBezTo>
                  <a:pt x="130876" y="250032"/>
                  <a:pt x="142875" y="238032"/>
                  <a:pt x="142875" y="223243"/>
                </a:cubicBezTo>
                <a:lnTo>
                  <a:pt x="142875" y="187524"/>
                </a:lnTo>
                <a:cubicBezTo>
                  <a:pt x="142875" y="172734"/>
                  <a:pt x="130876" y="160735"/>
                  <a:pt x="116086" y="160735"/>
                </a:cubicBezTo>
                <a:lnTo>
                  <a:pt x="107156" y="160735"/>
                </a:lnTo>
                <a:lnTo>
                  <a:pt x="107156" y="142875"/>
                </a:lnTo>
                <a:lnTo>
                  <a:pt x="214313" y="142875"/>
                </a:lnTo>
                <a:lnTo>
                  <a:pt x="214313" y="160735"/>
                </a:lnTo>
                <a:lnTo>
                  <a:pt x="205383" y="160735"/>
                </a:lnTo>
                <a:cubicBezTo>
                  <a:pt x="190593" y="160735"/>
                  <a:pt x="178594" y="172734"/>
                  <a:pt x="178594" y="187524"/>
                </a:cubicBezTo>
                <a:lnTo>
                  <a:pt x="178594" y="223243"/>
                </a:lnTo>
                <a:cubicBezTo>
                  <a:pt x="178594" y="238032"/>
                  <a:pt x="190593" y="250032"/>
                  <a:pt x="205383" y="250032"/>
                </a:cubicBezTo>
                <a:lnTo>
                  <a:pt x="258961" y="250032"/>
                </a:lnTo>
                <a:cubicBezTo>
                  <a:pt x="273751" y="250032"/>
                  <a:pt x="285750" y="238032"/>
                  <a:pt x="285750" y="223243"/>
                </a:cubicBezTo>
                <a:lnTo>
                  <a:pt x="285750" y="187524"/>
                </a:lnTo>
                <a:cubicBezTo>
                  <a:pt x="285750" y="172734"/>
                  <a:pt x="273751" y="160735"/>
                  <a:pt x="258961" y="160735"/>
                </a:cubicBezTo>
                <a:lnTo>
                  <a:pt x="250031" y="160735"/>
                </a:lnTo>
                <a:lnTo>
                  <a:pt x="250031" y="142875"/>
                </a:lnTo>
                <a:lnTo>
                  <a:pt x="303609" y="142875"/>
                </a:lnTo>
                <a:cubicBezTo>
                  <a:pt x="313488" y="142875"/>
                  <a:pt x="321469" y="134894"/>
                  <a:pt x="321469" y="125016"/>
                </a:cubicBezTo>
                <a:cubicBezTo>
                  <a:pt x="321469" y="115138"/>
                  <a:pt x="313488" y="107157"/>
                  <a:pt x="303609" y="107157"/>
                </a:cubicBezTo>
                <a:lnTo>
                  <a:pt x="178594" y="107157"/>
                </a:lnTo>
                <a:lnTo>
                  <a:pt x="178594" y="89297"/>
                </a:lnTo>
                <a:lnTo>
                  <a:pt x="187523" y="89297"/>
                </a:lnTo>
                <a:cubicBezTo>
                  <a:pt x="202314" y="89297"/>
                  <a:pt x="214313" y="77298"/>
                  <a:pt x="214313" y="62508"/>
                </a:cubicBezTo>
                <a:lnTo>
                  <a:pt x="214313" y="26789"/>
                </a:lnTo>
                <a:cubicBezTo>
                  <a:pt x="214313" y="12000"/>
                  <a:pt x="202314" y="0"/>
                  <a:pt x="187523" y="0"/>
                </a:cubicBezTo>
                <a:lnTo>
                  <a:pt x="133946" y="0"/>
                </a:lnTo>
                <a:close/>
                <a:moveTo>
                  <a:pt x="250031" y="191989"/>
                </a:moveTo>
                <a:lnTo>
                  <a:pt x="254497" y="191989"/>
                </a:lnTo>
                <a:lnTo>
                  <a:pt x="254497" y="218778"/>
                </a:lnTo>
                <a:lnTo>
                  <a:pt x="209848" y="218778"/>
                </a:lnTo>
                <a:lnTo>
                  <a:pt x="209848" y="191989"/>
                </a:lnTo>
                <a:lnTo>
                  <a:pt x="250031" y="191989"/>
                </a:lnTo>
                <a:close/>
                <a:moveTo>
                  <a:pt x="107156" y="191989"/>
                </a:moveTo>
                <a:lnTo>
                  <a:pt x="111622" y="191989"/>
                </a:lnTo>
                <a:lnTo>
                  <a:pt x="111622" y="218778"/>
                </a:lnTo>
                <a:lnTo>
                  <a:pt x="66973" y="218778"/>
                </a:lnTo>
                <a:lnTo>
                  <a:pt x="66973" y="191989"/>
                </a:lnTo>
                <a:lnTo>
                  <a:pt x="107156" y="1919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4300475" y="5714849"/>
            <a:ext cx="1533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Bande passante reseau</a:t>
            </a:r>
            <a:endParaRPr lang="en-US" sz="1100"/>
          </a:p>
        </p:txBody>
      </p:sp>
      <p:sp>
        <p:nvSpPr>
          <p:cNvPr id="27" name="Freeform 27"/>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8" name="Picture 28"/>
          <p:cNvPicPr>
            <a:picLocks noChangeAspect="1"/>
          </p:cNvPicPr>
          <p:nvPr/>
        </p:nvPicPr>
        <p:blipFill>
          <a:blip r:embed="rId10"/>
          <a:srcRect t="49" b="49"/>
          <a:stretch>
            <a:fillRect/>
          </a:stretch>
        </p:blipFill>
        <p:spPr>
          <a:xfrm>
            <a:off x="6400720" y="1989188"/>
            <a:ext cx="5257800" cy="2838450"/>
          </a:xfrm>
          <a:prstGeom prst="roundRect">
            <a:avLst>
              <a:gd name="adj" fmla="val 0"/>
            </a:avLst>
          </a:prstGeom>
          <a:ln w="12700">
            <a:noFill/>
            <a:prstDash val="solid"/>
          </a:ln>
        </p:spPr>
      </p:pic>
      <p:sp>
        <p:nvSpPr>
          <p:cNvPr id="29" name="AutoShape 29"/>
          <p:cNvSpPr/>
          <p:nvPr/>
        </p:nvSpPr>
        <p:spPr>
          <a:xfrm>
            <a:off x="6210238" y="5905367"/>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ForrestTheWoods - Memory Bandwidth</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06244" y="629883"/>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Exemple de Bandwidth</a:t>
            </a:r>
            <a:endParaRPr lang="en-US" sz="1100"/>
          </a:p>
        </p:txBody>
      </p:sp>
      <p:sp>
        <p:nvSpPr>
          <p:cNvPr id="3" name="AutoShape 3"/>
          <p:cNvSpPr/>
          <p:nvPr/>
        </p:nvSpPr>
        <p:spPr>
          <a:xfrm>
            <a:off x="380956" y="1148750"/>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Conditions supposees</a:t>
            </a:r>
            <a:endParaRPr lang="en-US" sz="1100"/>
          </a:p>
        </p:txBody>
      </p:sp>
      <p:sp>
        <p:nvSpPr>
          <p:cNvPr id="4" name="Freeform 4"/>
          <p:cNvSpPr/>
          <p:nvPr/>
        </p:nvSpPr>
        <p:spPr>
          <a:xfrm>
            <a:off x="380956" y="1605824"/>
            <a:ext cx="5562600" cy="1104900"/>
          </a:xfrm>
          <a:custGeom>
            <a:avLst/>
            <a:gdLst/>
            <a:ahLst/>
            <a:cxnLst/>
            <a:rect l="l" t="t" r="r" b="b"/>
            <a:pathLst>
              <a:path w="5562600" h="1104900">
                <a:moveTo>
                  <a:pt x="114303" y="0"/>
                </a:moveTo>
                <a:lnTo>
                  <a:pt x="5448297" y="0"/>
                </a:lnTo>
                <a:cubicBezTo>
                  <a:pt x="5511425" y="0"/>
                  <a:pt x="5562600" y="51175"/>
                  <a:pt x="5562600" y="114303"/>
                </a:cubicBezTo>
                <a:lnTo>
                  <a:pt x="5562600" y="990597"/>
                </a:lnTo>
                <a:cubicBezTo>
                  <a:pt x="5562600" y="1053725"/>
                  <a:pt x="5511425" y="1104900"/>
                  <a:pt x="5448297"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647629" y="2015362"/>
            <a:ext cx="285750" cy="285750"/>
          </a:xfrm>
          <a:custGeom>
            <a:avLst/>
            <a:gdLst/>
            <a:ahLst/>
            <a:cxnLst/>
            <a:rect l="l" t="t" r="r" b="b"/>
            <a:pathLst>
              <a:path w="285750" h="285750">
                <a:moveTo>
                  <a:pt x="0" y="142875"/>
                </a:moveTo>
                <a:cubicBezTo>
                  <a:pt x="0" y="64019"/>
                  <a:pt x="64019" y="0"/>
                  <a:pt x="142875" y="0"/>
                </a:cubicBezTo>
                <a:cubicBezTo>
                  <a:pt x="221731" y="0"/>
                  <a:pt x="285750" y="64019"/>
                  <a:pt x="285750" y="142875"/>
                </a:cubicBezTo>
                <a:cubicBezTo>
                  <a:pt x="285750" y="221731"/>
                  <a:pt x="221731" y="285750"/>
                  <a:pt x="142875" y="285750"/>
                </a:cubicBezTo>
                <a:cubicBezTo>
                  <a:pt x="64019" y="285750"/>
                  <a:pt x="0" y="221731"/>
                  <a:pt x="0" y="142875"/>
                </a:cubicBezTo>
                <a:close/>
                <a:moveTo>
                  <a:pt x="160734" y="53577"/>
                </a:moveTo>
                <a:cubicBezTo>
                  <a:pt x="160734" y="43721"/>
                  <a:pt x="152731" y="35719"/>
                  <a:pt x="142875" y="35719"/>
                </a:cubicBezTo>
                <a:cubicBezTo>
                  <a:pt x="133019" y="35719"/>
                  <a:pt x="125016" y="43721"/>
                  <a:pt x="125016" y="53577"/>
                </a:cubicBezTo>
                <a:cubicBezTo>
                  <a:pt x="125016" y="63435"/>
                  <a:pt x="133019" y="71438"/>
                  <a:pt x="142875" y="71438"/>
                </a:cubicBezTo>
                <a:cubicBezTo>
                  <a:pt x="152731" y="71438"/>
                  <a:pt x="160734" y="63435"/>
                  <a:pt x="160734" y="53577"/>
                </a:cubicBezTo>
                <a:close/>
                <a:moveTo>
                  <a:pt x="142875" y="232173"/>
                </a:moveTo>
                <a:cubicBezTo>
                  <a:pt x="162577" y="232173"/>
                  <a:pt x="178594" y="216154"/>
                  <a:pt x="178594" y="196452"/>
                </a:cubicBezTo>
                <a:cubicBezTo>
                  <a:pt x="178594" y="187413"/>
                  <a:pt x="175245" y="179095"/>
                  <a:pt x="169664" y="172844"/>
                </a:cubicBezTo>
                <a:lnTo>
                  <a:pt x="208451" y="95324"/>
                </a:lnTo>
                <a:cubicBezTo>
                  <a:pt x="211745" y="88683"/>
                  <a:pt x="209066" y="80646"/>
                  <a:pt x="202481" y="77353"/>
                </a:cubicBezTo>
                <a:cubicBezTo>
                  <a:pt x="195895" y="74061"/>
                  <a:pt x="187803" y="76740"/>
                  <a:pt x="184509" y="83325"/>
                </a:cubicBezTo>
                <a:lnTo>
                  <a:pt x="145721" y="160846"/>
                </a:lnTo>
                <a:cubicBezTo>
                  <a:pt x="144772" y="160790"/>
                  <a:pt x="143824" y="160734"/>
                  <a:pt x="142875" y="160734"/>
                </a:cubicBezTo>
                <a:cubicBezTo>
                  <a:pt x="123173" y="160734"/>
                  <a:pt x="107156" y="176752"/>
                  <a:pt x="107156" y="196452"/>
                </a:cubicBezTo>
                <a:cubicBezTo>
                  <a:pt x="107156" y="216154"/>
                  <a:pt x="123173" y="232173"/>
                  <a:pt x="142875" y="232173"/>
                </a:cubicBezTo>
                <a:close/>
                <a:moveTo>
                  <a:pt x="98227" y="80367"/>
                </a:moveTo>
                <a:cubicBezTo>
                  <a:pt x="98227" y="70510"/>
                  <a:pt x="90225" y="62508"/>
                  <a:pt x="80367" y="62508"/>
                </a:cubicBezTo>
                <a:cubicBezTo>
                  <a:pt x="70510" y="62508"/>
                  <a:pt x="62508" y="70510"/>
                  <a:pt x="62508" y="80367"/>
                </a:cubicBezTo>
                <a:cubicBezTo>
                  <a:pt x="62508" y="90225"/>
                  <a:pt x="70510" y="98227"/>
                  <a:pt x="80367" y="98227"/>
                </a:cubicBezTo>
                <a:cubicBezTo>
                  <a:pt x="90225" y="98227"/>
                  <a:pt x="98227" y="90225"/>
                  <a:pt x="98227" y="80367"/>
                </a:cubicBezTo>
                <a:close/>
                <a:moveTo>
                  <a:pt x="53577" y="160734"/>
                </a:moveTo>
                <a:cubicBezTo>
                  <a:pt x="63435" y="160734"/>
                  <a:pt x="71437" y="152731"/>
                  <a:pt x="71437" y="142875"/>
                </a:cubicBezTo>
                <a:cubicBezTo>
                  <a:pt x="71437" y="133019"/>
                  <a:pt x="63435" y="125016"/>
                  <a:pt x="53577" y="125016"/>
                </a:cubicBezTo>
                <a:cubicBezTo>
                  <a:pt x="43721" y="125016"/>
                  <a:pt x="35719" y="133019"/>
                  <a:pt x="35719" y="142875"/>
                </a:cubicBezTo>
                <a:cubicBezTo>
                  <a:pt x="35719" y="152731"/>
                  <a:pt x="43721" y="160734"/>
                  <a:pt x="53577" y="160734"/>
                </a:cubicBezTo>
                <a:close/>
                <a:moveTo>
                  <a:pt x="250031" y="142875"/>
                </a:moveTo>
                <a:cubicBezTo>
                  <a:pt x="250031" y="133019"/>
                  <a:pt x="242029" y="125016"/>
                  <a:pt x="232173" y="125016"/>
                </a:cubicBezTo>
                <a:cubicBezTo>
                  <a:pt x="222315" y="125016"/>
                  <a:pt x="214313" y="133019"/>
                  <a:pt x="214313" y="142875"/>
                </a:cubicBezTo>
                <a:cubicBezTo>
                  <a:pt x="214313" y="152731"/>
                  <a:pt x="222315" y="160734"/>
                  <a:pt x="232173" y="160734"/>
                </a:cubicBezTo>
                <a:cubicBezTo>
                  <a:pt x="242029" y="160734"/>
                  <a:pt x="250031" y="152731"/>
                  <a:pt x="250031" y="14287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119099" y="1834396"/>
            <a:ext cx="1647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Bande passante memoire</a:t>
            </a:r>
            <a:endParaRPr lang="en-US" sz="1100"/>
          </a:p>
        </p:txBody>
      </p:sp>
      <p:sp>
        <p:nvSpPr>
          <p:cNvPr id="7" name="AutoShape 7"/>
          <p:cNvSpPr/>
          <p:nvPr/>
        </p:nvSpPr>
        <p:spPr>
          <a:xfrm>
            <a:off x="1119099" y="2101101"/>
            <a:ext cx="17335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100 GB/s</a:t>
            </a:r>
            <a:endParaRPr lang="en-US" sz="1100"/>
          </a:p>
        </p:txBody>
      </p:sp>
      <p:sp>
        <p:nvSpPr>
          <p:cNvPr id="8" name="Freeform 8"/>
          <p:cNvSpPr/>
          <p:nvPr/>
        </p:nvSpPr>
        <p:spPr>
          <a:xfrm>
            <a:off x="399911" y="2939203"/>
            <a:ext cx="5543455" cy="1028700"/>
          </a:xfrm>
          <a:custGeom>
            <a:avLst/>
            <a:gdLst/>
            <a:ahLst/>
            <a:cxnLst/>
            <a:rect l="l" t="t" r="r" b="b"/>
            <a:pathLst>
              <a:path w="5543455" h="1028700">
                <a:moveTo>
                  <a:pt x="37909" y="0"/>
                </a:moveTo>
                <a:lnTo>
                  <a:pt x="5429156" y="0"/>
                </a:lnTo>
                <a:cubicBezTo>
                  <a:pt x="5492281" y="0"/>
                  <a:pt x="5543455" y="51173"/>
                  <a:pt x="5543455" y="114299"/>
                </a:cubicBezTo>
                <a:lnTo>
                  <a:pt x="5543455" y="914401"/>
                </a:lnTo>
                <a:cubicBezTo>
                  <a:pt x="5543455" y="977527"/>
                  <a:pt x="5492281" y="1028700"/>
                  <a:pt x="5429156" y="1028700"/>
                </a:cubicBezTo>
                <a:lnTo>
                  <a:pt x="37909" y="1028700"/>
                </a:lnTo>
                <a:cubicBezTo>
                  <a:pt x="16974" y="1028700"/>
                  <a:pt x="0" y="1011726"/>
                  <a:pt x="0" y="990790"/>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399911" y="2939203"/>
            <a:ext cx="37909" cy="1028700"/>
          </a:xfrm>
          <a:custGeom>
            <a:avLst/>
            <a:gdLst/>
            <a:ahLst/>
            <a:cxnLst/>
            <a:rect l="l" t="t" r="r" b="b"/>
            <a:pathLst>
              <a:path w="37909" h="1028700">
                <a:moveTo>
                  <a:pt x="37909" y="0"/>
                </a:moveTo>
                <a:lnTo>
                  <a:pt x="37909" y="0"/>
                </a:lnTo>
                <a:lnTo>
                  <a:pt x="37909" y="1028700"/>
                </a:lnTo>
                <a:lnTo>
                  <a:pt x="37909" y="1028700"/>
                </a:lnTo>
                <a:cubicBezTo>
                  <a:pt x="16974" y="1028700"/>
                  <a:pt x="0" y="1011726"/>
                  <a:pt x="0" y="9907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09307" y="3129647"/>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Cela signifie :</a:t>
            </a:r>
            <a:endParaRPr lang="en-US" sz="1100"/>
          </a:p>
        </p:txBody>
      </p:sp>
      <p:sp>
        <p:nvSpPr>
          <p:cNvPr id="11" name="AutoShape 11"/>
          <p:cNvSpPr/>
          <p:nvPr/>
        </p:nvSpPr>
        <p:spPr>
          <a:xfrm>
            <a:off x="609307" y="3472543"/>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Maximum 100 GB de donnees lisibles par seconde</a:t>
            </a:r>
            <a:endParaRPr lang="en-US" sz="1100"/>
          </a:p>
        </p:txBody>
      </p:sp>
      <p:sp>
        <p:nvSpPr>
          <p:cNvPr id="12" name="AutoShape 12"/>
          <p:cNvSpPr/>
          <p:nvPr/>
        </p:nvSpPr>
        <p:spPr>
          <a:xfrm>
            <a:off x="380956" y="4037981"/>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Exemple de calcul</a:t>
            </a:r>
            <a:endParaRPr lang="en-US" sz="1100"/>
          </a:p>
        </p:txBody>
      </p:sp>
      <p:sp>
        <p:nvSpPr>
          <p:cNvPr id="13" name="Freeform 13"/>
          <p:cNvSpPr/>
          <p:nvPr/>
        </p:nvSpPr>
        <p:spPr>
          <a:xfrm>
            <a:off x="380956" y="4495056"/>
            <a:ext cx="5562600" cy="914400"/>
          </a:xfrm>
          <a:custGeom>
            <a:avLst/>
            <a:gdLst/>
            <a:ahLst/>
            <a:cxnLst/>
            <a:rect l="l" t="t" r="r" b="b"/>
            <a:pathLst>
              <a:path w="5562600" h="914400">
                <a:moveTo>
                  <a:pt x="76197" y="0"/>
                </a:moveTo>
                <a:lnTo>
                  <a:pt x="5486403" y="0"/>
                </a:lnTo>
                <a:cubicBezTo>
                  <a:pt x="5528485" y="0"/>
                  <a:pt x="5562600" y="34115"/>
                  <a:pt x="5562600" y="76197"/>
                </a:cubicBezTo>
                <a:lnTo>
                  <a:pt x="5562600" y="838203"/>
                </a:lnTo>
                <a:cubicBezTo>
                  <a:pt x="5562600" y="880285"/>
                  <a:pt x="5528485" y="914400"/>
                  <a:pt x="5486403" y="914400"/>
                </a:cubicBezTo>
                <a:lnTo>
                  <a:pt x="76197" y="914400"/>
                </a:lnTo>
                <a:cubicBezTo>
                  <a:pt x="34115" y="914400"/>
                  <a:pt x="0" y="880285"/>
                  <a:pt x="0" y="8382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33338" y="4647437"/>
            <a:ext cx="5343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Si le programme doit lire</a:t>
            </a:r>
            <a:endParaRPr lang="en-US" sz="1100"/>
          </a:p>
        </p:txBody>
      </p:sp>
      <p:sp>
        <p:nvSpPr>
          <p:cNvPr id="15" name="AutoShape 15"/>
          <p:cNvSpPr/>
          <p:nvPr/>
        </p:nvSpPr>
        <p:spPr>
          <a:xfrm>
            <a:off x="533338" y="4952200"/>
            <a:ext cx="5372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200 GB de donnees</a:t>
            </a:r>
            <a:endParaRPr lang="en-US" sz="1100"/>
          </a:p>
        </p:txBody>
      </p:sp>
      <p:sp>
        <p:nvSpPr>
          <p:cNvPr id="16" name="Freeform 16"/>
          <p:cNvSpPr/>
          <p:nvPr/>
        </p:nvSpPr>
        <p:spPr>
          <a:xfrm>
            <a:off x="399911" y="5561656"/>
            <a:ext cx="5543455" cy="1295400"/>
          </a:xfrm>
          <a:custGeom>
            <a:avLst/>
            <a:gdLst/>
            <a:ahLst/>
            <a:cxnLst/>
            <a:rect l="l" t="t" r="r" b="b"/>
            <a:pathLst>
              <a:path w="5543455" h="1295400">
                <a:moveTo>
                  <a:pt x="37909" y="0"/>
                </a:moveTo>
                <a:lnTo>
                  <a:pt x="5467260" y="0"/>
                </a:lnTo>
                <a:cubicBezTo>
                  <a:pt x="5509313" y="0"/>
                  <a:pt x="5543455" y="34141"/>
                  <a:pt x="5543455" y="76195"/>
                </a:cubicBezTo>
                <a:lnTo>
                  <a:pt x="5543455" y="1219205"/>
                </a:lnTo>
                <a:cubicBezTo>
                  <a:pt x="5543455" y="1261287"/>
                  <a:pt x="5509341" y="1295400"/>
                  <a:pt x="5467260" y="1295400"/>
                </a:cubicBezTo>
                <a:lnTo>
                  <a:pt x="37909" y="1295400"/>
                </a:lnTo>
                <a:cubicBezTo>
                  <a:pt x="16974" y="1295400"/>
                  <a:pt x="0" y="1278426"/>
                  <a:pt x="0" y="1257491"/>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399911" y="5561656"/>
            <a:ext cx="37909" cy="1295400"/>
          </a:xfrm>
          <a:custGeom>
            <a:avLst/>
            <a:gdLst/>
            <a:ahLst/>
            <a:cxnLst/>
            <a:rect l="l" t="t" r="r" b="b"/>
            <a:pathLst>
              <a:path w="37909" h="1295400">
                <a:moveTo>
                  <a:pt x="37909" y="0"/>
                </a:moveTo>
                <a:lnTo>
                  <a:pt x="37909" y="0"/>
                </a:lnTo>
                <a:lnTo>
                  <a:pt x="37909" y="1295400"/>
                </a:lnTo>
                <a:lnTo>
                  <a:pt x="37909" y="1295400"/>
                </a:lnTo>
                <a:cubicBezTo>
                  <a:pt x="16974" y="1295400"/>
                  <a:pt x="0" y="1278426"/>
                  <a:pt x="0" y="12574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571248" y="5714037"/>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Temps minimum theorique</a:t>
            </a:r>
            <a:endParaRPr lang="en-US" sz="1100"/>
          </a:p>
        </p:txBody>
      </p:sp>
      <p:sp>
        <p:nvSpPr>
          <p:cNvPr id="19" name="AutoShape 19"/>
          <p:cNvSpPr/>
          <p:nvPr/>
        </p:nvSpPr>
        <p:spPr>
          <a:xfrm>
            <a:off x="571248" y="6018800"/>
            <a:ext cx="5314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200 GB / 100 GB/s</a:t>
            </a:r>
            <a:endParaRPr lang="en-US" sz="1100"/>
          </a:p>
        </p:txBody>
      </p:sp>
      <p:sp>
        <p:nvSpPr>
          <p:cNvPr id="20" name="AutoShape 20"/>
          <p:cNvSpPr/>
          <p:nvPr/>
        </p:nvSpPr>
        <p:spPr>
          <a:xfrm>
            <a:off x="571248" y="6361700"/>
            <a:ext cx="53625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7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2 secondes</a:t>
            </a:r>
            <a:endParaRPr lang="en-US" sz="1100"/>
          </a:p>
        </p:txBody>
      </p:sp>
      <p:sp>
        <p:nvSpPr>
          <p:cNvPr id="21" name="Freeform 21"/>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a:stretch>
            <a:fillRect/>
          </a:stretch>
        </p:blipFill>
        <p:spPr>
          <a:xfrm>
            <a:off x="6900886" y="2443079"/>
            <a:ext cx="4257675" cy="1933575"/>
          </a:xfrm>
          <a:prstGeom prst="roundRect">
            <a:avLst>
              <a:gd name="adj" fmla="val 0"/>
            </a:avLst>
          </a:prstGeom>
          <a:ln w="12700">
            <a:noFill/>
            <a:prstDash val="solid"/>
          </a:ln>
        </p:spPr>
      </p:pic>
      <p:sp>
        <p:nvSpPr>
          <p:cNvPr id="23" name="AutoShape 23"/>
          <p:cNvSpPr/>
          <p:nvPr/>
        </p:nvSpPr>
        <p:spPr>
          <a:xfrm>
            <a:off x="6210238" y="5905365"/>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University of Pittsburgh - Memory Controller</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1424" y="609484"/>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Qu'est-ce que la Latence</a:t>
            </a:r>
            <a:endParaRPr lang="en-US" sz="1100"/>
          </a:p>
        </p:txBody>
      </p:sp>
      <p:sp>
        <p:nvSpPr>
          <p:cNvPr id="3" name="Freeform 3"/>
          <p:cNvSpPr/>
          <p:nvPr/>
        </p:nvSpPr>
        <p:spPr>
          <a:xfrm>
            <a:off x="399911" y="1178058"/>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178058"/>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06630"/>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Latence (delai)</a:t>
            </a:r>
            <a:endParaRPr lang="en-US" sz="1100"/>
          </a:p>
        </p:txBody>
      </p:sp>
      <p:sp>
        <p:nvSpPr>
          <p:cNvPr id="6" name="AutoShape 6"/>
          <p:cNvSpPr/>
          <p:nvPr/>
        </p:nvSpPr>
        <p:spPr>
          <a:xfrm>
            <a:off x="647439" y="1787514"/>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Represente le temps necessaire pour terminer une operation</a:t>
            </a:r>
            <a:endParaRPr lang="en-US" sz="1100"/>
          </a:p>
        </p:txBody>
      </p:sp>
      <p:sp>
        <p:nvSpPr>
          <p:cNvPr id="7" name="AutoShape 7"/>
          <p:cNvSpPr/>
          <p:nvPr/>
        </p:nvSpPr>
        <p:spPr>
          <a:xfrm>
            <a:off x="380956" y="2323788"/>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Scenarios typiques</a:t>
            </a:r>
            <a:endParaRPr lang="en-US" sz="1100"/>
          </a:p>
        </p:txBody>
      </p:sp>
      <p:sp>
        <p:nvSpPr>
          <p:cNvPr id="8" name="Freeform 8"/>
          <p:cNvSpPr/>
          <p:nvPr/>
        </p:nvSpPr>
        <p:spPr>
          <a:xfrm>
            <a:off x="380956" y="2780863"/>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19018" y="2956982"/>
            <a:ext cx="190500" cy="142875"/>
          </a:xfrm>
          <a:custGeom>
            <a:avLst/>
            <a:gdLst/>
            <a:ahLst/>
            <a:cxnLst/>
            <a:rect l="l" t="t" r="r" b="b"/>
            <a:pathLst>
              <a:path w="190500" h="142875">
                <a:moveTo>
                  <a:pt x="23812" y="0"/>
                </a:moveTo>
                <a:cubicBezTo>
                  <a:pt x="10678" y="0"/>
                  <a:pt x="0" y="10679"/>
                  <a:pt x="0" y="23813"/>
                </a:cubicBezTo>
                <a:lnTo>
                  <a:pt x="0" y="26566"/>
                </a:lnTo>
                <a:cubicBezTo>
                  <a:pt x="0" y="29096"/>
                  <a:pt x="1637" y="31254"/>
                  <a:pt x="3758" y="32631"/>
                </a:cubicBezTo>
                <a:cubicBezTo>
                  <a:pt x="8669" y="35831"/>
                  <a:pt x="11906" y="41338"/>
                  <a:pt x="11906" y="47626"/>
                </a:cubicBezTo>
                <a:cubicBezTo>
                  <a:pt x="11906" y="53913"/>
                  <a:pt x="8669" y="59420"/>
                  <a:pt x="3758" y="62620"/>
                </a:cubicBezTo>
                <a:cubicBezTo>
                  <a:pt x="1637" y="63997"/>
                  <a:pt x="0" y="66155"/>
                  <a:pt x="0" y="68685"/>
                </a:cubicBezTo>
                <a:lnTo>
                  <a:pt x="0" y="89297"/>
                </a:lnTo>
                <a:lnTo>
                  <a:pt x="190500" y="89297"/>
                </a:lnTo>
                <a:lnTo>
                  <a:pt x="190500" y="68685"/>
                </a:lnTo>
                <a:cubicBezTo>
                  <a:pt x="190500" y="66155"/>
                  <a:pt x="188863" y="63997"/>
                  <a:pt x="186742" y="62620"/>
                </a:cubicBezTo>
                <a:cubicBezTo>
                  <a:pt x="181831" y="59420"/>
                  <a:pt x="178594" y="53913"/>
                  <a:pt x="178594" y="47626"/>
                </a:cubicBezTo>
                <a:cubicBezTo>
                  <a:pt x="178594" y="41338"/>
                  <a:pt x="181831" y="35831"/>
                  <a:pt x="186742" y="32631"/>
                </a:cubicBezTo>
                <a:cubicBezTo>
                  <a:pt x="188863" y="31254"/>
                  <a:pt x="190500" y="29096"/>
                  <a:pt x="190500" y="26566"/>
                </a:cubicBezTo>
                <a:lnTo>
                  <a:pt x="190500" y="23813"/>
                </a:lnTo>
                <a:cubicBezTo>
                  <a:pt x="190500" y="10679"/>
                  <a:pt x="179822" y="0"/>
                  <a:pt x="166688" y="0"/>
                </a:cubicBezTo>
                <a:lnTo>
                  <a:pt x="23812" y="0"/>
                </a:lnTo>
                <a:close/>
                <a:moveTo>
                  <a:pt x="190500" y="130969"/>
                </a:moveTo>
                <a:lnTo>
                  <a:pt x="190500" y="107157"/>
                </a:lnTo>
                <a:lnTo>
                  <a:pt x="0" y="107157"/>
                </a:lnTo>
                <a:lnTo>
                  <a:pt x="0" y="130969"/>
                </a:lnTo>
                <a:cubicBezTo>
                  <a:pt x="0" y="137555"/>
                  <a:pt x="5321" y="142876"/>
                  <a:pt x="11906" y="142876"/>
                </a:cubicBezTo>
                <a:lnTo>
                  <a:pt x="35719" y="142876"/>
                </a:lnTo>
                <a:lnTo>
                  <a:pt x="35719" y="133946"/>
                </a:lnTo>
                <a:cubicBezTo>
                  <a:pt x="35719" y="128997"/>
                  <a:pt x="39700" y="125015"/>
                  <a:pt x="44648" y="125015"/>
                </a:cubicBezTo>
                <a:cubicBezTo>
                  <a:pt x="49597" y="125015"/>
                  <a:pt x="53577" y="128997"/>
                  <a:pt x="53577" y="133946"/>
                </a:cubicBezTo>
                <a:lnTo>
                  <a:pt x="53577" y="142876"/>
                </a:lnTo>
                <a:lnTo>
                  <a:pt x="86321" y="142876"/>
                </a:lnTo>
                <a:lnTo>
                  <a:pt x="86321" y="133946"/>
                </a:lnTo>
                <a:cubicBezTo>
                  <a:pt x="86321" y="128997"/>
                  <a:pt x="90301" y="125015"/>
                  <a:pt x="95250" y="125015"/>
                </a:cubicBezTo>
                <a:cubicBezTo>
                  <a:pt x="100199" y="125015"/>
                  <a:pt x="104179" y="128997"/>
                  <a:pt x="104179" y="133946"/>
                </a:cubicBezTo>
                <a:lnTo>
                  <a:pt x="104179" y="142876"/>
                </a:lnTo>
                <a:lnTo>
                  <a:pt x="136923" y="142876"/>
                </a:lnTo>
                <a:lnTo>
                  <a:pt x="136923" y="133946"/>
                </a:lnTo>
                <a:cubicBezTo>
                  <a:pt x="136923" y="128997"/>
                  <a:pt x="140903" y="125015"/>
                  <a:pt x="145852" y="125015"/>
                </a:cubicBezTo>
                <a:cubicBezTo>
                  <a:pt x="150800" y="125015"/>
                  <a:pt x="154781" y="128997"/>
                  <a:pt x="154781" y="133946"/>
                </a:cubicBezTo>
                <a:lnTo>
                  <a:pt x="154781" y="142876"/>
                </a:lnTo>
                <a:lnTo>
                  <a:pt x="178594" y="142876"/>
                </a:lnTo>
                <a:cubicBezTo>
                  <a:pt x="185179" y="142876"/>
                  <a:pt x="190500" y="137555"/>
                  <a:pt x="190500" y="130969"/>
                </a:cubicBezTo>
                <a:close/>
                <a:moveTo>
                  <a:pt x="59531" y="35719"/>
                </a:moveTo>
                <a:lnTo>
                  <a:pt x="59531" y="59532"/>
                </a:lnTo>
                <a:cubicBezTo>
                  <a:pt x="59531" y="66117"/>
                  <a:pt x="54211" y="71438"/>
                  <a:pt x="47625" y="71438"/>
                </a:cubicBezTo>
                <a:cubicBezTo>
                  <a:pt x="41039" y="71438"/>
                  <a:pt x="35719" y="66117"/>
                  <a:pt x="35719" y="59532"/>
                </a:cubicBezTo>
                <a:lnTo>
                  <a:pt x="35719" y="35719"/>
                </a:lnTo>
                <a:cubicBezTo>
                  <a:pt x="35719" y="29134"/>
                  <a:pt x="41039" y="23813"/>
                  <a:pt x="47625" y="23813"/>
                </a:cubicBezTo>
                <a:cubicBezTo>
                  <a:pt x="54211" y="23813"/>
                  <a:pt x="59531" y="29134"/>
                  <a:pt x="59531" y="35719"/>
                </a:cubicBezTo>
                <a:close/>
                <a:moveTo>
                  <a:pt x="107156" y="35719"/>
                </a:moveTo>
                <a:lnTo>
                  <a:pt x="107156" y="59532"/>
                </a:lnTo>
                <a:cubicBezTo>
                  <a:pt x="107156" y="66117"/>
                  <a:pt x="101836" y="71438"/>
                  <a:pt x="95250" y="71438"/>
                </a:cubicBezTo>
                <a:cubicBezTo>
                  <a:pt x="88664" y="71438"/>
                  <a:pt x="83344" y="66117"/>
                  <a:pt x="83344" y="59532"/>
                </a:cubicBezTo>
                <a:lnTo>
                  <a:pt x="83344" y="35719"/>
                </a:lnTo>
                <a:cubicBezTo>
                  <a:pt x="83344" y="29134"/>
                  <a:pt x="88664" y="23813"/>
                  <a:pt x="95250" y="23813"/>
                </a:cubicBezTo>
                <a:cubicBezTo>
                  <a:pt x="101836" y="23813"/>
                  <a:pt x="107156" y="29134"/>
                  <a:pt x="107156" y="35719"/>
                </a:cubicBezTo>
                <a:close/>
                <a:moveTo>
                  <a:pt x="154781" y="35719"/>
                </a:moveTo>
                <a:lnTo>
                  <a:pt x="154781" y="59532"/>
                </a:lnTo>
                <a:cubicBezTo>
                  <a:pt x="154781" y="66117"/>
                  <a:pt x="149461" y="71438"/>
                  <a:pt x="142875" y="71438"/>
                </a:cubicBezTo>
                <a:cubicBezTo>
                  <a:pt x="136289" y="71438"/>
                  <a:pt x="130969" y="66117"/>
                  <a:pt x="130969" y="59532"/>
                </a:cubicBezTo>
                <a:lnTo>
                  <a:pt x="130969" y="35719"/>
                </a:lnTo>
                <a:cubicBezTo>
                  <a:pt x="130969" y="29134"/>
                  <a:pt x="136289" y="23813"/>
                  <a:pt x="142875" y="23813"/>
                </a:cubicBezTo>
                <a:cubicBezTo>
                  <a:pt x="149461" y="23813"/>
                  <a:pt x="154781" y="29134"/>
                  <a:pt x="154781" y="3571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85712" y="2895112"/>
            <a:ext cx="1114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3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Latence d'acces memoire</a:t>
            </a:r>
            <a:endParaRPr lang="en-US" sz="1100"/>
          </a:p>
        </p:txBody>
      </p:sp>
      <p:sp>
        <p:nvSpPr>
          <p:cNvPr id="11" name="Freeform 11"/>
          <p:cNvSpPr/>
          <p:nvPr/>
        </p:nvSpPr>
        <p:spPr>
          <a:xfrm>
            <a:off x="380956" y="3390319"/>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507111" y="3554532"/>
            <a:ext cx="214312" cy="166688"/>
          </a:xfrm>
          <a:custGeom>
            <a:avLst/>
            <a:gdLst/>
            <a:ahLst/>
            <a:cxnLst/>
            <a:rect l="l" t="t" r="r" b="b"/>
            <a:pathLst>
              <a:path w="214312" h="166688">
                <a:moveTo>
                  <a:pt x="92273" y="20836"/>
                </a:moveTo>
                <a:lnTo>
                  <a:pt x="122039" y="20836"/>
                </a:lnTo>
                <a:lnTo>
                  <a:pt x="122039" y="38696"/>
                </a:lnTo>
                <a:lnTo>
                  <a:pt x="92273" y="38696"/>
                </a:lnTo>
                <a:lnTo>
                  <a:pt x="92273" y="20836"/>
                </a:lnTo>
                <a:close/>
                <a:moveTo>
                  <a:pt x="89298" y="0"/>
                </a:moveTo>
                <a:cubicBezTo>
                  <a:pt x="79437" y="0"/>
                  <a:pt x="71437" y="8000"/>
                  <a:pt x="71437" y="17860"/>
                </a:cubicBezTo>
                <a:lnTo>
                  <a:pt x="71437" y="41671"/>
                </a:lnTo>
                <a:cubicBezTo>
                  <a:pt x="71437" y="51532"/>
                  <a:pt x="79437" y="59531"/>
                  <a:pt x="89298" y="59531"/>
                </a:cubicBezTo>
                <a:lnTo>
                  <a:pt x="95250" y="59531"/>
                </a:lnTo>
                <a:lnTo>
                  <a:pt x="95250" y="71438"/>
                </a:lnTo>
                <a:lnTo>
                  <a:pt x="11906" y="71438"/>
                </a:lnTo>
                <a:cubicBezTo>
                  <a:pt x="5321" y="71438"/>
                  <a:pt x="0" y="76758"/>
                  <a:pt x="0" y="83344"/>
                </a:cubicBezTo>
                <a:cubicBezTo>
                  <a:pt x="0" y="89930"/>
                  <a:pt x="5321" y="95250"/>
                  <a:pt x="11906" y="95250"/>
                </a:cubicBezTo>
                <a:lnTo>
                  <a:pt x="47625" y="95250"/>
                </a:lnTo>
                <a:lnTo>
                  <a:pt x="47625" y="107156"/>
                </a:lnTo>
                <a:lnTo>
                  <a:pt x="41673" y="107156"/>
                </a:lnTo>
                <a:cubicBezTo>
                  <a:pt x="31812" y="107156"/>
                  <a:pt x="23813" y="115156"/>
                  <a:pt x="23813" y="125017"/>
                </a:cubicBezTo>
                <a:lnTo>
                  <a:pt x="23813" y="148828"/>
                </a:lnTo>
                <a:cubicBezTo>
                  <a:pt x="23813" y="158688"/>
                  <a:pt x="31812" y="166688"/>
                  <a:pt x="41673" y="166688"/>
                </a:cubicBezTo>
                <a:lnTo>
                  <a:pt x="77391" y="166688"/>
                </a:lnTo>
                <a:cubicBezTo>
                  <a:pt x="87250" y="166688"/>
                  <a:pt x="95250" y="158688"/>
                  <a:pt x="95250" y="148828"/>
                </a:cubicBezTo>
                <a:lnTo>
                  <a:pt x="95250" y="125017"/>
                </a:lnTo>
                <a:cubicBezTo>
                  <a:pt x="95250" y="115156"/>
                  <a:pt x="87250" y="107156"/>
                  <a:pt x="77391" y="107156"/>
                </a:cubicBezTo>
                <a:lnTo>
                  <a:pt x="71437" y="107156"/>
                </a:lnTo>
                <a:lnTo>
                  <a:pt x="71437" y="95250"/>
                </a:lnTo>
                <a:lnTo>
                  <a:pt x="142875" y="95250"/>
                </a:lnTo>
                <a:lnTo>
                  <a:pt x="142875" y="107156"/>
                </a:lnTo>
                <a:lnTo>
                  <a:pt x="136923" y="107156"/>
                </a:lnTo>
                <a:cubicBezTo>
                  <a:pt x="127062" y="107156"/>
                  <a:pt x="119063" y="115156"/>
                  <a:pt x="119063" y="125017"/>
                </a:cubicBezTo>
                <a:lnTo>
                  <a:pt x="119063" y="148828"/>
                </a:lnTo>
                <a:cubicBezTo>
                  <a:pt x="119063" y="158688"/>
                  <a:pt x="127062" y="166688"/>
                  <a:pt x="136923" y="166688"/>
                </a:cubicBezTo>
                <a:lnTo>
                  <a:pt x="172641" y="166688"/>
                </a:lnTo>
                <a:cubicBezTo>
                  <a:pt x="182500" y="166688"/>
                  <a:pt x="190500" y="158688"/>
                  <a:pt x="190500" y="148828"/>
                </a:cubicBezTo>
                <a:lnTo>
                  <a:pt x="190500" y="125017"/>
                </a:lnTo>
                <a:cubicBezTo>
                  <a:pt x="190500" y="115156"/>
                  <a:pt x="182500" y="107156"/>
                  <a:pt x="172641" y="107156"/>
                </a:cubicBezTo>
                <a:lnTo>
                  <a:pt x="166687" y="107156"/>
                </a:lnTo>
                <a:lnTo>
                  <a:pt x="166687" y="95250"/>
                </a:lnTo>
                <a:lnTo>
                  <a:pt x="202406" y="95250"/>
                </a:lnTo>
                <a:cubicBezTo>
                  <a:pt x="208992" y="95250"/>
                  <a:pt x="214313" y="89930"/>
                  <a:pt x="214313" y="83344"/>
                </a:cubicBezTo>
                <a:cubicBezTo>
                  <a:pt x="214313" y="76758"/>
                  <a:pt x="208992" y="71438"/>
                  <a:pt x="202406" y="71438"/>
                </a:cubicBezTo>
                <a:lnTo>
                  <a:pt x="119063" y="71438"/>
                </a:lnTo>
                <a:lnTo>
                  <a:pt x="119063" y="59531"/>
                </a:lnTo>
                <a:lnTo>
                  <a:pt x="125016" y="59531"/>
                </a:lnTo>
                <a:cubicBezTo>
                  <a:pt x="134875" y="59531"/>
                  <a:pt x="142875" y="51532"/>
                  <a:pt x="142875" y="41671"/>
                </a:cubicBezTo>
                <a:lnTo>
                  <a:pt x="142875" y="17860"/>
                </a:lnTo>
                <a:cubicBezTo>
                  <a:pt x="142875" y="8000"/>
                  <a:pt x="134875" y="0"/>
                  <a:pt x="125016" y="0"/>
                </a:cubicBezTo>
                <a:lnTo>
                  <a:pt x="89298" y="0"/>
                </a:lnTo>
                <a:close/>
                <a:moveTo>
                  <a:pt x="166687" y="127992"/>
                </a:moveTo>
                <a:lnTo>
                  <a:pt x="169664" y="127992"/>
                </a:lnTo>
                <a:lnTo>
                  <a:pt x="169664" y="145852"/>
                </a:lnTo>
                <a:lnTo>
                  <a:pt x="139898" y="145852"/>
                </a:lnTo>
                <a:lnTo>
                  <a:pt x="139898" y="127992"/>
                </a:lnTo>
                <a:lnTo>
                  <a:pt x="166687" y="127992"/>
                </a:lnTo>
                <a:close/>
                <a:moveTo>
                  <a:pt x="71437" y="127992"/>
                </a:moveTo>
                <a:lnTo>
                  <a:pt x="74414" y="127992"/>
                </a:lnTo>
                <a:lnTo>
                  <a:pt x="74414" y="145852"/>
                </a:lnTo>
                <a:lnTo>
                  <a:pt x="44648" y="145852"/>
                </a:lnTo>
                <a:lnTo>
                  <a:pt x="44648" y="127992"/>
                </a:lnTo>
                <a:lnTo>
                  <a:pt x="71437" y="12799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885712" y="3504567"/>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7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Latence reseau</a:t>
            </a:r>
            <a:endParaRPr lang="en-US" sz="1100"/>
          </a:p>
        </p:txBody>
      </p:sp>
      <p:sp>
        <p:nvSpPr>
          <p:cNvPr id="14" name="Freeform 14"/>
          <p:cNvSpPr/>
          <p:nvPr/>
        </p:nvSpPr>
        <p:spPr>
          <a:xfrm>
            <a:off x="380956" y="3999774"/>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530924" y="4163987"/>
            <a:ext cx="166688" cy="166688"/>
          </a:xfrm>
          <a:custGeom>
            <a:avLst/>
            <a:gdLst/>
            <a:ahLst/>
            <a:cxnLst/>
            <a:rect l="l" t="t" r="r" b="b"/>
            <a:pathLst>
              <a:path w="166688" h="166688">
                <a:moveTo>
                  <a:pt x="23812" y="0"/>
                </a:moveTo>
                <a:cubicBezTo>
                  <a:pt x="10678" y="0"/>
                  <a:pt x="0" y="10678"/>
                  <a:pt x="0" y="23813"/>
                </a:cubicBezTo>
                <a:lnTo>
                  <a:pt x="0" y="84869"/>
                </a:lnTo>
                <a:cubicBezTo>
                  <a:pt x="6734" y="80144"/>
                  <a:pt x="14957" y="77392"/>
                  <a:pt x="23812" y="77392"/>
                </a:cubicBezTo>
                <a:lnTo>
                  <a:pt x="142875" y="77392"/>
                </a:lnTo>
                <a:cubicBezTo>
                  <a:pt x="151729" y="77392"/>
                  <a:pt x="159953" y="80144"/>
                  <a:pt x="166688" y="84869"/>
                </a:cubicBezTo>
                <a:lnTo>
                  <a:pt x="166688" y="23813"/>
                </a:lnTo>
                <a:cubicBezTo>
                  <a:pt x="166688" y="10678"/>
                  <a:pt x="156009" y="0"/>
                  <a:pt x="142875" y="0"/>
                </a:cubicBezTo>
                <a:lnTo>
                  <a:pt x="23812" y="0"/>
                </a:lnTo>
                <a:close/>
                <a:moveTo>
                  <a:pt x="166688" y="119063"/>
                </a:moveTo>
                <a:cubicBezTo>
                  <a:pt x="166688" y="105928"/>
                  <a:pt x="156009" y="95250"/>
                  <a:pt x="142875" y="95250"/>
                </a:cubicBezTo>
                <a:lnTo>
                  <a:pt x="23812" y="95250"/>
                </a:lnTo>
                <a:cubicBezTo>
                  <a:pt x="10678" y="95250"/>
                  <a:pt x="0" y="105928"/>
                  <a:pt x="0" y="119063"/>
                </a:cubicBezTo>
                <a:lnTo>
                  <a:pt x="0" y="142875"/>
                </a:lnTo>
                <a:cubicBezTo>
                  <a:pt x="0" y="156010"/>
                  <a:pt x="10678" y="166688"/>
                  <a:pt x="23812" y="166688"/>
                </a:cubicBezTo>
                <a:lnTo>
                  <a:pt x="142875" y="166688"/>
                </a:lnTo>
                <a:cubicBezTo>
                  <a:pt x="156009" y="166688"/>
                  <a:pt x="166688" y="156010"/>
                  <a:pt x="166688" y="142875"/>
                </a:cubicBezTo>
                <a:lnTo>
                  <a:pt x="166688" y="119063"/>
                </a:lnTo>
                <a:close/>
                <a:moveTo>
                  <a:pt x="83344" y="130969"/>
                </a:moveTo>
                <a:cubicBezTo>
                  <a:pt x="83344" y="124398"/>
                  <a:pt x="88679" y="119063"/>
                  <a:pt x="95250" y="119063"/>
                </a:cubicBezTo>
                <a:cubicBezTo>
                  <a:pt x="101821" y="119063"/>
                  <a:pt x="107156" y="124398"/>
                  <a:pt x="107156" y="130969"/>
                </a:cubicBezTo>
                <a:cubicBezTo>
                  <a:pt x="107156" y="137540"/>
                  <a:pt x="101821" y="142875"/>
                  <a:pt x="95250" y="142875"/>
                </a:cubicBezTo>
                <a:cubicBezTo>
                  <a:pt x="88679" y="142875"/>
                  <a:pt x="83344" y="137540"/>
                  <a:pt x="83344" y="130969"/>
                </a:cubicBezTo>
                <a:close/>
                <a:moveTo>
                  <a:pt x="130969" y="119063"/>
                </a:moveTo>
                <a:cubicBezTo>
                  <a:pt x="137540" y="119063"/>
                  <a:pt x="142875" y="124398"/>
                  <a:pt x="142875" y="130969"/>
                </a:cubicBezTo>
                <a:cubicBezTo>
                  <a:pt x="142875" y="137540"/>
                  <a:pt x="137540" y="142875"/>
                  <a:pt x="130969" y="142875"/>
                </a:cubicBezTo>
                <a:cubicBezTo>
                  <a:pt x="124398" y="142875"/>
                  <a:pt x="119062" y="137540"/>
                  <a:pt x="119062" y="130969"/>
                </a:cubicBezTo>
                <a:cubicBezTo>
                  <a:pt x="119062" y="124398"/>
                  <a:pt x="124398" y="119063"/>
                  <a:pt x="130969" y="11906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885712" y="4114023"/>
            <a:ext cx="1114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6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Latence d'acces disque</a:t>
            </a:r>
            <a:endParaRPr lang="en-US" sz="1100"/>
          </a:p>
        </p:txBody>
      </p:sp>
      <p:sp>
        <p:nvSpPr>
          <p:cNvPr id="17" name="AutoShape 17"/>
          <p:cNvSpPr/>
          <p:nvPr/>
        </p:nvSpPr>
        <p:spPr>
          <a:xfrm>
            <a:off x="380956" y="4647358"/>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Unites courantes</a:t>
            </a:r>
            <a:endParaRPr lang="en-US" sz="1100"/>
          </a:p>
        </p:txBody>
      </p:sp>
      <p:sp>
        <p:nvSpPr>
          <p:cNvPr id="18" name="Freeform 18"/>
          <p:cNvSpPr/>
          <p:nvPr/>
        </p:nvSpPr>
        <p:spPr>
          <a:xfrm>
            <a:off x="380956" y="5104433"/>
            <a:ext cx="1752600" cy="1066800"/>
          </a:xfrm>
          <a:custGeom>
            <a:avLst/>
            <a:gdLst/>
            <a:ahLst/>
            <a:cxnLst/>
            <a:rect l="l" t="t" r="r" b="b"/>
            <a:pathLst>
              <a:path w="1752600" h="1066800">
                <a:moveTo>
                  <a:pt x="76203" y="0"/>
                </a:moveTo>
                <a:lnTo>
                  <a:pt x="1676397" y="0"/>
                </a:lnTo>
                <a:cubicBezTo>
                  <a:pt x="1718483" y="0"/>
                  <a:pt x="1752600" y="34117"/>
                  <a:pt x="1752600" y="76203"/>
                </a:cubicBezTo>
                <a:lnTo>
                  <a:pt x="1752600" y="990597"/>
                </a:lnTo>
                <a:cubicBezTo>
                  <a:pt x="1752600" y="1032683"/>
                  <a:pt x="1718483" y="1066800"/>
                  <a:pt x="1676397" y="1066800"/>
                </a:cubicBezTo>
                <a:lnTo>
                  <a:pt x="76203" y="1066800"/>
                </a:lnTo>
                <a:cubicBezTo>
                  <a:pt x="34117" y="1066800"/>
                  <a:pt x="0" y="1032683"/>
                  <a:pt x="0" y="9905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76188" y="5256814"/>
            <a:ext cx="1562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ns</a:t>
            </a:r>
            <a:endParaRPr lang="en-US" sz="1100"/>
          </a:p>
        </p:txBody>
      </p:sp>
      <p:sp>
        <p:nvSpPr>
          <p:cNvPr id="20" name="AutoShape 20"/>
          <p:cNvSpPr/>
          <p:nvPr/>
        </p:nvSpPr>
        <p:spPr>
          <a:xfrm>
            <a:off x="495238" y="5599565"/>
            <a:ext cx="152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nanoseconde</a:t>
            </a:r>
            <a:endParaRPr lang="en-US" sz="1100"/>
          </a:p>
        </p:txBody>
      </p:sp>
      <p:sp>
        <p:nvSpPr>
          <p:cNvPr id="21" name="AutoShape 21"/>
          <p:cNvSpPr/>
          <p:nvPr/>
        </p:nvSpPr>
        <p:spPr>
          <a:xfrm>
            <a:off x="500000" y="5828137"/>
            <a:ext cx="151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10-9 seconde</a:t>
            </a:r>
            <a:endParaRPr lang="en-US" sz="1100"/>
          </a:p>
        </p:txBody>
      </p:sp>
      <p:sp>
        <p:nvSpPr>
          <p:cNvPr id="22" name="Freeform 22"/>
          <p:cNvSpPr/>
          <p:nvPr/>
        </p:nvSpPr>
        <p:spPr>
          <a:xfrm>
            <a:off x="2285956" y="5104433"/>
            <a:ext cx="1752600" cy="1066800"/>
          </a:xfrm>
          <a:custGeom>
            <a:avLst/>
            <a:gdLst/>
            <a:ahLst/>
            <a:cxnLst/>
            <a:rect l="l" t="t" r="r" b="b"/>
            <a:pathLst>
              <a:path w="1752600" h="1066800">
                <a:moveTo>
                  <a:pt x="76203" y="0"/>
                </a:moveTo>
                <a:lnTo>
                  <a:pt x="1676397" y="0"/>
                </a:lnTo>
                <a:cubicBezTo>
                  <a:pt x="1718483" y="0"/>
                  <a:pt x="1752600" y="34117"/>
                  <a:pt x="1752600" y="76203"/>
                </a:cubicBezTo>
                <a:lnTo>
                  <a:pt x="1752600" y="990597"/>
                </a:lnTo>
                <a:cubicBezTo>
                  <a:pt x="1752600" y="1032683"/>
                  <a:pt x="1718483" y="1066800"/>
                  <a:pt x="1676397" y="1066800"/>
                </a:cubicBezTo>
                <a:lnTo>
                  <a:pt x="76203" y="1066800"/>
                </a:lnTo>
                <a:cubicBezTo>
                  <a:pt x="34117" y="1066800"/>
                  <a:pt x="0" y="1032683"/>
                  <a:pt x="0" y="9905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2381188" y="5256814"/>
            <a:ext cx="1562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us</a:t>
            </a:r>
            <a:endParaRPr lang="en-US" sz="1100"/>
          </a:p>
        </p:txBody>
      </p:sp>
      <p:sp>
        <p:nvSpPr>
          <p:cNvPr id="24" name="AutoShape 24"/>
          <p:cNvSpPr/>
          <p:nvPr/>
        </p:nvSpPr>
        <p:spPr>
          <a:xfrm>
            <a:off x="2400238" y="5599565"/>
            <a:ext cx="152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microseconde</a:t>
            </a:r>
            <a:endParaRPr lang="en-US" sz="1100"/>
          </a:p>
        </p:txBody>
      </p:sp>
      <p:sp>
        <p:nvSpPr>
          <p:cNvPr id="25" name="AutoShape 25"/>
          <p:cNvSpPr/>
          <p:nvPr/>
        </p:nvSpPr>
        <p:spPr>
          <a:xfrm>
            <a:off x="2405000" y="5828137"/>
            <a:ext cx="151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10-6 seconde</a:t>
            </a:r>
            <a:endParaRPr lang="en-US" sz="1100"/>
          </a:p>
        </p:txBody>
      </p:sp>
      <p:sp>
        <p:nvSpPr>
          <p:cNvPr id="26" name="Freeform 26"/>
          <p:cNvSpPr/>
          <p:nvPr/>
        </p:nvSpPr>
        <p:spPr>
          <a:xfrm>
            <a:off x="4190956" y="5104433"/>
            <a:ext cx="1752600" cy="1066800"/>
          </a:xfrm>
          <a:custGeom>
            <a:avLst/>
            <a:gdLst/>
            <a:ahLst/>
            <a:cxnLst/>
            <a:rect l="l" t="t" r="r" b="b"/>
            <a:pathLst>
              <a:path w="1752600" h="1066800">
                <a:moveTo>
                  <a:pt x="76203" y="0"/>
                </a:moveTo>
                <a:lnTo>
                  <a:pt x="1676397" y="0"/>
                </a:lnTo>
                <a:cubicBezTo>
                  <a:pt x="1718483" y="0"/>
                  <a:pt x="1752600" y="34117"/>
                  <a:pt x="1752600" y="76203"/>
                </a:cubicBezTo>
                <a:lnTo>
                  <a:pt x="1752600" y="990597"/>
                </a:lnTo>
                <a:cubicBezTo>
                  <a:pt x="1752600" y="1032683"/>
                  <a:pt x="1718483" y="1066800"/>
                  <a:pt x="1676397" y="1066800"/>
                </a:cubicBezTo>
                <a:lnTo>
                  <a:pt x="76203" y="1066800"/>
                </a:lnTo>
                <a:cubicBezTo>
                  <a:pt x="34117" y="1066800"/>
                  <a:pt x="0" y="1032683"/>
                  <a:pt x="0" y="9905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4286188" y="5256814"/>
            <a:ext cx="1562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ms</a:t>
            </a:r>
            <a:endParaRPr lang="en-US" sz="1100"/>
          </a:p>
        </p:txBody>
      </p:sp>
      <p:sp>
        <p:nvSpPr>
          <p:cNvPr id="28" name="AutoShape 28"/>
          <p:cNvSpPr/>
          <p:nvPr/>
        </p:nvSpPr>
        <p:spPr>
          <a:xfrm>
            <a:off x="4305238" y="5599565"/>
            <a:ext cx="152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milliseconde</a:t>
            </a:r>
            <a:endParaRPr lang="en-US" sz="1100"/>
          </a:p>
        </p:txBody>
      </p:sp>
      <p:sp>
        <p:nvSpPr>
          <p:cNvPr id="29" name="AutoShape 29"/>
          <p:cNvSpPr/>
          <p:nvPr/>
        </p:nvSpPr>
        <p:spPr>
          <a:xfrm>
            <a:off x="4310000" y="5828137"/>
            <a:ext cx="151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10-3 seconde</a:t>
            </a:r>
            <a:endParaRPr lang="en-US" sz="1100"/>
          </a:p>
        </p:txBody>
      </p:sp>
      <p:sp>
        <p:nvSpPr>
          <p:cNvPr id="30" name="Freeform 30"/>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31" name="Picture 31"/>
          <p:cNvPicPr>
            <a:picLocks noChangeAspect="1"/>
          </p:cNvPicPr>
          <p:nvPr/>
        </p:nvPicPr>
        <p:blipFill>
          <a:blip r:embed="rId1"/>
          <a:srcRect t="109" b="109"/>
          <a:stretch>
            <a:fillRect/>
          </a:stretch>
        </p:blipFill>
        <p:spPr>
          <a:xfrm>
            <a:off x="6400720" y="2631811"/>
            <a:ext cx="5257800" cy="1552575"/>
          </a:xfrm>
          <a:prstGeom prst="roundRect">
            <a:avLst>
              <a:gd name="adj" fmla="val 0"/>
            </a:avLst>
          </a:prstGeom>
          <a:ln w="12700">
            <a:noFill/>
            <a:prstDash val="solid"/>
          </a:ln>
        </p:spPr>
      </p:pic>
      <p:sp>
        <p:nvSpPr>
          <p:cNvPr id="32" name="AutoShape 32"/>
          <p:cNvSpPr/>
          <p:nvPr/>
        </p:nvSpPr>
        <p:spPr>
          <a:xfrm>
            <a:off x="6210238" y="5905365"/>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 Scalable Developer - Latency Timeline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1618" y="615552"/>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Exemple de Latence</a:t>
            </a:r>
            <a:endParaRPr lang="en-US" sz="1100"/>
          </a:p>
        </p:txBody>
      </p:sp>
      <p:sp>
        <p:nvSpPr>
          <p:cNvPr id="3" name="AutoShape 3"/>
          <p:cNvSpPr/>
          <p:nvPr/>
        </p:nvSpPr>
        <p:spPr>
          <a:xfrm>
            <a:off x="380956" y="1261307"/>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altLang="zh-CN"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Latence typique de la hi</a:t>
            </a:r>
            <a:r>
              <a:rPr lang="en-US" alt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rarchie m</a:t>
            </a:r>
            <a:r>
              <a:rPr lang="en-US" alt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moir</a:t>
            </a: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a:t>
            </a:r>
            <a:endParaRPr lang="en-US" sz="1100"/>
          </a:p>
        </p:txBody>
      </p:sp>
      <p:sp>
        <p:nvSpPr>
          <p:cNvPr id="4" name="Freeform 4"/>
          <p:cNvSpPr/>
          <p:nvPr/>
        </p:nvSpPr>
        <p:spPr>
          <a:xfrm>
            <a:off x="399911" y="1898890"/>
            <a:ext cx="5543455" cy="876300"/>
          </a:xfrm>
          <a:custGeom>
            <a:avLst/>
            <a:gdLst/>
            <a:ahLst/>
            <a:cxnLst/>
            <a:rect l="l" t="t" r="r" b="b"/>
            <a:pathLst>
              <a:path w="5543455" h="876300">
                <a:moveTo>
                  <a:pt x="37909" y="0"/>
                </a:moveTo>
                <a:lnTo>
                  <a:pt x="5429159" y="0"/>
                </a:lnTo>
                <a:cubicBezTo>
                  <a:pt x="5492283" y="0"/>
                  <a:pt x="5543455" y="51172"/>
                  <a:pt x="5543455" y="114296"/>
                </a:cubicBezTo>
                <a:lnTo>
                  <a:pt x="5543455" y="762004"/>
                </a:lnTo>
                <a:cubicBezTo>
                  <a:pt x="5543455" y="825128"/>
                  <a:pt x="5492283" y="876300"/>
                  <a:pt x="5429159" y="876300"/>
                </a:cubicBezTo>
                <a:lnTo>
                  <a:pt x="37909" y="876300"/>
                </a:lnTo>
                <a:cubicBezTo>
                  <a:pt x="16974" y="876300"/>
                  <a:pt x="0" y="859326"/>
                  <a:pt x="0" y="838390"/>
                </a:cubicBezTo>
                <a:lnTo>
                  <a:pt x="0" y="37910"/>
                </a:lnTo>
                <a:cubicBezTo>
                  <a:pt x="0" y="16988"/>
                  <a:pt x="16988" y="0"/>
                  <a:pt x="37909" y="0"/>
                </a:cubicBezTo>
                <a:close/>
              </a:path>
            </a:pathLst>
          </a:custGeom>
          <a:gradFill rotWithShape="1">
            <a:gsLst>
              <a:gs pos="0">
                <a:srgbClr val="F0FDF4">
                  <a:alpha val="100000"/>
                </a:srgbClr>
              </a:gs>
              <a:gs pos="100000">
                <a:srgbClr val="FFFFFF">
                  <a:alpha val="100000"/>
                </a:srgbClr>
              </a:gs>
            </a:gsLst>
            <a:lin ang="0"/>
          </a:gra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99911" y="1898890"/>
            <a:ext cx="37909" cy="876300"/>
          </a:xfrm>
          <a:custGeom>
            <a:avLst/>
            <a:gdLst/>
            <a:ahLst/>
            <a:cxnLst/>
            <a:rect l="l" t="t" r="r" b="b"/>
            <a:pathLst>
              <a:path w="37909" h="876300">
                <a:moveTo>
                  <a:pt x="37909" y="0"/>
                </a:moveTo>
                <a:lnTo>
                  <a:pt x="37909" y="0"/>
                </a:lnTo>
                <a:lnTo>
                  <a:pt x="37909" y="876300"/>
                </a:lnTo>
                <a:lnTo>
                  <a:pt x="37909" y="876300"/>
                </a:lnTo>
                <a:cubicBezTo>
                  <a:pt x="16974" y="876300"/>
                  <a:pt x="0" y="859326"/>
                  <a:pt x="0" y="838390"/>
                </a:cubicBezTo>
                <a:lnTo>
                  <a:pt x="0" y="37910"/>
                </a:lnTo>
                <a:cubicBezTo>
                  <a:pt x="0" y="16988"/>
                  <a:pt x="16988" y="0"/>
                  <a:pt x="3790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9307" y="2108361"/>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753531" y="2234758"/>
            <a:ext cx="168697" cy="204267"/>
          </a:xfrm>
          <a:custGeom>
            <a:avLst/>
            <a:gdLst/>
            <a:ahLst/>
            <a:cxnLst/>
            <a:rect l="l" t="t" r="r" b="b"/>
            <a:pathLst>
              <a:path w="168697" h="204267">
                <a:moveTo>
                  <a:pt x="127061" y="3200"/>
                </a:moveTo>
                <a:cubicBezTo>
                  <a:pt x="131490" y="6399"/>
                  <a:pt x="133127" y="12204"/>
                  <a:pt x="131118" y="17264"/>
                </a:cubicBezTo>
                <a:lnTo>
                  <a:pt x="101948" y="90227"/>
                </a:lnTo>
                <a:lnTo>
                  <a:pt x="155786" y="90227"/>
                </a:lnTo>
                <a:cubicBezTo>
                  <a:pt x="160809" y="90227"/>
                  <a:pt x="165274" y="93352"/>
                  <a:pt x="166986" y="98077"/>
                </a:cubicBezTo>
                <a:cubicBezTo>
                  <a:pt x="168697" y="102804"/>
                  <a:pt x="167245" y="108085"/>
                  <a:pt x="163414" y="111286"/>
                </a:cubicBezTo>
                <a:lnTo>
                  <a:pt x="56258" y="200583"/>
                </a:lnTo>
                <a:cubicBezTo>
                  <a:pt x="52053" y="204080"/>
                  <a:pt x="46063" y="204266"/>
                  <a:pt x="41635" y="201066"/>
                </a:cubicBezTo>
                <a:cubicBezTo>
                  <a:pt x="37208" y="197867"/>
                  <a:pt x="35571" y="192062"/>
                  <a:pt x="37580" y="187002"/>
                </a:cubicBezTo>
                <a:lnTo>
                  <a:pt x="66750" y="114039"/>
                </a:lnTo>
                <a:lnTo>
                  <a:pt x="12911" y="114039"/>
                </a:lnTo>
                <a:cubicBezTo>
                  <a:pt x="7888" y="114039"/>
                  <a:pt x="3423" y="110914"/>
                  <a:pt x="1712" y="106189"/>
                </a:cubicBezTo>
                <a:cubicBezTo>
                  <a:pt x="0" y="101462"/>
                  <a:pt x="1451" y="96181"/>
                  <a:pt x="5284" y="92980"/>
                </a:cubicBezTo>
                <a:lnTo>
                  <a:pt x="112440" y="3683"/>
                </a:lnTo>
                <a:cubicBezTo>
                  <a:pt x="116644" y="186"/>
                  <a:pt x="122635" y="0"/>
                  <a:pt x="127061" y="320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218836" y="2089334"/>
            <a:ext cx="942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L1 Cache</a:t>
            </a:r>
            <a:endParaRPr lang="en-US" sz="1100"/>
          </a:p>
        </p:txBody>
      </p:sp>
      <p:sp>
        <p:nvSpPr>
          <p:cNvPr id="9" name="AutoShape 9"/>
          <p:cNvSpPr/>
          <p:nvPr/>
        </p:nvSpPr>
        <p:spPr>
          <a:xfrm>
            <a:off x="1218836" y="2356039"/>
            <a:ext cx="9239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Cache de premier niveau</a:t>
            </a:r>
            <a:endParaRPr lang="en-US" sz="1100"/>
          </a:p>
        </p:txBody>
      </p:sp>
      <p:sp>
        <p:nvSpPr>
          <p:cNvPr id="10" name="AutoShape 10"/>
          <p:cNvSpPr/>
          <p:nvPr/>
        </p:nvSpPr>
        <p:spPr>
          <a:xfrm>
            <a:off x="4948054" y="2165525"/>
            <a:ext cx="95250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70" b="1" i="0" u="none" strike="noStrike">
                <a:solidFill>
                  <a:srgbClr val="00A63E"/>
                </a:solidFill>
                <a:latin typeface="Noto Sans SC" panose="020B0200000000000000" charset="-122"/>
                <a:ea typeface="Noto Sans SC" panose="020B0200000000000000" charset="-122"/>
                <a:cs typeface="Noto Sans SC" panose="020B0200000000000000" charset="-122"/>
                <a:sym typeface="Noto Sans SC" panose="020B0200000000000000" charset="-122"/>
              </a:rPr>
              <a:t>~1 ns</a:t>
            </a:r>
            <a:endParaRPr lang="en-US" sz="1100"/>
          </a:p>
        </p:txBody>
      </p:sp>
      <p:sp>
        <p:nvSpPr>
          <p:cNvPr id="11" name="Freeform 11"/>
          <p:cNvSpPr/>
          <p:nvPr/>
        </p:nvSpPr>
        <p:spPr>
          <a:xfrm>
            <a:off x="399911" y="2965495"/>
            <a:ext cx="5543455" cy="876300"/>
          </a:xfrm>
          <a:custGeom>
            <a:avLst/>
            <a:gdLst/>
            <a:ahLst/>
            <a:cxnLst/>
            <a:rect l="l" t="t" r="r" b="b"/>
            <a:pathLst>
              <a:path w="5543455" h="876300">
                <a:moveTo>
                  <a:pt x="37909" y="0"/>
                </a:moveTo>
                <a:lnTo>
                  <a:pt x="5429159" y="0"/>
                </a:lnTo>
                <a:cubicBezTo>
                  <a:pt x="5492283" y="0"/>
                  <a:pt x="5543455" y="51172"/>
                  <a:pt x="5543455" y="114296"/>
                </a:cubicBezTo>
                <a:lnTo>
                  <a:pt x="5543455" y="762004"/>
                </a:lnTo>
                <a:cubicBezTo>
                  <a:pt x="5543455" y="825128"/>
                  <a:pt x="5492283" y="876300"/>
                  <a:pt x="5429159" y="876300"/>
                </a:cubicBezTo>
                <a:lnTo>
                  <a:pt x="37909" y="876300"/>
                </a:lnTo>
                <a:cubicBezTo>
                  <a:pt x="16974" y="876300"/>
                  <a:pt x="0" y="859326"/>
                  <a:pt x="0" y="838390"/>
                </a:cubicBezTo>
                <a:lnTo>
                  <a:pt x="0" y="37909"/>
                </a:lnTo>
                <a:cubicBezTo>
                  <a:pt x="0" y="16988"/>
                  <a:pt x="16988" y="0"/>
                  <a:pt x="37909" y="0"/>
                </a:cubicBezTo>
                <a:close/>
              </a:path>
            </a:pathLst>
          </a:custGeom>
          <a:gradFill rotWithShape="1">
            <a:gsLst>
              <a:gs pos="0">
                <a:srgbClr val="FEFCE8">
                  <a:alpha val="100000"/>
                </a:srgbClr>
              </a:gs>
              <a:gs pos="100000">
                <a:srgbClr val="FFFFFF">
                  <a:alpha val="100000"/>
                </a:srgbClr>
              </a:gs>
            </a:gsLst>
            <a:lin ang="0"/>
          </a:gra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399911" y="2965495"/>
            <a:ext cx="37909" cy="876300"/>
          </a:xfrm>
          <a:custGeom>
            <a:avLst/>
            <a:gdLst/>
            <a:ahLst/>
            <a:cxnLst/>
            <a:rect l="l" t="t" r="r" b="b"/>
            <a:pathLst>
              <a:path w="37909" h="876300">
                <a:moveTo>
                  <a:pt x="37909" y="0"/>
                </a:moveTo>
                <a:lnTo>
                  <a:pt x="37909" y="0"/>
                </a:lnTo>
                <a:lnTo>
                  <a:pt x="37909" y="876300"/>
                </a:lnTo>
                <a:lnTo>
                  <a:pt x="37909" y="876300"/>
                </a:lnTo>
                <a:cubicBezTo>
                  <a:pt x="16974" y="876300"/>
                  <a:pt x="0" y="859326"/>
                  <a:pt x="0" y="838390"/>
                </a:cubicBezTo>
                <a:lnTo>
                  <a:pt x="0" y="37909"/>
                </a:lnTo>
                <a:cubicBezTo>
                  <a:pt x="0" y="16988"/>
                  <a:pt x="16988" y="0"/>
                  <a:pt x="37909" y="0"/>
                </a:cubicBezTo>
                <a:close/>
              </a:path>
            </a:pathLst>
          </a:custGeom>
          <a:solidFill>
            <a:srgbClr val="F0B100">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09307" y="3174961"/>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F0B100">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753531" y="3301358"/>
            <a:ext cx="168697" cy="204267"/>
          </a:xfrm>
          <a:custGeom>
            <a:avLst/>
            <a:gdLst/>
            <a:ahLst/>
            <a:cxnLst/>
            <a:rect l="l" t="t" r="r" b="b"/>
            <a:pathLst>
              <a:path w="168697" h="204267">
                <a:moveTo>
                  <a:pt x="127061" y="3200"/>
                </a:moveTo>
                <a:cubicBezTo>
                  <a:pt x="131490" y="6399"/>
                  <a:pt x="133127" y="12204"/>
                  <a:pt x="131118" y="17264"/>
                </a:cubicBezTo>
                <a:lnTo>
                  <a:pt x="101948" y="90227"/>
                </a:lnTo>
                <a:lnTo>
                  <a:pt x="155786" y="90227"/>
                </a:lnTo>
                <a:cubicBezTo>
                  <a:pt x="160809" y="90227"/>
                  <a:pt x="165274" y="93352"/>
                  <a:pt x="166986" y="98077"/>
                </a:cubicBezTo>
                <a:cubicBezTo>
                  <a:pt x="168697" y="102804"/>
                  <a:pt x="167245" y="108085"/>
                  <a:pt x="163414" y="111286"/>
                </a:cubicBezTo>
                <a:lnTo>
                  <a:pt x="56258" y="200583"/>
                </a:lnTo>
                <a:cubicBezTo>
                  <a:pt x="52053" y="204080"/>
                  <a:pt x="46063" y="204266"/>
                  <a:pt x="41635" y="201066"/>
                </a:cubicBezTo>
                <a:cubicBezTo>
                  <a:pt x="37208" y="197867"/>
                  <a:pt x="35571" y="192062"/>
                  <a:pt x="37580" y="187002"/>
                </a:cubicBezTo>
                <a:lnTo>
                  <a:pt x="66750" y="114039"/>
                </a:lnTo>
                <a:lnTo>
                  <a:pt x="12911" y="114039"/>
                </a:lnTo>
                <a:cubicBezTo>
                  <a:pt x="7888" y="114039"/>
                  <a:pt x="3423" y="110914"/>
                  <a:pt x="1712" y="106189"/>
                </a:cubicBezTo>
                <a:cubicBezTo>
                  <a:pt x="0" y="101462"/>
                  <a:pt x="1451" y="96181"/>
                  <a:pt x="5284" y="92980"/>
                </a:cubicBezTo>
                <a:lnTo>
                  <a:pt x="112440" y="3683"/>
                </a:lnTo>
                <a:cubicBezTo>
                  <a:pt x="116644" y="186"/>
                  <a:pt x="122635" y="0"/>
                  <a:pt x="127061" y="320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1218836" y="3155934"/>
            <a:ext cx="942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L2 Cache</a:t>
            </a:r>
            <a:endParaRPr lang="en-US" sz="1100"/>
          </a:p>
        </p:txBody>
      </p:sp>
      <p:sp>
        <p:nvSpPr>
          <p:cNvPr id="16" name="AutoShape 16"/>
          <p:cNvSpPr/>
          <p:nvPr/>
        </p:nvSpPr>
        <p:spPr>
          <a:xfrm>
            <a:off x="1218836" y="3422639"/>
            <a:ext cx="9239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Cache de deuxieme niveau</a:t>
            </a:r>
            <a:endParaRPr lang="en-US" sz="1100"/>
          </a:p>
        </p:txBody>
      </p:sp>
      <p:sp>
        <p:nvSpPr>
          <p:cNvPr id="17" name="AutoShape 17"/>
          <p:cNvSpPr/>
          <p:nvPr/>
        </p:nvSpPr>
        <p:spPr>
          <a:xfrm>
            <a:off x="4948054" y="3232125"/>
            <a:ext cx="95250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70" b="1" i="0" u="none" strike="noStrike">
                <a:solidFill>
                  <a:srgbClr val="D08700"/>
                </a:solidFill>
                <a:latin typeface="Noto Sans SC" panose="020B0200000000000000" charset="-122"/>
                <a:ea typeface="Noto Sans SC" panose="020B0200000000000000" charset="-122"/>
                <a:cs typeface="Noto Sans SC" panose="020B0200000000000000" charset="-122"/>
                <a:sym typeface="Noto Sans SC" panose="020B0200000000000000" charset="-122"/>
              </a:rPr>
              <a:t>~4 ns</a:t>
            </a:r>
            <a:endParaRPr lang="en-US" sz="1100"/>
          </a:p>
        </p:txBody>
      </p:sp>
      <p:sp>
        <p:nvSpPr>
          <p:cNvPr id="18" name="Freeform 18"/>
          <p:cNvSpPr/>
          <p:nvPr/>
        </p:nvSpPr>
        <p:spPr>
          <a:xfrm>
            <a:off x="399911" y="4032095"/>
            <a:ext cx="5543455" cy="876300"/>
          </a:xfrm>
          <a:custGeom>
            <a:avLst/>
            <a:gdLst/>
            <a:ahLst/>
            <a:cxnLst/>
            <a:rect l="l" t="t" r="r" b="b"/>
            <a:pathLst>
              <a:path w="5543455" h="876300">
                <a:moveTo>
                  <a:pt x="37909" y="0"/>
                </a:moveTo>
                <a:lnTo>
                  <a:pt x="5429159" y="0"/>
                </a:lnTo>
                <a:cubicBezTo>
                  <a:pt x="5492283" y="0"/>
                  <a:pt x="5543455" y="51172"/>
                  <a:pt x="5543455" y="114296"/>
                </a:cubicBezTo>
                <a:lnTo>
                  <a:pt x="5543455" y="762004"/>
                </a:lnTo>
                <a:cubicBezTo>
                  <a:pt x="5543455" y="825128"/>
                  <a:pt x="5492283" y="876300"/>
                  <a:pt x="5429159" y="876300"/>
                </a:cubicBezTo>
                <a:lnTo>
                  <a:pt x="37909" y="876300"/>
                </a:lnTo>
                <a:cubicBezTo>
                  <a:pt x="16974" y="876300"/>
                  <a:pt x="0" y="859326"/>
                  <a:pt x="0" y="838391"/>
                </a:cubicBezTo>
                <a:lnTo>
                  <a:pt x="0" y="37909"/>
                </a:lnTo>
                <a:cubicBezTo>
                  <a:pt x="0" y="16988"/>
                  <a:pt x="16988" y="0"/>
                  <a:pt x="37909" y="0"/>
                </a:cubicBezTo>
                <a:close/>
              </a:path>
            </a:pathLst>
          </a:custGeom>
          <a:gradFill rotWithShape="1">
            <a:gsLst>
              <a:gs pos="0">
                <a:srgbClr val="FEF2F2">
                  <a:alpha val="100000"/>
                </a:srgbClr>
              </a:gs>
              <a:gs pos="100000">
                <a:srgbClr val="FFFFFF">
                  <a:alpha val="100000"/>
                </a:srgbClr>
              </a:gs>
            </a:gsLst>
            <a:lin ang="0"/>
          </a:gra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99911" y="4032095"/>
            <a:ext cx="37909" cy="876300"/>
          </a:xfrm>
          <a:custGeom>
            <a:avLst/>
            <a:gdLst/>
            <a:ahLst/>
            <a:cxnLst/>
            <a:rect l="l" t="t" r="r" b="b"/>
            <a:pathLst>
              <a:path w="37909" h="876300">
                <a:moveTo>
                  <a:pt x="37909" y="0"/>
                </a:moveTo>
                <a:lnTo>
                  <a:pt x="37909" y="0"/>
                </a:lnTo>
                <a:lnTo>
                  <a:pt x="37909" y="876300"/>
                </a:lnTo>
                <a:lnTo>
                  <a:pt x="37909" y="876300"/>
                </a:lnTo>
                <a:cubicBezTo>
                  <a:pt x="16974" y="876300"/>
                  <a:pt x="0" y="859326"/>
                  <a:pt x="0" y="838391"/>
                </a:cubicBezTo>
                <a:lnTo>
                  <a:pt x="0" y="37909"/>
                </a:lnTo>
                <a:cubicBezTo>
                  <a:pt x="0" y="16988"/>
                  <a:pt x="16988" y="0"/>
                  <a:pt x="37909"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09307" y="4241565"/>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742630" y="4398654"/>
            <a:ext cx="190500" cy="142875"/>
          </a:xfrm>
          <a:custGeom>
            <a:avLst/>
            <a:gdLst/>
            <a:ahLst/>
            <a:cxnLst/>
            <a:rect l="l" t="t" r="r" b="b"/>
            <a:pathLst>
              <a:path w="190500" h="142875">
                <a:moveTo>
                  <a:pt x="23812" y="0"/>
                </a:moveTo>
                <a:cubicBezTo>
                  <a:pt x="10678" y="0"/>
                  <a:pt x="0" y="10678"/>
                  <a:pt x="0" y="23812"/>
                </a:cubicBezTo>
                <a:lnTo>
                  <a:pt x="0" y="26565"/>
                </a:lnTo>
                <a:cubicBezTo>
                  <a:pt x="0" y="29095"/>
                  <a:pt x="1637" y="31253"/>
                  <a:pt x="3758" y="32630"/>
                </a:cubicBezTo>
                <a:cubicBezTo>
                  <a:pt x="8669" y="35830"/>
                  <a:pt x="11906" y="41337"/>
                  <a:pt x="11906" y="47624"/>
                </a:cubicBezTo>
                <a:cubicBezTo>
                  <a:pt x="11906" y="53912"/>
                  <a:pt x="8669" y="59419"/>
                  <a:pt x="3758" y="62619"/>
                </a:cubicBezTo>
                <a:cubicBezTo>
                  <a:pt x="1637" y="63996"/>
                  <a:pt x="0" y="66154"/>
                  <a:pt x="0" y="68684"/>
                </a:cubicBezTo>
                <a:lnTo>
                  <a:pt x="0" y="89296"/>
                </a:lnTo>
                <a:lnTo>
                  <a:pt x="190500" y="89296"/>
                </a:lnTo>
                <a:lnTo>
                  <a:pt x="190500" y="68684"/>
                </a:lnTo>
                <a:cubicBezTo>
                  <a:pt x="190500" y="66154"/>
                  <a:pt x="188863" y="63996"/>
                  <a:pt x="186742" y="62619"/>
                </a:cubicBezTo>
                <a:cubicBezTo>
                  <a:pt x="181831" y="59419"/>
                  <a:pt x="178594" y="53912"/>
                  <a:pt x="178594" y="47624"/>
                </a:cubicBezTo>
                <a:cubicBezTo>
                  <a:pt x="178594" y="41337"/>
                  <a:pt x="181831" y="35830"/>
                  <a:pt x="186742" y="32630"/>
                </a:cubicBezTo>
                <a:cubicBezTo>
                  <a:pt x="188863" y="31253"/>
                  <a:pt x="190500" y="29095"/>
                  <a:pt x="190500" y="26565"/>
                </a:cubicBezTo>
                <a:lnTo>
                  <a:pt x="190500" y="23812"/>
                </a:lnTo>
                <a:cubicBezTo>
                  <a:pt x="190500" y="10678"/>
                  <a:pt x="179822" y="0"/>
                  <a:pt x="166688" y="0"/>
                </a:cubicBezTo>
                <a:lnTo>
                  <a:pt x="23812" y="0"/>
                </a:lnTo>
                <a:close/>
                <a:moveTo>
                  <a:pt x="190500" y="130968"/>
                </a:moveTo>
                <a:lnTo>
                  <a:pt x="190500" y="107156"/>
                </a:lnTo>
                <a:lnTo>
                  <a:pt x="0" y="107156"/>
                </a:lnTo>
                <a:lnTo>
                  <a:pt x="0" y="130968"/>
                </a:lnTo>
                <a:cubicBezTo>
                  <a:pt x="0" y="137554"/>
                  <a:pt x="5321" y="142874"/>
                  <a:pt x="11906" y="142874"/>
                </a:cubicBezTo>
                <a:lnTo>
                  <a:pt x="35719" y="142874"/>
                </a:lnTo>
                <a:lnTo>
                  <a:pt x="35719" y="133945"/>
                </a:lnTo>
                <a:cubicBezTo>
                  <a:pt x="35719" y="128996"/>
                  <a:pt x="39700" y="125014"/>
                  <a:pt x="44648" y="125014"/>
                </a:cubicBezTo>
                <a:cubicBezTo>
                  <a:pt x="49597" y="125014"/>
                  <a:pt x="53577" y="128996"/>
                  <a:pt x="53577" y="133945"/>
                </a:cubicBezTo>
                <a:lnTo>
                  <a:pt x="53577" y="142874"/>
                </a:lnTo>
                <a:lnTo>
                  <a:pt x="86321" y="142874"/>
                </a:lnTo>
                <a:lnTo>
                  <a:pt x="86321" y="133945"/>
                </a:lnTo>
                <a:cubicBezTo>
                  <a:pt x="86321" y="128996"/>
                  <a:pt x="90301" y="125014"/>
                  <a:pt x="95250" y="125014"/>
                </a:cubicBezTo>
                <a:cubicBezTo>
                  <a:pt x="100199" y="125014"/>
                  <a:pt x="104179" y="128996"/>
                  <a:pt x="104179" y="133945"/>
                </a:cubicBezTo>
                <a:lnTo>
                  <a:pt x="104179" y="142874"/>
                </a:lnTo>
                <a:lnTo>
                  <a:pt x="136923" y="142874"/>
                </a:lnTo>
                <a:lnTo>
                  <a:pt x="136923" y="133945"/>
                </a:lnTo>
                <a:cubicBezTo>
                  <a:pt x="136923" y="128996"/>
                  <a:pt x="140903" y="125014"/>
                  <a:pt x="145852" y="125014"/>
                </a:cubicBezTo>
                <a:cubicBezTo>
                  <a:pt x="150800" y="125014"/>
                  <a:pt x="154781" y="128996"/>
                  <a:pt x="154781" y="133945"/>
                </a:cubicBezTo>
                <a:lnTo>
                  <a:pt x="154781" y="142874"/>
                </a:lnTo>
                <a:lnTo>
                  <a:pt x="178594" y="142874"/>
                </a:lnTo>
                <a:cubicBezTo>
                  <a:pt x="185179" y="142874"/>
                  <a:pt x="190500" y="137554"/>
                  <a:pt x="190500" y="130968"/>
                </a:cubicBezTo>
                <a:close/>
                <a:moveTo>
                  <a:pt x="59531" y="35718"/>
                </a:moveTo>
                <a:lnTo>
                  <a:pt x="59531" y="59531"/>
                </a:lnTo>
                <a:cubicBezTo>
                  <a:pt x="59531" y="66116"/>
                  <a:pt x="54211" y="71437"/>
                  <a:pt x="47625" y="71437"/>
                </a:cubicBezTo>
                <a:cubicBezTo>
                  <a:pt x="41039" y="71437"/>
                  <a:pt x="35719" y="66116"/>
                  <a:pt x="35719" y="59531"/>
                </a:cubicBezTo>
                <a:lnTo>
                  <a:pt x="35719" y="35718"/>
                </a:lnTo>
                <a:cubicBezTo>
                  <a:pt x="35719" y="29133"/>
                  <a:pt x="41039" y="23812"/>
                  <a:pt x="47625" y="23812"/>
                </a:cubicBezTo>
                <a:cubicBezTo>
                  <a:pt x="54211" y="23812"/>
                  <a:pt x="59531" y="29133"/>
                  <a:pt x="59531" y="35718"/>
                </a:cubicBezTo>
                <a:close/>
                <a:moveTo>
                  <a:pt x="107156" y="35718"/>
                </a:moveTo>
                <a:lnTo>
                  <a:pt x="107156" y="59531"/>
                </a:lnTo>
                <a:cubicBezTo>
                  <a:pt x="107156" y="66116"/>
                  <a:pt x="101836" y="71437"/>
                  <a:pt x="95250" y="71437"/>
                </a:cubicBezTo>
                <a:cubicBezTo>
                  <a:pt x="88664" y="71437"/>
                  <a:pt x="83344" y="66116"/>
                  <a:pt x="83344" y="59531"/>
                </a:cubicBezTo>
                <a:lnTo>
                  <a:pt x="83344" y="35718"/>
                </a:lnTo>
                <a:cubicBezTo>
                  <a:pt x="83344" y="29133"/>
                  <a:pt x="88664" y="23812"/>
                  <a:pt x="95250" y="23812"/>
                </a:cubicBezTo>
                <a:cubicBezTo>
                  <a:pt x="101836" y="23812"/>
                  <a:pt x="107156" y="29133"/>
                  <a:pt x="107156" y="35718"/>
                </a:cubicBezTo>
                <a:close/>
                <a:moveTo>
                  <a:pt x="154781" y="35718"/>
                </a:moveTo>
                <a:lnTo>
                  <a:pt x="154781" y="59531"/>
                </a:lnTo>
                <a:cubicBezTo>
                  <a:pt x="154781" y="66116"/>
                  <a:pt x="149461" y="71437"/>
                  <a:pt x="142875" y="71437"/>
                </a:cubicBezTo>
                <a:cubicBezTo>
                  <a:pt x="136289" y="71437"/>
                  <a:pt x="130969" y="66116"/>
                  <a:pt x="130969" y="59531"/>
                </a:cubicBezTo>
                <a:lnTo>
                  <a:pt x="130969" y="35718"/>
                </a:lnTo>
                <a:cubicBezTo>
                  <a:pt x="130969" y="29133"/>
                  <a:pt x="136289" y="23812"/>
                  <a:pt x="142875" y="23812"/>
                </a:cubicBezTo>
                <a:cubicBezTo>
                  <a:pt x="149461" y="23812"/>
                  <a:pt x="154781" y="29133"/>
                  <a:pt x="154781" y="3571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218836" y="4222534"/>
            <a:ext cx="7143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DRAM</a:t>
            </a:r>
            <a:endParaRPr lang="en-US" sz="1100"/>
          </a:p>
        </p:txBody>
      </p:sp>
      <p:sp>
        <p:nvSpPr>
          <p:cNvPr id="23" name="AutoShape 23"/>
          <p:cNvSpPr/>
          <p:nvPr/>
        </p:nvSpPr>
        <p:spPr>
          <a:xfrm>
            <a:off x="1218836" y="4489239"/>
            <a:ext cx="6953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Memoire principale</a:t>
            </a:r>
            <a:endParaRPr lang="en-US" sz="1100"/>
          </a:p>
        </p:txBody>
      </p:sp>
      <p:sp>
        <p:nvSpPr>
          <p:cNvPr id="24" name="AutoShape 24"/>
          <p:cNvSpPr/>
          <p:nvPr/>
        </p:nvSpPr>
        <p:spPr>
          <a:xfrm>
            <a:off x="4595605" y="4298725"/>
            <a:ext cx="130492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70" b="1" i="0" u="none" strike="noStrike">
                <a:solidFill>
                  <a:srgbClr val="E7000B"/>
                </a:solidFill>
                <a:latin typeface="Noto Sans SC" panose="020B0200000000000000" charset="-122"/>
                <a:ea typeface="Noto Sans SC" panose="020B0200000000000000" charset="-122"/>
                <a:cs typeface="Noto Sans SC" panose="020B0200000000000000" charset="-122"/>
                <a:sym typeface="Noto Sans SC" panose="020B0200000000000000" charset="-122"/>
              </a:rPr>
              <a:t>~100 ns</a:t>
            </a:r>
            <a:endParaRPr lang="en-US" sz="1100"/>
          </a:p>
        </p:txBody>
      </p:sp>
      <p:sp>
        <p:nvSpPr>
          <p:cNvPr id="25" name="Freeform 25"/>
          <p:cNvSpPr/>
          <p:nvPr/>
        </p:nvSpPr>
        <p:spPr>
          <a:xfrm>
            <a:off x="399911" y="5486353"/>
            <a:ext cx="5543455" cy="647700"/>
          </a:xfrm>
          <a:custGeom>
            <a:avLst/>
            <a:gdLst/>
            <a:ahLst/>
            <a:cxnLst/>
            <a:rect l="l" t="t" r="r" b="b"/>
            <a:pathLst>
              <a:path w="5543455" h="647700">
                <a:moveTo>
                  <a:pt x="37909" y="0"/>
                </a:moveTo>
                <a:lnTo>
                  <a:pt x="5429156" y="0"/>
                </a:lnTo>
                <a:cubicBezTo>
                  <a:pt x="5492281" y="0"/>
                  <a:pt x="5543455" y="51173"/>
                  <a:pt x="5543455" y="114300"/>
                </a:cubicBezTo>
                <a:lnTo>
                  <a:pt x="5543455" y="533400"/>
                </a:lnTo>
                <a:cubicBezTo>
                  <a:pt x="5543455" y="596527"/>
                  <a:pt x="5492281" y="647700"/>
                  <a:pt x="5429156" y="647700"/>
                </a:cubicBezTo>
                <a:lnTo>
                  <a:pt x="37909" y="647700"/>
                </a:lnTo>
                <a:cubicBezTo>
                  <a:pt x="16974" y="647700"/>
                  <a:pt x="0" y="630726"/>
                  <a:pt x="0" y="609791"/>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399911" y="5486353"/>
            <a:ext cx="37909" cy="647700"/>
          </a:xfrm>
          <a:custGeom>
            <a:avLst/>
            <a:gdLst/>
            <a:ahLst/>
            <a:cxnLst/>
            <a:rect l="l" t="t" r="r" b="b"/>
            <a:pathLst>
              <a:path w="37909" h="647700">
                <a:moveTo>
                  <a:pt x="37909" y="0"/>
                </a:moveTo>
                <a:lnTo>
                  <a:pt x="37909" y="0"/>
                </a:lnTo>
                <a:lnTo>
                  <a:pt x="37909" y="647700"/>
                </a:lnTo>
                <a:lnTo>
                  <a:pt x="37909" y="647700"/>
                </a:lnTo>
                <a:cubicBezTo>
                  <a:pt x="16974" y="647700"/>
                  <a:pt x="0" y="630726"/>
                  <a:pt x="0" y="609791"/>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09307" y="5676793"/>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7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Remarque :</a:t>
            </a:r>
            <a:r>
              <a:rPr lang="en-US" sz="87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plus le niveau de stockage est eloigne, plus la latence est importante</a:t>
            </a:r>
            <a:endParaRPr lang="en-US" sz="1100"/>
          </a:p>
        </p:txBody>
      </p:sp>
      <p:sp>
        <p:nvSpPr>
          <p:cNvPr id="28" name="Freeform 28"/>
          <p:cNvSpPr/>
          <p:nvPr/>
        </p:nvSpPr>
        <p:spPr>
          <a:xfrm>
            <a:off x="6248338" y="990488"/>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9" name="Picture 29"/>
          <p:cNvPicPr>
            <a:picLocks noChangeAspect="1"/>
          </p:cNvPicPr>
          <p:nvPr/>
        </p:nvPicPr>
        <p:blipFill>
          <a:blip r:embed="rId1"/>
          <a:srcRect l="77" r="76"/>
          <a:stretch>
            <a:fillRect/>
          </a:stretch>
        </p:blipFill>
        <p:spPr>
          <a:xfrm>
            <a:off x="6400720" y="1921441"/>
            <a:ext cx="5257800" cy="2981325"/>
          </a:xfrm>
          <a:prstGeom prst="roundRect">
            <a:avLst>
              <a:gd name="adj" fmla="val 0"/>
            </a:avLst>
          </a:prstGeom>
          <a:ln w="12700">
            <a:noFill/>
            <a:prstDash val="solid"/>
          </a:ln>
        </p:spPr>
      </p:pic>
      <p:sp>
        <p:nvSpPr>
          <p:cNvPr id="30" name="AutoShape 30"/>
          <p:cNvSpPr/>
          <p:nvPr/>
        </p:nvSpPr>
        <p:spPr>
          <a:xfrm>
            <a:off x="6210238" y="590537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 Brown University - Memory Hierarchy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0331" y="664813"/>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14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Latence vs Bande passante</a:t>
            </a:r>
            <a:endParaRPr lang="en-US" sz="1100"/>
          </a:p>
        </p:txBody>
      </p:sp>
      <p:sp>
        <p:nvSpPr>
          <p:cNvPr id="3" name="Freeform 3"/>
          <p:cNvSpPr/>
          <p:nvPr/>
        </p:nvSpPr>
        <p:spPr>
          <a:xfrm>
            <a:off x="325361" y="1349161"/>
            <a:ext cx="5635546" cy="3754435"/>
          </a:xfrm>
          <a:custGeom>
            <a:avLst/>
            <a:gdLst/>
            <a:ahLst/>
            <a:cxnLst/>
            <a:rect l="l" t="t" r="r" b="b"/>
            <a:pathLst>
              <a:path w="5635546" h="3754435">
                <a:moveTo>
                  <a:pt x="95270" y="0"/>
                </a:moveTo>
                <a:lnTo>
                  <a:pt x="5540276" y="0"/>
                </a:lnTo>
                <a:cubicBezTo>
                  <a:pt x="5592892" y="0"/>
                  <a:pt x="5635546" y="37502"/>
                  <a:pt x="5635546" y="83762"/>
                </a:cubicBezTo>
                <a:lnTo>
                  <a:pt x="5635546" y="3670673"/>
                </a:lnTo>
                <a:cubicBezTo>
                  <a:pt x="5635546" y="3716933"/>
                  <a:pt x="5592892" y="3754435"/>
                  <a:pt x="5540276" y="3754435"/>
                </a:cubicBezTo>
                <a:lnTo>
                  <a:pt x="95270" y="3754435"/>
                </a:lnTo>
                <a:cubicBezTo>
                  <a:pt x="42654" y="3754435"/>
                  <a:pt x="0" y="3716933"/>
                  <a:pt x="0" y="3670673"/>
                </a:cubicBezTo>
                <a:lnTo>
                  <a:pt x="0" y="83762"/>
                </a:lnTo>
                <a:cubicBezTo>
                  <a:pt x="0" y="37532"/>
                  <a:pt x="42689" y="0"/>
                  <a:pt x="95270"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23737" y="1500609"/>
            <a:ext cx="444500" cy="444500"/>
          </a:xfrm>
          <a:custGeom>
            <a:avLst/>
            <a:gdLst/>
            <a:ahLst/>
            <a:cxnLst/>
            <a:rect l="l" t="t" r="r" b="b"/>
            <a:pathLst>
              <a:path w="444500" h="444500">
                <a:moveTo>
                  <a:pt x="95253" y="0"/>
                </a:moveTo>
                <a:lnTo>
                  <a:pt x="349247" y="0"/>
                </a:lnTo>
                <a:cubicBezTo>
                  <a:pt x="401819" y="0"/>
                  <a:pt x="444500" y="42681"/>
                  <a:pt x="444500" y="95253"/>
                </a:cubicBezTo>
                <a:lnTo>
                  <a:pt x="444500" y="349247"/>
                </a:lnTo>
                <a:cubicBezTo>
                  <a:pt x="444500" y="401853"/>
                  <a:pt x="401853" y="444500"/>
                  <a:pt x="349247" y="444500"/>
                </a:cubicBezTo>
                <a:lnTo>
                  <a:pt x="95253" y="444500"/>
                </a:lnTo>
                <a:cubicBezTo>
                  <a:pt x="42681" y="444500"/>
                  <a:pt x="0" y="401819"/>
                  <a:pt x="0" y="349247"/>
                </a:cubicBezTo>
                <a:lnTo>
                  <a:pt x="0" y="95253"/>
                </a:lnTo>
                <a:cubicBezTo>
                  <a:pt x="0" y="42647"/>
                  <a:pt x="42647" y="0"/>
                  <a:pt x="95253" y="0"/>
                </a:cubicBezTo>
                <a:close/>
              </a:path>
            </a:pathLst>
          </a:custGeom>
          <a:solidFill>
            <a:srgbClr val="8B0000">
              <a:alpha val="100000"/>
            </a:srgbClr>
          </a:solidFill>
          <a:ln w="12700">
            <a:noFill/>
            <a:prstDash val="solid"/>
          </a:ln>
          <a:effectLst>
            <a:outerShdw blurRad="381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650717" y="1627594"/>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1" y="44648"/>
                </a:moveTo>
                <a:lnTo>
                  <a:pt x="86321" y="95250"/>
                </a:lnTo>
                <a:cubicBezTo>
                  <a:pt x="86321" y="98227"/>
                  <a:pt x="87809" y="101017"/>
                  <a:pt x="90301" y="102691"/>
                </a:cubicBezTo>
                <a:lnTo>
                  <a:pt x="126020" y="126503"/>
                </a:lnTo>
                <a:cubicBezTo>
                  <a:pt x="130113" y="129257"/>
                  <a:pt x="135658" y="128140"/>
                  <a:pt x="138410" y="124010"/>
                </a:cubicBezTo>
                <a:cubicBezTo>
                  <a:pt x="141163" y="119880"/>
                  <a:pt x="140047" y="114374"/>
                  <a:pt x="135917" y="111622"/>
                </a:cubicBezTo>
                <a:lnTo>
                  <a:pt x="104179" y="90488"/>
                </a:lnTo>
                <a:lnTo>
                  <a:pt x="104179" y="44648"/>
                </a:lnTo>
                <a:cubicBezTo>
                  <a:pt x="104179" y="39700"/>
                  <a:pt x="100199" y="35719"/>
                  <a:pt x="95250" y="35719"/>
                </a:cubicBezTo>
                <a:cubicBezTo>
                  <a:pt x="90301" y="35719"/>
                  <a:pt x="86321" y="39700"/>
                  <a:pt x="86321" y="4464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095170" y="1595879"/>
            <a:ext cx="833438"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2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Latence</a:t>
            </a:r>
            <a:endParaRPr lang="en-US" sz="1100"/>
          </a:p>
        </p:txBody>
      </p:sp>
      <p:sp>
        <p:nvSpPr>
          <p:cNvPr id="7" name="Freeform 7"/>
          <p:cNvSpPr/>
          <p:nvPr/>
        </p:nvSpPr>
        <p:spPr>
          <a:xfrm>
            <a:off x="523737" y="2583575"/>
            <a:ext cx="5238750" cy="1404938"/>
          </a:xfrm>
          <a:custGeom>
            <a:avLst/>
            <a:gdLst/>
            <a:ahLst/>
            <a:cxnLst/>
            <a:rect l="l" t="t" r="r" b="b"/>
            <a:pathLst>
              <a:path w="5238750" h="1404938">
                <a:moveTo>
                  <a:pt x="63503" y="0"/>
                </a:moveTo>
                <a:lnTo>
                  <a:pt x="5175247" y="0"/>
                </a:lnTo>
                <a:cubicBezTo>
                  <a:pt x="5210319" y="0"/>
                  <a:pt x="5238750" y="28431"/>
                  <a:pt x="5238750" y="63503"/>
                </a:cubicBezTo>
                <a:lnTo>
                  <a:pt x="5238750" y="1341434"/>
                </a:lnTo>
                <a:cubicBezTo>
                  <a:pt x="5238750" y="1376506"/>
                  <a:pt x="5210319" y="1404937"/>
                  <a:pt x="5175247" y="1404937"/>
                </a:cubicBezTo>
                <a:lnTo>
                  <a:pt x="63503" y="1404937"/>
                </a:lnTo>
                <a:cubicBezTo>
                  <a:pt x="28431" y="1404937"/>
                  <a:pt x="0" y="1376506"/>
                  <a:pt x="0" y="1341434"/>
                </a:cubicBezTo>
                <a:lnTo>
                  <a:pt x="0" y="63503"/>
                </a:lnTo>
                <a:cubicBezTo>
                  <a:pt x="0" y="28431"/>
                  <a:pt x="28431" y="0"/>
                  <a:pt x="63503"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8" name="AutoShape 8"/>
          <p:cNvSpPr/>
          <p:nvPr/>
        </p:nvSpPr>
        <p:spPr>
          <a:xfrm>
            <a:off x="777707" y="2837544"/>
            <a:ext cx="482600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2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Duree d'un acces unique</a:t>
            </a:r>
            <a:endParaRPr lang="en-US" sz="1100"/>
          </a:p>
        </p:txBody>
      </p:sp>
      <p:sp>
        <p:nvSpPr>
          <p:cNvPr id="9" name="AutoShape 9"/>
          <p:cNvSpPr/>
          <p:nvPr/>
        </p:nvSpPr>
        <p:spPr>
          <a:xfrm>
            <a:off x="777707" y="3218439"/>
            <a:ext cx="4810125" cy="51593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835"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Mesure le temps necessaire pour terminer une operation independante, en se concentrant sur la vitesse de reponse d'une requete unique.</a:t>
            </a:r>
            <a:endParaRPr lang="en-US" sz="1100"/>
          </a:p>
        </p:txBody>
      </p:sp>
      <p:sp>
        <p:nvSpPr>
          <p:cNvPr id="10" name="Freeform 10"/>
          <p:cNvSpPr/>
          <p:nvPr/>
        </p:nvSpPr>
        <p:spPr>
          <a:xfrm>
            <a:off x="6230851" y="1349161"/>
            <a:ext cx="5635546" cy="3754435"/>
          </a:xfrm>
          <a:custGeom>
            <a:avLst/>
            <a:gdLst/>
            <a:ahLst/>
            <a:cxnLst/>
            <a:rect l="l" t="t" r="r" b="b"/>
            <a:pathLst>
              <a:path w="5635546" h="3754435">
                <a:moveTo>
                  <a:pt x="95270" y="0"/>
                </a:moveTo>
                <a:lnTo>
                  <a:pt x="5540276" y="0"/>
                </a:lnTo>
                <a:cubicBezTo>
                  <a:pt x="5592892" y="0"/>
                  <a:pt x="5635546" y="37502"/>
                  <a:pt x="5635546" y="83762"/>
                </a:cubicBezTo>
                <a:lnTo>
                  <a:pt x="5635546" y="3670673"/>
                </a:lnTo>
                <a:cubicBezTo>
                  <a:pt x="5635546" y="3716933"/>
                  <a:pt x="5592892" y="3754435"/>
                  <a:pt x="5540276" y="3754435"/>
                </a:cubicBezTo>
                <a:lnTo>
                  <a:pt x="95270" y="3754435"/>
                </a:lnTo>
                <a:cubicBezTo>
                  <a:pt x="42654" y="3754435"/>
                  <a:pt x="0" y="3716933"/>
                  <a:pt x="0" y="3670673"/>
                </a:cubicBezTo>
                <a:lnTo>
                  <a:pt x="0" y="83762"/>
                </a:lnTo>
                <a:cubicBezTo>
                  <a:pt x="0" y="37532"/>
                  <a:pt x="42689" y="0"/>
                  <a:pt x="95270"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1" name="Freeform 11"/>
          <p:cNvSpPr/>
          <p:nvPr/>
        </p:nvSpPr>
        <p:spPr>
          <a:xfrm>
            <a:off x="6429227" y="1547493"/>
            <a:ext cx="444500" cy="444500"/>
          </a:xfrm>
          <a:custGeom>
            <a:avLst/>
            <a:gdLst/>
            <a:ahLst/>
            <a:cxnLst/>
            <a:rect l="l" t="t" r="r" b="b"/>
            <a:pathLst>
              <a:path w="444500" h="444500">
                <a:moveTo>
                  <a:pt x="95253" y="0"/>
                </a:moveTo>
                <a:lnTo>
                  <a:pt x="349247" y="0"/>
                </a:lnTo>
                <a:cubicBezTo>
                  <a:pt x="401819" y="0"/>
                  <a:pt x="444500" y="42681"/>
                  <a:pt x="444500" y="95253"/>
                </a:cubicBezTo>
                <a:lnTo>
                  <a:pt x="444500" y="349247"/>
                </a:lnTo>
                <a:cubicBezTo>
                  <a:pt x="444500" y="401853"/>
                  <a:pt x="401853" y="444500"/>
                  <a:pt x="349247" y="444500"/>
                </a:cubicBezTo>
                <a:lnTo>
                  <a:pt x="95253" y="444500"/>
                </a:lnTo>
                <a:cubicBezTo>
                  <a:pt x="42681" y="444500"/>
                  <a:pt x="0" y="401819"/>
                  <a:pt x="0" y="349247"/>
                </a:cubicBezTo>
                <a:lnTo>
                  <a:pt x="0" y="95253"/>
                </a:lnTo>
                <a:cubicBezTo>
                  <a:pt x="0" y="42647"/>
                  <a:pt x="42647" y="0"/>
                  <a:pt x="95253" y="0"/>
                </a:cubicBezTo>
                <a:close/>
              </a:path>
            </a:pathLst>
          </a:custGeom>
          <a:solidFill>
            <a:srgbClr val="8B0000">
              <a:alpha val="100000"/>
            </a:srgbClr>
          </a:solidFill>
          <a:ln w="12700">
            <a:noFill/>
            <a:prstDash val="solid"/>
          </a:ln>
          <a:effectLst>
            <a:outerShdw blurRad="381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2" name="Freeform 12"/>
          <p:cNvSpPr/>
          <p:nvPr/>
        </p:nvSpPr>
        <p:spPr>
          <a:xfrm>
            <a:off x="6556207" y="1674478"/>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3" y="144103"/>
                  <a:pt x="119063" y="130969"/>
                </a:cubicBezTo>
                <a:cubicBezTo>
                  <a:pt x="119063" y="124941"/>
                  <a:pt x="116830" y="119397"/>
                  <a:pt x="113109" y="115230"/>
                </a:cubicBezTo>
                <a:lnTo>
                  <a:pt x="138968" y="63550"/>
                </a:lnTo>
                <a:cubicBezTo>
                  <a:pt x="141163" y="59122"/>
                  <a:pt x="139377" y="53764"/>
                  <a:pt x="134987" y="51570"/>
                </a:cubicBezTo>
                <a:cubicBezTo>
                  <a:pt x="130597" y="49374"/>
                  <a:pt x="125202" y="51159"/>
                  <a:pt x="123006" y="55550"/>
                </a:cubicBezTo>
                <a:lnTo>
                  <a:pt x="97147" y="107231"/>
                </a:lnTo>
                <a:cubicBezTo>
                  <a:pt x="96515" y="107193"/>
                  <a:pt x="95882" y="107156"/>
                  <a:pt x="95250" y="107156"/>
                </a:cubicBezTo>
                <a:cubicBezTo>
                  <a:pt x="82116" y="107156"/>
                  <a:pt x="71437" y="117834"/>
                  <a:pt x="71437" y="130969"/>
                </a:cubicBezTo>
                <a:cubicBezTo>
                  <a:pt x="71437" y="144103"/>
                  <a:pt x="82116" y="154781"/>
                  <a:pt x="95250" y="154781"/>
                </a:cubicBezTo>
                <a:close/>
                <a:moveTo>
                  <a:pt x="65484" y="53577"/>
                </a:moveTo>
                <a:cubicBezTo>
                  <a:pt x="65484" y="47007"/>
                  <a:pt x="60148" y="41673"/>
                  <a:pt x="53577" y="41673"/>
                </a:cubicBezTo>
                <a:cubicBezTo>
                  <a:pt x="47007" y="41673"/>
                  <a:pt x="41673" y="47007"/>
                  <a:pt x="41673" y="53577"/>
                </a:cubicBezTo>
                <a:cubicBezTo>
                  <a:pt x="41673" y="60148"/>
                  <a:pt x="47007" y="65484"/>
                  <a:pt x="53577" y="65484"/>
                </a:cubicBezTo>
                <a:cubicBezTo>
                  <a:pt x="60148" y="65484"/>
                  <a:pt x="65484" y="60148"/>
                  <a:pt x="65484" y="53577"/>
                </a:cubicBezTo>
                <a:close/>
                <a:moveTo>
                  <a:pt x="35719" y="107156"/>
                </a:moveTo>
                <a:cubicBezTo>
                  <a:pt x="42290" y="107156"/>
                  <a:pt x="47625" y="101821"/>
                  <a:pt x="47625" y="95250"/>
                </a:cubicBezTo>
                <a:cubicBezTo>
                  <a:pt x="47625" y="88679"/>
                  <a:pt x="42290" y="83344"/>
                  <a:pt x="35719" y="83344"/>
                </a:cubicBezTo>
                <a:cubicBezTo>
                  <a:pt x="29148" y="83344"/>
                  <a:pt x="23813" y="88679"/>
                  <a:pt x="23813" y="95250"/>
                </a:cubicBezTo>
                <a:cubicBezTo>
                  <a:pt x="23813" y="101821"/>
                  <a:pt x="29148" y="107156"/>
                  <a:pt x="35719" y="107156"/>
                </a:cubicBezTo>
                <a:close/>
                <a:moveTo>
                  <a:pt x="166687" y="95250"/>
                </a:moveTo>
                <a:cubicBezTo>
                  <a:pt x="166687" y="88679"/>
                  <a:pt x="161352" y="83344"/>
                  <a:pt x="154781" y="83344"/>
                </a:cubicBezTo>
                <a:cubicBezTo>
                  <a:pt x="148210" y="83344"/>
                  <a:pt x="142875" y="88679"/>
                  <a:pt x="142875" y="95250"/>
                </a:cubicBezTo>
                <a:cubicBezTo>
                  <a:pt x="142875" y="101821"/>
                  <a:pt x="148210" y="107156"/>
                  <a:pt x="154781" y="107156"/>
                </a:cubicBezTo>
                <a:cubicBezTo>
                  <a:pt x="161352" y="107156"/>
                  <a:pt x="166687" y="101821"/>
                  <a:pt x="166687"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000660" y="1642763"/>
            <a:ext cx="1135063"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2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Bande passante</a:t>
            </a:r>
            <a:endParaRPr lang="en-US" sz="1100"/>
          </a:p>
        </p:txBody>
      </p:sp>
      <p:sp>
        <p:nvSpPr>
          <p:cNvPr id="14" name="Freeform 14"/>
          <p:cNvSpPr/>
          <p:nvPr/>
        </p:nvSpPr>
        <p:spPr>
          <a:xfrm>
            <a:off x="6429227" y="2583575"/>
            <a:ext cx="5238750" cy="1404938"/>
          </a:xfrm>
          <a:custGeom>
            <a:avLst/>
            <a:gdLst/>
            <a:ahLst/>
            <a:cxnLst/>
            <a:rect l="l" t="t" r="r" b="b"/>
            <a:pathLst>
              <a:path w="5238750" h="1404938">
                <a:moveTo>
                  <a:pt x="63503" y="0"/>
                </a:moveTo>
                <a:lnTo>
                  <a:pt x="5175247" y="0"/>
                </a:lnTo>
                <a:cubicBezTo>
                  <a:pt x="5210319" y="0"/>
                  <a:pt x="5238750" y="28431"/>
                  <a:pt x="5238750" y="63503"/>
                </a:cubicBezTo>
                <a:lnTo>
                  <a:pt x="5238750" y="1341434"/>
                </a:lnTo>
                <a:cubicBezTo>
                  <a:pt x="5238750" y="1376506"/>
                  <a:pt x="5210319" y="1404937"/>
                  <a:pt x="5175247" y="1404937"/>
                </a:cubicBezTo>
                <a:lnTo>
                  <a:pt x="63503" y="1404937"/>
                </a:lnTo>
                <a:cubicBezTo>
                  <a:pt x="28431" y="1404937"/>
                  <a:pt x="0" y="1376506"/>
                  <a:pt x="0" y="1341434"/>
                </a:cubicBezTo>
                <a:lnTo>
                  <a:pt x="0" y="63503"/>
                </a:lnTo>
                <a:cubicBezTo>
                  <a:pt x="0" y="28431"/>
                  <a:pt x="28431" y="0"/>
                  <a:pt x="63503"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5" name="AutoShape 15"/>
          <p:cNvSpPr/>
          <p:nvPr/>
        </p:nvSpPr>
        <p:spPr>
          <a:xfrm>
            <a:off x="6683197" y="2837544"/>
            <a:ext cx="482600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2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Quantite de donnees traitables par unite de temps</a:t>
            </a:r>
            <a:endParaRPr lang="en-US" sz="1100"/>
          </a:p>
        </p:txBody>
      </p:sp>
      <p:sp>
        <p:nvSpPr>
          <p:cNvPr id="16" name="AutoShape 16"/>
          <p:cNvSpPr/>
          <p:nvPr/>
        </p:nvSpPr>
        <p:spPr>
          <a:xfrm>
            <a:off x="6683197" y="3218439"/>
            <a:ext cx="4810125" cy="51593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840"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Mesure la quantite totale de donnees que le systeme peut traiter par unite de temps, en se concentrant sur la capacite globale de debit.</a:t>
            </a:r>
            <a:endParaRPr lang="en-US" sz="1100"/>
          </a:p>
        </p:txBody>
      </p:sp>
      <p:sp>
        <p:nvSpPr>
          <p:cNvPr id="17" name="Freeform 17"/>
          <p:cNvSpPr/>
          <p:nvPr/>
        </p:nvSpPr>
        <p:spPr>
          <a:xfrm>
            <a:off x="333259" y="5302095"/>
            <a:ext cx="11541046" cy="1397000"/>
          </a:xfrm>
          <a:custGeom>
            <a:avLst/>
            <a:gdLst/>
            <a:ahLst/>
            <a:cxnLst/>
            <a:rect l="l" t="t" r="r" b="b"/>
            <a:pathLst>
              <a:path w="11541046" h="1397000">
                <a:moveTo>
                  <a:pt x="31593" y="0"/>
                </a:moveTo>
                <a:lnTo>
                  <a:pt x="11445799" y="0"/>
                </a:lnTo>
                <a:cubicBezTo>
                  <a:pt x="11498402" y="0"/>
                  <a:pt x="11541046" y="42644"/>
                  <a:pt x="11541046" y="95247"/>
                </a:cubicBezTo>
                <a:lnTo>
                  <a:pt x="11541046" y="1301753"/>
                </a:lnTo>
                <a:cubicBezTo>
                  <a:pt x="11541046" y="1354356"/>
                  <a:pt x="11498402" y="1397000"/>
                  <a:pt x="11445799" y="1397000"/>
                </a:cubicBezTo>
                <a:lnTo>
                  <a:pt x="31593" y="1397000"/>
                </a:lnTo>
                <a:cubicBezTo>
                  <a:pt x="14144" y="1397000"/>
                  <a:pt x="0" y="1382856"/>
                  <a:pt x="0" y="1365407"/>
                </a:cubicBezTo>
                <a:lnTo>
                  <a:pt x="0" y="31593"/>
                </a:lnTo>
                <a:cubicBezTo>
                  <a:pt x="0" y="14155"/>
                  <a:pt x="14155" y="0"/>
                  <a:pt x="31593"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333259" y="5302095"/>
            <a:ext cx="31593" cy="1397000"/>
          </a:xfrm>
          <a:custGeom>
            <a:avLst/>
            <a:gdLst/>
            <a:ahLst/>
            <a:cxnLst/>
            <a:rect l="l" t="t" r="r" b="b"/>
            <a:pathLst>
              <a:path w="31593" h="1397000">
                <a:moveTo>
                  <a:pt x="31593" y="0"/>
                </a:moveTo>
                <a:lnTo>
                  <a:pt x="31593" y="0"/>
                </a:lnTo>
                <a:lnTo>
                  <a:pt x="31593" y="1397000"/>
                </a:lnTo>
                <a:lnTo>
                  <a:pt x="31593" y="1397000"/>
                </a:lnTo>
                <a:cubicBezTo>
                  <a:pt x="14144" y="1397000"/>
                  <a:pt x="0" y="1382856"/>
                  <a:pt x="0" y="1365407"/>
                </a:cubicBezTo>
                <a:lnTo>
                  <a:pt x="0" y="31593"/>
                </a:lnTo>
                <a:cubicBezTo>
                  <a:pt x="0" y="14155"/>
                  <a:pt x="14155" y="0"/>
                  <a:pt x="3159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539533" y="5492572"/>
            <a:ext cx="1122362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Analogie pour comprendre</a:t>
            </a:r>
            <a:endParaRPr lang="en-US" sz="1100"/>
          </a:p>
        </p:txBody>
      </p:sp>
      <p:sp>
        <p:nvSpPr>
          <p:cNvPr id="20" name="Freeform 20"/>
          <p:cNvSpPr/>
          <p:nvPr/>
        </p:nvSpPr>
        <p:spPr>
          <a:xfrm>
            <a:off x="539533" y="5841814"/>
            <a:ext cx="5476875" cy="666750"/>
          </a:xfrm>
          <a:custGeom>
            <a:avLst/>
            <a:gdLst/>
            <a:ahLst/>
            <a:cxnLst/>
            <a:rect l="l" t="t" r="r" b="b"/>
            <a:pathLst>
              <a:path w="5476875" h="666750">
                <a:moveTo>
                  <a:pt x="63501" y="0"/>
                </a:moveTo>
                <a:lnTo>
                  <a:pt x="5413374" y="0"/>
                </a:lnTo>
                <a:cubicBezTo>
                  <a:pt x="5448445" y="0"/>
                  <a:pt x="5476875" y="28430"/>
                  <a:pt x="5476875" y="63501"/>
                </a:cubicBezTo>
                <a:lnTo>
                  <a:pt x="5476875" y="603249"/>
                </a:lnTo>
                <a:cubicBezTo>
                  <a:pt x="5476875" y="638320"/>
                  <a:pt x="5448445" y="666750"/>
                  <a:pt x="5413374" y="666750"/>
                </a:cubicBezTo>
                <a:lnTo>
                  <a:pt x="63501" y="666750"/>
                </a:lnTo>
                <a:cubicBezTo>
                  <a:pt x="28430" y="666750"/>
                  <a:pt x="0" y="638320"/>
                  <a:pt x="0" y="603249"/>
                </a:cubicBezTo>
                <a:lnTo>
                  <a:pt x="0" y="63501"/>
                </a:lnTo>
                <a:cubicBezTo>
                  <a:pt x="0" y="28454"/>
                  <a:pt x="28454" y="0"/>
                  <a:pt x="6350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1" name="Freeform 21"/>
          <p:cNvSpPr/>
          <p:nvPr/>
        </p:nvSpPr>
        <p:spPr>
          <a:xfrm>
            <a:off x="690331" y="6091829"/>
            <a:ext cx="190500" cy="166688"/>
          </a:xfrm>
          <a:custGeom>
            <a:avLst/>
            <a:gdLst/>
            <a:ahLst/>
            <a:cxnLst/>
            <a:rect l="l" t="t" r="r" b="b"/>
            <a:pathLst>
              <a:path w="190500" h="166688">
                <a:moveTo>
                  <a:pt x="50303" y="31774"/>
                </a:moveTo>
                <a:lnTo>
                  <a:pt x="40593" y="59531"/>
                </a:lnTo>
                <a:lnTo>
                  <a:pt x="149907" y="59531"/>
                </a:lnTo>
                <a:lnTo>
                  <a:pt x="140197" y="31774"/>
                </a:lnTo>
                <a:cubicBezTo>
                  <a:pt x="138521" y="27013"/>
                  <a:pt x="134021" y="23813"/>
                  <a:pt x="128960" y="23813"/>
                </a:cubicBezTo>
                <a:lnTo>
                  <a:pt x="61540" y="23813"/>
                </a:lnTo>
                <a:cubicBezTo>
                  <a:pt x="56479" y="23813"/>
                  <a:pt x="51979" y="27013"/>
                  <a:pt x="50303" y="31774"/>
                </a:cubicBezTo>
                <a:close/>
                <a:moveTo>
                  <a:pt x="14735" y="61317"/>
                </a:moveTo>
                <a:lnTo>
                  <a:pt x="27831" y="23925"/>
                </a:lnTo>
                <a:cubicBezTo>
                  <a:pt x="32854" y="9600"/>
                  <a:pt x="46360" y="0"/>
                  <a:pt x="61540" y="0"/>
                </a:cubicBezTo>
                <a:lnTo>
                  <a:pt x="128960" y="0"/>
                </a:lnTo>
                <a:cubicBezTo>
                  <a:pt x="144140" y="0"/>
                  <a:pt x="157646" y="9600"/>
                  <a:pt x="162669" y="23925"/>
                </a:cubicBezTo>
                <a:lnTo>
                  <a:pt x="175765" y="61317"/>
                </a:lnTo>
                <a:cubicBezTo>
                  <a:pt x="184398" y="64890"/>
                  <a:pt x="190500" y="73410"/>
                  <a:pt x="190500" y="83344"/>
                </a:cubicBezTo>
                <a:lnTo>
                  <a:pt x="190500" y="154781"/>
                </a:lnTo>
                <a:cubicBezTo>
                  <a:pt x="190500" y="161366"/>
                  <a:pt x="185179" y="166688"/>
                  <a:pt x="178594" y="166688"/>
                </a:cubicBezTo>
                <a:lnTo>
                  <a:pt x="166687" y="166688"/>
                </a:lnTo>
                <a:cubicBezTo>
                  <a:pt x="160103" y="166688"/>
                  <a:pt x="154781" y="161366"/>
                  <a:pt x="154781" y="154781"/>
                </a:cubicBezTo>
                <a:lnTo>
                  <a:pt x="154781" y="142875"/>
                </a:lnTo>
                <a:lnTo>
                  <a:pt x="35719" y="142875"/>
                </a:lnTo>
                <a:lnTo>
                  <a:pt x="35719" y="154781"/>
                </a:lnTo>
                <a:cubicBezTo>
                  <a:pt x="35719" y="161366"/>
                  <a:pt x="30397" y="166688"/>
                  <a:pt x="23813" y="166688"/>
                </a:cubicBezTo>
                <a:lnTo>
                  <a:pt x="11906" y="166688"/>
                </a:lnTo>
                <a:cubicBezTo>
                  <a:pt x="5321" y="166688"/>
                  <a:pt x="0" y="161366"/>
                  <a:pt x="0" y="154781"/>
                </a:cubicBezTo>
                <a:lnTo>
                  <a:pt x="0" y="83344"/>
                </a:lnTo>
                <a:cubicBezTo>
                  <a:pt x="0" y="73410"/>
                  <a:pt x="6102" y="64890"/>
                  <a:pt x="14735" y="61317"/>
                </a:cubicBezTo>
                <a:close/>
                <a:moveTo>
                  <a:pt x="47625" y="101203"/>
                </a:moveTo>
                <a:cubicBezTo>
                  <a:pt x="47625" y="94632"/>
                  <a:pt x="42290" y="89296"/>
                  <a:pt x="35719" y="89296"/>
                </a:cubicBezTo>
                <a:cubicBezTo>
                  <a:pt x="29148" y="89296"/>
                  <a:pt x="23813" y="94632"/>
                  <a:pt x="23813" y="101203"/>
                </a:cubicBezTo>
                <a:cubicBezTo>
                  <a:pt x="23813" y="107775"/>
                  <a:pt x="29148" y="113110"/>
                  <a:pt x="35719" y="113110"/>
                </a:cubicBezTo>
                <a:cubicBezTo>
                  <a:pt x="42290" y="113110"/>
                  <a:pt x="47625" y="107775"/>
                  <a:pt x="47625" y="101203"/>
                </a:cubicBezTo>
                <a:close/>
                <a:moveTo>
                  <a:pt x="154781" y="113110"/>
                </a:moveTo>
                <a:cubicBezTo>
                  <a:pt x="161352" y="113110"/>
                  <a:pt x="166687" y="107775"/>
                  <a:pt x="166687" y="101203"/>
                </a:cubicBezTo>
                <a:cubicBezTo>
                  <a:pt x="166687" y="94632"/>
                  <a:pt x="161352" y="89296"/>
                  <a:pt x="154781" y="89296"/>
                </a:cubicBezTo>
                <a:cubicBezTo>
                  <a:pt x="148210" y="89296"/>
                  <a:pt x="142875" y="94632"/>
                  <a:pt x="142875" y="101203"/>
                </a:cubicBezTo>
                <a:cubicBezTo>
                  <a:pt x="142875" y="107775"/>
                  <a:pt x="148210" y="113110"/>
                  <a:pt x="154781" y="11311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031875" y="5969000"/>
            <a:ext cx="3468370"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Latence = Temps de demarrage d'une voiture</a:t>
            </a:r>
            <a:endParaRPr lang="en-US" sz="1100"/>
          </a:p>
        </p:txBody>
      </p:sp>
      <p:sp>
        <p:nvSpPr>
          <p:cNvPr id="23" name="AutoShape 23"/>
          <p:cNvSpPr/>
          <p:nvPr/>
        </p:nvSpPr>
        <p:spPr>
          <a:xfrm>
            <a:off x="1031875" y="6191250"/>
            <a:ext cx="342138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Temps necessaire pour passer de l'arret au debut du mouvement</a:t>
            </a:r>
            <a:endParaRPr lang="en-US" sz="1100"/>
          </a:p>
        </p:txBody>
      </p:sp>
      <p:sp>
        <p:nvSpPr>
          <p:cNvPr id="24" name="Freeform 24"/>
          <p:cNvSpPr/>
          <p:nvPr/>
        </p:nvSpPr>
        <p:spPr>
          <a:xfrm>
            <a:off x="6207033" y="5841814"/>
            <a:ext cx="5476875" cy="666750"/>
          </a:xfrm>
          <a:custGeom>
            <a:avLst/>
            <a:gdLst/>
            <a:ahLst/>
            <a:cxnLst/>
            <a:rect l="l" t="t" r="r" b="b"/>
            <a:pathLst>
              <a:path w="5476875" h="666750">
                <a:moveTo>
                  <a:pt x="63501" y="0"/>
                </a:moveTo>
                <a:lnTo>
                  <a:pt x="5413374" y="0"/>
                </a:lnTo>
                <a:cubicBezTo>
                  <a:pt x="5448445" y="0"/>
                  <a:pt x="5476875" y="28430"/>
                  <a:pt x="5476875" y="63501"/>
                </a:cubicBezTo>
                <a:lnTo>
                  <a:pt x="5476875" y="603249"/>
                </a:lnTo>
                <a:cubicBezTo>
                  <a:pt x="5476875" y="638320"/>
                  <a:pt x="5448445" y="666750"/>
                  <a:pt x="5413374" y="666750"/>
                </a:cubicBezTo>
                <a:lnTo>
                  <a:pt x="63501" y="666750"/>
                </a:lnTo>
                <a:cubicBezTo>
                  <a:pt x="28430" y="666750"/>
                  <a:pt x="0" y="638320"/>
                  <a:pt x="0" y="603249"/>
                </a:cubicBezTo>
                <a:lnTo>
                  <a:pt x="0" y="63501"/>
                </a:lnTo>
                <a:cubicBezTo>
                  <a:pt x="0" y="28454"/>
                  <a:pt x="28454" y="0"/>
                  <a:pt x="6350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5" name="Freeform 25"/>
          <p:cNvSpPr/>
          <p:nvPr/>
        </p:nvSpPr>
        <p:spPr>
          <a:xfrm>
            <a:off x="6355562" y="6091829"/>
            <a:ext cx="195039" cy="166688"/>
          </a:xfrm>
          <a:custGeom>
            <a:avLst/>
            <a:gdLst/>
            <a:ahLst/>
            <a:cxnLst/>
            <a:rect l="l" t="t" r="r" b="b"/>
            <a:pathLst>
              <a:path w="195039" h="166688">
                <a:moveTo>
                  <a:pt x="85576" y="0"/>
                </a:moveTo>
                <a:lnTo>
                  <a:pt x="57224" y="0"/>
                </a:lnTo>
                <a:cubicBezTo>
                  <a:pt x="46285" y="0"/>
                  <a:pt x="36723" y="7479"/>
                  <a:pt x="34118" y="18083"/>
                </a:cubicBezTo>
                <a:lnTo>
                  <a:pt x="2790" y="144550"/>
                </a:lnTo>
                <a:cubicBezTo>
                  <a:pt x="0" y="155786"/>
                  <a:pt x="8520" y="166688"/>
                  <a:pt x="20128" y="166688"/>
                </a:cubicBezTo>
                <a:lnTo>
                  <a:pt x="85576" y="166688"/>
                </a:lnTo>
                <a:lnTo>
                  <a:pt x="85576" y="142875"/>
                </a:lnTo>
                <a:cubicBezTo>
                  <a:pt x="85576" y="136290"/>
                  <a:pt x="90896" y="130969"/>
                  <a:pt x="97482" y="130969"/>
                </a:cubicBezTo>
                <a:cubicBezTo>
                  <a:pt x="104067" y="130969"/>
                  <a:pt x="109388" y="136290"/>
                  <a:pt x="109388" y="142875"/>
                </a:cubicBezTo>
                <a:lnTo>
                  <a:pt x="109388" y="166688"/>
                </a:lnTo>
                <a:lnTo>
                  <a:pt x="174910" y="166688"/>
                </a:lnTo>
                <a:cubicBezTo>
                  <a:pt x="186518" y="166688"/>
                  <a:pt x="195038" y="155786"/>
                  <a:pt x="192248" y="144550"/>
                </a:cubicBezTo>
                <a:lnTo>
                  <a:pt x="160957" y="18083"/>
                </a:lnTo>
                <a:cubicBezTo>
                  <a:pt x="158315" y="7479"/>
                  <a:pt x="148790" y="0"/>
                  <a:pt x="137814" y="0"/>
                </a:cubicBezTo>
                <a:lnTo>
                  <a:pt x="109388" y="0"/>
                </a:lnTo>
                <a:lnTo>
                  <a:pt x="109388" y="23813"/>
                </a:lnTo>
                <a:cubicBezTo>
                  <a:pt x="109388" y="30398"/>
                  <a:pt x="104067" y="35719"/>
                  <a:pt x="97482" y="35719"/>
                </a:cubicBezTo>
                <a:cubicBezTo>
                  <a:pt x="90896" y="35719"/>
                  <a:pt x="85576" y="30398"/>
                  <a:pt x="85576" y="23813"/>
                </a:cubicBezTo>
                <a:lnTo>
                  <a:pt x="85576" y="0"/>
                </a:lnTo>
                <a:close/>
                <a:moveTo>
                  <a:pt x="109388" y="71438"/>
                </a:moveTo>
                <a:lnTo>
                  <a:pt x="109388" y="95250"/>
                </a:lnTo>
                <a:cubicBezTo>
                  <a:pt x="109388" y="101836"/>
                  <a:pt x="104067" y="107157"/>
                  <a:pt x="97482" y="107157"/>
                </a:cubicBezTo>
                <a:cubicBezTo>
                  <a:pt x="90896" y="107157"/>
                  <a:pt x="85576" y="101836"/>
                  <a:pt x="85576" y="95250"/>
                </a:cubicBezTo>
                <a:lnTo>
                  <a:pt x="85576" y="71438"/>
                </a:lnTo>
                <a:cubicBezTo>
                  <a:pt x="85576" y="64852"/>
                  <a:pt x="90896" y="59531"/>
                  <a:pt x="97482" y="59531"/>
                </a:cubicBezTo>
                <a:cubicBezTo>
                  <a:pt x="104067" y="59531"/>
                  <a:pt x="109388" y="64852"/>
                  <a:pt x="109388" y="7143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699250" y="5969000"/>
            <a:ext cx="3523615"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Bande passante = Nombre de voies sur l'autoroute</a:t>
            </a:r>
            <a:endParaRPr lang="en-US" sz="1100"/>
          </a:p>
        </p:txBody>
      </p:sp>
      <p:sp>
        <p:nvSpPr>
          <p:cNvPr id="27" name="AutoShape 27"/>
          <p:cNvSpPr/>
          <p:nvPr/>
        </p:nvSpPr>
        <p:spPr>
          <a:xfrm>
            <a:off x="6699250" y="6191250"/>
            <a:ext cx="352361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Nombre de vehicules pouvant passer simultanement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1617" y="59068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a:t>
            </a:r>
            <a:endParaRPr lang="en-US" sz="1100"/>
          </a:p>
        </p:txBody>
      </p:sp>
      <p:sp>
        <p:nvSpPr>
          <p:cNvPr id="3" name="Freeform 3"/>
          <p:cNvSpPr/>
          <p:nvPr/>
        </p:nvSpPr>
        <p:spPr>
          <a:xfrm>
            <a:off x="399911" y="1172200"/>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172200"/>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00776"/>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 (taux d'utilisation)</a:t>
            </a:r>
            <a:endParaRPr lang="en-US" sz="1100"/>
          </a:p>
        </p:txBody>
      </p:sp>
      <p:sp>
        <p:nvSpPr>
          <p:cNvPr id="6" name="AutoShape 6"/>
          <p:cNvSpPr/>
          <p:nvPr/>
        </p:nvSpPr>
        <p:spPr>
          <a:xfrm>
            <a:off x="647439" y="1781656"/>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Degré d'utilisation réelle des ressources matérielles</a:t>
            </a:r>
            <a:endParaRPr lang="en-US" sz="1100"/>
          </a:p>
        </p:txBody>
      </p:sp>
      <p:sp>
        <p:nvSpPr>
          <p:cNvPr id="7" name="AutoShape 7"/>
          <p:cNvSpPr/>
          <p:nvPr/>
        </p:nvSpPr>
        <p:spPr>
          <a:xfrm>
            <a:off x="380956" y="2417580"/>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Formule de calcul</a:t>
            </a:r>
            <a:endParaRPr lang="en-US" sz="1100"/>
          </a:p>
        </p:txBody>
      </p:sp>
      <p:sp>
        <p:nvSpPr>
          <p:cNvPr id="8" name="Freeform 8"/>
          <p:cNvSpPr/>
          <p:nvPr/>
        </p:nvSpPr>
        <p:spPr>
          <a:xfrm>
            <a:off x="380956" y="2874654"/>
            <a:ext cx="5562600" cy="1352550"/>
          </a:xfrm>
          <a:custGeom>
            <a:avLst/>
            <a:gdLst/>
            <a:ahLst/>
            <a:cxnLst/>
            <a:rect l="l" t="t" r="r" b="b"/>
            <a:pathLst>
              <a:path w="5562600" h="1352550">
                <a:moveTo>
                  <a:pt x="114304" y="0"/>
                </a:moveTo>
                <a:lnTo>
                  <a:pt x="5448296" y="0"/>
                </a:lnTo>
                <a:cubicBezTo>
                  <a:pt x="5511424" y="0"/>
                  <a:pt x="5562600" y="51176"/>
                  <a:pt x="5562600" y="114304"/>
                </a:cubicBezTo>
                <a:lnTo>
                  <a:pt x="5562600" y="1238246"/>
                </a:lnTo>
                <a:cubicBezTo>
                  <a:pt x="5562600" y="1301374"/>
                  <a:pt x="5511424" y="1352550"/>
                  <a:pt x="5448296" y="1352550"/>
                </a:cubicBezTo>
                <a:lnTo>
                  <a:pt x="114304" y="1352550"/>
                </a:lnTo>
                <a:cubicBezTo>
                  <a:pt x="51176" y="1352550"/>
                  <a:pt x="0" y="1301374"/>
                  <a:pt x="0" y="1238246"/>
                </a:cubicBezTo>
                <a:lnTo>
                  <a:pt x="0" y="114304"/>
                </a:lnTo>
                <a:cubicBezTo>
                  <a:pt x="0" y="51176"/>
                  <a:pt x="51176" y="0"/>
                  <a:pt x="11430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552379" y="3103227"/>
            <a:ext cx="52197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 = Performance réelle / Pic théorique</a:t>
            </a:r>
            <a:endParaRPr lang="en-US" sz="1100"/>
          </a:p>
        </p:txBody>
      </p:sp>
      <p:sp>
        <p:nvSpPr>
          <p:cNvPr id="10" name="Freeform 10"/>
          <p:cNvSpPr/>
          <p:nvPr/>
        </p:nvSpPr>
        <p:spPr>
          <a:xfrm>
            <a:off x="609529" y="3569774"/>
            <a:ext cx="5105400" cy="18955"/>
          </a:xfrm>
          <a:custGeom>
            <a:avLst/>
            <a:gdLst/>
            <a:ahLst/>
            <a:cxnLst/>
            <a:rect l="l" t="t" r="r" b="b"/>
            <a:pathLst>
              <a:path w="5105400" h="18955">
                <a:moveTo>
                  <a:pt x="0" y="0"/>
                </a:moveTo>
                <a:lnTo>
                  <a:pt x="5105400" y="0"/>
                </a:lnTo>
                <a:lnTo>
                  <a:pt x="5105400" y="18955"/>
                </a:lnTo>
                <a:lnTo>
                  <a:pt x="0" y="18955"/>
                </a:lnTo>
                <a:lnTo>
                  <a:pt x="0" y="0"/>
                </a:lnTo>
                <a:close/>
              </a:path>
            </a:pathLst>
          </a:custGeom>
          <a:solidFill>
            <a:srgbClr val="D1D5DC">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66666" y="3731635"/>
            <a:ext cx="5191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Généralement exprimé en pourcentage</a:t>
            </a:r>
            <a:endParaRPr lang="en-US" sz="1100"/>
          </a:p>
        </p:txBody>
      </p:sp>
      <p:sp>
        <p:nvSpPr>
          <p:cNvPr id="12" name="AutoShape 12"/>
          <p:cNvSpPr/>
          <p:nvPr/>
        </p:nvSpPr>
        <p:spPr>
          <a:xfrm>
            <a:off x="380956" y="4361701"/>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Exemple de calcul</a:t>
            </a:r>
            <a:endParaRPr lang="en-US" sz="1100"/>
          </a:p>
        </p:txBody>
      </p:sp>
      <p:sp>
        <p:nvSpPr>
          <p:cNvPr id="13" name="Freeform 13"/>
          <p:cNvSpPr/>
          <p:nvPr/>
        </p:nvSpPr>
        <p:spPr>
          <a:xfrm>
            <a:off x="380956" y="4818771"/>
            <a:ext cx="5562600" cy="571500"/>
          </a:xfrm>
          <a:custGeom>
            <a:avLst/>
            <a:gdLst/>
            <a:ahLst/>
            <a:cxnLst/>
            <a:rect l="l" t="t" r="r" b="b"/>
            <a:pathLst>
              <a:path w="5562600" h="571500">
                <a:moveTo>
                  <a:pt x="76197" y="0"/>
                </a:moveTo>
                <a:lnTo>
                  <a:pt x="5486403" y="0"/>
                </a:lnTo>
                <a:cubicBezTo>
                  <a:pt x="5528485" y="0"/>
                  <a:pt x="5562600" y="34115"/>
                  <a:pt x="5562600" y="76197"/>
                </a:cubicBezTo>
                <a:lnTo>
                  <a:pt x="5562600" y="495303"/>
                </a:lnTo>
                <a:cubicBezTo>
                  <a:pt x="5562600" y="537385"/>
                  <a:pt x="5528485" y="571500"/>
                  <a:pt x="5486403" y="571500"/>
                </a:cubicBezTo>
                <a:lnTo>
                  <a:pt x="76197" y="571500"/>
                </a:lnTo>
                <a:cubicBezTo>
                  <a:pt x="34115" y="571500"/>
                  <a:pt x="0" y="537385"/>
                  <a:pt x="0" y="49530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33338" y="4971152"/>
            <a:ext cx="11334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Performance théorique du GPU</a:t>
            </a:r>
            <a:endParaRPr lang="en-US" sz="1100"/>
          </a:p>
        </p:txBody>
      </p:sp>
      <p:sp>
        <p:nvSpPr>
          <p:cNvPr id="15" name="AutoShape 15"/>
          <p:cNvSpPr/>
          <p:nvPr/>
        </p:nvSpPr>
        <p:spPr>
          <a:xfrm>
            <a:off x="4774125" y="4971152"/>
            <a:ext cx="1114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10 TFLOPS</a:t>
            </a:r>
            <a:endParaRPr lang="en-US" sz="1100"/>
          </a:p>
        </p:txBody>
      </p:sp>
      <p:sp>
        <p:nvSpPr>
          <p:cNvPr id="16" name="Freeform 16"/>
          <p:cNvSpPr/>
          <p:nvPr/>
        </p:nvSpPr>
        <p:spPr>
          <a:xfrm>
            <a:off x="380956" y="5504497"/>
            <a:ext cx="5562600" cy="571500"/>
          </a:xfrm>
          <a:custGeom>
            <a:avLst/>
            <a:gdLst/>
            <a:ahLst/>
            <a:cxnLst/>
            <a:rect l="l" t="t" r="r" b="b"/>
            <a:pathLst>
              <a:path w="5562600" h="571500">
                <a:moveTo>
                  <a:pt x="76197" y="0"/>
                </a:moveTo>
                <a:lnTo>
                  <a:pt x="5486403" y="0"/>
                </a:lnTo>
                <a:cubicBezTo>
                  <a:pt x="5528485" y="0"/>
                  <a:pt x="5562600" y="34115"/>
                  <a:pt x="5562600" y="76197"/>
                </a:cubicBezTo>
                <a:lnTo>
                  <a:pt x="5562600" y="495303"/>
                </a:lnTo>
                <a:cubicBezTo>
                  <a:pt x="5562600" y="537385"/>
                  <a:pt x="5528485" y="571500"/>
                  <a:pt x="5486403" y="571500"/>
                </a:cubicBezTo>
                <a:lnTo>
                  <a:pt x="76197" y="571500"/>
                </a:lnTo>
                <a:cubicBezTo>
                  <a:pt x="34115" y="571500"/>
                  <a:pt x="0" y="537385"/>
                  <a:pt x="0" y="49530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33338" y="5656878"/>
            <a:ext cx="1114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Performance réelle du programme</a:t>
            </a:r>
            <a:endParaRPr lang="en-US" sz="1100"/>
          </a:p>
        </p:txBody>
      </p:sp>
      <p:sp>
        <p:nvSpPr>
          <p:cNvPr id="18" name="AutoShape 18"/>
          <p:cNvSpPr/>
          <p:nvPr/>
        </p:nvSpPr>
        <p:spPr>
          <a:xfrm>
            <a:off x="4891558" y="5656878"/>
            <a:ext cx="9906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5 TFLOPS</a:t>
            </a:r>
            <a:endParaRPr lang="en-US" sz="1100"/>
          </a:p>
        </p:txBody>
      </p:sp>
      <p:sp>
        <p:nvSpPr>
          <p:cNvPr id="19" name="Freeform 19"/>
          <p:cNvSpPr/>
          <p:nvPr/>
        </p:nvSpPr>
        <p:spPr>
          <a:xfrm>
            <a:off x="380956" y="6190213"/>
            <a:ext cx="5562600" cy="609600"/>
          </a:xfrm>
          <a:custGeom>
            <a:avLst/>
            <a:gdLst/>
            <a:ahLst/>
            <a:cxnLst/>
            <a:rect l="l" t="t" r="r" b="b"/>
            <a:pathLst>
              <a:path w="5562600" h="609600">
                <a:moveTo>
                  <a:pt x="76200" y="0"/>
                </a:moveTo>
                <a:lnTo>
                  <a:pt x="5486400" y="0"/>
                </a:lnTo>
                <a:cubicBezTo>
                  <a:pt x="5528456" y="0"/>
                  <a:pt x="5562600" y="34144"/>
                  <a:pt x="5562600" y="76200"/>
                </a:cubicBezTo>
                <a:lnTo>
                  <a:pt x="5562600" y="533400"/>
                </a:lnTo>
                <a:cubicBezTo>
                  <a:pt x="5562600" y="575456"/>
                  <a:pt x="5528456" y="609600"/>
                  <a:pt x="5486400" y="609600"/>
                </a:cubicBezTo>
                <a:lnTo>
                  <a:pt x="76200" y="609600"/>
                </a:lnTo>
                <a:cubicBezTo>
                  <a:pt x="34144" y="609600"/>
                  <a:pt x="0" y="575456"/>
                  <a:pt x="0" y="5334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33338" y="6361551"/>
            <a:ext cx="9144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Utilization</a:t>
            </a:r>
            <a:endParaRPr lang="en-US" sz="1100"/>
          </a:p>
        </p:txBody>
      </p:sp>
      <p:sp>
        <p:nvSpPr>
          <p:cNvPr id="21" name="AutoShape 21"/>
          <p:cNvSpPr/>
          <p:nvPr/>
        </p:nvSpPr>
        <p:spPr>
          <a:xfrm>
            <a:off x="5296356" y="6342594"/>
            <a:ext cx="609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50%</a:t>
            </a:r>
            <a:endParaRPr lang="en-US" sz="1100"/>
          </a:p>
        </p:txBody>
      </p:sp>
      <p:sp>
        <p:nvSpPr>
          <p:cNvPr id="22" name="Freeform 22"/>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3" name="Picture 23"/>
          <p:cNvPicPr>
            <a:picLocks noChangeAspect="1"/>
          </p:cNvPicPr>
          <p:nvPr/>
        </p:nvPicPr>
        <p:blipFill>
          <a:blip r:embed="rId1"/>
          <a:srcRect l="85" r="84"/>
          <a:stretch>
            <a:fillRect/>
          </a:stretch>
        </p:blipFill>
        <p:spPr>
          <a:xfrm>
            <a:off x="6400720" y="2045238"/>
            <a:ext cx="5257800" cy="2733675"/>
          </a:xfrm>
          <a:prstGeom prst="roundRect">
            <a:avLst>
              <a:gd name="adj" fmla="val 0"/>
            </a:avLst>
          </a:prstGeom>
          <a:ln w="12700">
            <a:noFill/>
            <a:prstDash val="solid"/>
          </a:ln>
        </p:spPr>
      </p:pic>
      <p:sp>
        <p:nvSpPr>
          <p:cNvPr id="24" name="AutoShape 24"/>
          <p:cNvSpPr/>
          <p:nvPr/>
        </p:nvSpPr>
        <p:spPr>
          <a:xfrm>
            <a:off x="6210238" y="5905365"/>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Grafana - GPU Metrics Dashboard</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28558" y="571463"/>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Pourquoi l'Utilization est importante</a:t>
            </a:r>
            <a:endParaRPr lang="en-US" sz="1100"/>
          </a:p>
        </p:txBody>
      </p:sp>
      <p:sp>
        <p:nvSpPr>
          <p:cNvPr id="3" name="Freeform 3"/>
          <p:cNvSpPr/>
          <p:nvPr/>
        </p:nvSpPr>
        <p:spPr>
          <a:xfrm>
            <a:off x="399911" y="1178060"/>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178060"/>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06632"/>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Même avec du matériel puissant</a:t>
            </a:r>
            <a:endParaRPr lang="en-US" sz="1100"/>
          </a:p>
        </p:txBody>
      </p:sp>
      <p:sp>
        <p:nvSpPr>
          <p:cNvPr id="6" name="AutoShape 6"/>
          <p:cNvSpPr/>
          <p:nvPr/>
        </p:nvSpPr>
        <p:spPr>
          <a:xfrm>
            <a:off x="647439" y="1787512"/>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Si le taux d'utilisation est faible → </a:t>
            </a: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les performances restent mauvaises</a:t>
            </a:r>
            <a:endParaRPr lang="en-US" sz="1100"/>
          </a:p>
        </p:txBody>
      </p:sp>
      <p:sp>
        <p:nvSpPr>
          <p:cNvPr id="7" name="AutoShape 7"/>
          <p:cNvSpPr/>
          <p:nvPr/>
        </p:nvSpPr>
        <p:spPr>
          <a:xfrm>
            <a:off x="380956" y="2323793"/>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Causes courantes de faible taux d'utilisation</a:t>
            </a:r>
            <a:endParaRPr lang="en-US" sz="1100"/>
          </a:p>
        </p:txBody>
      </p:sp>
      <p:sp>
        <p:nvSpPr>
          <p:cNvPr id="8" name="Freeform 8"/>
          <p:cNvSpPr/>
          <p:nvPr/>
        </p:nvSpPr>
        <p:spPr>
          <a:xfrm>
            <a:off x="380956" y="2780872"/>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33338" y="299041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647608" y="3123716"/>
            <a:ext cx="152400" cy="114300"/>
          </a:xfrm>
          <a:custGeom>
            <a:avLst/>
            <a:gdLst/>
            <a:ahLst/>
            <a:cxnLst/>
            <a:rect l="l" t="t" r="r" b="b"/>
            <a:pathLst>
              <a:path w="152400" h="114300">
                <a:moveTo>
                  <a:pt x="19050" y="0"/>
                </a:moveTo>
                <a:cubicBezTo>
                  <a:pt x="8543" y="0"/>
                  <a:pt x="0" y="8543"/>
                  <a:pt x="0" y="19050"/>
                </a:cubicBezTo>
                <a:lnTo>
                  <a:pt x="0" y="21253"/>
                </a:lnTo>
                <a:cubicBezTo>
                  <a:pt x="0" y="23277"/>
                  <a:pt x="1309" y="25002"/>
                  <a:pt x="3006" y="26104"/>
                </a:cubicBezTo>
                <a:cubicBezTo>
                  <a:pt x="6935" y="28664"/>
                  <a:pt x="9525" y="33070"/>
                  <a:pt x="9525" y="38100"/>
                </a:cubicBezTo>
                <a:cubicBezTo>
                  <a:pt x="9525" y="43130"/>
                  <a:pt x="6935" y="47536"/>
                  <a:pt x="3006" y="50096"/>
                </a:cubicBezTo>
                <a:cubicBezTo>
                  <a:pt x="1309" y="51198"/>
                  <a:pt x="0" y="52923"/>
                  <a:pt x="0" y="54947"/>
                </a:cubicBezTo>
                <a:lnTo>
                  <a:pt x="0" y="71438"/>
                </a:lnTo>
                <a:lnTo>
                  <a:pt x="152400" y="71438"/>
                </a:lnTo>
                <a:lnTo>
                  <a:pt x="152400" y="54947"/>
                </a:lnTo>
                <a:cubicBezTo>
                  <a:pt x="152400" y="52923"/>
                  <a:pt x="151091" y="51198"/>
                  <a:pt x="149394" y="50096"/>
                </a:cubicBezTo>
                <a:cubicBezTo>
                  <a:pt x="145465" y="47536"/>
                  <a:pt x="142875" y="43130"/>
                  <a:pt x="142875" y="38100"/>
                </a:cubicBezTo>
                <a:cubicBezTo>
                  <a:pt x="142875" y="33070"/>
                  <a:pt x="145465" y="28664"/>
                  <a:pt x="149394" y="26104"/>
                </a:cubicBezTo>
                <a:cubicBezTo>
                  <a:pt x="151091" y="25002"/>
                  <a:pt x="152400" y="23277"/>
                  <a:pt x="152400" y="21253"/>
                </a:cubicBezTo>
                <a:lnTo>
                  <a:pt x="152400" y="19050"/>
                </a:lnTo>
                <a:cubicBezTo>
                  <a:pt x="152400" y="8543"/>
                  <a:pt x="143857" y="0"/>
                  <a:pt x="133350" y="0"/>
                </a:cubicBezTo>
                <a:lnTo>
                  <a:pt x="19050" y="0"/>
                </a:lnTo>
                <a:close/>
                <a:moveTo>
                  <a:pt x="152400" y="104775"/>
                </a:moveTo>
                <a:lnTo>
                  <a:pt x="152400" y="85725"/>
                </a:lnTo>
                <a:lnTo>
                  <a:pt x="0" y="85725"/>
                </a:lnTo>
                <a:lnTo>
                  <a:pt x="0" y="104775"/>
                </a:lnTo>
                <a:cubicBezTo>
                  <a:pt x="0" y="110044"/>
                  <a:pt x="4256" y="114300"/>
                  <a:pt x="9525" y="114300"/>
                </a:cubicBezTo>
                <a:lnTo>
                  <a:pt x="28575" y="114300"/>
                </a:lnTo>
                <a:lnTo>
                  <a:pt x="28575" y="107156"/>
                </a:lnTo>
                <a:cubicBezTo>
                  <a:pt x="28575" y="103196"/>
                  <a:pt x="31760" y="100012"/>
                  <a:pt x="35719" y="100012"/>
                </a:cubicBezTo>
                <a:cubicBezTo>
                  <a:pt x="39679" y="100012"/>
                  <a:pt x="42862" y="103196"/>
                  <a:pt x="42862" y="107156"/>
                </a:cubicBezTo>
                <a:lnTo>
                  <a:pt x="42862" y="114300"/>
                </a:lnTo>
                <a:lnTo>
                  <a:pt x="69056" y="114300"/>
                </a:lnTo>
                <a:lnTo>
                  <a:pt x="69056" y="107156"/>
                </a:lnTo>
                <a:cubicBezTo>
                  <a:pt x="69056" y="103196"/>
                  <a:pt x="72241" y="100012"/>
                  <a:pt x="76200" y="100012"/>
                </a:cubicBezTo>
                <a:cubicBezTo>
                  <a:pt x="80159" y="100012"/>
                  <a:pt x="83344" y="103196"/>
                  <a:pt x="83344" y="107156"/>
                </a:cubicBezTo>
                <a:lnTo>
                  <a:pt x="83344" y="114300"/>
                </a:lnTo>
                <a:lnTo>
                  <a:pt x="109538" y="114300"/>
                </a:lnTo>
                <a:lnTo>
                  <a:pt x="109538" y="107156"/>
                </a:lnTo>
                <a:cubicBezTo>
                  <a:pt x="109538" y="103196"/>
                  <a:pt x="112721" y="100012"/>
                  <a:pt x="116681" y="100012"/>
                </a:cubicBezTo>
                <a:cubicBezTo>
                  <a:pt x="120640" y="100012"/>
                  <a:pt x="123825" y="103196"/>
                  <a:pt x="123825" y="107156"/>
                </a:cubicBezTo>
                <a:lnTo>
                  <a:pt x="123825" y="114300"/>
                </a:lnTo>
                <a:lnTo>
                  <a:pt x="142875" y="114300"/>
                </a:lnTo>
                <a:cubicBezTo>
                  <a:pt x="148144" y="114300"/>
                  <a:pt x="152400" y="110044"/>
                  <a:pt x="152400" y="104775"/>
                </a:cubicBezTo>
                <a:close/>
                <a:moveTo>
                  <a:pt x="47625" y="28575"/>
                </a:moveTo>
                <a:lnTo>
                  <a:pt x="47625" y="47625"/>
                </a:lnTo>
                <a:cubicBezTo>
                  <a:pt x="47625" y="52894"/>
                  <a:pt x="43369" y="57150"/>
                  <a:pt x="38100" y="57150"/>
                </a:cubicBezTo>
                <a:cubicBezTo>
                  <a:pt x="32831" y="57150"/>
                  <a:pt x="28575" y="52894"/>
                  <a:pt x="28575" y="47625"/>
                </a:cubicBezTo>
                <a:lnTo>
                  <a:pt x="28575" y="28575"/>
                </a:lnTo>
                <a:cubicBezTo>
                  <a:pt x="28575" y="23306"/>
                  <a:pt x="32831" y="19050"/>
                  <a:pt x="38100" y="19050"/>
                </a:cubicBezTo>
                <a:cubicBezTo>
                  <a:pt x="43369" y="19050"/>
                  <a:pt x="47625" y="23306"/>
                  <a:pt x="47625" y="28575"/>
                </a:cubicBezTo>
                <a:close/>
                <a:moveTo>
                  <a:pt x="85725" y="28575"/>
                </a:moveTo>
                <a:lnTo>
                  <a:pt x="85725" y="47625"/>
                </a:lnTo>
                <a:cubicBezTo>
                  <a:pt x="85725" y="52894"/>
                  <a:pt x="81469" y="57150"/>
                  <a:pt x="76200" y="57150"/>
                </a:cubicBezTo>
                <a:cubicBezTo>
                  <a:pt x="70931" y="57150"/>
                  <a:pt x="66675" y="52894"/>
                  <a:pt x="66675" y="47625"/>
                </a:cubicBezTo>
                <a:lnTo>
                  <a:pt x="66675" y="28575"/>
                </a:lnTo>
                <a:cubicBezTo>
                  <a:pt x="66675" y="23306"/>
                  <a:pt x="70931" y="19050"/>
                  <a:pt x="76200" y="19050"/>
                </a:cubicBezTo>
                <a:cubicBezTo>
                  <a:pt x="81469" y="19050"/>
                  <a:pt x="85725" y="23306"/>
                  <a:pt x="85725" y="28575"/>
                </a:cubicBezTo>
                <a:close/>
                <a:moveTo>
                  <a:pt x="123825" y="28575"/>
                </a:moveTo>
                <a:lnTo>
                  <a:pt x="123825" y="47625"/>
                </a:lnTo>
                <a:cubicBezTo>
                  <a:pt x="123825" y="52894"/>
                  <a:pt x="119569" y="57150"/>
                  <a:pt x="114300" y="57150"/>
                </a:cubicBezTo>
                <a:cubicBezTo>
                  <a:pt x="109031" y="57150"/>
                  <a:pt x="104775" y="52894"/>
                  <a:pt x="104775" y="47625"/>
                </a:cubicBezTo>
                <a:lnTo>
                  <a:pt x="104775" y="28575"/>
                </a:lnTo>
                <a:cubicBezTo>
                  <a:pt x="104775" y="23306"/>
                  <a:pt x="109031" y="19050"/>
                  <a:pt x="114300" y="19050"/>
                </a:cubicBezTo>
                <a:cubicBezTo>
                  <a:pt x="119569" y="19050"/>
                  <a:pt x="123825" y="23306"/>
                  <a:pt x="123825" y="285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066676" y="2933254"/>
            <a:ext cx="17621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2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Goulot d'étranglement mémoire</a:t>
            </a:r>
            <a:endParaRPr lang="en-US" sz="1100"/>
          </a:p>
        </p:txBody>
      </p:sp>
      <p:sp>
        <p:nvSpPr>
          <p:cNvPr id="12" name="AutoShape 12"/>
          <p:cNvSpPr/>
          <p:nvPr/>
        </p:nvSpPr>
        <p:spPr>
          <a:xfrm>
            <a:off x="1066800" y="3199765"/>
            <a:ext cx="440817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L'approvisionnement en données ne suit pas la vitesse de calcul</a:t>
            </a:r>
            <a:endParaRPr lang="en-US" sz="1100"/>
          </a:p>
        </p:txBody>
      </p:sp>
      <p:sp>
        <p:nvSpPr>
          <p:cNvPr id="13" name="Freeform 13"/>
          <p:cNvSpPr/>
          <p:nvPr/>
        </p:nvSpPr>
        <p:spPr>
          <a:xfrm>
            <a:off x="380956" y="3695160"/>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33338" y="390471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47608" y="401895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57150"/>
                </a:moveTo>
                <a:lnTo>
                  <a:pt x="66675" y="95250"/>
                </a:lnTo>
                <a:cubicBezTo>
                  <a:pt x="66675" y="100519"/>
                  <a:pt x="62419" y="104775"/>
                  <a:pt x="57150" y="104775"/>
                </a:cubicBezTo>
                <a:cubicBezTo>
                  <a:pt x="51881" y="104775"/>
                  <a:pt x="47625" y="100519"/>
                  <a:pt x="47625" y="95250"/>
                </a:cubicBezTo>
                <a:lnTo>
                  <a:pt x="47625" y="57150"/>
                </a:lnTo>
                <a:cubicBezTo>
                  <a:pt x="47625" y="51881"/>
                  <a:pt x="51881" y="47625"/>
                  <a:pt x="57150" y="47625"/>
                </a:cubicBezTo>
                <a:cubicBezTo>
                  <a:pt x="62419" y="47625"/>
                  <a:pt x="66675" y="51881"/>
                  <a:pt x="66675" y="57150"/>
                </a:cubicBezTo>
                <a:close/>
                <a:moveTo>
                  <a:pt x="104775" y="57150"/>
                </a:moveTo>
                <a:lnTo>
                  <a:pt x="104775" y="95250"/>
                </a:lnTo>
                <a:cubicBezTo>
                  <a:pt x="104775" y="100519"/>
                  <a:pt x="100519" y="104775"/>
                  <a:pt x="95250" y="104775"/>
                </a:cubicBezTo>
                <a:cubicBezTo>
                  <a:pt x="89981" y="104775"/>
                  <a:pt x="85725" y="100519"/>
                  <a:pt x="85725" y="95250"/>
                </a:cubicBezTo>
                <a:lnTo>
                  <a:pt x="85725" y="57150"/>
                </a:lnTo>
                <a:cubicBezTo>
                  <a:pt x="85725" y="51881"/>
                  <a:pt x="89981" y="47625"/>
                  <a:pt x="95250" y="47625"/>
                </a:cubicBezTo>
                <a:cubicBezTo>
                  <a:pt x="100519" y="47625"/>
                  <a:pt x="104775" y="51881"/>
                  <a:pt x="104775" y="571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1066676" y="3847542"/>
            <a:ext cx="15240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2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Attente de synchronisation</a:t>
            </a:r>
            <a:endParaRPr lang="en-US" sz="1100"/>
          </a:p>
        </p:txBody>
      </p:sp>
      <p:sp>
        <p:nvSpPr>
          <p:cNvPr id="17" name="AutoShape 17"/>
          <p:cNvSpPr/>
          <p:nvPr/>
        </p:nvSpPr>
        <p:spPr>
          <a:xfrm>
            <a:off x="1066800" y="4114165"/>
            <a:ext cx="380873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Threads/processus en attente de synchronisation</a:t>
            </a:r>
            <a:endParaRPr lang="en-US" sz="1100"/>
          </a:p>
        </p:txBody>
      </p:sp>
      <p:sp>
        <p:nvSpPr>
          <p:cNvPr id="18" name="Freeform 18"/>
          <p:cNvSpPr/>
          <p:nvPr/>
        </p:nvSpPr>
        <p:spPr>
          <a:xfrm>
            <a:off x="380956" y="4609458"/>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533338" y="4818999"/>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28053" y="4933252"/>
            <a:ext cx="191185" cy="152400"/>
          </a:xfrm>
          <a:custGeom>
            <a:avLst/>
            <a:gdLst/>
            <a:ahLst/>
            <a:cxnLst/>
            <a:rect l="l" t="t" r="r" b="b"/>
            <a:pathLst>
              <a:path w="191185" h="152400">
                <a:moveTo>
                  <a:pt x="114805" y="9525"/>
                </a:moveTo>
                <a:lnTo>
                  <a:pt x="152905" y="9525"/>
                </a:lnTo>
                <a:cubicBezTo>
                  <a:pt x="158174" y="9525"/>
                  <a:pt x="162430" y="13781"/>
                  <a:pt x="162430" y="19050"/>
                </a:cubicBezTo>
                <a:cubicBezTo>
                  <a:pt x="162430" y="24319"/>
                  <a:pt x="158174" y="28575"/>
                  <a:pt x="152905" y="28575"/>
                </a:cubicBezTo>
                <a:lnTo>
                  <a:pt x="119091" y="28575"/>
                </a:lnTo>
                <a:cubicBezTo>
                  <a:pt x="117543" y="36255"/>
                  <a:pt x="112275" y="42595"/>
                  <a:pt x="105280" y="45631"/>
                </a:cubicBezTo>
                <a:lnTo>
                  <a:pt x="105280" y="133350"/>
                </a:lnTo>
                <a:lnTo>
                  <a:pt x="152905" y="133350"/>
                </a:lnTo>
                <a:cubicBezTo>
                  <a:pt x="158174" y="133350"/>
                  <a:pt x="162430" y="137606"/>
                  <a:pt x="162430" y="142875"/>
                </a:cubicBezTo>
                <a:cubicBezTo>
                  <a:pt x="162430" y="148144"/>
                  <a:pt x="158174" y="152400"/>
                  <a:pt x="152905" y="152400"/>
                </a:cubicBezTo>
                <a:lnTo>
                  <a:pt x="38605" y="152400"/>
                </a:lnTo>
                <a:cubicBezTo>
                  <a:pt x="33336" y="152400"/>
                  <a:pt x="29080" y="148144"/>
                  <a:pt x="29080" y="142875"/>
                </a:cubicBezTo>
                <a:cubicBezTo>
                  <a:pt x="29080" y="137606"/>
                  <a:pt x="33336" y="133350"/>
                  <a:pt x="38605" y="133350"/>
                </a:cubicBezTo>
                <a:lnTo>
                  <a:pt x="86230" y="133350"/>
                </a:lnTo>
                <a:lnTo>
                  <a:pt x="86230" y="45631"/>
                </a:lnTo>
                <a:cubicBezTo>
                  <a:pt x="79235" y="42565"/>
                  <a:pt x="73967" y="36225"/>
                  <a:pt x="72419" y="28575"/>
                </a:cubicBezTo>
                <a:lnTo>
                  <a:pt x="38605" y="28575"/>
                </a:lnTo>
                <a:cubicBezTo>
                  <a:pt x="33336" y="28575"/>
                  <a:pt x="29080" y="24319"/>
                  <a:pt x="29080" y="19050"/>
                </a:cubicBezTo>
                <a:cubicBezTo>
                  <a:pt x="29080" y="13781"/>
                  <a:pt x="33336" y="9525"/>
                  <a:pt x="38605" y="9525"/>
                </a:cubicBezTo>
                <a:lnTo>
                  <a:pt x="76705" y="9525"/>
                </a:lnTo>
                <a:cubicBezTo>
                  <a:pt x="81051" y="3750"/>
                  <a:pt x="87956" y="0"/>
                  <a:pt x="95755" y="0"/>
                </a:cubicBezTo>
                <a:cubicBezTo>
                  <a:pt x="103554" y="0"/>
                  <a:pt x="110459" y="3750"/>
                  <a:pt x="114805" y="9525"/>
                </a:cubicBezTo>
                <a:close/>
                <a:moveTo>
                  <a:pt x="131354" y="95250"/>
                </a:moveTo>
                <a:lnTo>
                  <a:pt x="174456" y="95250"/>
                </a:lnTo>
                <a:lnTo>
                  <a:pt x="152905" y="58282"/>
                </a:lnTo>
                <a:lnTo>
                  <a:pt x="131354" y="95250"/>
                </a:lnTo>
                <a:close/>
                <a:moveTo>
                  <a:pt x="152905" y="123825"/>
                </a:moveTo>
                <a:cubicBezTo>
                  <a:pt x="134181" y="123825"/>
                  <a:pt x="118615" y="113704"/>
                  <a:pt x="115401" y="100340"/>
                </a:cubicBezTo>
                <a:cubicBezTo>
                  <a:pt x="114626" y="97066"/>
                  <a:pt x="115698" y="93702"/>
                  <a:pt x="117395" y="90785"/>
                </a:cubicBezTo>
                <a:lnTo>
                  <a:pt x="145731" y="42208"/>
                </a:lnTo>
                <a:cubicBezTo>
                  <a:pt x="147220" y="39648"/>
                  <a:pt x="149959" y="38100"/>
                  <a:pt x="152905" y="38100"/>
                </a:cubicBezTo>
                <a:cubicBezTo>
                  <a:pt x="155851" y="38100"/>
                  <a:pt x="158590" y="39679"/>
                  <a:pt x="160079" y="42208"/>
                </a:cubicBezTo>
                <a:lnTo>
                  <a:pt x="188415" y="90785"/>
                </a:lnTo>
                <a:cubicBezTo>
                  <a:pt x="190112" y="93702"/>
                  <a:pt x="191184" y="97066"/>
                  <a:pt x="190409" y="100340"/>
                </a:cubicBezTo>
                <a:cubicBezTo>
                  <a:pt x="187195" y="113675"/>
                  <a:pt x="171629" y="123825"/>
                  <a:pt x="152905" y="123825"/>
                </a:cubicBezTo>
                <a:close/>
                <a:moveTo>
                  <a:pt x="38248" y="58282"/>
                </a:moveTo>
                <a:lnTo>
                  <a:pt x="16697" y="95250"/>
                </a:lnTo>
                <a:lnTo>
                  <a:pt x="59828" y="95250"/>
                </a:lnTo>
                <a:lnTo>
                  <a:pt x="38248" y="58282"/>
                </a:lnTo>
                <a:close/>
                <a:moveTo>
                  <a:pt x="773" y="100340"/>
                </a:moveTo>
                <a:cubicBezTo>
                  <a:pt x="0" y="97066"/>
                  <a:pt x="1071" y="93702"/>
                  <a:pt x="2767" y="90785"/>
                </a:cubicBezTo>
                <a:lnTo>
                  <a:pt x="31104" y="42208"/>
                </a:lnTo>
                <a:cubicBezTo>
                  <a:pt x="32592" y="39648"/>
                  <a:pt x="35331" y="38100"/>
                  <a:pt x="38279" y="38100"/>
                </a:cubicBezTo>
                <a:cubicBezTo>
                  <a:pt x="41224" y="38100"/>
                  <a:pt x="43963" y="39679"/>
                  <a:pt x="45452" y="42208"/>
                </a:cubicBezTo>
                <a:lnTo>
                  <a:pt x="73788" y="90785"/>
                </a:lnTo>
                <a:cubicBezTo>
                  <a:pt x="75485" y="93702"/>
                  <a:pt x="76556" y="97066"/>
                  <a:pt x="75782" y="100340"/>
                </a:cubicBezTo>
                <a:cubicBezTo>
                  <a:pt x="72569" y="113675"/>
                  <a:pt x="57000" y="123825"/>
                  <a:pt x="38279" y="123825"/>
                </a:cubicBezTo>
                <a:cubicBezTo>
                  <a:pt x="19555" y="123825"/>
                  <a:pt x="3989" y="113704"/>
                  <a:pt x="773" y="10034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1066676" y="4761840"/>
            <a:ext cx="17621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Déséquilibre de charge</a:t>
            </a:r>
            <a:endParaRPr lang="en-US" sz="1100"/>
          </a:p>
        </p:txBody>
      </p:sp>
      <p:sp>
        <p:nvSpPr>
          <p:cNvPr id="22" name="AutoShape 22"/>
          <p:cNvSpPr/>
          <p:nvPr/>
        </p:nvSpPr>
        <p:spPr>
          <a:xfrm>
            <a:off x="1066800" y="5028565"/>
            <a:ext cx="440817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Certains cœurs inoccupés, d'autres surchargés</a:t>
            </a:r>
            <a:endParaRPr lang="en-US" sz="1100"/>
          </a:p>
        </p:txBody>
      </p:sp>
      <p:sp>
        <p:nvSpPr>
          <p:cNvPr id="23" name="Freeform 23"/>
          <p:cNvSpPr/>
          <p:nvPr/>
        </p:nvSpPr>
        <p:spPr>
          <a:xfrm>
            <a:off x="380956" y="5523747"/>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533338" y="5733297"/>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57133" y="5847541"/>
            <a:ext cx="133350" cy="152400"/>
          </a:xfrm>
          <a:custGeom>
            <a:avLst/>
            <a:gdLst/>
            <a:ahLst/>
            <a:cxnLst/>
            <a:rect l="l" t="t" r="r" b="b"/>
            <a:pathLst>
              <a:path w="133350" h="152400">
                <a:moveTo>
                  <a:pt x="133350" y="61258"/>
                </a:moveTo>
                <a:cubicBezTo>
                  <a:pt x="128944" y="64174"/>
                  <a:pt x="123885" y="66526"/>
                  <a:pt x="118615" y="68401"/>
                </a:cubicBezTo>
                <a:cubicBezTo>
                  <a:pt x="104626" y="73402"/>
                  <a:pt x="86261" y="76200"/>
                  <a:pt x="66675" y="76200"/>
                </a:cubicBezTo>
                <a:cubicBezTo>
                  <a:pt x="47089" y="76200"/>
                  <a:pt x="28694" y="73372"/>
                  <a:pt x="14735" y="68401"/>
                </a:cubicBezTo>
                <a:cubicBezTo>
                  <a:pt x="9495" y="66526"/>
                  <a:pt x="4406" y="64174"/>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7"/>
                  <a:pt x="103495" y="0"/>
                  <a:pt x="66675" y="0"/>
                </a:cubicBezTo>
                <a:cubicBezTo>
                  <a:pt x="29855" y="0"/>
                  <a:pt x="0" y="10657"/>
                  <a:pt x="0" y="23813"/>
                </a:cubicBezTo>
                <a:lnTo>
                  <a:pt x="0" y="38100"/>
                </a:lnTo>
                <a:cubicBezTo>
                  <a:pt x="0" y="51256"/>
                  <a:pt x="29855" y="61913"/>
                  <a:pt x="66675" y="61913"/>
                </a:cubicBezTo>
                <a:cubicBezTo>
                  <a:pt x="103495" y="61913"/>
                  <a:pt x="133350" y="51256"/>
                  <a:pt x="133350" y="38100"/>
                </a:cubicBezTo>
                <a:close/>
                <a:moveTo>
                  <a:pt x="118615" y="116026"/>
                </a:moveTo>
                <a:cubicBezTo>
                  <a:pt x="104656" y="120997"/>
                  <a:pt x="86291" y="123825"/>
                  <a:pt x="66675" y="123825"/>
                </a:cubicBezTo>
                <a:cubicBezTo>
                  <a:pt x="47059" y="123825"/>
                  <a:pt x="28694" y="120997"/>
                  <a:pt x="14735" y="116026"/>
                </a:cubicBezTo>
                <a:cubicBezTo>
                  <a:pt x="9495" y="114151"/>
                  <a:pt x="4406" y="111799"/>
                  <a:pt x="0" y="108883"/>
                </a:cubicBezTo>
                <a:lnTo>
                  <a:pt x="0" y="128587"/>
                </a:lnTo>
                <a:cubicBezTo>
                  <a:pt x="0" y="141743"/>
                  <a:pt x="29855" y="152400"/>
                  <a:pt x="66675" y="152400"/>
                </a:cubicBezTo>
                <a:cubicBezTo>
                  <a:pt x="103495" y="152400"/>
                  <a:pt x="133350" y="141743"/>
                  <a:pt x="133350" y="128587"/>
                </a:cubicBezTo>
                <a:lnTo>
                  <a:pt x="133350" y="108883"/>
                </a:lnTo>
                <a:cubicBezTo>
                  <a:pt x="128944" y="111799"/>
                  <a:pt x="123885" y="114151"/>
                  <a:pt x="118615" y="11602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1066676" y="5676128"/>
            <a:ext cx="16287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Attente E/S</a:t>
            </a:r>
            <a:endParaRPr lang="en-US" sz="1100"/>
          </a:p>
        </p:txBody>
      </p:sp>
      <p:sp>
        <p:nvSpPr>
          <p:cNvPr id="27" name="AutoShape 27"/>
          <p:cNvSpPr/>
          <p:nvPr/>
        </p:nvSpPr>
        <p:spPr>
          <a:xfrm>
            <a:off x="1066800" y="5942965"/>
            <a:ext cx="407225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En attente de la fin des E/S disque ou réseau</a:t>
            </a:r>
            <a:endParaRPr lang="en-US" sz="1100"/>
          </a:p>
        </p:txBody>
      </p:sp>
      <p:sp>
        <p:nvSpPr>
          <p:cNvPr id="28" name="Freeform 28"/>
          <p:cNvSpPr/>
          <p:nvPr/>
        </p:nvSpPr>
        <p:spPr>
          <a:xfrm>
            <a:off x="6248338" y="990488"/>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9" name="Picture 29"/>
          <p:cNvPicPr>
            <a:picLocks noChangeAspect="1"/>
          </p:cNvPicPr>
          <p:nvPr/>
        </p:nvPicPr>
        <p:blipFill>
          <a:blip r:embed="rId1"/>
          <a:srcRect t="46" b="45"/>
          <a:stretch>
            <a:fillRect/>
          </a:stretch>
        </p:blipFill>
        <p:spPr>
          <a:xfrm>
            <a:off x="6400720" y="1617418"/>
            <a:ext cx="5257800" cy="3581400"/>
          </a:xfrm>
          <a:prstGeom prst="roundRect">
            <a:avLst>
              <a:gd name="adj" fmla="val 0"/>
            </a:avLst>
          </a:prstGeom>
          <a:ln w="12700">
            <a:noFill/>
            <a:prstDash val="solid"/>
          </a:ln>
        </p:spPr>
      </p:pic>
      <p:sp>
        <p:nvSpPr>
          <p:cNvPr id="30" name="AutoShape 30"/>
          <p:cNvSpPr/>
          <p:nvPr/>
        </p:nvSpPr>
        <p:spPr>
          <a:xfrm>
            <a:off x="6210238" y="590537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Lambda Labs - GPU Monitoring Tools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2846" y="622613"/>
            <a:ext cx="11644243" cy="353391"/>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32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Deux types de goulots d'étranglement de performance</a:t>
            </a:r>
            <a:endParaRPr lang="en-US" sz="1100"/>
          </a:p>
        </p:txBody>
      </p:sp>
      <p:sp>
        <p:nvSpPr>
          <p:cNvPr id="3" name="Freeform 3"/>
          <p:cNvSpPr/>
          <p:nvPr/>
        </p:nvSpPr>
        <p:spPr>
          <a:xfrm>
            <a:off x="362141" y="1179555"/>
            <a:ext cx="5583495" cy="4753025"/>
          </a:xfrm>
          <a:custGeom>
            <a:avLst/>
            <a:gdLst/>
            <a:ahLst/>
            <a:cxnLst/>
            <a:rect l="l" t="t" r="r" b="b"/>
            <a:pathLst>
              <a:path w="5583495" h="4753025">
                <a:moveTo>
                  <a:pt x="106040" y="0"/>
                </a:moveTo>
                <a:lnTo>
                  <a:pt x="5477455" y="0"/>
                </a:lnTo>
                <a:cubicBezTo>
                  <a:pt x="5536019" y="0"/>
                  <a:pt x="5583495" y="47476"/>
                  <a:pt x="5583495" y="106040"/>
                </a:cubicBezTo>
                <a:lnTo>
                  <a:pt x="5583495" y="4646985"/>
                </a:lnTo>
                <a:cubicBezTo>
                  <a:pt x="5583495" y="4705549"/>
                  <a:pt x="5536019" y="4753025"/>
                  <a:pt x="5477455" y="4753025"/>
                </a:cubicBezTo>
                <a:lnTo>
                  <a:pt x="106040" y="4753025"/>
                </a:lnTo>
                <a:cubicBezTo>
                  <a:pt x="47476" y="4753025"/>
                  <a:pt x="0" y="4705549"/>
                  <a:pt x="0" y="4646985"/>
                </a:cubicBezTo>
                <a:lnTo>
                  <a:pt x="0" y="106040"/>
                </a:lnTo>
                <a:cubicBezTo>
                  <a:pt x="0" y="47515"/>
                  <a:pt x="47515" y="0"/>
                  <a:pt x="106040"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82942" y="1418008"/>
            <a:ext cx="494748" cy="494748"/>
          </a:xfrm>
          <a:custGeom>
            <a:avLst/>
            <a:gdLst/>
            <a:ahLst/>
            <a:cxnLst/>
            <a:rect l="l" t="t" r="r" b="b"/>
            <a:pathLst>
              <a:path w="494748" h="494748">
                <a:moveTo>
                  <a:pt x="106020" y="0"/>
                </a:moveTo>
                <a:lnTo>
                  <a:pt x="388728" y="0"/>
                </a:lnTo>
                <a:cubicBezTo>
                  <a:pt x="447242" y="0"/>
                  <a:pt x="494748" y="47506"/>
                  <a:pt x="494748" y="106020"/>
                </a:cubicBezTo>
                <a:lnTo>
                  <a:pt x="494748" y="388728"/>
                </a:lnTo>
                <a:cubicBezTo>
                  <a:pt x="494748" y="447242"/>
                  <a:pt x="447242" y="494748"/>
                  <a:pt x="388728" y="494748"/>
                </a:cubicBezTo>
                <a:lnTo>
                  <a:pt x="106020" y="494748"/>
                </a:lnTo>
                <a:cubicBezTo>
                  <a:pt x="47506" y="494748"/>
                  <a:pt x="0" y="447242"/>
                  <a:pt x="0" y="388728"/>
                </a:cubicBezTo>
                <a:lnTo>
                  <a:pt x="0" y="106020"/>
                </a:lnTo>
                <a:cubicBezTo>
                  <a:pt x="0" y="47506"/>
                  <a:pt x="47506" y="0"/>
                  <a:pt x="106020" y="0"/>
                </a:cubicBezTo>
                <a:close/>
              </a:path>
            </a:pathLst>
          </a:custGeom>
          <a:solidFill>
            <a:srgbClr val="8B0000">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724276" y="1559348"/>
            <a:ext cx="212035" cy="212035"/>
          </a:xfrm>
          <a:custGeom>
            <a:avLst/>
            <a:gdLst/>
            <a:ahLst/>
            <a:cxnLst/>
            <a:rect l="l" t="t" r="r" b="b"/>
            <a:pathLst>
              <a:path w="212035" h="212035">
                <a:moveTo>
                  <a:pt x="72887" y="9939"/>
                </a:moveTo>
                <a:cubicBezTo>
                  <a:pt x="72887" y="4431"/>
                  <a:pt x="68456" y="0"/>
                  <a:pt x="62948" y="0"/>
                </a:cubicBezTo>
                <a:cubicBezTo>
                  <a:pt x="57440" y="0"/>
                  <a:pt x="53009" y="4431"/>
                  <a:pt x="53009" y="9939"/>
                </a:cubicBezTo>
                <a:lnTo>
                  <a:pt x="53009" y="26504"/>
                </a:lnTo>
                <a:cubicBezTo>
                  <a:pt x="38390" y="26504"/>
                  <a:pt x="26504" y="38390"/>
                  <a:pt x="26504" y="53009"/>
                </a:cubicBezTo>
                <a:lnTo>
                  <a:pt x="9939" y="53009"/>
                </a:lnTo>
                <a:cubicBezTo>
                  <a:pt x="4431" y="53009"/>
                  <a:pt x="0" y="57440"/>
                  <a:pt x="0" y="62948"/>
                </a:cubicBezTo>
                <a:cubicBezTo>
                  <a:pt x="0" y="68456"/>
                  <a:pt x="4431" y="72887"/>
                  <a:pt x="9939" y="72887"/>
                </a:cubicBezTo>
                <a:lnTo>
                  <a:pt x="26504" y="72887"/>
                </a:lnTo>
                <a:lnTo>
                  <a:pt x="26504" y="96078"/>
                </a:lnTo>
                <a:lnTo>
                  <a:pt x="9939" y="96078"/>
                </a:lnTo>
                <a:cubicBezTo>
                  <a:pt x="4431" y="96078"/>
                  <a:pt x="0" y="100509"/>
                  <a:pt x="0" y="106017"/>
                </a:cubicBezTo>
                <a:cubicBezTo>
                  <a:pt x="0" y="111525"/>
                  <a:pt x="4431" y="115957"/>
                  <a:pt x="9939" y="115957"/>
                </a:cubicBezTo>
                <a:lnTo>
                  <a:pt x="26504" y="115957"/>
                </a:lnTo>
                <a:lnTo>
                  <a:pt x="26504" y="139148"/>
                </a:lnTo>
                <a:lnTo>
                  <a:pt x="9939" y="139148"/>
                </a:lnTo>
                <a:cubicBezTo>
                  <a:pt x="4431" y="139148"/>
                  <a:pt x="0" y="143579"/>
                  <a:pt x="0" y="149087"/>
                </a:cubicBezTo>
                <a:cubicBezTo>
                  <a:pt x="0" y="154595"/>
                  <a:pt x="4431" y="159026"/>
                  <a:pt x="9939" y="159026"/>
                </a:cubicBezTo>
                <a:lnTo>
                  <a:pt x="26504" y="159026"/>
                </a:lnTo>
                <a:cubicBezTo>
                  <a:pt x="26504" y="173645"/>
                  <a:pt x="38390" y="185530"/>
                  <a:pt x="53009" y="185530"/>
                </a:cubicBezTo>
                <a:lnTo>
                  <a:pt x="53009" y="202096"/>
                </a:lnTo>
                <a:cubicBezTo>
                  <a:pt x="53009" y="207604"/>
                  <a:pt x="57440" y="212035"/>
                  <a:pt x="62948" y="212035"/>
                </a:cubicBezTo>
                <a:cubicBezTo>
                  <a:pt x="68456" y="212035"/>
                  <a:pt x="72887" y="207604"/>
                  <a:pt x="72887" y="202096"/>
                </a:cubicBezTo>
                <a:lnTo>
                  <a:pt x="72887" y="185530"/>
                </a:lnTo>
                <a:lnTo>
                  <a:pt x="96078" y="185530"/>
                </a:lnTo>
                <a:lnTo>
                  <a:pt x="96078" y="202096"/>
                </a:lnTo>
                <a:cubicBezTo>
                  <a:pt x="96078" y="207604"/>
                  <a:pt x="100509" y="212035"/>
                  <a:pt x="106017" y="212035"/>
                </a:cubicBezTo>
                <a:cubicBezTo>
                  <a:pt x="111525" y="212035"/>
                  <a:pt x="115957" y="207604"/>
                  <a:pt x="115957" y="202096"/>
                </a:cubicBezTo>
                <a:lnTo>
                  <a:pt x="115957" y="185530"/>
                </a:lnTo>
                <a:lnTo>
                  <a:pt x="139148" y="185530"/>
                </a:lnTo>
                <a:lnTo>
                  <a:pt x="139148" y="202096"/>
                </a:lnTo>
                <a:cubicBezTo>
                  <a:pt x="139148" y="207604"/>
                  <a:pt x="143579" y="212035"/>
                  <a:pt x="149087" y="212035"/>
                </a:cubicBezTo>
                <a:cubicBezTo>
                  <a:pt x="154595" y="212035"/>
                  <a:pt x="159026" y="207604"/>
                  <a:pt x="159026" y="202096"/>
                </a:cubicBezTo>
                <a:lnTo>
                  <a:pt x="159026" y="185530"/>
                </a:lnTo>
                <a:cubicBezTo>
                  <a:pt x="173645" y="185530"/>
                  <a:pt x="185530" y="173645"/>
                  <a:pt x="185530" y="159026"/>
                </a:cubicBezTo>
                <a:lnTo>
                  <a:pt x="202096" y="159026"/>
                </a:lnTo>
                <a:cubicBezTo>
                  <a:pt x="207604" y="159026"/>
                  <a:pt x="212035" y="154595"/>
                  <a:pt x="212035" y="149087"/>
                </a:cubicBezTo>
                <a:cubicBezTo>
                  <a:pt x="212035" y="143579"/>
                  <a:pt x="207604" y="139148"/>
                  <a:pt x="202096" y="139148"/>
                </a:cubicBezTo>
                <a:lnTo>
                  <a:pt x="185530" y="139148"/>
                </a:lnTo>
                <a:lnTo>
                  <a:pt x="185530" y="115957"/>
                </a:lnTo>
                <a:lnTo>
                  <a:pt x="202096" y="115957"/>
                </a:lnTo>
                <a:cubicBezTo>
                  <a:pt x="207604" y="115957"/>
                  <a:pt x="212035" y="111525"/>
                  <a:pt x="212035" y="106017"/>
                </a:cubicBezTo>
                <a:cubicBezTo>
                  <a:pt x="212035" y="100509"/>
                  <a:pt x="207604" y="96078"/>
                  <a:pt x="202096" y="96078"/>
                </a:cubicBezTo>
                <a:lnTo>
                  <a:pt x="185530" y="96078"/>
                </a:lnTo>
                <a:lnTo>
                  <a:pt x="185530" y="72887"/>
                </a:lnTo>
                <a:lnTo>
                  <a:pt x="202096" y="72887"/>
                </a:lnTo>
                <a:cubicBezTo>
                  <a:pt x="207604" y="72887"/>
                  <a:pt x="212035" y="68456"/>
                  <a:pt x="212035" y="62948"/>
                </a:cubicBezTo>
                <a:cubicBezTo>
                  <a:pt x="212035" y="57440"/>
                  <a:pt x="207604" y="53009"/>
                  <a:pt x="202096" y="53009"/>
                </a:cubicBezTo>
                <a:lnTo>
                  <a:pt x="185530" y="53009"/>
                </a:lnTo>
                <a:cubicBezTo>
                  <a:pt x="185530" y="38390"/>
                  <a:pt x="173645" y="26504"/>
                  <a:pt x="159026" y="26504"/>
                </a:cubicBezTo>
                <a:lnTo>
                  <a:pt x="159026" y="9939"/>
                </a:lnTo>
                <a:cubicBezTo>
                  <a:pt x="159026" y="4431"/>
                  <a:pt x="154595" y="0"/>
                  <a:pt x="149087" y="0"/>
                </a:cubicBezTo>
                <a:cubicBezTo>
                  <a:pt x="143579" y="0"/>
                  <a:pt x="139148" y="4431"/>
                  <a:pt x="139148" y="9939"/>
                </a:cubicBezTo>
                <a:lnTo>
                  <a:pt x="139148" y="26504"/>
                </a:lnTo>
                <a:lnTo>
                  <a:pt x="115957" y="26504"/>
                </a:lnTo>
                <a:lnTo>
                  <a:pt x="115957" y="9939"/>
                </a:lnTo>
                <a:cubicBezTo>
                  <a:pt x="115957" y="4431"/>
                  <a:pt x="111525" y="0"/>
                  <a:pt x="106017" y="0"/>
                </a:cubicBezTo>
                <a:cubicBezTo>
                  <a:pt x="100509" y="0"/>
                  <a:pt x="96078" y="4431"/>
                  <a:pt x="96078" y="9939"/>
                </a:cubicBezTo>
                <a:lnTo>
                  <a:pt x="96078" y="26504"/>
                </a:lnTo>
                <a:lnTo>
                  <a:pt x="72887" y="26504"/>
                </a:lnTo>
                <a:lnTo>
                  <a:pt x="72887" y="9939"/>
                </a:lnTo>
                <a:close/>
                <a:moveTo>
                  <a:pt x="66261" y="53009"/>
                </a:moveTo>
                <a:lnTo>
                  <a:pt x="145774" y="53009"/>
                </a:lnTo>
                <a:cubicBezTo>
                  <a:pt x="153104" y="53009"/>
                  <a:pt x="159026" y="58931"/>
                  <a:pt x="159026" y="66261"/>
                </a:cubicBezTo>
                <a:lnTo>
                  <a:pt x="159026" y="145774"/>
                </a:lnTo>
                <a:cubicBezTo>
                  <a:pt x="159026" y="153104"/>
                  <a:pt x="153104" y="159026"/>
                  <a:pt x="145774" y="159026"/>
                </a:cubicBezTo>
                <a:lnTo>
                  <a:pt x="66261" y="159026"/>
                </a:lnTo>
                <a:cubicBezTo>
                  <a:pt x="58931" y="159026"/>
                  <a:pt x="53009" y="153104"/>
                  <a:pt x="53009" y="145774"/>
                </a:cubicBezTo>
                <a:lnTo>
                  <a:pt x="53009" y="66261"/>
                </a:lnTo>
                <a:cubicBezTo>
                  <a:pt x="53009" y="58931"/>
                  <a:pt x="58931" y="53009"/>
                  <a:pt x="66261" y="53009"/>
                </a:cubicBezTo>
                <a:close/>
                <a:moveTo>
                  <a:pt x="72887" y="72887"/>
                </a:moveTo>
                <a:lnTo>
                  <a:pt x="72887" y="139148"/>
                </a:lnTo>
                <a:lnTo>
                  <a:pt x="139148" y="139148"/>
                </a:lnTo>
                <a:lnTo>
                  <a:pt x="139148" y="72887"/>
                </a:lnTo>
                <a:lnTo>
                  <a:pt x="72887" y="7288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218972" y="1400356"/>
            <a:ext cx="1554922" cy="28271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6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Goulot de calcul</a:t>
            </a:r>
            <a:endParaRPr lang="en-US" sz="1100"/>
          </a:p>
        </p:txBody>
      </p:sp>
      <p:sp>
        <p:nvSpPr>
          <p:cNvPr id="7" name="AutoShape 7"/>
          <p:cNvSpPr/>
          <p:nvPr/>
        </p:nvSpPr>
        <p:spPr>
          <a:xfrm>
            <a:off x="1218972" y="1682966"/>
            <a:ext cx="1537252" cy="24737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Bound</a:t>
            </a:r>
            <a:endParaRPr lang="en-US" sz="1100"/>
          </a:p>
        </p:txBody>
      </p:sp>
      <p:sp>
        <p:nvSpPr>
          <p:cNvPr id="8" name="Freeform 8"/>
          <p:cNvSpPr/>
          <p:nvPr/>
        </p:nvSpPr>
        <p:spPr>
          <a:xfrm>
            <a:off x="582942" y="2655111"/>
            <a:ext cx="5141843" cy="883478"/>
          </a:xfrm>
          <a:custGeom>
            <a:avLst/>
            <a:gdLst/>
            <a:ahLst/>
            <a:cxnLst/>
            <a:rect l="l" t="t" r="r" b="b"/>
            <a:pathLst>
              <a:path w="5141843" h="883478">
                <a:moveTo>
                  <a:pt x="70678" y="0"/>
                </a:moveTo>
                <a:lnTo>
                  <a:pt x="5071165" y="0"/>
                </a:lnTo>
                <a:cubicBezTo>
                  <a:pt x="5110201" y="0"/>
                  <a:pt x="5141843" y="31645"/>
                  <a:pt x="5141843" y="70678"/>
                </a:cubicBezTo>
                <a:lnTo>
                  <a:pt x="5141843" y="812800"/>
                </a:lnTo>
                <a:cubicBezTo>
                  <a:pt x="5141843" y="851835"/>
                  <a:pt x="5110201" y="883478"/>
                  <a:pt x="5071165" y="883478"/>
                </a:cubicBezTo>
                <a:lnTo>
                  <a:pt x="70678" y="883478"/>
                </a:lnTo>
                <a:cubicBezTo>
                  <a:pt x="31645" y="883478"/>
                  <a:pt x="0" y="851835"/>
                  <a:pt x="0" y="812800"/>
                </a:cubicBezTo>
                <a:lnTo>
                  <a:pt x="0" y="70678"/>
                </a:lnTo>
                <a:cubicBezTo>
                  <a:pt x="0" y="31645"/>
                  <a:pt x="31645" y="0"/>
                  <a:pt x="70678"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AutoShape 9"/>
          <p:cNvSpPr/>
          <p:nvPr/>
        </p:nvSpPr>
        <p:spPr>
          <a:xfrm>
            <a:off x="759460" y="2849245"/>
            <a:ext cx="2530475" cy="20637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Caractéristiques :</a:t>
            </a:r>
            <a:endParaRPr lang="en-US" sz="1100"/>
          </a:p>
        </p:txBody>
      </p:sp>
      <p:sp>
        <p:nvSpPr>
          <p:cNvPr id="10" name="AutoShape 10"/>
          <p:cNvSpPr/>
          <p:nvPr/>
        </p:nvSpPr>
        <p:spPr>
          <a:xfrm>
            <a:off x="759582" y="3149798"/>
            <a:ext cx="4859130"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FLOPS limité, unités de calcul saturées</a:t>
            </a:r>
            <a:endParaRPr lang="en-US" sz="1100"/>
          </a:p>
        </p:txBody>
      </p:sp>
      <p:sp>
        <p:nvSpPr>
          <p:cNvPr id="11" name="Freeform 11"/>
          <p:cNvSpPr/>
          <p:nvPr/>
        </p:nvSpPr>
        <p:spPr>
          <a:xfrm>
            <a:off x="582942" y="3679790"/>
            <a:ext cx="5141843" cy="883478"/>
          </a:xfrm>
          <a:custGeom>
            <a:avLst/>
            <a:gdLst/>
            <a:ahLst/>
            <a:cxnLst/>
            <a:rect l="l" t="t" r="r" b="b"/>
            <a:pathLst>
              <a:path w="5141843" h="883478">
                <a:moveTo>
                  <a:pt x="70678" y="0"/>
                </a:moveTo>
                <a:lnTo>
                  <a:pt x="5071165" y="0"/>
                </a:lnTo>
                <a:cubicBezTo>
                  <a:pt x="5110201" y="0"/>
                  <a:pt x="5141843" y="31645"/>
                  <a:pt x="5141843" y="70678"/>
                </a:cubicBezTo>
                <a:lnTo>
                  <a:pt x="5141843" y="812800"/>
                </a:lnTo>
                <a:cubicBezTo>
                  <a:pt x="5141843" y="851835"/>
                  <a:pt x="5110201" y="883478"/>
                  <a:pt x="5071165" y="883478"/>
                </a:cubicBezTo>
                <a:lnTo>
                  <a:pt x="70678" y="883478"/>
                </a:lnTo>
                <a:cubicBezTo>
                  <a:pt x="31645" y="883478"/>
                  <a:pt x="0" y="851835"/>
                  <a:pt x="0" y="812800"/>
                </a:cubicBezTo>
                <a:lnTo>
                  <a:pt x="0" y="70678"/>
                </a:lnTo>
                <a:cubicBezTo>
                  <a:pt x="0" y="31645"/>
                  <a:pt x="31645" y="0"/>
                  <a:pt x="70678"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2" name="AutoShape 12"/>
          <p:cNvSpPr/>
          <p:nvPr/>
        </p:nvSpPr>
        <p:spPr>
          <a:xfrm>
            <a:off x="759460" y="3874135"/>
            <a:ext cx="3092450" cy="20637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Direction d'optimisation :</a:t>
            </a:r>
            <a:endParaRPr lang="en-US" sz="1100"/>
          </a:p>
        </p:txBody>
      </p:sp>
      <p:sp>
        <p:nvSpPr>
          <p:cNvPr id="13" name="AutoShape 13"/>
          <p:cNvSpPr/>
          <p:nvPr/>
        </p:nvSpPr>
        <p:spPr>
          <a:xfrm>
            <a:off x="759582" y="4174478"/>
            <a:ext cx="4859130"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Optimisation d'algorithme, parallélisation, SIMD</a:t>
            </a:r>
            <a:endParaRPr lang="en-US" sz="1100"/>
          </a:p>
        </p:txBody>
      </p:sp>
      <p:sp>
        <p:nvSpPr>
          <p:cNvPr id="14" name="Freeform 14"/>
          <p:cNvSpPr/>
          <p:nvPr/>
        </p:nvSpPr>
        <p:spPr>
          <a:xfrm>
            <a:off x="600523" y="4704470"/>
            <a:ext cx="5124086" cy="494748"/>
          </a:xfrm>
          <a:custGeom>
            <a:avLst/>
            <a:gdLst/>
            <a:ahLst/>
            <a:cxnLst/>
            <a:rect l="l" t="t" r="r" b="b"/>
            <a:pathLst>
              <a:path w="5124086" h="494748">
                <a:moveTo>
                  <a:pt x="35162" y="0"/>
                </a:moveTo>
                <a:lnTo>
                  <a:pt x="5053406" y="0"/>
                </a:lnTo>
                <a:cubicBezTo>
                  <a:pt x="5092442" y="0"/>
                  <a:pt x="5124086" y="31645"/>
                  <a:pt x="5124086" y="70681"/>
                </a:cubicBezTo>
                <a:lnTo>
                  <a:pt x="5124086" y="424068"/>
                </a:lnTo>
                <a:cubicBezTo>
                  <a:pt x="5124086" y="463078"/>
                  <a:pt x="5092416" y="494748"/>
                  <a:pt x="5053406" y="494748"/>
                </a:cubicBezTo>
                <a:lnTo>
                  <a:pt x="35162" y="494748"/>
                </a:lnTo>
                <a:cubicBezTo>
                  <a:pt x="15756" y="494748"/>
                  <a:pt x="0" y="478992"/>
                  <a:pt x="0" y="459585"/>
                </a:cubicBezTo>
                <a:lnTo>
                  <a:pt x="0" y="35162"/>
                </a:lnTo>
                <a:cubicBezTo>
                  <a:pt x="0" y="15756"/>
                  <a:pt x="15756" y="0"/>
                  <a:pt x="3516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00523" y="4704470"/>
            <a:ext cx="35162" cy="494748"/>
          </a:xfrm>
          <a:custGeom>
            <a:avLst/>
            <a:gdLst/>
            <a:ahLst/>
            <a:cxnLst/>
            <a:rect l="l" t="t" r="r" b="b"/>
            <a:pathLst>
              <a:path w="35162" h="494748">
                <a:moveTo>
                  <a:pt x="35162" y="0"/>
                </a:moveTo>
                <a:lnTo>
                  <a:pt x="35162" y="0"/>
                </a:lnTo>
                <a:lnTo>
                  <a:pt x="35162" y="494748"/>
                </a:lnTo>
                <a:lnTo>
                  <a:pt x="35162" y="494748"/>
                </a:lnTo>
                <a:cubicBezTo>
                  <a:pt x="15756" y="494748"/>
                  <a:pt x="0" y="478992"/>
                  <a:pt x="0" y="459585"/>
                </a:cubicBezTo>
                <a:lnTo>
                  <a:pt x="0" y="35162"/>
                </a:lnTo>
                <a:cubicBezTo>
                  <a:pt x="0" y="15756"/>
                  <a:pt x="15756" y="0"/>
                  <a:pt x="3516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794784" y="4876576"/>
            <a:ext cx="106017" cy="145774"/>
          </a:xfrm>
          <a:custGeom>
            <a:avLst/>
            <a:gdLst/>
            <a:ahLst/>
            <a:cxnLst/>
            <a:rect l="l" t="t" r="r" b="b"/>
            <a:pathLst>
              <a:path w="106017" h="145774">
                <a:moveTo>
                  <a:pt x="80866" y="106017"/>
                </a:moveTo>
                <a:cubicBezTo>
                  <a:pt x="82881" y="99861"/>
                  <a:pt x="86912" y="94284"/>
                  <a:pt x="91468" y="89480"/>
                </a:cubicBezTo>
                <a:cubicBezTo>
                  <a:pt x="100496" y="79982"/>
                  <a:pt x="106017" y="67144"/>
                  <a:pt x="106017" y="53009"/>
                </a:cubicBezTo>
                <a:cubicBezTo>
                  <a:pt x="106017" y="23743"/>
                  <a:pt x="82274" y="0"/>
                  <a:pt x="53009" y="0"/>
                </a:cubicBezTo>
                <a:cubicBezTo>
                  <a:pt x="23743" y="0"/>
                  <a:pt x="0" y="23743"/>
                  <a:pt x="0" y="53009"/>
                </a:cubicBezTo>
                <a:cubicBezTo>
                  <a:pt x="0" y="67144"/>
                  <a:pt x="5522" y="79982"/>
                  <a:pt x="14550" y="89480"/>
                </a:cubicBezTo>
                <a:cubicBezTo>
                  <a:pt x="19105" y="94284"/>
                  <a:pt x="23164" y="99861"/>
                  <a:pt x="25152" y="106017"/>
                </a:cubicBezTo>
                <a:lnTo>
                  <a:pt x="80838" y="106017"/>
                </a:lnTo>
                <a:close/>
                <a:moveTo>
                  <a:pt x="79513" y="119270"/>
                </a:moveTo>
                <a:lnTo>
                  <a:pt x="26504" y="119270"/>
                </a:lnTo>
                <a:lnTo>
                  <a:pt x="26504" y="123687"/>
                </a:lnTo>
                <a:cubicBezTo>
                  <a:pt x="26504" y="135890"/>
                  <a:pt x="36388" y="145774"/>
                  <a:pt x="48591" y="145774"/>
                </a:cubicBezTo>
                <a:lnTo>
                  <a:pt x="57426" y="145774"/>
                </a:lnTo>
                <a:cubicBezTo>
                  <a:pt x="69629" y="145774"/>
                  <a:pt x="79513" y="135890"/>
                  <a:pt x="79513" y="123687"/>
                </a:cubicBezTo>
                <a:lnTo>
                  <a:pt x="79513" y="119270"/>
                </a:lnTo>
                <a:close/>
                <a:moveTo>
                  <a:pt x="50800" y="30922"/>
                </a:moveTo>
                <a:cubicBezTo>
                  <a:pt x="39812" y="30922"/>
                  <a:pt x="30922" y="39812"/>
                  <a:pt x="30922" y="50800"/>
                </a:cubicBezTo>
                <a:cubicBezTo>
                  <a:pt x="30922" y="54472"/>
                  <a:pt x="27968" y="57426"/>
                  <a:pt x="24296" y="57426"/>
                </a:cubicBezTo>
                <a:cubicBezTo>
                  <a:pt x="20624" y="57426"/>
                  <a:pt x="17670" y="54472"/>
                  <a:pt x="17670" y="50800"/>
                </a:cubicBezTo>
                <a:cubicBezTo>
                  <a:pt x="17670" y="32495"/>
                  <a:pt x="32495" y="17670"/>
                  <a:pt x="50800" y="17670"/>
                </a:cubicBezTo>
                <a:cubicBezTo>
                  <a:pt x="54472" y="17670"/>
                  <a:pt x="57426" y="20624"/>
                  <a:pt x="57426" y="24296"/>
                </a:cubicBezTo>
                <a:cubicBezTo>
                  <a:pt x="57426" y="27968"/>
                  <a:pt x="54472" y="30922"/>
                  <a:pt x="50800" y="3092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85308" y="4845809"/>
            <a:ext cx="4668606"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Nécessite d'améliorer l'efficacité de calcul</a:t>
            </a:r>
            <a:endParaRPr lang="en-US" sz="1100"/>
          </a:p>
        </p:txBody>
      </p:sp>
      <p:sp>
        <p:nvSpPr>
          <p:cNvPr id="18" name="Freeform 18"/>
          <p:cNvSpPr/>
          <p:nvPr/>
        </p:nvSpPr>
        <p:spPr>
          <a:xfrm>
            <a:off x="6244167" y="1179555"/>
            <a:ext cx="5583495" cy="4753025"/>
          </a:xfrm>
          <a:custGeom>
            <a:avLst/>
            <a:gdLst/>
            <a:ahLst/>
            <a:cxnLst/>
            <a:rect l="l" t="t" r="r" b="b"/>
            <a:pathLst>
              <a:path w="5583495" h="4753025">
                <a:moveTo>
                  <a:pt x="106040" y="0"/>
                </a:moveTo>
                <a:lnTo>
                  <a:pt x="5477455" y="0"/>
                </a:lnTo>
                <a:cubicBezTo>
                  <a:pt x="5536019" y="0"/>
                  <a:pt x="5583495" y="47476"/>
                  <a:pt x="5583495" y="106040"/>
                </a:cubicBezTo>
                <a:lnTo>
                  <a:pt x="5583495" y="4646985"/>
                </a:lnTo>
                <a:cubicBezTo>
                  <a:pt x="5583495" y="4705549"/>
                  <a:pt x="5536019" y="4753025"/>
                  <a:pt x="5477455" y="4753025"/>
                </a:cubicBezTo>
                <a:lnTo>
                  <a:pt x="106040" y="4753025"/>
                </a:lnTo>
                <a:cubicBezTo>
                  <a:pt x="47476" y="4753025"/>
                  <a:pt x="0" y="4705549"/>
                  <a:pt x="0" y="4646985"/>
                </a:cubicBezTo>
                <a:lnTo>
                  <a:pt x="0" y="106040"/>
                </a:lnTo>
                <a:cubicBezTo>
                  <a:pt x="0" y="47515"/>
                  <a:pt x="47515" y="0"/>
                  <a:pt x="106040"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9" name="Freeform 19"/>
          <p:cNvSpPr/>
          <p:nvPr/>
        </p:nvSpPr>
        <p:spPr>
          <a:xfrm>
            <a:off x="6464968" y="1418008"/>
            <a:ext cx="494748" cy="494748"/>
          </a:xfrm>
          <a:custGeom>
            <a:avLst/>
            <a:gdLst/>
            <a:ahLst/>
            <a:cxnLst/>
            <a:rect l="l" t="t" r="r" b="b"/>
            <a:pathLst>
              <a:path w="494748" h="494748">
                <a:moveTo>
                  <a:pt x="106020" y="0"/>
                </a:moveTo>
                <a:lnTo>
                  <a:pt x="388728" y="0"/>
                </a:lnTo>
                <a:cubicBezTo>
                  <a:pt x="447242" y="0"/>
                  <a:pt x="494748" y="47506"/>
                  <a:pt x="494748" y="106020"/>
                </a:cubicBezTo>
                <a:lnTo>
                  <a:pt x="494748" y="388728"/>
                </a:lnTo>
                <a:cubicBezTo>
                  <a:pt x="494748" y="447242"/>
                  <a:pt x="447242" y="494748"/>
                  <a:pt x="388728" y="494748"/>
                </a:cubicBezTo>
                <a:lnTo>
                  <a:pt x="106020" y="494748"/>
                </a:lnTo>
                <a:cubicBezTo>
                  <a:pt x="47506" y="494748"/>
                  <a:pt x="0" y="447242"/>
                  <a:pt x="0" y="388728"/>
                </a:cubicBezTo>
                <a:lnTo>
                  <a:pt x="0" y="106020"/>
                </a:lnTo>
                <a:cubicBezTo>
                  <a:pt x="0" y="47506"/>
                  <a:pt x="47506" y="0"/>
                  <a:pt x="106020" y="0"/>
                </a:cubicBezTo>
                <a:close/>
              </a:path>
            </a:pathLst>
          </a:custGeom>
          <a:solidFill>
            <a:srgbClr val="8B0000">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nvSpPr>
        <p:spPr>
          <a:xfrm>
            <a:off x="6619554" y="1559348"/>
            <a:ext cx="185530" cy="212035"/>
          </a:xfrm>
          <a:custGeom>
            <a:avLst/>
            <a:gdLst/>
            <a:ahLst/>
            <a:cxnLst/>
            <a:rect l="l" t="t" r="r" b="b"/>
            <a:pathLst>
              <a:path w="185530" h="212035">
                <a:moveTo>
                  <a:pt x="185530" y="85228"/>
                </a:moveTo>
                <a:cubicBezTo>
                  <a:pt x="179401" y="89287"/>
                  <a:pt x="172361" y="92558"/>
                  <a:pt x="165031" y="95167"/>
                </a:cubicBezTo>
                <a:cubicBezTo>
                  <a:pt x="145567" y="102125"/>
                  <a:pt x="120015" y="106017"/>
                  <a:pt x="92765" y="106017"/>
                </a:cubicBezTo>
                <a:cubicBezTo>
                  <a:pt x="65515" y="106017"/>
                  <a:pt x="39922" y="102083"/>
                  <a:pt x="20499" y="95167"/>
                </a:cubicBezTo>
                <a:cubicBezTo>
                  <a:pt x="13211" y="92558"/>
                  <a:pt x="6129" y="89287"/>
                  <a:pt x="0" y="85228"/>
                </a:cubicBezTo>
                <a:lnTo>
                  <a:pt x="0" y="119270"/>
                </a:lnTo>
                <a:cubicBezTo>
                  <a:pt x="0" y="137574"/>
                  <a:pt x="41537" y="152400"/>
                  <a:pt x="92765" y="152400"/>
                </a:cubicBezTo>
                <a:cubicBezTo>
                  <a:pt x="143993" y="152400"/>
                  <a:pt x="185530" y="137574"/>
                  <a:pt x="185530" y="119270"/>
                </a:cubicBezTo>
                <a:lnTo>
                  <a:pt x="185530" y="85228"/>
                </a:lnTo>
                <a:close/>
                <a:moveTo>
                  <a:pt x="185530" y="53009"/>
                </a:moveTo>
                <a:lnTo>
                  <a:pt x="185530" y="33130"/>
                </a:lnTo>
                <a:cubicBezTo>
                  <a:pt x="185530" y="14826"/>
                  <a:pt x="143993" y="0"/>
                  <a:pt x="92765" y="0"/>
                </a:cubicBezTo>
                <a:cubicBezTo>
                  <a:pt x="41537" y="0"/>
                  <a:pt x="0" y="14826"/>
                  <a:pt x="0" y="33130"/>
                </a:cubicBezTo>
                <a:lnTo>
                  <a:pt x="0" y="53009"/>
                </a:lnTo>
                <a:cubicBezTo>
                  <a:pt x="0" y="71313"/>
                  <a:pt x="41537" y="86139"/>
                  <a:pt x="92765" y="86139"/>
                </a:cubicBezTo>
                <a:cubicBezTo>
                  <a:pt x="143993" y="86139"/>
                  <a:pt x="185530" y="71313"/>
                  <a:pt x="185530" y="53009"/>
                </a:cubicBezTo>
                <a:close/>
                <a:moveTo>
                  <a:pt x="165031" y="161428"/>
                </a:moveTo>
                <a:cubicBezTo>
                  <a:pt x="145608" y="168344"/>
                  <a:pt x="120056" y="172278"/>
                  <a:pt x="92765" y="172278"/>
                </a:cubicBezTo>
                <a:cubicBezTo>
                  <a:pt x="65474" y="172278"/>
                  <a:pt x="39922" y="168344"/>
                  <a:pt x="20499" y="161428"/>
                </a:cubicBezTo>
                <a:cubicBezTo>
                  <a:pt x="13211" y="158819"/>
                  <a:pt x="6129" y="155547"/>
                  <a:pt x="0" y="151489"/>
                </a:cubicBezTo>
                <a:lnTo>
                  <a:pt x="0" y="178904"/>
                </a:lnTo>
                <a:cubicBezTo>
                  <a:pt x="0" y="197209"/>
                  <a:pt x="41537" y="212035"/>
                  <a:pt x="92765" y="212035"/>
                </a:cubicBezTo>
                <a:cubicBezTo>
                  <a:pt x="143993" y="212035"/>
                  <a:pt x="185530" y="197209"/>
                  <a:pt x="185530" y="178904"/>
                </a:cubicBezTo>
                <a:lnTo>
                  <a:pt x="185530" y="151489"/>
                </a:lnTo>
                <a:cubicBezTo>
                  <a:pt x="179401" y="155547"/>
                  <a:pt x="172361" y="158819"/>
                  <a:pt x="165031" y="16142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100998" y="1400356"/>
            <a:ext cx="1493078" cy="28271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6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Goulot mémoire</a:t>
            </a:r>
            <a:endParaRPr lang="en-US" sz="1100"/>
          </a:p>
        </p:txBody>
      </p:sp>
      <p:sp>
        <p:nvSpPr>
          <p:cNvPr id="22" name="AutoShape 22"/>
          <p:cNvSpPr/>
          <p:nvPr/>
        </p:nvSpPr>
        <p:spPr>
          <a:xfrm>
            <a:off x="7100998" y="1682966"/>
            <a:ext cx="1475409" cy="24737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Memory Bound</a:t>
            </a:r>
            <a:endParaRPr lang="en-US" sz="1100"/>
          </a:p>
        </p:txBody>
      </p:sp>
      <p:sp>
        <p:nvSpPr>
          <p:cNvPr id="23" name="Freeform 23"/>
          <p:cNvSpPr/>
          <p:nvPr/>
        </p:nvSpPr>
        <p:spPr>
          <a:xfrm>
            <a:off x="6464968" y="2655111"/>
            <a:ext cx="5141843" cy="883478"/>
          </a:xfrm>
          <a:custGeom>
            <a:avLst/>
            <a:gdLst/>
            <a:ahLst/>
            <a:cxnLst/>
            <a:rect l="l" t="t" r="r" b="b"/>
            <a:pathLst>
              <a:path w="5141843" h="883478">
                <a:moveTo>
                  <a:pt x="70678" y="0"/>
                </a:moveTo>
                <a:lnTo>
                  <a:pt x="5071165" y="0"/>
                </a:lnTo>
                <a:cubicBezTo>
                  <a:pt x="5110201" y="0"/>
                  <a:pt x="5141843" y="31645"/>
                  <a:pt x="5141843" y="70678"/>
                </a:cubicBezTo>
                <a:lnTo>
                  <a:pt x="5141843" y="812800"/>
                </a:lnTo>
                <a:cubicBezTo>
                  <a:pt x="5141843" y="851835"/>
                  <a:pt x="5110201" y="883478"/>
                  <a:pt x="5071165" y="883478"/>
                </a:cubicBezTo>
                <a:lnTo>
                  <a:pt x="70678" y="883478"/>
                </a:lnTo>
                <a:cubicBezTo>
                  <a:pt x="31645" y="883478"/>
                  <a:pt x="0" y="851835"/>
                  <a:pt x="0" y="812800"/>
                </a:cubicBezTo>
                <a:lnTo>
                  <a:pt x="0" y="70678"/>
                </a:lnTo>
                <a:cubicBezTo>
                  <a:pt x="0" y="31645"/>
                  <a:pt x="31645" y="0"/>
                  <a:pt x="70678"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4" name="AutoShape 24"/>
          <p:cNvSpPr/>
          <p:nvPr/>
        </p:nvSpPr>
        <p:spPr>
          <a:xfrm>
            <a:off x="6641465" y="2849245"/>
            <a:ext cx="2685415" cy="20637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Caractéristiques :</a:t>
            </a:r>
            <a:endParaRPr lang="en-US" sz="1100"/>
          </a:p>
        </p:txBody>
      </p:sp>
      <p:sp>
        <p:nvSpPr>
          <p:cNvPr id="25" name="AutoShape 25"/>
          <p:cNvSpPr/>
          <p:nvPr/>
        </p:nvSpPr>
        <p:spPr>
          <a:xfrm>
            <a:off x="6641608" y="3149798"/>
            <a:ext cx="4859130"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Bande passante limitée, approvisionnement en données insuffisant</a:t>
            </a:r>
            <a:endParaRPr lang="en-US" sz="1100"/>
          </a:p>
        </p:txBody>
      </p:sp>
      <p:sp>
        <p:nvSpPr>
          <p:cNvPr id="26" name="Freeform 26"/>
          <p:cNvSpPr/>
          <p:nvPr/>
        </p:nvSpPr>
        <p:spPr>
          <a:xfrm>
            <a:off x="6464968" y="3679790"/>
            <a:ext cx="5141843" cy="883478"/>
          </a:xfrm>
          <a:custGeom>
            <a:avLst/>
            <a:gdLst/>
            <a:ahLst/>
            <a:cxnLst/>
            <a:rect l="l" t="t" r="r" b="b"/>
            <a:pathLst>
              <a:path w="5141843" h="883478">
                <a:moveTo>
                  <a:pt x="70678" y="0"/>
                </a:moveTo>
                <a:lnTo>
                  <a:pt x="5071165" y="0"/>
                </a:lnTo>
                <a:cubicBezTo>
                  <a:pt x="5110201" y="0"/>
                  <a:pt x="5141843" y="31645"/>
                  <a:pt x="5141843" y="70678"/>
                </a:cubicBezTo>
                <a:lnTo>
                  <a:pt x="5141843" y="812800"/>
                </a:lnTo>
                <a:cubicBezTo>
                  <a:pt x="5141843" y="851835"/>
                  <a:pt x="5110201" y="883478"/>
                  <a:pt x="5071165" y="883478"/>
                </a:cubicBezTo>
                <a:lnTo>
                  <a:pt x="70678" y="883478"/>
                </a:lnTo>
                <a:cubicBezTo>
                  <a:pt x="31645" y="883478"/>
                  <a:pt x="0" y="851835"/>
                  <a:pt x="0" y="812800"/>
                </a:cubicBezTo>
                <a:lnTo>
                  <a:pt x="0" y="70678"/>
                </a:lnTo>
                <a:cubicBezTo>
                  <a:pt x="0" y="31645"/>
                  <a:pt x="31645" y="0"/>
                  <a:pt x="70678"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7" name="AutoShape 27"/>
          <p:cNvSpPr/>
          <p:nvPr/>
        </p:nvSpPr>
        <p:spPr>
          <a:xfrm>
            <a:off x="6641465" y="3874135"/>
            <a:ext cx="3237865" cy="20637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Direction d'optimisation :</a:t>
            </a:r>
            <a:endParaRPr lang="en-US" sz="1100"/>
          </a:p>
        </p:txBody>
      </p:sp>
      <p:sp>
        <p:nvSpPr>
          <p:cNvPr id="28" name="AutoShape 28"/>
          <p:cNvSpPr/>
          <p:nvPr/>
        </p:nvSpPr>
        <p:spPr>
          <a:xfrm>
            <a:off x="6641608" y="4174478"/>
            <a:ext cx="4859130"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Optimisation de disposition des données, optimisation Cache, Blocking</a:t>
            </a:r>
            <a:endParaRPr lang="en-US" sz="1100"/>
          </a:p>
        </p:txBody>
      </p:sp>
      <p:sp>
        <p:nvSpPr>
          <p:cNvPr id="29" name="Freeform 29"/>
          <p:cNvSpPr/>
          <p:nvPr/>
        </p:nvSpPr>
        <p:spPr>
          <a:xfrm>
            <a:off x="6482549" y="4704470"/>
            <a:ext cx="5124086" cy="494748"/>
          </a:xfrm>
          <a:custGeom>
            <a:avLst/>
            <a:gdLst/>
            <a:ahLst/>
            <a:cxnLst/>
            <a:rect l="l" t="t" r="r" b="b"/>
            <a:pathLst>
              <a:path w="5124086" h="494748">
                <a:moveTo>
                  <a:pt x="35162" y="0"/>
                </a:moveTo>
                <a:lnTo>
                  <a:pt x="5053406" y="0"/>
                </a:lnTo>
                <a:cubicBezTo>
                  <a:pt x="5092442" y="0"/>
                  <a:pt x="5124086" y="31645"/>
                  <a:pt x="5124086" y="70681"/>
                </a:cubicBezTo>
                <a:lnTo>
                  <a:pt x="5124086" y="424068"/>
                </a:lnTo>
                <a:cubicBezTo>
                  <a:pt x="5124086" y="463078"/>
                  <a:pt x="5092416" y="494748"/>
                  <a:pt x="5053406" y="494748"/>
                </a:cubicBezTo>
                <a:lnTo>
                  <a:pt x="35162" y="494748"/>
                </a:lnTo>
                <a:cubicBezTo>
                  <a:pt x="15756" y="494748"/>
                  <a:pt x="0" y="478992"/>
                  <a:pt x="0" y="459585"/>
                </a:cubicBezTo>
                <a:lnTo>
                  <a:pt x="0" y="35162"/>
                </a:lnTo>
                <a:cubicBezTo>
                  <a:pt x="0" y="15756"/>
                  <a:pt x="15756" y="0"/>
                  <a:pt x="3516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482549" y="4704470"/>
            <a:ext cx="35162" cy="494748"/>
          </a:xfrm>
          <a:custGeom>
            <a:avLst/>
            <a:gdLst/>
            <a:ahLst/>
            <a:cxnLst/>
            <a:rect l="l" t="t" r="r" b="b"/>
            <a:pathLst>
              <a:path w="35162" h="494748">
                <a:moveTo>
                  <a:pt x="35162" y="0"/>
                </a:moveTo>
                <a:lnTo>
                  <a:pt x="35162" y="0"/>
                </a:lnTo>
                <a:lnTo>
                  <a:pt x="35162" y="494748"/>
                </a:lnTo>
                <a:lnTo>
                  <a:pt x="35162" y="494748"/>
                </a:lnTo>
                <a:cubicBezTo>
                  <a:pt x="15756" y="494748"/>
                  <a:pt x="0" y="478992"/>
                  <a:pt x="0" y="459585"/>
                </a:cubicBezTo>
                <a:lnTo>
                  <a:pt x="0" y="35162"/>
                </a:lnTo>
                <a:cubicBezTo>
                  <a:pt x="0" y="15756"/>
                  <a:pt x="15756" y="0"/>
                  <a:pt x="3516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676810" y="4876576"/>
            <a:ext cx="106017" cy="145774"/>
          </a:xfrm>
          <a:custGeom>
            <a:avLst/>
            <a:gdLst/>
            <a:ahLst/>
            <a:cxnLst/>
            <a:rect l="l" t="t" r="r" b="b"/>
            <a:pathLst>
              <a:path w="106017" h="145774">
                <a:moveTo>
                  <a:pt x="80866" y="106017"/>
                </a:moveTo>
                <a:cubicBezTo>
                  <a:pt x="82881" y="99861"/>
                  <a:pt x="86912" y="94284"/>
                  <a:pt x="91468" y="89480"/>
                </a:cubicBezTo>
                <a:cubicBezTo>
                  <a:pt x="100496" y="79982"/>
                  <a:pt x="106017" y="67144"/>
                  <a:pt x="106017" y="53009"/>
                </a:cubicBezTo>
                <a:cubicBezTo>
                  <a:pt x="106017" y="23743"/>
                  <a:pt x="82274" y="0"/>
                  <a:pt x="53009" y="0"/>
                </a:cubicBezTo>
                <a:cubicBezTo>
                  <a:pt x="23743" y="0"/>
                  <a:pt x="0" y="23743"/>
                  <a:pt x="0" y="53009"/>
                </a:cubicBezTo>
                <a:cubicBezTo>
                  <a:pt x="0" y="67144"/>
                  <a:pt x="5522" y="79982"/>
                  <a:pt x="14550" y="89480"/>
                </a:cubicBezTo>
                <a:cubicBezTo>
                  <a:pt x="19105" y="94284"/>
                  <a:pt x="23164" y="99861"/>
                  <a:pt x="25152" y="106017"/>
                </a:cubicBezTo>
                <a:lnTo>
                  <a:pt x="80838" y="106017"/>
                </a:lnTo>
                <a:close/>
                <a:moveTo>
                  <a:pt x="79513" y="119270"/>
                </a:moveTo>
                <a:lnTo>
                  <a:pt x="26504" y="119270"/>
                </a:lnTo>
                <a:lnTo>
                  <a:pt x="26504" y="123687"/>
                </a:lnTo>
                <a:cubicBezTo>
                  <a:pt x="26504" y="135890"/>
                  <a:pt x="36388" y="145774"/>
                  <a:pt x="48591" y="145774"/>
                </a:cubicBezTo>
                <a:lnTo>
                  <a:pt x="57426" y="145774"/>
                </a:lnTo>
                <a:cubicBezTo>
                  <a:pt x="69629" y="145774"/>
                  <a:pt x="79513" y="135890"/>
                  <a:pt x="79513" y="123687"/>
                </a:cubicBezTo>
                <a:lnTo>
                  <a:pt x="79513" y="119270"/>
                </a:lnTo>
                <a:close/>
                <a:moveTo>
                  <a:pt x="50800" y="30922"/>
                </a:moveTo>
                <a:cubicBezTo>
                  <a:pt x="39812" y="30922"/>
                  <a:pt x="30922" y="39812"/>
                  <a:pt x="30922" y="50800"/>
                </a:cubicBezTo>
                <a:cubicBezTo>
                  <a:pt x="30922" y="54472"/>
                  <a:pt x="27968" y="57426"/>
                  <a:pt x="24296" y="57426"/>
                </a:cubicBezTo>
                <a:cubicBezTo>
                  <a:pt x="20624" y="57426"/>
                  <a:pt x="17670" y="54472"/>
                  <a:pt x="17670" y="50800"/>
                </a:cubicBezTo>
                <a:cubicBezTo>
                  <a:pt x="17670" y="32495"/>
                  <a:pt x="32495" y="17670"/>
                  <a:pt x="50800" y="17670"/>
                </a:cubicBezTo>
                <a:cubicBezTo>
                  <a:pt x="54472" y="17670"/>
                  <a:pt x="57426" y="20624"/>
                  <a:pt x="57426" y="24296"/>
                </a:cubicBezTo>
                <a:cubicBezTo>
                  <a:pt x="57426" y="27968"/>
                  <a:pt x="54472" y="30922"/>
                  <a:pt x="50800" y="3092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867334" y="4845809"/>
            <a:ext cx="4668606"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Nécessite d'améliorer l'efficacité d'accès aux données</a:t>
            </a:r>
            <a:endParaRPr lang="en-US" sz="1100"/>
          </a:p>
        </p:txBody>
      </p:sp>
      <p:sp>
        <p:nvSpPr>
          <p:cNvPr id="33" name="Freeform 33"/>
          <p:cNvSpPr/>
          <p:nvPr/>
        </p:nvSpPr>
        <p:spPr>
          <a:xfrm>
            <a:off x="370932" y="5901462"/>
            <a:ext cx="11467460" cy="600765"/>
          </a:xfrm>
          <a:custGeom>
            <a:avLst/>
            <a:gdLst/>
            <a:ahLst/>
            <a:cxnLst/>
            <a:rect l="l" t="t" r="r" b="b"/>
            <a:pathLst>
              <a:path w="11467460" h="600765">
                <a:moveTo>
                  <a:pt x="35162" y="0"/>
                </a:moveTo>
                <a:lnTo>
                  <a:pt x="11361443" y="0"/>
                </a:lnTo>
                <a:cubicBezTo>
                  <a:pt x="11419994" y="0"/>
                  <a:pt x="11467460" y="47465"/>
                  <a:pt x="11467460" y="106017"/>
                </a:cubicBezTo>
                <a:lnTo>
                  <a:pt x="11467460" y="494748"/>
                </a:lnTo>
                <a:cubicBezTo>
                  <a:pt x="11467460" y="553300"/>
                  <a:pt x="11419994" y="600765"/>
                  <a:pt x="11361443" y="600765"/>
                </a:cubicBezTo>
                <a:lnTo>
                  <a:pt x="35162" y="600765"/>
                </a:lnTo>
                <a:cubicBezTo>
                  <a:pt x="15743" y="600765"/>
                  <a:pt x="0" y="585022"/>
                  <a:pt x="0" y="565602"/>
                </a:cubicBezTo>
                <a:lnTo>
                  <a:pt x="0" y="35162"/>
                </a:lnTo>
                <a:cubicBezTo>
                  <a:pt x="0" y="15756"/>
                  <a:pt x="15756" y="0"/>
                  <a:pt x="3516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370932" y="5901462"/>
            <a:ext cx="35162" cy="600765"/>
          </a:xfrm>
          <a:custGeom>
            <a:avLst/>
            <a:gdLst/>
            <a:ahLst/>
            <a:cxnLst/>
            <a:rect l="l" t="t" r="r" b="b"/>
            <a:pathLst>
              <a:path w="35162" h="600765">
                <a:moveTo>
                  <a:pt x="35162" y="0"/>
                </a:moveTo>
                <a:lnTo>
                  <a:pt x="35162" y="0"/>
                </a:lnTo>
                <a:lnTo>
                  <a:pt x="35162" y="600765"/>
                </a:lnTo>
                <a:lnTo>
                  <a:pt x="35162" y="600765"/>
                </a:lnTo>
                <a:cubicBezTo>
                  <a:pt x="15756" y="600765"/>
                  <a:pt x="0" y="585009"/>
                  <a:pt x="0" y="565602"/>
                </a:cubicBezTo>
                <a:lnTo>
                  <a:pt x="0" y="35162"/>
                </a:lnTo>
                <a:cubicBezTo>
                  <a:pt x="0" y="15756"/>
                  <a:pt x="15756" y="0"/>
                  <a:pt x="3516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565154" y="6078106"/>
            <a:ext cx="11184835" cy="24737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Connaissance clé :</a:t>
            </a:r>
            <a:r>
              <a:rPr lang="en-US" sz="7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Différents goulots nécessitent différentes stratégies d'optimisation, identifier le type de goulot est la première étape de l'optimisation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608" y="647541"/>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Introduction au Roofline Model</a:t>
            </a:r>
            <a:endParaRPr lang="en-US" sz="1100"/>
          </a:p>
        </p:txBody>
      </p:sp>
      <p:sp>
        <p:nvSpPr>
          <p:cNvPr id="3" name="Freeform 3"/>
          <p:cNvSpPr/>
          <p:nvPr/>
        </p:nvSpPr>
        <p:spPr>
          <a:xfrm>
            <a:off x="399911" y="1195650"/>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195650"/>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24222"/>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Roofline Model</a:t>
            </a:r>
            <a:endParaRPr lang="en-US" sz="1100"/>
          </a:p>
        </p:txBody>
      </p:sp>
      <p:sp>
        <p:nvSpPr>
          <p:cNvPr id="6" name="AutoShape 6"/>
          <p:cNvSpPr/>
          <p:nvPr/>
        </p:nvSpPr>
        <p:spPr>
          <a:xfrm>
            <a:off x="647439" y="1805102"/>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Un modele d'analyse de performance visuelle</a:t>
            </a:r>
            <a:endParaRPr lang="en-US" sz="1100"/>
          </a:p>
        </p:txBody>
      </p:sp>
      <p:sp>
        <p:nvSpPr>
          <p:cNvPr id="7" name="Freeform 7"/>
          <p:cNvSpPr/>
          <p:nvPr/>
        </p:nvSpPr>
        <p:spPr>
          <a:xfrm>
            <a:off x="380956" y="2323793"/>
            <a:ext cx="5562600" cy="990600"/>
          </a:xfrm>
          <a:custGeom>
            <a:avLst/>
            <a:gdLst/>
            <a:ahLst/>
            <a:cxnLst/>
            <a:rect l="l" t="t" r="r" b="b"/>
            <a:pathLst>
              <a:path w="5562600" h="990600">
                <a:moveTo>
                  <a:pt x="114295" y="0"/>
                </a:moveTo>
                <a:lnTo>
                  <a:pt x="5448305" y="0"/>
                </a:lnTo>
                <a:cubicBezTo>
                  <a:pt x="5511386" y="0"/>
                  <a:pt x="5562600" y="51214"/>
                  <a:pt x="5562600" y="114295"/>
                </a:cubicBezTo>
                <a:lnTo>
                  <a:pt x="5562600" y="876305"/>
                </a:lnTo>
                <a:cubicBezTo>
                  <a:pt x="5562600" y="939386"/>
                  <a:pt x="5511386" y="990600"/>
                  <a:pt x="5448305" y="990600"/>
                </a:cubicBezTo>
                <a:lnTo>
                  <a:pt x="114295" y="990600"/>
                </a:lnTo>
                <a:cubicBezTo>
                  <a:pt x="51214" y="990600"/>
                  <a:pt x="0" y="939386"/>
                  <a:pt x="0" y="876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571396" y="2537617"/>
            <a:ext cx="1857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Auteurs :</a:t>
            </a: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Berkeley Lab</a:t>
            </a:r>
            <a:endParaRPr lang="en-US" sz="1100"/>
          </a:p>
        </p:txBody>
      </p:sp>
      <p:sp>
        <p:nvSpPr>
          <p:cNvPr id="9" name="AutoShape 9"/>
          <p:cNvSpPr/>
          <p:nvPr/>
        </p:nvSpPr>
        <p:spPr>
          <a:xfrm>
            <a:off x="571396" y="2895191"/>
            <a:ext cx="5257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Laboratoire national de Lawrence Berkeley</a:t>
            </a:r>
            <a:endParaRPr lang="en-US" sz="1100"/>
          </a:p>
        </p:txBody>
      </p:sp>
      <p:sp>
        <p:nvSpPr>
          <p:cNvPr id="10" name="AutoShape 10"/>
          <p:cNvSpPr/>
          <p:nvPr/>
        </p:nvSpPr>
        <p:spPr>
          <a:xfrm>
            <a:off x="380956" y="3962530"/>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Role principal</a:t>
            </a:r>
            <a:endParaRPr lang="en-US" sz="1100"/>
          </a:p>
        </p:txBody>
      </p:sp>
      <p:sp>
        <p:nvSpPr>
          <p:cNvPr id="11" name="Freeform 11"/>
          <p:cNvSpPr/>
          <p:nvPr/>
        </p:nvSpPr>
        <p:spPr>
          <a:xfrm>
            <a:off x="380956" y="4419609"/>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533338" y="4571991"/>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47608" y="4686235"/>
            <a:ext cx="153323" cy="153352"/>
          </a:xfrm>
          <a:custGeom>
            <a:avLst/>
            <a:gdLst/>
            <a:ahLst/>
            <a:cxnLst/>
            <a:rect l="l" t="t" r="r" b="b"/>
            <a:pathLst>
              <a:path w="153323" h="153352">
                <a:moveTo>
                  <a:pt x="123825" y="61913"/>
                </a:moveTo>
                <a:cubicBezTo>
                  <a:pt x="123825" y="75575"/>
                  <a:pt x="119390" y="88196"/>
                  <a:pt x="111919" y="98435"/>
                </a:cubicBezTo>
                <a:lnTo>
                  <a:pt x="149602" y="136148"/>
                </a:lnTo>
                <a:cubicBezTo>
                  <a:pt x="153323" y="139869"/>
                  <a:pt x="153323" y="145912"/>
                  <a:pt x="149602" y="149631"/>
                </a:cubicBezTo>
                <a:cubicBezTo>
                  <a:pt x="145881" y="153353"/>
                  <a:pt x="139838" y="153353"/>
                  <a:pt x="136119" y="149631"/>
                </a:cubicBezTo>
                <a:lnTo>
                  <a:pt x="98435" y="111919"/>
                </a:lnTo>
                <a:cubicBezTo>
                  <a:pt x="88196" y="119390"/>
                  <a:pt x="75575" y="123825"/>
                  <a:pt x="61912" y="123825"/>
                </a:cubicBezTo>
                <a:cubicBezTo>
                  <a:pt x="27711" y="123825"/>
                  <a:pt x="0" y="96114"/>
                  <a:pt x="0" y="61913"/>
                </a:cubicBezTo>
                <a:cubicBezTo>
                  <a:pt x="0" y="27711"/>
                  <a:pt x="27711" y="0"/>
                  <a:pt x="61912" y="0"/>
                </a:cubicBezTo>
                <a:cubicBezTo>
                  <a:pt x="96114" y="0"/>
                  <a:pt x="123825" y="27711"/>
                  <a:pt x="123825" y="61913"/>
                </a:cubicBezTo>
                <a:close/>
                <a:moveTo>
                  <a:pt x="61912" y="104775"/>
                </a:moveTo>
                <a:cubicBezTo>
                  <a:pt x="85569" y="104775"/>
                  <a:pt x="104775" y="85569"/>
                  <a:pt x="104775" y="61913"/>
                </a:cubicBezTo>
                <a:cubicBezTo>
                  <a:pt x="104775" y="38256"/>
                  <a:pt x="85569" y="19050"/>
                  <a:pt x="61912" y="19050"/>
                </a:cubicBezTo>
                <a:cubicBezTo>
                  <a:pt x="38256" y="19050"/>
                  <a:pt x="19050" y="38256"/>
                  <a:pt x="19050" y="61913"/>
                </a:cubicBezTo>
                <a:cubicBezTo>
                  <a:pt x="19050" y="85569"/>
                  <a:pt x="38256" y="104775"/>
                  <a:pt x="61912" y="1047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066676" y="4571991"/>
            <a:ext cx="31813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Identifier les goulots d'etranglement</a:t>
            </a:r>
            <a:endParaRPr lang="en-US" sz="1100"/>
          </a:p>
        </p:txBody>
      </p:sp>
      <p:sp>
        <p:nvSpPr>
          <p:cNvPr id="15" name="AutoShape 15"/>
          <p:cNvSpPr/>
          <p:nvPr/>
        </p:nvSpPr>
        <p:spPr>
          <a:xfrm>
            <a:off x="1066676" y="4838691"/>
            <a:ext cx="31718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Determiner Compute Bound ou Memory Bound</a:t>
            </a:r>
            <a:endParaRPr lang="en-US" sz="1100"/>
          </a:p>
        </p:txBody>
      </p:sp>
      <p:sp>
        <p:nvSpPr>
          <p:cNvPr id="16" name="Freeform 16"/>
          <p:cNvSpPr/>
          <p:nvPr/>
        </p:nvSpPr>
        <p:spPr>
          <a:xfrm>
            <a:off x="380956" y="5333898"/>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533338" y="5486279"/>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47608" y="560053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91291" y="96768"/>
                </a:moveTo>
                <a:lnTo>
                  <a:pt x="48339" y="113288"/>
                </a:lnTo>
                <a:cubicBezTo>
                  <a:pt x="42565" y="115520"/>
                  <a:pt x="36880" y="109835"/>
                  <a:pt x="39112" y="104061"/>
                </a:cubicBezTo>
                <a:lnTo>
                  <a:pt x="55632" y="61109"/>
                </a:lnTo>
                <a:cubicBezTo>
                  <a:pt x="56614" y="58579"/>
                  <a:pt x="58579" y="56614"/>
                  <a:pt x="61109" y="55632"/>
                </a:cubicBezTo>
                <a:lnTo>
                  <a:pt x="104061" y="39112"/>
                </a:lnTo>
                <a:cubicBezTo>
                  <a:pt x="109835" y="36880"/>
                  <a:pt x="115520" y="42565"/>
                  <a:pt x="113288" y="48339"/>
                </a:cubicBezTo>
                <a:lnTo>
                  <a:pt x="96768" y="91291"/>
                </a:lnTo>
                <a:cubicBezTo>
                  <a:pt x="95816" y="93821"/>
                  <a:pt x="93821" y="95786"/>
                  <a:pt x="91291" y="96768"/>
                </a:cubicBezTo>
                <a:close/>
                <a:moveTo>
                  <a:pt x="85725" y="76200"/>
                </a:moveTo>
                <a:cubicBezTo>
                  <a:pt x="85725" y="70943"/>
                  <a:pt x="81457" y="66675"/>
                  <a:pt x="76200" y="66675"/>
                </a:cubicBezTo>
                <a:cubicBezTo>
                  <a:pt x="70943" y="66675"/>
                  <a:pt x="66675" y="70943"/>
                  <a:pt x="66675" y="76200"/>
                </a:cubicBezTo>
                <a:cubicBezTo>
                  <a:pt x="66675" y="81457"/>
                  <a:pt x="70943" y="85725"/>
                  <a:pt x="76200" y="85725"/>
                </a:cubicBezTo>
                <a:cubicBezTo>
                  <a:pt x="81457" y="85725"/>
                  <a:pt x="85725" y="81457"/>
                  <a:pt x="85725" y="7620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1066676" y="5486279"/>
            <a:ext cx="1914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7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Guider les orientations d'optimisation</a:t>
            </a:r>
            <a:endParaRPr lang="en-US" sz="1100"/>
          </a:p>
        </p:txBody>
      </p:sp>
      <p:sp>
        <p:nvSpPr>
          <p:cNvPr id="20" name="AutoShape 20"/>
          <p:cNvSpPr/>
          <p:nvPr/>
        </p:nvSpPr>
        <p:spPr>
          <a:xfrm>
            <a:off x="1066800" y="5753100"/>
            <a:ext cx="35623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Choisir des strategies d'optimisation selon le type de goulot</a:t>
            </a:r>
            <a:endParaRPr lang="en-US" sz="1100"/>
          </a:p>
        </p:txBody>
      </p:sp>
      <p:sp>
        <p:nvSpPr>
          <p:cNvPr id="21" name="Freeform 21"/>
          <p:cNvSpPr/>
          <p:nvPr/>
        </p:nvSpPr>
        <p:spPr>
          <a:xfrm>
            <a:off x="6248338" y="990488"/>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t="19" b="19"/>
          <a:stretch>
            <a:fillRect/>
          </a:stretch>
        </p:blipFill>
        <p:spPr>
          <a:xfrm>
            <a:off x="6400720" y="1399208"/>
            <a:ext cx="5257800" cy="4019550"/>
          </a:xfrm>
          <a:prstGeom prst="roundRect">
            <a:avLst>
              <a:gd name="adj" fmla="val 0"/>
            </a:avLst>
          </a:prstGeom>
          <a:ln w="12700">
            <a:noFill/>
            <a:prstDash val="solid"/>
          </a:ln>
        </p:spPr>
      </p:pic>
      <p:sp>
        <p:nvSpPr>
          <p:cNvPr id="23" name="AutoShape 23"/>
          <p:cNvSpPr/>
          <p:nvPr/>
        </p:nvSpPr>
        <p:spPr>
          <a:xfrm>
            <a:off x="6210238" y="590537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NERSC - Roofline Performance Model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7479" y="627026"/>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Les axes du modele Roofline</a:t>
            </a:r>
            <a:endParaRPr lang="en-US" sz="1100"/>
          </a:p>
        </p:txBody>
      </p:sp>
      <p:sp>
        <p:nvSpPr>
          <p:cNvPr id="3" name="Freeform 3"/>
          <p:cNvSpPr/>
          <p:nvPr/>
        </p:nvSpPr>
        <p:spPr>
          <a:xfrm>
            <a:off x="390433" y="1281318"/>
            <a:ext cx="5543455" cy="2495455"/>
          </a:xfrm>
          <a:custGeom>
            <a:avLst/>
            <a:gdLst/>
            <a:ahLst/>
            <a:cxnLst/>
            <a:rect l="l" t="t" r="r" b="b"/>
            <a:pathLst>
              <a:path w="5543455" h="2495455">
                <a:moveTo>
                  <a:pt x="114292" y="0"/>
                </a:moveTo>
                <a:lnTo>
                  <a:pt x="5429162" y="0"/>
                </a:lnTo>
                <a:cubicBezTo>
                  <a:pt x="5492285" y="0"/>
                  <a:pt x="5543455" y="51170"/>
                  <a:pt x="5543455" y="114292"/>
                </a:cubicBezTo>
                <a:lnTo>
                  <a:pt x="5543455" y="2381162"/>
                </a:lnTo>
                <a:cubicBezTo>
                  <a:pt x="5543455" y="2444285"/>
                  <a:pt x="5492285" y="2495455"/>
                  <a:pt x="5429162" y="2495455"/>
                </a:cubicBezTo>
                <a:lnTo>
                  <a:pt x="114292" y="2495455"/>
                </a:lnTo>
                <a:cubicBezTo>
                  <a:pt x="51170" y="2495455"/>
                  <a:pt x="0" y="2444285"/>
                  <a:pt x="0" y="2381162"/>
                </a:cubicBezTo>
                <a:lnTo>
                  <a:pt x="0" y="114292"/>
                </a:lnTo>
                <a:cubicBezTo>
                  <a:pt x="0" y="51211"/>
                  <a:pt x="51211" y="0"/>
                  <a:pt x="114292"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628484" y="1519369"/>
            <a:ext cx="533400" cy="533400"/>
          </a:xfrm>
          <a:custGeom>
            <a:avLst/>
            <a:gdLst/>
            <a:ahLst/>
            <a:cxnLst/>
            <a:rect l="l" t="t" r="r" b="b"/>
            <a:pathLst>
              <a:path w="533400" h="533400">
                <a:moveTo>
                  <a:pt x="114303" y="0"/>
                </a:moveTo>
                <a:lnTo>
                  <a:pt x="419097" y="0"/>
                </a:lnTo>
                <a:cubicBezTo>
                  <a:pt x="482183" y="0"/>
                  <a:pt x="533400" y="51217"/>
                  <a:pt x="533400" y="114303"/>
                </a:cubicBezTo>
                <a:lnTo>
                  <a:pt x="533400" y="419097"/>
                </a:lnTo>
                <a:cubicBezTo>
                  <a:pt x="533400" y="482183"/>
                  <a:pt x="482183" y="533400"/>
                  <a:pt x="419097" y="533400"/>
                </a:cubicBezTo>
                <a:lnTo>
                  <a:pt x="114303" y="533400"/>
                </a:lnTo>
                <a:cubicBezTo>
                  <a:pt x="51217" y="533400"/>
                  <a:pt x="0" y="482183"/>
                  <a:pt x="0" y="419097"/>
                </a:cubicBezTo>
                <a:lnTo>
                  <a:pt x="0" y="114303"/>
                </a:lnTo>
                <a:cubicBezTo>
                  <a:pt x="0" y="51217"/>
                  <a:pt x="51217" y="0"/>
                  <a:pt x="114303" y="0"/>
                </a:cubicBezTo>
                <a:close/>
              </a:path>
            </a:pathLst>
          </a:custGeom>
          <a:solidFill>
            <a:srgbClr val="8B0000">
              <a:alpha val="100000"/>
            </a:srgbClr>
          </a:solidFill>
          <a:ln w="12700">
            <a:noFill/>
            <a:prstDash val="solid"/>
          </a:ln>
          <a:effectLst>
            <a:outerShdw blurRad="50800" dist="381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779476" y="1670590"/>
            <a:ext cx="231413" cy="230877"/>
          </a:xfrm>
          <a:custGeom>
            <a:avLst/>
            <a:gdLst/>
            <a:ahLst/>
            <a:cxnLst/>
            <a:rect l="l" t="t" r="r" b="b"/>
            <a:pathLst>
              <a:path w="231413" h="230877">
                <a:moveTo>
                  <a:pt x="225787" y="182702"/>
                </a:moveTo>
                <a:lnTo>
                  <a:pt x="182925" y="225564"/>
                </a:lnTo>
                <a:cubicBezTo>
                  <a:pt x="178817" y="229672"/>
                  <a:pt x="172699" y="230877"/>
                  <a:pt x="167343" y="228645"/>
                </a:cubicBezTo>
                <a:cubicBezTo>
                  <a:pt x="161984" y="226412"/>
                  <a:pt x="158546" y="221233"/>
                  <a:pt x="158546" y="215474"/>
                </a:cubicBezTo>
                <a:lnTo>
                  <a:pt x="158546" y="186898"/>
                </a:lnTo>
                <a:lnTo>
                  <a:pt x="15672" y="186898"/>
                </a:lnTo>
                <a:cubicBezTo>
                  <a:pt x="7770" y="186898"/>
                  <a:pt x="1384" y="180514"/>
                  <a:pt x="1384" y="172611"/>
                </a:cubicBezTo>
                <a:cubicBezTo>
                  <a:pt x="1384" y="164708"/>
                  <a:pt x="7770" y="158324"/>
                  <a:pt x="15672" y="158324"/>
                </a:cubicBezTo>
                <a:lnTo>
                  <a:pt x="158546" y="158324"/>
                </a:lnTo>
                <a:lnTo>
                  <a:pt x="158546" y="129748"/>
                </a:lnTo>
                <a:cubicBezTo>
                  <a:pt x="158546" y="123989"/>
                  <a:pt x="162029" y="118766"/>
                  <a:pt x="167387" y="116533"/>
                </a:cubicBezTo>
                <a:cubicBezTo>
                  <a:pt x="172745" y="114300"/>
                  <a:pt x="178861" y="115550"/>
                  <a:pt x="182969" y="119613"/>
                </a:cubicBezTo>
                <a:lnTo>
                  <a:pt x="225832" y="162476"/>
                </a:lnTo>
                <a:cubicBezTo>
                  <a:pt x="231413" y="168057"/>
                  <a:pt x="231413" y="177119"/>
                  <a:pt x="225832" y="182702"/>
                </a:cubicBezTo>
                <a:close/>
                <a:moveTo>
                  <a:pt x="5581" y="68402"/>
                </a:moveTo>
                <a:cubicBezTo>
                  <a:pt x="0" y="62819"/>
                  <a:pt x="0" y="53757"/>
                  <a:pt x="5581" y="48176"/>
                </a:cubicBezTo>
                <a:lnTo>
                  <a:pt x="48443" y="5313"/>
                </a:lnTo>
                <a:cubicBezTo>
                  <a:pt x="52551" y="1205"/>
                  <a:pt x="58669" y="0"/>
                  <a:pt x="64025" y="2233"/>
                </a:cubicBezTo>
                <a:cubicBezTo>
                  <a:pt x="69384" y="4466"/>
                  <a:pt x="72822" y="9689"/>
                  <a:pt x="72822" y="15448"/>
                </a:cubicBezTo>
                <a:lnTo>
                  <a:pt x="72822" y="44024"/>
                </a:lnTo>
                <a:lnTo>
                  <a:pt x="215696" y="44024"/>
                </a:lnTo>
                <a:cubicBezTo>
                  <a:pt x="223598" y="44024"/>
                  <a:pt x="229984" y="50408"/>
                  <a:pt x="229984" y="58311"/>
                </a:cubicBezTo>
                <a:cubicBezTo>
                  <a:pt x="229984" y="66214"/>
                  <a:pt x="223598" y="72598"/>
                  <a:pt x="215696" y="72598"/>
                </a:cubicBezTo>
                <a:lnTo>
                  <a:pt x="72822" y="72598"/>
                </a:lnTo>
                <a:lnTo>
                  <a:pt x="72822" y="101174"/>
                </a:lnTo>
                <a:cubicBezTo>
                  <a:pt x="72822" y="106933"/>
                  <a:pt x="69339" y="112156"/>
                  <a:pt x="63981" y="114389"/>
                </a:cubicBezTo>
                <a:cubicBezTo>
                  <a:pt x="58623" y="116622"/>
                  <a:pt x="52507" y="115372"/>
                  <a:pt x="48399" y="111309"/>
                </a:cubicBezTo>
                <a:lnTo>
                  <a:pt x="5536" y="68446"/>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314204" y="1633688"/>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3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Axe horizontal</a:t>
            </a:r>
            <a:endParaRPr lang="en-US" sz="1100"/>
          </a:p>
        </p:txBody>
      </p:sp>
      <p:sp>
        <p:nvSpPr>
          <p:cNvPr id="7" name="Freeform 7"/>
          <p:cNvSpPr/>
          <p:nvPr/>
        </p:nvSpPr>
        <p:spPr>
          <a:xfrm>
            <a:off x="628484" y="2205086"/>
            <a:ext cx="5067300" cy="1333500"/>
          </a:xfrm>
          <a:custGeom>
            <a:avLst/>
            <a:gdLst/>
            <a:ahLst/>
            <a:cxnLst/>
            <a:rect l="l" t="t" r="r" b="b"/>
            <a:pathLst>
              <a:path w="5067300" h="1333500">
                <a:moveTo>
                  <a:pt x="76196" y="0"/>
                </a:moveTo>
                <a:lnTo>
                  <a:pt x="4991104" y="0"/>
                </a:lnTo>
                <a:cubicBezTo>
                  <a:pt x="5033187" y="0"/>
                  <a:pt x="5067300" y="34113"/>
                  <a:pt x="5067300" y="76196"/>
                </a:cubicBezTo>
                <a:lnTo>
                  <a:pt x="5067300" y="1257304"/>
                </a:lnTo>
                <a:cubicBezTo>
                  <a:pt x="5067300" y="1299387"/>
                  <a:pt x="5033187" y="1333500"/>
                  <a:pt x="4991104" y="1333500"/>
                </a:cubicBezTo>
                <a:lnTo>
                  <a:pt x="76196" y="1333500"/>
                </a:lnTo>
                <a:cubicBezTo>
                  <a:pt x="34113" y="1333500"/>
                  <a:pt x="0" y="1299387"/>
                  <a:pt x="0" y="1257304"/>
                </a:cubicBezTo>
                <a:lnTo>
                  <a:pt x="0" y="76196"/>
                </a:lnTo>
                <a:cubicBezTo>
                  <a:pt x="0" y="34141"/>
                  <a:pt x="34141" y="0"/>
                  <a:pt x="76196"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8" name="AutoShape 8"/>
          <p:cNvSpPr/>
          <p:nvPr/>
        </p:nvSpPr>
        <p:spPr>
          <a:xfrm>
            <a:off x="818925" y="2395530"/>
            <a:ext cx="4781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Arithmetic Intensity</a:t>
            </a:r>
            <a:endParaRPr lang="en-US" sz="1100"/>
          </a:p>
        </p:txBody>
      </p:sp>
      <p:sp>
        <p:nvSpPr>
          <p:cNvPr id="9" name="AutoShape 9"/>
          <p:cNvSpPr/>
          <p:nvPr/>
        </p:nvSpPr>
        <p:spPr>
          <a:xfrm>
            <a:off x="818925" y="2738421"/>
            <a:ext cx="4772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FLOPs / Byte</a:t>
            </a:r>
            <a:endParaRPr lang="en-US" sz="1100"/>
          </a:p>
        </p:txBody>
      </p:sp>
      <p:sp>
        <p:nvSpPr>
          <p:cNvPr id="10" name="AutoShape 10"/>
          <p:cNvSpPr/>
          <p:nvPr/>
        </p:nvSpPr>
        <p:spPr>
          <a:xfrm>
            <a:off x="818925" y="3119383"/>
            <a:ext cx="4762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Intensite arithmetique : nombre d'operations flottantes par octet de donnees</a:t>
            </a:r>
            <a:endParaRPr lang="en-US" sz="1100"/>
          </a:p>
        </p:txBody>
      </p:sp>
      <p:sp>
        <p:nvSpPr>
          <p:cNvPr id="11" name="Freeform 11"/>
          <p:cNvSpPr/>
          <p:nvPr/>
        </p:nvSpPr>
        <p:spPr>
          <a:xfrm>
            <a:off x="390433" y="3910683"/>
            <a:ext cx="5543455" cy="2495455"/>
          </a:xfrm>
          <a:custGeom>
            <a:avLst/>
            <a:gdLst/>
            <a:ahLst/>
            <a:cxnLst/>
            <a:rect l="l" t="t" r="r" b="b"/>
            <a:pathLst>
              <a:path w="5543455" h="2495455">
                <a:moveTo>
                  <a:pt x="114292" y="0"/>
                </a:moveTo>
                <a:lnTo>
                  <a:pt x="5429162" y="0"/>
                </a:lnTo>
                <a:cubicBezTo>
                  <a:pt x="5492285" y="0"/>
                  <a:pt x="5543455" y="51170"/>
                  <a:pt x="5543455" y="114292"/>
                </a:cubicBezTo>
                <a:lnTo>
                  <a:pt x="5543455" y="2381162"/>
                </a:lnTo>
                <a:cubicBezTo>
                  <a:pt x="5543455" y="2444285"/>
                  <a:pt x="5492285" y="2495455"/>
                  <a:pt x="5429162" y="2495455"/>
                </a:cubicBezTo>
                <a:lnTo>
                  <a:pt x="114292" y="2495455"/>
                </a:lnTo>
                <a:cubicBezTo>
                  <a:pt x="51170" y="2495455"/>
                  <a:pt x="0" y="2444285"/>
                  <a:pt x="0" y="2381162"/>
                </a:cubicBezTo>
                <a:lnTo>
                  <a:pt x="0" y="114292"/>
                </a:lnTo>
                <a:cubicBezTo>
                  <a:pt x="0" y="51211"/>
                  <a:pt x="51211" y="0"/>
                  <a:pt x="114292"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2" name="Freeform 12"/>
          <p:cNvSpPr/>
          <p:nvPr/>
        </p:nvSpPr>
        <p:spPr>
          <a:xfrm>
            <a:off x="628484" y="4148735"/>
            <a:ext cx="533400" cy="533400"/>
          </a:xfrm>
          <a:custGeom>
            <a:avLst/>
            <a:gdLst/>
            <a:ahLst/>
            <a:cxnLst/>
            <a:rect l="l" t="t" r="r" b="b"/>
            <a:pathLst>
              <a:path w="533400" h="533400">
                <a:moveTo>
                  <a:pt x="114303" y="0"/>
                </a:moveTo>
                <a:lnTo>
                  <a:pt x="419097" y="0"/>
                </a:lnTo>
                <a:cubicBezTo>
                  <a:pt x="482183" y="0"/>
                  <a:pt x="533400" y="51217"/>
                  <a:pt x="533400" y="114303"/>
                </a:cubicBezTo>
                <a:lnTo>
                  <a:pt x="533400" y="419097"/>
                </a:lnTo>
                <a:cubicBezTo>
                  <a:pt x="533400" y="482183"/>
                  <a:pt x="482183" y="533400"/>
                  <a:pt x="419097" y="533400"/>
                </a:cubicBezTo>
                <a:lnTo>
                  <a:pt x="114303" y="533400"/>
                </a:lnTo>
                <a:cubicBezTo>
                  <a:pt x="51217" y="533400"/>
                  <a:pt x="0" y="482183"/>
                  <a:pt x="0" y="419097"/>
                </a:cubicBezTo>
                <a:lnTo>
                  <a:pt x="0" y="114303"/>
                </a:lnTo>
                <a:cubicBezTo>
                  <a:pt x="0" y="51217"/>
                  <a:pt x="51217" y="0"/>
                  <a:pt x="114303" y="0"/>
                </a:cubicBezTo>
                <a:close/>
              </a:path>
            </a:pathLst>
          </a:custGeom>
          <a:solidFill>
            <a:srgbClr val="8B0000">
              <a:alpha val="100000"/>
            </a:srgbClr>
          </a:solidFill>
          <a:ln w="12700">
            <a:noFill/>
            <a:prstDash val="solid"/>
          </a:ln>
          <a:effectLst>
            <a:outerShdw blurRad="50800" dist="381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779699" y="4299732"/>
            <a:ext cx="230877" cy="231413"/>
          </a:xfrm>
          <a:custGeom>
            <a:avLst/>
            <a:gdLst/>
            <a:ahLst/>
            <a:cxnLst/>
            <a:rect l="l" t="t" r="r" b="b"/>
            <a:pathLst>
              <a:path w="230877" h="231413">
                <a:moveTo>
                  <a:pt x="182702" y="225787"/>
                </a:moveTo>
                <a:lnTo>
                  <a:pt x="225564" y="182925"/>
                </a:lnTo>
                <a:cubicBezTo>
                  <a:pt x="229672" y="178817"/>
                  <a:pt x="230877" y="172699"/>
                  <a:pt x="228645" y="167343"/>
                </a:cubicBezTo>
                <a:cubicBezTo>
                  <a:pt x="226412" y="161984"/>
                  <a:pt x="221233" y="158546"/>
                  <a:pt x="215473" y="158546"/>
                </a:cubicBezTo>
                <a:lnTo>
                  <a:pt x="186899" y="158546"/>
                </a:lnTo>
                <a:lnTo>
                  <a:pt x="186899" y="15672"/>
                </a:lnTo>
                <a:cubicBezTo>
                  <a:pt x="186899" y="7770"/>
                  <a:pt x="180514" y="1384"/>
                  <a:pt x="172611" y="1384"/>
                </a:cubicBezTo>
                <a:cubicBezTo>
                  <a:pt x="164708" y="1384"/>
                  <a:pt x="158323" y="7770"/>
                  <a:pt x="158323" y="15672"/>
                </a:cubicBezTo>
                <a:lnTo>
                  <a:pt x="158323" y="158546"/>
                </a:lnTo>
                <a:lnTo>
                  <a:pt x="129749" y="158546"/>
                </a:lnTo>
                <a:cubicBezTo>
                  <a:pt x="123989" y="158546"/>
                  <a:pt x="118766" y="162029"/>
                  <a:pt x="116533" y="167387"/>
                </a:cubicBezTo>
                <a:cubicBezTo>
                  <a:pt x="114300" y="172745"/>
                  <a:pt x="115550" y="178861"/>
                  <a:pt x="119613" y="182969"/>
                </a:cubicBezTo>
                <a:lnTo>
                  <a:pt x="162476" y="225832"/>
                </a:lnTo>
                <a:cubicBezTo>
                  <a:pt x="168057" y="231413"/>
                  <a:pt x="177119" y="231413"/>
                  <a:pt x="182702" y="225832"/>
                </a:cubicBezTo>
                <a:close/>
                <a:moveTo>
                  <a:pt x="68402" y="5581"/>
                </a:moveTo>
                <a:cubicBezTo>
                  <a:pt x="62819" y="0"/>
                  <a:pt x="53757" y="0"/>
                  <a:pt x="48176" y="5581"/>
                </a:cubicBezTo>
                <a:lnTo>
                  <a:pt x="5313" y="48443"/>
                </a:lnTo>
                <a:cubicBezTo>
                  <a:pt x="1205" y="52551"/>
                  <a:pt x="0" y="58669"/>
                  <a:pt x="2233" y="64025"/>
                </a:cubicBezTo>
                <a:cubicBezTo>
                  <a:pt x="4466" y="69384"/>
                  <a:pt x="9689" y="72822"/>
                  <a:pt x="15449" y="72822"/>
                </a:cubicBezTo>
                <a:lnTo>
                  <a:pt x="44023" y="72822"/>
                </a:lnTo>
                <a:lnTo>
                  <a:pt x="44023" y="215696"/>
                </a:lnTo>
                <a:cubicBezTo>
                  <a:pt x="44023" y="223598"/>
                  <a:pt x="50408" y="229984"/>
                  <a:pt x="58311" y="229984"/>
                </a:cubicBezTo>
                <a:cubicBezTo>
                  <a:pt x="66214" y="229984"/>
                  <a:pt x="72599" y="223598"/>
                  <a:pt x="72599" y="215696"/>
                </a:cubicBezTo>
                <a:lnTo>
                  <a:pt x="72599" y="72822"/>
                </a:lnTo>
                <a:lnTo>
                  <a:pt x="101173" y="72822"/>
                </a:lnTo>
                <a:cubicBezTo>
                  <a:pt x="106933" y="72822"/>
                  <a:pt x="112156" y="69339"/>
                  <a:pt x="114389" y="63981"/>
                </a:cubicBezTo>
                <a:cubicBezTo>
                  <a:pt x="116622" y="58623"/>
                  <a:pt x="115372" y="52507"/>
                  <a:pt x="111309" y="48399"/>
                </a:cubicBezTo>
                <a:lnTo>
                  <a:pt x="68446" y="5536"/>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314204" y="4263062"/>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Axe vertical</a:t>
            </a:r>
            <a:endParaRPr lang="en-US" sz="1100"/>
          </a:p>
        </p:txBody>
      </p:sp>
      <p:sp>
        <p:nvSpPr>
          <p:cNvPr id="15" name="Freeform 15"/>
          <p:cNvSpPr/>
          <p:nvPr/>
        </p:nvSpPr>
        <p:spPr>
          <a:xfrm>
            <a:off x="628484" y="4834460"/>
            <a:ext cx="5067300" cy="1333500"/>
          </a:xfrm>
          <a:custGeom>
            <a:avLst/>
            <a:gdLst/>
            <a:ahLst/>
            <a:cxnLst/>
            <a:rect l="l" t="t" r="r" b="b"/>
            <a:pathLst>
              <a:path w="5067300" h="1333500">
                <a:moveTo>
                  <a:pt x="76196" y="0"/>
                </a:moveTo>
                <a:lnTo>
                  <a:pt x="4991104" y="0"/>
                </a:lnTo>
                <a:cubicBezTo>
                  <a:pt x="5033187" y="0"/>
                  <a:pt x="5067300" y="34113"/>
                  <a:pt x="5067300" y="76196"/>
                </a:cubicBezTo>
                <a:lnTo>
                  <a:pt x="5067300" y="1257304"/>
                </a:lnTo>
                <a:cubicBezTo>
                  <a:pt x="5067300" y="1299387"/>
                  <a:pt x="5033187" y="1333500"/>
                  <a:pt x="4991104" y="1333500"/>
                </a:cubicBezTo>
                <a:lnTo>
                  <a:pt x="76196" y="1333500"/>
                </a:lnTo>
                <a:cubicBezTo>
                  <a:pt x="34113" y="1333500"/>
                  <a:pt x="0" y="1299387"/>
                  <a:pt x="0" y="1257304"/>
                </a:cubicBezTo>
                <a:lnTo>
                  <a:pt x="0" y="76196"/>
                </a:lnTo>
                <a:cubicBezTo>
                  <a:pt x="0" y="34141"/>
                  <a:pt x="34141" y="0"/>
                  <a:pt x="76196"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6" name="AutoShape 16"/>
          <p:cNvSpPr/>
          <p:nvPr/>
        </p:nvSpPr>
        <p:spPr>
          <a:xfrm>
            <a:off x="818925" y="5024895"/>
            <a:ext cx="4781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Performance</a:t>
            </a:r>
            <a:endParaRPr lang="en-US" sz="1100"/>
          </a:p>
        </p:txBody>
      </p:sp>
      <p:sp>
        <p:nvSpPr>
          <p:cNvPr id="17" name="AutoShape 17"/>
          <p:cNvSpPr/>
          <p:nvPr/>
        </p:nvSpPr>
        <p:spPr>
          <a:xfrm>
            <a:off x="818925" y="5367795"/>
            <a:ext cx="4772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FLOPS</a:t>
            </a:r>
            <a:endParaRPr lang="en-US" sz="1100"/>
          </a:p>
        </p:txBody>
      </p:sp>
      <p:sp>
        <p:nvSpPr>
          <p:cNvPr id="18" name="AutoShape 18"/>
          <p:cNvSpPr/>
          <p:nvPr/>
        </p:nvSpPr>
        <p:spPr>
          <a:xfrm>
            <a:off x="818925" y="5748749"/>
            <a:ext cx="4762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Performance : nombre d'operations flottantes par seconde</a:t>
            </a:r>
            <a:endParaRPr lang="en-US" sz="1100"/>
          </a:p>
        </p:txBody>
      </p:sp>
      <p:sp>
        <p:nvSpPr>
          <p:cNvPr id="19" name="Freeform 19"/>
          <p:cNvSpPr/>
          <p:nvPr/>
        </p:nvSpPr>
        <p:spPr>
          <a:xfrm>
            <a:off x="6248338" y="990488"/>
            <a:ext cx="5562600" cy="4905375"/>
          </a:xfrm>
          <a:custGeom>
            <a:avLst/>
            <a:gdLst/>
            <a:ahLst/>
            <a:cxnLst/>
            <a:rect l="l" t="t" r="r" b="b"/>
            <a:pathLst>
              <a:path w="5562600" h="4905375">
                <a:moveTo>
                  <a:pt x="76180" y="0"/>
                </a:moveTo>
                <a:lnTo>
                  <a:pt x="5486420" y="0"/>
                </a:lnTo>
                <a:cubicBezTo>
                  <a:pt x="5528493" y="0"/>
                  <a:pt x="5562600" y="34107"/>
                  <a:pt x="5562600" y="76180"/>
                </a:cubicBezTo>
                <a:lnTo>
                  <a:pt x="5562600" y="4829195"/>
                </a:lnTo>
                <a:cubicBezTo>
                  <a:pt x="5562600" y="4871268"/>
                  <a:pt x="5528493" y="4905375"/>
                  <a:pt x="5486420" y="4905375"/>
                </a:cubicBezTo>
                <a:lnTo>
                  <a:pt x="76180" y="4905375"/>
                </a:lnTo>
                <a:cubicBezTo>
                  <a:pt x="34107" y="4905375"/>
                  <a:pt x="0" y="4871268"/>
                  <a:pt x="0" y="4829195"/>
                </a:cubicBezTo>
                <a:lnTo>
                  <a:pt x="0" y="76180"/>
                </a:lnTo>
                <a:cubicBezTo>
                  <a:pt x="0" y="34135"/>
                  <a:pt x="34135" y="0"/>
                  <a:pt x="7618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0" name="Picture 20"/>
          <p:cNvPicPr>
            <a:picLocks noChangeAspect="1"/>
          </p:cNvPicPr>
          <p:nvPr/>
        </p:nvPicPr>
        <p:blipFill>
          <a:blip r:embed="rId1"/>
          <a:srcRect t="24" b="24"/>
          <a:stretch>
            <a:fillRect/>
          </a:stretch>
        </p:blipFill>
        <p:spPr>
          <a:xfrm>
            <a:off x="6400720" y="1142870"/>
            <a:ext cx="5257800" cy="4600575"/>
          </a:xfrm>
          <a:prstGeom prst="roundRect">
            <a:avLst>
              <a:gd name="adj" fmla="val 0"/>
            </a:avLst>
          </a:prstGeom>
          <a:ln w="12700">
            <a:noFill/>
            <a:prstDash val="solid"/>
          </a:ln>
        </p:spPr>
      </p:pic>
      <p:sp>
        <p:nvSpPr>
          <p:cNvPr id="21" name="AutoShape 21"/>
          <p:cNvSpPr/>
          <p:nvPr/>
        </p:nvSpPr>
        <p:spPr>
          <a:xfrm>
            <a:off x="6210238" y="597438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NERSC - Roofline Hierarchy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9894" y="632887"/>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Les deux contraintes du modele Roofline</a:t>
            </a:r>
            <a:endParaRPr lang="en-US" sz="1100"/>
          </a:p>
        </p:txBody>
      </p:sp>
      <p:sp>
        <p:nvSpPr>
          <p:cNvPr id="3" name="Freeform 3"/>
          <p:cNvSpPr/>
          <p:nvPr/>
        </p:nvSpPr>
        <p:spPr>
          <a:xfrm>
            <a:off x="399911" y="1658704"/>
            <a:ext cx="5543455" cy="1524000"/>
          </a:xfrm>
          <a:custGeom>
            <a:avLst/>
            <a:gdLst/>
            <a:ahLst/>
            <a:cxnLst/>
            <a:rect l="l" t="t" r="r" b="b"/>
            <a:pathLst>
              <a:path w="5543455" h="1524000">
                <a:moveTo>
                  <a:pt x="37909" y="0"/>
                </a:moveTo>
                <a:lnTo>
                  <a:pt x="5429155" y="0"/>
                </a:lnTo>
                <a:cubicBezTo>
                  <a:pt x="5492239" y="0"/>
                  <a:pt x="5543455" y="51217"/>
                  <a:pt x="5543455" y="114300"/>
                </a:cubicBezTo>
                <a:lnTo>
                  <a:pt x="5543455" y="1409700"/>
                </a:lnTo>
                <a:cubicBezTo>
                  <a:pt x="5543455" y="1472783"/>
                  <a:pt x="5492239" y="1524000"/>
                  <a:pt x="5429155" y="1524000"/>
                </a:cubicBezTo>
                <a:lnTo>
                  <a:pt x="37909" y="1524000"/>
                </a:lnTo>
                <a:cubicBezTo>
                  <a:pt x="16974" y="1524000"/>
                  <a:pt x="0" y="1507026"/>
                  <a:pt x="0" y="1486090"/>
                </a:cubicBezTo>
                <a:lnTo>
                  <a:pt x="0" y="37910"/>
                </a:lnTo>
                <a:cubicBezTo>
                  <a:pt x="0" y="16988"/>
                  <a:pt x="16988" y="0"/>
                  <a:pt x="37909" y="0"/>
                </a:cubicBezTo>
                <a:close/>
              </a:path>
            </a:pathLst>
          </a:custGeom>
          <a:gradFill rotWithShape="1">
            <a:gsLst>
              <a:gs pos="0">
                <a:srgbClr val="EFF6FF">
                  <a:alpha val="100000"/>
                </a:srgbClr>
              </a:gs>
              <a:gs pos="100000">
                <a:srgbClr val="FFFF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658704"/>
            <a:ext cx="37909" cy="1524000"/>
          </a:xfrm>
          <a:custGeom>
            <a:avLst/>
            <a:gdLst/>
            <a:ahLst/>
            <a:cxnLst/>
            <a:rect l="l" t="t" r="r" b="b"/>
            <a:pathLst>
              <a:path w="37909" h="1524000">
                <a:moveTo>
                  <a:pt x="37909" y="0"/>
                </a:moveTo>
                <a:lnTo>
                  <a:pt x="37909" y="0"/>
                </a:lnTo>
                <a:lnTo>
                  <a:pt x="37909" y="1524000"/>
                </a:lnTo>
                <a:lnTo>
                  <a:pt x="37909" y="1524000"/>
                </a:lnTo>
                <a:cubicBezTo>
                  <a:pt x="16974" y="1524000"/>
                  <a:pt x="0" y="1507026"/>
                  <a:pt x="0" y="1486090"/>
                </a:cubicBezTo>
                <a:lnTo>
                  <a:pt x="0" y="37910"/>
                </a:lnTo>
                <a:cubicBezTo>
                  <a:pt x="0" y="16988"/>
                  <a:pt x="16988" y="0"/>
                  <a:pt x="37909" y="0"/>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609307" y="1849139"/>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79089" y="1944361"/>
            <a:ext cx="209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7" name="AutoShape 7"/>
          <p:cNvSpPr/>
          <p:nvPr/>
        </p:nvSpPr>
        <p:spPr>
          <a:xfrm>
            <a:off x="1180703" y="1944361"/>
            <a:ext cx="15811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 Line</a:t>
            </a:r>
            <a:endParaRPr lang="en-US" sz="1100"/>
          </a:p>
        </p:txBody>
      </p:sp>
      <p:sp>
        <p:nvSpPr>
          <p:cNvPr id="8" name="AutoShape 8"/>
          <p:cNvSpPr/>
          <p:nvPr/>
        </p:nvSpPr>
        <p:spPr>
          <a:xfrm>
            <a:off x="609307" y="2420537"/>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Limite Memory</a:t>
            </a:r>
            <a:endParaRPr lang="en-US" sz="1100"/>
          </a:p>
        </p:txBody>
      </p:sp>
      <p:sp>
        <p:nvSpPr>
          <p:cNvPr id="9" name="AutoShape 9"/>
          <p:cNvSpPr/>
          <p:nvPr/>
        </p:nvSpPr>
        <p:spPr>
          <a:xfrm>
            <a:off x="609307" y="2763437"/>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Ligne diagonale, representant la limite de bande passante memoire</a:t>
            </a:r>
            <a:endParaRPr lang="en-US" sz="1100"/>
          </a:p>
        </p:txBody>
      </p:sp>
      <p:sp>
        <p:nvSpPr>
          <p:cNvPr id="10" name="Freeform 10"/>
          <p:cNvSpPr/>
          <p:nvPr/>
        </p:nvSpPr>
        <p:spPr>
          <a:xfrm>
            <a:off x="399911" y="3334835"/>
            <a:ext cx="5543455" cy="1524000"/>
          </a:xfrm>
          <a:custGeom>
            <a:avLst/>
            <a:gdLst/>
            <a:ahLst/>
            <a:cxnLst/>
            <a:rect l="l" t="t" r="r" b="b"/>
            <a:pathLst>
              <a:path w="5543455" h="1524000">
                <a:moveTo>
                  <a:pt x="37909" y="0"/>
                </a:moveTo>
                <a:lnTo>
                  <a:pt x="5429155" y="0"/>
                </a:lnTo>
                <a:cubicBezTo>
                  <a:pt x="5492239" y="0"/>
                  <a:pt x="5543455" y="51217"/>
                  <a:pt x="5543455" y="114300"/>
                </a:cubicBezTo>
                <a:lnTo>
                  <a:pt x="5543455" y="1409700"/>
                </a:lnTo>
                <a:cubicBezTo>
                  <a:pt x="5543455" y="1472783"/>
                  <a:pt x="5492239" y="1524000"/>
                  <a:pt x="5429155" y="1524000"/>
                </a:cubicBezTo>
                <a:lnTo>
                  <a:pt x="37909" y="1524000"/>
                </a:lnTo>
                <a:cubicBezTo>
                  <a:pt x="16974" y="1524000"/>
                  <a:pt x="0" y="1507026"/>
                  <a:pt x="0" y="1486091"/>
                </a:cubicBezTo>
                <a:lnTo>
                  <a:pt x="0" y="37909"/>
                </a:lnTo>
                <a:cubicBezTo>
                  <a:pt x="0" y="16988"/>
                  <a:pt x="16988" y="0"/>
                  <a:pt x="37909" y="0"/>
                </a:cubicBezTo>
                <a:close/>
              </a:path>
            </a:pathLst>
          </a:custGeom>
          <a:gradFill rotWithShape="1">
            <a:gsLst>
              <a:gs pos="0">
                <a:srgbClr val="FEF2F2">
                  <a:alpha val="100000"/>
                </a:srgbClr>
              </a:gs>
              <a:gs pos="100000">
                <a:srgbClr val="FFFF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399911" y="3334835"/>
            <a:ext cx="37909" cy="1524000"/>
          </a:xfrm>
          <a:custGeom>
            <a:avLst/>
            <a:gdLst/>
            <a:ahLst/>
            <a:cxnLst/>
            <a:rect l="l" t="t" r="r" b="b"/>
            <a:pathLst>
              <a:path w="37909" h="1524000">
                <a:moveTo>
                  <a:pt x="37909" y="0"/>
                </a:moveTo>
                <a:lnTo>
                  <a:pt x="37909" y="0"/>
                </a:lnTo>
                <a:lnTo>
                  <a:pt x="37909" y="1524000"/>
                </a:lnTo>
                <a:lnTo>
                  <a:pt x="37909" y="1524000"/>
                </a:lnTo>
                <a:cubicBezTo>
                  <a:pt x="16974" y="1524000"/>
                  <a:pt x="0" y="1507026"/>
                  <a:pt x="0" y="1486091"/>
                </a:cubicBezTo>
                <a:lnTo>
                  <a:pt x="0" y="37909"/>
                </a:lnTo>
                <a:cubicBezTo>
                  <a:pt x="0" y="16988"/>
                  <a:pt x="16988" y="0"/>
                  <a:pt x="37909"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09307" y="3525270"/>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79089" y="3620492"/>
            <a:ext cx="209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4" name="AutoShape 14"/>
          <p:cNvSpPr/>
          <p:nvPr/>
        </p:nvSpPr>
        <p:spPr>
          <a:xfrm>
            <a:off x="1180703" y="3620492"/>
            <a:ext cx="1495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Roof</a:t>
            </a:r>
            <a:endParaRPr lang="en-US" sz="1100"/>
          </a:p>
        </p:txBody>
      </p:sp>
      <p:sp>
        <p:nvSpPr>
          <p:cNvPr id="15" name="AutoShape 15"/>
          <p:cNvSpPr/>
          <p:nvPr/>
        </p:nvSpPr>
        <p:spPr>
          <a:xfrm>
            <a:off x="609307" y="4096667"/>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Limite de capacite de calcul</a:t>
            </a:r>
            <a:endParaRPr lang="en-US" sz="1100"/>
          </a:p>
        </p:txBody>
      </p:sp>
      <p:sp>
        <p:nvSpPr>
          <p:cNvPr id="16" name="AutoShape 16"/>
          <p:cNvSpPr/>
          <p:nvPr/>
        </p:nvSpPr>
        <p:spPr>
          <a:xfrm>
            <a:off x="609307" y="4439567"/>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Ligne horizontale, representant la performance de pointe theorique</a:t>
            </a:r>
            <a:endParaRPr lang="en-US" sz="1100"/>
          </a:p>
        </p:txBody>
      </p:sp>
      <p:sp>
        <p:nvSpPr>
          <p:cNvPr id="17" name="Freeform 17"/>
          <p:cNvSpPr/>
          <p:nvPr/>
        </p:nvSpPr>
        <p:spPr>
          <a:xfrm>
            <a:off x="399911" y="5486353"/>
            <a:ext cx="5543455" cy="647700"/>
          </a:xfrm>
          <a:custGeom>
            <a:avLst/>
            <a:gdLst/>
            <a:ahLst/>
            <a:cxnLst/>
            <a:rect l="l" t="t" r="r" b="b"/>
            <a:pathLst>
              <a:path w="5543455" h="647700">
                <a:moveTo>
                  <a:pt x="37909" y="0"/>
                </a:moveTo>
                <a:lnTo>
                  <a:pt x="5429156" y="0"/>
                </a:lnTo>
                <a:cubicBezTo>
                  <a:pt x="5492281" y="0"/>
                  <a:pt x="5543455" y="51173"/>
                  <a:pt x="5543455" y="114300"/>
                </a:cubicBezTo>
                <a:lnTo>
                  <a:pt x="5543455" y="533400"/>
                </a:lnTo>
                <a:cubicBezTo>
                  <a:pt x="5543455" y="596527"/>
                  <a:pt x="5492281" y="647700"/>
                  <a:pt x="5429156" y="647700"/>
                </a:cubicBezTo>
                <a:lnTo>
                  <a:pt x="37909" y="647700"/>
                </a:lnTo>
                <a:cubicBezTo>
                  <a:pt x="16974" y="647700"/>
                  <a:pt x="0" y="630726"/>
                  <a:pt x="0" y="609791"/>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399911" y="5486353"/>
            <a:ext cx="37909" cy="647700"/>
          </a:xfrm>
          <a:custGeom>
            <a:avLst/>
            <a:gdLst/>
            <a:ahLst/>
            <a:cxnLst/>
            <a:rect l="l" t="t" r="r" b="b"/>
            <a:pathLst>
              <a:path w="37909" h="647700">
                <a:moveTo>
                  <a:pt x="37909" y="0"/>
                </a:moveTo>
                <a:lnTo>
                  <a:pt x="37909" y="0"/>
                </a:lnTo>
                <a:lnTo>
                  <a:pt x="37909" y="647700"/>
                </a:lnTo>
                <a:lnTo>
                  <a:pt x="37909" y="647700"/>
                </a:lnTo>
                <a:cubicBezTo>
                  <a:pt x="16974" y="647700"/>
                  <a:pt x="0" y="630726"/>
                  <a:pt x="0" y="609791"/>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09307" y="5676798"/>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7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Contrainte cle :</a:t>
            </a:r>
            <a:r>
              <a:rPr lang="en-US" sz="87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la performance du programme ne peut pas depasser ces deux lignes</a:t>
            </a:r>
            <a:endParaRPr lang="en-US" sz="1100"/>
          </a:p>
        </p:txBody>
      </p:sp>
      <p:sp>
        <p:nvSpPr>
          <p:cNvPr id="20" name="Freeform 20"/>
          <p:cNvSpPr/>
          <p:nvPr/>
        </p:nvSpPr>
        <p:spPr>
          <a:xfrm>
            <a:off x="6248338" y="990488"/>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1" name="Picture 21"/>
          <p:cNvPicPr>
            <a:picLocks noChangeAspect="1"/>
          </p:cNvPicPr>
          <p:nvPr/>
        </p:nvPicPr>
        <p:blipFill>
          <a:blip r:embed="rId1"/>
          <a:srcRect t="8" b="9"/>
          <a:stretch>
            <a:fillRect/>
          </a:stretch>
        </p:blipFill>
        <p:spPr>
          <a:xfrm>
            <a:off x="6400720" y="1218614"/>
            <a:ext cx="5257800" cy="4381500"/>
          </a:xfrm>
          <a:prstGeom prst="roundRect">
            <a:avLst>
              <a:gd name="adj" fmla="val 0"/>
            </a:avLst>
          </a:prstGeom>
          <a:ln w="12700">
            <a:noFill/>
            <a:prstDash val="solid"/>
          </a:ln>
        </p:spPr>
      </p:pic>
      <p:sp>
        <p:nvSpPr>
          <p:cNvPr id="22" name="AutoShape 22"/>
          <p:cNvSpPr/>
          <p:nvPr/>
        </p:nvSpPr>
        <p:spPr>
          <a:xfrm>
            <a:off x="6210238" y="590537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JAX-ML - Roofline Model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1617" y="618267"/>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Exemple d'intensité arithmétique</a:t>
            </a:r>
            <a:endParaRPr lang="en-US" sz="1100"/>
          </a:p>
        </p:txBody>
      </p:sp>
      <p:sp>
        <p:nvSpPr>
          <p:cNvPr id="3" name="AutoShape 3"/>
          <p:cNvSpPr/>
          <p:nvPr/>
        </p:nvSpPr>
        <p:spPr>
          <a:xfrm>
            <a:off x="380956" y="1389082"/>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Multiplication matricielle</a:t>
            </a:r>
            <a:endParaRPr lang="en-US" sz="1100"/>
          </a:p>
        </p:txBody>
      </p:sp>
      <p:sp>
        <p:nvSpPr>
          <p:cNvPr id="4" name="Freeform 4"/>
          <p:cNvSpPr/>
          <p:nvPr/>
        </p:nvSpPr>
        <p:spPr>
          <a:xfrm>
            <a:off x="380956" y="1846152"/>
            <a:ext cx="5562600" cy="914400"/>
          </a:xfrm>
          <a:custGeom>
            <a:avLst/>
            <a:gdLst/>
            <a:ahLst/>
            <a:cxnLst/>
            <a:rect l="l" t="t" r="r" b="b"/>
            <a:pathLst>
              <a:path w="5562600" h="914400">
                <a:moveTo>
                  <a:pt x="76197" y="0"/>
                </a:moveTo>
                <a:lnTo>
                  <a:pt x="5486403" y="0"/>
                </a:lnTo>
                <a:cubicBezTo>
                  <a:pt x="5528485" y="0"/>
                  <a:pt x="5562600" y="34115"/>
                  <a:pt x="5562600" y="76197"/>
                </a:cubicBezTo>
                <a:lnTo>
                  <a:pt x="5562600" y="838203"/>
                </a:lnTo>
                <a:cubicBezTo>
                  <a:pt x="5562600" y="880285"/>
                  <a:pt x="5528485" y="914400"/>
                  <a:pt x="5486403" y="914400"/>
                </a:cubicBezTo>
                <a:lnTo>
                  <a:pt x="76197" y="914400"/>
                </a:lnTo>
                <a:cubicBezTo>
                  <a:pt x="34115" y="914400"/>
                  <a:pt x="0" y="880285"/>
                  <a:pt x="0" y="8382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33338" y="1998534"/>
            <a:ext cx="5343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Volume de calcul</a:t>
            </a:r>
            <a:endParaRPr lang="en-US" sz="1100"/>
          </a:p>
        </p:txBody>
      </p:sp>
      <p:sp>
        <p:nvSpPr>
          <p:cNvPr id="6" name="AutoShape 6"/>
          <p:cNvSpPr/>
          <p:nvPr/>
        </p:nvSpPr>
        <p:spPr>
          <a:xfrm>
            <a:off x="533338" y="2303296"/>
            <a:ext cx="5372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O(n³)</a:t>
            </a:r>
            <a:endParaRPr lang="en-US" sz="1100"/>
          </a:p>
        </p:txBody>
      </p:sp>
      <p:sp>
        <p:nvSpPr>
          <p:cNvPr id="7" name="Freeform 7"/>
          <p:cNvSpPr/>
          <p:nvPr/>
        </p:nvSpPr>
        <p:spPr>
          <a:xfrm>
            <a:off x="380956" y="2912748"/>
            <a:ext cx="5562600" cy="914400"/>
          </a:xfrm>
          <a:custGeom>
            <a:avLst/>
            <a:gdLst/>
            <a:ahLst/>
            <a:cxnLst/>
            <a:rect l="l" t="t" r="r" b="b"/>
            <a:pathLst>
              <a:path w="5562600" h="914400">
                <a:moveTo>
                  <a:pt x="76197" y="0"/>
                </a:moveTo>
                <a:lnTo>
                  <a:pt x="5486403" y="0"/>
                </a:lnTo>
                <a:cubicBezTo>
                  <a:pt x="5528485" y="0"/>
                  <a:pt x="5562600" y="34115"/>
                  <a:pt x="5562600" y="76197"/>
                </a:cubicBezTo>
                <a:lnTo>
                  <a:pt x="5562600" y="838203"/>
                </a:lnTo>
                <a:cubicBezTo>
                  <a:pt x="5562600" y="880285"/>
                  <a:pt x="5528485" y="914400"/>
                  <a:pt x="5486403" y="914400"/>
                </a:cubicBezTo>
                <a:lnTo>
                  <a:pt x="76197" y="914400"/>
                </a:lnTo>
                <a:cubicBezTo>
                  <a:pt x="34115" y="914400"/>
                  <a:pt x="0" y="880285"/>
                  <a:pt x="0" y="8382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533338" y="3065138"/>
            <a:ext cx="5343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Volume de données</a:t>
            </a:r>
            <a:endParaRPr lang="en-US" sz="1100"/>
          </a:p>
        </p:txBody>
      </p:sp>
      <p:sp>
        <p:nvSpPr>
          <p:cNvPr id="9" name="AutoShape 9"/>
          <p:cNvSpPr/>
          <p:nvPr/>
        </p:nvSpPr>
        <p:spPr>
          <a:xfrm>
            <a:off x="533338" y="3369901"/>
            <a:ext cx="5372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O(n²)</a:t>
            </a:r>
            <a:endParaRPr lang="en-US" sz="1100"/>
          </a:p>
        </p:txBody>
      </p:sp>
      <p:sp>
        <p:nvSpPr>
          <p:cNvPr id="10" name="Freeform 10"/>
          <p:cNvSpPr/>
          <p:nvPr/>
        </p:nvSpPr>
        <p:spPr>
          <a:xfrm>
            <a:off x="399911" y="4055543"/>
            <a:ext cx="5543455" cy="990600"/>
          </a:xfrm>
          <a:custGeom>
            <a:avLst/>
            <a:gdLst/>
            <a:ahLst/>
            <a:cxnLst/>
            <a:rect l="l" t="t" r="r" b="b"/>
            <a:pathLst>
              <a:path w="5543455" h="990600">
                <a:moveTo>
                  <a:pt x="37909" y="0"/>
                </a:moveTo>
                <a:lnTo>
                  <a:pt x="5429160" y="0"/>
                </a:lnTo>
                <a:cubicBezTo>
                  <a:pt x="5492241" y="0"/>
                  <a:pt x="5543455" y="51214"/>
                  <a:pt x="5543455" y="114295"/>
                </a:cubicBezTo>
                <a:lnTo>
                  <a:pt x="5543455" y="876305"/>
                </a:lnTo>
                <a:cubicBezTo>
                  <a:pt x="5543455" y="939386"/>
                  <a:pt x="5492241" y="990600"/>
                  <a:pt x="5429160" y="990600"/>
                </a:cubicBezTo>
                <a:lnTo>
                  <a:pt x="37909" y="990600"/>
                </a:lnTo>
                <a:cubicBezTo>
                  <a:pt x="16974" y="990600"/>
                  <a:pt x="0" y="973626"/>
                  <a:pt x="0" y="952690"/>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399911" y="4055543"/>
            <a:ext cx="37909" cy="990600"/>
          </a:xfrm>
          <a:custGeom>
            <a:avLst/>
            <a:gdLst/>
            <a:ahLst/>
            <a:cxnLst/>
            <a:rect l="l" t="t" r="r" b="b"/>
            <a:pathLst>
              <a:path w="37909" h="990600">
                <a:moveTo>
                  <a:pt x="37909" y="0"/>
                </a:moveTo>
                <a:lnTo>
                  <a:pt x="37909" y="0"/>
                </a:lnTo>
                <a:lnTo>
                  <a:pt x="37909" y="990600"/>
                </a:lnTo>
                <a:lnTo>
                  <a:pt x="37909" y="990600"/>
                </a:lnTo>
                <a:cubicBezTo>
                  <a:pt x="16974" y="990600"/>
                  <a:pt x="0" y="973626"/>
                  <a:pt x="0" y="9526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09307" y="4245987"/>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Donc : l'intensité arithmétique</a:t>
            </a:r>
            <a:r>
              <a:rPr lang="en-US" sz="88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est très élevée</a:t>
            </a:r>
            <a:endParaRPr lang="en-US" sz="1100"/>
          </a:p>
        </p:txBody>
      </p:sp>
      <p:sp>
        <p:nvSpPr>
          <p:cNvPr id="13" name="AutoShape 13"/>
          <p:cNvSpPr/>
          <p:nvPr/>
        </p:nvSpPr>
        <p:spPr>
          <a:xfrm>
            <a:off x="609307" y="4588887"/>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O(n³) / O(n²) = O(n)</a:t>
            </a:r>
            <a:endParaRPr lang="en-US" sz="1100"/>
          </a:p>
        </p:txBody>
      </p:sp>
      <p:sp>
        <p:nvSpPr>
          <p:cNvPr id="14" name="Freeform 14"/>
          <p:cNvSpPr/>
          <p:nvPr/>
        </p:nvSpPr>
        <p:spPr>
          <a:xfrm>
            <a:off x="399911" y="5486353"/>
            <a:ext cx="5543455" cy="647700"/>
          </a:xfrm>
          <a:custGeom>
            <a:avLst/>
            <a:gdLst/>
            <a:ahLst/>
            <a:cxnLst/>
            <a:rect l="l" t="t" r="r" b="b"/>
            <a:pathLst>
              <a:path w="5543455" h="647700">
                <a:moveTo>
                  <a:pt x="37909" y="0"/>
                </a:moveTo>
                <a:lnTo>
                  <a:pt x="5429156" y="0"/>
                </a:lnTo>
                <a:cubicBezTo>
                  <a:pt x="5492281" y="0"/>
                  <a:pt x="5543455" y="51173"/>
                  <a:pt x="5543455" y="114300"/>
                </a:cubicBezTo>
                <a:lnTo>
                  <a:pt x="5543455" y="533400"/>
                </a:lnTo>
                <a:cubicBezTo>
                  <a:pt x="5543455" y="596527"/>
                  <a:pt x="5492281" y="647700"/>
                  <a:pt x="5429156" y="647700"/>
                </a:cubicBezTo>
                <a:lnTo>
                  <a:pt x="37909" y="647700"/>
                </a:lnTo>
                <a:cubicBezTo>
                  <a:pt x="16974" y="647700"/>
                  <a:pt x="0" y="630726"/>
                  <a:pt x="0" y="609791"/>
                </a:cubicBezTo>
                <a:lnTo>
                  <a:pt x="0" y="37909"/>
                </a:lnTo>
                <a:cubicBezTo>
                  <a:pt x="0" y="16988"/>
                  <a:pt x="16988" y="0"/>
                  <a:pt x="3790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9911" y="5486353"/>
            <a:ext cx="37909" cy="647700"/>
          </a:xfrm>
          <a:custGeom>
            <a:avLst/>
            <a:gdLst/>
            <a:ahLst/>
            <a:cxnLst/>
            <a:rect l="l" t="t" r="r" b="b"/>
            <a:pathLst>
              <a:path w="37909" h="647700">
                <a:moveTo>
                  <a:pt x="37909" y="0"/>
                </a:moveTo>
                <a:lnTo>
                  <a:pt x="37909" y="0"/>
                </a:lnTo>
                <a:lnTo>
                  <a:pt x="37909" y="647700"/>
                </a:lnTo>
                <a:lnTo>
                  <a:pt x="37909" y="647700"/>
                </a:lnTo>
                <a:cubicBezTo>
                  <a:pt x="16974" y="647700"/>
                  <a:pt x="0" y="630726"/>
                  <a:pt x="0" y="609791"/>
                </a:cubicBezTo>
                <a:lnTo>
                  <a:pt x="0" y="37909"/>
                </a:lnTo>
                <a:cubicBezTo>
                  <a:pt x="0" y="16988"/>
                  <a:pt x="16988" y="0"/>
                  <a:pt x="3790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09307" y="5676788"/>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 :</a:t>
            </a:r>
            <a:r>
              <a:rPr lang="en-US" sz="8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plus probablement </a:t>
            </a:r>
            <a:r>
              <a:rPr lang="en-US" sz="885" b="1" i="0" u="none" strike="noStrike">
                <a:solidFill>
                  <a:srgbClr val="00A63E"/>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Bound</a:t>
            </a:r>
            <a:endParaRPr lang="en-US" sz="1100"/>
          </a:p>
        </p:txBody>
      </p:sp>
      <p:sp>
        <p:nvSpPr>
          <p:cNvPr id="17" name="Freeform 17"/>
          <p:cNvSpPr/>
          <p:nvPr/>
        </p:nvSpPr>
        <p:spPr>
          <a:xfrm>
            <a:off x="6248338" y="990488"/>
            <a:ext cx="5562600" cy="5438775"/>
          </a:xfrm>
          <a:custGeom>
            <a:avLst/>
            <a:gdLst/>
            <a:ahLst/>
            <a:cxnLst/>
            <a:rect l="l" t="t" r="r" b="b"/>
            <a:pathLst>
              <a:path w="5562600" h="5438775">
                <a:moveTo>
                  <a:pt x="76197" y="0"/>
                </a:moveTo>
                <a:lnTo>
                  <a:pt x="5486403" y="0"/>
                </a:lnTo>
                <a:cubicBezTo>
                  <a:pt x="5528485" y="0"/>
                  <a:pt x="5562600" y="34115"/>
                  <a:pt x="5562600" y="76197"/>
                </a:cubicBezTo>
                <a:lnTo>
                  <a:pt x="5562600" y="5362578"/>
                </a:lnTo>
                <a:cubicBezTo>
                  <a:pt x="5562600" y="5404660"/>
                  <a:pt x="5528485" y="5438775"/>
                  <a:pt x="5486403" y="5438775"/>
                </a:cubicBezTo>
                <a:lnTo>
                  <a:pt x="76197" y="5438775"/>
                </a:lnTo>
                <a:cubicBezTo>
                  <a:pt x="34115" y="5438775"/>
                  <a:pt x="0" y="5404660"/>
                  <a:pt x="0" y="5362578"/>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18" name="Picture 18"/>
          <p:cNvPicPr>
            <a:picLocks noChangeAspect="1"/>
          </p:cNvPicPr>
          <p:nvPr/>
        </p:nvPicPr>
        <p:blipFill>
          <a:blip r:embed="rId1"/>
          <a:srcRect/>
          <a:stretch>
            <a:fillRect/>
          </a:stretch>
        </p:blipFill>
        <p:spPr>
          <a:xfrm>
            <a:off x="7043791" y="1142870"/>
            <a:ext cx="3971925" cy="5133975"/>
          </a:xfrm>
          <a:prstGeom prst="roundRect">
            <a:avLst>
              <a:gd name="adj" fmla="val 0"/>
            </a:avLst>
          </a:prstGeom>
          <a:ln w="12700">
            <a:noFill/>
            <a:prstDash val="solid"/>
          </a:ln>
        </p:spPr>
      </p:pic>
      <p:sp>
        <p:nvSpPr>
          <p:cNvPr id="19" name="AutoShape 19"/>
          <p:cNvSpPr/>
          <p:nvPr/>
        </p:nvSpPr>
        <p:spPr>
          <a:xfrm>
            <a:off x="6210238" y="6505268"/>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 Eli Bendersky - Matrix Multiplication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705" y="615294"/>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Exemple Memory Bound</a:t>
            </a:r>
            <a:endParaRPr lang="en-US" sz="1100"/>
          </a:p>
        </p:txBody>
      </p:sp>
      <p:sp>
        <p:nvSpPr>
          <p:cNvPr id="3" name="AutoShape 3"/>
          <p:cNvSpPr/>
          <p:nvPr/>
        </p:nvSpPr>
        <p:spPr>
          <a:xfrm>
            <a:off x="380956" y="1131161"/>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Addition vectorielle</a:t>
            </a:r>
            <a:endParaRPr lang="en-US" sz="1100"/>
          </a:p>
        </p:txBody>
      </p:sp>
      <p:sp>
        <p:nvSpPr>
          <p:cNvPr id="4" name="Freeform 4"/>
          <p:cNvSpPr/>
          <p:nvPr/>
        </p:nvSpPr>
        <p:spPr>
          <a:xfrm>
            <a:off x="380956" y="1605824"/>
            <a:ext cx="5562600" cy="1504950"/>
          </a:xfrm>
          <a:custGeom>
            <a:avLst/>
            <a:gdLst/>
            <a:ahLst/>
            <a:cxnLst/>
            <a:rect l="l" t="t" r="r" b="b"/>
            <a:pathLst>
              <a:path w="5562600" h="1504950">
                <a:moveTo>
                  <a:pt x="114301" y="0"/>
                </a:moveTo>
                <a:lnTo>
                  <a:pt x="5448299" y="0"/>
                </a:lnTo>
                <a:cubicBezTo>
                  <a:pt x="5511427" y="0"/>
                  <a:pt x="5562600" y="51173"/>
                  <a:pt x="5562600" y="114301"/>
                </a:cubicBezTo>
                <a:lnTo>
                  <a:pt x="5562600" y="1390649"/>
                </a:lnTo>
                <a:cubicBezTo>
                  <a:pt x="5562600" y="1453777"/>
                  <a:pt x="5511427" y="1504950"/>
                  <a:pt x="5448299" y="1504950"/>
                </a:cubicBezTo>
                <a:lnTo>
                  <a:pt x="114301" y="1504950"/>
                </a:lnTo>
                <a:cubicBezTo>
                  <a:pt x="51173" y="1504950"/>
                  <a:pt x="0" y="1453777"/>
                  <a:pt x="0" y="1390649"/>
                </a:cubicBezTo>
                <a:lnTo>
                  <a:pt x="0" y="114301"/>
                </a:lnTo>
                <a:cubicBezTo>
                  <a:pt x="0" y="51217"/>
                  <a:pt x="51217" y="0"/>
                  <a:pt x="11430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71396" y="1796259"/>
            <a:ext cx="5276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C[i] = A[i] + B[i]</a:t>
            </a:r>
            <a:endParaRPr lang="en-US" sz="1100"/>
          </a:p>
        </p:txBody>
      </p:sp>
      <p:sp>
        <p:nvSpPr>
          <p:cNvPr id="6" name="Freeform 6"/>
          <p:cNvSpPr/>
          <p:nvPr/>
        </p:nvSpPr>
        <p:spPr>
          <a:xfrm>
            <a:off x="571396" y="2186699"/>
            <a:ext cx="5181600" cy="18955"/>
          </a:xfrm>
          <a:custGeom>
            <a:avLst/>
            <a:gdLst/>
            <a:ahLst/>
            <a:cxnLst/>
            <a:rect l="l" t="t" r="r" b="b"/>
            <a:pathLst>
              <a:path w="5181600" h="18955">
                <a:moveTo>
                  <a:pt x="0" y="0"/>
                </a:moveTo>
                <a:lnTo>
                  <a:pt x="5181600" y="0"/>
                </a:lnTo>
                <a:lnTo>
                  <a:pt x="5181600" y="18955"/>
                </a:lnTo>
                <a:lnTo>
                  <a:pt x="0" y="18955"/>
                </a:lnTo>
                <a:lnTo>
                  <a:pt x="0" y="0"/>
                </a:lnTo>
                <a:close/>
              </a:path>
            </a:pathLst>
          </a:custGeom>
          <a:solidFill>
            <a:srgbClr val="D1D5DC">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71396" y="2310423"/>
            <a:ext cx="5267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Opération :</a:t>
            </a: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 addition</a:t>
            </a:r>
            <a:endParaRPr lang="en-US" sz="1100"/>
          </a:p>
        </p:txBody>
      </p:sp>
      <p:sp>
        <p:nvSpPr>
          <p:cNvPr id="8" name="AutoShape 8"/>
          <p:cNvSpPr/>
          <p:nvPr/>
        </p:nvSpPr>
        <p:spPr>
          <a:xfrm>
            <a:off x="571396" y="2653323"/>
            <a:ext cx="5267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Données :</a:t>
            </a: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lecture de A[i], B[i], écriture de C[i]</a:t>
            </a:r>
            <a:endParaRPr lang="en-US" sz="1100"/>
          </a:p>
        </p:txBody>
      </p:sp>
      <p:sp>
        <p:nvSpPr>
          <p:cNvPr id="9" name="Freeform 9"/>
          <p:cNvSpPr/>
          <p:nvPr/>
        </p:nvSpPr>
        <p:spPr>
          <a:xfrm>
            <a:off x="380956" y="3339039"/>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42830" y="3491346"/>
            <a:ext cx="142875" cy="190500"/>
          </a:xfrm>
          <a:custGeom>
            <a:avLst/>
            <a:gdLst/>
            <a:ahLst/>
            <a:cxnLst/>
            <a:rect l="l" t="t" r="r" b="b"/>
            <a:pathLst>
              <a:path w="142875" h="190500">
                <a:moveTo>
                  <a:pt x="23812" y="0"/>
                </a:moveTo>
                <a:cubicBezTo>
                  <a:pt x="10678" y="0"/>
                  <a:pt x="0" y="10678"/>
                  <a:pt x="0" y="23812"/>
                </a:cubicBezTo>
                <a:lnTo>
                  <a:pt x="0" y="166687"/>
                </a:lnTo>
                <a:cubicBezTo>
                  <a:pt x="0" y="179822"/>
                  <a:pt x="10678" y="190500"/>
                  <a:pt x="23812" y="190500"/>
                </a:cubicBezTo>
                <a:lnTo>
                  <a:pt x="119062" y="190500"/>
                </a:lnTo>
                <a:cubicBezTo>
                  <a:pt x="132197" y="190500"/>
                  <a:pt x="142875" y="179822"/>
                  <a:pt x="142875" y="166687"/>
                </a:cubicBezTo>
                <a:lnTo>
                  <a:pt x="142875" y="23812"/>
                </a:lnTo>
                <a:cubicBezTo>
                  <a:pt x="142875" y="10678"/>
                  <a:pt x="132197" y="0"/>
                  <a:pt x="119062" y="0"/>
                </a:cubicBezTo>
                <a:lnTo>
                  <a:pt x="23812" y="0"/>
                </a:lnTo>
                <a:close/>
                <a:moveTo>
                  <a:pt x="35719" y="23812"/>
                </a:moveTo>
                <a:lnTo>
                  <a:pt x="107156" y="23812"/>
                </a:lnTo>
                <a:cubicBezTo>
                  <a:pt x="113742" y="23812"/>
                  <a:pt x="119062" y="29133"/>
                  <a:pt x="119062" y="35719"/>
                </a:cubicBezTo>
                <a:lnTo>
                  <a:pt x="119062" y="47625"/>
                </a:lnTo>
                <a:cubicBezTo>
                  <a:pt x="119062"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3" y="86321"/>
                </a:moveTo>
                <a:cubicBezTo>
                  <a:pt x="41673" y="91249"/>
                  <a:pt x="37671" y="95250"/>
                  <a:pt x="32742" y="95250"/>
                </a:cubicBezTo>
                <a:cubicBezTo>
                  <a:pt x="27814" y="95250"/>
                  <a:pt x="23812" y="91249"/>
                  <a:pt x="23812" y="86321"/>
                </a:cubicBezTo>
                <a:cubicBezTo>
                  <a:pt x="23812" y="81392"/>
                  <a:pt x="27814" y="77391"/>
                  <a:pt x="32742" y="77391"/>
                </a:cubicBezTo>
                <a:cubicBezTo>
                  <a:pt x="37671" y="77391"/>
                  <a:pt x="41673" y="81392"/>
                  <a:pt x="41673" y="86321"/>
                </a:cubicBezTo>
                <a:close/>
                <a:moveTo>
                  <a:pt x="71438" y="95250"/>
                </a:moveTo>
                <a:cubicBezTo>
                  <a:pt x="66509" y="95250"/>
                  <a:pt x="62508" y="91249"/>
                  <a:pt x="62508" y="86321"/>
                </a:cubicBezTo>
                <a:cubicBezTo>
                  <a:pt x="62508" y="81392"/>
                  <a:pt x="66509" y="77391"/>
                  <a:pt x="71438" y="77391"/>
                </a:cubicBezTo>
                <a:cubicBezTo>
                  <a:pt x="76366" y="77391"/>
                  <a:pt x="80367" y="81392"/>
                  <a:pt x="80367" y="86321"/>
                </a:cubicBezTo>
                <a:cubicBezTo>
                  <a:pt x="80367" y="91249"/>
                  <a:pt x="76366" y="95250"/>
                  <a:pt x="71438" y="95250"/>
                </a:cubicBezTo>
                <a:close/>
                <a:moveTo>
                  <a:pt x="119062" y="86321"/>
                </a:moveTo>
                <a:cubicBezTo>
                  <a:pt x="119062" y="91249"/>
                  <a:pt x="115061" y="95250"/>
                  <a:pt x="110133" y="95250"/>
                </a:cubicBezTo>
                <a:cubicBezTo>
                  <a:pt x="105204" y="95250"/>
                  <a:pt x="101202" y="91249"/>
                  <a:pt x="101202" y="86321"/>
                </a:cubicBezTo>
                <a:cubicBezTo>
                  <a:pt x="101202" y="81392"/>
                  <a:pt x="105204" y="77391"/>
                  <a:pt x="110133" y="77391"/>
                </a:cubicBezTo>
                <a:cubicBezTo>
                  <a:pt x="115061" y="77391"/>
                  <a:pt x="119062" y="81392"/>
                  <a:pt x="119062" y="86321"/>
                </a:cubicBezTo>
                <a:close/>
                <a:moveTo>
                  <a:pt x="32742" y="130969"/>
                </a:moveTo>
                <a:cubicBezTo>
                  <a:pt x="27814" y="130969"/>
                  <a:pt x="23812" y="126967"/>
                  <a:pt x="23812" y="122039"/>
                </a:cubicBezTo>
                <a:cubicBezTo>
                  <a:pt x="23812" y="117111"/>
                  <a:pt x="27814" y="113109"/>
                  <a:pt x="32742" y="113109"/>
                </a:cubicBezTo>
                <a:cubicBezTo>
                  <a:pt x="37671" y="113109"/>
                  <a:pt x="41673" y="117111"/>
                  <a:pt x="41673" y="122039"/>
                </a:cubicBezTo>
                <a:cubicBezTo>
                  <a:pt x="41673"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2" y="126967"/>
                  <a:pt x="101202" y="122039"/>
                </a:cubicBezTo>
                <a:cubicBezTo>
                  <a:pt x="101202" y="117111"/>
                  <a:pt x="105204" y="113109"/>
                  <a:pt x="110133" y="113109"/>
                </a:cubicBezTo>
                <a:cubicBezTo>
                  <a:pt x="115061" y="113109"/>
                  <a:pt x="119062" y="117111"/>
                  <a:pt x="119062" y="122039"/>
                </a:cubicBezTo>
                <a:cubicBezTo>
                  <a:pt x="119062" y="126967"/>
                  <a:pt x="115061" y="130969"/>
                  <a:pt x="110133" y="130969"/>
                </a:cubicBezTo>
                <a:close/>
                <a:moveTo>
                  <a:pt x="23812" y="157758"/>
                </a:moveTo>
                <a:cubicBezTo>
                  <a:pt x="23812" y="152809"/>
                  <a:pt x="27794" y="148827"/>
                  <a:pt x="32742" y="148827"/>
                </a:cubicBezTo>
                <a:lnTo>
                  <a:pt x="74414" y="148827"/>
                </a:lnTo>
                <a:cubicBezTo>
                  <a:pt x="79364" y="148827"/>
                  <a:pt x="83344" y="152809"/>
                  <a:pt x="83344" y="157758"/>
                </a:cubicBezTo>
                <a:cubicBezTo>
                  <a:pt x="83344" y="162706"/>
                  <a:pt x="79364" y="166687"/>
                  <a:pt x="74414" y="166687"/>
                </a:cubicBezTo>
                <a:lnTo>
                  <a:pt x="32742" y="166687"/>
                </a:lnTo>
                <a:cubicBezTo>
                  <a:pt x="27794" y="166687"/>
                  <a:pt x="23812" y="162706"/>
                  <a:pt x="23812" y="157758"/>
                </a:cubicBezTo>
                <a:close/>
                <a:moveTo>
                  <a:pt x="110133" y="148827"/>
                </a:moveTo>
                <a:cubicBezTo>
                  <a:pt x="115081" y="148827"/>
                  <a:pt x="119062" y="152809"/>
                  <a:pt x="119062" y="157758"/>
                </a:cubicBezTo>
                <a:cubicBezTo>
                  <a:pt x="119062" y="162706"/>
                  <a:pt x="115081" y="166687"/>
                  <a:pt x="110133" y="166687"/>
                </a:cubicBezTo>
                <a:cubicBezTo>
                  <a:pt x="105184" y="166687"/>
                  <a:pt x="101202" y="162706"/>
                  <a:pt x="101202" y="157758"/>
                </a:cubicBezTo>
                <a:cubicBezTo>
                  <a:pt x="101202" y="152809"/>
                  <a:pt x="105184" y="148827"/>
                  <a:pt x="110133" y="14882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47580" y="3453293"/>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Peu de calculs</a:t>
            </a:r>
            <a:endParaRPr lang="en-US" sz="1100"/>
          </a:p>
        </p:txBody>
      </p:sp>
      <p:sp>
        <p:nvSpPr>
          <p:cNvPr id="12" name="Freeform 12"/>
          <p:cNvSpPr/>
          <p:nvPr/>
        </p:nvSpPr>
        <p:spPr>
          <a:xfrm>
            <a:off x="380956" y="3948490"/>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30924" y="4100807"/>
            <a:ext cx="166688" cy="190500"/>
          </a:xfrm>
          <a:custGeom>
            <a:avLst/>
            <a:gdLst/>
            <a:ahLst/>
            <a:cxnLst/>
            <a:rect l="l" t="t" r="r" b="b"/>
            <a:pathLst>
              <a:path w="166688" h="190500">
                <a:moveTo>
                  <a:pt x="166688" y="76572"/>
                </a:moveTo>
                <a:cubicBezTo>
                  <a:pt x="161181" y="80218"/>
                  <a:pt x="154856" y="83158"/>
                  <a:pt x="148270" y="85501"/>
                </a:cubicBezTo>
                <a:cubicBezTo>
                  <a:pt x="130783" y="91752"/>
                  <a:pt x="107826" y="95250"/>
                  <a:pt x="83344" y="95250"/>
                </a:cubicBezTo>
                <a:cubicBezTo>
                  <a:pt x="58862" y="95250"/>
                  <a:pt x="35869" y="91716"/>
                  <a:pt x="18418" y="85501"/>
                </a:cubicBezTo>
                <a:cubicBezTo>
                  <a:pt x="11869" y="83158"/>
                  <a:pt x="5507" y="80218"/>
                  <a:pt x="0" y="76572"/>
                </a:cubicBezTo>
                <a:lnTo>
                  <a:pt x="0" y="107156"/>
                </a:lnTo>
                <a:cubicBezTo>
                  <a:pt x="0" y="123601"/>
                  <a:pt x="37319" y="136923"/>
                  <a:pt x="83344" y="136923"/>
                </a:cubicBezTo>
                <a:cubicBezTo>
                  <a:pt x="129369" y="136923"/>
                  <a:pt x="166688" y="123601"/>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2"/>
                  <a:pt x="37319" y="77391"/>
                  <a:pt x="83344" y="77391"/>
                </a:cubicBezTo>
                <a:cubicBezTo>
                  <a:pt x="129369" y="77391"/>
                  <a:pt x="166688" y="64072"/>
                  <a:pt x="166688" y="47625"/>
                </a:cubicBezTo>
                <a:close/>
                <a:moveTo>
                  <a:pt x="148270" y="145033"/>
                </a:moveTo>
                <a:cubicBezTo>
                  <a:pt x="130820" y="151247"/>
                  <a:pt x="107862" y="154781"/>
                  <a:pt x="83344" y="154781"/>
                </a:cubicBezTo>
                <a:cubicBezTo>
                  <a:pt x="58824" y="154781"/>
                  <a:pt x="35869" y="151247"/>
                  <a:pt x="18418" y="145033"/>
                </a:cubicBezTo>
                <a:cubicBezTo>
                  <a:pt x="11869" y="142690"/>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90"/>
                  <a:pt x="148270" y="14503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847580" y="4062744"/>
            <a:ext cx="9429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Nombreux accès aux données</a:t>
            </a:r>
            <a:endParaRPr lang="en-US" sz="1100"/>
          </a:p>
        </p:txBody>
      </p:sp>
      <p:sp>
        <p:nvSpPr>
          <p:cNvPr id="15" name="Freeform 15"/>
          <p:cNvSpPr/>
          <p:nvPr/>
        </p:nvSpPr>
        <p:spPr>
          <a:xfrm>
            <a:off x="399911" y="4672270"/>
            <a:ext cx="5543455" cy="571500"/>
          </a:xfrm>
          <a:custGeom>
            <a:avLst/>
            <a:gdLst/>
            <a:ahLst/>
            <a:cxnLst/>
            <a:rect l="l" t="t" r="r" b="b"/>
            <a:pathLst>
              <a:path w="5543455" h="571500">
                <a:moveTo>
                  <a:pt x="37909" y="0"/>
                </a:moveTo>
                <a:lnTo>
                  <a:pt x="5429155" y="0"/>
                </a:lnTo>
                <a:cubicBezTo>
                  <a:pt x="5492239" y="0"/>
                  <a:pt x="5543455" y="51217"/>
                  <a:pt x="5543455" y="114300"/>
                </a:cubicBezTo>
                <a:lnTo>
                  <a:pt x="5543455" y="457200"/>
                </a:lnTo>
                <a:cubicBezTo>
                  <a:pt x="5543455" y="520283"/>
                  <a:pt x="5492239" y="571500"/>
                  <a:pt x="5429155" y="571500"/>
                </a:cubicBezTo>
                <a:lnTo>
                  <a:pt x="37909" y="571500"/>
                </a:lnTo>
                <a:cubicBezTo>
                  <a:pt x="16974" y="571500"/>
                  <a:pt x="0" y="554526"/>
                  <a:pt x="0" y="5335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399911" y="4672270"/>
            <a:ext cx="37909" cy="571500"/>
          </a:xfrm>
          <a:custGeom>
            <a:avLst/>
            <a:gdLst/>
            <a:ahLst/>
            <a:cxnLst/>
            <a:rect l="l" t="t" r="r" b="b"/>
            <a:pathLst>
              <a:path w="37909" h="571500">
                <a:moveTo>
                  <a:pt x="37909" y="0"/>
                </a:moveTo>
                <a:lnTo>
                  <a:pt x="37909" y="0"/>
                </a:lnTo>
                <a:lnTo>
                  <a:pt x="37909" y="571500"/>
                </a:lnTo>
                <a:lnTo>
                  <a:pt x="37909" y="571500"/>
                </a:lnTo>
                <a:cubicBezTo>
                  <a:pt x="16974" y="571500"/>
                  <a:pt x="0" y="554526"/>
                  <a:pt x="0" y="5335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71248" y="4824651"/>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Intensité arithmétique </a:t>
            </a:r>
            <a:r>
              <a:rPr lang="en-US" sz="885"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faible</a:t>
            </a:r>
            <a:endParaRPr lang="en-US" sz="1100"/>
          </a:p>
        </p:txBody>
      </p:sp>
      <p:sp>
        <p:nvSpPr>
          <p:cNvPr id="18" name="Freeform 18"/>
          <p:cNvSpPr/>
          <p:nvPr/>
        </p:nvSpPr>
        <p:spPr>
          <a:xfrm>
            <a:off x="399911" y="5486353"/>
            <a:ext cx="5543455" cy="647700"/>
          </a:xfrm>
          <a:custGeom>
            <a:avLst/>
            <a:gdLst/>
            <a:ahLst/>
            <a:cxnLst/>
            <a:rect l="l" t="t" r="r" b="b"/>
            <a:pathLst>
              <a:path w="5543455" h="647700">
                <a:moveTo>
                  <a:pt x="37909" y="0"/>
                </a:moveTo>
                <a:lnTo>
                  <a:pt x="5429156" y="0"/>
                </a:lnTo>
                <a:cubicBezTo>
                  <a:pt x="5492281" y="0"/>
                  <a:pt x="5543455" y="51173"/>
                  <a:pt x="5543455" y="114300"/>
                </a:cubicBezTo>
                <a:lnTo>
                  <a:pt x="5543455" y="533400"/>
                </a:lnTo>
                <a:cubicBezTo>
                  <a:pt x="5543455" y="596527"/>
                  <a:pt x="5492281" y="647700"/>
                  <a:pt x="5429156" y="647700"/>
                </a:cubicBezTo>
                <a:lnTo>
                  <a:pt x="37909" y="647700"/>
                </a:lnTo>
                <a:cubicBezTo>
                  <a:pt x="16974" y="647700"/>
                  <a:pt x="0" y="630726"/>
                  <a:pt x="0" y="609791"/>
                </a:cubicBezTo>
                <a:lnTo>
                  <a:pt x="0" y="37909"/>
                </a:lnTo>
                <a:cubicBezTo>
                  <a:pt x="0" y="16988"/>
                  <a:pt x="16988" y="0"/>
                  <a:pt x="37909" y="0"/>
                </a:cubicBezTo>
                <a:close/>
              </a:path>
            </a:pathLst>
          </a:custGeom>
          <a:solidFill>
            <a:srgbClr val="FEF2F2">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99911" y="5486353"/>
            <a:ext cx="37909" cy="647700"/>
          </a:xfrm>
          <a:custGeom>
            <a:avLst/>
            <a:gdLst/>
            <a:ahLst/>
            <a:cxnLst/>
            <a:rect l="l" t="t" r="r" b="b"/>
            <a:pathLst>
              <a:path w="37909" h="647700">
                <a:moveTo>
                  <a:pt x="37909" y="0"/>
                </a:moveTo>
                <a:lnTo>
                  <a:pt x="37909" y="0"/>
                </a:lnTo>
                <a:lnTo>
                  <a:pt x="37909" y="647700"/>
                </a:lnTo>
                <a:lnTo>
                  <a:pt x="37909" y="647700"/>
                </a:lnTo>
                <a:cubicBezTo>
                  <a:pt x="16974" y="647700"/>
                  <a:pt x="0" y="630726"/>
                  <a:pt x="0" y="609791"/>
                </a:cubicBezTo>
                <a:lnTo>
                  <a:pt x="0" y="37909"/>
                </a:lnTo>
                <a:cubicBezTo>
                  <a:pt x="0" y="16988"/>
                  <a:pt x="16988" y="0"/>
                  <a:pt x="37909"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307" y="5676788"/>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 :</a:t>
            </a:r>
            <a:r>
              <a:rPr lang="en-US" sz="8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généralement </a:t>
            </a:r>
            <a:r>
              <a:rPr lang="en-US" sz="885" b="1" i="0" u="none" strike="noStrike">
                <a:solidFill>
                  <a:srgbClr val="E7000B"/>
                </a:solidFill>
                <a:latin typeface="Noto Sans SC" panose="020B0200000000000000" charset="-122"/>
                <a:ea typeface="Noto Sans SC" panose="020B0200000000000000" charset="-122"/>
                <a:cs typeface="Noto Sans SC" panose="020B0200000000000000" charset="-122"/>
                <a:sym typeface="Noto Sans SC" panose="020B0200000000000000" charset="-122"/>
              </a:rPr>
              <a:t>Memory Bound</a:t>
            </a:r>
            <a:endParaRPr lang="en-US" sz="1100"/>
          </a:p>
        </p:txBody>
      </p:sp>
      <p:sp>
        <p:nvSpPr>
          <p:cNvPr id="21" name="Freeform 21"/>
          <p:cNvSpPr/>
          <p:nvPr/>
        </p:nvSpPr>
        <p:spPr>
          <a:xfrm>
            <a:off x="6248338" y="990479"/>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a:stretch>
            <a:fillRect/>
          </a:stretch>
        </p:blipFill>
        <p:spPr>
          <a:xfrm>
            <a:off x="7596158" y="1990595"/>
            <a:ext cx="2867025" cy="2838450"/>
          </a:xfrm>
          <a:prstGeom prst="roundRect">
            <a:avLst>
              <a:gd name="adj" fmla="val 0"/>
            </a:avLst>
          </a:prstGeom>
          <a:ln w="12700">
            <a:noFill/>
            <a:prstDash val="solid"/>
          </a:ln>
        </p:spPr>
      </p:pic>
      <p:sp>
        <p:nvSpPr>
          <p:cNvPr id="23" name="AutoShape 23"/>
          <p:cNvSpPr/>
          <p:nvPr/>
        </p:nvSpPr>
        <p:spPr>
          <a:xfrm>
            <a:off x="6210238" y="590536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 HyperPhysics - Vector Addition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4276" y="599347"/>
            <a:ext cx="11644243" cy="353391"/>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32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Comment Roofline guide l'optimisation</a:t>
            </a:r>
            <a:endParaRPr lang="en-US" sz="1100"/>
          </a:p>
        </p:txBody>
      </p:sp>
      <p:sp>
        <p:nvSpPr>
          <p:cNvPr id="3" name="Freeform 3"/>
          <p:cNvSpPr/>
          <p:nvPr/>
        </p:nvSpPr>
        <p:spPr>
          <a:xfrm>
            <a:off x="362141" y="1165950"/>
            <a:ext cx="5583495" cy="4514571"/>
          </a:xfrm>
          <a:custGeom>
            <a:avLst/>
            <a:gdLst/>
            <a:ahLst/>
            <a:cxnLst/>
            <a:rect l="l" t="t" r="r" b="b"/>
            <a:pathLst>
              <a:path w="5583495" h="4514571">
                <a:moveTo>
                  <a:pt x="106040" y="0"/>
                </a:moveTo>
                <a:lnTo>
                  <a:pt x="5477455" y="0"/>
                </a:lnTo>
                <a:cubicBezTo>
                  <a:pt x="5536019" y="0"/>
                  <a:pt x="5583495" y="45094"/>
                  <a:pt x="5583495" y="100720"/>
                </a:cubicBezTo>
                <a:lnTo>
                  <a:pt x="5583495" y="4413851"/>
                </a:lnTo>
                <a:cubicBezTo>
                  <a:pt x="5583495" y="4469477"/>
                  <a:pt x="5536019" y="4514571"/>
                  <a:pt x="5477455" y="4514571"/>
                </a:cubicBezTo>
                <a:lnTo>
                  <a:pt x="106040" y="4514571"/>
                </a:lnTo>
                <a:cubicBezTo>
                  <a:pt x="47476" y="4514571"/>
                  <a:pt x="0" y="4469477"/>
                  <a:pt x="0" y="4413851"/>
                </a:cubicBezTo>
                <a:lnTo>
                  <a:pt x="0" y="100720"/>
                </a:lnTo>
                <a:cubicBezTo>
                  <a:pt x="0" y="45131"/>
                  <a:pt x="47515" y="0"/>
                  <a:pt x="106040" y="0"/>
                </a:cubicBezTo>
                <a:close/>
              </a:path>
            </a:pathLst>
          </a:custGeom>
          <a:gradFill rotWithShape="1">
            <a:gsLst>
              <a:gs pos="0">
                <a:srgbClr val="EFF6FF">
                  <a:alpha val="100000"/>
                </a:srgbClr>
              </a:gs>
              <a:gs pos="100000">
                <a:srgbClr val="FFFFFF">
                  <a:alpha val="100000"/>
                </a:srgbClr>
              </a:gs>
            </a:gsLst>
            <a:lin ang="2700000"/>
          </a:gradFill>
          <a:ln w="12700">
            <a:solidFill>
              <a:srgbClr val="8EC5FF">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82942" y="1376968"/>
            <a:ext cx="494748" cy="494748"/>
          </a:xfrm>
          <a:custGeom>
            <a:avLst/>
            <a:gdLst/>
            <a:ahLst/>
            <a:cxnLst/>
            <a:rect l="l" t="t" r="r" b="b"/>
            <a:pathLst>
              <a:path w="494748" h="494748">
                <a:moveTo>
                  <a:pt x="106020" y="0"/>
                </a:moveTo>
                <a:lnTo>
                  <a:pt x="388728" y="0"/>
                </a:lnTo>
                <a:cubicBezTo>
                  <a:pt x="447242" y="0"/>
                  <a:pt x="494748" y="47506"/>
                  <a:pt x="494748" y="106020"/>
                </a:cubicBezTo>
                <a:lnTo>
                  <a:pt x="494748" y="388728"/>
                </a:lnTo>
                <a:cubicBezTo>
                  <a:pt x="494748" y="447242"/>
                  <a:pt x="447242" y="494748"/>
                  <a:pt x="388728" y="494748"/>
                </a:cubicBezTo>
                <a:lnTo>
                  <a:pt x="106020" y="494748"/>
                </a:lnTo>
                <a:cubicBezTo>
                  <a:pt x="47506" y="494748"/>
                  <a:pt x="0" y="447242"/>
                  <a:pt x="0" y="388728"/>
                </a:cubicBezTo>
                <a:lnTo>
                  <a:pt x="0" y="106020"/>
                </a:lnTo>
                <a:cubicBezTo>
                  <a:pt x="0" y="47506"/>
                  <a:pt x="47506" y="0"/>
                  <a:pt x="106020" y="0"/>
                </a:cubicBezTo>
                <a:close/>
              </a:path>
            </a:pathLst>
          </a:custGeom>
          <a:solidFill>
            <a:srgbClr val="2B7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724276" y="1544811"/>
            <a:ext cx="212035" cy="159027"/>
          </a:xfrm>
          <a:custGeom>
            <a:avLst/>
            <a:gdLst/>
            <a:ahLst/>
            <a:cxnLst/>
            <a:rect l="l" t="t" r="r" b="b"/>
            <a:pathLst>
              <a:path w="212035" h="159027">
                <a:moveTo>
                  <a:pt x="26504" y="0"/>
                </a:moveTo>
                <a:cubicBezTo>
                  <a:pt x="11886" y="0"/>
                  <a:pt x="0" y="11886"/>
                  <a:pt x="0" y="26505"/>
                </a:cubicBezTo>
                <a:lnTo>
                  <a:pt x="0" y="29569"/>
                </a:lnTo>
                <a:cubicBezTo>
                  <a:pt x="0" y="32385"/>
                  <a:pt x="1822" y="34787"/>
                  <a:pt x="4183" y="36320"/>
                </a:cubicBezTo>
                <a:cubicBezTo>
                  <a:pt x="9649" y="39881"/>
                  <a:pt x="13252" y="46010"/>
                  <a:pt x="13252" y="53009"/>
                </a:cubicBezTo>
                <a:cubicBezTo>
                  <a:pt x="13252" y="60008"/>
                  <a:pt x="9649" y="66137"/>
                  <a:pt x="4183" y="69699"/>
                </a:cubicBezTo>
                <a:cubicBezTo>
                  <a:pt x="1822" y="71231"/>
                  <a:pt x="0" y="73633"/>
                  <a:pt x="0" y="76449"/>
                </a:cubicBezTo>
                <a:lnTo>
                  <a:pt x="0" y="99392"/>
                </a:lnTo>
                <a:lnTo>
                  <a:pt x="212035" y="99392"/>
                </a:lnTo>
                <a:lnTo>
                  <a:pt x="212035" y="76449"/>
                </a:lnTo>
                <a:cubicBezTo>
                  <a:pt x="212035" y="73633"/>
                  <a:pt x="210213" y="71231"/>
                  <a:pt x="207852" y="69699"/>
                </a:cubicBezTo>
                <a:cubicBezTo>
                  <a:pt x="202386" y="66137"/>
                  <a:pt x="198783" y="60008"/>
                  <a:pt x="198783" y="53009"/>
                </a:cubicBezTo>
                <a:cubicBezTo>
                  <a:pt x="198783" y="46010"/>
                  <a:pt x="202386" y="39881"/>
                  <a:pt x="207852" y="36320"/>
                </a:cubicBezTo>
                <a:cubicBezTo>
                  <a:pt x="210213" y="34787"/>
                  <a:pt x="212035" y="32385"/>
                  <a:pt x="212035" y="29569"/>
                </a:cubicBezTo>
                <a:lnTo>
                  <a:pt x="212035" y="26505"/>
                </a:lnTo>
                <a:cubicBezTo>
                  <a:pt x="212035" y="11886"/>
                  <a:pt x="200149" y="0"/>
                  <a:pt x="185530" y="0"/>
                </a:cubicBezTo>
                <a:lnTo>
                  <a:pt x="26504" y="0"/>
                </a:lnTo>
                <a:close/>
                <a:moveTo>
                  <a:pt x="212035" y="145774"/>
                </a:moveTo>
                <a:lnTo>
                  <a:pt x="212035" y="119270"/>
                </a:lnTo>
                <a:lnTo>
                  <a:pt x="0" y="119270"/>
                </a:lnTo>
                <a:lnTo>
                  <a:pt x="0" y="145774"/>
                </a:lnTo>
                <a:cubicBezTo>
                  <a:pt x="0" y="153104"/>
                  <a:pt x="5922" y="159026"/>
                  <a:pt x="13252" y="159026"/>
                </a:cubicBezTo>
                <a:lnTo>
                  <a:pt x="39757" y="159026"/>
                </a:lnTo>
                <a:lnTo>
                  <a:pt x="39757" y="149087"/>
                </a:lnTo>
                <a:cubicBezTo>
                  <a:pt x="39757" y="143579"/>
                  <a:pt x="44188" y="139148"/>
                  <a:pt x="49696" y="139148"/>
                </a:cubicBezTo>
                <a:cubicBezTo>
                  <a:pt x="55204" y="139148"/>
                  <a:pt x="59635" y="143579"/>
                  <a:pt x="59635" y="149087"/>
                </a:cubicBezTo>
                <a:lnTo>
                  <a:pt x="59635" y="159026"/>
                </a:lnTo>
                <a:lnTo>
                  <a:pt x="96078" y="159026"/>
                </a:lnTo>
                <a:lnTo>
                  <a:pt x="96078" y="149087"/>
                </a:lnTo>
                <a:cubicBezTo>
                  <a:pt x="96078" y="143579"/>
                  <a:pt x="100509" y="139148"/>
                  <a:pt x="106017" y="139148"/>
                </a:cubicBezTo>
                <a:cubicBezTo>
                  <a:pt x="111525" y="139148"/>
                  <a:pt x="115957" y="143579"/>
                  <a:pt x="115957" y="149087"/>
                </a:cubicBezTo>
                <a:lnTo>
                  <a:pt x="115957" y="159026"/>
                </a:lnTo>
                <a:lnTo>
                  <a:pt x="152400" y="159026"/>
                </a:lnTo>
                <a:lnTo>
                  <a:pt x="152400" y="149087"/>
                </a:lnTo>
                <a:cubicBezTo>
                  <a:pt x="152400" y="143579"/>
                  <a:pt x="156831" y="139148"/>
                  <a:pt x="162339" y="139148"/>
                </a:cubicBezTo>
                <a:cubicBezTo>
                  <a:pt x="167847" y="139148"/>
                  <a:pt x="172278" y="143579"/>
                  <a:pt x="172278" y="149087"/>
                </a:cubicBezTo>
                <a:lnTo>
                  <a:pt x="172278" y="159026"/>
                </a:lnTo>
                <a:lnTo>
                  <a:pt x="198783" y="159026"/>
                </a:lnTo>
                <a:cubicBezTo>
                  <a:pt x="206113" y="159026"/>
                  <a:pt x="212035" y="153104"/>
                  <a:pt x="212035" y="145774"/>
                </a:cubicBezTo>
                <a:close/>
                <a:moveTo>
                  <a:pt x="66261" y="39757"/>
                </a:moveTo>
                <a:lnTo>
                  <a:pt x="66261" y="66261"/>
                </a:lnTo>
                <a:cubicBezTo>
                  <a:pt x="66261" y="73591"/>
                  <a:pt x="60339" y="79513"/>
                  <a:pt x="53009" y="79513"/>
                </a:cubicBezTo>
                <a:cubicBezTo>
                  <a:pt x="45679" y="79513"/>
                  <a:pt x="39757" y="73591"/>
                  <a:pt x="39757" y="66261"/>
                </a:cubicBezTo>
                <a:lnTo>
                  <a:pt x="39757" y="39757"/>
                </a:lnTo>
                <a:cubicBezTo>
                  <a:pt x="39757" y="32427"/>
                  <a:pt x="45679" y="26505"/>
                  <a:pt x="53009" y="26505"/>
                </a:cubicBezTo>
                <a:cubicBezTo>
                  <a:pt x="60339" y="26505"/>
                  <a:pt x="66261" y="32427"/>
                  <a:pt x="66261" y="39757"/>
                </a:cubicBezTo>
                <a:close/>
                <a:moveTo>
                  <a:pt x="119270" y="39757"/>
                </a:moveTo>
                <a:lnTo>
                  <a:pt x="119270" y="66261"/>
                </a:lnTo>
                <a:cubicBezTo>
                  <a:pt x="119270" y="73591"/>
                  <a:pt x="113347" y="79513"/>
                  <a:pt x="106017" y="79513"/>
                </a:cubicBezTo>
                <a:cubicBezTo>
                  <a:pt x="98687" y="79513"/>
                  <a:pt x="92765" y="73591"/>
                  <a:pt x="92765" y="66261"/>
                </a:cubicBezTo>
                <a:lnTo>
                  <a:pt x="92765" y="39757"/>
                </a:lnTo>
                <a:cubicBezTo>
                  <a:pt x="92765" y="32427"/>
                  <a:pt x="98687" y="26505"/>
                  <a:pt x="106017" y="26505"/>
                </a:cubicBezTo>
                <a:cubicBezTo>
                  <a:pt x="113347" y="26505"/>
                  <a:pt x="119270" y="32427"/>
                  <a:pt x="119270" y="39757"/>
                </a:cubicBezTo>
                <a:close/>
                <a:moveTo>
                  <a:pt x="172278" y="39757"/>
                </a:moveTo>
                <a:lnTo>
                  <a:pt x="172278" y="66261"/>
                </a:lnTo>
                <a:cubicBezTo>
                  <a:pt x="172278" y="73591"/>
                  <a:pt x="166356" y="79513"/>
                  <a:pt x="159026" y="79513"/>
                </a:cubicBezTo>
                <a:cubicBezTo>
                  <a:pt x="151696" y="79513"/>
                  <a:pt x="145774" y="73591"/>
                  <a:pt x="145774" y="66261"/>
                </a:cubicBezTo>
                <a:lnTo>
                  <a:pt x="145774" y="39757"/>
                </a:lnTo>
                <a:cubicBezTo>
                  <a:pt x="145774" y="32427"/>
                  <a:pt x="151696" y="26505"/>
                  <a:pt x="159026" y="26505"/>
                </a:cubicBezTo>
                <a:cubicBezTo>
                  <a:pt x="166356" y="26505"/>
                  <a:pt x="172278" y="32427"/>
                  <a:pt x="172278" y="3975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218972" y="1359315"/>
            <a:ext cx="1749287" cy="28271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6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Zone Bandwidth</a:t>
            </a:r>
            <a:endParaRPr lang="en-US" sz="1100"/>
          </a:p>
        </p:txBody>
      </p:sp>
      <p:sp>
        <p:nvSpPr>
          <p:cNvPr id="7" name="AutoShape 7"/>
          <p:cNvSpPr/>
          <p:nvPr/>
        </p:nvSpPr>
        <p:spPr>
          <a:xfrm>
            <a:off x="1218972" y="1641925"/>
            <a:ext cx="1722783"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85" b="1" i="0" u="none" strike="noStrike">
                <a:solidFill>
                  <a:srgbClr val="155DFC"/>
                </a:solidFill>
                <a:latin typeface="MiSans" panose="00000500000000000000" charset="-122"/>
                <a:ea typeface="MiSans" panose="00000500000000000000" charset="-122"/>
                <a:cs typeface="MiSans" panose="00000500000000000000" charset="-122"/>
                <a:sym typeface="MiSans" panose="00000500000000000000" charset="-122"/>
              </a:rPr>
              <a:t>Memory Bound</a:t>
            </a:r>
            <a:endParaRPr lang="en-US" sz="1100"/>
          </a:p>
        </p:txBody>
      </p:sp>
      <p:sp>
        <p:nvSpPr>
          <p:cNvPr id="8" name="Freeform 8"/>
          <p:cNvSpPr/>
          <p:nvPr/>
        </p:nvSpPr>
        <p:spPr>
          <a:xfrm>
            <a:off x="582942" y="2880096"/>
            <a:ext cx="5141843" cy="1590261"/>
          </a:xfrm>
          <a:custGeom>
            <a:avLst/>
            <a:gdLst/>
            <a:ahLst/>
            <a:cxnLst/>
            <a:rect l="l" t="t" r="r" b="b"/>
            <a:pathLst>
              <a:path w="5141843" h="1590261">
                <a:moveTo>
                  <a:pt x="70670" y="0"/>
                </a:moveTo>
                <a:lnTo>
                  <a:pt x="5071172" y="0"/>
                </a:lnTo>
                <a:cubicBezTo>
                  <a:pt x="5110176" y="0"/>
                  <a:pt x="5141843" y="31667"/>
                  <a:pt x="5141843" y="70670"/>
                </a:cubicBezTo>
                <a:lnTo>
                  <a:pt x="5141843" y="1519591"/>
                </a:lnTo>
                <a:cubicBezTo>
                  <a:pt x="5141843" y="1558594"/>
                  <a:pt x="5110176" y="1590261"/>
                  <a:pt x="5071172" y="1590261"/>
                </a:cubicBezTo>
                <a:lnTo>
                  <a:pt x="70670" y="1590261"/>
                </a:lnTo>
                <a:cubicBezTo>
                  <a:pt x="31667" y="1590261"/>
                  <a:pt x="0" y="1558594"/>
                  <a:pt x="0" y="1519591"/>
                </a:cubicBezTo>
                <a:lnTo>
                  <a:pt x="0" y="70670"/>
                </a:lnTo>
                <a:cubicBezTo>
                  <a:pt x="0" y="31641"/>
                  <a:pt x="31641" y="0"/>
                  <a:pt x="70670"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AutoShape 9"/>
          <p:cNvSpPr/>
          <p:nvPr/>
        </p:nvSpPr>
        <p:spPr>
          <a:xfrm>
            <a:off x="759582" y="3056731"/>
            <a:ext cx="4867965"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Direction d'optimisation :</a:t>
            </a:r>
            <a:endParaRPr lang="en-US" sz="1100"/>
          </a:p>
        </p:txBody>
      </p:sp>
      <p:sp>
        <p:nvSpPr>
          <p:cNvPr id="10" name="Freeform 10"/>
          <p:cNvSpPr/>
          <p:nvPr/>
        </p:nvSpPr>
        <p:spPr>
          <a:xfrm>
            <a:off x="777252" y="3480749"/>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7"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7" y="66095"/>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064260" y="3445510"/>
            <a:ext cx="4222750" cy="2120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Améliorer la réutilisation des données</a:t>
            </a:r>
            <a:endParaRPr lang="en-US" sz="1100"/>
          </a:p>
        </p:txBody>
      </p:sp>
      <p:sp>
        <p:nvSpPr>
          <p:cNvPr id="12" name="Freeform 12"/>
          <p:cNvSpPr/>
          <p:nvPr/>
        </p:nvSpPr>
        <p:spPr>
          <a:xfrm>
            <a:off x="777252" y="3798732"/>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7"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7" y="66095"/>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64260" y="3763645"/>
            <a:ext cx="3531235" cy="2120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Optimisation Cache</a:t>
            </a:r>
            <a:endParaRPr lang="en-US" sz="1100"/>
          </a:p>
        </p:txBody>
      </p:sp>
      <p:sp>
        <p:nvSpPr>
          <p:cNvPr id="14" name="Freeform 14"/>
          <p:cNvSpPr/>
          <p:nvPr/>
        </p:nvSpPr>
        <p:spPr>
          <a:xfrm>
            <a:off x="777252" y="4116715"/>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7"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7" y="66095"/>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1064260" y="4081145"/>
            <a:ext cx="4304665" cy="2120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Technique de Blocking</a:t>
            </a:r>
            <a:endParaRPr lang="en-US" sz="1100"/>
          </a:p>
        </p:txBody>
      </p:sp>
      <p:sp>
        <p:nvSpPr>
          <p:cNvPr id="16" name="Freeform 16"/>
          <p:cNvSpPr/>
          <p:nvPr/>
        </p:nvSpPr>
        <p:spPr>
          <a:xfrm>
            <a:off x="6244167" y="1165950"/>
            <a:ext cx="5583495" cy="4514571"/>
          </a:xfrm>
          <a:custGeom>
            <a:avLst/>
            <a:gdLst/>
            <a:ahLst/>
            <a:cxnLst/>
            <a:rect l="l" t="t" r="r" b="b"/>
            <a:pathLst>
              <a:path w="5583495" h="4514571">
                <a:moveTo>
                  <a:pt x="106040" y="0"/>
                </a:moveTo>
                <a:lnTo>
                  <a:pt x="5477455" y="0"/>
                </a:lnTo>
                <a:cubicBezTo>
                  <a:pt x="5536019" y="0"/>
                  <a:pt x="5583495" y="45094"/>
                  <a:pt x="5583495" y="100720"/>
                </a:cubicBezTo>
                <a:lnTo>
                  <a:pt x="5583495" y="4413851"/>
                </a:lnTo>
                <a:cubicBezTo>
                  <a:pt x="5583495" y="4469477"/>
                  <a:pt x="5536019" y="4514571"/>
                  <a:pt x="5477455" y="4514571"/>
                </a:cubicBezTo>
                <a:lnTo>
                  <a:pt x="106040" y="4514571"/>
                </a:lnTo>
                <a:cubicBezTo>
                  <a:pt x="47476" y="4514571"/>
                  <a:pt x="0" y="4469477"/>
                  <a:pt x="0" y="4413851"/>
                </a:cubicBezTo>
                <a:lnTo>
                  <a:pt x="0" y="100720"/>
                </a:lnTo>
                <a:cubicBezTo>
                  <a:pt x="0" y="45131"/>
                  <a:pt x="47515" y="0"/>
                  <a:pt x="106040" y="0"/>
                </a:cubicBezTo>
                <a:close/>
              </a:path>
            </a:pathLst>
          </a:custGeom>
          <a:gradFill rotWithShape="1">
            <a:gsLst>
              <a:gs pos="0">
                <a:srgbClr val="FEF2F2">
                  <a:alpha val="100000"/>
                </a:srgbClr>
              </a:gs>
              <a:gs pos="100000">
                <a:srgbClr val="FFFFFF">
                  <a:alpha val="100000"/>
                </a:srgbClr>
              </a:gs>
            </a:gsLst>
            <a:lin ang="2700000"/>
          </a:gradFill>
          <a:ln w="12700">
            <a:solidFill>
              <a:srgbClr val="FFA2A2">
                <a:alpha val="10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6464968" y="1429722"/>
            <a:ext cx="494748" cy="494748"/>
          </a:xfrm>
          <a:custGeom>
            <a:avLst/>
            <a:gdLst/>
            <a:ahLst/>
            <a:cxnLst/>
            <a:rect l="l" t="t" r="r" b="b"/>
            <a:pathLst>
              <a:path w="494748" h="494748">
                <a:moveTo>
                  <a:pt x="106020" y="0"/>
                </a:moveTo>
                <a:lnTo>
                  <a:pt x="388728" y="0"/>
                </a:lnTo>
                <a:cubicBezTo>
                  <a:pt x="447242" y="0"/>
                  <a:pt x="494748" y="47506"/>
                  <a:pt x="494748" y="106020"/>
                </a:cubicBezTo>
                <a:lnTo>
                  <a:pt x="494748" y="388728"/>
                </a:lnTo>
                <a:cubicBezTo>
                  <a:pt x="494748" y="447242"/>
                  <a:pt x="447242" y="494748"/>
                  <a:pt x="388728" y="494748"/>
                </a:cubicBezTo>
                <a:lnTo>
                  <a:pt x="106020" y="494748"/>
                </a:lnTo>
                <a:cubicBezTo>
                  <a:pt x="47506" y="494748"/>
                  <a:pt x="0" y="447242"/>
                  <a:pt x="0" y="388728"/>
                </a:cubicBezTo>
                <a:lnTo>
                  <a:pt x="0" y="106020"/>
                </a:lnTo>
                <a:cubicBezTo>
                  <a:pt x="0" y="47506"/>
                  <a:pt x="47506" y="0"/>
                  <a:pt x="106020" y="0"/>
                </a:cubicBezTo>
                <a:close/>
              </a:path>
            </a:pathLst>
          </a:custGeom>
          <a:solidFill>
            <a:srgbClr val="FB2C36">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8" name="Freeform 18"/>
          <p:cNvSpPr/>
          <p:nvPr/>
        </p:nvSpPr>
        <p:spPr>
          <a:xfrm>
            <a:off x="6606302" y="1571061"/>
            <a:ext cx="212035" cy="212035"/>
          </a:xfrm>
          <a:custGeom>
            <a:avLst/>
            <a:gdLst/>
            <a:ahLst/>
            <a:cxnLst/>
            <a:rect l="l" t="t" r="r" b="b"/>
            <a:pathLst>
              <a:path w="212035" h="212035">
                <a:moveTo>
                  <a:pt x="72887" y="9939"/>
                </a:moveTo>
                <a:cubicBezTo>
                  <a:pt x="72887" y="4431"/>
                  <a:pt x="68456" y="0"/>
                  <a:pt x="62948" y="0"/>
                </a:cubicBezTo>
                <a:cubicBezTo>
                  <a:pt x="57440" y="0"/>
                  <a:pt x="53009" y="4431"/>
                  <a:pt x="53009" y="9939"/>
                </a:cubicBezTo>
                <a:lnTo>
                  <a:pt x="53009" y="26504"/>
                </a:lnTo>
                <a:cubicBezTo>
                  <a:pt x="38390" y="26504"/>
                  <a:pt x="26504" y="38390"/>
                  <a:pt x="26504" y="53009"/>
                </a:cubicBezTo>
                <a:lnTo>
                  <a:pt x="9939" y="53009"/>
                </a:lnTo>
                <a:cubicBezTo>
                  <a:pt x="4431" y="53009"/>
                  <a:pt x="0" y="57440"/>
                  <a:pt x="0" y="62948"/>
                </a:cubicBezTo>
                <a:cubicBezTo>
                  <a:pt x="0" y="68456"/>
                  <a:pt x="4431" y="72887"/>
                  <a:pt x="9939" y="72887"/>
                </a:cubicBezTo>
                <a:lnTo>
                  <a:pt x="26504" y="72887"/>
                </a:lnTo>
                <a:lnTo>
                  <a:pt x="26504" y="96078"/>
                </a:lnTo>
                <a:lnTo>
                  <a:pt x="9939" y="96078"/>
                </a:lnTo>
                <a:cubicBezTo>
                  <a:pt x="4431" y="96078"/>
                  <a:pt x="0" y="100509"/>
                  <a:pt x="0" y="106017"/>
                </a:cubicBezTo>
                <a:cubicBezTo>
                  <a:pt x="0" y="111525"/>
                  <a:pt x="4431" y="115957"/>
                  <a:pt x="9939" y="115957"/>
                </a:cubicBezTo>
                <a:lnTo>
                  <a:pt x="26504" y="115957"/>
                </a:lnTo>
                <a:lnTo>
                  <a:pt x="26504" y="139148"/>
                </a:lnTo>
                <a:lnTo>
                  <a:pt x="9939" y="139148"/>
                </a:lnTo>
                <a:cubicBezTo>
                  <a:pt x="4431" y="139148"/>
                  <a:pt x="0" y="143579"/>
                  <a:pt x="0" y="149087"/>
                </a:cubicBezTo>
                <a:cubicBezTo>
                  <a:pt x="0" y="154595"/>
                  <a:pt x="4431" y="159026"/>
                  <a:pt x="9939" y="159026"/>
                </a:cubicBezTo>
                <a:lnTo>
                  <a:pt x="26504" y="159026"/>
                </a:lnTo>
                <a:cubicBezTo>
                  <a:pt x="26504" y="173645"/>
                  <a:pt x="38390" y="185530"/>
                  <a:pt x="53009" y="185530"/>
                </a:cubicBezTo>
                <a:lnTo>
                  <a:pt x="53009" y="202096"/>
                </a:lnTo>
                <a:cubicBezTo>
                  <a:pt x="53009" y="207604"/>
                  <a:pt x="57440" y="212035"/>
                  <a:pt x="62948" y="212035"/>
                </a:cubicBezTo>
                <a:cubicBezTo>
                  <a:pt x="68456" y="212035"/>
                  <a:pt x="72887" y="207604"/>
                  <a:pt x="72887" y="202096"/>
                </a:cubicBezTo>
                <a:lnTo>
                  <a:pt x="72887" y="185530"/>
                </a:lnTo>
                <a:lnTo>
                  <a:pt x="96078" y="185530"/>
                </a:lnTo>
                <a:lnTo>
                  <a:pt x="96078" y="202096"/>
                </a:lnTo>
                <a:cubicBezTo>
                  <a:pt x="96078" y="207604"/>
                  <a:pt x="100509" y="212035"/>
                  <a:pt x="106017" y="212035"/>
                </a:cubicBezTo>
                <a:cubicBezTo>
                  <a:pt x="111525" y="212035"/>
                  <a:pt x="115957" y="207604"/>
                  <a:pt x="115957" y="202096"/>
                </a:cubicBezTo>
                <a:lnTo>
                  <a:pt x="115957" y="185530"/>
                </a:lnTo>
                <a:lnTo>
                  <a:pt x="139148" y="185530"/>
                </a:lnTo>
                <a:lnTo>
                  <a:pt x="139148" y="202096"/>
                </a:lnTo>
                <a:cubicBezTo>
                  <a:pt x="139148" y="207604"/>
                  <a:pt x="143579" y="212035"/>
                  <a:pt x="149087" y="212035"/>
                </a:cubicBezTo>
                <a:cubicBezTo>
                  <a:pt x="154595" y="212035"/>
                  <a:pt x="159026" y="207604"/>
                  <a:pt x="159026" y="202096"/>
                </a:cubicBezTo>
                <a:lnTo>
                  <a:pt x="159026" y="185530"/>
                </a:lnTo>
                <a:cubicBezTo>
                  <a:pt x="173645" y="185530"/>
                  <a:pt x="185530" y="173645"/>
                  <a:pt x="185530" y="159026"/>
                </a:cubicBezTo>
                <a:lnTo>
                  <a:pt x="202096" y="159026"/>
                </a:lnTo>
                <a:cubicBezTo>
                  <a:pt x="207604" y="159026"/>
                  <a:pt x="212035" y="154595"/>
                  <a:pt x="212035" y="149087"/>
                </a:cubicBezTo>
                <a:cubicBezTo>
                  <a:pt x="212035" y="143579"/>
                  <a:pt x="207604" y="139148"/>
                  <a:pt x="202096" y="139148"/>
                </a:cubicBezTo>
                <a:lnTo>
                  <a:pt x="185530" y="139148"/>
                </a:lnTo>
                <a:lnTo>
                  <a:pt x="185530" y="115957"/>
                </a:lnTo>
                <a:lnTo>
                  <a:pt x="202096" y="115957"/>
                </a:lnTo>
                <a:cubicBezTo>
                  <a:pt x="207604" y="115957"/>
                  <a:pt x="212035" y="111525"/>
                  <a:pt x="212035" y="106017"/>
                </a:cubicBezTo>
                <a:cubicBezTo>
                  <a:pt x="212035" y="100509"/>
                  <a:pt x="207604" y="96078"/>
                  <a:pt x="202096" y="96078"/>
                </a:cubicBezTo>
                <a:lnTo>
                  <a:pt x="185530" y="96078"/>
                </a:lnTo>
                <a:lnTo>
                  <a:pt x="185530" y="72887"/>
                </a:lnTo>
                <a:lnTo>
                  <a:pt x="202096" y="72887"/>
                </a:lnTo>
                <a:cubicBezTo>
                  <a:pt x="207604" y="72887"/>
                  <a:pt x="212035" y="68456"/>
                  <a:pt x="212035" y="62948"/>
                </a:cubicBezTo>
                <a:cubicBezTo>
                  <a:pt x="212035" y="57440"/>
                  <a:pt x="207604" y="53009"/>
                  <a:pt x="202096" y="53009"/>
                </a:cubicBezTo>
                <a:lnTo>
                  <a:pt x="185530" y="53009"/>
                </a:lnTo>
                <a:cubicBezTo>
                  <a:pt x="185530" y="38390"/>
                  <a:pt x="173645" y="26504"/>
                  <a:pt x="159026" y="26504"/>
                </a:cubicBezTo>
                <a:lnTo>
                  <a:pt x="159026" y="9939"/>
                </a:lnTo>
                <a:cubicBezTo>
                  <a:pt x="159026" y="4431"/>
                  <a:pt x="154595" y="0"/>
                  <a:pt x="149087" y="0"/>
                </a:cubicBezTo>
                <a:cubicBezTo>
                  <a:pt x="143579" y="0"/>
                  <a:pt x="139148" y="4431"/>
                  <a:pt x="139148" y="9939"/>
                </a:cubicBezTo>
                <a:lnTo>
                  <a:pt x="139148" y="26504"/>
                </a:lnTo>
                <a:lnTo>
                  <a:pt x="115957" y="26504"/>
                </a:lnTo>
                <a:lnTo>
                  <a:pt x="115957" y="9939"/>
                </a:lnTo>
                <a:cubicBezTo>
                  <a:pt x="115957" y="4431"/>
                  <a:pt x="111525" y="0"/>
                  <a:pt x="106017" y="0"/>
                </a:cubicBezTo>
                <a:cubicBezTo>
                  <a:pt x="100509" y="0"/>
                  <a:pt x="96078" y="4431"/>
                  <a:pt x="96078" y="9939"/>
                </a:cubicBezTo>
                <a:lnTo>
                  <a:pt x="96078" y="26504"/>
                </a:lnTo>
                <a:lnTo>
                  <a:pt x="72887" y="26504"/>
                </a:lnTo>
                <a:lnTo>
                  <a:pt x="72887" y="9939"/>
                </a:lnTo>
                <a:close/>
                <a:moveTo>
                  <a:pt x="66261" y="53009"/>
                </a:moveTo>
                <a:lnTo>
                  <a:pt x="145774" y="53009"/>
                </a:lnTo>
                <a:cubicBezTo>
                  <a:pt x="153104" y="53009"/>
                  <a:pt x="159026" y="58931"/>
                  <a:pt x="159026" y="66261"/>
                </a:cubicBezTo>
                <a:lnTo>
                  <a:pt x="159026" y="145774"/>
                </a:lnTo>
                <a:cubicBezTo>
                  <a:pt x="159026" y="153104"/>
                  <a:pt x="153104" y="159026"/>
                  <a:pt x="145774" y="159026"/>
                </a:cubicBezTo>
                <a:lnTo>
                  <a:pt x="66261" y="159026"/>
                </a:lnTo>
                <a:cubicBezTo>
                  <a:pt x="58931" y="159026"/>
                  <a:pt x="53009" y="153104"/>
                  <a:pt x="53009" y="145774"/>
                </a:cubicBezTo>
                <a:lnTo>
                  <a:pt x="53009" y="66261"/>
                </a:lnTo>
                <a:cubicBezTo>
                  <a:pt x="53009" y="58931"/>
                  <a:pt x="58931" y="53009"/>
                  <a:pt x="66261" y="53009"/>
                </a:cubicBezTo>
                <a:close/>
                <a:moveTo>
                  <a:pt x="72887" y="72887"/>
                </a:moveTo>
                <a:lnTo>
                  <a:pt x="72887" y="139148"/>
                </a:lnTo>
                <a:lnTo>
                  <a:pt x="139148" y="139148"/>
                </a:lnTo>
                <a:lnTo>
                  <a:pt x="139148" y="72887"/>
                </a:lnTo>
                <a:lnTo>
                  <a:pt x="72887" y="7288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100998" y="1412069"/>
            <a:ext cx="1572591" cy="28271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6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Zone Compute</a:t>
            </a:r>
            <a:endParaRPr lang="en-US" sz="1100"/>
          </a:p>
        </p:txBody>
      </p:sp>
      <p:sp>
        <p:nvSpPr>
          <p:cNvPr id="20" name="AutoShape 20"/>
          <p:cNvSpPr/>
          <p:nvPr/>
        </p:nvSpPr>
        <p:spPr>
          <a:xfrm>
            <a:off x="7100998" y="1694679"/>
            <a:ext cx="1546087"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85" b="1" i="0" u="none" strike="noStrike">
                <a:solidFill>
                  <a:srgbClr val="E7000B"/>
                </a:solidFill>
                <a:latin typeface="MiSans" panose="00000500000000000000" charset="-122"/>
                <a:ea typeface="MiSans" panose="00000500000000000000" charset="-122"/>
                <a:cs typeface="MiSans" panose="00000500000000000000" charset="-122"/>
                <a:sym typeface="MiSans" panose="00000500000000000000" charset="-122"/>
              </a:rPr>
              <a:t>Compute Bound</a:t>
            </a:r>
            <a:endParaRPr lang="en-US" sz="1100"/>
          </a:p>
        </p:txBody>
      </p:sp>
      <p:sp>
        <p:nvSpPr>
          <p:cNvPr id="21" name="Freeform 21"/>
          <p:cNvSpPr/>
          <p:nvPr/>
        </p:nvSpPr>
        <p:spPr>
          <a:xfrm>
            <a:off x="6464968" y="2880096"/>
            <a:ext cx="5141843" cy="1590261"/>
          </a:xfrm>
          <a:custGeom>
            <a:avLst/>
            <a:gdLst/>
            <a:ahLst/>
            <a:cxnLst/>
            <a:rect l="l" t="t" r="r" b="b"/>
            <a:pathLst>
              <a:path w="5141843" h="1590261">
                <a:moveTo>
                  <a:pt x="70670" y="0"/>
                </a:moveTo>
                <a:lnTo>
                  <a:pt x="5071172" y="0"/>
                </a:lnTo>
                <a:cubicBezTo>
                  <a:pt x="5110176" y="0"/>
                  <a:pt x="5141843" y="31667"/>
                  <a:pt x="5141843" y="70670"/>
                </a:cubicBezTo>
                <a:lnTo>
                  <a:pt x="5141843" y="1519591"/>
                </a:lnTo>
                <a:cubicBezTo>
                  <a:pt x="5141843" y="1558594"/>
                  <a:pt x="5110176" y="1590261"/>
                  <a:pt x="5071172" y="1590261"/>
                </a:cubicBezTo>
                <a:lnTo>
                  <a:pt x="70670" y="1590261"/>
                </a:lnTo>
                <a:cubicBezTo>
                  <a:pt x="31667" y="1590261"/>
                  <a:pt x="0" y="1558594"/>
                  <a:pt x="0" y="1519591"/>
                </a:cubicBezTo>
                <a:lnTo>
                  <a:pt x="0" y="70670"/>
                </a:lnTo>
                <a:cubicBezTo>
                  <a:pt x="0" y="31641"/>
                  <a:pt x="31641" y="0"/>
                  <a:pt x="70670"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2" name="AutoShape 22"/>
          <p:cNvSpPr/>
          <p:nvPr/>
        </p:nvSpPr>
        <p:spPr>
          <a:xfrm>
            <a:off x="6641608" y="3056731"/>
            <a:ext cx="4867965"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85"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Direction d'optimisation :</a:t>
            </a:r>
            <a:endParaRPr lang="en-US" sz="1100"/>
          </a:p>
        </p:txBody>
      </p:sp>
      <p:sp>
        <p:nvSpPr>
          <p:cNvPr id="23" name="Freeform 23"/>
          <p:cNvSpPr/>
          <p:nvPr/>
        </p:nvSpPr>
        <p:spPr>
          <a:xfrm>
            <a:off x="6659278" y="3480749"/>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8"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8" y="66095"/>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946265" y="3445510"/>
            <a:ext cx="3977640" cy="2120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Vectorisation SIMD</a:t>
            </a:r>
            <a:endParaRPr lang="en-US" sz="1100"/>
          </a:p>
        </p:txBody>
      </p:sp>
      <p:sp>
        <p:nvSpPr>
          <p:cNvPr id="25" name="Freeform 25"/>
          <p:cNvSpPr/>
          <p:nvPr/>
        </p:nvSpPr>
        <p:spPr>
          <a:xfrm>
            <a:off x="6659278" y="3798732"/>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8"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8" y="66095"/>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946265" y="3763645"/>
            <a:ext cx="2273300" cy="2120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Parallélisation</a:t>
            </a:r>
            <a:endParaRPr lang="en-US" sz="1100"/>
          </a:p>
        </p:txBody>
      </p:sp>
      <p:sp>
        <p:nvSpPr>
          <p:cNvPr id="27" name="Freeform 27"/>
          <p:cNvSpPr/>
          <p:nvPr/>
        </p:nvSpPr>
        <p:spPr>
          <a:xfrm>
            <a:off x="6659278" y="4116715"/>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8"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8" y="66095"/>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946265" y="4081145"/>
            <a:ext cx="3006090" cy="2120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Accélération GPU</a:t>
            </a:r>
            <a:endParaRPr lang="en-US" sz="1100"/>
          </a:p>
        </p:txBody>
      </p:sp>
      <p:sp>
        <p:nvSpPr>
          <p:cNvPr id="29" name="Freeform 29"/>
          <p:cNvSpPr/>
          <p:nvPr/>
        </p:nvSpPr>
        <p:spPr>
          <a:xfrm>
            <a:off x="370932" y="5901462"/>
            <a:ext cx="11467460" cy="600765"/>
          </a:xfrm>
          <a:custGeom>
            <a:avLst/>
            <a:gdLst/>
            <a:ahLst/>
            <a:cxnLst/>
            <a:rect l="l" t="t" r="r" b="b"/>
            <a:pathLst>
              <a:path w="11467460" h="600765">
                <a:moveTo>
                  <a:pt x="35162" y="0"/>
                </a:moveTo>
                <a:lnTo>
                  <a:pt x="11361443" y="0"/>
                </a:lnTo>
                <a:cubicBezTo>
                  <a:pt x="11419994" y="0"/>
                  <a:pt x="11467460" y="47465"/>
                  <a:pt x="11467460" y="106017"/>
                </a:cubicBezTo>
                <a:lnTo>
                  <a:pt x="11467460" y="494748"/>
                </a:lnTo>
                <a:cubicBezTo>
                  <a:pt x="11467460" y="553300"/>
                  <a:pt x="11419994" y="600765"/>
                  <a:pt x="11361443" y="600765"/>
                </a:cubicBezTo>
                <a:lnTo>
                  <a:pt x="35162" y="600765"/>
                </a:lnTo>
                <a:cubicBezTo>
                  <a:pt x="15743" y="600765"/>
                  <a:pt x="0" y="585022"/>
                  <a:pt x="0" y="565602"/>
                </a:cubicBezTo>
                <a:lnTo>
                  <a:pt x="0" y="35162"/>
                </a:lnTo>
                <a:cubicBezTo>
                  <a:pt x="0" y="15756"/>
                  <a:pt x="15756" y="0"/>
                  <a:pt x="3516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370932" y="5901462"/>
            <a:ext cx="35162" cy="600765"/>
          </a:xfrm>
          <a:custGeom>
            <a:avLst/>
            <a:gdLst/>
            <a:ahLst/>
            <a:cxnLst/>
            <a:rect l="l" t="t" r="r" b="b"/>
            <a:pathLst>
              <a:path w="35162" h="600765">
                <a:moveTo>
                  <a:pt x="35162" y="0"/>
                </a:moveTo>
                <a:lnTo>
                  <a:pt x="35162" y="0"/>
                </a:lnTo>
                <a:lnTo>
                  <a:pt x="35162" y="600765"/>
                </a:lnTo>
                <a:lnTo>
                  <a:pt x="35162" y="600765"/>
                </a:lnTo>
                <a:cubicBezTo>
                  <a:pt x="15756" y="600765"/>
                  <a:pt x="0" y="585009"/>
                  <a:pt x="0" y="565602"/>
                </a:cubicBezTo>
                <a:lnTo>
                  <a:pt x="0" y="35162"/>
                </a:lnTo>
                <a:cubicBezTo>
                  <a:pt x="0" y="15756"/>
                  <a:pt x="15756" y="0"/>
                  <a:pt x="3516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565154" y="6078097"/>
            <a:ext cx="11184835" cy="24737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Idée centrale :</a:t>
            </a:r>
            <a:r>
              <a:rPr lang="en-US" sz="78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Selon la position du programme dans le diagramme Roofline, choisir une stratégie d'optimisation ciblée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04720" y="608842"/>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Résumé</a:t>
            </a:r>
            <a:endParaRPr lang="en-US" sz="1100"/>
          </a:p>
        </p:txBody>
      </p:sp>
      <p:sp>
        <p:nvSpPr>
          <p:cNvPr id="3" name="AutoShape 3"/>
          <p:cNvSpPr/>
          <p:nvPr/>
        </p:nvSpPr>
        <p:spPr>
          <a:xfrm>
            <a:off x="380956" y="1236667"/>
            <a:ext cx="115443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Indicateurs clés de performance</a:t>
            </a:r>
            <a:endParaRPr lang="en-US" sz="1100"/>
          </a:p>
        </p:txBody>
      </p:sp>
      <p:sp>
        <p:nvSpPr>
          <p:cNvPr id="4" name="Freeform 4"/>
          <p:cNvSpPr/>
          <p:nvPr/>
        </p:nvSpPr>
        <p:spPr>
          <a:xfrm>
            <a:off x="380956" y="1731800"/>
            <a:ext cx="3686175" cy="1181100"/>
          </a:xfrm>
          <a:custGeom>
            <a:avLst/>
            <a:gdLst/>
            <a:ahLst/>
            <a:cxnLst/>
            <a:rect l="l" t="t" r="r" b="b"/>
            <a:pathLst>
              <a:path w="3686175" h="1181100">
                <a:moveTo>
                  <a:pt x="114295" y="0"/>
                </a:moveTo>
                <a:lnTo>
                  <a:pt x="3571880" y="0"/>
                </a:lnTo>
                <a:cubicBezTo>
                  <a:pt x="3635003" y="0"/>
                  <a:pt x="3686175" y="51172"/>
                  <a:pt x="3686175" y="114295"/>
                </a:cubicBezTo>
                <a:lnTo>
                  <a:pt x="3686175" y="1066805"/>
                </a:lnTo>
                <a:cubicBezTo>
                  <a:pt x="3686175" y="1129928"/>
                  <a:pt x="3635003" y="1181100"/>
                  <a:pt x="357188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71396" y="1922244"/>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728532" y="2055519"/>
            <a:ext cx="142875" cy="190500"/>
          </a:xfrm>
          <a:custGeom>
            <a:avLst/>
            <a:gdLst/>
            <a:ahLst/>
            <a:cxnLst/>
            <a:rect l="l" t="t" r="r" b="b"/>
            <a:pathLst>
              <a:path w="142875" h="190500">
                <a:moveTo>
                  <a:pt x="23812" y="0"/>
                </a:moveTo>
                <a:cubicBezTo>
                  <a:pt x="10678" y="0"/>
                  <a:pt x="0" y="10678"/>
                  <a:pt x="0" y="23813"/>
                </a:cubicBezTo>
                <a:lnTo>
                  <a:pt x="0" y="166687"/>
                </a:lnTo>
                <a:cubicBezTo>
                  <a:pt x="0" y="179822"/>
                  <a:pt x="10678" y="190500"/>
                  <a:pt x="23812" y="190500"/>
                </a:cubicBezTo>
                <a:lnTo>
                  <a:pt x="119063" y="190500"/>
                </a:lnTo>
                <a:cubicBezTo>
                  <a:pt x="132197" y="190500"/>
                  <a:pt x="142875" y="179822"/>
                  <a:pt x="142875" y="166687"/>
                </a:cubicBezTo>
                <a:lnTo>
                  <a:pt x="142875" y="23813"/>
                </a:lnTo>
                <a:cubicBezTo>
                  <a:pt x="142875" y="10678"/>
                  <a:pt x="132197" y="0"/>
                  <a:pt x="119063" y="0"/>
                </a:cubicBezTo>
                <a:lnTo>
                  <a:pt x="23812" y="0"/>
                </a:lnTo>
                <a:close/>
                <a:moveTo>
                  <a:pt x="35719" y="23813"/>
                </a:moveTo>
                <a:lnTo>
                  <a:pt x="107156" y="23813"/>
                </a:lnTo>
                <a:cubicBezTo>
                  <a:pt x="113742" y="23813"/>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3"/>
                  <a:pt x="35719" y="23813"/>
                </a:cubicBezTo>
                <a:close/>
                <a:moveTo>
                  <a:pt x="41673" y="86321"/>
                </a:moveTo>
                <a:cubicBezTo>
                  <a:pt x="41673" y="91249"/>
                  <a:pt x="37671" y="95250"/>
                  <a:pt x="32742" y="95250"/>
                </a:cubicBezTo>
                <a:cubicBezTo>
                  <a:pt x="27814" y="95250"/>
                  <a:pt x="23812" y="91249"/>
                  <a:pt x="23812" y="86321"/>
                </a:cubicBezTo>
                <a:cubicBezTo>
                  <a:pt x="23812" y="81392"/>
                  <a:pt x="27814" y="77391"/>
                  <a:pt x="32742" y="77391"/>
                </a:cubicBezTo>
                <a:cubicBezTo>
                  <a:pt x="37671" y="77391"/>
                  <a:pt x="41673" y="81392"/>
                  <a:pt x="41673" y="86321"/>
                </a:cubicBezTo>
                <a:close/>
                <a:moveTo>
                  <a:pt x="71438" y="95250"/>
                </a:moveTo>
                <a:cubicBezTo>
                  <a:pt x="66509" y="95250"/>
                  <a:pt x="62508" y="91249"/>
                  <a:pt x="62508" y="86321"/>
                </a:cubicBezTo>
                <a:cubicBezTo>
                  <a:pt x="62508" y="81392"/>
                  <a:pt x="66509" y="77391"/>
                  <a:pt x="71438" y="77391"/>
                </a:cubicBezTo>
                <a:cubicBezTo>
                  <a:pt x="76366" y="77391"/>
                  <a:pt x="80367" y="81392"/>
                  <a:pt x="80367" y="86321"/>
                </a:cubicBezTo>
                <a:cubicBezTo>
                  <a:pt x="80367" y="91249"/>
                  <a:pt x="76366" y="95250"/>
                  <a:pt x="71438" y="95250"/>
                </a:cubicBezTo>
                <a:close/>
                <a:moveTo>
                  <a:pt x="119063" y="86321"/>
                </a:moveTo>
                <a:cubicBezTo>
                  <a:pt x="119063" y="91249"/>
                  <a:pt x="115061" y="95250"/>
                  <a:pt x="110133" y="95250"/>
                </a:cubicBezTo>
                <a:cubicBezTo>
                  <a:pt x="105204" y="95250"/>
                  <a:pt x="101202" y="91249"/>
                  <a:pt x="101202" y="86321"/>
                </a:cubicBezTo>
                <a:cubicBezTo>
                  <a:pt x="101202" y="81392"/>
                  <a:pt x="105204" y="77391"/>
                  <a:pt x="110133" y="77391"/>
                </a:cubicBezTo>
                <a:cubicBezTo>
                  <a:pt x="115061" y="77391"/>
                  <a:pt x="119063" y="81392"/>
                  <a:pt x="119063" y="86321"/>
                </a:cubicBezTo>
                <a:close/>
                <a:moveTo>
                  <a:pt x="32742" y="130969"/>
                </a:moveTo>
                <a:cubicBezTo>
                  <a:pt x="27814" y="130969"/>
                  <a:pt x="23812" y="126967"/>
                  <a:pt x="23812" y="122039"/>
                </a:cubicBezTo>
                <a:cubicBezTo>
                  <a:pt x="23812" y="117111"/>
                  <a:pt x="27814" y="113109"/>
                  <a:pt x="32742" y="113109"/>
                </a:cubicBezTo>
                <a:cubicBezTo>
                  <a:pt x="37671" y="113109"/>
                  <a:pt x="41673" y="117111"/>
                  <a:pt x="41673" y="122039"/>
                </a:cubicBezTo>
                <a:cubicBezTo>
                  <a:pt x="41673"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2" y="126967"/>
                  <a:pt x="101202" y="122039"/>
                </a:cubicBezTo>
                <a:cubicBezTo>
                  <a:pt x="101202"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7"/>
                  <a:pt x="32742" y="148827"/>
                </a:cubicBezTo>
                <a:lnTo>
                  <a:pt x="74414" y="148827"/>
                </a:lnTo>
                <a:cubicBezTo>
                  <a:pt x="79364" y="148827"/>
                  <a:pt x="83344" y="152809"/>
                  <a:pt x="83344" y="157758"/>
                </a:cubicBezTo>
                <a:cubicBezTo>
                  <a:pt x="83344" y="162706"/>
                  <a:pt x="79364" y="166687"/>
                  <a:pt x="74414" y="166687"/>
                </a:cubicBezTo>
                <a:lnTo>
                  <a:pt x="32742" y="166687"/>
                </a:lnTo>
                <a:cubicBezTo>
                  <a:pt x="27794" y="166687"/>
                  <a:pt x="23812" y="162706"/>
                  <a:pt x="23812" y="157758"/>
                </a:cubicBezTo>
                <a:close/>
                <a:moveTo>
                  <a:pt x="110133" y="148827"/>
                </a:moveTo>
                <a:cubicBezTo>
                  <a:pt x="115081" y="148827"/>
                  <a:pt x="119063" y="152809"/>
                  <a:pt x="119063" y="157758"/>
                </a:cubicBezTo>
                <a:cubicBezTo>
                  <a:pt x="119063" y="162706"/>
                  <a:pt x="115081" y="166687"/>
                  <a:pt x="110133" y="166687"/>
                </a:cubicBezTo>
                <a:cubicBezTo>
                  <a:pt x="105184" y="166687"/>
                  <a:pt x="101202" y="162706"/>
                  <a:pt x="101202" y="157758"/>
                </a:cubicBezTo>
                <a:cubicBezTo>
                  <a:pt x="101202" y="152809"/>
                  <a:pt x="105184" y="148827"/>
                  <a:pt x="110133" y="14882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142793" y="2017466"/>
            <a:ext cx="704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a:t>
            </a:r>
            <a:endParaRPr lang="en-US" sz="1100"/>
          </a:p>
        </p:txBody>
      </p:sp>
      <p:sp>
        <p:nvSpPr>
          <p:cNvPr id="8" name="AutoShape 8"/>
          <p:cNvSpPr/>
          <p:nvPr/>
        </p:nvSpPr>
        <p:spPr>
          <a:xfrm>
            <a:off x="571396" y="2493642"/>
            <a:ext cx="33813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Capacité de calcul</a:t>
            </a:r>
            <a:endParaRPr lang="en-US" sz="1100"/>
          </a:p>
        </p:txBody>
      </p:sp>
      <p:sp>
        <p:nvSpPr>
          <p:cNvPr id="9" name="Freeform 9"/>
          <p:cNvSpPr/>
          <p:nvPr/>
        </p:nvSpPr>
        <p:spPr>
          <a:xfrm>
            <a:off x="4254411" y="1731800"/>
            <a:ext cx="3686175" cy="1181100"/>
          </a:xfrm>
          <a:custGeom>
            <a:avLst/>
            <a:gdLst/>
            <a:ahLst/>
            <a:cxnLst/>
            <a:rect l="l" t="t" r="r" b="b"/>
            <a:pathLst>
              <a:path w="3686175" h="1181100">
                <a:moveTo>
                  <a:pt x="114295" y="0"/>
                </a:moveTo>
                <a:lnTo>
                  <a:pt x="3571880" y="0"/>
                </a:lnTo>
                <a:cubicBezTo>
                  <a:pt x="3635003" y="0"/>
                  <a:pt x="3686175" y="51172"/>
                  <a:pt x="3686175" y="114295"/>
                </a:cubicBezTo>
                <a:lnTo>
                  <a:pt x="3686175" y="1066805"/>
                </a:lnTo>
                <a:cubicBezTo>
                  <a:pt x="3686175" y="1129928"/>
                  <a:pt x="3635003" y="1181100"/>
                  <a:pt x="357188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444852" y="1922244"/>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4578175" y="2055519"/>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3"/>
                  <a:pt x="95250" y="23813"/>
                </a:cubicBezTo>
                <a:cubicBezTo>
                  <a:pt x="88679" y="23813"/>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3" y="144103"/>
                  <a:pt x="119063" y="130969"/>
                </a:cubicBezTo>
                <a:cubicBezTo>
                  <a:pt x="119063" y="124941"/>
                  <a:pt x="116830" y="119397"/>
                  <a:pt x="113109" y="115230"/>
                </a:cubicBezTo>
                <a:lnTo>
                  <a:pt x="138968" y="63550"/>
                </a:lnTo>
                <a:cubicBezTo>
                  <a:pt x="141163" y="59122"/>
                  <a:pt x="139377" y="53764"/>
                  <a:pt x="134987" y="51570"/>
                </a:cubicBezTo>
                <a:cubicBezTo>
                  <a:pt x="130597" y="49374"/>
                  <a:pt x="125202" y="51159"/>
                  <a:pt x="123006" y="55550"/>
                </a:cubicBezTo>
                <a:lnTo>
                  <a:pt x="97147" y="107231"/>
                </a:lnTo>
                <a:cubicBezTo>
                  <a:pt x="96515" y="107193"/>
                  <a:pt x="95882" y="107156"/>
                  <a:pt x="95250" y="107156"/>
                </a:cubicBezTo>
                <a:cubicBezTo>
                  <a:pt x="82116" y="107156"/>
                  <a:pt x="71437" y="117834"/>
                  <a:pt x="71437" y="130969"/>
                </a:cubicBezTo>
                <a:cubicBezTo>
                  <a:pt x="71437" y="144103"/>
                  <a:pt x="82116" y="154781"/>
                  <a:pt x="95250" y="154781"/>
                </a:cubicBezTo>
                <a:close/>
                <a:moveTo>
                  <a:pt x="65484" y="53577"/>
                </a:moveTo>
                <a:cubicBezTo>
                  <a:pt x="65484" y="47007"/>
                  <a:pt x="60148" y="41673"/>
                  <a:pt x="53577" y="41673"/>
                </a:cubicBezTo>
                <a:cubicBezTo>
                  <a:pt x="47007" y="41673"/>
                  <a:pt x="41673" y="47007"/>
                  <a:pt x="41673" y="53577"/>
                </a:cubicBezTo>
                <a:cubicBezTo>
                  <a:pt x="41673" y="60148"/>
                  <a:pt x="47007" y="65484"/>
                  <a:pt x="53577" y="65484"/>
                </a:cubicBezTo>
                <a:cubicBezTo>
                  <a:pt x="60148" y="65484"/>
                  <a:pt x="65484" y="60148"/>
                  <a:pt x="65484" y="53577"/>
                </a:cubicBezTo>
                <a:close/>
                <a:moveTo>
                  <a:pt x="35719" y="107156"/>
                </a:moveTo>
                <a:cubicBezTo>
                  <a:pt x="42290" y="107156"/>
                  <a:pt x="47625" y="101821"/>
                  <a:pt x="47625" y="95250"/>
                </a:cubicBezTo>
                <a:cubicBezTo>
                  <a:pt x="47625" y="88679"/>
                  <a:pt x="42290" y="83344"/>
                  <a:pt x="35719" y="83344"/>
                </a:cubicBezTo>
                <a:cubicBezTo>
                  <a:pt x="29148" y="83344"/>
                  <a:pt x="23813" y="88679"/>
                  <a:pt x="23813" y="95250"/>
                </a:cubicBezTo>
                <a:cubicBezTo>
                  <a:pt x="23813" y="101821"/>
                  <a:pt x="29148" y="107156"/>
                  <a:pt x="35719" y="107156"/>
                </a:cubicBezTo>
                <a:close/>
                <a:moveTo>
                  <a:pt x="166687" y="95250"/>
                </a:moveTo>
                <a:cubicBezTo>
                  <a:pt x="166687" y="88679"/>
                  <a:pt x="161352" y="83344"/>
                  <a:pt x="154781" y="83344"/>
                </a:cubicBezTo>
                <a:cubicBezTo>
                  <a:pt x="148210" y="83344"/>
                  <a:pt x="142875" y="88679"/>
                  <a:pt x="142875" y="95250"/>
                </a:cubicBezTo>
                <a:cubicBezTo>
                  <a:pt x="142875" y="101821"/>
                  <a:pt x="148210" y="107156"/>
                  <a:pt x="154781" y="107156"/>
                </a:cubicBezTo>
                <a:cubicBezTo>
                  <a:pt x="161352" y="107156"/>
                  <a:pt x="166687" y="101821"/>
                  <a:pt x="166687"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016248" y="2017466"/>
            <a:ext cx="11334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a:t>
            </a:r>
            <a:endParaRPr lang="en-US" sz="1100"/>
          </a:p>
        </p:txBody>
      </p:sp>
      <p:sp>
        <p:nvSpPr>
          <p:cNvPr id="13" name="AutoShape 13"/>
          <p:cNvSpPr/>
          <p:nvPr/>
        </p:nvSpPr>
        <p:spPr>
          <a:xfrm>
            <a:off x="4444852" y="2493642"/>
            <a:ext cx="33813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Capacité de débit de données</a:t>
            </a:r>
            <a:endParaRPr lang="en-US" sz="1100"/>
          </a:p>
        </p:txBody>
      </p:sp>
      <p:sp>
        <p:nvSpPr>
          <p:cNvPr id="14" name="Freeform 14"/>
          <p:cNvSpPr/>
          <p:nvPr/>
        </p:nvSpPr>
        <p:spPr>
          <a:xfrm>
            <a:off x="8127941" y="1731800"/>
            <a:ext cx="3686175" cy="1181100"/>
          </a:xfrm>
          <a:custGeom>
            <a:avLst/>
            <a:gdLst/>
            <a:ahLst/>
            <a:cxnLst/>
            <a:rect l="l" t="t" r="r" b="b"/>
            <a:pathLst>
              <a:path w="3686175" h="1181100">
                <a:moveTo>
                  <a:pt x="114295" y="0"/>
                </a:moveTo>
                <a:lnTo>
                  <a:pt x="3571880" y="0"/>
                </a:lnTo>
                <a:cubicBezTo>
                  <a:pt x="3635003" y="0"/>
                  <a:pt x="3686175" y="51172"/>
                  <a:pt x="3686175" y="114295"/>
                </a:cubicBezTo>
                <a:lnTo>
                  <a:pt x="3686175" y="1066805"/>
                </a:lnTo>
                <a:cubicBezTo>
                  <a:pt x="3686175" y="1129928"/>
                  <a:pt x="3635003" y="1181100"/>
                  <a:pt x="357188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318381" y="1922244"/>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8451704" y="2055519"/>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1" y="44648"/>
                </a:moveTo>
                <a:lnTo>
                  <a:pt x="86321" y="95250"/>
                </a:lnTo>
                <a:cubicBezTo>
                  <a:pt x="86321" y="98227"/>
                  <a:pt x="87809" y="101017"/>
                  <a:pt x="90301" y="102691"/>
                </a:cubicBezTo>
                <a:lnTo>
                  <a:pt x="126020" y="126503"/>
                </a:lnTo>
                <a:cubicBezTo>
                  <a:pt x="130113" y="129257"/>
                  <a:pt x="135658" y="128140"/>
                  <a:pt x="138410" y="124010"/>
                </a:cubicBezTo>
                <a:cubicBezTo>
                  <a:pt x="141163" y="119880"/>
                  <a:pt x="140047" y="114374"/>
                  <a:pt x="135917" y="111622"/>
                </a:cubicBezTo>
                <a:lnTo>
                  <a:pt x="104179" y="90487"/>
                </a:lnTo>
                <a:lnTo>
                  <a:pt x="104179" y="44648"/>
                </a:lnTo>
                <a:cubicBezTo>
                  <a:pt x="104179" y="39700"/>
                  <a:pt x="100199" y="35719"/>
                  <a:pt x="95250" y="35719"/>
                </a:cubicBezTo>
                <a:cubicBezTo>
                  <a:pt x="90301" y="35719"/>
                  <a:pt x="86321" y="39700"/>
                  <a:pt x="86321" y="4464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889778" y="2017466"/>
            <a:ext cx="828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Latency</a:t>
            </a:r>
            <a:endParaRPr lang="en-US" sz="1100"/>
          </a:p>
        </p:txBody>
      </p:sp>
      <p:sp>
        <p:nvSpPr>
          <p:cNvPr id="18" name="AutoShape 18"/>
          <p:cNvSpPr/>
          <p:nvPr/>
        </p:nvSpPr>
        <p:spPr>
          <a:xfrm>
            <a:off x="8318381" y="2493642"/>
            <a:ext cx="33813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Temps d'accès unitaire</a:t>
            </a:r>
            <a:endParaRPr lang="en-US" sz="1100"/>
          </a:p>
        </p:txBody>
      </p:sp>
      <p:sp>
        <p:nvSpPr>
          <p:cNvPr id="19" name="Freeform 19"/>
          <p:cNvSpPr/>
          <p:nvPr/>
        </p:nvSpPr>
        <p:spPr>
          <a:xfrm>
            <a:off x="380956" y="3103093"/>
            <a:ext cx="3686175" cy="1181100"/>
          </a:xfrm>
          <a:custGeom>
            <a:avLst/>
            <a:gdLst/>
            <a:ahLst/>
            <a:cxnLst/>
            <a:rect l="l" t="t" r="r" b="b"/>
            <a:pathLst>
              <a:path w="3686175" h="1181100">
                <a:moveTo>
                  <a:pt x="114295" y="0"/>
                </a:moveTo>
                <a:lnTo>
                  <a:pt x="3571880" y="0"/>
                </a:lnTo>
                <a:cubicBezTo>
                  <a:pt x="3635003" y="0"/>
                  <a:pt x="3686175" y="51172"/>
                  <a:pt x="3686175" y="114295"/>
                </a:cubicBezTo>
                <a:lnTo>
                  <a:pt x="3686175" y="1066805"/>
                </a:lnTo>
                <a:cubicBezTo>
                  <a:pt x="3686175" y="1129928"/>
                  <a:pt x="3635003" y="1181100"/>
                  <a:pt x="357188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71396" y="3293537"/>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704720" y="3438718"/>
            <a:ext cx="190500" cy="166688"/>
          </a:xfrm>
          <a:custGeom>
            <a:avLst/>
            <a:gdLst/>
            <a:ahLst/>
            <a:cxnLst/>
            <a:rect l="l" t="t" r="r" b="b"/>
            <a:pathLst>
              <a:path w="190500" h="166688">
                <a:moveTo>
                  <a:pt x="23812" y="11906"/>
                </a:moveTo>
                <a:cubicBezTo>
                  <a:pt x="23812" y="5322"/>
                  <a:pt x="18492" y="0"/>
                  <a:pt x="11906" y="0"/>
                </a:cubicBezTo>
                <a:cubicBezTo>
                  <a:pt x="5321" y="0"/>
                  <a:pt x="0" y="5322"/>
                  <a:pt x="0" y="11906"/>
                </a:cubicBezTo>
                <a:lnTo>
                  <a:pt x="0" y="136921"/>
                </a:lnTo>
                <a:cubicBezTo>
                  <a:pt x="0" y="153368"/>
                  <a:pt x="13320" y="166688"/>
                  <a:pt x="29766" y="166688"/>
                </a:cubicBezTo>
                <a:lnTo>
                  <a:pt x="178594" y="166688"/>
                </a:lnTo>
                <a:cubicBezTo>
                  <a:pt x="185179" y="166688"/>
                  <a:pt x="190500" y="161366"/>
                  <a:pt x="190500" y="154782"/>
                </a:cubicBezTo>
                <a:cubicBezTo>
                  <a:pt x="190500" y="148197"/>
                  <a:pt x="185179" y="142875"/>
                  <a:pt x="178594" y="142875"/>
                </a:cubicBezTo>
                <a:lnTo>
                  <a:pt x="29766" y="142875"/>
                </a:lnTo>
                <a:cubicBezTo>
                  <a:pt x="26491" y="142875"/>
                  <a:pt x="23812" y="140196"/>
                  <a:pt x="23812" y="136921"/>
                </a:cubicBezTo>
                <a:lnTo>
                  <a:pt x="23812" y="11906"/>
                </a:lnTo>
                <a:close/>
                <a:moveTo>
                  <a:pt x="175096" y="44128"/>
                </a:moveTo>
                <a:cubicBezTo>
                  <a:pt x="179747" y="39477"/>
                  <a:pt x="179747" y="31924"/>
                  <a:pt x="175096" y="27273"/>
                </a:cubicBezTo>
                <a:cubicBezTo>
                  <a:pt x="170445" y="22621"/>
                  <a:pt x="162891" y="22621"/>
                  <a:pt x="158242" y="27273"/>
                </a:cubicBezTo>
                <a:lnTo>
                  <a:pt x="119062" y="66489"/>
                </a:lnTo>
                <a:lnTo>
                  <a:pt x="97706" y="45170"/>
                </a:lnTo>
                <a:cubicBezTo>
                  <a:pt x="93055" y="40520"/>
                  <a:pt x="85501" y="40520"/>
                  <a:pt x="80851" y="45170"/>
                </a:cubicBezTo>
                <a:lnTo>
                  <a:pt x="45132" y="80888"/>
                </a:lnTo>
                <a:cubicBezTo>
                  <a:pt x="40481" y="85539"/>
                  <a:pt x="40481" y="93093"/>
                  <a:pt x="45132" y="97743"/>
                </a:cubicBezTo>
                <a:cubicBezTo>
                  <a:pt x="49783" y="102394"/>
                  <a:pt x="57335" y="102394"/>
                  <a:pt x="61987" y="97743"/>
                </a:cubicBezTo>
                <a:lnTo>
                  <a:pt x="89298" y="70433"/>
                </a:lnTo>
                <a:lnTo>
                  <a:pt x="110654" y="91790"/>
                </a:lnTo>
                <a:cubicBezTo>
                  <a:pt x="115305" y="96442"/>
                  <a:pt x="122859" y="96442"/>
                  <a:pt x="127508" y="91790"/>
                </a:cubicBezTo>
                <a:lnTo>
                  <a:pt x="175133" y="44165"/>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142793" y="3388759"/>
            <a:ext cx="108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a:t>
            </a:r>
            <a:endParaRPr lang="en-US" sz="1100"/>
          </a:p>
        </p:txBody>
      </p:sp>
      <p:sp>
        <p:nvSpPr>
          <p:cNvPr id="23" name="AutoShape 23"/>
          <p:cNvSpPr/>
          <p:nvPr/>
        </p:nvSpPr>
        <p:spPr>
          <a:xfrm>
            <a:off x="571396" y="3864935"/>
            <a:ext cx="33813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Taux d'utilisation des ressources</a:t>
            </a:r>
            <a:endParaRPr lang="en-US" sz="1100"/>
          </a:p>
        </p:txBody>
      </p:sp>
      <p:sp>
        <p:nvSpPr>
          <p:cNvPr id="24" name="Freeform 24"/>
          <p:cNvSpPr/>
          <p:nvPr/>
        </p:nvSpPr>
        <p:spPr>
          <a:xfrm>
            <a:off x="4254411" y="3103093"/>
            <a:ext cx="7553325" cy="1181100"/>
          </a:xfrm>
          <a:custGeom>
            <a:avLst/>
            <a:gdLst/>
            <a:ahLst/>
            <a:cxnLst/>
            <a:rect l="l" t="t" r="r" b="b"/>
            <a:pathLst>
              <a:path w="7553325" h="1181100">
                <a:moveTo>
                  <a:pt x="114295" y="0"/>
                </a:moveTo>
                <a:lnTo>
                  <a:pt x="7439030" y="0"/>
                </a:lnTo>
                <a:cubicBezTo>
                  <a:pt x="7502153" y="0"/>
                  <a:pt x="7553325" y="51172"/>
                  <a:pt x="7553325" y="114295"/>
                </a:cubicBezTo>
                <a:lnTo>
                  <a:pt x="7553325" y="1066805"/>
                </a:lnTo>
                <a:cubicBezTo>
                  <a:pt x="7553325" y="1129928"/>
                  <a:pt x="7502153" y="1181100"/>
                  <a:pt x="743903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4444852" y="3293537"/>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4578175" y="3438718"/>
            <a:ext cx="190500" cy="166688"/>
          </a:xfrm>
          <a:custGeom>
            <a:avLst/>
            <a:gdLst/>
            <a:ahLst/>
            <a:cxnLst/>
            <a:rect l="l" t="t" r="r" b="b"/>
            <a:pathLst>
              <a:path w="190500" h="166688">
                <a:moveTo>
                  <a:pt x="0" y="17860"/>
                </a:moveTo>
                <a:cubicBezTo>
                  <a:pt x="0" y="8000"/>
                  <a:pt x="8000" y="0"/>
                  <a:pt x="17859" y="0"/>
                </a:cubicBezTo>
                <a:lnTo>
                  <a:pt x="53577" y="0"/>
                </a:lnTo>
                <a:cubicBezTo>
                  <a:pt x="63438" y="0"/>
                  <a:pt x="71437" y="8000"/>
                  <a:pt x="71437" y="17860"/>
                </a:cubicBezTo>
                <a:lnTo>
                  <a:pt x="71437" y="23813"/>
                </a:lnTo>
                <a:lnTo>
                  <a:pt x="119063" y="23813"/>
                </a:lnTo>
                <a:lnTo>
                  <a:pt x="119063" y="17860"/>
                </a:lnTo>
                <a:cubicBezTo>
                  <a:pt x="119063" y="8000"/>
                  <a:pt x="127062" y="0"/>
                  <a:pt x="136923" y="0"/>
                </a:cubicBezTo>
                <a:lnTo>
                  <a:pt x="172641" y="0"/>
                </a:lnTo>
                <a:cubicBezTo>
                  <a:pt x="182500" y="0"/>
                  <a:pt x="190500" y="8000"/>
                  <a:pt x="190500" y="17860"/>
                </a:cubicBezTo>
                <a:lnTo>
                  <a:pt x="190500" y="53578"/>
                </a:lnTo>
                <a:cubicBezTo>
                  <a:pt x="190500" y="63438"/>
                  <a:pt x="182500" y="71438"/>
                  <a:pt x="172641" y="71438"/>
                </a:cubicBezTo>
                <a:lnTo>
                  <a:pt x="136923" y="71438"/>
                </a:lnTo>
                <a:cubicBezTo>
                  <a:pt x="127062" y="71438"/>
                  <a:pt x="119063" y="63438"/>
                  <a:pt x="119063" y="53578"/>
                </a:cubicBezTo>
                <a:lnTo>
                  <a:pt x="119063" y="47625"/>
                </a:lnTo>
                <a:lnTo>
                  <a:pt x="71437" y="47625"/>
                </a:lnTo>
                <a:lnTo>
                  <a:pt x="71437" y="53578"/>
                </a:lnTo>
                <a:cubicBezTo>
                  <a:pt x="71437" y="56294"/>
                  <a:pt x="70805" y="58899"/>
                  <a:pt x="69726" y="61207"/>
                </a:cubicBezTo>
                <a:lnTo>
                  <a:pt x="95250" y="95250"/>
                </a:lnTo>
                <a:lnTo>
                  <a:pt x="125016" y="95250"/>
                </a:lnTo>
                <a:cubicBezTo>
                  <a:pt x="134875" y="95250"/>
                  <a:pt x="142875" y="103250"/>
                  <a:pt x="142875" y="113110"/>
                </a:cubicBezTo>
                <a:lnTo>
                  <a:pt x="142875" y="148828"/>
                </a:lnTo>
                <a:cubicBezTo>
                  <a:pt x="142875" y="158688"/>
                  <a:pt x="134875" y="166688"/>
                  <a:pt x="125016" y="166688"/>
                </a:cubicBezTo>
                <a:lnTo>
                  <a:pt x="89298" y="166688"/>
                </a:lnTo>
                <a:cubicBezTo>
                  <a:pt x="79437" y="166688"/>
                  <a:pt x="71437" y="158688"/>
                  <a:pt x="71437" y="148828"/>
                </a:cubicBezTo>
                <a:lnTo>
                  <a:pt x="71437" y="113110"/>
                </a:lnTo>
                <a:cubicBezTo>
                  <a:pt x="71437" y="110394"/>
                  <a:pt x="72070" y="107789"/>
                  <a:pt x="73149" y="105481"/>
                </a:cubicBezTo>
                <a:lnTo>
                  <a:pt x="47625" y="71438"/>
                </a:lnTo>
                <a:lnTo>
                  <a:pt x="17859" y="71438"/>
                </a:lnTo>
                <a:cubicBezTo>
                  <a:pt x="8000" y="71438"/>
                  <a:pt x="0" y="63438"/>
                  <a:pt x="0" y="53578"/>
                </a:cubicBezTo>
                <a:lnTo>
                  <a:pt x="0" y="1786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5016248" y="3388759"/>
            <a:ext cx="15716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Roofline Model</a:t>
            </a:r>
            <a:endParaRPr lang="en-US" sz="1100"/>
          </a:p>
        </p:txBody>
      </p:sp>
      <p:sp>
        <p:nvSpPr>
          <p:cNvPr id="28" name="AutoShape 28"/>
          <p:cNvSpPr/>
          <p:nvPr/>
        </p:nvSpPr>
        <p:spPr>
          <a:xfrm>
            <a:off x="4444852" y="3864935"/>
            <a:ext cx="7248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Outil d'analyse de performance, utilisé pour identifier les types de goulots d'étranglement et guider l'optimisation</a:t>
            </a:r>
            <a:endParaRPr lang="en-US" sz="1100"/>
          </a:p>
        </p:txBody>
      </p:sp>
      <p:sp>
        <p:nvSpPr>
          <p:cNvPr id="29" name="Freeform 29"/>
          <p:cNvSpPr/>
          <p:nvPr/>
        </p:nvSpPr>
        <p:spPr>
          <a:xfrm>
            <a:off x="380956" y="5029200"/>
            <a:ext cx="11430000" cy="1104900"/>
          </a:xfrm>
          <a:custGeom>
            <a:avLst/>
            <a:gdLst/>
            <a:ahLst/>
            <a:cxnLst/>
            <a:rect l="l" t="t" r="r" b="b"/>
            <a:pathLst>
              <a:path w="11430000" h="1104900">
                <a:moveTo>
                  <a:pt x="114303" y="0"/>
                </a:moveTo>
                <a:lnTo>
                  <a:pt x="11315697" y="0"/>
                </a:lnTo>
                <a:cubicBezTo>
                  <a:pt x="11378825" y="0"/>
                  <a:pt x="11430000" y="51175"/>
                  <a:pt x="11430000" y="114303"/>
                </a:cubicBezTo>
                <a:lnTo>
                  <a:pt x="11430000" y="990597"/>
                </a:lnTo>
                <a:cubicBezTo>
                  <a:pt x="11430000" y="1053725"/>
                  <a:pt x="11378825" y="1104900"/>
                  <a:pt x="11315697" y="1104900"/>
                </a:cubicBezTo>
                <a:lnTo>
                  <a:pt x="114303" y="1104900"/>
                </a:lnTo>
                <a:cubicBezTo>
                  <a:pt x="51175" y="1104900"/>
                  <a:pt x="0" y="1053725"/>
                  <a:pt x="0" y="990597"/>
                </a:cubicBezTo>
                <a:lnTo>
                  <a:pt x="0" y="114303"/>
                </a:lnTo>
                <a:cubicBezTo>
                  <a:pt x="0" y="51217"/>
                  <a:pt x="51217" y="0"/>
                  <a:pt x="1143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30960" y="5431519"/>
            <a:ext cx="385763" cy="300038"/>
          </a:xfrm>
          <a:custGeom>
            <a:avLst/>
            <a:gdLst/>
            <a:ahLst/>
            <a:cxnLst/>
            <a:rect l="l" t="t" r="r" b="b"/>
            <a:pathLst>
              <a:path w="385763" h="300038">
                <a:moveTo>
                  <a:pt x="32148" y="109702"/>
                </a:moveTo>
                <a:lnTo>
                  <a:pt x="172254" y="167365"/>
                </a:lnTo>
                <a:cubicBezTo>
                  <a:pt x="178817" y="170044"/>
                  <a:pt x="185782" y="171450"/>
                  <a:pt x="192881" y="171450"/>
                </a:cubicBezTo>
                <a:cubicBezTo>
                  <a:pt x="199981" y="171450"/>
                  <a:pt x="206946" y="170044"/>
                  <a:pt x="213509" y="167365"/>
                </a:cubicBezTo>
                <a:lnTo>
                  <a:pt x="375851" y="100526"/>
                </a:lnTo>
                <a:cubicBezTo>
                  <a:pt x="381878" y="98048"/>
                  <a:pt x="385763" y="92223"/>
                  <a:pt x="385763" y="85725"/>
                </a:cubicBezTo>
                <a:cubicBezTo>
                  <a:pt x="385763" y="79229"/>
                  <a:pt x="381878" y="73402"/>
                  <a:pt x="375851" y="70923"/>
                </a:cubicBezTo>
                <a:lnTo>
                  <a:pt x="213509" y="4086"/>
                </a:lnTo>
                <a:cubicBezTo>
                  <a:pt x="206946" y="1407"/>
                  <a:pt x="199981" y="0"/>
                  <a:pt x="192881" y="0"/>
                </a:cubicBezTo>
                <a:cubicBezTo>
                  <a:pt x="185782" y="0"/>
                  <a:pt x="178817" y="1407"/>
                  <a:pt x="172254" y="4086"/>
                </a:cubicBezTo>
                <a:lnTo>
                  <a:pt x="9912" y="70923"/>
                </a:lnTo>
                <a:cubicBezTo>
                  <a:pt x="3884" y="73402"/>
                  <a:pt x="0" y="79229"/>
                  <a:pt x="0" y="85725"/>
                </a:cubicBezTo>
                <a:lnTo>
                  <a:pt x="0" y="283965"/>
                </a:lnTo>
                <a:cubicBezTo>
                  <a:pt x="0" y="292872"/>
                  <a:pt x="7167" y="300038"/>
                  <a:pt x="16073" y="300038"/>
                </a:cubicBezTo>
                <a:cubicBezTo>
                  <a:pt x="24981" y="300038"/>
                  <a:pt x="32148" y="292872"/>
                  <a:pt x="32148" y="283965"/>
                </a:cubicBezTo>
                <a:lnTo>
                  <a:pt x="32148" y="109702"/>
                </a:lnTo>
                <a:close/>
                <a:moveTo>
                  <a:pt x="64294" y="157722"/>
                </a:moveTo>
                <a:lnTo>
                  <a:pt x="64294" y="235744"/>
                </a:lnTo>
                <a:cubicBezTo>
                  <a:pt x="64294" y="271241"/>
                  <a:pt x="121890" y="300038"/>
                  <a:pt x="192881" y="300038"/>
                </a:cubicBezTo>
                <a:cubicBezTo>
                  <a:pt x="263872" y="300038"/>
                  <a:pt x="321469" y="271241"/>
                  <a:pt x="321469" y="235744"/>
                </a:cubicBezTo>
                <a:lnTo>
                  <a:pt x="321469" y="157654"/>
                </a:lnTo>
                <a:lnTo>
                  <a:pt x="225765" y="197100"/>
                </a:lnTo>
                <a:cubicBezTo>
                  <a:pt x="215317" y="201387"/>
                  <a:pt x="204199" y="203596"/>
                  <a:pt x="192881" y="203596"/>
                </a:cubicBezTo>
                <a:cubicBezTo>
                  <a:pt x="181563" y="203596"/>
                  <a:pt x="170445" y="201387"/>
                  <a:pt x="159998" y="197100"/>
                </a:cubicBezTo>
                <a:lnTo>
                  <a:pt x="64294" y="15765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1190477" y="5257781"/>
            <a:ext cx="4000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35"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Comprendre ces indicateurs est la base de l'optimisation des calculs haute performance</a:t>
            </a:r>
            <a:endParaRPr lang="en-US" sz="1100"/>
          </a:p>
        </p:txBody>
      </p:sp>
      <p:sp>
        <p:nvSpPr>
          <p:cNvPr id="32" name="AutoShape 32"/>
          <p:cNvSpPr/>
          <p:nvPr/>
        </p:nvSpPr>
        <p:spPr>
          <a:xfrm>
            <a:off x="1190477" y="5638660"/>
            <a:ext cx="3971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95"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Maîtriser l'analyse de performance permet d'écrire des programmes efficaces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38</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Auto-tuning</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Auto-tuning</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Algorithmes d’auto-tuning et leur impl</a:t>
            </a:r>
            <a:r>
              <a:rPr lang="en-US" altLang="en-US"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bas niveau</a:t>
            </a:r>
            <a:endParaRPr lang="en-US" sz="20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la recherche par patrons à l’optimisation d’op</a:t>
            </a:r>
            <a:r>
              <a:rPr lang="en-US" alt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pilot</a:t>
            </a:r>
            <a:r>
              <a:rPr lang="en-US" alt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 IA</a:t>
            </a:r>
            <a:endPar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7" name="AutoShape 7"/>
          <p:cNvSpPr/>
          <p:nvPr/>
        </p:nvSpPr>
        <p:spPr>
          <a:xfrm>
            <a:off x="5943600" y="32766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8" name="Picture 8"/>
          <p:cNvPicPr>
            <a:picLocks noChangeAspect="1"/>
          </p:cNvPicPr>
          <p:nvPr/>
        </p:nvPicPr>
        <p:blipFill>
          <a:blip r:embed="rId1"/>
          <a:srcRect/>
          <a:stretch>
            <a:fillRect/>
          </a:stretch>
        </p:blipFill>
        <p:spPr>
          <a:xfrm>
            <a:off x="492345" y="2666468"/>
            <a:ext cx="4566590" cy="3142850"/>
          </a:xfrm>
          <a:prstGeom prst="rect">
            <a:avLst/>
          </a:prstGeom>
          <a:ln w="12700">
            <a:noFill/>
            <a:prstDash val="solid"/>
          </a:ln>
        </p:spPr>
      </p:pic>
      <p:pic>
        <p:nvPicPr>
          <p:cNvPr id="9" name="Picture 9"/>
          <p:cNvPicPr>
            <a:picLocks noChangeAspect="1"/>
          </p:cNvPicPr>
          <p:nvPr/>
        </p:nvPicPr>
        <p:blipFill>
          <a:blip r:embed="rId2"/>
          <a:srcRect/>
          <a:stretch>
            <a:fillRect/>
          </a:stretch>
        </p:blipFill>
        <p:spPr>
          <a:xfrm>
            <a:off x="5494015" y="2666468"/>
            <a:ext cx="5990338" cy="33695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Sommaire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 et defis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Cadre &amp; workflow</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TVM</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AutoTVM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analyse de recherche de modeles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Algorithmes heuristiques classique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Recuit simul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algorithmes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tique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par apprentissage automatiqu</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bay</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sienne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Apprentissage par renforcement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Guide experimental</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valuation des performances des noyaux avec FlagPerf</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7195006"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3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Pourquoi l’auto‑tuning est‑il n</a:t>
            </a:r>
            <a:r>
              <a:rPr lang="en-US" altLang="en-US" sz="23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cessaire</a:t>
            </a:r>
            <a:r>
              <a:rPr lang="en-US" sz="23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3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7412536"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croissante du mat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Multiplication des puces h</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nes (GPU, NPU)</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Hi</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rarchie 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complexe (registres, 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Limites de l’optimisation manuelle traditionnelle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main‑d’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uvre tr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lev</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Faible portabilit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volution rapide des mod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d’IA et des nouveaux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936410" y="833570"/>
            <a:ext cx="4187369" cy="276916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122194" y="3651783"/>
            <a:ext cx="3815799" cy="3069693"/>
          </a:xfrm>
          <a:prstGeom prst="rect">
            <a:avLst/>
          </a:prstGeom>
          <a:ln w="12700">
            <a:noFill/>
            <a:prstDash val="solid"/>
          </a:ln>
        </p:spPr>
      </p:pic>
      <p:pic>
        <p:nvPicPr>
          <p:cNvPr id="8" name="Picture 8"/>
          <p:cNvPicPr>
            <a:picLocks noChangeAspect="1"/>
          </p:cNvPicPr>
          <p:nvPr/>
        </p:nvPicPr>
        <p:blipFill>
          <a:blip r:embed="rId3"/>
          <a:srcRect t="7278" b="11922"/>
          <a:stretch>
            <a:fillRect/>
          </a:stretch>
        </p:blipFill>
        <p:spPr>
          <a:xfrm>
            <a:off x="1091043" y="4084774"/>
            <a:ext cx="5196689" cy="218966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Qu’est-ce que l’auto‑tuning de noyaux</a:t>
            </a:r>
            <a:r>
              <a:rPr lang="en-US"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7267995"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automatique de code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 expression math</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 (ex. : multiplication de tenseurs, convolution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Sortie : code bas niveau optimis</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un mat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sp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 (ex. : CUDA, LLVM IR</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Dimensions d’optimisation courantes (primitives d’ordonnancement)</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Tiling (partitionnement) : am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liore le taux de succ</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du cache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roulage (unrolling) :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les frais de branchement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Vectorisation : utilise les instructions SIMD (ex. : AVX, TensorCore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Binding : mappage des blocs/threads sur GPU</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744498" y="4942682"/>
            <a:ext cx="1323975" cy="132397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791869" y="3368302"/>
            <a:ext cx="4529898" cy="280866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en-US" sz="29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volution des frameworks d’auto‑tuning</a:t>
            </a:r>
            <a:endParaRPr lang="en-US" altLang="zh-CN" sz="29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Premi</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g</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 ordonnancement manuel</a:t>
            </a:r>
            <a:endPar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80" b="0" i="0" u="none" strike="noStrike">
                <a:solidFill>
                  <a:srgbClr val="404040"/>
                </a:solidFill>
                <a:latin typeface="Calibri" panose="020F0502020204030204"/>
                <a:ea typeface="Calibri" panose="020F0502020204030204"/>
                <a:cs typeface="Calibri" panose="020F0502020204030204"/>
                <a:sym typeface="Calibri" panose="020F0502020204030204"/>
              </a:rPr>
              <a:t>Repr</a:t>
            </a:r>
            <a:r>
              <a:rPr lang="en-US" altLang="en-US" sz="178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80" b="0" i="0" u="none" strike="noStrike">
                <a:solidFill>
                  <a:srgbClr val="404040"/>
                </a:solidFill>
                <a:latin typeface="Calibri" panose="020F0502020204030204"/>
                <a:ea typeface="Calibri" panose="020F0502020204030204"/>
                <a:cs typeface="Calibri" panose="020F0502020204030204"/>
                <a:sym typeface="Calibri" panose="020F0502020204030204"/>
              </a:rPr>
              <a:t>sentant : Halide (d</a:t>
            </a:r>
            <a:r>
              <a:rPr lang="en-US" altLang="en-US" sz="178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80" b="0" i="0" u="none" strike="noStrike">
                <a:solidFill>
                  <a:srgbClr val="404040"/>
                </a:solidFill>
                <a:latin typeface="Calibri" panose="020F0502020204030204"/>
                <a:ea typeface="Calibri" panose="020F0502020204030204"/>
                <a:cs typeface="Calibri" panose="020F0502020204030204"/>
                <a:sym typeface="Calibri" panose="020F0502020204030204"/>
              </a:rPr>
              <a:t>buts)</a:t>
            </a:r>
            <a:endParaRPr lang="en-US" altLang="zh-CN" sz="178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Caract</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ristique : s</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paration algorithme/ordonnancement, mais l’ordonnancement n</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 toujours une expertise manuelle</a:t>
            </a: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Deuxi</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g</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 auto‑tuning par patrons (templates)</a:t>
            </a:r>
            <a:endPar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80" b="0" i="0" u="none" strike="noStrike">
                <a:solidFill>
                  <a:srgbClr val="404040"/>
                </a:solidFill>
                <a:latin typeface="Calibri" panose="020F0502020204030204"/>
                <a:ea typeface="Calibri" panose="020F0502020204030204"/>
                <a:cs typeface="Calibri" panose="020F0502020204030204"/>
                <a:sym typeface="Calibri" panose="020F0502020204030204"/>
              </a:rPr>
              <a:t>Repr</a:t>
            </a:r>
            <a:r>
              <a:rPr lang="en-US" altLang="en-US" sz="178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80" b="0" i="0" u="none" strike="noStrike">
                <a:solidFill>
                  <a:srgbClr val="404040"/>
                </a:solidFill>
                <a:latin typeface="Calibri" panose="020F0502020204030204"/>
                <a:ea typeface="Calibri" panose="020F0502020204030204"/>
                <a:cs typeface="Calibri" panose="020F0502020204030204"/>
                <a:sym typeface="Calibri" panose="020F0502020204030204"/>
              </a:rPr>
              <a:t>sentant : TVM AutoTVM</a:t>
            </a:r>
            <a:endParaRPr lang="en-US" altLang="zh-CN" sz="178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Caract</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ristique : patrons param</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crits par des experts, recherche des param</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optimaux par algorithme</a:t>
            </a: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Troisi</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g</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 auto‑tuning sans patrons</a:t>
            </a:r>
            <a:endPar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sentant : TVM Ansor (ordonnanceur automatique)</a:t>
            </a:r>
            <a:endPar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Caract</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ristique : g</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automatique et massive d’un espace de recherche bas</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sur des r</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gles, sans patrons pr</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finis manuellement</a:t>
            </a: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Analyse de cadres classiques :</a:t>
            </a:r>
            <a:r>
              <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rPr>
              <a:t>TVM </a:t>
            </a:r>
            <a:r>
              <a:rPr lang="en-US"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a:t>
            </a:r>
            <a:r>
              <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rPr>
              <a:t> AutoTVM</a:t>
            </a:r>
            <a:endPar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1109853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Innovations cl</a:t>
            </a:r>
            <a:r>
              <a:rPr lang="en-US" alt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d’AutoTVM :</a:t>
            </a:r>
            <a:endParaRPr 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Introduction de patrons param</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bas</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sur les indices</a:t>
            </a:r>
            <a:r>
              <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Introduction d’un mod</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co</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statistique rempla</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ant les mod</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analytiques traditionnels</a:t>
            </a:r>
            <a:r>
              <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 du mod</a:t>
            </a:r>
            <a:r>
              <a:rPr lang="en-US" alt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co</a:t>
            </a:r>
            <a:r>
              <a:rPr lang="en-US" alt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architectures GPU complexes sont difficiles à mod</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liser pr</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cis</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avec des formules</a:t>
            </a:r>
            <a:r>
              <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AutoTVM utilise des mod</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d’apprentissage automatique (XGBoost / TreeGRU) pour pr</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dire les performances en se basant sur des donn</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r</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elles d’ex</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mesures </a:t>
            </a:r>
            <a:r>
              <a:rPr lang="en-US" alt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5893067" y="3910306"/>
            <a:ext cx="4283027" cy="2947694"/>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950505" y="4377609"/>
            <a:ext cx="2067902" cy="231283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Flux de travail complet d’AutoTVM</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229360"/>
            <a:ext cx="11277601" cy="4852988"/>
          </a:xfrm>
          <a:prstGeom prst="rect">
            <a:avLst/>
          </a:prstGeom>
        </p:spPr>
        <p:txBody>
          <a:bodyPr wrap="square" lIns="91440" tIns="45720" rIns="91440" bIns="45720" anchor="t">
            <a:normAutofit/>
          </a:bodyPr>
          <a:lstStyle>
            <a:lvl1pPr algn="l">
              <a:lnSpc>
                <a:spcPct val="100000"/>
              </a:lnSpc>
              <a:defRPr sz="2300" b="0" i="0" u="none" strike="noStrike" spc="0">
                <a:solidFill>
                  <a:srgbClr val="404040">
                    <a:alpha val="100000"/>
                  </a:srgbClr>
                </a:solidFill>
                <a:latin typeface="微软雅黑" panose="020B0503020204020204" charset="-122"/>
              </a:defRPr>
            </a:lvl1pPr>
          </a:lstStyle>
          <a:p>
            <a:pPr marL="292100" indent="-2921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des patrons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veloppeur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 des patrons d’ordonnancement param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configurations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extraction de caract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ristiques et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d’un ensemble de configurations candidates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diction par mod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mod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co</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XGBoost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value les K meilleures configurations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Test sur mat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ompilation des K meilleures configurations et ex</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sur le mat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cible (ex. cluster GPU) pour mesurer les performances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Mise à jour du mod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mesures de latence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elles sont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inject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dans le mod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co</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qui est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(XGBoost mis à jour) ; l’it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suivante commence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322590" y="4348602"/>
            <a:ext cx="5518086" cy="21033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Recherche par patrons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1154239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Qu’est-ce qu’un patron</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modele est une repr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sentation codee de l'experience des experts.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exemple : definir une boucle imbriquee a deux niveaux, mais le pas (taille de tuile) est une variable inconnue.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taille de l'espace de recherche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 nombre de variables definies dans le modele et de leurs plages de valeurs.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Generalement, c'est un espace multidimensionnel discret et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born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exemple,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10⁴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10⁹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combinaisons).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rechercher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cet espace, nous avons besoin d'algorithmes d'exploration efficaces.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584966" y="4428346"/>
            <a:ext cx="4481596" cy="2211357"/>
          </a:xfrm>
          <a:prstGeom prst="rect">
            <a:avLst/>
          </a:prstGeom>
          <a:ln w="12700">
            <a:noFill/>
            <a:prstDash val="solid"/>
          </a:ln>
        </p:spPr>
      </p:pic>
      <p:sp>
        <p:nvSpPr>
          <p:cNvPr id="7" name="AutoShape 7"/>
          <p:cNvSpPr/>
          <p:nvPr/>
        </p:nvSpPr>
        <p:spPr>
          <a:xfrm>
            <a:off x="2362954" y="6356351"/>
            <a:ext cx="5378395"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A6A6A6"/>
                </a:solidFill>
                <a:latin typeface="Calibri" panose="020F0502020204030204"/>
                <a:ea typeface="Arial" panose="020B0604020202020204"/>
                <a:cs typeface="Arial" panose="020B0604020202020204"/>
                <a:sym typeface="Arial" panose="020B0604020202020204"/>
              </a:rPr>
              <a:t>For example: template-based video search engine</a:t>
            </a:r>
            <a:endParaRPr lang="en-US" sz="1100"/>
          </a:p>
        </p:txBody>
      </p:sp>
      <p:pic>
        <p:nvPicPr>
          <p:cNvPr id="8" name="Picture 8"/>
          <p:cNvPicPr>
            <a:picLocks noChangeAspect="1"/>
          </p:cNvPicPr>
          <p:nvPr/>
        </p:nvPicPr>
        <p:blipFill>
          <a:blip r:embed="rId2"/>
          <a:srcRect/>
          <a:stretch>
            <a:fillRect/>
          </a:stretch>
        </p:blipFill>
        <p:spPr>
          <a:xfrm>
            <a:off x="3524841" y="4937340"/>
            <a:ext cx="3924610" cy="147099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Limites de la recherche par mod</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419100" y="1323975"/>
            <a:ext cx="11382375" cy="4853305"/>
          </a:xfrm>
          <a:prstGeom prst="rect">
            <a:avLst/>
          </a:prstGeom>
        </p:spPr>
        <p:txBody>
          <a:bodyPr wrap="square" lIns="91440" tIns="45720" rIns="91440" bIns="45720" anchor="t">
            <a:normAutofit lnSpcReduction="10000"/>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L’espace de recherche est relativement petit, ce qui permet une convergence rapide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qualit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code 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 une borne inf</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rieure garantie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Limites (points douloureux)</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veloppement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lev</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chaque nouvel 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ou nouveau mat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l’expert doit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crire les mod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(templates)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Non globalement optimal</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la structure de code optimale ne se trouve pas dans l’ensemble des mod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finis par l’expert, l’algorithme de recherche ne pourra jamais la trouver</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Algorithme exploratoire classique : recuit simul</a:t>
            </a:r>
            <a:r>
              <a:rPr lang="en-US" altLang="en-US" sz="28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altLang="en-US" sz="28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7809545"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Inspiration</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processus de recuit en m</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tallurgie : chauffer un solide à haute temp</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rature, puis le refroidir lentement, permettant à sa structure cristalline d’atteindre l’</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d’</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nergie minimale, le plus stable</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Logique centrale de l’algorithme</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Marche </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atoire dans l’espace de recherche</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une configuration meilleure est trouv</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elle est accept</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imm</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diatement</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une configuration moins bonne est trouv</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elle est accept</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avec une certaine probabilit</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Pourquoi accepter des solutions moins bonnes ?</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sortir des optima locaux et atteindre l’optimum global</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333419" y="3358980"/>
            <a:ext cx="3757766" cy="299737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Applications du recuit simul</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5571490" cy="4853305"/>
          </a:xfrm>
          <a:prstGeom prst="rect">
            <a:avLst/>
          </a:prstGeom>
        </p:spPr>
        <p:txBody>
          <a:bodyPr wrap="square" lIns="91440" tIns="45720" rIns="91440" bIns="45720" anchor="t">
            <a:normAutofit lnSpcReduction="1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repr</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l’ensemble des param</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du mod</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(template) courant</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Transition de voisinage </a:t>
            </a: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ajuster finement l’un des param</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a:t>
            </a:r>
            <a:endPar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 </a:t>
            </a: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refroidissement :</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Temp</a:t>
            </a:r>
            <a:r>
              <a:rPr lang="en-US" alt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rature initiale </a:t>
            </a:r>
            <a:r>
              <a:rPr lang="en-US" alt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lev</a:t>
            </a:r>
            <a:r>
              <a:rPr lang="en-US" alt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forte probabilit</a:t>
            </a:r>
            <a:r>
              <a:rPr lang="en-US" alt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d’accepter des solutions moins bonnes (exploration à grande </a:t>
            </a:r>
            <a:r>
              <a:rPr lang="en-US" alt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Temp</a:t>
            </a:r>
            <a:r>
              <a:rPr lang="en-US" alt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rature basse en fin de processus</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n’accepte presque que les meilleures solutions (exploration à convergence locale)</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premi</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 versions d’AutoTVM utilisaient largement l’algorithme du recuit simul</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trouver les param</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optimaux dans l’espace des candidats</a:t>
            </a: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224020" y="4038390"/>
            <a:ext cx="5576934" cy="259609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Algorithme d’exploration avanc</a:t>
            </a:r>
            <a:r>
              <a:rPr lang="en-US" altLang="en-US"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algorithme g</a:t>
            </a:r>
            <a:r>
              <a:rPr lang="en-US" altLang="en-US"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tique</a:t>
            </a:r>
            <a:endParaRPr lang="en-US" altLang="zh-CN"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883222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Inspiration</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th</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orie de 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volution de Darwin : “survie du plus apte”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tapes principales de l’algorithme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la population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ation al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atoire d’un ensemble de configurations initiales</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valuation de l’aptitude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estimation des performances à l’aide d’un mod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co</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Croisement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change de certains param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entre deux configurations les plus performantes pour produire une descendance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Mutation :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modification al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atoire de certains param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(introduction de nouveau mat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tique pour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une convergence pr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matur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Selection :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des configurations les moins performantes et conservation des meilleures pour la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suivante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9356095" y="1144587"/>
            <a:ext cx="2835905" cy="2145835"/>
          </a:xfrm>
          <a:prstGeom prst="rect">
            <a:avLst/>
          </a:prstGeom>
          <a:ln w="12700">
            <a:noFill/>
            <a:prstDash val="solid"/>
          </a:ln>
        </p:spPr>
      </p:pic>
      <p:pic>
        <p:nvPicPr>
          <p:cNvPr id="7" name="Picture 7"/>
          <p:cNvPicPr>
            <a:picLocks noChangeAspect="1"/>
          </p:cNvPicPr>
          <p:nvPr/>
        </p:nvPicPr>
        <p:blipFill>
          <a:blip r:embed="rId2"/>
          <a:srcRect t="30204" b="3862"/>
          <a:stretch>
            <a:fillRect/>
          </a:stretch>
        </p:blipFill>
        <p:spPr>
          <a:xfrm>
            <a:off x="4363380" y="4528072"/>
            <a:ext cx="4601707" cy="227785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6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Avantages de l’algorithme g</a:t>
            </a:r>
            <a:r>
              <a:rPr lang="en-US" altLang="en-US" sz="26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6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tique pour la recherche spatiale</a:t>
            </a:r>
            <a:endParaRPr lang="en-US" altLang="zh-CN" sz="26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Recherche parall</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multi-points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contrairement à la recherche à point unique de l’algorithme de recuit simul</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l’algorithme 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tique maintient une population, ce qui permet d’explorer simultan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plusieurs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gions de l’espace de recherche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Adapt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aux espaces discrets et irr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guliers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l’espace d’optimisation mat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est souvent discontinu (par exemple, la taille des blocs GPU doit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un multiple de 32)</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thodes traditionnelles de descente de gradient sont inefficaces dans ce contexte, alors que l’algorithme 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tique n’exige aucune propri</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diff</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rentiabilit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fonction objectif</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recherche </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volutive des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ponses dans TVM utilise largement l’algorithme 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tique pour faire muter efficacement l’espace d’ordonnancement (scheduling space)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bay</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sienne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7013429"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Cas d’usage</a:t>
            </a:r>
            <a:r>
              <a:rPr 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de fonctions bo</a:t>
            </a:r>
            <a:r>
              <a:rPr lang="en-US" alt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 noire o</a:t>
            </a:r>
            <a:r>
              <a:rPr lang="en-US" alt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ù</a:t>
            </a:r>
            <a:r>
              <a:rPr lang="en-US" altLang="zh-CN"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t>
            </a:r>
            <a:r>
              <a:rPr lang="en-US" alt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valuation individuelle est extr</a:t>
            </a:r>
            <a:r>
              <a:rPr lang="en-US" alt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mement co</a:t>
            </a:r>
            <a:r>
              <a:rPr lang="en-US" alt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teuse</a:t>
            </a:r>
            <a:r>
              <a:rPr 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Composants clés :</a:t>
            </a:r>
            <a:endParaRPr 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proxy (surrogate model)</a:t>
            </a:r>
            <a:r>
              <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un processus gaussien</a:t>
            </a:r>
            <a:r>
              <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 d'acquisition : </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l’am</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lioration esp</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(Expected Improvement, EI)</a:t>
            </a:r>
            <a:r>
              <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L’art du compromis exploration / exploitation</a:t>
            </a:r>
            <a:r>
              <a:rPr 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2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Exploitation </a:t>
            </a:r>
            <a:r>
              <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rechercher les r</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d</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jà performants</a:t>
            </a:r>
            <a:r>
              <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Exploration </a:t>
            </a:r>
            <a:r>
              <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rechercher les r</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incertains </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(jamais explor</a:t>
            </a:r>
            <a:r>
              <a:rPr lang="en-US" alt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auparavant)</a:t>
            </a:r>
            <a:r>
              <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537303" y="2132162"/>
            <a:ext cx="4489047" cy="44316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Apprentissage par renforcement</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sous l’angle de l’apprentissage par renforcement (MDP – processus de d</a:t>
            </a:r>
            <a:r>
              <a:rPr lang="en-US" alt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cision markovien) </a:t>
            </a: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Agent : </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l’optimiseur (tuner)</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Environnement : </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compilateur + le mat</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sous-jacent</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État : </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graphe de calcul courant ou la structure d’arbre syntaxique abstrait</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Action : </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application d’une strat</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 d’ordonnancement (par exemple, effectuer un tiling ou un d</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roulage)</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Récompense : </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(GFLOPS) ou la r</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de latence mesur</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apr</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ex</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sur la machine r</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elle</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575626" y="3811204"/>
            <a:ext cx="3140316" cy="304390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003500" y="3811204"/>
            <a:ext cx="5092500" cy="304679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Comparaison des algorithmes de recherche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1" y="1068164"/>
            <a:ext cx="12192000" cy="59526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Applications pratiques de l’optimisation automatique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Sujet de l’exp</a:t>
            </a:r>
            <a:r>
              <a:rPr lang="en-US" altLang="en-US"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rimentation</a:t>
            </a:r>
            <a:r>
              <a:rPr lang="en-US"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en-US"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valuation des performances des noyaux avec FlagPerf</a:t>
            </a:r>
            <a:endParaRPr lang="en-US" altLang="zh-CN"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 de l'expérience :</a:t>
            </a:r>
            <a:endParaRPr lang="en-US"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Sur</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lors de l'exécution d'un noyau, la taille de bloc (nombre de threads par bloc) est le paramètre clé déterminant les performances.</a:t>
            </a:r>
            <a:endPar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Trop petite : impossible de masquer la latence d'accès mémoire, entraînant un faible taux d'occupation mémoire.</a:t>
            </a:r>
            <a:endPar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Trop grande : entraîne un débordement de registres ou une mémoire partagée insuffisante, causant des files d'attente.</a:t>
            </a:r>
            <a:endPar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Outil expérimental :</a:t>
            </a:r>
            <a:r>
              <a:rPr lang="en-US" sz="2150" b="0" i="0" u="none" strike="noStrike">
                <a:solidFill>
                  <a:srgbClr val="404040"/>
                </a:solidFill>
                <a:latin typeface="Calibri" panose="020F0502020204030204"/>
                <a:ea typeface="Calibri" panose="020F0502020204030204"/>
                <a:cs typeface="Calibri" panose="020F0502020204030204"/>
                <a:sym typeface="Calibri" panose="020F0502020204030204"/>
              </a:rPr>
              <a:t>FlagPerf</a:t>
            </a:r>
            <a:endParaRPr lang="en-US" sz="21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FlagPerf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une plateforme open-source d'évaluation matérielle</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AI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développée par l'Institut de recherche en intelligence artificielle de Pékin.</a:t>
            </a:r>
            <a:endPar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Elle fournit des fonctionnalités d'évaluation normalisées et reproductibles au niveau opérateur et de bout en bout.</a:t>
            </a:r>
            <a:endPar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Résumé de l'auto-réglage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L'auto-réglage résout le problème critique de la migration des performances d'opérateurs entre plateformes matérielles.</a:t>
            </a:r>
            <a:endParaRPr 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approches bas</a:t>
            </a:r>
            <a:r>
              <a:rPr lang="en-US" alt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sur des mod</a:t>
            </a:r>
            <a:r>
              <a:rPr lang="en-US" alt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aux approches sans mod</a:t>
            </a:r>
            <a:r>
              <a:rPr lang="en-US" alt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la tendance est à la diminution de l'intervention humaine</a:t>
            </a:r>
            <a:r>
              <a:rPr 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combinaison de multiples algorithmes de recherche en intelligence artificielle (algorithmes génétiques, apprentissage automatique, apprentissage par renforcement) améliore significativement l'efficacité d'optimisation dans les espaces de haute dimension.</a:t>
            </a:r>
            <a:endParaRPr 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Tendances futures :</a:t>
            </a:r>
            <a:endParaRPr lang="en-US" sz="20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 au niveau logique du compilateur : utiliser des grands modèles pour comprendre directement la sémantique matérielle et générer ou guider le réglage des opérateurs.</a:t>
            </a:r>
            <a:endParaRPr lang="en-US" sz="17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Réglage sensible aux multi-puces et clusters : non seulement optimiser les noyaux mono-carte, mais aussi s'intégrer avec</a:t>
            </a:r>
            <a:r>
              <a:rPr lang="en-US" sz="1730" b="0" i="0" u="none" strike="noStrike">
                <a:solidFill>
                  <a:srgbClr val="404040"/>
                </a:solidFill>
                <a:latin typeface="Calibri" panose="020F0502020204030204"/>
                <a:ea typeface="Calibri" panose="020F0502020204030204"/>
                <a:cs typeface="Calibri" panose="020F0502020204030204"/>
                <a:sym typeface="Calibri" panose="020F0502020204030204"/>
              </a:rPr>
              <a:t> FlagScale </a:t>
            </a:r>
            <a:r>
              <a:rPr lang="en-US" sz="17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d'autres plateformes pour réaliser un réglage conjoint distribué des opérateurs sur architectures multi-cartes.</a:t>
            </a:r>
            <a:endParaRPr lang="en-US" sz="17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4500" b="0" i="0" u="none" strike="noStrike">
                <a:solidFill>
                  <a:srgbClr val="262626"/>
                </a:solidFill>
                <a:latin typeface="Calibri" panose="020F0502020204030204"/>
                <a:ea typeface="Calibri" panose="020F0502020204030204"/>
                <a:cs typeface="Calibri" panose="020F0502020204030204"/>
                <a:sym typeface="Calibri" panose="020F0502020204030204"/>
              </a:rPr>
              <a:t>Leçon 39</a:t>
            </a:r>
            <a:r>
              <a:rPr lang="en-US" sz="4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Performance des opérateurs</a:t>
            </a:r>
            <a:r>
              <a:rPr lang="en-US" sz="4500"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4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Analyse de performance (</a:t>
            </a:r>
            <a:r>
              <a:rPr lang="en-US" sz="4500" b="0" i="0" u="none" strike="noStrike">
                <a:solidFill>
                  <a:srgbClr val="262626"/>
                </a:solidFill>
                <a:latin typeface="Calibri" panose="020F0502020204030204"/>
                <a:ea typeface="Calibri" panose="020F0502020204030204"/>
                <a:cs typeface="Calibri" panose="020F0502020204030204"/>
                <a:sym typeface="Calibri" panose="020F0502020204030204"/>
              </a:rPr>
              <a:t>Profiling</a:t>
            </a:r>
            <a:r>
              <a:rPr lang="en-US" sz="4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Pratique approfondie</a:t>
            </a:r>
            <a:endParaRPr lang="en-US" sz="45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GPU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Architecture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529082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 d'exécution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Mode d'ex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GPU : sans/avec groupes de threads par blocs (batch)</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Single Instruction Multiple Threads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SIMT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hi</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rarchique des threads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814695" y="2959735"/>
            <a:ext cx="5760000" cy="3070468"/>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111250" y="4422140"/>
            <a:ext cx="4320000" cy="193396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Taux d'occupation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Registres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nombre de registres disponibles est l'un des principaux facteurs limitant les performances des grands noyaux</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supposons un GPU o</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ù</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chaque SM dispose de 16 384 registres, 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cutant un noyau 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cessitant 35 registres par thread.</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SM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peut exécuter jusqu'à</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468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threads</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Cela affecte le choix de la taille des blocs de threads</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 taille de bloc de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512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n'est pas envisageable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seul bloc contenant 256 threads peut s'ex</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cuter à la fois, bien que 212 threads suppl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mentaires auraient pu s'ex</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cuter en parall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3 blocs de 128 threads peuvent s'ex</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cuter simultan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offrant 384 threads ordonnan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ables, et ainsi de suite.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Taux d'occupation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Registres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Autre exemple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Un</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GPU </a:t>
            </a:r>
            <a:r>
              <a:rPr lang="en-US" altLang="zh-CN" sz="2400" b="0" i="0" u="none" strike="noStrike">
                <a:solidFill>
                  <a:srgbClr val="8B0012"/>
                </a:solidFill>
                <a:latin typeface="Calibri" panose="020F0502020204030204"/>
                <a:ea typeface="Calibri" panose="020F0502020204030204"/>
                <a:cs typeface="Calibri" panose="020F0502020204030204"/>
                <a:sym typeface="Calibri" panose="020F0502020204030204"/>
              </a:rPr>
              <a:t>dont chaque SM dispose de</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16384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registres</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La taille du bloc de threads du noyau est fixée à</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256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threads</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Ce noyau nécessite actuellement</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17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registres par thread</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Ainsi, chaque bloc nécessite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4352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Si le registre est le seul facteur limitant, alors</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3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blocs actifs peuvent s'exécuter simultanément</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le code est remani</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n'utiliser que 16 registres, alors 4 blocs actifs peuvent s'ex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cuter simultan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Taux d'occupation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Mémoire partagée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SM d’un GPU a une capacit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limit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Les</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GPU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récents disposent de </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dizaines à centaines de</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 Ko </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de mémoire partagée par SM </a:t>
            </a:r>
            <a:r>
              <a:rPr lang="en-US" altLang="zh-CN"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partag</a:t>
            </a:r>
            <a:r>
              <a:rPr lang="en-US" alt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La m</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 limite le nombre de blocs actifs par SM</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Selon le noyau, la quantité de données par bloc peut être indépendante du nombre de threads (ex. : calcul d'histogramme), ou varier avec le nombre de threads (ex: multiplication matricielle, convolution)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Taux d occupation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Threads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GPU impose une limite mat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stricte sur le nombre maximum de threads par bloc</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AMD GPU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 au maximum</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256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threads par bloc</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NVIDIA GPU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 au maximum</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512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threads par bloc</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NVIDIA GPU limite </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galement le nombre de threads actifs et de blocs actifs par SM (selon le mod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du GPU</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Par exemple, chaque</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SM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peut avoir</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768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1024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 threads</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Par exemple, chaque</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SM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peut avoir</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8 </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16 </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warp</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AMD GPU impose une limite au niveau de tout le wavefront pour l'ensemble du GPU</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altLang="zh-CN"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GPU 5870 : au total 496 wavefronts (environ 25 wavefronts par unit</a:t>
            </a:r>
            <a:r>
              <a:rPr lang="en-US" alt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 de calcul, soit environ 1600 threads</a:t>
            </a:r>
            <a:r>
              <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Taux d occupation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Facteurs limitants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1092771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valeur minimale parmi ces trois facteurs d</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termine la limite sup</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rieure du nombre de threads actifs dans une unit</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calcul (c'est-à-dire le taux d'occupation</a:t>
            </a:r>
            <a:r>
              <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relations entre ces facteurs sont relativement complexes</a:t>
            </a:r>
            <a:endPar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altLang="zh-CN" sz="1955" b="0" i="0" u="none" strike="noStrike">
                <a:solidFill>
                  <a:srgbClr val="8B0012"/>
                </a:solidFill>
                <a:latin typeface="Calibri" panose="020F0502020204030204"/>
                <a:ea typeface="Calibri" panose="020F0502020204030204"/>
                <a:cs typeface="Calibri" panose="020F0502020204030204"/>
                <a:sym typeface="Calibri" panose="020F0502020204030204"/>
              </a:rPr>
              <a:t>La granularit</a:t>
            </a:r>
            <a:r>
              <a:rPr lang="en-US" altLang="en-US" sz="1955" b="0" i="0" u="none" strike="noStrike">
                <a:solidFill>
                  <a:srgbClr val="8B0012"/>
                </a:solidFill>
                <a:latin typeface="Calibri" panose="020F0502020204030204"/>
                <a:ea typeface="Calibri" panose="020F0502020204030204"/>
                <a:cs typeface="Calibri" panose="020F0502020204030204"/>
                <a:sym typeface="Calibri" panose="020F0502020204030204"/>
              </a:rPr>
              <a:t>é</a:t>
            </a:r>
            <a:r>
              <a:rPr lang="en-US" altLang="zh-CN" sz="1955" b="0" i="0" u="none" strike="noStrike">
                <a:solidFill>
                  <a:srgbClr val="8B0012"/>
                </a:solidFill>
                <a:latin typeface="Calibri" panose="020F0502020204030204"/>
                <a:ea typeface="Calibri" panose="020F0502020204030204"/>
                <a:cs typeface="Calibri" panose="020F0502020204030204"/>
                <a:sym typeface="Calibri" panose="020F0502020204030204"/>
              </a:rPr>
              <a:t> des facteurs limitants peut </a:t>
            </a:r>
            <a:r>
              <a:rPr lang="en-US" altLang="en-US" sz="1955" b="0" i="0" u="none" strike="noStrike">
                <a:solidFill>
                  <a:srgbClr val="8B0012"/>
                </a:solidFill>
                <a:latin typeface="Calibri" panose="020F0502020204030204"/>
                <a:ea typeface="Calibri" panose="020F0502020204030204"/>
                <a:cs typeface="Calibri" panose="020F0502020204030204"/>
                <a:sym typeface="Calibri" panose="020F0502020204030204"/>
              </a:rPr>
              <a:t>ê</a:t>
            </a:r>
            <a:r>
              <a:rPr lang="en-US" altLang="zh-CN" sz="1955" b="0" i="0" u="none" strike="noStrike">
                <a:solidFill>
                  <a:srgbClr val="8B0012"/>
                </a:solidFill>
                <a:latin typeface="Calibri" panose="020F0502020204030204"/>
                <a:ea typeface="Calibri" panose="020F0502020204030204"/>
                <a:cs typeface="Calibri" panose="020F0502020204030204"/>
                <a:sym typeface="Calibri" panose="020F0502020204030204"/>
              </a:rPr>
              <a:t>tre au niveau du thread ou du wavefron</a:t>
            </a:r>
            <a:r>
              <a:rPr lang="en-US" sz="1955" b="0" i="0" u="none" strike="noStrike">
                <a:solidFill>
                  <a:srgbClr val="8B0012"/>
                </a:solidFill>
                <a:latin typeface="Calibri" panose="020F0502020204030204"/>
                <a:ea typeface="Calibri" panose="020F0502020204030204"/>
                <a:cs typeface="Calibri" panose="020F0502020204030204"/>
                <a:sym typeface="Calibri" panose="020F0502020204030204"/>
              </a:rPr>
              <a:t>t</a:t>
            </a:r>
            <a:endParaRPr lang="en-US" sz="1955"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altLang="zh-CN"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Modifier la taille du groupe de travail peut affecter l'utilisation des registres ou de la m</a:t>
            </a:r>
            <a:r>
              <a:rPr lang="en-US" altLang="en-US"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ée</a:t>
            </a:r>
            <a:endParaRPr lang="en-US"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8B0012"/>
              </a:buClr>
              <a:buChar char="•"/>
            </a:pPr>
            <a:r>
              <a:rPr lang="en-US" altLang="zh-CN"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duire mod</a:t>
            </a:r>
            <a:r>
              <a:rPr lang="en-US" altLang="en-US"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ment un facteur (comme l'utilisation des registres) peut permettre à plus de groupes de travail d'</a:t>
            </a:r>
            <a:r>
              <a:rPr lang="en-US" altLang="en-US"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tre actif</a:t>
            </a:r>
            <a:r>
              <a:rPr lang="en-US"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955"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NVIDIA Nsight propose un calculateur de taux d'occupation qui pr</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sente ces facteurs sous forme de graphiques visuels, facilitant l'analyse intuitive des compromi</a:t>
            </a:r>
            <a:r>
              <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646035" y="4670425"/>
            <a:ext cx="3486150" cy="18859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Taux d occupation : compromis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8626476" cy="4852988"/>
          </a:xfrm>
          <a:prstGeom prst="rect">
            <a:avLst/>
          </a:prstGeom>
        </p:spPr>
        <p:txBody>
          <a:bodyPr wrap="square" lIns="91440" tIns="45720" rIns="91440" bIns="45720" anchor="t">
            <a:normAutofit fontScale="9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Lorsque d'autres warps s'ex</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cutent, la m</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 (shared memory) et les registres restent persistants dans le 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Cela permet de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aliser des changements de contexte à faible co</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SM a une limite sur le nombre de warps actifs qu'il peut supporte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altLang="zh-CN" sz="240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facteurs d</a:t>
            </a:r>
            <a:r>
              <a:rPr lang="en-US" altLang="en-US" sz="240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terminants incluent l'utilisation de la m</a:t>
            </a:r>
            <a:r>
              <a:rPr lang="en-US" altLang="en-US" sz="240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240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 bloc et l'utilisation des registres par threa</a:t>
            </a:r>
            <a:r>
              <a:rPr lang="en-US" sz="240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endParaRPr lang="en-US" sz="240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SM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le nombre de warps actifs peut </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tre mesur</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 par l'occupation</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 de warps actifs permettent à NVIDIA et AMD de mieux masquer la laten</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9150350" y="1370330"/>
            <a:ext cx="2520000" cy="411793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Outil d'analyse de performance des noyaux CUDA</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Synth</a:t>
            </a:r>
            <a:r>
              <a:rPr lang="en-US" alt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tise les statistiques de performance en indicateurs cibl</a:t>
            </a:r>
            <a:r>
              <a:rPr lang="en-US" alt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 une s</a:t>
            </a:r>
            <a:r>
              <a:rPr lang="en-US" alt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lection flexible de la port</a:t>
            </a:r>
            <a:r>
              <a:rPr lang="en-US" alt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collecte des donn</a:t>
            </a:r>
            <a:r>
              <a:rPr lang="en-US" alt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et du mode de pr</a:t>
            </a:r>
            <a:r>
              <a:rPr lang="en-US" alt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sentation.</a:t>
            </a:r>
            <a:endPar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Interface en ligne de commande compl</a:t>
            </a:r>
            <a:r>
              <a:rPr lang="en-US" alt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 et interface graphique conviviale.</a:t>
            </a:r>
            <a:endPar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228850" y="3741420"/>
            <a:ext cx="7734300" cy="26149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557212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Nsight Compute – Options de la ligne de commande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5" y="2557780"/>
            <a:ext cx="5425440" cy="114617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23875" y="3772535"/>
            <a:ext cx="5425440" cy="156019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275070" y="2571115"/>
            <a:ext cx="5321935" cy="2656840"/>
          </a:xfrm>
          <a:prstGeom prst="rect">
            <a:avLst/>
          </a:prstGeom>
          <a:ln w="12700">
            <a:noFill/>
            <a:prstDash val="solid"/>
          </a:ln>
        </p:spPr>
      </p:pic>
      <p:sp>
        <p:nvSpPr>
          <p:cNvPr id="9" name="AutoShape 9"/>
          <p:cNvSpPr/>
          <p:nvPr/>
        </p:nvSpPr>
        <p:spPr>
          <a:xfrm>
            <a:off x="6096000" y="1323975"/>
            <a:ext cx="5893435" cy="485330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Nsight Compute – Analyse des performances GPU ultrarapid</a:t>
            </a:r>
            <a:endParaRPr lang="en-US" sz="2400"/>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du mod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Rooflin</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345"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a:t>
            </a:r>
            <a:r>
              <a:rPr lang="en-US" altLang="zh-CN" sz="2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de la charge de travail m</a:t>
            </a:r>
            <a:r>
              <a:rPr lang="en-US" altLang="en-US" sz="2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a:t>
            </a:r>
            <a:r>
              <a:rPr lang="en-US" sz="2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2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34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4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523875" y="2514600"/>
            <a:ext cx="5306060" cy="312483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115050" y="2549525"/>
            <a:ext cx="5641975" cy="30899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xfrm>
            <a:off x="523875" y="1323975"/>
            <a:ext cx="1127823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du code source / de l'assembleur SASS et des hotspots d'instructions</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7" name="Picture 7"/>
          <p:cNvPicPr>
            <a:picLocks noChangeAspect="1"/>
          </p:cNvPicPr>
          <p:nvPr/>
        </p:nvPicPr>
        <p:blipFill>
          <a:blip r:embed="rId1"/>
          <a:srcRect/>
          <a:stretch>
            <a:fillRect/>
          </a:stretch>
        </p:blipFill>
        <p:spPr>
          <a:xfrm>
            <a:off x="2438400" y="2209800"/>
            <a:ext cx="7567930" cy="42970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5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Nsight Compute : </a:t>
            </a:r>
            <a:endParaRPr lang="en-US" altLang="zh-CN" sz="25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5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de rapport d'analyse de performance </a:t>
            </a:r>
            <a:r>
              <a:rPr lang="en-US" sz="25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575" b="0" i="0" u="none" strike="noStrike">
                <a:solidFill>
                  <a:srgbClr val="262626"/>
                </a:solidFill>
                <a:latin typeface="Calibri" panose="020F0502020204030204"/>
                <a:ea typeface="Calibri" panose="020F0502020204030204"/>
                <a:cs typeface="Calibri" panose="020F0502020204030204"/>
                <a:sym typeface="Calibri" panose="020F0502020204030204"/>
              </a:rPr>
              <a:t>1/3</a:t>
            </a:r>
            <a:r>
              <a:rPr lang="en-US" sz="25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5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402590" y="1913890"/>
            <a:ext cx="11520000" cy="367369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575">
                <a:solidFill>
                  <a:srgbClr val="262626"/>
                </a:solidFill>
                <a:ea typeface="微软雅黑" panose="020B0503020204020204" charset="-122"/>
                <a:cs typeface="微软雅黑" panose="020B0503020204020204" charset="-122"/>
                <a:sym typeface="微软雅黑" panose="020B0503020204020204" charset="-122"/>
              </a:rPr>
              <a:t>Nsight Compute : </a:t>
            </a:r>
            <a:endParaRPr lang="en-US" altLang="zh-CN" sz="25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575">
                <a:solidFill>
                  <a:srgbClr val="262626"/>
                </a:solidFill>
                <a:ea typeface="微软雅黑" panose="020B0503020204020204" charset="-122"/>
                <a:cs typeface="微软雅黑" panose="020B0503020204020204" charset="-122"/>
                <a:sym typeface="微软雅黑" panose="020B0503020204020204" charset="-122"/>
              </a:rPr>
              <a:t>Exemple de rapport d'analyse de performance </a:t>
            </a:r>
            <a:r>
              <a:rPr lang="en-US" sz="2575">
                <a:solidFill>
                  <a:srgbClr val="262626"/>
                </a:solidFill>
                <a:ea typeface="微软雅黑" panose="020B0503020204020204" charset="-122"/>
                <a:cs typeface="微软雅黑" panose="020B0503020204020204" charset="-122"/>
                <a:sym typeface="微软雅黑" panose="020B0503020204020204" charset="-122"/>
              </a:rPr>
              <a:t>(2</a:t>
            </a:r>
            <a:r>
              <a:rPr lang="en-US" sz="2575">
                <a:solidFill>
                  <a:srgbClr val="262626"/>
                </a:solidFill>
                <a:ea typeface="Calibri" panose="020F0502020204030204"/>
                <a:cs typeface="Calibri" panose="020F0502020204030204"/>
                <a:sym typeface="Calibri" panose="020F0502020204030204"/>
              </a:rPr>
              <a:t>/3</a:t>
            </a:r>
            <a:r>
              <a:rPr lang="en-US" sz="2575">
                <a:solidFill>
                  <a:srgbClr val="262626"/>
                </a:solidFill>
                <a:ea typeface="微软雅黑" panose="020B0503020204020204" charset="-122"/>
                <a:cs typeface="微软雅黑" panose="020B0503020204020204" charset="-122"/>
                <a:sym typeface="微软雅黑" panose="020B0503020204020204" charset="-122"/>
              </a:rPr>
              <a:t>)</a:t>
            </a:r>
            <a:endParaRPr lang="en-US" sz="25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2022475" y="1323975"/>
            <a:ext cx="8280000" cy="51810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570">
                <a:solidFill>
                  <a:srgbClr val="262626"/>
                </a:solidFill>
                <a:ea typeface="微软雅黑" panose="020B0503020204020204" charset="-122"/>
                <a:cs typeface="微软雅黑" panose="020B0503020204020204" charset="-122"/>
                <a:sym typeface="微软雅黑" panose="020B0503020204020204" charset="-122"/>
              </a:rPr>
              <a:t>Nsight Compute : </a:t>
            </a:r>
            <a:endParaRPr lang="en-US" altLang="zh-CN" sz="25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570">
                <a:solidFill>
                  <a:srgbClr val="262626"/>
                </a:solidFill>
                <a:ea typeface="微软雅黑" panose="020B0503020204020204" charset="-122"/>
                <a:cs typeface="微软雅黑" panose="020B0503020204020204" charset="-122"/>
                <a:sym typeface="微软雅黑" panose="020B0503020204020204" charset="-122"/>
              </a:rPr>
              <a:t>Exemple de rapport d'analyse de performance </a:t>
            </a:r>
            <a:r>
              <a:rPr lang="en-US" sz="2570">
                <a:solidFill>
                  <a:srgbClr val="262626"/>
                </a:solidFill>
                <a:ea typeface="微软雅黑" panose="020B0503020204020204" charset="-122"/>
                <a:cs typeface="微软雅黑" panose="020B0503020204020204" charset="-122"/>
                <a:sym typeface="微软雅黑" panose="020B0503020204020204" charset="-122"/>
              </a:rPr>
              <a:t>(3</a:t>
            </a:r>
            <a:r>
              <a:rPr lang="en-US" sz="2570">
                <a:solidFill>
                  <a:srgbClr val="262626"/>
                </a:solidFill>
                <a:ea typeface="Calibri" panose="020F0502020204030204"/>
                <a:cs typeface="Calibri" panose="020F0502020204030204"/>
                <a:sym typeface="Calibri" panose="020F0502020204030204"/>
              </a:rPr>
              <a:t>/3</a:t>
            </a:r>
            <a:r>
              <a:rPr lang="en-US" sz="2570">
                <a:solidFill>
                  <a:srgbClr val="262626"/>
                </a:solidFill>
                <a:ea typeface="微软雅黑" panose="020B0503020204020204" charset="-122"/>
                <a:cs typeface="微软雅黑" panose="020B0503020204020204" charset="-122"/>
                <a:sym typeface="微软雅黑" panose="020B0503020204020204" charset="-122"/>
              </a:rPr>
              <a:t>)</a:t>
            </a:r>
            <a:endParaRPr lang="en-US" sz="25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1955800" y="1323975"/>
            <a:ext cx="8280000" cy="513196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t>Leçon 40 : Aperçu de la programmation assistée par LLM</a:t>
            </a:r>
            <a:endParaRPr lang="en-US" altLang="zh-CN"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2286000"/>
            <a:ext cx="10160000" cy="1016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4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01 Une nouvelle ere de programmation : l'essor des grands modeles</a:t>
            </a:r>
            <a:endParaRPr lang="en-US" sz="1100"/>
          </a:p>
        </p:txBody>
      </p:sp>
      <p:sp>
        <p:nvSpPr>
          <p:cNvPr id="4" name="AutoShape 4"/>
          <p:cNvSpPr/>
          <p:nvPr/>
        </p:nvSpPr>
        <p:spPr>
          <a:xfrm>
            <a:off x="1016000" y="3683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Du codage manuel a l'assistance intelligente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Noto Sans SC" panose="020B0200000000000000" charset="-122"/>
              </a:defRPr>
            </a:lvl1pPr>
          </a:lstStyle>
          <a:p>
            <a:pPr indent="0" algn="l">
              <a:lnSpc>
                <a:spcPct val="100000"/>
              </a:lnSpc>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Les </a:t>
            </a: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a:t>
            </a:r>
            <a:r>
              <a:rPr lang="en-US" alt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fis </a:t>
            </a: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du modele de programmation traditionnel</a:t>
            </a:r>
            <a:endPar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custDataLst>
              <p:tags r:id="rId1"/>
            </p:custDataLst>
          </p:nvPr>
        </p:nvSpPr>
        <p:spPr>
          <a:xfrm>
            <a:off x="741680" y="14351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custDataLst>
              <p:tags r:id="rId2"/>
            </p:custDataLst>
          </p:nvPr>
        </p:nvPicPr>
        <p:blipFill>
          <a:blip r:embed="rId3"/>
          <a:srcRect/>
          <a:stretch>
            <a:fillRect/>
          </a:stretch>
        </p:blipFill>
        <p:spPr>
          <a:xfrm>
            <a:off x="932180" y="1625600"/>
            <a:ext cx="406400" cy="406400"/>
          </a:xfrm>
          <a:prstGeom prst="rect">
            <a:avLst/>
          </a:prstGeom>
          <a:ln w="12700">
            <a:noFill/>
            <a:prstDash val="solid"/>
          </a:ln>
        </p:spPr>
      </p:pic>
      <p:sp>
        <p:nvSpPr>
          <p:cNvPr id="7" name="AutoShape 7"/>
          <p:cNvSpPr/>
          <p:nvPr>
            <p:custDataLst>
              <p:tags r:id="rId4"/>
            </p:custDataLst>
          </p:nvPr>
        </p:nvSpPr>
        <p:spPr>
          <a:xfrm>
            <a:off x="1440180" y="15875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Goulot d'etranglement d'efficacite</a:t>
            </a:r>
            <a:endParaRPr lang="en-US" sz="1100"/>
          </a:p>
        </p:txBody>
      </p:sp>
      <p:sp>
        <p:nvSpPr>
          <p:cNvPr id="8" name="AutoShape 8"/>
          <p:cNvSpPr/>
          <p:nvPr>
            <p:custDataLst>
              <p:tags r:id="rId5"/>
            </p:custDataLst>
          </p:nvPr>
        </p:nvSpPr>
        <p:spPr>
          <a:xfrm>
            <a:off x="1440180" y="19177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L'ecriture de code repete et la memorisation de syntaxe fastidieuse occupent une grande partie du temps de developpement.</a:t>
            </a:r>
            <a:endPar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6"/>
            </p:custDataLst>
          </p:nvPr>
        </p:nvSpPr>
        <p:spPr>
          <a:xfrm>
            <a:off x="741680" y="26416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custDataLst>
              <p:tags r:id="rId7"/>
            </p:custDataLst>
          </p:nvPr>
        </p:nvPicPr>
        <p:blipFill>
          <a:blip r:embed="rId8"/>
          <a:srcRect/>
          <a:stretch>
            <a:fillRect/>
          </a:stretch>
        </p:blipFill>
        <p:spPr>
          <a:xfrm>
            <a:off x="932180" y="2832100"/>
            <a:ext cx="406400" cy="406400"/>
          </a:xfrm>
          <a:prstGeom prst="rect">
            <a:avLst/>
          </a:prstGeom>
          <a:ln w="12700">
            <a:noFill/>
            <a:prstDash val="solid"/>
          </a:ln>
        </p:spPr>
      </p:pic>
      <p:sp>
        <p:nvSpPr>
          <p:cNvPr id="11" name="AutoShape 11"/>
          <p:cNvSpPr/>
          <p:nvPr>
            <p:custDataLst>
              <p:tags r:id="rId9"/>
            </p:custDataLst>
          </p:nvPr>
        </p:nvSpPr>
        <p:spPr>
          <a:xfrm>
            <a:off x="1440180" y="27940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Courbe d'apprentissage abrupte</a:t>
            </a:r>
            <a:endParaRPr lang="en-US" sz="1100"/>
          </a:p>
        </p:txBody>
      </p:sp>
      <p:sp>
        <p:nvSpPr>
          <p:cNvPr id="12" name="AutoShape 12"/>
          <p:cNvSpPr/>
          <p:nvPr>
            <p:custDataLst>
              <p:tags r:id="rId10"/>
            </p:custDataLst>
          </p:nvPr>
        </p:nvSpPr>
        <p:spPr>
          <a:xfrm>
            <a:off x="1440180" y="31242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Les nouvelles technologies et les nouveaux frameworks eclatent sans cesse, obligeant les developpeurs a apprendre en permanence, avec des couts eleves.</a:t>
            </a:r>
            <a:endPar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11"/>
            </p:custDataLst>
          </p:nvPr>
        </p:nvSpPr>
        <p:spPr>
          <a:xfrm>
            <a:off x="741680" y="38481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custDataLst>
              <p:tags r:id="rId12"/>
            </p:custDataLst>
          </p:nvPr>
        </p:nvPicPr>
        <p:blipFill>
          <a:blip r:embed="rId13"/>
          <a:srcRect/>
          <a:stretch>
            <a:fillRect/>
          </a:stretch>
        </p:blipFill>
        <p:spPr>
          <a:xfrm>
            <a:off x="932180" y="4038600"/>
            <a:ext cx="406400" cy="406400"/>
          </a:xfrm>
          <a:prstGeom prst="rect">
            <a:avLst/>
          </a:prstGeom>
          <a:ln w="12700">
            <a:noFill/>
            <a:prstDash val="solid"/>
          </a:ln>
        </p:spPr>
      </p:pic>
      <p:sp>
        <p:nvSpPr>
          <p:cNvPr id="15" name="AutoShape 15"/>
          <p:cNvSpPr/>
          <p:nvPr>
            <p:custDataLst>
              <p:tags r:id="rId14"/>
            </p:custDataLst>
          </p:nvPr>
        </p:nvSpPr>
        <p:spPr>
          <a:xfrm>
            <a:off x="1440180" y="40005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Zones d'ombre des connaissances</a:t>
            </a:r>
            <a:endParaRPr lang="en-US" sz="1100"/>
          </a:p>
        </p:txBody>
      </p:sp>
      <p:sp>
        <p:nvSpPr>
          <p:cNvPr id="16" name="AutoShape 16"/>
          <p:cNvSpPr/>
          <p:nvPr>
            <p:custDataLst>
              <p:tags r:id="rId15"/>
            </p:custDataLst>
          </p:nvPr>
        </p:nvSpPr>
        <p:spPr>
          <a:xfrm>
            <a:off x="1440180" y="43307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Il est difficile de maitriser toutes les API et les meilleures pratiques, la recherche de documentation occupe une grande partie du travail quotidien.</a:t>
            </a:r>
            <a:endPar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6"/>
            </p:custDataLst>
          </p:nvPr>
        </p:nvSpPr>
        <p:spPr>
          <a:xfrm>
            <a:off x="741680" y="50546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custDataLst>
              <p:tags r:id="rId17"/>
            </p:custDataLst>
          </p:nvPr>
        </p:nvPicPr>
        <p:blipFill>
          <a:blip r:embed="rId18"/>
          <a:srcRect/>
          <a:stretch>
            <a:fillRect/>
          </a:stretch>
        </p:blipFill>
        <p:spPr>
          <a:xfrm>
            <a:off x="932180" y="5245100"/>
            <a:ext cx="406400" cy="406400"/>
          </a:xfrm>
          <a:prstGeom prst="rect">
            <a:avLst/>
          </a:prstGeom>
          <a:ln w="12700">
            <a:noFill/>
            <a:prstDash val="solid"/>
          </a:ln>
        </p:spPr>
      </p:pic>
      <p:sp>
        <p:nvSpPr>
          <p:cNvPr id="19" name="AutoShape 19"/>
          <p:cNvSpPr/>
          <p:nvPr>
            <p:custDataLst>
              <p:tags r:id="rId19"/>
            </p:custDataLst>
          </p:nvPr>
        </p:nvSpPr>
        <p:spPr>
          <a:xfrm>
            <a:off x="1440180" y="52070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Debogage chronophage</a:t>
            </a:r>
            <a:endParaRPr lang="en-US" sz="1100"/>
          </a:p>
        </p:txBody>
      </p:sp>
      <p:sp>
        <p:nvSpPr>
          <p:cNvPr id="20" name="AutoShape 20"/>
          <p:cNvSpPr/>
          <p:nvPr>
            <p:custDataLst>
              <p:tags r:id="rId20"/>
            </p:custDataLst>
          </p:nvPr>
        </p:nvSpPr>
        <p:spPr>
          <a:xfrm>
            <a:off x="1440180" y="55372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Localiser et corriger les bugs peut prendre des heures, voire des jours, avec une efficacite faible.</a:t>
            </a:r>
            <a:endPar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21"/>
          <a:srcRect l="18102" r="18101"/>
          <a:stretch>
            <a:fillRect/>
          </a:stretch>
        </p:blipFill>
        <p:spPr>
          <a:xfrm>
            <a:off x="6075680" y="1435100"/>
            <a:ext cx="5334000" cy="4699000"/>
          </a:xfrm>
          <a:prstGeom prst="roundRect">
            <a:avLst>
              <a:gd name="adj" fmla="val 2702"/>
            </a:avLst>
          </a:prstGeom>
          <a:ln w="12700" cap="flat" cmpd="sng">
            <a:noFill/>
            <a:prstDash val="solid"/>
            <a:roun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826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Programmation assist</a:t>
            </a:r>
            <a:r>
              <a:rPr lang="en-US" altLang="en-US"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 par IA : </a:t>
            </a:r>
            <a:endParaRPr lang="en-US" altLang="zh-CN"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un nouveau paradigme pour l'efficacit</a:t>
            </a:r>
            <a:r>
              <a:rPr lang="en-US" altLang="en-US"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du d</a:t>
            </a:r>
            <a:r>
              <a:rPr lang="en-US" altLang="en-US"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veloppement</a:t>
            </a:r>
            <a:endParaRPr lang="en-US" sz="2800"/>
          </a:p>
        </p:txBody>
      </p:sp>
      <p:pic>
        <p:nvPicPr>
          <p:cNvPr id="6" name="Picture 6"/>
          <p:cNvPicPr>
            <a:picLocks noChangeAspect="1"/>
          </p:cNvPicPr>
          <p:nvPr/>
        </p:nvPicPr>
        <p:blipFill>
          <a:blip r:embed="rId1"/>
          <a:srcRect/>
          <a:stretch>
            <a:fillRect/>
          </a:stretch>
        </p:blipFill>
        <p:spPr>
          <a:xfrm>
            <a:off x="762000" y="1651000"/>
            <a:ext cx="304800" cy="304800"/>
          </a:xfrm>
          <a:prstGeom prst="rect">
            <a:avLst/>
          </a:prstGeom>
          <a:ln w="12700">
            <a:noFill/>
            <a:prstDash val="solid"/>
          </a:ln>
        </p:spPr>
      </p:pic>
      <p:sp>
        <p:nvSpPr>
          <p:cNvPr id="7" name="AutoShape 7"/>
          <p:cNvSpPr/>
          <p:nvPr/>
        </p:nvSpPr>
        <p:spPr>
          <a:xfrm>
            <a:off x="1143000" y="1625600"/>
            <a:ext cx="4826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Definition du concept</a:t>
            </a:r>
            <a:endParaRPr lang="en-US" sz="1100"/>
          </a:p>
        </p:txBody>
      </p:sp>
      <p:sp>
        <p:nvSpPr>
          <p:cNvPr id="8" name="AutoShape 8"/>
          <p:cNvSpPr/>
          <p:nvPr/>
        </p:nvSpPr>
        <p:spPr>
          <a:xfrm>
            <a:off x="762000" y="2032000"/>
            <a:ext cx="5207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Utiliser les technologies d'intelligence artificielle, telles que les grands mod</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les de langage (LLM), pour assister les d</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veloppeurs dans diverses t</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â</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ches de codage, allant de la compl</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tion de code à la g</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ration de fonctionnalit</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s complexes</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Picture 9"/>
          <p:cNvPicPr>
            <a:picLocks noChangeAspect="1"/>
          </p:cNvPicPr>
          <p:nvPr/>
        </p:nvPicPr>
        <p:blipFill>
          <a:blip r:embed="rId2"/>
          <a:srcRect t="9628" b="9628"/>
          <a:stretch>
            <a:fillRect/>
          </a:stretch>
        </p:blipFill>
        <p:spPr>
          <a:xfrm>
            <a:off x="762000" y="2984500"/>
            <a:ext cx="5207000" cy="2540000"/>
          </a:xfrm>
          <a:prstGeom prst="roundRect">
            <a:avLst>
              <a:gd name="adj" fmla="val 5000"/>
            </a:avLst>
          </a:prstGeom>
          <a:ln w="12700" cap="flat" cmpd="sng">
            <a:noFill/>
            <a:prstDash val="solid"/>
            <a:round/>
          </a:ln>
        </p:spPr>
      </p:pic>
      <p:pic>
        <p:nvPicPr>
          <p:cNvPr id="10" name="Picture 10"/>
          <p:cNvPicPr>
            <a:picLocks noChangeAspect="1"/>
          </p:cNvPicPr>
          <p:nvPr/>
        </p:nvPicPr>
        <p:blipFill>
          <a:blip r:embed="rId3"/>
          <a:srcRect/>
          <a:stretch>
            <a:fillRect/>
          </a:stretch>
        </p:blipFill>
        <p:spPr>
          <a:xfrm>
            <a:off x="6350000" y="1651000"/>
            <a:ext cx="401320" cy="304800"/>
          </a:xfrm>
          <a:prstGeom prst="rect">
            <a:avLst/>
          </a:prstGeom>
          <a:ln w="12700">
            <a:noFill/>
            <a:prstDash val="solid"/>
          </a:ln>
        </p:spPr>
      </p:pic>
      <p:sp>
        <p:nvSpPr>
          <p:cNvPr id="11" name="AutoShape 11"/>
          <p:cNvSpPr/>
          <p:nvPr/>
        </p:nvSpPr>
        <p:spPr>
          <a:xfrm>
            <a:off x="6731000" y="1625600"/>
            <a:ext cx="4699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Avantages majeurs</a:t>
            </a:r>
            <a:endParaRPr lang="en-US" sz="1100"/>
          </a:p>
        </p:txBody>
      </p:sp>
      <p:sp>
        <p:nvSpPr>
          <p:cNvPr id="12" name="AutoShape 12"/>
          <p:cNvSpPr/>
          <p:nvPr>
            <p:custDataLst>
              <p:tags r:id="rId4"/>
            </p:custDataLst>
          </p:nvPr>
        </p:nvSpPr>
        <p:spPr>
          <a:xfrm>
            <a:off x="6350000" y="2095500"/>
            <a:ext cx="3098165"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3" name="Picture 13"/>
          <p:cNvPicPr>
            <a:picLocks noChangeAspect="1"/>
          </p:cNvPicPr>
          <p:nvPr>
            <p:custDataLst>
              <p:tags r:id="rId5"/>
            </p:custDataLst>
          </p:nvPr>
        </p:nvPicPr>
        <p:blipFill>
          <a:blip r:embed="rId6"/>
          <a:srcRect/>
          <a:stretch>
            <a:fillRect/>
          </a:stretch>
        </p:blipFill>
        <p:spPr>
          <a:xfrm>
            <a:off x="6477000" y="2222500"/>
            <a:ext cx="334645" cy="254000"/>
          </a:xfrm>
          <a:prstGeom prst="rect">
            <a:avLst/>
          </a:prstGeom>
          <a:ln w="12700">
            <a:noFill/>
            <a:prstDash val="solid"/>
          </a:ln>
        </p:spPr>
      </p:pic>
      <p:sp>
        <p:nvSpPr>
          <p:cNvPr id="14" name="AutoShape 14"/>
          <p:cNvSpPr/>
          <p:nvPr>
            <p:custDataLst>
              <p:tags r:id="rId7"/>
            </p:custDataLst>
          </p:nvPr>
        </p:nvSpPr>
        <p:spPr>
          <a:xfrm>
            <a:off x="6794500" y="2184400"/>
            <a:ext cx="234442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Accelerer le codage</a:t>
            </a:r>
            <a:endParaRPr lang="en-US" sz="1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8"/>
            </p:custDataLst>
          </p:nvPr>
        </p:nvSpPr>
        <p:spPr>
          <a:xfrm>
            <a:off x="6477000" y="2514600"/>
            <a:ext cx="2847975" cy="5715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tion automatique du code, permettant aux d</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veloppeurs de se concentrer sur la conception logique plutôt que sur les d</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tails de syntaxe</a:t>
            </a:r>
            <a:r>
              <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9"/>
            </p:custDataLst>
          </p:nvPr>
        </p:nvSpPr>
        <p:spPr>
          <a:xfrm>
            <a:off x="8826500" y="2095500"/>
            <a:ext cx="3098165"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7" name="Picture 17"/>
          <p:cNvPicPr>
            <a:picLocks noChangeAspect="1"/>
          </p:cNvPicPr>
          <p:nvPr>
            <p:custDataLst>
              <p:tags r:id="rId10"/>
            </p:custDataLst>
          </p:nvPr>
        </p:nvPicPr>
        <p:blipFill>
          <a:blip r:embed="rId11"/>
          <a:srcRect/>
          <a:stretch>
            <a:fillRect/>
          </a:stretch>
        </p:blipFill>
        <p:spPr>
          <a:xfrm>
            <a:off x="8953500" y="2222500"/>
            <a:ext cx="334645" cy="254000"/>
          </a:xfrm>
          <a:prstGeom prst="rect">
            <a:avLst/>
          </a:prstGeom>
          <a:ln w="12700">
            <a:noFill/>
            <a:prstDash val="solid"/>
          </a:ln>
        </p:spPr>
      </p:pic>
      <p:sp>
        <p:nvSpPr>
          <p:cNvPr id="18" name="AutoShape 18"/>
          <p:cNvSpPr/>
          <p:nvPr>
            <p:custDataLst>
              <p:tags r:id="rId12"/>
            </p:custDataLst>
          </p:nvPr>
        </p:nvSpPr>
        <p:spPr>
          <a:xfrm>
            <a:off x="9271000" y="2184400"/>
            <a:ext cx="251206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Reduire la barriere d'apprentissage</a:t>
            </a:r>
            <a:endParaRPr lang="en-US" sz="1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custDataLst>
              <p:tags r:id="rId13"/>
            </p:custDataLst>
          </p:nvPr>
        </p:nvSpPr>
        <p:spPr>
          <a:xfrm>
            <a:off x="8953500" y="2514600"/>
            <a:ext cx="2847975" cy="5715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Aide aux d</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butants pour un d</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marrage rapide, r</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duisant la d</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pendance à la m</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morisation de syntaxes complexes</a:t>
            </a:r>
            <a:r>
              <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14"/>
            </p:custDataLst>
          </p:nvPr>
        </p:nvSpPr>
        <p:spPr>
          <a:xfrm>
            <a:off x="6350000" y="3302000"/>
            <a:ext cx="3098165"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1" name="Picture 21"/>
          <p:cNvPicPr>
            <a:picLocks noChangeAspect="1"/>
          </p:cNvPicPr>
          <p:nvPr>
            <p:custDataLst>
              <p:tags r:id="rId15"/>
            </p:custDataLst>
          </p:nvPr>
        </p:nvPicPr>
        <p:blipFill>
          <a:blip r:embed="rId16"/>
          <a:srcRect/>
          <a:stretch>
            <a:fillRect/>
          </a:stretch>
        </p:blipFill>
        <p:spPr>
          <a:xfrm>
            <a:off x="6477000" y="3429000"/>
            <a:ext cx="334645" cy="254000"/>
          </a:xfrm>
          <a:prstGeom prst="rect">
            <a:avLst/>
          </a:prstGeom>
          <a:ln w="12700">
            <a:noFill/>
            <a:prstDash val="solid"/>
          </a:ln>
        </p:spPr>
      </p:pic>
      <p:sp>
        <p:nvSpPr>
          <p:cNvPr id="22" name="AutoShape 22"/>
          <p:cNvSpPr/>
          <p:nvPr>
            <p:custDataLst>
              <p:tags r:id="rId17"/>
            </p:custDataLst>
          </p:nvPr>
        </p:nvSpPr>
        <p:spPr>
          <a:xfrm>
            <a:off x="6794500" y="3390900"/>
            <a:ext cx="234442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Reduire les erreurs de code</a:t>
            </a:r>
            <a:endParaRPr lang="en-US" sz="1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custDataLst>
              <p:tags r:id="rId18"/>
            </p:custDataLst>
          </p:nvPr>
        </p:nvSpPr>
        <p:spPr>
          <a:xfrm>
            <a:off x="6477000" y="3721100"/>
            <a:ext cx="2847975" cy="5715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Entra</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î</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nement sur une grande quantit</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de code correct, g</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rant un code de haute qualit</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et robuste</a:t>
            </a:r>
            <a:r>
              <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custDataLst>
              <p:tags r:id="rId19"/>
            </p:custDataLst>
          </p:nvPr>
        </p:nvSpPr>
        <p:spPr>
          <a:xfrm>
            <a:off x="8826500" y="3302000"/>
            <a:ext cx="3098165"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5" name="Picture 25"/>
          <p:cNvPicPr>
            <a:picLocks noChangeAspect="1"/>
          </p:cNvPicPr>
          <p:nvPr>
            <p:custDataLst>
              <p:tags r:id="rId20"/>
            </p:custDataLst>
          </p:nvPr>
        </p:nvPicPr>
        <p:blipFill>
          <a:blip r:embed="rId21"/>
          <a:srcRect/>
          <a:stretch>
            <a:fillRect/>
          </a:stretch>
        </p:blipFill>
        <p:spPr>
          <a:xfrm>
            <a:off x="8953500" y="3429000"/>
            <a:ext cx="334645" cy="254000"/>
          </a:xfrm>
          <a:prstGeom prst="rect">
            <a:avLst/>
          </a:prstGeom>
          <a:ln w="12700">
            <a:noFill/>
            <a:prstDash val="solid"/>
          </a:ln>
        </p:spPr>
      </p:pic>
      <p:sp>
        <p:nvSpPr>
          <p:cNvPr id="26" name="AutoShape 26"/>
          <p:cNvSpPr/>
          <p:nvPr>
            <p:custDataLst>
              <p:tags r:id="rId22"/>
            </p:custDataLst>
          </p:nvPr>
        </p:nvSpPr>
        <p:spPr>
          <a:xfrm>
            <a:off x="9271000" y="3390900"/>
            <a:ext cx="2921635"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Stimuler la creativite de developpement</a:t>
            </a:r>
            <a:endParaRPr lang="en-US" sz="1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custDataLst>
              <p:tags r:id="rId23"/>
            </p:custDataLst>
          </p:nvPr>
        </p:nvSpPr>
        <p:spPr>
          <a:xfrm>
            <a:off x="8953500" y="3721100"/>
            <a:ext cx="2847975" cy="5715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Fournir des id</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es de mise en </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œ</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uvre diversifi</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es, </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largissant les horizons techniques des d</a:t>
            </a:r>
            <a:r>
              <a:rPr lang="en-US" alt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veloppeurs</a:t>
            </a:r>
            <a:r>
              <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8" name="Picture 28"/>
          <p:cNvPicPr>
            <a:picLocks noChangeAspect="1"/>
          </p:cNvPicPr>
          <p:nvPr/>
        </p:nvPicPr>
        <p:blipFill>
          <a:blip r:embed="rId24"/>
          <a:srcRect/>
          <a:stretch>
            <a:fillRect/>
          </a:stretch>
        </p:blipFill>
        <p:spPr>
          <a:xfrm>
            <a:off x="6350000" y="4572000"/>
            <a:ext cx="304800" cy="304800"/>
          </a:xfrm>
          <a:prstGeom prst="rect">
            <a:avLst/>
          </a:prstGeom>
          <a:ln w="12700">
            <a:noFill/>
            <a:prstDash val="solid"/>
          </a:ln>
        </p:spPr>
      </p:pic>
      <p:sp>
        <p:nvSpPr>
          <p:cNvPr id="29" name="AutoShape 29"/>
          <p:cNvSpPr/>
          <p:nvPr/>
        </p:nvSpPr>
        <p:spPr>
          <a:xfrm>
            <a:off x="6731000" y="4546600"/>
            <a:ext cx="4699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Etat de developpement</a:t>
            </a:r>
            <a:endParaRPr lang="en-US" sz="1100"/>
          </a:p>
        </p:txBody>
      </p:sp>
      <p:sp>
        <p:nvSpPr>
          <p:cNvPr id="30" name="AutoShape 30"/>
          <p:cNvSpPr/>
          <p:nvPr/>
        </p:nvSpPr>
        <p:spPr>
          <a:xfrm>
            <a:off x="6350000" y="4953000"/>
            <a:ext cx="4826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D'une simple compl</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tion de code à la g</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ration de fonctionnalit</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s complexes, les cas d'application ne cessent de s'</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largir, et l'IA devient un assistant intelligent indispensable pour les d</a:t>
            </a:r>
            <a:r>
              <a:rPr lang="en-US" alt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veloppeurs</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nvSpPr>
        <p:spPr>
          <a:xfrm>
            <a:off x="1016000" y="2413000"/>
            <a:ext cx="10160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02 Les secrets de la génération de code : technologies clés des LLM</a:t>
            </a:r>
            <a:endParaRPr lang="en-US" sz="1100"/>
          </a:p>
        </p:txBody>
      </p:sp>
      <p:sp>
        <p:nvSpPr>
          <p:cNvPr id="8" name="AutoShape 8"/>
          <p:cNvSpPr/>
          <p:nvPr/>
        </p:nvSpPr>
        <p:spPr>
          <a:xfrm>
            <a:off x="1016000" y="3556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Comprendre comment les grands modèles « apprennent » à programmer</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59105"/>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Fondamentaux des grands modèles de langage (LLM)</a:t>
            </a:r>
            <a:endParaRPr lang="en-US" sz="1100"/>
          </a:p>
        </p:txBody>
      </p:sp>
      <p:sp>
        <p:nvSpPr>
          <p:cNvPr id="5" name="AutoShape 5"/>
          <p:cNvSpPr/>
          <p:nvPr/>
        </p:nvSpPr>
        <p:spPr>
          <a:xfrm>
            <a:off x="762000" y="1524000"/>
            <a:ext cx="5334000" cy="1397000"/>
          </a:xfrm>
          <a:prstGeom prst="roundRect">
            <a:avLst>
              <a:gd name="adj" fmla="val 908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1016000" y="1714500"/>
            <a:ext cx="304800" cy="304800"/>
          </a:xfrm>
          <a:prstGeom prst="rect">
            <a:avLst/>
          </a:prstGeom>
          <a:ln w="12700">
            <a:noFill/>
            <a:prstDash val="solid"/>
          </a:ln>
        </p:spPr>
      </p:pic>
      <p:sp>
        <p:nvSpPr>
          <p:cNvPr id="7" name="AutoShape 7"/>
          <p:cNvSpPr/>
          <p:nvPr/>
        </p:nvSpPr>
        <p:spPr>
          <a:xfrm>
            <a:off x="1460500" y="1676400"/>
            <a:ext cx="4445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Nature essentielle : architecture Transformer</a:t>
            </a:r>
            <a:endParaRPr lang="en-US" sz="1100"/>
          </a:p>
        </p:txBody>
      </p:sp>
      <p:sp>
        <p:nvSpPr>
          <p:cNvPr id="8" name="AutoShape 8"/>
          <p:cNvSpPr/>
          <p:nvPr/>
        </p:nvSpPr>
        <p:spPr>
          <a:xfrm>
            <a:off x="1016000" y="2032000"/>
            <a:ext cx="4826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Les LLM sont des modèles d'apprentissage profond basés sur l'architecture Transformer. Grâce au mécanisme d'auto-attention, </a:t>
            </a:r>
            <a:r>
              <a:rPr lang="en-US" altLang="zh-CN"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cette architecture conf</a:t>
            </a:r>
            <a:r>
              <a:rPr lang="en-US" alt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re au mod</a:t>
            </a:r>
            <a:r>
              <a:rPr lang="en-US" alt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le de puissantes capacit</a:t>
            </a:r>
            <a:r>
              <a:rPr lang="en-US" alt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 de calcul parall</a:t>
            </a:r>
            <a:r>
              <a:rPr lang="en-US" alt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le et de capture des d</a:t>
            </a:r>
            <a:r>
              <a:rPr lang="en-US" alt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pendances à longue distance</a:t>
            </a: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3111500"/>
            <a:ext cx="5334000" cy="1397000"/>
          </a:xfrm>
          <a:prstGeom prst="roundRect">
            <a:avLst>
              <a:gd name="adj" fmla="val 908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2"/>
          <a:srcRect/>
          <a:stretch>
            <a:fillRect/>
          </a:stretch>
        </p:blipFill>
        <p:spPr>
          <a:xfrm>
            <a:off x="1016000" y="3302000"/>
            <a:ext cx="304800" cy="304800"/>
          </a:xfrm>
          <a:prstGeom prst="rect">
            <a:avLst/>
          </a:prstGeom>
          <a:ln w="12700">
            <a:noFill/>
            <a:prstDash val="solid"/>
          </a:ln>
        </p:spPr>
      </p:pic>
      <p:sp>
        <p:nvSpPr>
          <p:cNvPr id="11" name="AutoShape 11"/>
          <p:cNvSpPr/>
          <p:nvPr/>
        </p:nvSpPr>
        <p:spPr>
          <a:xfrm>
            <a:off x="1460500" y="3263900"/>
            <a:ext cx="4445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Capacité centrale : compréhension et génération</a:t>
            </a:r>
            <a:endParaRPr lang="en-US" sz="1100"/>
          </a:p>
        </p:txBody>
      </p:sp>
      <p:sp>
        <p:nvSpPr>
          <p:cNvPr id="12" name="AutoShape 12"/>
          <p:cNvSpPr/>
          <p:nvPr/>
        </p:nvSpPr>
        <p:spPr>
          <a:xfrm>
            <a:off x="1016000" y="3619500"/>
            <a:ext cx="4826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Non seulement ils maîtrisent la communication en langage naturel humain, mais après un entraînement spécifique, ils sont également capables de comprendre et de générer avec précision des langages formels comme le code, dotés d'une forte capacité de raisonnement logique.</a:t>
            </a:r>
            <a:endPar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4699000"/>
            <a:ext cx="5334000" cy="1397000"/>
          </a:xfrm>
          <a:prstGeom prst="roundRect">
            <a:avLst>
              <a:gd name="adj" fmla="val 908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3"/>
          <a:srcRect/>
          <a:stretch>
            <a:fillRect/>
          </a:stretch>
        </p:blipFill>
        <p:spPr>
          <a:xfrm>
            <a:off x="1016000" y="4889500"/>
            <a:ext cx="304800" cy="304800"/>
          </a:xfrm>
          <a:prstGeom prst="rect">
            <a:avLst/>
          </a:prstGeom>
          <a:ln w="12700">
            <a:noFill/>
            <a:prstDash val="solid"/>
          </a:ln>
        </p:spPr>
      </p:pic>
      <p:sp>
        <p:nvSpPr>
          <p:cNvPr id="15" name="AutoShape 15"/>
          <p:cNvSpPr/>
          <p:nvPr/>
        </p:nvSpPr>
        <p:spPr>
          <a:xfrm>
            <a:off x="1460500" y="4851400"/>
            <a:ext cx="4445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Mécanisme d'entraînement : pré-entraînement massif</a:t>
            </a:r>
            <a:endParaRPr lang="en-US" sz="1100"/>
          </a:p>
        </p:txBody>
      </p:sp>
      <p:sp>
        <p:nvSpPr>
          <p:cNvPr id="16" name="AutoShape 16"/>
          <p:cNvSpPr/>
          <p:nvPr/>
        </p:nvSpPr>
        <p:spPr>
          <a:xfrm>
            <a:off x="1016000" y="5207000"/>
            <a:ext cx="4826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Grâce à un pré-entraînement sur des données textuelles massives comprenant une grande quantité de code open source, le modèle a appris une riche connaissance du monde, des structures syntaxiques et des paradigmes de programmation.</a:t>
            </a:r>
            <a:endPar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350000" y="1524000"/>
            <a:ext cx="5080000" cy="4572000"/>
          </a:xfrm>
          <a:prstGeom prst="roundRect">
            <a:avLst>
              <a:gd name="adj" fmla="val 2777"/>
            </a:avLst>
          </a:prstGeom>
          <a:solidFill>
            <a:srgbClr val="F3F4F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nvPicPr>
        <p:blipFill>
          <a:blip r:embed="rId4"/>
          <a:srcRect/>
          <a:stretch>
            <a:fillRect/>
          </a:stretch>
        </p:blipFill>
        <p:spPr>
          <a:xfrm>
            <a:off x="6104890" y="1515110"/>
            <a:ext cx="5691505" cy="45713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Flux de travail de la génération de code par LLM</a:t>
            </a:r>
            <a:endParaRPr lang="en-US" sz="1100"/>
          </a:p>
        </p:txBody>
      </p:sp>
      <p:sp>
        <p:nvSpPr>
          <p:cNvPr id="5" name="AutoShape 5"/>
          <p:cNvSpPr/>
          <p:nvPr>
            <p:custDataLst>
              <p:tags r:id="rId1"/>
            </p:custDataLst>
          </p:nvPr>
        </p:nvSpPr>
        <p:spPr>
          <a:xfrm>
            <a:off x="9271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custDataLst>
              <p:tags r:id="rId2"/>
            </p:custDataLst>
          </p:nvPr>
        </p:nvPicPr>
        <p:blipFill>
          <a:blip r:embed="rId3"/>
          <a:srcRect/>
          <a:stretch>
            <a:fillRect/>
          </a:stretch>
        </p:blipFill>
        <p:spPr>
          <a:xfrm>
            <a:off x="1117600" y="1896745"/>
            <a:ext cx="304800" cy="304800"/>
          </a:xfrm>
          <a:prstGeom prst="rect">
            <a:avLst/>
          </a:prstGeom>
          <a:ln w="12700">
            <a:noFill/>
            <a:prstDash val="solid"/>
          </a:ln>
        </p:spPr>
      </p:pic>
      <p:sp>
        <p:nvSpPr>
          <p:cNvPr id="7" name="AutoShape 7"/>
          <p:cNvSpPr/>
          <p:nvPr>
            <p:custDataLst>
              <p:tags r:id="rId4"/>
            </p:custDataLst>
          </p:nvPr>
        </p:nvSpPr>
        <p:spPr>
          <a:xfrm>
            <a:off x="1498600" y="18586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01 Entrée (Prompt)</a:t>
            </a:r>
            <a:endParaRPr lang="en-US" sz="1100"/>
          </a:p>
        </p:txBody>
      </p:sp>
      <p:sp>
        <p:nvSpPr>
          <p:cNvPr id="8" name="AutoShape 8"/>
          <p:cNvSpPr/>
          <p:nvPr>
            <p:custDataLst>
              <p:tags r:id="rId5"/>
            </p:custDataLst>
          </p:nvPr>
        </p:nvSpPr>
        <p:spPr>
          <a:xfrm>
            <a:off x="11176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Le développeur fournit une description en langage naturel (comme des commentaires) ou un fragment de code comme invite.</a:t>
            </a:r>
            <a:endParaRPr lang="en-US" sz="1100"/>
          </a:p>
        </p:txBody>
      </p:sp>
      <p:sp>
        <p:nvSpPr>
          <p:cNvPr id="9" name="AutoShape 9"/>
          <p:cNvSpPr/>
          <p:nvPr>
            <p:custDataLst>
              <p:tags r:id="rId6"/>
            </p:custDataLst>
          </p:nvPr>
        </p:nvSpPr>
        <p:spPr>
          <a:xfrm>
            <a:off x="36322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custDataLst>
              <p:tags r:id="rId7"/>
            </p:custDataLst>
          </p:nvPr>
        </p:nvPicPr>
        <p:blipFill>
          <a:blip r:embed="rId8"/>
          <a:srcRect/>
          <a:stretch>
            <a:fillRect/>
          </a:stretch>
        </p:blipFill>
        <p:spPr>
          <a:xfrm>
            <a:off x="3822700" y="1896745"/>
            <a:ext cx="304800" cy="304800"/>
          </a:xfrm>
          <a:prstGeom prst="rect">
            <a:avLst/>
          </a:prstGeom>
          <a:ln w="12700">
            <a:noFill/>
            <a:prstDash val="solid"/>
          </a:ln>
        </p:spPr>
      </p:pic>
      <p:sp>
        <p:nvSpPr>
          <p:cNvPr id="11" name="AutoShape 11"/>
          <p:cNvSpPr/>
          <p:nvPr>
            <p:custDataLst>
              <p:tags r:id="rId9"/>
            </p:custDataLst>
          </p:nvPr>
        </p:nvSpPr>
        <p:spPr>
          <a:xfrm>
            <a:off x="4203700" y="18205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02 Compréhension du contexte</a:t>
            </a:r>
            <a:endParaRPr lang="en-US" sz="1100"/>
          </a:p>
        </p:txBody>
      </p:sp>
      <p:sp>
        <p:nvSpPr>
          <p:cNvPr id="12" name="AutoShape 12"/>
          <p:cNvSpPr/>
          <p:nvPr>
            <p:custDataLst>
              <p:tags r:id="rId10"/>
            </p:custDataLst>
          </p:nvPr>
        </p:nvSpPr>
        <p:spPr>
          <a:xfrm>
            <a:off x="38227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Le LLM analyse l'intention de l'entrée, l'environnement contextuel et les connaissances en programmation pertinentes.</a:t>
            </a:r>
            <a:endParaRPr lang="en-US" sz="1100"/>
          </a:p>
        </p:txBody>
      </p:sp>
      <p:sp>
        <p:nvSpPr>
          <p:cNvPr id="13" name="AutoShape 13"/>
          <p:cNvSpPr/>
          <p:nvPr>
            <p:custDataLst>
              <p:tags r:id="rId11"/>
            </p:custDataLst>
          </p:nvPr>
        </p:nvSpPr>
        <p:spPr>
          <a:xfrm>
            <a:off x="63373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custDataLst>
              <p:tags r:id="rId12"/>
            </p:custDataLst>
          </p:nvPr>
        </p:nvPicPr>
        <p:blipFill>
          <a:blip r:embed="rId13"/>
          <a:srcRect/>
          <a:stretch>
            <a:fillRect/>
          </a:stretch>
        </p:blipFill>
        <p:spPr>
          <a:xfrm>
            <a:off x="6527800" y="1896745"/>
            <a:ext cx="304800" cy="304800"/>
          </a:xfrm>
          <a:prstGeom prst="rect">
            <a:avLst/>
          </a:prstGeom>
          <a:ln w="12700">
            <a:noFill/>
            <a:prstDash val="solid"/>
          </a:ln>
        </p:spPr>
      </p:pic>
      <p:sp>
        <p:nvSpPr>
          <p:cNvPr id="15" name="AutoShape 15"/>
          <p:cNvSpPr/>
          <p:nvPr>
            <p:custDataLst>
              <p:tags r:id="rId14"/>
            </p:custDataLst>
          </p:nvPr>
        </p:nvSpPr>
        <p:spPr>
          <a:xfrm>
            <a:off x="6908800" y="18205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03 Génération de code</a:t>
            </a:r>
            <a:endParaRPr lang="en-US" sz="1100"/>
          </a:p>
        </p:txBody>
      </p:sp>
      <p:sp>
        <p:nvSpPr>
          <p:cNvPr id="16" name="AutoShape 16"/>
          <p:cNvSpPr/>
          <p:nvPr>
            <p:custDataLst>
              <p:tags r:id="rId15"/>
            </p:custDataLst>
          </p:nvPr>
        </p:nvSpPr>
        <p:spPr>
          <a:xfrm>
            <a:off x="65278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En se basant sur les connaissances et les modèles appris, le modèle prédit et génère le code suivant le plus conforme à l'intention.</a:t>
            </a:r>
            <a:endParaRPr lang="en-US" sz="1100"/>
          </a:p>
        </p:txBody>
      </p:sp>
      <p:sp>
        <p:nvSpPr>
          <p:cNvPr id="17" name="AutoShape 17"/>
          <p:cNvSpPr/>
          <p:nvPr>
            <p:custDataLst>
              <p:tags r:id="rId16"/>
            </p:custDataLst>
          </p:nvPr>
        </p:nvSpPr>
        <p:spPr>
          <a:xfrm>
            <a:off x="90551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custDataLst>
              <p:tags r:id="rId17"/>
            </p:custDataLst>
          </p:nvPr>
        </p:nvPicPr>
        <p:blipFill>
          <a:blip r:embed="rId18"/>
          <a:srcRect/>
          <a:stretch>
            <a:fillRect/>
          </a:stretch>
        </p:blipFill>
        <p:spPr>
          <a:xfrm>
            <a:off x="9245600" y="1896745"/>
            <a:ext cx="304800" cy="304800"/>
          </a:xfrm>
          <a:prstGeom prst="rect">
            <a:avLst/>
          </a:prstGeom>
          <a:ln w="12700">
            <a:noFill/>
            <a:prstDash val="solid"/>
          </a:ln>
        </p:spPr>
      </p:pic>
      <p:sp>
        <p:nvSpPr>
          <p:cNvPr id="19" name="AutoShape 19"/>
          <p:cNvSpPr/>
          <p:nvPr>
            <p:custDataLst>
              <p:tags r:id="rId19"/>
            </p:custDataLst>
          </p:nvPr>
        </p:nvSpPr>
        <p:spPr>
          <a:xfrm>
            <a:off x="9613900" y="18205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04 Sortie et optimisation</a:t>
            </a:r>
            <a:endParaRPr lang="en-US" sz="1100"/>
          </a:p>
        </p:txBody>
      </p:sp>
      <p:sp>
        <p:nvSpPr>
          <p:cNvPr id="20" name="AutoShape 20"/>
          <p:cNvSpPr/>
          <p:nvPr>
            <p:custDataLst>
              <p:tags r:id="rId20"/>
            </p:custDataLst>
          </p:nvPr>
        </p:nvSpPr>
        <p:spPr>
          <a:xfrm>
            <a:off x="92456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Le code généré est renvoyé à l'utilisateur et peut être optimisé de manière itérative selon les retours ou les interactions.</a:t>
            </a:r>
            <a:endParaRPr lang="en-US" sz="1100"/>
          </a:p>
        </p:txBody>
      </p:sp>
      <p:pic>
        <p:nvPicPr>
          <p:cNvPr id="21" name="Picture 21"/>
          <p:cNvPicPr>
            <a:picLocks noChangeAspect="1"/>
          </p:cNvPicPr>
          <p:nvPr/>
        </p:nvPicPr>
        <p:blipFill>
          <a:blip r:embed="rId21"/>
          <a:srcRect t="34960" b="35496"/>
          <a:stretch>
            <a:fillRect/>
          </a:stretch>
        </p:blipFill>
        <p:spPr>
          <a:xfrm>
            <a:off x="1117600" y="4151630"/>
            <a:ext cx="10019665" cy="16643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15925"/>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Technologies clés de la génération de code</a:t>
            </a:r>
            <a:endParaRPr lang="en-US" sz="1100"/>
          </a:p>
        </p:txBody>
      </p:sp>
      <p:sp>
        <p:nvSpPr>
          <p:cNvPr id="5" name="AutoShape 5"/>
          <p:cNvSpPr/>
          <p:nvPr/>
        </p:nvSpPr>
        <p:spPr>
          <a:xfrm>
            <a:off x="762000" y="121920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custDataLst>
              <p:tags r:id="rId1"/>
            </p:custDataLst>
          </p:nvPr>
        </p:nvSpPr>
        <p:spPr>
          <a:xfrm>
            <a:off x="762000" y="165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custDataLst>
              <p:tags r:id="rId2"/>
            </p:custDataLst>
          </p:nvPr>
        </p:nvPicPr>
        <p:blipFill>
          <a:blip r:embed="rId3"/>
          <a:srcRect/>
          <a:stretch>
            <a:fillRect/>
          </a:stretch>
        </p:blipFill>
        <p:spPr>
          <a:xfrm>
            <a:off x="1016000" y="1905000"/>
            <a:ext cx="762000" cy="762000"/>
          </a:xfrm>
          <a:prstGeom prst="ellipse">
            <a:avLst/>
          </a:prstGeom>
          <a:ln w="12700" cap="flat" cmpd="sng">
            <a:noFill/>
            <a:prstDash val="solid"/>
            <a:round/>
          </a:ln>
        </p:spPr>
      </p:pic>
      <p:sp>
        <p:nvSpPr>
          <p:cNvPr id="8" name="AutoShape 8"/>
          <p:cNvSpPr/>
          <p:nvPr>
            <p:custDataLst>
              <p:tags r:id="rId4"/>
            </p:custDataLst>
          </p:nvPr>
        </p:nvSpPr>
        <p:spPr>
          <a:xfrm>
            <a:off x="1905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Ingénierie des prompts (Prompt Engineering)</a:t>
            </a:r>
            <a:endParaRPr lang="en-US" sz="1100"/>
          </a:p>
        </p:txBody>
      </p:sp>
      <p:sp>
        <p:nvSpPr>
          <p:cNvPr id="9" name="AutoShape 9"/>
          <p:cNvSpPr/>
          <p:nvPr>
            <p:custDataLst>
              <p:tags r:id="rId5"/>
            </p:custDataLst>
          </p:nvPr>
        </p:nvSpPr>
        <p:spPr>
          <a:xfrm>
            <a:off x="1905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Concevoir des invites d'entrée efficaces pour guider le modèle à générer du code de haute qualité constitue la compétence centrale pour utiliser les outils d'IA et détermine la précision des résultats.</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6"/>
            </p:custDataLst>
          </p:nvPr>
        </p:nvSpPr>
        <p:spPr>
          <a:xfrm>
            <a:off x="6223000" y="165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custDataLst>
              <p:tags r:id="rId7"/>
            </p:custDataLst>
          </p:nvPr>
        </p:nvPicPr>
        <p:blipFill>
          <a:blip r:embed="rId8"/>
          <a:srcRect/>
          <a:stretch>
            <a:fillRect/>
          </a:stretch>
        </p:blipFill>
        <p:spPr>
          <a:xfrm>
            <a:off x="6477000" y="1905000"/>
            <a:ext cx="762000" cy="762000"/>
          </a:xfrm>
          <a:prstGeom prst="ellipse">
            <a:avLst/>
          </a:prstGeom>
          <a:ln w="12700" cap="flat" cmpd="sng">
            <a:noFill/>
            <a:prstDash val="solid"/>
            <a:round/>
          </a:ln>
        </p:spPr>
      </p:pic>
      <p:sp>
        <p:nvSpPr>
          <p:cNvPr id="12" name="AutoShape 12"/>
          <p:cNvSpPr/>
          <p:nvPr>
            <p:custDataLst>
              <p:tags r:id="rId9"/>
            </p:custDataLst>
          </p:nvPr>
        </p:nvSpPr>
        <p:spPr>
          <a:xfrm>
            <a:off x="7366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Ajustement fin (Fine-tuning)</a:t>
            </a:r>
            <a:endParaRPr lang="en-US" sz="1100"/>
          </a:p>
        </p:txBody>
      </p:sp>
      <p:sp>
        <p:nvSpPr>
          <p:cNvPr id="13" name="AutoShape 13"/>
          <p:cNvSpPr/>
          <p:nvPr>
            <p:custDataLst>
              <p:tags r:id="rId10"/>
            </p:custDataLst>
          </p:nvPr>
        </p:nvSpPr>
        <p:spPr>
          <a:xfrm>
            <a:off x="7366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Basé sur des modèles pré-entraînés généraux, utiliser des ensembles de données de code spécifiques à un domaine pour un entraînement secondaire améliore significativement les capacités de codage spécialisé du modèle dans des domaines verticaux.</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1"/>
            </p:custDataLst>
          </p:nvPr>
        </p:nvSpPr>
        <p:spPr>
          <a:xfrm>
            <a:off x="762000" y="419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5" name="Picture 15"/>
          <p:cNvPicPr>
            <a:picLocks noChangeAspect="1"/>
          </p:cNvPicPr>
          <p:nvPr>
            <p:custDataLst>
              <p:tags r:id="rId12"/>
            </p:custDataLst>
          </p:nvPr>
        </p:nvPicPr>
        <p:blipFill>
          <a:blip r:embed="rId13"/>
          <a:srcRect/>
          <a:stretch>
            <a:fillRect/>
          </a:stretch>
        </p:blipFill>
        <p:spPr>
          <a:xfrm>
            <a:off x="1016000" y="4445000"/>
            <a:ext cx="762000" cy="762000"/>
          </a:xfrm>
          <a:prstGeom prst="ellipse">
            <a:avLst/>
          </a:prstGeom>
          <a:ln w="12700" cap="flat" cmpd="sng">
            <a:noFill/>
            <a:prstDash val="solid"/>
            <a:round/>
          </a:ln>
        </p:spPr>
      </p:pic>
      <p:sp>
        <p:nvSpPr>
          <p:cNvPr id="16" name="AutoShape 16"/>
          <p:cNvSpPr/>
          <p:nvPr>
            <p:custDataLst>
              <p:tags r:id="rId14"/>
            </p:custDataLst>
          </p:nvPr>
        </p:nvSpPr>
        <p:spPr>
          <a:xfrm>
            <a:off x="1955800" y="43688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Génération augmentée par récupération (RAG)</a:t>
            </a:r>
            <a:endParaRPr lang="en-US" sz="1100"/>
          </a:p>
        </p:txBody>
      </p:sp>
      <p:sp>
        <p:nvSpPr>
          <p:cNvPr id="17" name="AutoShape 17"/>
          <p:cNvSpPr/>
          <p:nvPr>
            <p:custDataLst>
              <p:tags r:id="rId15"/>
            </p:custDataLst>
          </p:nvPr>
        </p:nvSpPr>
        <p:spPr>
          <a:xfrm>
            <a:off x="1905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En combinant la récupération de connaissances externes (documentation API, exemples de code), on complète les informations en temps réel du modèle, résout efficacement les problèmes d'hallucination et améliore la précision de la génération.</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custDataLst>
              <p:tags r:id="rId16"/>
            </p:custDataLst>
          </p:nvPr>
        </p:nvSpPr>
        <p:spPr>
          <a:xfrm>
            <a:off x="6223000" y="419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9" name="Picture 19"/>
          <p:cNvPicPr>
            <a:picLocks noChangeAspect="1"/>
          </p:cNvPicPr>
          <p:nvPr>
            <p:custDataLst>
              <p:tags r:id="rId17"/>
            </p:custDataLst>
          </p:nvPr>
        </p:nvPicPr>
        <p:blipFill>
          <a:blip r:embed="rId18"/>
          <a:srcRect/>
          <a:stretch>
            <a:fillRect/>
          </a:stretch>
        </p:blipFill>
        <p:spPr>
          <a:xfrm>
            <a:off x="6477000" y="4445000"/>
            <a:ext cx="762000" cy="762000"/>
          </a:xfrm>
          <a:prstGeom prst="ellipse">
            <a:avLst/>
          </a:prstGeom>
          <a:ln w="12700" cap="flat" cmpd="sng">
            <a:noFill/>
            <a:prstDash val="solid"/>
            <a:round/>
          </a:ln>
        </p:spPr>
      </p:pic>
      <p:sp>
        <p:nvSpPr>
          <p:cNvPr id="20" name="AutoShape 20"/>
          <p:cNvSpPr/>
          <p:nvPr>
            <p:custDataLst>
              <p:tags r:id="rId19"/>
            </p:custDataLst>
          </p:nvPr>
        </p:nvSpPr>
        <p:spPr>
          <a:xfrm>
            <a:off x="7366000" y="444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Entrées multimodales (Multimodal)</a:t>
            </a:r>
            <a:endParaRPr lang="en-US" sz="1100"/>
          </a:p>
        </p:txBody>
      </p:sp>
      <p:sp>
        <p:nvSpPr>
          <p:cNvPr id="21" name="AutoShape 21"/>
          <p:cNvSpPr/>
          <p:nvPr>
            <p:custDataLst>
              <p:tags r:id="rId20"/>
            </p:custDataLst>
          </p:nvPr>
        </p:nvSpPr>
        <p:spPr>
          <a:xfrm>
            <a:off x="7366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Dépassant les limites du texte pur, </a:t>
            </a:r>
            <a:r>
              <a:rPr lang="en-US" altLang="zh-CN"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cette approche</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en charge diverses formes d'entrée comme les images (maquettes UI) et la voix, rendant les interactions de génération de code plus naturelles et intuitives.</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16000" y="2222500"/>
            <a:ext cx="762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endParaRPr lang="en-US" sz="1100"/>
          </a:p>
        </p:txBody>
      </p:sp>
      <p:sp>
        <p:nvSpPr>
          <p:cNvPr id="4" name="AutoShape 4"/>
          <p:cNvSpPr/>
          <p:nvPr/>
        </p:nvSpPr>
        <p:spPr>
          <a:xfrm>
            <a:off x="1016000" y="2730500"/>
            <a:ext cx="10160000" cy="762000"/>
          </a:xfrm>
          <a:prstGeom prst="rect">
            <a:avLst/>
          </a:prstGeom>
          <a:noFill/>
          <a:ln w="12700" cap="flat" cmpd="sng">
            <a:noFill/>
            <a:prstDash val="solid"/>
            <a:round/>
          </a:ln>
        </p:spPr>
        <p:txBody>
          <a:bodyPr vert="horz" wrap="square" lIns="0" tIns="0" rIns="0" bIns="0" rtlCol="0" anchor="ctr">
            <a:noAutofit/>
          </a:bodyPr>
          <a:lstStyle/>
          <a:p>
            <a:pPr algn="l">
              <a:lnSpc>
                <a:spcPct val="125000"/>
              </a:lnSpc>
              <a:buSzTx/>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03 GitHub Copilot : Votre assistant intelligent en pratique</a:t>
            </a:r>
            <a:endParaRPr lang="en-US" sz="3600" b="1">
              <a:latin typeface="Noto Sans SC" panose="020B0200000000000000" charset="-122"/>
              <a:ea typeface="Noto Sans SC" panose="020B0200000000000000" charset="-122"/>
              <a:cs typeface="Noto Sans SC" panose="020B0200000000000000" charset="-122"/>
            </a:endParaRPr>
          </a:p>
        </p:txBody>
      </p:sp>
      <p:sp>
        <p:nvSpPr>
          <p:cNvPr id="5" name="AutoShape 5"/>
          <p:cNvSpPr/>
          <p:nvPr/>
        </p:nvSpPr>
        <p:spPr>
          <a:xfrm>
            <a:off x="1016000" y="3937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De la théorie à la pratique, découvrez la puissance de Copilot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59105"/>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Introduction à GitHub Copilot</a:t>
            </a:r>
            <a:endParaRPr lang="en-US" sz="1100"/>
          </a:p>
        </p:txBody>
      </p:sp>
      <p:sp>
        <p:nvSpPr>
          <p:cNvPr id="5" name="AutoShape 5"/>
          <p:cNvSpPr/>
          <p:nvPr/>
        </p:nvSpPr>
        <p:spPr>
          <a:xfrm>
            <a:off x="762000" y="1524000"/>
            <a:ext cx="4318000" cy="4318000"/>
          </a:xfrm>
          <a:prstGeom prst="roundRect">
            <a:avLst>
              <a:gd name="adj" fmla="val 5882"/>
            </a:avLst>
          </a:prstGeom>
          <a:solidFill>
            <a:srgbClr val="F8F8F8">
              <a:alpha val="100000"/>
            </a:srgbClr>
          </a:solidFill>
          <a:ln w="12700" cap="flat" cmpd="sng">
            <a:solidFill>
              <a:srgbClr val="DFC8C8">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1016000" y="1778000"/>
            <a:ext cx="3810000" cy="3810000"/>
          </a:xfrm>
          <a:prstGeom prst="roundRect">
            <a:avLst>
              <a:gd name="adj" fmla="val 6665"/>
            </a:avLst>
          </a:prstGeom>
          <a:ln w="12700" cap="flat" cmpd="sng">
            <a:noFill/>
            <a:prstDash val="solid"/>
            <a:round/>
          </a:ln>
        </p:spPr>
      </p:pic>
      <p:pic>
        <p:nvPicPr>
          <p:cNvPr id="7" name="Picture 7"/>
          <p:cNvPicPr>
            <a:picLocks noChangeAspect="1"/>
          </p:cNvPicPr>
          <p:nvPr/>
        </p:nvPicPr>
        <p:blipFill>
          <a:blip r:embed="rId2"/>
          <a:srcRect/>
          <a:stretch>
            <a:fillRect/>
          </a:stretch>
        </p:blipFill>
        <p:spPr>
          <a:xfrm>
            <a:off x="5588000" y="1524000"/>
            <a:ext cx="304800" cy="304800"/>
          </a:xfrm>
          <a:prstGeom prst="rect">
            <a:avLst/>
          </a:prstGeom>
          <a:ln w="12700">
            <a:noFill/>
            <a:prstDash val="solid"/>
          </a:ln>
        </p:spPr>
      </p:pic>
      <p:sp>
        <p:nvSpPr>
          <p:cNvPr id="8" name="AutoShape 8"/>
          <p:cNvSpPr/>
          <p:nvPr/>
        </p:nvSpPr>
        <p:spPr>
          <a:xfrm>
            <a:off x="5969000" y="14986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Contexte de développement conjoint</a:t>
            </a:r>
            <a:endParaRPr lang="en-US" sz="1100"/>
          </a:p>
        </p:txBody>
      </p:sp>
      <p:sp>
        <p:nvSpPr>
          <p:cNvPr id="9" name="AutoShape 9"/>
          <p:cNvSpPr/>
          <p:nvPr/>
        </p:nvSpPr>
        <p:spPr>
          <a:xfrm>
            <a:off x="5969000" y="1828800"/>
            <a:ext cx="546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Développé en collaboration par GitHub, la plus grande plateforme d'hébergement de code au monde, et OpenAI, pionnier dans le domaine de l'IA.</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0" name="Connector 10"/>
          <p:cNvCxnSpPr/>
          <p:nvPr/>
        </p:nvCxnSpPr>
        <p:spPr>
          <a:xfrm rot="-7473">
            <a:off x="5588007" y="24066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1" name="Picture 11"/>
          <p:cNvPicPr>
            <a:picLocks noChangeAspect="1"/>
          </p:cNvPicPr>
          <p:nvPr/>
        </p:nvPicPr>
        <p:blipFill>
          <a:blip r:embed="rId3"/>
          <a:srcRect/>
          <a:stretch>
            <a:fillRect/>
          </a:stretch>
        </p:blipFill>
        <p:spPr>
          <a:xfrm>
            <a:off x="5588000" y="2603500"/>
            <a:ext cx="304800" cy="304800"/>
          </a:xfrm>
          <a:prstGeom prst="rect">
            <a:avLst/>
          </a:prstGeom>
          <a:ln w="12700">
            <a:noFill/>
            <a:prstDash val="solid"/>
          </a:ln>
        </p:spPr>
      </p:pic>
      <p:sp>
        <p:nvSpPr>
          <p:cNvPr id="12" name="AutoShape 12"/>
          <p:cNvSpPr/>
          <p:nvPr/>
        </p:nvSpPr>
        <p:spPr>
          <a:xfrm>
            <a:off x="5969000" y="25781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Modèles puissants</a:t>
            </a:r>
            <a:endParaRPr lang="en-US" sz="1100"/>
          </a:p>
        </p:txBody>
      </p:sp>
      <p:sp>
        <p:nvSpPr>
          <p:cNvPr id="13" name="AutoShape 13"/>
          <p:cNvSpPr/>
          <p:nvPr/>
        </p:nvSpPr>
        <p:spPr>
          <a:xfrm>
            <a:off x="5969000" y="2908300"/>
            <a:ext cx="546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Basé sur le modèle Codex spécialement entraîné par OpenAI, et maintenant mis à niveau vers l'architecture GPT-4 plus puissante.</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nvCxnSpPr>
        <p:spPr>
          <a:xfrm rot="-7473">
            <a:off x="5588007" y="34861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5" name="Picture 15"/>
          <p:cNvPicPr>
            <a:picLocks noChangeAspect="1"/>
          </p:cNvPicPr>
          <p:nvPr/>
        </p:nvPicPr>
        <p:blipFill>
          <a:blip r:embed="rId4"/>
          <a:srcRect/>
          <a:stretch>
            <a:fillRect/>
          </a:stretch>
        </p:blipFill>
        <p:spPr>
          <a:xfrm>
            <a:off x="5588000" y="3683000"/>
            <a:ext cx="304800" cy="304800"/>
          </a:xfrm>
          <a:prstGeom prst="rect">
            <a:avLst/>
          </a:prstGeom>
          <a:ln w="12700">
            <a:noFill/>
            <a:prstDash val="solid"/>
          </a:ln>
        </p:spPr>
      </p:pic>
      <p:sp>
        <p:nvSpPr>
          <p:cNvPr id="16" name="AutoShape 16"/>
          <p:cNvSpPr/>
          <p:nvPr/>
        </p:nvSpPr>
        <p:spPr>
          <a:xfrm>
            <a:off x="5969000" y="36576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Fonctionnalités clés</a:t>
            </a:r>
            <a:endParaRPr lang="en-US" sz="1100"/>
          </a:p>
        </p:txBody>
      </p:sp>
      <p:sp>
        <p:nvSpPr>
          <p:cNvPr id="17" name="AutoShape 17"/>
          <p:cNvSpPr/>
          <p:nvPr/>
        </p:nvSpPr>
        <p:spPr>
          <a:xfrm>
            <a:off x="5969000" y="3987800"/>
            <a:ext cx="5461000" cy="762000"/>
          </a:xfrm>
          <a:prstGeom prst="rect">
            <a:avLst/>
          </a:prstGeom>
          <a:noFill/>
          <a:ln w="12700" cap="flat" cmpd="sng">
            <a:noFill/>
            <a:prstDash val="solid"/>
            <a:round/>
          </a:ln>
        </p:spPr>
        <p:txBody>
          <a:bodyPr vert="horz" wrap="square" lIns="0" tIns="0" rIns="0" bIns="0" rtlCol="0" anchor="ctr">
            <a:noAutofit/>
          </a:bodyPr>
          <a:lstStyle/>
          <a:p>
            <a:pPr marL="165100" indent="-165100" algn="l">
              <a:lnSpc>
                <a:spcPct val="125000"/>
              </a:lnSpc>
              <a:buClr>
                <a:srgbClr val="505050"/>
              </a:buClr>
              <a:buChar char="•"/>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Complétion de code en temps réel et conversion langage naturel en code</a:t>
            </a:r>
            <a:endParaRPr lang="en-US" sz="1200"/>
          </a:p>
          <a:p>
            <a:pPr marL="165100" indent="-165100" algn="l">
              <a:lnSpc>
                <a:spcPct val="125000"/>
              </a:lnSpc>
              <a:buClr>
                <a:srgbClr val="505050"/>
              </a:buClr>
              <a:buChar cha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Génération automatique de fonctions/classes, explication de code et génération de commentaires</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8" name="Connector 18"/>
          <p:cNvCxnSpPr/>
          <p:nvPr/>
        </p:nvCxnSpPr>
        <p:spPr>
          <a:xfrm rot="-7473">
            <a:off x="5588007" y="48196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9" name="Picture 19"/>
          <p:cNvPicPr>
            <a:picLocks noChangeAspect="1"/>
          </p:cNvPicPr>
          <p:nvPr/>
        </p:nvPicPr>
        <p:blipFill>
          <a:blip r:embed="rId5"/>
          <a:srcRect/>
          <a:stretch>
            <a:fillRect/>
          </a:stretch>
        </p:blipFill>
        <p:spPr>
          <a:xfrm>
            <a:off x="5588000" y="5016500"/>
            <a:ext cx="304800" cy="304800"/>
          </a:xfrm>
          <a:prstGeom prst="rect">
            <a:avLst/>
          </a:prstGeom>
          <a:ln w="12700">
            <a:noFill/>
            <a:prstDash val="solid"/>
          </a:ln>
        </p:spPr>
      </p:pic>
      <p:sp>
        <p:nvSpPr>
          <p:cNvPr id="20" name="AutoShape 20"/>
          <p:cNvSpPr/>
          <p:nvPr/>
        </p:nvSpPr>
        <p:spPr>
          <a:xfrm>
            <a:off x="5969000" y="49911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Compatibilité étendue de l'écosystème</a:t>
            </a:r>
            <a:endParaRPr lang="en-US" sz="1100"/>
          </a:p>
        </p:txBody>
      </p:sp>
      <p:sp>
        <p:nvSpPr>
          <p:cNvPr id="21" name="AutoShape 21"/>
          <p:cNvSpPr/>
          <p:nvPr/>
        </p:nvSpPr>
        <p:spPr>
          <a:xfrm>
            <a:off x="5969000" y="5321300"/>
            <a:ext cx="546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Prend en charge Python, Java, C++ et d'autres langages majeurs, s'intègre parfaitement aux IDE comme VS Code et JetBrains.</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Mécanisme de fonctionnement de GitHub Copilot</a:t>
            </a:r>
            <a:endParaRPr lang="en-US" sz="1100"/>
          </a:p>
        </p:txBody>
      </p:sp>
      <p:pic>
        <p:nvPicPr>
          <p:cNvPr id="5" name="Picture 5"/>
          <p:cNvPicPr>
            <a:picLocks noChangeAspect="1"/>
          </p:cNvPicPr>
          <p:nvPr/>
        </p:nvPicPr>
        <p:blipFill>
          <a:blip r:embed="rId1"/>
          <a:srcRect l="3904" t="10022" r="4715" b="9706"/>
          <a:stretch>
            <a:fillRect/>
          </a:stretch>
        </p:blipFill>
        <p:spPr>
          <a:xfrm>
            <a:off x="1798955" y="3565525"/>
            <a:ext cx="7391400" cy="3155950"/>
          </a:xfrm>
          <a:prstGeom prst="rect">
            <a:avLst/>
          </a:prstGeom>
          <a:ln w="12700">
            <a:noFill/>
            <a:prstDash val="solid"/>
          </a:ln>
        </p:spPr>
      </p:pic>
      <p:pic>
        <p:nvPicPr>
          <p:cNvPr id="10" name="图片 9" descr="post_object_image_1489344391"/>
          <p:cNvPicPr>
            <a:picLocks noChangeAspect="1"/>
          </p:cNvPicPr>
          <p:nvPr/>
        </p:nvPicPr>
        <p:blipFill>
          <a:blip r:embed="rId2"/>
          <a:stretch>
            <a:fillRect/>
          </a:stretch>
        </p:blipFill>
        <p:spPr>
          <a:xfrm>
            <a:off x="938578" y="1288168"/>
            <a:ext cx="5322119" cy="1170500"/>
          </a:xfrm>
          <a:prstGeom prst="rect">
            <a:avLst/>
          </a:prstGeom>
        </p:spPr>
      </p:pic>
      <p:pic>
        <p:nvPicPr>
          <p:cNvPr id="11" name="图片 10" descr="post_object_image_2989102395"/>
          <p:cNvPicPr>
            <a:picLocks noChangeAspect="1"/>
          </p:cNvPicPr>
          <p:nvPr/>
        </p:nvPicPr>
        <p:blipFill>
          <a:blip r:embed="rId3"/>
          <a:stretch>
            <a:fillRect/>
          </a:stretch>
        </p:blipFill>
        <p:spPr>
          <a:xfrm>
            <a:off x="6335424" y="1318587"/>
            <a:ext cx="5291185" cy="1109739"/>
          </a:xfrm>
          <a:prstGeom prst="rect">
            <a:avLst/>
          </a:prstGeom>
        </p:spPr>
      </p:pic>
      <p:pic>
        <p:nvPicPr>
          <p:cNvPr id="12" name="图片 11" descr="post_object_image_1215151304"/>
          <p:cNvPicPr>
            <a:picLocks noChangeAspect="1"/>
          </p:cNvPicPr>
          <p:nvPr/>
        </p:nvPicPr>
        <p:blipFill>
          <a:blip r:embed="rId4"/>
          <a:stretch>
            <a:fillRect/>
          </a:stretch>
        </p:blipFill>
        <p:spPr>
          <a:xfrm>
            <a:off x="938578" y="2496117"/>
            <a:ext cx="5106334" cy="1069451"/>
          </a:xfrm>
          <a:prstGeom prst="rect">
            <a:avLst/>
          </a:prstGeom>
        </p:spPr>
      </p:pic>
      <p:pic>
        <p:nvPicPr>
          <p:cNvPr id="13" name="图片 12" descr="post_object_image_1451018066"/>
          <p:cNvPicPr>
            <a:picLocks noChangeAspect="1"/>
          </p:cNvPicPr>
          <p:nvPr/>
        </p:nvPicPr>
        <p:blipFill>
          <a:blip r:embed="rId5"/>
          <a:stretch>
            <a:fillRect/>
          </a:stretch>
        </p:blipFill>
        <p:spPr>
          <a:xfrm>
            <a:off x="6402669" y="2504113"/>
            <a:ext cx="5027331" cy="10614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Cas d'utilisation pratiques de Copilot</a:t>
            </a:r>
            <a:endParaRPr lang="en-US" sz="1100"/>
          </a:p>
        </p:txBody>
      </p:sp>
      <p:sp>
        <p:nvSpPr>
          <p:cNvPr id="5" name="AutoShape 5"/>
          <p:cNvSpPr/>
          <p:nvPr/>
        </p:nvSpPr>
        <p:spPr>
          <a:xfrm>
            <a:off x="762000" y="1524000"/>
            <a:ext cx="33020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1016000" y="1778000"/>
            <a:ext cx="406400" cy="406400"/>
          </a:xfrm>
          <a:prstGeom prst="rect">
            <a:avLst/>
          </a:prstGeom>
          <a:ln w="12700">
            <a:noFill/>
            <a:prstDash val="solid"/>
          </a:ln>
        </p:spPr>
      </p:pic>
      <p:sp>
        <p:nvSpPr>
          <p:cNvPr id="7" name="AutoShape 7"/>
          <p:cNvSpPr/>
          <p:nvPr/>
        </p:nvSpPr>
        <p:spPr>
          <a:xfrm>
            <a:off x="1524000" y="1778000"/>
            <a:ext cx="2286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Complétion intelligente de code</a:t>
            </a:r>
            <a:endParaRPr lang="en-US" sz="1100"/>
          </a:p>
        </p:txBody>
      </p:sp>
      <p:cxnSp>
        <p:nvCxnSpPr>
          <p:cNvPr id="8" name="Connector 8"/>
          <p:cNvCxnSpPr/>
          <p:nvPr/>
        </p:nvCxnSpPr>
        <p:spPr>
          <a:xfrm rot="-15626">
            <a:off x="1016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1016000" y="2413000"/>
            <a:ext cx="2794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Complétion automatique des noms de variables, appels de fonctions et instructions logiques, améliorant considérablement la fluidité du codage et réduisant la saisie répétitive.</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445000" y="1524000"/>
            <a:ext cx="33020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2"/>
          <a:srcRect/>
          <a:stretch>
            <a:fillRect/>
          </a:stretch>
        </p:blipFill>
        <p:spPr>
          <a:xfrm>
            <a:off x="4699000" y="1778000"/>
            <a:ext cx="406400" cy="406400"/>
          </a:xfrm>
          <a:prstGeom prst="rect">
            <a:avLst/>
          </a:prstGeom>
          <a:ln w="12700">
            <a:noFill/>
            <a:prstDash val="solid"/>
          </a:ln>
        </p:spPr>
      </p:pic>
      <p:sp>
        <p:nvSpPr>
          <p:cNvPr id="12" name="AutoShape 12"/>
          <p:cNvSpPr/>
          <p:nvPr/>
        </p:nvSpPr>
        <p:spPr>
          <a:xfrm>
            <a:off x="5207000" y="1778000"/>
            <a:ext cx="2286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Génération de logique de fonction</a:t>
            </a:r>
            <a:endParaRPr lang="en-US" sz="1100"/>
          </a:p>
        </p:txBody>
      </p:sp>
      <p:cxnSp>
        <p:nvCxnSpPr>
          <p:cNvPr id="13" name="Connector 13"/>
          <p:cNvCxnSpPr/>
          <p:nvPr/>
        </p:nvCxnSpPr>
        <p:spPr>
          <a:xfrm rot="-15626">
            <a:off x="4699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4699000" y="2413000"/>
            <a:ext cx="2794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Il suffit d'écrire des commentaires de fonction décrivant les entrées et sorties pour générer automatiquement le code d'implémentation complet de la fonction.</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128000" y="1524000"/>
            <a:ext cx="33020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6" name="Picture 16"/>
          <p:cNvPicPr>
            <a:picLocks noChangeAspect="1"/>
          </p:cNvPicPr>
          <p:nvPr/>
        </p:nvPicPr>
        <p:blipFill>
          <a:blip r:embed="rId3"/>
          <a:srcRect/>
          <a:stretch>
            <a:fillRect/>
          </a:stretch>
        </p:blipFill>
        <p:spPr>
          <a:xfrm>
            <a:off x="8382000" y="1778000"/>
            <a:ext cx="406400" cy="406400"/>
          </a:xfrm>
          <a:prstGeom prst="rect">
            <a:avLst/>
          </a:prstGeom>
          <a:ln w="12700">
            <a:noFill/>
            <a:prstDash val="solid"/>
          </a:ln>
        </p:spPr>
      </p:pic>
      <p:sp>
        <p:nvSpPr>
          <p:cNvPr id="17" name="AutoShape 17"/>
          <p:cNvSpPr/>
          <p:nvPr/>
        </p:nvSpPr>
        <p:spPr>
          <a:xfrm>
            <a:off x="8890000" y="1778000"/>
            <a:ext cx="2286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Génération automatique de tests unitaires</a:t>
            </a:r>
            <a:endParaRPr lang="en-US" sz="1100"/>
          </a:p>
        </p:txBody>
      </p:sp>
      <p:cxnSp>
        <p:nvCxnSpPr>
          <p:cNvPr id="18" name="Connector 18"/>
          <p:cNvCxnSpPr/>
          <p:nvPr/>
        </p:nvCxnSpPr>
        <p:spPr>
          <a:xfrm rot="-15626">
            <a:off x="8382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8382000" y="2413000"/>
            <a:ext cx="2794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Basé sur le code métier existant, il génère automatiquement les cas de test unitaires correspondants, complétant rapidement la couverture de tests.</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762000" y="4064000"/>
            <a:ext cx="51435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1" name="Picture 21"/>
          <p:cNvPicPr>
            <a:picLocks noChangeAspect="1"/>
          </p:cNvPicPr>
          <p:nvPr/>
        </p:nvPicPr>
        <p:blipFill>
          <a:blip r:embed="rId4"/>
          <a:srcRect/>
          <a:stretch>
            <a:fillRect/>
          </a:stretch>
        </p:blipFill>
        <p:spPr>
          <a:xfrm>
            <a:off x="1016000" y="4318000"/>
            <a:ext cx="406400" cy="406400"/>
          </a:xfrm>
          <a:prstGeom prst="rect">
            <a:avLst/>
          </a:prstGeom>
          <a:ln w="12700">
            <a:noFill/>
            <a:prstDash val="solid"/>
          </a:ln>
        </p:spPr>
      </p:pic>
      <p:sp>
        <p:nvSpPr>
          <p:cNvPr id="22" name="AutoShape 22"/>
          <p:cNvSpPr/>
          <p:nvPr/>
        </p:nvSpPr>
        <p:spPr>
          <a:xfrm>
            <a:off x="1524000" y="4318000"/>
            <a:ext cx="4064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Refactorisation et optimisation de code</a:t>
            </a:r>
            <a:endParaRPr lang="en-US" sz="1100"/>
          </a:p>
        </p:txBody>
      </p:sp>
      <p:cxnSp>
        <p:nvCxnSpPr>
          <p:cNvPr id="23" name="Connector 23"/>
          <p:cNvCxnSpPr/>
          <p:nvPr/>
        </p:nvCxnSpPr>
        <p:spPr>
          <a:xfrm rot="-9418">
            <a:off x="1016009" y="4819650"/>
            <a:ext cx="46355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4" name="AutoShape 24"/>
          <p:cNvSpPr/>
          <p:nvPr/>
        </p:nvSpPr>
        <p:spPr>
          <a:xfrm>
            <a:off x="1016000" y="4953000"/>
            <a:ext cx="46355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Pour les extraits de code sélectionnés, il fournit des suggestions de refactorisation, transformant le code complexe en une écriture plus simple et efficace, améliorant la qualité du code.</a:t>
            </a:r>
            <a:endParaRPr lang="en-US" sz="1100"/>
          </a:p>
        </p:txBody>
      </p:sp>
      <p:sp>
        <p:nvSpPr>
          <p:cNvPr id="25" name="AutoShape 25"/>
          <p:cNvSpPr/>
          <p:nvPr/>
        </p:nvSpPr>
        <p:spPr>
          <a:xfrm>
            <a:off x="6286500" y="4064000"/>
            <a:ext cx="51435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6" name="Picture 26"/>
          <p:cNvPicPr>
            <a:picLocks noChangeAspect="1"/>
          </p:cNvPicPr>
          <p:nvPr/>
        </p:nvPicPr>
        <p:blipFill>
          <a:blip r:embed="rId5"/>
          <a:srcRect/>
          <a:stretch>
            <a:fillRect/>
          </a:stretch>
        </p:blipFill>
        <p:spPr>
          <a:xfrm>
            <a:off x="6540500" y="4318000"/>
            <a:ext cx="406400" cy="406400"/>
          </a:xfrm>
          <a:prstGeom prst="rect">
            <a:avLst/>
          </a:prstGeom>
          <a:ln w="12700">
            <a:noFill/>
            <a:prstDash val="solid"/>
          </a:ln>
        </p:spPr>
      </p:pic>
      <p:sp>
        <p:nvSpPr>
          <p:cNvPr id="27" name="AutoShape 27"/>
          <p:cNvSpPr/>
          <p:nvPr/>
        </p:nvSpPr>
        <p:spPr>
          <a:xfrm>
            <a:off x="7048500" y="4318000"/>
            <a:ext cx="4064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Explication de la logique du code</a:t>
            </a:r>
            <a:endParaRPr lang="en-US" sz="1100"/>
          </a:p>
        </p:txBody>
      </p:sp>
      <p:cxnSp>
        <p:nvCxnSpPr>
          <p:cNvPr id="28" name="Connector 28"/>
          <p:cNvCxnSpPr/>
          <p:nvPr/>
        </p:nvCxnSpPr>
        <p:spPr>
          <a:xfrm rot="-9418">
            <a:off x="6540509" y="4819650"/>
            <a:ext cx="46355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9" name="AutoShape 29"/>
          <p:cNvSpPr/>
          <p:nvPr/>
        </p:nvSpPr>
        <p:spPr>
          <a:xfrm>
            <a:off x="6540500" y="4953000"/>
            <a:ext cx="46355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Pour les blocs de code complexes ou peu familiers, il utilise le langage naturel pour expliquer leurs fonctionnalités principales et leur logique d'exécution, aidant les développeurs à comprendre rapidement.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2032000"/>
            <a:ext cx="10160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endParaRPr lang="en-US" sz="1100"/>
          </a:p>
        </p:txBody>
      </p:sp>
      <p:sp>
        <p:nvSpPr>
          <p:cNvPr id="3" name="AutoShape 3"/>
          <p:cNvSpPr/>
          <p:nvPr/>
        </p:nvSpPr>
        <p:spPr>
          <a:xfrm>
            <a:off x="1016000" y="2667000"/>
            <a:ext cx="10160000" cy="889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4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04 Du général au spécialisé : Analyse du projet KernelGen</a:t>
            </a:r>
            <a:endParaRPr lang="en-US" sz="1100"/>
          </a:p>
        </p:txBody>
      </p:sp>
      <p:sp>
        <p:nvSpPr>
          <p:cNvPr id="5" name="AutoShape 5"/>
          <p:cNvSpPr/>
          <p:nvPr/>
        </p:nvSpPr>
        <p:spPr>
          <a:xfrm>
            <a:off x="1016000" y="3937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Génération de </a:t>
            </a:r>
            <a:r>
              <a:rPr lang="en-US" altLang="zh-CN"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kernels </a:t>
            </a: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GPU pilotée par l'IA</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828675" y="4445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Contexte du projet KernelGen</a:t>
            </a:r>
            <a:endParaRPr lang="en-US" sz="1100"/>
          </a:p>
        </p:txBody>
      </p:sp>
      <p:sp>
        <p:nvSpPr>
          <p:cNvPr id="5" name="AutoShape 5"/>
          <p:cNvSpPr/>
          <p:nvPr/>
        </p:nvSpPr>
        <p:spPr>
          <a:xfrm>
            <a:off x="523875" y="1968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714375" y="2159000"/>
            <a:ext cx="304800" cy="304800"/>
          </a:xfrm>
          <a:prstGeom prst="rect">
            <a:avLst/>
          </a:prstGeom>
          <a:ln w="12700">
            <a:noFill/>
            <a:prstDash val="solid"/>
          </a:ln>
        </p:spPr>
      </p:pic>
      <p:sp>
        <p:nvSpPr>
          <p:cNvPr id="7" name="AutoShape 7"/>
          <p:cNvSpPr/>
          <p:nvPr/>
        </p:nvSpPr>
        <p:spPr>
          <a:xfrm>
            <a:off x="1095375" y="2120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Objectif principal de KernelGen</a:t>
            </a:r>
            <a:endParaRPr lang="en-US" sz="1100"/>
          </a:p>
        </p:txBody>
      </p:sp>
      <p:sp>
        <p:nvSpPr>
          <p:cNvPr id="8" name="AutoShape 8"/>
          <p:cNvSpPr/>
          <p:nvPr/>
        </p:nvSpPr>
        <p:spPr>
          <a:xfrm>
            <a:off x="1095375" y="2476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Utiliser la technologie IA pour générer automatiquement du code de noyaux GPU, en optimisant les performances pour le matériel cible, résolvant ainsi les défis de la programmation manuelle.</a:t>
            </a:r>
            <a:endPar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23875" y="31750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2"/>
          <a:srcRect/>
          <a:stretch>
            <a:fillRect/>
          </a:stretch>
        </p:blipFill>
        <p:spPr>
          <a:xfrm>
            <a:off x="714375" y="3365500"/>
            <a:ext cx="304800" cy="304800"/>
          </a:xfrm>
          <a:prstGeom prst="rect">
            <a:avLst/>
          </a:prstGeom>
          <a:ln w="12700">
            <a:noFill/>
            <a:prstDash val="solid"/>
          </a:ln>
        </p:spPr>
      </p:pic>
      <p:sp>
        <p:nvSpPr>
          <p:cNvPr id="11" name="AutoShape 11"/>
          <p:cNvSpPr/>
          <p:nvPr/>
        </p:nvSpPr>
        <p:spPr>
          <a:xfrm>
            <a:off x="1095375" y="31750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Défis du secteur</a:t>
            </a:r>
            <a:endParaRPr lang="en-US" sz="1100"/>
          </a:p>
        </p:txBody>
      </p:sp>
      <p:sp>
        <p:nvSpPr>
          <p:cNvPr id="12" name="AutoShape 12"/>
          <p:cNvSpPr/>
          <p:nvPr/>
        </p:nvSpPr>
        <p:spPr>
          <a:xfrm>
            <a:off x="1095375" y="357505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Les modèles de programmation GPU sont complexes, les différences d'architecture sont importantes, les stratégies d'optimisation généralisées font défaut, et l'ordonnancement du calcul parallèle ainsi que la gestion de la mémoire ont un seuil d'entrée très élevé.</a:t>
            </a:r>
            <a:endPar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523875" y="4381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3"/>
          <a:srcRect/>
          <a:stretch>
            <a:fillRect/>
          </a:stretch>
        </p:blipFill>
        <p:spPr>
          <a:xfrm>
            <a:off x="714375" y="4572000"/>
            <a:ext cx="304800" cy="304800"/>
          </a:xfrm>
          <a:prstGeom prst="rect">
            <a:avLst/>
          </a:prstGeom>
          <a:ln w="12700">
            <a:noFill/>
            <a:prstDash val="solid"/>
          </a:ln>
        </p:spPr>
      </p:pic>
      <p:sp>
        <p:nvSpPr>
          <p:cNvPr id="15" name="AutoShape 15"/>
          <p:cNvSpPr/>
          <p:nvPr/>
        </p:nvSpPr>
        <p:spPr>
          <a:xfrm>
            <a:off x="1095375" y="4533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Valeur centrale du projet</a:t>
            </a:r>
            <a:endParaRPr lang="en-US" sz="1100"/>
          </a:p>
        </p:txBody>
      </p:sp>
      <p:sp>
        <p:nvSpPr>
          <p:cNvPr id="16" name="AutoShape 16"/>
          <p:cNvSpPr/>
          <p:nvPr/>
        </p:nvSpPr>
        <p:spPr>
          <a:xfrm>
            <a:off x="1095375" y="4889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Réduire considérablement le seuil de développement d'applications GPU, libérer le potentiel de calcul du matériel, et améliorer l'efficacité d'exécution des tâches de calcul ainsi que l'utilisation des ressources.</a:t>
            </a:r>
            <a:endPar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7" name="Picture 17"/>
          <p:cNvPicPr>
            <a:picLocks noChangeAspect="1"/>
          </p:cNvPicPr>
          <p:nvPr/>
        </p:nvPicPr>
        <p:blipFill>
          <a:blip r:embed="rId4"/>
          <a:srcRect/>
          <a:stretch>
            <a:fillRect/>
          </a:stretch>
        </p:blipFill>
        <p:spPr>
          <a:xfrm>
            <a:off x="6597650" y="1139825"/>
            <a:ext cx="4832350" cy="51492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Noto Sans SC" panose="020B0200000000000000" charset="-122"/>
              </a:defRPr>
            </a:lvl1pPr>
          </a:lstStyle>
          <a:p>
            <a:pPr indent="0" algn="l">
              <a:lnSpc>
                <a:spcPct val="100000"/>
              </a:lnSpc>
            </a:pPr>
            <a:r>
              <a:rPr lang="en-US">
                <a:solidFill>
                  <a:srgbClr val="000000"/>
                </a:solidFill>
                <a:ea typeface="Noto Sans SC" panose="020B0200000000000000" charset="-122"/>
                <a:cs typeface="Noto Sans SC" panose="020B0200000000000000" charset="-122"/>
                <a:sym typeface="Noto Sans SC" panose="020B0200000000000000" charset="-122"/>
              </a:rPr>
              <a:t>KernelGen Workflow</a:t>
            </a:r>
            <a:endPar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8141970" cy="4853305"/>
          </a:xfrm>
          <a:prstGeom prst="rect">
            <a:avLst/>
          </a:prstGeom>
        </p:spPr>
        <p:txBody>
          <a:bodyPr wrap="square" lIns="91440" tIns="45720" rIns="91440" bIns="45720" anchor="t">
            <a:normAutofit fontScale="90000" lnSpcReduction="20000"/>
          </a:bodyPr>
          <a:lstStyle>
            <a:lvl1pPr algn="l">
              <a:lnSpc>
                <a:spcPct val="142000"/>
              </a:lnSpc>
              <a:defRPr sz="2200" b="0" i="0" u="none" strike="noStrike" spc="0">
                <a:solidFill>
                  <a:srgbClr val="404040">
                    <a:alpha val="100000"/>
                  </a:srgbClr>
                </a:solidFill>
                <a:latin typeface="微软雅黑" panose="020B0503020204020204" charset="-122"/>
              </a:defRPr>
            </a:lvl1pPr>
          </a:lstStyle>
          <a:p>
            <a:pPr marL="279400" indent="-279400" algn="l">
              <a:lnSpc>
                <a:spcPct val="142000"/>
              </a:lnSpc>
              <a:spcBef>
                <a:spcPts val="1500"/>
              </a:spcBef>
              <a:buClr>
                <a:srgbClr val="404040"/>
              </a:buClr>
              <a:buChar char="•"/>
            </a:pPr>
            <a:r>
              <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Collecte</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des informations </a:t>
            </a:r>
            <a:r>
              <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Kernel</a:t>
            </a:r>
            <a:endPar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a:lnSpc>
                <a:spcPct val="142000"/>
              </a:lnSpc>
              <a:spcBef>
                <a:spcPts val="750"/>
              </a:spcBef>
              <a:buClr>
                <a:srgbClr val="404040"/>
              </a:buClr>
              <a:buChar char="•"/>
            </a:pP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L'utilisateur fournit à KernelGen une d</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finition s</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mantique de l'op</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rateu</a:t>
            </a: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
            </a:r>
            <a:endPar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79400" indent="-279400" algn="l">
              <a:lnSpc>
                <a:spcPct val="142000"/>
              </a:lnSpc>
              <a:spcBef>
                <a:spcPts val="1500"/>
              </a:spcBef>
              <a:buClr>
                <a:srgbClr val="404040"/>
              </a:buClr>
              <a:buChar char="•"/>
            </a:pPr>
            <a:r>
              <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Recherche de fragments de code</a:t>
            </a:r>
            <a:endPar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a:lnSpc>
                <a:spcPct val="142000"/>
              </a:lnSpc>
              <a:spcBef>
                <a:spcPts val="750"/>
              </a:spcBef>
              <a:buClr>
                <a:srgbClr val="404040"/>
              </a:buClr>
              <a:buChar char="•"/>
            </a:pP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KernelGen recherche des fragments de code similaires à la d</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finition de l'utilisateur pour servir de r</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rence.</a:t>
            </a:r>
            <a:endPar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79400" indent="-279400" algn="l">
              <a:lnSpc>
                <a:spcPct val="142000"/>
              </a:lnSpc>
              <a:spcBef>
                <a:spcPts val="1500"/>
              </a:spcBef>
              <a:buClr>
                <a:srgbClr val="404040"/>
              </a:buClr>
              <a:buChar char="•"/>
            </a:pP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G</a:t>
            </a:r>
            <a:r>
              <a:rPr lang="en-US" alt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ration </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du code </a:t>
            </a:r>
            <a:r>
              <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Kernel </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et du code </a:t>
            </a:r>
            <a:r>
              <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CUDA </a:t>
            </a:r>
            <a:endPar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a:lnSpc>
                <a:spcPct val="14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g</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re </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le code </a:t>
            </a: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Kernel </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et le code </a:t>
            </a: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CUDA </a:t>
            </a:r>
            <a:endPar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79400" indent="-279400" algn="l">
              <a:lnSpc>
                <a:spcPct val="142000"/>
              </a:lnSpc>
              <a:spcBef>
                <a:spcPts val="1500"/>
              </a:spcBef>
              <a:buClr>
                <a:srgbClr val="404040"/>
              </a:buClr>
              <a:buChar char="•"/>
            </a:pPr>
            <a:r>
              <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Test du </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Kernel </a:t>
            </a:r>
            <a:r>
              <a:rPr lang="en-US" altLang="zh-CN"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bas</a:t>
            </a:r>
            <a:r>
              <a:rPr lang="en-US" alt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sur le code </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CUDA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42000"/>
              </a:lnSpc>
              <a:spcBef>
                <a:spcPts val="750"/>
              </a:spcBef>
              <a:buClr>
                <a:srgbClr val="404040"/>
              </a:buClr>
              <a:buChar char="•"/>
            </a:pP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KernelGen teste le Kernel sur la base de PyTorch et affiche les r</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sultats de test de validit</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et le rapport d'acc</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t>
            </a:r>
            <a:r>
              <a:rPr lang="en-US" alt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ratio</a:t>
            </a: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a:t>
            </a:r>
            <a:endPar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7" name="图片 6" descr="E:/BAAI/COURSE/template-replacement/images/KernelGen-workflow-en.pngKernelGen-workflow-en"/>
          <p:cNvPicPr/>
          <p:nvPr/>
        </p:nvPicPr>
        <p:blipFill>
          <a:blip r:embed="rId1"/>
          <a:srcRect t="1307" b="1307"/>
          <a:stretch>
            <a:fillRect/>
          </a:stretch>
        </p:blipFill>
        <p:spPr>
          <a:xfrm>
            <a:off x="9027795" y="958850"/>
            <a:ext cx="2863215" cy="53390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445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vs LLM </a:t>
            </a: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a:t>
            </a:r>
            <a:r>
              <a:rPr lang="en-US" alt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rique </a:t>
            </a: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(comme ChatGPT)</a:t>
            </a:r>
            <a:endParaRPr lang="en-US" sz="1100"/>
          </a:p>
        </p:txBody>
      </p:sp>
      <p:sp>
        <p:nvSpPr>
          <p:cNvPr id="5" name="AutoShape 5"/>
          <p:cNvSpPr/>
          <p:nvPr/>
        </p:nvSpPr>
        <p:spPr>
          <a:xfrm>
            <a:off x="3175000" y="1397000"/>
            <a:ext cx="3937000" cy="508000"/>
          </a:xfrm>
          <a:prstGeom prst="roundRect">
            <a:avLst>
              <a:gd name="adj" fmla="val 25000"/>
            </a:avLst>
          </a:prstGeom>
          <a:solidFill>
            <a:srgbClr val="DC2626">
              <a:alpha val="100000"/>
            </a:srgbClr>
          </a:solidFill>
          <a:ln w="12700" cap="flat" cmpd="sng">
            <a:noFill/>
            <a:prstDash val="solid"/>
            <a:round/>
          </a:ln>
        </p:spPr>
        <p:txBody>
          <a:bodyPr vert="horz" wrap="square" lIns="0" tIns="0" rIns="0" bIns="0" rtlCol="0" anchor="ctr">
            <a:noAutofit/>
          </a:bodyPr>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(optimisation </a:t>
            </a: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sp</a:t>
            </a:r>
            <a:r>
              <a:rPr lang="en-US"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cialis</a:t>
            </a:r>
            <a:r>
              <a:rPr lang="en-US"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6" name="AutoShape 6"/>
          <p:cNvSpPr/>
          <p:nvPr/>
        </p:nvSpPr>
        <p:spPr>
          <a:xfrm>
            <a:off x="7366000" y="1397000"/>
            <a:ext cx="3937000" cy="508000"/>
          </a:xfrm>
          <a:prstGeom prst="roundRect">
            <a:avLst>
              <a:gd name="adj" fmla="val 25000"/>
            </a:avLst>
          </a:prstGeom>
          <a:solidFill>
            <a:srgbClr val="6B7280">
              <a:alpha val="100000"/>
            </a:srgbClr>
          </a:solidFill>
          <a:ln w="12700" cap="flat" cmpd="sng">
            <a:noFill/>
            <a:prstDash val="solid"/>
            <a:round/>
          </a:ln>
        </p:spPr>
        <p:txBody>
          <a:bodyPr vert="horz" wrap="square" lIns="0" tIns="0" rIns="0" bIns="0" rtlCol="0" anchor="ctr">
            <a:noAutofit/>
          </a:bodyPr>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LLM </a:t>
            </a: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a:t>
            </a:r>
            <a:r>
              <a:rPr lang="en-US"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rique </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(comme ChatGPT)</a:t>
            </a:r>
            <a:endParaRPr lang="en-US" sz="1100"/>
          </a:p>
        </p:txBody>
      </p:sp>
      <p:sp>
        <p:nvSpPr>
          <p:cNvPr id="7" name="AutoShape 7"/>
          <p:cNvSpPr/>
          <p:nvPr/>
        </p:nvSpPr>
        <p:spPr>
          <a:xfrm>
            <a:off x="762000" y="2032000"/>
            <a:ext cx="10668000" cy="7620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8" name="Picture 8"/>
          <p:cNvPicPr>
            <a:picLocks noChangeAspect="1"/>
          </p:cNvPicPr>
          <p:nvPr/>
        </p:nvPicPr>
        <p:blipFill>
          <a:blip r:embed="rId1"/>
          <a:srcRect/>
          <a:stretch>
            <a:fillRect/>
          </a:stretch>
        </p:blipFill>
        <p:spPr>
          <a:xfrm>
            <a:off x="952500" y="2222500"/>
            <a:ext cx="304800" cy="304800"/>
          </a:xfrm>
          <a:prstGeom prst="rect">
            <a:avLst/>
          </a:prstGeom>
          <a:ln w="12700">
            <a:noFill/>
            <a:prstDash val="solid"/>
          </a:ln>
        </p:spPr>
      </p:pic>
      <p:sp>
        <p:nvSpPr>
          <p:cNvPr id="9" name="AutoShape 9"/>
          <p:cNvSpPr/>
          <p:nvPr/>
        </p:nvSpPr>
        <p:spPr>
          <a:xfrm>
            <a:off x="1333500" y="2184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Objectif principal</a:t>
            </a:r>
            <a:endParaRPr lang="en-US" sz="1100"/>
          </a:p>
        </p:txBody>
      </p:sp>
      <p:sp>
        <p:nvSpPr>
          <p:cNvPr id="10" name="AutoShape 10"/>
          <p:cNvSpPr/>
          <p:nvPr/>
        </p:nvSpPr>
        <p:spPr>
          <a:xfrm>
            <a:off x="3175000" y="2159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Generer du code </a:t>
            </a:r>
            <a:r>
              <a:rPr lang="en-US" altLang="zh-CN"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sp</a:t>
            </a:r>
            <a:r>
              <a:rPr lang="en-US" alt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cialis</a:t>
            </a:r>
            <a:r>
              <a:rPr lang="en-US" alt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et haute performance</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pour GPU Kernel</a:t>
            </a:r>
            <a:endParaRPr lang="en-US" sz="1100"/>
          </a:p>
        </p:txBody>
      </p:sp>
      <p:sp>
        <p:nvSpPr>
          <p:cNvPr id="11" name="AutoShape 11"/>
          <p:cNvSpPr/>
          <p:nvPr/>
        </p:nvSpPr>
        <p:spPr>
          <a:xfrm>
            <a:off x="7366000" y="2159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Fournir une assistance g</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rale en programmation, am</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liorer l'efficacit</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de codag</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a:t>
            </a:r>
            <a:endParaRPr lang="en-US" sz="1100"/>
          </a:p>
        </p:txBody>
      </p:sp>
      <p:pic>
        <p:nvPicPr>
          <p:cNvPr id="12" name="Picture 12"/>
          <p:cNvPicPr>
            <a:picLocks noChangeAspect="1"/>
          </p:cNvPicPr>
          <p:nvPr/>
        </p:nvPicPr>
        <p:blipFill>
          <a:blip r:embed="rId2"/>
          <a:srcRect/>
          <a:stretch>
            <a:fillRect/>
          </a:stretch>
        </p:blipFill>
        <p:spPr>
          <a:xfrm>
            <a:off x="952500" y="2984500"/>
            <a:ext cx="304800" cy="304800"/>
          </a:xfrm>
          <a:prstGeom prst="rect">
            <a:avLst/>
          </a:prstGeom>
          <a:ln w="12700">
            <a:noFill/>
            <a:prstDash val="solid"/>
          </a:ln>
        </p:spPr>
      </p:pic>
      <p:sp>
        <p:nvSpPr>
          <p:cNvPr id="13" name="AutoShape 13"/>
          <p:cNvSpPr/>
          <p:nvPr/>
        </p:nvSpPr>
        <p:spPr>
          <a:xfrm>
            <a:off x="1333500" y="2946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Objectif d'optimisation</a:t>
            </a:r>
            <a:endParaRPr lang="en-US" sz="1100"/>
          </a:p>
        </p:txBody>
      </p:sp>
      <p:sp>
        <p:nvSpPr>
          <p:cNvPr id="14" name="AutoShape 14"/>
          <p:cNvSpPr/>
          <p:nvPr/>
        </p:nvSpPr>
        <p:spPr>
          <a:xfrm>
            <a:off x="3175000" y="2921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Efficacit</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d'ex</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cution extr</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ê</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me, utilisation optimale des ressources mat</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rielle</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endParaRPr lang="en-US" sz="1100"/>
          </a:p>
        </p:txBody>
      </p:sp>
      <p:sp>
        <p:nvSpPr>
          <p:cNvPr id="15" name="AutoShape 15"/>
          <p:cNvSpPr/>
          <p:nvPr/>
        </p:nvSpPr>
        <p:spPr>
          <a:xfrm>
            <a:off x="7366000" y="2921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Correction du code, lisibilit</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et efficacit</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de d</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veloppemen</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a:t>
            </a:r>
            <a:endParaRPr lang="en-US" sz="1100"/>
          </a:p>
        </p:txBody>
      </p:sp>
      <p:sp>
        <p:nvSpPr>
          <p:cNvPr id="16" name="AutoShape 16"/>
          <p:cNvSpPr/>
          <p:nvPr/>
        </p:nvSpPr>
        <p:spPr>
          <a:xfrm>
            <a:off x="762000" y="3556000"/>
            <a:ext cx="10668000" cy="7620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7" name="Picture 17"/>
          <p:cNvPicPr>
            <a:picLocks noChangeAspect="1"/>
          </p:cNvPicPr>
          <p:nvPr/>
        </p:nvPicPr>
        <p:blipFill>
          <a:blip r:embed="rId3"/>
          <a:srcRect/>
          <a:stretch>
            <a:fillRect/>
          </a:stretch>
        </p:blipFill>
        <p:spPr>
          <a:xfrm>
            <a:off x="952500" y="3746500"/>
            <a:ext cx="304800" cy="304800"/>
          </a:xfrm>
          <a:prstGeom prst="rect">
            <a:avLst/>
          </a:prstGeom>
          <a:ln w="12700">
            <a:noFill/>
            <a:prstDash val="solid"/>
          </a:ln>
        </p:spPr>
      </p:pic>
      <p:sp>
        <p:nvSpPr>
          <p:cNvPr id="18" name="AutoShape 18"/>
          <p:cNvSpPr/>
          <p:nvPr/>
        </p:nvSpPr>
        <p:spPr>
          <a:xfrm>
            <a:off x="1333500" y="3708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Mode d'entree</a:t>
            </a:r>
            <a:endParaRPr lang="en-US" sz="1100"/>
          </a:p>
        </p:txBody>
      </p:sp>
      <p:sp>
        <p:nvSpPr>
          <p:cNvPr id="19" name="AutoShape 19"/>
          <p:cNvSpPr/>
          <p:nvPr/>
        </p:nvSpPr>
        <p:spPr>
          <a:xfrm>
            <a:off x="3175000" y="3683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Langage sp</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cifique au domaine (DSL) ou description de t</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â</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ch</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a:t>
            </a:r>
            <a:endParaRPr lang="en-US" sz="1100"/>
          </a:p>
        </p:txBody>
      </p:sp>
      <p:sp>
        <p:nvSpPr>
          <p:cNvPr id="20" name="AutoShape 20"/>
          <p:cNvSpPr/>
          <p:nvPr/>
        </p:nvSpPr>
        <p:spPr>
          <a:xfrm>
            <a:off x="7366000" y="3683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Commentaires en langage naturel ou fragments de code</a:t>
            </a:r>
            <a:endParaRPr lang="en-US" sz="1100"/>
          </a:p>
        </p:txBody>
      </p:sp>
      <p:pic>
        <p:nvPicPr>
          <p:cNvPr id="21" name="Picture 21"/>
          <p:cNvPicPr>
            <a:picLocks noChangeAspect="1"/>
          </p:cNvPicPr>
          <p:nvPr/>
        </p:nvPicPr>
        <p:blipFill>
          <a:blip r:embed="rId4"/>
          <a:srcRect/>
          <a:stretch>
            <a:fillRect/>
          </a:stretch>
        </p:blipFill>
        <p:spPr>
          <a:xfrm>
            <a:off x="952500" y="4508500"/>
            <a:ext cx="304800" cy="304800"/>
          </a:xfrm>
          <a:prstGeom prst="rect">
            <a:avLst/>
          </a:prstGeom>
          <a:ln w="12700">
            <a:noFill/>
            <a:prstDash val="solid"/>
          </a:ln>
        </p:spPr>
      </p:pic>
      <p:sp>
        <p:nvSpPr>
          <p:cNvPr id="22" name="AutoShape 22"/>
          <p:cNvSpPr/>
          <p:nvPr/>
        </p:nvSpPr>
        <p:spPr>
          <a:xfrm>
            <a:off x="1333500" y="4470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Dependance aux connaissances</a:t>
            </a:r>
            <a:endParaRPr lang="en-US" sz="1100"/>
          </a:p>
        </p:txBody>
      </p:sp>
      <p:sp>
        <p:nvSpPr>
          <p:cNvPr id="23" name="AutoShape 23"/>
          <p:cNvSpPr/>
          <p:nvPr/>
        </p:nvSpPr>
        <p:spPr>
          <a:xfrm>
            <a:off x="3175000" y="4445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Int</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gration profonde des connaissances d'architecture mat</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rielle et de th</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orie du calcul parall</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le</a:t>
            </a:r>
            <a:endParaRPr lang="en-US" sz="1100"/>
          </a:p>
        </p:txBody>
      </p:sp>
      <p:sp>
        <p:nvSpPr>
          <p:cNvPr id="24" name="AutoShape 24"/>
          <p:cNvSpPr/>
          <p:nvPr/>
        </p:nvSpPr>
        <p:spPr>
          <a:xfrm>
            <a:off x="7366000" y="4445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Connaissances g</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riques de syntaxe et s</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mantique de cod</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a:t>
            </a:r>
            <a:endParaRPr lang="en-US" sz="1100"/>
          </a:p>
        </p:txBody>
      </p:sp>
      <p:sp>
        <p:nvSpPr>
          <p:cNvPr id="25" name="AutoShape 25"/>
          <p:cNvSpPr/>
          <p:nvPr/>
        </p:nvSpPr>
        <p:spPr>
          <a:xfrm>
            <a:off x="762000" y="5080000"/>
            <a:ext cx="10668000" cy="7620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6" name="Picture 26"/>
          <p:cNvPicPr>
            <a:picLocks noChangeAspect="1"/>
          </p:cNvPicPr>
          <p:nvPr/>
        </p:nvPicPr>
        <p:blipFill>
          <a:blip r:embed="rId5"/>
          <a:srcRect/>
          <a:stretch>
            <a:fillRect/>
          </a:stretch>
        </p:blipFill>
        <p:spPr>
          <a:xfrm>
            <a:off x="952500" y="5270500"/>
            <a:ext cx="304800" cy="304800"/>
          </a:xfrm>
          <a:prstGeom prst="rect">
            <a:avLst/>
          </a:prstGeom>
          <a:ln w="12700">
            <a:noFill/>
            <a:prstDash val="solid"/>
          </a:ln>
        </p:spPr>
      </p:pic>
      <p:sp>
        <p:nvSpPr>
          <p:cNvPr id="27" name="AutoShape 27"/>
          <p:cNvSpPr/>
          <p:nvPr/>
        </p:nvSpPr>
        <p:spPr>
          <a:xfrm>
            <a:off x="1333500" y="5232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Resultat de sortie</a:t>
            </a:r>
            <a:endParaRPr lang="en-US" sz="1100"/>
          </a:p>
        </p:txBody>
      </p:sp>
      <p:sp>
        <p:nvSpPr>
          <p:cNvPr id="28" name="AutoShape 28"/>
          <p:cNvSpPr/>
          <p:nvPr/>
        </p:nvSpPr>
        <p:spPr>
          <a:xfrm>
            <a:off x="3175000" y="5207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Kernel hautement sp</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cialis</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optimis</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pour des GPU sp</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cifique</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endParaRPr lang="en-US" sz="1100"/>
          </a:p>
        </p:txBody>
      </p:sp>
      <p:sp>
        <p:nvSpPr>
          <p:cNvPr id="29" name="AutoShape 29"/>
          <p:cNvSpPr/>
          <p:nvPr/>
        </p:nvSpPr>
        <p:spPr>
          <a:xfrm>
            <a:off x="7366000" y="5207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Fragments de code g</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riques, adapt</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 à de multiples sc</a:t>
            </a:r>
            <a:r>
              <a:rPr lang="en-US"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nario</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828675" y="45847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Perspectives d'application du projet KernelGen</a:t>
            </a:r>
            <a:endParaRPr lang="en-US" sz="1100"/>
          </a:p>
        </p:txBody>
      </p:sp>
      <p:sp>
        <p:nvSpPr>
          <p:cNvPr id="5" name="AutoShape 5"/>
          <p:cNvSpPr/>
          <p:nvPr/>
        </p:nvSpPr>
        <p:spPr>
          <a:xfrm>
            <a:off x="762000" y="121920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custDataLst>
              <p:tags r:id="rId1"/>
            </p:custDataLst>
          </p:nvPr>
        </p:nvSpPr>
        <p:spPr>
          <a:xfrm>
            <a:off x="762000" y="165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custDataLst>
              <p:tags r:id="rId2"/>
            </p:custDataLst>
          </p:nvPr>
        </p:nvPicPr>
        <p:blipFill>
          <a:blip r:embed="rId3"/>
          <a:srcRect l="3998" r="4000"/>
          <a:stretch>
            <a:fillRect/>
          </a:stretch>
        </p:blipFill>
        <p:spPr>
          <a:xfrm>
            <a:off x="1016000" y="1905000"/>
            <a:ext cx="812800" cy="812800"/>
          </a:xfrm>
          <a:prstGeom prst="rect">
            <a:avLst/>
          </a:prstGeom>
          <a:ln w="12700" cap="flat" cmpd="sng">
            <a:noFill/>
            <a:prstDash val="solid"/>
            <a:round/>
          </a:ln>
        </p:spPr>
      </p:pic>
      <p:sp>
        <p:nvSpPr>
          <p:cNvPr id="8" name="AutoShape 8"/>
          <p:cNvSpPr/>
          <p:nvPr>
            <p:custDataLst>
              <p:tags r:id="rId4"/>
            </p:custDataLst>
          </p:nvPr>
        </p:nvSpPr>
        <p:spPr>
          <a:xfrm>
            <a:off x="2032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Simplification du developpement GPU</a:t>
            </a:r>
            <a:endPar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5"/>
            </p:custDataLst>
          </p:nvPr>
        </p:nvSpPr>
        <p:spPr>
          <a:xfrm>
            <a:off x="2032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duire consid</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rablement les barri</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res techniques pour le d</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veloppement et l'optimisation d'applications GPU, permettant à davantage de scientifiques et ing</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nieurs de diff</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rents domaines d'utiliser facilement la puissance de calcul du GPU pour leurs recherches et d</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veloppements</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6"/>
            </p:custDataLst>
          </p:nvPr>
        </p:nvSpPr>
        <p:spPr>
          <a:xfrm>
            <a:off x="6223000" y="165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custDataLst>
              <p:tags r:id="rId7"/>
            </p:custDataLst>
          </p:nvPr>
        </p:nvPicPr>
        <p:blipFill>
          <a:blip r:embed="rId8"/>
          <a:srcRect/>
          <a:stretch>
            <a:fillRect/>
          </a:stretch>
        </p:blipFill>
        <p:spPr>
          <a:xfrm>
            <a:off x="6477000" y="1905000"/>
            <a:ext cx="812800" cy="812800"/>
          </a:xfrm>
          <a:prstGeom prst="rect">
            <a:avLst/>
          </a:prstGeom>
          <a:ln w="12700" cap="flat" cmpd="sng">
            <a:noFill/>
            <a:prstDash val="solid"/>
            <a:round/>
          </a:ln>
        </p:spPr>
      </p:pic>
      <p:sp>
        <p:nvSpPr>
          <p:cNvPr id="12" name="AutoShape 12"/>
          <p:cNvSpPr/>
          <p:nvPr>
            <p:custDataLst>
              <p:tags r:id="rId9"/>
            </p:custDataLst>
          </p:nvPr>
        </p:nvSpPr>
        <p:spPr>
          <a:xfrm>
            <a:off x="7493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Autonomisation du calcul scientifique</a:t>
            </a:r>
            <a:endPar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10"/>
            </p:custDataLst>
          </p:nvPr>
        </p:nvSpPr>
        <p:spPr>
          <a:xfrm>
            <a:off x="7493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Dans les domaines du calcul parall</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le à grande </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chelle comme l'entra</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î</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nement de mod</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les IA et la simulation de dynamique des fluides, acc</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l</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rer significativement les processus de calcul, r</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duire les cycles de recherche et am</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liorer l'efficacit</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scientifique</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1"/>
            </p:custDataLst>
          </p:nvPr>
        </p:nvSpPr>
        <p:spPr>
          <a:xfrm>
            <a:off x="762000" y="419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5" name="Picture 15"/>
          <p:cNvPicPr>
            <a:picLocks noChangeAspect="1"/>
          </p:cNvPicPr>
          <p:nvPr>
            <p:custDataLst>
              <p:tags r:id="rId12"/>
            </p:custDataLst>
          </p:nvPr>
        </p:nvPicPr>
        <p:blipFill>
          <a:blip r:embed="rId13"/>
          <a:srcRect/>
          <a:stretch>
            <a:fillRect/>
          </a:stretch>
        </p:blipFill>
        <p:spPr>
          <a:xfrm>
            <a:off x="1016000" y="4445000"/>
            <a:ext cx="812800" cy="812800"/>
          </a:xfrm>
          <a:prstGeom prst="rect">
            <a:avLst/>
          </a:prstGeom>
          <a:ln w="12700" cap="flat" cmpd="sng">
            <a:noFill/>
            <a:prstDash val="solid"/>
            <a:round/>
          </a:ln>
        </p:spPr>
      </p:pic>
      <p:sp>
        <p:nvSpPr>
          <p:cNvPr id="16" name="AutoShape 16"/>
          <p:cNvSpPr/>
          <p:nvPr>
            <p:custDataLst>
              <p:tags r:id="rId14"/>
            </p:custDataLst>
          </p:nvPr>
        </p:nvSpPr>
        <p:spPr>
          <a:xfrm>
            <a:off x="2032000" y="444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Automatisation de l'adaptation materielle</a:t>
            </a:r>
            <a:endPar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5"/>
            </p:custDataLst>
          </p:nvPr>
        </p:nvSpPr>
        <p:spPr>
          <a:xfrm>
            <a:off x="2032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G</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rer rapidement du code optimis</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pour les nouvelles architectures GPU, r</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duisant consid</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rablement le cycle d'adaptation logicielle pour les nouveaux mat</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riels et acc</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l</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rant l'adoption industrielle des technologies de pointe</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custDataLst>
              <p:tags r:id="rId16"/>
            </p:custDataLst>
          </p:nvPr>
        </p:nvSpPr>
        <p:spPr>
          <a:xfrm>
            <a:off x="6223000" y="419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9" name="Picture 19"/>
          <p:cNvPicPr>
            <a:picLocks noChangeAspect="1"/>
          </p:cNvPicPr>
          <p:nvPr>
            <p:custDataLst>
              <p:tags r:id="rId17"/>
            </p:custDataLst>
          </p:nvPr>
        </p:nvPicPr>
        <p:blipFill>
          <a:blip r:embed="rId18"/>
          <a:srcRect/>
          <a:stretch>
            <a:fillRect/>
          </a:stretch>
        </p:blipFill>
        <p:spPr>
          <a:xfrm>
            <a:off x="6477000" y="4445000"/>
            <a:ext cx="812800" cy="812800"/>
          </a:xfrm>
          <a:prstGeom prst="rect">
            <a:avLst/>
          </a:prstGeom>
          <a:ln w="12700">
            <a:noFill/>
            <a:prstDash val="solid"/>
          </a:ln>
        </p:spPr>
      </p:pic>
      <p:sp>
        <p:nvSpPr>
          <p:cNvPr id="20" name="AutoShape 20"/>
          <p:cNvSpPr/>
          <p:nvPr>
            <p:custDataLst>
              <p:tags r:id="rId19"/>
            </p:custDataLst>
          </p:nvPr>
        </p:nvSpPr>
        <p:spPr>
          <a:xfrm>
            <a:off x="7493000" y="444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Promotion de la co-conception logiciel-materiel</a:t>
            </a:r>
            <a:endPar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custDataLst>
              <p:tags r:id="rId20"/>
            </p:custDataLst>
          </p:nvPr>
        </p:nvSpPr>
        <p:spPr>
          <a:xfrm>
            <a:off x="7493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La technologie de g</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ration de code pilot</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e par l'IA alimente la conception architecturale mat</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rielle, encourageant une conception mat</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rielle plus facilement optimisable par l'IA, cr</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ant un cercle vertueux d'</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volution coop</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rative logiciel-mat</a:t>
            </a:r>
            <a:r>
              <a:rPr lang="en-US"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riel</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 et Perspectives</a:t>
            </a:r>
            <a:endParaRPr lang="en-US" sz="1100"/>
          </a:p>
        </p:txBody>
      </p:sp>
      <p:sp>
        <p:nvSpPr>
          <p:cNvPr id="5" name="AutoShape 5"/>
          <p:cNvSpPr/>
          <p:nvPr/>
        </p:nvSpPr>
        <p:spPr>
          <a:xfrm>
            <a:off x="762000" y="1397000"/>
            <a:ext cx="5143500" cy="4953000"/>
          </a:xfrm>
          <a:prstGeom prst="roundRect">
            <a:avLst>
              <a:gd name="adj" fmla="val 25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1016000" y="1651000"/>
            <a:ext cx="355600" cy="355600"/>
          </a:xfrm>
          <a:prstGeom prst="rect">
            <a:avLst/>
          </a:prstGeom>
          <a:ln w="12700">
            <a:noFill/>
            <a:prstDash val="solid"/>
          </a:ln>
        </p:spPr>
      </p:pic>
      <p:sp>
        <p:nvSpPr>
          <p:cNvPr id="7" name="AutoShape 7"/>
          <p:cNvSpPr/>
          <p:nvPr/>
        </p:nvSpPr>
        <p:spPr>
          <a:xfrm>
            <a:off x="1460500" y="1625600"/>
            <a:ext cx="3810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Bilan : État des lieux et transformations</a:t>
            </a:r>
            <a:endPar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9418">
            <a:off x="1016009" y="2089150"/>
            <a:ext cx="4635500" cy="12700"/>
          </a:xfrm>
          <a:prstGeom prst="straightConnector1">
            <a:avLst/>
          </a:prstGeom>
          <a:solidFill>
            <a:srgbClr val="DEE0E3">
              <a:alpha val="100000"/>
            </a:srgbClr>
          </a:solidFill>
          <a:ln w="12700" cap="flat" cmpd="sng">
            <a:solidFill>
              <a:srgbClr val="FCA5A5">
                <a:alpha val="100000"/>
              </a:srgbClr>
            </a:solidFill>
            <a:prstDash val="solid"/>
            <a:round/>
            <a:headEnd type="none" w="med" len="med"/>
            <a:tailEnd type="none" w="med" len="med"/>
          </a:ln>
        </p:spPr>
      </p:cxnSp>
      <p:pic>
        <p:nvPicPr>
          <p:cNvPr id="9" name="Picture 9"/>
          <p:cNvPicPr>
            <a:picLocks noChangeAspect="1"/>
          </p:cNvPicPr>
          <p:nvPr/>
        </p:nvPicPr>
        <p:blipFill>
          <a:blip r:embed="rId2"/>
          <a:srcRect/>
          <a:stretch>
            <a:fillRect/>
          </a:stretch>
        </p:blipFill>
        <p:spPr>
          <a:xfrm>
            <a:off x="890270" y="2324100"/>
            <a:ext cx="304800" cy="304800"/>
          </a:xfrm>
          <a:prstGeom prst="rect">
            <a:avLst/>
          </a:prstGeom>
          <a:ln w="12700">
            <a:noFill/>
            <a:prstDash val="solid"/>
          </a:ln>
        </p:spPr>
      </p:pic>
      <p:sp>
        <p:nvSpPr>
          <p:cNvPr id="10" name="AutoShape 10"/>
          <p:cNvSpPr/>
          <p:nvPr/>
        </p:nvSpPr>
        <p:spPr>
          <a:xfrm>
            <a:off x="1238250" y="235077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Révolution de l'efficacité : La programmation assistée par IA est irréversible</a:t>
            </a:r>
            <a:endParaRPr lang="en-US"/>
          </a:p>
        </p:txBody>
      </p:sp>
      <p:sp>
        <p:nvSpPr>
          <p:cNvPr id="11" name="AutoShape 11"/>
          <p:cNvSpPr/>
          <p:nvPr/>
        </p:nvSpPr>
        <p:spPr>
          <a:xfrm>
            <a:off x="1238250" y="2924175"/>
            <a:ext cx="42545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Les LLM ont apporté une transformation qualitative de l'efficacité du développement logiciel, passant de la simple complétion à la génération logique, devenant ainsi un outil incontournable pour les développeurs.</a:t>
            </a:r>
            <a:endParaRPr lang="en-US" sz="1000"/>
          </a:p>
        </p:txBody>
      </p:sp>
      <p:pic>
        <p:nvPicPr>
          <p:cNvPr id="12" name="Picture 12"/>
          <p:cNvPicPr>
            <a:picLocks noChangeAspect="1"/>
          </p:cNvPicPr>
          <p:nvPr/>
        </p:nvPicPr>
        <p:blipFill>
          <a:blip r:embed="rId3"/>
          <a:srcRect/>
          <a:stretch>
            <a:fillRect/>
          </a:stretch>
        </p:blipFill>
        <p:spPr>
          <a:xfrm>
            <a:off x="890270" y="3619500"/>
            <a:ext cx="304800" cy="304800"/>
          </a:xfrm>
          <a:prstGeom prst="rect">
            <a:avLst/>
          </a:prstGeom>
          <a:ln w="12700">
            <a:noFill/>
            <a:prstDash val="solid"/>
          </a:ln>
        </p:spPr>
      </p:pic>
      <p:sp>
        <p:nvSpPr>
          <p:cNvPr id="13" name="AutoShape 13"/>
          <p:cNvSpPr/>
          <p:nvPr/>
        </p:nvSpPr>
        <p:spPr>
          <a:xfrm>
            <a:off x="1238250" y="373253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Outils généralistes et spécialisés : Une double approche parallèle</a:t>
            </a:r>
            <a:endParaRPr lang="en-US"/>
          </a:p>
        </p:txBody>
      </p:sp>
      <p:sp>
        <p:nvSpPr>
          <p:cNvPr id="14" name="AutoShape 14"/>
          <p:cNvSpPr/>
          <p:nvPr/>
        </p:nvSpPr>
        <p:spPr>
          <a:xfrm>
            <a:off x="1238250" y="4349750"/>
            <a:ext cx="42545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 a validé le marché généraliste, tandis que KernelGen a démontré le potentiel des outils spécialisés dans le domaine du calcul haute performance.</a:t>
            </a:r>
            <a:endParaRPr lang="en-US" sz="1000"/>
          </a:p>
        </p:txBody>
      </p:sp>
      <p:pic>
        <p:nvPicPr>
          <p:cNvPr id="15" name="Picture 15"/>
          <p:cNvPicPr>
            <a:picLocks noChangeAspect="1"/>
          </p:cNvPicPr>
          <p:nvPr/>
        </p:nvPicPr>
        <p:blipFill>
          <a:blip r:embed="rId4"/>
          <a:srcRect/>
          <a:stretch>
            <a:fillRect/>
          </a:stretch>
        </p:blipFill>
        <p:spPr>
          <a:xfrm>
            <a:off x="890270" y="5020310"/>
            <a:ext cx="304800" cy="304800"/>
          </a:xfrm>
          <a:prstGeom prst="rect">
            <a:avLst/>
          </a:prstGeom>
          <a:ln w="12700">
            <a:noFill/>
            <a:prstDash val="solid"/>
          </a:ln>
        </p:spPr>
      </p:pic>
      <p:sp>
        <p:nvSpPr>
          <p:cNvPr id="16" name="AutoShape 16"/>
          <p:cNvSpPr/>
          <p:nvPr/>
        </p:nvSpPr>
        <p:spPr>
          <a:xfrm>
            <a:off x="1238250" y="50927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Nouveau paradigme de collaboration homme-machine : Changement des rôles</a:t>
            </a:r>
            <a:endParaRPr lang="en-US"/>
          </a:p>
        </p:txBody>
      </p:sp>
      <p:sp>
        <p:nvSpPr>
          <p:cNvPr id="17" name="AutoShape 17"/>
          <p:cNvSpPr/>
          <p:nvPr/>
        </p:nvSpPr>
        <p:spPr>
          <a:xfrm>
            <a:off x="1238250" y="5715000"/>
            <a:ext cx="42545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L'IA est passée du statut d'« outil » à celui de « collaborateur », les développeurs se tournant davantage vers la conception architecturale et l'idéation créative.</a:t>
            </a:r>
            <a:endParaRPr lang="en-US" sz="1000"/>
          </a:p>
        </p:txBody>
      </p:sp>
      <p:sp>
        <p:nvSpPr>
          <p:cNvPr id="18" name="AutoShape 18"/>
          <p:cNvSpPr/>
          <p:nvPr/>
        </p:nvSpPr>
        <p:spPr>
          <a:xfrm>
            <a:off x="6286500" y="1390015"/>
            <a:ext cx="5143500" cy="4953000"/>
          </a:xfrm>
          <a:prstGeom prst="roundRect">
            <a:avLst>
              <a:gd name="adj" fmla="val 2564"/>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9" name="Picture 19"/>
          <p:cNvPicPr>
            <a:picLocks noChangeAspect="1"/>
          </p:cNvPicPr>
          <p:nvPr/>
        </p:nvPicPr>
        <p:blipFill>
          <a:blip r:embed="rId5"/>
          <a:srcRect/>
          <a:stretch>
            <a:fillRect/>
          </a:stretch>
        </p:blipFill>
        <p:spPr>
          <a:xfrm>
            <a:off x="6540500" y="1651000"/>
            <a:ext cx="355600" cy="355600"/>
          </a:xfrm>
          <a:prstGeom prst="rect">
            <a:avLst/>
          </a:prstGeom>
          <a:ln w="12700">
            <a:noFill/>
            <a:prstDash val="solid"/>
          </a:ln>
        </p:spPr>
      </p:pic>
      <p:sp>
        <p:nvSpPr>
          <p:cNvPr id="20" name="AutoShape 20"/>
          <p:cNvSpPr/>
          <p:nvPr/>
        </p:nvSpPr>
        <p:spPr>
          <a:xfrm>
            <a:off x="6985000" y="1625600"/>
            <a:ext cx="4191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Perspectives d'avenir : Tendances et possibilités</a:t>
            </a:r>
            <a:endParaRPr lang="en-US" sz="1600"/>
          </a:p>
        </p:txBody>
      </p:sp>
      <p:cxnSp>
        <p:nvCxnSpPr>
          <p:cNvPr id="21" name="Connector 21"/>
          <p:cNvCxnSpPr/>
          <p:nvPr/>
        </p:nvCxnSpPr>
        <p:spPr>
          <a:xfrm rot="-9418">
            <a:off x="6540509" y="2089150"/>
            <a:ext cx="46355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pic>
        <p:nvPicPr>
          <p:cNvPr id="22" name="Picture 22"/>
          <p:cNvPicPr>
            <a:picLocks noChangeAspect="1"/>
          </p:cNvPicPr>
          <p:nvPr/>
        </p:nvPicPr>
        <p:blipFill>
          <a:blip r:embed="rId6"/>
          <a:srcRect/>
          <a:stretch>
            <a:fillRect/>
          </a:stretch>
        </p:blipFill>
        <p:spPr>
          <a:xfrm>
            <a:off x="6540500" y="2324100"/>
            <a:ext cx="304800" cy="304800"/>
          </a:xfrm>
          <a:prstGeom prst="rect">
            <a:avLst/>
          </a:prstGeom>
          <a:ln w="12700">
            <a:noFill/>
            <a:prstDash val="solid"/>
          </a:ln>
        </p:spPr>
      </p:pic>
      <p:sp>
        <p:nvSpPr>
          <p:cNvPr id="23" name="AutoShape 23"/>
          <p:cNvSpPr/>
          <p:nvPr/>
        </p:nvSpPr>
        <p:spPr>
          <a:xfrm>
            <a:off x="6921500" y="23241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Collaboration plus intelligente : Interaction approfondie</a:t>
            </a:r>
            <a:endPar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6921500" y="2870200"/>
            <a:ext cx="42545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L'IA disposera de capacités de compréhension et de raisonnement accrues, passant de la complétion passive aux suggestions proactives, pour une véritable collaboration intellectuelle.</a:t>
            </a:r>
            <a:endParaRPr lang="en-US" sz="1000"/>
          </a:p>
        </p:txBody>
      </p:sp>
      <p:pic>
        <p:nvPicPr>
          <p:cNvPr id="25" name="Picture 25"/>
          <p:cNvPicPr>
            <a:picLocks noChangeAspect="1"/>
          </p:cNvPicPr>
          <p:nvPr/>
        </p:nvPicPr>
        <p:blipFill>
          <a:blip r:embed="rId7"/>
          <a:srcRect/>
          <a:stretch>
            <a:fillRect/>
          </a:stretch>
        </p:blipFill>
        <p:spPr>
          <a:xfrm>
            <a:off x="6540500" y="3602990"/>
            <a:ext cx="304800" cy="304800"/>
          </a:xfrm>
          <a:prstGeom prst="rect">
            <a:avLst/>
          </a:prstGeom>
          <a:ln w="12700">
            <a:noFill/>
            <a:prstDash val="solid"/>
          </a:ln>
        </p:spPr>
      </p:pic>
      <p:sp>
        <p:nvSpPr>
          <p:cNvPr id="26" name="AutoShape 26"/>
          <p:cNvSpPr/>
          <p:nvPr/>
        </p:nvSpPr>
        <p:spPr>
          <a:xfrm>
            <a:off x="6921500" y="36068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Approfondissement sectoriel : Personnalisation par métier</a:t>
            </a:r>
            <a:endPar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6921500" y="4171950"/>
            <a:ext cx="42545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Des outils IA spécialisés pour la finance, la santé, le jeu vidéo et d'autres secteurs émergeront, offrant des solutions mieux adaptées aux contextes métiers.</a:t>
            </a:r>
            <a:endParaRPr lang="en-US" sz="1000"/>
          </a:p>
        </p:txBody>
      </p:sp>
      <p:pic>
        <p:nvPicPr>
          <p:cNvPr id="28" name="Picture 28"/>
          <p:cNvPicPr>
            <a:picLocks noChangeAspect="1"/>
          </p:cNvPicPr>
          <p:nvPr/>
        </p:nvPicPr>
        <p:blipFill>
          <a:blip r:embed="rId8"/>
          <a:srcRect/>
          <a:stretch>
            <a:fillRect/>
          </a:stretch>
        </p:blipFill>
        <p:spPr>
          <a:xfrm>
            <a:off x="6540500" y="4940300"/>
            <a:ext cx="304800" cy="304800"/>
          </a:xfrm>
          <a:prstGeom prst="rect">
            <a:avLst/>
          </a:prstGeom>
          <a:ln w="12700">
            <a:noFill/>
            <a:prstDash val="solid"/>
          </a:ln>
        </p:spPr>
      </p:pic>
      <p:sp>
        <p:nvSpPr>
          <p:cNvPr id="29" name="AutoShape 29"/>
          <p:cNvSpPr/>
          <p:nvPr/>
        </p:nvSpPr>
        <p:spPr>
          <a:xfrm>
            <a:off x="6896100" y="49149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Exploration de la programmation autonome : Automatisation avancée</a:t>
            </a:r>
            <a:endPar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p:nvPr/>
        </p:nvSpPr>
        <p:spPr>
          <a:xfrm>
            <a:off x="6896100" y="5473700"/>
            <a:ext cx="42545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Dans certains contextes spécifiques, l'IA pourrait acquérir des capacités de conception système autonome, réalisant un cycle automatisé allant de la description des besoins à la livraison du produit.</a:t>
            </a:r>
            <a:endParaRPr lang="en-US" sz="10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t>Leçon 41 : Architecture de KernelGen et ingénierie des prompts</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1" i="0" u="none" strike="noStrike" spc="0">
                <a:solidFill>
                  <a:srgbClr val="000000">
                    <a:alpha val="100000"/>
                  </a:srgbClr>
                </a:solidFill>
                <a:latin typeface="Calibri" panose="020F0502020204030204"/>
              </a:defRPr>
            </a:lvl1pPr>
          </a:lstStyle>
          <a:p>
            <a:pPr marL="355600" indent="-355600" algn="l">
              <a:lnSpc>
                <a:spcPct val="100000"/>
              </a:lnSpc>
              <a:spcBef>
                <a:spcPts val="3000"/>
              </a:spcBef>
              <a:buClr>
                <a:srgbClr val="000000"/>
              </a:buClr>
              <a:buChar char="•"/>
            </a:pPr>
            <a:r>
              <a:rPr lang="en-US" altLang="zh-CN" sz="28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KernelGen : Contexte du projet</a:t>
            </a:r>
            <a:endParaRPr lang="en-US" sz="28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a:p>
            <a:pPr marL="355600" indent="-355600" algn="l">
              <a:lnSpc>
                <a:spcPct val="100000"/>
              </a:lnSpc>
              <a:spcBef>
                <a:spcPts val="3000"/>
              </a:spcBef>
              <a:buClr>
                <a:srgbClr val="000000"/>
              </a:buClr>
              <a:buChar char="•"/>
            </a:pPr>
            <a:r>
              <a:rPr lang="en-US" altLang="zh-CN" sz="2800" b="1" i="0" u="none" strike="noStrike">
                <a:solidFill>
                  <a:srgbClr val="000000"/>
                </a:solidFill>
                <a:latin typeface="Calibri" panose="020F0502020204030204"/>
                <a:ea typeface="Calibri" panose="020F0502020204030204"/>
                <a:cs typeface="Calibri" panose="020F0502020204030204"/>
                <a:sym typeface="Calibri" panose="020F0502020204030204"/>
              </a:rPr>
              <a:t>Flux de travail de KernelGen</a:t>
            </a:r>
            <a:endParaRPr lang="en-US" altLang="zh-CN" sz="28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355600" indent="-355600" algn="l">
              <a:lnSpc>
                <a:spcPct val="100000"/>
              </a:lnSpc>
              <a:spcBef>
                <a:spcPts val="3000"/>
              </a:spcBef>
              <a:buClr>
                <a:srgbClr val="000000"/>
              </a:buClr>
              <a:buChar char="•"/>
            </a:pPr>
            <a:r>
              <a:rPr lang="en-US" altLang="zh-CN" sz="28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Ing</a:t>
            </a:r>
            <a:r>
              <a:rPr lang="en-US" altLang="en-US" sz="28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é</a:t>
            </a:r>
            <a:r>
              <a:rPr lang="en-US" altLang="zh-CN" sz="28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nierie des prompts</a:t>
            </a:r>
            <a:endParaRPr lang="en-US" altLang="zh-CN" sz="28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a:p>
            <a:pPr marL="355600" indent="-355600" algn="l">
              <a:lnSpc>
                <a:spcPct val="100000"/>
              </a:lnSpc>
              <a:spcBef>
                <a:spcPts val="3000"/>
              </a:spcBef>
              <a:buClr>
                <a:srgbClr val="000000"/>
              </a:buClr>
              <a:buChar char="•"/>
            </a:pPr>
            <a:r>
              <a:rPr lang="en-US" altLang="zh-CN"/>
              <a:t>Exemples d'utilisation de KernelGen</a:t>
            </a:r>
            <a:endParaRPr lang="en-US" altLang="zh-CN"/>
          </a:p>
          <a:p>
            <a:pPr marL="0" indent="0" algn="l">
              <a:lnSpc>
                <a:spcPct val="100000"/>
              </a:lnSpc>
              <a:spcBef>
                <a:spcPts val="3000"/>
              </a:spcBef>
              <a:buClr>
                <a:srgbClr val="000000"/>
              </a:buClr>
              <a:buNone/>
            </a:pPr>
            <a:endParaRPr lang="en-US" altLang="zh-CN"/>
          </a:p>
          <a:p>
            <a:pPr indent="0" algn="l">
              <a:lnSpc>
                <a:spcPct val="100000"/>
              </a:lnSpc>
              <a:spcBef>
                <a:spcPts val="3000"/>
              </a:spcBef>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微软雅黑" panose="020B0503020204020204" charset="-122"/>
              </a:defRPr>
            </a:lvl1pPr>
          </a:lstStyle>
          <a:p>
            <a:pPr indent="0" algn="ctr">
              <a:lnSpc>
                <a:spcPct val="100000"/>
              </a:lnSpc>
              <a:spcBef>
                <a:spcPts val="1500"/>
              </a:spcBef>
            </a:pPr>
            <a:r>
              <a:rPr lang="en-US" sz="320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Sommaire</a:t>
            </a:r>
            <a:endParaRPr lang="en-US" sz="320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386715"/>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740" b="1" i="0" u="none" strike="noStrike">
                <a:solidFill>
                  <a:srgbClr val="000000"/>
                </a:solidFill>
                <a:latin typeface="Calibri" panose="020F0502020204030204"/>
                <a:ea typeface="Calibri" panose="020F0502020204030204"/>
                <a:cs typeface="Calibri" panose="020F0502020204030204"/>
                <a:sym typeface="Calibri" panose="020F0502020204030204"/>
              </a:rPr>
              <a:t>KernelGen </a:t>
            </a:r>
            <a:r>
              <a:rPr lang="en-US" sz="274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Contexte du projet</a:t>
            </a:r>
            <a:endParaRPr lang="en-US" sz="1100"/>
          </a:p>
        </p:txBody>
      </p:sp>
      <p:sp>
        <p:nvSpPr>
          <p:cNvPr id="5" name="AutoShape 5"/>
          <p:cNvSpPr/>
          <p:nvPr>
            <p:custDataLst>
              <p:tags r:id="rId1"/>
            </p:custDataLst>
          </p:nvPr>
        </p:nvSpPr>
        <p:spPr>
          <a:xfrm>
            <a:off x="523875" y="1968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custDataLst>
              <p:tags r:id="rId2"/>
            </p:custDataLst>
          </p:nvPr>
        </p:nvPicPr>
        <p:blipFill>
          <a:blip r:embed="rId3"/>
          <a:srcRect/>
          <a:stretch>
            <a:fillRect/>
          </a:stretch>
        </p:blipFill>
        <p:spPr>
          <a:xfrm>
            <a:off x="714375" y="2159000"/>
            <a:ext cx="304800" cy="304800"/>
          </a:xfrm>
          <a:prstGeom prst="rect">
            <a:avLst/>
          </a:prstGeom>
          <a:ln w="12700">
            <a:noFill/>
            <a:prstDash val="solid"/>
          </a:ln>
        </p:spPr>
      </p:pic>
      <p:sp>
        <p:nvSpPr>
          <p:cNvPr id="7" name="AutoShape 7"/>
          <p:cNvSpPr/>
          <p:nvPr>
            <p:custDataLst>
              <p:tags r:id="rId4"/>
            </p:custDataLst>
          </p:nvPr>
        </p:nvSpPr>
        <p:spPr>
          <a:xfrm>
            <a:off x="1095375" y="2120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3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Objectif central de KernelGen</a:t>
            </a:r>
            <a:endParaRPr lang="en-US" sz="1100"/>
          </a:p>
        </p:txBody>
      </p:sp>
      <p:sp>
        <p:nvSpPr>
          <p:cNvPr id="8" name="AutoShape 8"/>
          <p:cNvSpPr/>
          <p:nvPr>
            <p:custDataLst>
              <p:tags r:id="rId5"/>
            </p:custDataLst>
          </p:nvPr>
        </p:nvSpPr>
        <p:spPr>
          <a:xfrm>
            <a:off x="1095375" y="2476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7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Utiliser la technologie IA pour générer automatiquement du code de noyau GPU, en réalisant une optimisation des performances extrême pour le matériel cible, afin de résoudre les difficultés de la programmation manuelle.</a:t>
            </a:r>
            <a:endParaRPr lang="en-US" sz="1100"/>
          </a:p>
        </p:txBody>
      </p:sp>
      <p:sp>
        <p:nvSpPr>
          <p:cNvPr id="9" name="AutoShape 9"/>
          <p:cNvSpPr/>
          <p:nvPr>
            <p:custDataLst>
              <p:tags r:id="rId6"/>
            </p:custDataLst>
          </p:nvPr>
        </p:nvSpPr>
        <p:spPr>
          <a:xfrm>
            <a:off x="523875" y="31750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custDataLst>
              <p:tags r:id="rId7"/>
            </p:custDataLst>
          </p:nvPr>
        </p:nvPicPr>
        <p:blipFill>
          <a:blip r:embed="rId8"/>
          <a:srcRect/>
          <a:stretch>
            <a:fillRect/>
          </a:stretch>
        </p:blipFill>
        <p:spPr>
          <a:xfrm>
            <a:off x="714375" y="3365500"/>
            <a:ext cx="304800" cy="304800"/>
          </a:xfrm>
          <a:prstGeom prst="rect">
            <a:avLst/>
          </a:prstGeom>
          <a:ln w="12700">
            <a:noFill/>
            <a:prstDash val="solid"/>
          </a:ln>
        </p:spPr>
      </p:pic>
      <p:sp>
        <p:nvSpPr>
          <p:cNvPr id="11" name="AutoShape 11"/>
          <p:cNvSpPr/>
          <p:nvPr>
            <p:custDataLst>
              <p:tags r:id="rId9"/>
            </p:custDataLst>
          </p:nvPr>
        </p:nvSpPr>
        <p:spPr>
          <a:xfrm>
            <a:off x="1095375" y="33274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3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Défis auxquels l'industrie est confrontée</a:t>
            </a:r>
            <a:endParaRPr lang="en-US" sz="1100"/>
          </a:p>
        </p:txBody>
      </p:sp>
      <p:sp>
        <p:nvSpPr>
          <p:cNvPr id="12" name="AutoShape 12"/>
          <p:cNvSpPr/>
          <p:nvPr>
            <p:custDataLst>
              <p:tags r:id="rId10"/>
            </p:custDataLst>
          </p:nvPr>
        </p:nvSpPr>
        <p:spPr>
          <a:xfrm>
            <a:off x="1095375" y="36830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7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Le modèle de programmation GPU est complexe, les différences d'architecture sont importantes, les stratégies d'optimisation universelles font défaut, et les seuils pour l'ordonnancement du calcul parallèle et la gestion de la mémoire sont extrêmement élevés.</a:t>
            </a:r>
            <a:endParaRPr lang="en-US" sz="1100"/>
          </a:p>
        </p:txBody>
      </p:sp>
      <p:sp>
        <p:nvSpPr>
          <p:cNvPr id="13" name="AutoShape 13"/>
          <p:cNvSpPr/>
          <p:nvPr>
            <p:custDataLst>
              <p:tags r:id="rId11"/>
            </p:custDataLst>
          </p:nvPr>
        </p:nvSpPr>
        <p:spPr>
          <a:xfrm>
            <a:off x="523875" y="4381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custDataLst>
              <p:tags r:id="rId12"/>
            </p:custDataLst>
          </p:nvPr>
        </p:nvPicPr>
        <p:blipFill>
          <a:blip r:embed="rId13"/>
          <a:srcRect/>
          <a:stretch>
            <a:fillRect/>
          </a:stretch>
        </p:blipFill>
        <p:spPr>
          <a:xfrm>
            <a:off x="714375" y="4572000"/>
            <a:ext cx="304800" cy="304800"/>
          </a:xfrm>
          <a:prstGeom prst="rect">
            <a:avLst/>
          </a:prstGeom>
          <a:ln w="12700">
            <a:noFill/>
            <a:prstDash val="solid"/>
          </a:ln>
        </p:spPr>
      </p:pic>
      <p:sp>
        <p:nvSpPr>
          <p:cNvPr id="15" name="AutoShape 15"/>
          <p:cNvSpPr/>
          <p:nvPr>
            <p:custDataLst>
              <p:tags r:id="rId14"/>
            </p:custDataLst>
          </p:nvPr>
        </p:nvSpPr>
        <p:spPr>
          <a:xfrm>
            <a:off x="1095375" y="4533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3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Valeur centrale du projet</a:t>
            </a:r>
            <a:endParaRPr lang="en-US" sz="1100"/>
          </a:p>
        </p:txBody>
      </p:sp>
      <p:sp>
        <p:nvSpPr>
          <p:cNvPr id="16" name="AutoShape 16"/>
          <p:cNvSpPr/>
          <p:nvPr>
            <p:custDataLst>
              <p:tags r:id="rId15"/>
            </p:custDataLst>
          </p:nvPr>
        </p:nvSpPr>
        <p:spPr>
          <a:xfrm>
            <a:off x="1095375" y="4889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7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Réduire considérablement le seuil de développement d'applications GPU, libérer le potentiel de la puissance matérielle, améliorer l'efficacité d'exécution des tâches de calcul et le taux d'utilisation des ressources.</a:t>
            </a:r>
            <a:endParaRPr lang="en-US" sz="1100"/>
          </a:p>
        </p:txBody>
      </p:sp>
      <p:pic>
        <p:nvPicPr>
          <p:cNvPr id="17" name="Picture 17"/>
          <p:cNvPicPr>
            <a:picLocks noChangeAspect="1"/>
          </p:cNvPicPr>
          <p:nvPr/>
        </p:nvPicPr>
        <p:blipFill>
          <a:blip r:embed="rId16"/>
          <a:srcRect/>
          <a:stretch>
            <a:fillRect/>
          </a:stretch>
        </p:blipFill>
        <p:spPr>
          <a:xfrm>
            <a:off x="6597650" y="1139825"/>
            <a:ext cx="4832350" cy="51492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altLang="zh-CN" sz="3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Flux de travail de KernelGen</a:t>
            </a:r>
            <a:endParaRPr lang="en-US" altLang="zh-CN" sz="3075"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7559675" cy="4771390"/>
          </a:xfrm>
          <a:prstGeom prst="rect">
            <a:avLst/>
          </a:prstGeom>
        </p:spPr>
        <p:txBody>
          <a:bodyPr wrap="square" lIns="91440" tIns="45720" rIns="91440" bIns="45720" anchor="t">
            <a:noAutofit/>
          </a:bodyPr>
          <a:lstStyle>
            <a:lvl1pPr algn="l">
              <a:lnSpc>
                <a:spcPct val="142000"/>
              </a:lnSpc>
              <a:defRPr sz="2200" b="0" i="0" u="none" strike="noStrike" spc="0">
                <a:solidFill>
                  <a:srgbClr val="404040">
                    <a:alpha val="100000"/>
                  </a:srgbClr>
                </a:solidFill>
                <a:latin typeface="微软雅黑" panose="020B0503020204020204" charset="-122"/>
              </a:defRPr>
            </a:lvl1pPr>
          </a:lstStyle>
          <a:p>
            <a:pPr marL="279400" indent="-279400" algn="l">
              <a:lnSpc>
                <a:spcPct val="142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Collecte des informations Kernel</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42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L'utilisateur fournit à KernelGen une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s</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 de l'op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42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Rechercher des extraits de code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42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KernelGen recherche des extraits de code similaires à la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de l'utilisateur comme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42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le code Kernel et l'impl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de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CUDA</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42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KernelGen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le code Kernel ainsi que l'impl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de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CUDA</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42000"/>
              </a:lnSpc>
              <a:spcBef>
                <a:spcPts val="1500"/>
              </a:spcBef>
              <a:buClr>
                <a:srgbClr val="404040"/>
              </a:buClr>
              <a:buChar char="•"/>
            </a:pP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Test du Kernel bas</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 sur l'impl</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mentation de r</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f</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rence CUDA</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42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KernelGen teste le Kernel avec PyTorch comme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et produit les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de validit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 rapport d'acc</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图片 6" descr="E:/BAAI/COURSE/template-replacement/images/KernelGen-workflow-en.pngKernelGen-workflow-en"/>
          <p:cNvPicPr/>
          <p:nvPr/>
        </p:nvPicPr>
        <p:blipFill>
          <a:blip r:embed="rId1"/>
          <a:srcRect t="1310" b="1310"/>
          <a:stretch>
            <a:fillRect/>
          </a:stretch>
        </p:blipFill>
        <p:spPr>
          <a:xfrm>
            <a:off x="8107045" y="883285"/>
            <a:ext cx="3319780" cy="58381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262626">
                    <a:alpha val="100000"/>
                  </a:srgbClr>
                </a:solidFill>
                <a:latin typeface="Calibri" panose="020F0502020204030204"/>
              </a:defRPr>
            </a:lvl1pPr>
          </a:lstStyle>
          <a:p>
            <a:pPr indent="0" algn="l">
              <a:lnSpc>
                <a:spcPct val="100000"/>
              </a:lnSpc>
            </a:pPr>
            <a:r>
              <a:rPr lang="en-US" altLang="zh-CN" sz="3075" b="1"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Ing</a:t>
            </a:r>
            <a:r>
              <a:rPr lang="en-US" altLang="en-US" sz="3075" b="1"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1"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nierie des prompts</a:t>
            </a:r>
            <a:endParaRPr lang="en-US" altLang="zh-CN" sz="3075" b="1"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8" name="图片 7" descr="post_object_image_1086164371"/>
          <p:cNvPicPr>
            <a:picLocks noChangeAspect="1"/>
          </p:cNvPicPr>
          <p:nvPr/>
        </p:nvPicPr>
        <p:blipFill>
          <a:blip r:embed="rId1"/>
          <a:stretch>
            <a:fillRect/>
          </a:stretch>
        </p:blipFill>
        <p:spPr>
          <a:xfrm>
            <a:off x="1687577" y="1378026"/>
            <a:ext cx="8950286" cy="47448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altLang="zh-CN" sz="3075"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Exemple d'utilisation de KernelGen</a:t>
            </a:r>
            <a:endParaRPr lang="en-US" altLang="zh-CN" sz="3075"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 KernelGen pour g</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un noyau ReLU</a:t>
            </a:r>
            <a:r>
              <a:rPr 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8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kernelgen.flagos.io/home"/>
              </a:rPr>
              <a:t>https://kernelgen.flagos.io/home</a:t>
            </a:r>
            <a:endParaRPr lang="en-US" sz="228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28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8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8" name="图片 7" descr="E:/BAAI/COURSE/template-replacement/images/welcom-en.pngwelcom-en"/>
          <p:cNvPicPr>
            <a:picLocks noChangeAspect="1"/>
          </p:cNvPicPr>
          <p:nvPr/>
        </p:nvPicPr>
        <p:blipFill>
          <a:blip r:embed="rId2"/>
          <a:srcRect t="3784" b="3784"/>
          <a:stretch>
            <a:fillRect/>
          </a:stretch>
        </p:blipFill>
        <p:spPr>
          <a:xfrm>
            <a:off x="1868805" y="2009775"/>
            <a:ext cx="8238490" cy="45053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altLang="zh-CN" sz="3075"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Exemple d'utilisation de KernelGen</a:t>
            </a:r>
            <a:endParaRPr lang="en-US" altLang="zh-CN" sz="3075"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Prompt clair et de haute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qualit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680" y="1870075"/>
            <a:ext cx="11236325" cy="1723390"/>
          </a:xfrm>
          <a:prstGeom prst="rect">
            <a:avLst/>
          </a:prstGeom>
          <a:ln w="12700">
            <a:noFill/>
            <a:prstDash val="solid"/>
          </a:ln>
        </p:spPr>
      </p:pic>
      <p:sp>
        <p:nvSpPr>
          <p:cNvPr id="7" name="AutoShape 7"/>
          <p:cNvSpPr/>
          <p:nvPr/>
        </p:nvSpPr>
        <p:spPr>
          <a:xfrm>
            <a:off x="523875" y="3843020"/>
            <a:ext cx="11404600" cy="2461260"/>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Prompt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vague et de faible qualit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100"/>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8" name="Picture 8"/>
          <p:cNvPicPr>
            <a:picLocks noChangeAspect="1"/>
          </p:cNvPicPr>
          <p:nvPr/>
        </p:nvPicPr>
        <p:blipFill>
          <a:blip r:embed="rId2"/>
          <a:srcRect/>
          <a:stretch>
            <a:fillRect/>
          </a:stretch>
        </p:blipFill>
        <p:spPr>
          <a:xfrm>
            <a:off x="741680" y="4418965"/>
            <a:ext cx="10930890" cy="16656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altLang="zh-CN" sz="3075">
                <a:solidFill>
                  <a:srgbClr val="000000"/>
                </a:solidFill>
                <a:ea typeface="黑体" panose="02010609060101010101" charset="-122"/>
                <a:cs typeface="黑体" panose="02010609060101010101" charset="-122"/>
                <a:sym typeface="黑体" panose="02010609060101010101" charset="-122"/>
              </a:rPr>
              <a:t>Exemple d'utilisation de KernelGen</a:t>
            </a:r>
            <a:endParaRPr lang="en-US" sz="3075"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419100" y="1919805"/>
            <a:ext cx="11277600" cy="4369987"/>
          </a:xfrm>
          <a:prstGeom prst="rect">
            <a:avLst/>
          </a:prstGeom>
        </p:spPr>
      </p:pic>
      <p:sp>
        <p:nvSpPr>
          <p:cNvPr id="6" name="AutoShape 6"/>
          <p:cNvSpPr/>
          <p:nvPr/>
        </p:nvSpPr>
        <p:spPr>
          <a:xfrm>
            <a:off x="664845" y="3754755"/>
            <a:ext cx="7245985" cy="1207135"/>
          </a:xfrm>
          <a:prstGeom prst="rect">
            <a:avLst/>
          </a:prstGeom>
          <a:noFill/>
          <a:ln w="12700" cap="flat">
            <a:solidFill>
              <a:srgbClr val="FFC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7" name="AutoShape 7"/>
          <p:cNvSpPr/>
          <p:nvPr/>
        </p:nvSpPr>
        <p:spPr>
          <a:xfrm>
            <a:off x="8154670" y="3931920"/>
            <a:ext cx="2770505" cy="64516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130" b="0" i="0" u="none" strike="noStrike">
                <a:solidFill>
                  <a:srgbClr val="ED7D31"/>
                </a:solidFill>
                <a:latin typeface="Calibri" panose="020F0502020204030204"/>
                <a:ea typeface="微软雅黑" panose="020B0503020204020204" charset="-122"/>
                <a:cs typeface="微软雅黑" panose="020B0503020204020204" charset="-122"/>
                <a:sym typeface="微软雅黑" panose="020B0503020204020204" charset="-122"/>
              </a:rPr>
              <a:t>Sélectionnez le code de référence approprié, puis cliquez sur Suivant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altLang="zh-CN" sz="3075">
                <a:solidFill>
                  <a:srgbClr val="000000"/>
                </a:solidFill>
                <a:ea typeface="黑体" panose="02010609060101010101" charset="-122"/>
                <a:cs typeface="黑体" panose="02010609060101010101" charset="-122"/>
                <a:sym typeface="黑体" panose="02010609060101010101" charset="-122"/>
              </a:rPr>
              <a:t>Exemple d'utilisation de KernelGen</a:t>
            </a:r>
            <a:endParaRPr lang="en-US" sz="3075"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2785110" y="1581150"/>
            <a:ext cx="6755130" cy="4596130"/>
          </a:xfrm>
          <a:prstGeom prst="rect">
            <a:avLst/>
          </a:prstGeom>
        </p:spPr>
      </p:pic>
      <p:sp>
        <p:nvSpPr>
          <p:cNvPr id="6" name="AutoShape 6"/>
          <p:cNvSpPr/>
          <p:nvPr/>
        </p:nvSpPr>
        <p:spPr>
          <a:xfrm>
            <a:off x="523875" y="1152525"/>
            <a:ext cx="5815330" cy="273685"/>
          </a:xfrm>
          <a:prstGeom prst="rect">
            <a:avLst/>
          </a:prstGeom>
          <a:noFill/>
          <a:ln w="12700">
            <a:noFill/>
            <a:prstDash val="solid"/>
          </a:ln>
        </p:spPr>
        <p:txBody>
          <a:bodyPr wrap="square" lIns="91440" tIns="45720" rIns="91440" bIns="45720" rtlCol="0" anchor="t">
            <a:spAutoFit/>
          </a:bodyPr>
          <a:lstStyle/>
          <a:p>
            <a:pPr indent="0" algn="l">
              <a:lnSpc>
                <a:spcPct val="108000"/>
              </a:lnSpc>
              <a:defRPr/>
            </a:pPr>
            <a:r>
              <a:rPr lang="en-US" altLang="zh-CN" sz="1100"/>
              <a:t>Remplissez les d</a:t>
            </a:r>
            <a:r>
              <a:rPr lang="en-US" altLang="en-US" sz="1100"/>
              <a:t>é</a:t>
            </a:r>
            <a:r>
              <a:rPr lang="en-US" altLang="zh-CN" sz="1100"/>
              <a:t>tails de l'op</a:t>
            </a:r>
            <a:r>
              <a:rPr lang="en-US" altLang="en-US" sz="1100"/>
              <a:t>é</a:t>
            </a:r>
            <a:r>
              <a:rPr lang="en-US" altLang="zh-CN" sz="1100"/>
              <a:t>rateur pour am</a:t>
            </a:r>
            <a:r>
              <a:rPr lang="en-US" altLang="en-US" sz="1100"/>
              <a:t>é</a:t>
            </a:r>
            <a:r>
              <a:rPr lang="en-US" altLang="zh-CN" sz="1100"/>
              <a:t>liorer encore le prompt :</a:t>
            </a:r>
            <a:endParaRPr lang="en-US" altLang="zh-CN" sz="1100"/>
          </a:p>
        </p:txBody>
      </p:sp>
      <p:sp>
        <p:nvSpPr>
          <p:cNvPr id="7" name="AutoShape 7"/>
          <p:cNvSpPr/>
          <p:nvPr/>
        </p:nvSpPr>
        <p:spPr>
          <a:xfrm>
            <a:off x="9472930" y="2423160"/>
            <a:ext cx="2407285" cy="52197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b="0" i="0" u="none" strike="noStrike">
                <a:solidFill>
                  <a:srgbClr val="ED7D31"/>
                </a:solidFill>
                <a:latin typeface="Calibri" panose="020F0502020204030204"/>
                <a:ea typeface="微软雅黑" panose="020B0503020204020204" charset="-122"/>
                <a:cs typeface="微软雅黑" panose="020B0503020204020204" charset="-122"/>
                <a:sym typeface="微软雅黑" panose="020B0503020204020204" charset="-122"/>
              </a:rPr>
              <a:t>Le nom de l'operateur doit etre en anglais</a:t>
            </a:r>
            <a:endParaRPr lang="en-US"/>
          </a:p>
        </p:txBody>
      </p:sp>
      <p:sp>
        <p:nvSpPr>
          <p:cNvPr id="8" name="AutoShape 8"/>
          <p:cNvSpPr/>
          <p:nvPr/>
        </p:nvSpPr>
        <p:spPr>
          <a:xfrm>
            <a:off x="594360" y="2016760"/>
            <a:ext cx="2029460" cy="1791335"/>
          </a:xfrm>
          <a:prstGeom prst="rect">
            <a:avLst/>
          </a:prstGeom>
          <a:noFill/>
          <a:ln w="12700">
            <a:noFill/>
            <a:prstDash val="solid"/>
          </a:ln>
        </p:spPr>
        <p:txBody>
          <a:bodyPr wrap="square" lIns="91440" tIns="45720" rIns="91440" bIns="45720" rtlCol="0" anchor="t">
            <a:noAutofit/>
          </a:bodyPr>
          <a:lstStyle/>
          <a:p>
            <a:pPr indent="0" algn="l">
              <a:lnSpc>
                <a:spcPct val="117000"/>
              </a:lnSpc>
              <a:defRPr/>
            </a:pPr>
            <a:r>
              <a:rPr lang="en-US" altLang="zh-CN" b="0" i="0" u="none" strike="noStrike">
                <a:solidFill>
                  <a:srgbClr val="ED7D31"/>
                </a:solidFill>
                <a:latin typeface="Calibri" panose="020F0502020204030204"/>
                <a:ea typeface="微软雅黑" panose="020B0503020204020204" charset="-122"/>
                <a:cs typeface="微软雅黑" panose="020B0503020204020204" charset="-122"/>
                <a:sym typeface="微软雅黑" panose="020B0503020204020204" charset="-122"/>
              </a:rPr>
              <a:t>Les appareils d'</a:t>
            </a:r>
            <a:r>
              <a:rPr lang="en-US" altLang="en-US" b="0" i="0" u="none" strike="noStrike">
                <a:solidFill>
                  <a:srgbClr val="ED7D31"/>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ED7D31"/>
                </a:solidFill>
                <a:latin typeface="Calibri" panose="020F0502020204030204"/>
                <a:ea typeface="微软雅黑" panose="020B0503020204020204" charset="-122"/>
                <a:cs typeface="微软雅黑" panose="020B0503020204020204" charset="-122"/>
                <a:sym typeface="微软雅黑" panose="020B0503020204020204" charset="-122"/>
              </a:rPr>
              <a:t>valuation prennent actuellement en charge NVIDIA, Tianshu, Haiguang, Huawei et Moore Threads.</a:t>
            </a:r>
            <a:endParaRPr lang="en-US"/>
          </a:p>
        </p:txBody>
      </p:sp>
      <p:sp>
        <p:nvSpPr>
          <p:cNvPr id="9" name="AutoShape 9"/>
          <p:cNvSpPr/>
          <p:nvPr/>
        </p:nvSpPr>
        <p:spPr>
          <a:xfrm>
            <a:off x="594360" y="4070350"/>
            <a:ext cx="2028825" cy="2106930"/>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Plus d'it</a:t>
            </a:r>
            <a:r>
              <a:rPr lang="en-US" altLang="en-US" b="0" i="0" u="none" strike="noStrike">
                <a:solidFill>
                  <a:srgbClr val="ED7D31"/>
                </a:solidFill>
                <a:latin typeface="Calibri" panose="020F0502020204030204"/>
                <a:ea typeface="Arial" panose="020B0604020202020204"/>
                <a:cs typeface="Arial" panose="020B0604020202020204"/>
                <a:sym typeface="Arial" panose="020B0604020202020204"/>
              </a:rPr>
              <a:t>é</a:t>
            </a: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rations, meilleure est la performance de l'op</a:t>
            </a:r>
            <a:r>
              <a:rPr lang="en-US" altLang="en-US" b="0" i="0" u="none" strike="noStrike">
                <a:solidFill>
                  <a:srgbClr val="ED7D31"/>
                </a:solidFill>
                <a:latin typeface="Calibri" panose="020F0502020204030204"/>
                <a:ea typeface="Arial" panose="020B0604020202020204"/>
                <a:cs typeface="Arial" panose="020B0604020202020204"/>
                <a:sym typeface="Arial" panose="020B0604020202020204"/>
              </a:rPr>
              <a:t>é</a:t>
            </a: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rateur g</a:t>
            </a:r>
            <a:r>
              <a:rPr lang="en-US" altLang="en-US" b="0" i="0" u="none" strike="noStrike">
                <a:solidFill>
                  <a:srgbClr val="ED7D31"/>
                </a:solidFill>
                <a:latin typeface="Calibri" panose="020F0502020204030204"/>
                <a:ea typeface="Arial" panose="020B0604020202020204"/>
                <a:cs typeface="Arial" panose="020B0604020202020204"/>
                <a:sym typeface="Arial" panose="020B0604020202020204"/>
              </a:rPr>
              <a:t>é</a:t>
            </a: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n</a:t>
            </a:r>
            <a:r>
              <a:rPr lang="en-US" altLang="en-US" b="0" i="0" u="none" strike="noStrike">
                <a:solidFill>
                  <a:srgbClr val="ED7D31"/>
                </a:solidFill>
                <a:latin typeface="Calibri" panose="020F0502020204030204"/>
                <a:ea typeface="Arial" panose="020B0604020202020204"/>
                <a:cs typeface="Arial" panose="020B0604020202020204"/>
                <a:sym typeface="Arial" panose="020B0604020202020204"/>
              </a:rPr>
              <a:t>é</a:t>
            </a: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r</a:t>
            </a:r>
            <a:r>
              <a:rPr lang="en-US" altLang="en-US" b="0" i="0" u="none" strike="noStrike">
                <a:solidFill>
                  <a:srgbClr val="ED7D31"/>
                </a:solidFill>
                <a:latin typeface="Calibri" panose="020F0502020204030204"/>
                <a:ea typeface="Arial" panose="020B0604020202020204"/>
                <a:cs typeface="Arial" panose="020B0604020202020204"/>
                <a:sym typeface="Arial" panose="020B0604020202020204"/>
              </a:rPr>
              <a:t>é</a:t>
            </a: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 Pour les op</a:t>
            </a:r>
            <a:r>
              <a:rPr lang="en-US" altLang="en-US" b="0" i="0" u="none" strike="noStrike">
                <a:solidFill>
                  <a:srgbClr val="ED7D31"/>
                </a:solidFill>
                <a:latin typeface="Calibri" panose="020F0502020204030204"/>
                <a:ea typeface="Arial" panose="020B0604020202020204"/>
                <a:cs typeface="Arial" panose="020B0604020202020204"/>
                <a:sym typeface="Arial" panose="020B0604020202020204"/>
              </a:rPr>
              <a:t>é</a:t>
            </a: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rateurs simples, 1 it</a:t>
            </a:r>
            <a:r>
              <a:rPr lang="en-US" altLang="en-US" b="0" i="0" u="none" strike="noStrike">
                <a:solidFill>
                  <a:srgbClr val="ED7D31"/>
                </a:solidFill>
                <a:latin typeface="Calibri" panose="020F0502020204030204"/>
                <a:ea typeface="Arial" panose="020B0604020202020204"/>
                <a:cs typeface="Arial" panose="020B0604020202020204"/>
                <a:sym typeface="Arial" panose="020B0604020202020204"/>
              </a:rPr>
              <a:t>é</a:t>
            </a: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ration prend g</a:t>
            </a:r>
            <a:r>
              <a:rPr lang="en-US" altLang="en-US" b="0" i="0" u="none" strike="noStrike">
                <a:solidFill>
                  <a:srgbClr val="ED7D31"/>
                </a:solidFill>
                <a:latin typeface="Calibri" panose="020F0502020204030204"/>
                <a:ea typeface="Arial" panose="020B0604020202020204"/>
                <a:cs typeface="Arial" panose="020B0604020202020204"/>
                <a:sym typeface="Arial" panose="020B0604020202020204"/>
              </a:rPr>
              <a:t>é</a:t>
            </a: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n</a:t>
            </a:r>
            <a:r>
              <a:rPr lang="en-US" altLang="en-US" b="0" i="0" u="none" strike="noStrike">
                <a:solidFill>
                  <a:srgbClr val="ED7D31"/>
                </a:solidFill>
                <a:latin typeface="Calibri" panose="020F0502020204030204"/>
                <a:ea typeface="Arial" panose="020B0604020202020204"/>
                <a:cs typeface="Arial" panose="020B0604020202020204"/>
                <a:sym typeface="Arial" panose="020B0604020202020204"/>
              </a:rPr>
              <a:t>é</a:t>
            </a:r>
            <a:r>
              <a:rPr lang="en-US" altLang="zh-CN" b="0" i="0" u="none" strike="noStrike">
                <a:solidFill>
                  <a:srgbClr val="ED7D31"/>
                </a:solidFill>
                <a:latin typeface="Calibri" panose="020F0502020204030204"/>
                <a:ea typeface="Arial" panose="020B0604020202020204"/>
                <a:cs typeface="Arial" panose="020B0604020202020204"/>
                <a:sym typeface="Arial" panose="020B0604020202020204"/>
              </a:rPr>
              <a:t>ralement 2 à 3 minutes.</a:t>
            </a:r>
            <a:endParaRPr lang="en-US"/>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altLang="zh-CN">
                <a:solidFill>
                  <a:srgbClr val="000000"/>
                </a:solidFill>
                <a:ea typeface="黑体" panose="02010609060101010101" charset="-122"/>
                <a:cs typeface="黑体" panose="02010609060101010101" charset="-122"/>
                <a:sym typeface="黑体" panose="02010609060101010101" charset="-122"/>
              </a:rPr>
              <a:t>Exemple d'utilisation de KernelGen</a:t>
            </a:r>
            <a:endPar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1543685" y="1593215"/>
            <a:ext cx="9237345" cy="4584065"/>
          </a:xfrm>
          <a:prstGeom prst="rect">
            <a:avLst/>
          </a:prstGeom>
        </p:spPr>
      </p:pic>
      <p:sp>
        <p:nvSpPr>
          <p:cNvPr id="6" name="AutoShape 6"/>
          <p:cNvSpPr/>
          <p:nvPr/>
        </p:nvSpPr>
        <p:spPr>
          <a:xfrm>
            <a:off x="799465" y="1228725"/>
            <a:ext cx="10884535"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altLang="zh-CN" sz="1600"/>
              <a:t>Commencer à g</a:t>
            </a:r>
            <a:r>
              <a:rPr lang="en-US" altLang="en-US" sz="1600"/>
              <a:t>é</a:t>
            </a:r>
            <a:r>
              <a:rPr lang="en-US" altLang="zh-CN" sz="1600"/>
              <a:t>n</a:t>
            </a:r>
            <a:r>
              <a:rPr lang="en-US" altLang="en-US" sz="1600"/>
              <a:t>é</a:t>
            </a:r>
            <a:r>
              <a:rPr lang="en-US" altLang="zh-CN" sz="1600"/>
              <a:t>rer le noyau, l'impl</a:t>
            </a:r>
            <a:r>
              <a:rPr lang="en-US" altLang="en-US" sz="1600"/>
              <a:t>é</a:t>
            </a:r>
            <a:r>
              <a:rPr lang="en-US" altLang="zh-CN" sz="1600"/>
              <a:t>mentation CUDA, les cas de test de correction et les cas de test d’acc</a:t>
            </a:r>
            <a:r>
              <a:rPr lang="en-US" altLang="en-US" sz="1600"/>
              <a:t>é</a:t>
            </a:r>
            <a:r>
              <a:rPr lang="en-US" altLang="zh-CN" sz="1600"/>
              <a:t>l</a:t>
            </a:r>
            <a:r>
              <a:rPr lang="en-US" altLang="en-US" sz="1600"/>
              <a:t>é</a:t>
            </a:r>
            <a:r>
              <a:rPr lang="en-US" altLang="zh-CN" sz="1600"/>
              <a:t>ration:</a:t>
            </a:r>
            <a:endParaRPr lang="zh-CN" altLang="en-US" sz="160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altLang="zh-CN">
                <a:solidFill>
                  <a:srgbClr val="000000"/>
                </a:solidFill>
                <a:ea typeface="黑体" panose="02010609060101010101" charset="-122"/>
                <a:cs typeface="黑体" panose="02010609060101010101" charset="-122"/>
                <a:sym typeface="黑体" panose="02010609060101010101" charset="-122"/>
              </a:rPr>
              <a:t>Exemple d'utilisation de KernelGen</a:t>
            </a:r>
            <a:endPar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3385542" y="1323975"/>
            <a:ext cx="5554265" cy="4852988"/>
          </a:xfrm>
          <a:prstGeom prst="rect">
            <a:avLst/>
          </a:prstGeom>
        </p:spPr>
      </p:pic>
      <p:sp>
        <p:nvSpPr>
          <p:cNvPr id="6" name="AutoShape 6"/>
          <p:cNvSpPr/>
          <p:nvPr/>
        </p:nvSpPr>
        <p:spPr>
          <a:xfrm>
            <a:off x="799465" y="1228725"/>
            <a:ext cx="835469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kernel</a:t>
            </a:r>
            <a:r>
              <a:rPr lang="en-US" sz="18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a:t>
            </a:r>
            <a:r>
              <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 </a:t>
            </a:r>
            <a:endPar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523875" y="1631189"/>
            <a:ext cx="11277600" cy="4238560"/>
          </a:xfrm>
          <a:prstGeom prst="rect">
            <a:avLst/>
          </a:prstGeom>
        </p:spPr>
      </p:pic>
      <p:sp>
        <p:nvSpPr>
          <p:cNvPr id="6" name="AutoShape 6"/>
          <p:cNvSpPr/>
          <p:nvPr/>
        </p:nvSpPr>
        <p:spPr>
          <a:xfrm>
            <a:off x="799465" y="1228725"/>
            <a:ext cx="835469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CUDA</a:t>
            </a:r>
            <a:r>
              <a:rPr lang="en-US" sz="18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a:t>
            </a:r>
            <a:r>
              <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 </a:t>
            </a:r>
            <a:endPar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1518285" y="1755140"/>
            <a:ext cx="9288780" cy="4422140"/>
          </a:xfrm>
          <a:prstGeom prst="rect">
            <a:avLst/>
          </a:prstGeom>
        </p:spPr>
      </p:pic>
      <p:sp>
        <p:nvSpPr>
          <p:cNvPr id="6" name="AutoShape 6"/>
          <p:cNvSpPr/>
          <p:nvPr/>
        </p:nvSpPr>
        <p:spPr>
          <a:xfrm>
            <a:off x="1214120" y="1177290"/>
            <a:ext cx="3192780" cy="39878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altLang="zh-CN"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Cas de test de correction</a:t>
            </a:r>
            <a:r>
              <a:rPr lang="en-US"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a:t>
            </a:r>
            <a:r>
              <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 </a:t>
            </a:r>
            <a:endPar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2908381" y="1589405"/>
            <a:ext cx="6375238" cy="4852988"/>
          </a:xfrm>
          <a:prstGeom prst="rect">
            <a:avLst/>
          </a:prstGeom>
        </p:spPr>
      </p:pic>
      <p:sp>
        <p:nvSpPr>
          <p:cNvPr id="6" name="AutoShape 6"/>
          <p:cNvSpPr/>
          <p:nvPr/>
        </p:nvSpPr>
        <p:spPr>
          <a:xfrm>
            <a:off x="1111250" y="1221105"/>
            <a:ext cx="4584700" cy="39878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altLang="zh-CN"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cas de test d’acc</a:t>
            </a:r>
            <a:r>
              <a:rPr lang="en-US" altLang="en-US"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ration</a:t>
            </a:r>
            <a:r>
              <a:rPr lang="en-US"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a:t>
            </a:r>
            <a:r>
              <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rPr>
              <a:t> </a:t>
            </a:r>
            <a:endParaRPr lang="en-US" sz="3600" b="1" i="0" u="none" strike="noStrike">
              <a:solidFill>
                <a:srgbClr val="000000"/>
              </a:solidFill>
              <a:latin typeface="Calibri" panose="020F0502020204030204"/>
              <a:ea typeface="黑体" panose="02010609060101010101" charset="-122"/>
              <a:cs typeface="黑体" panose="02010609060101010101" charset="-122"/>
              <a:sym typeface="黑体" panose="02010609060101010101"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4911605" y="1323975"/>
            <a:ext cx="2502139" cy="4852988"/>
          </a:xfrm>
          <a:prstGeom prst="rect">
            <a:avLst/>
          </a:prstGeom>
        </p:spPr>
      </p:pic>
      <p:pic>
        <p:nvPicPr>
          <p:cNvPr id="6" name="Picture 6"/>
          <p:cNvPicPr>
            <a:picLocks noChangeAspect="1"/>
          </p:cNvPicPr>
          <p:nvPr/>
        </p:nvPicPr>
        <p:blipFill>
          <a:blip r:embed="rId2"/>
          <a:srcRect/>
          <a:stretch>
            <a:fillRect/>
          </a:stretch>
        </p:blipFill>
        <p:spPr>
          <a:xfrm>
            <a:off x="2988310" y="1132840"/>
            <a:ext cx="5493385" cy="5394325"/>
          </a:xfrm>
          <a:prstGeom prst="rect">
            <a:avLst/>
          </a:prstGeom>
          <a:ln w="12700">
            <a:noFill/>
            <a:prstDash val="solid"/>
          </a:ln>
        </p:spPr>
      </p:pic>
      <p:sp>
        <p:nvSpPr>
          <p:cNvPr id="7" name="AutoShape 7"/>
          <p:cNvSpPr/>
          <p:nvPr/>
        </p:nvSpPr>
        <p:spPr>
          <a:xfrm>
            <a:off x="137795" y="2072640"/>
            <a:ext cx="1584960" cy="1889760"/>
          </a:xfrm>
          <a:prstGeom prst="rect">
            <a:avLst/>
          </a:prstGeom>
          <a:noFill/>
          <a:ln w="12700">
            <a:noFill/>
            <a:prstDash val="solid"/>
          </a:ln>
        </p:spPr>
        <p:txBody>
          <a:bodyPr wrap="square" lIns="91440" tIns="45720" rIns="91440" bIns="45720" rtlCol="0" anchor="t">
            <a:spAutoFit/>
          </a:bodyPr>
          <a:lstStyle/>
          <a:p>
            <a:pPr indent="0" algn="l">
              <a:lnSpc>
                <a:spcPct val="133000"/>
              </a:lnSpc>
              <a:defRPr/>
            </a:pPr>
            <a:r>
              <a:rPr lang="en-US" sz="1800" b="0" i="0" u="none" strike="noStrike">
                <a:solidFill>
                  <a:srgbClr val="ED7D31"/>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100"/>
          </a:p>
        </p:txBody>
      </p:sp>
      <p:sp>
        <p:nvSpPr>
          <p:cNvPr id="8" name="AutoShape 8"/>
          <p:cNvSpPr/>
          <p:nvPr/>
        </p:nvSpPr>
        <p:spPr>
          <a:xfrm>
            <a:off x="9444355" y="1842770"/>
            <a:ext cx="2194560" cy="2486660"/>
          </a:xfrm>
          <a:prstGeom prst="rect">
            <a:avLst/>
          </a:prstGeom>
          <a:noFill/>
          <a:ln w="12700">
            <a:noFill/>
            <a:prstDash val="solid"/>
          </a:ln>
        </p:spPr>
        <p:txBody>
          <a:bodyPr wrap="square" lIns="91440" tIns="45720" rIns="91440" bIns="45720" rtlCol="0" anchor="t">
            <a:noAutofit/>
          </a:bodyPr>
          <a:lstStyle/>
          <a:p>
            <a:pPr algn="l">
              <a:lnSpc>
                <a:spcPct val="100000"/>
              </a:lnSpc>
              <a:buSzTx/>
            </a:pPr>
            <a:r>
              <a:rPr lang="en-US" altLang="zh-CN" sz="1800" b="0" i="0" u="none" strike="noStrike">
                <a:solidFill>
                  <a:schemeClr val="accent2"/>
                </a:solidFill>
                <a:sym typeface="微软雅黑" panose="020B0503020204020204" charset="-122"/>
              </a:rPr>
              <a:t>La consommation de temps sp</a:t>
            </a:r>
            <a:r>
              <a:rPr lang="en-US" altLang="en-US" sz="1800" b="0" i="0" u="none" strike="noStrike">
                <a:solidFill>
                  <a:schemeClr val="accent2"/>
                </a:solidFill>
                <a:sym typeface="微软雅黑" panose="020B0503020204020204" charset="-122"/>
              </a:rPr>
              <a:t>é</a:t>
            </a:r>
            <a:r>
              <a:rPr lang="en-US" altLang="zh-CN" sz="1800" b="0" i="0" u="none" strike="noStrike">
                <a:solidFill>
                  <a:schemeClr val="accent2"/>
                </a:solidFill>
                <a:sym typeface="微软雅黑" panose="020B0503020204020204" charset="-122"/>
              </a:rPr>
              <a:t>cifique du noyau et de l’impl</a:t>
            </a:r>
            <a:r>
              <a:rPr lang="en-US" altLang="en-US" sz="1800" b="0" i="0" u="none" strike="noStrike">
                <a:solidFill>
                  <a:schemeClr val="accent2"/>
                </a:solidFill>
                <a:sym typeface="微软雅黑" panose="020B0503020204020204" charset="-122"/>
              </a:rPr>
              <a:t>é</a:t>
            </a:r>
            <a:r>
              <a:rPr lang="en-US" altLang="zh-CN" sz="1800" b="0" i="0" u="none" strike="noStrike">
                <a:solidFill>
                  <a:schemeClr val="accent2"/>
                </a:solidFill>
                <a:sym typeface="微软雅黑" panose="020B0503020204020204" charset="-122"/>
              </a:rPr>
              <a:t>mentation CUDA correspondante pour diff</a:t>
            </a:r>
            <a:r>
              <a:rPr lang="en-US" altLang="en-US" sz="1800" b="0" i="0" u="none" strike="noStrike">
                <a:solidFill>
                  <a:schemeClr val="accent2"/>
                </a:solidFill>
                <a:sym typeface="微软雅黑" panose="020B0503020204020204" charset="-122"/>
              </a:rPr>
              <a:t>é</a:t>
            </a:r>
            <a:r>
              <a:rPr lang="en-US" altLang="zh-CN" sz="1800" b="0" i="0" u="none" strike="noStrike">
                <a:solidFill>
                  <a:schemeClr val="accent2"/>
                </a:solidFill>
                <a:sym typeface="微软雅黑" panose="020B0503020204020204" charset="-122"/>
              </a:rPr>
              <a:t>rents cas de test</a:t>
            </a:r>
            <a:r>
              <a:rPr lang="en-US" altLang="zh-CN" sz="1800" b="0" i="0" u="none" strike="noStrike">
                <a:solidFill>
                  <a:schemeClr val="accent2"/>
                </a:solidFill>
                <a:sym typeface="微软雅黑" panose="020B0503020204020204" charset="-122"/>
              </a:rPr>
              <a:t>. </a:t>
            </a:r>
            <a:endParaRPr lang="en-US" altLang="zh-CN" sz="1800">
              <a:solidFill>
                <a:schemeClr val="accent2"/>
              </a:solidFill>
            </a:endParaRPr>
          </a:p>
        </p:txBody>
      </p:sp>
      <p:sp>
        <p:nvSpPr>
          <p:cNvPr id="9" name="文本框 8"/>
          <p:cNvSpPr txBox="1"/>
          <p:nvPr/>
        </p:nvSpPr>
        <p:spPr>
          <a:xfrm>
            <a:off x="741680" y="1842770"/>
            <a:ext cx="1749425" cy="2663190"/>
          </a:xfrm>
          <a:prstGeom prst="rect">
            <a:avLst/>
          </a:prstGeom>
          <a:noFill/>
        </p:spPr>
        <p:txBody>
          <a:bodyPr wrap="square" rtlCol="0" anchor="t">
            <a:noAutofit/>
          </a:bodyPr>
          <a:p>
            <a:r>
              <a:rPr lang="en-US" altLang="zh-CN" sz="1800">
                <a:solidFill>
                  <a:schemeClr val="accent2"/>
                </a:solidFill>
                <a:sym typeface="+mn-ea"/>
              </a:rPr>
              <a:t>Apr</a:t>
            </a:r>
            <a:r>
              <a:rPr lang="en-US" altLang="en-US" sz="1800">
                <a:solidFill>
                  <a:schemeClr val="accent2"/>
                </a:solidFill>
                <a:sym typeface="+mn-ea"/>
              </a:rPr>
              <a:t>è</a:t>
            </a:r>
            <a:r>
              <a:rPr lang="en-US" altLang="zh-CN" sz="1800">
                <a:solidFill>
                  <a:schemeClr val="accent2"/>
                </a:solidFill>
                <a:sym typeface="+mn-ea"/>
              </a:rPr>
              <a:t>s chaque it</a:t>
            </a:r>
            <a:r>
              <a:rPr lang="en-US" altLang="en-US" sz="1800">
                <a:solidFill>
                  <a:schemeClr val="accent2"/>
                </a:solidFill>
                <a:sym typeface="+mn-ea"/>
              </a:rPr>
              <a:t>é</a:t>
            </a:r>
            <a:r>
              <a:rPr lang="en-US" altLang="zh-CN" sz="1800">
                <a:solidFill>
                  <a:schemeClr val="accent2"/>
                </a:solidFill>
                <a:sym typeface="+mn-ea"/>
              </a:rPr>
              <a:t>ration, vous pouvez choisir d’utiliser le code existant ou de le modifier manuellement et de le tester à nouveau</a:t>
            </a:r>
            <a:r>
              <a:rPr lang="en-US" altLang="zh-CN" sz="1800">
                <a:solidFill>
                  <a:schemeClr val="accent2"/>
                </a:solidFill>
                <a:sym typeface="+mn-ea"/>
              </a:rPr>
              <a:t>.</a:t>
            </a:r>
            <a:endParaRPr lang="en-US" altLang="zh-CN" sz="1800">
              <a:solidFill>
                <a:schemeClr val="accent2"/>
              </a:solidFill>
              <a:sym typeface="+mn-ea"/>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262626">
                    <a:alpha val="100000"/>
                  </a:srgbClr>
                </a:solidFill>
                <a:latin typeface="微软雅黑" panose="020B0503020204020204" charset="-122"/>
              </a:defRPr>
            </a:lvl1pPr>
          </a:lstStyle>
          <a:p>
            <a:pPr indent="0" algn="l">
              <a:lnSpc>
                <a:spcPct val="100000"/>
              </a:lnSpc>
            </a:pPr>
            <a:r>
              <a:rPr lang="en-US" sz="3600" b="1"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3600" b="1"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8" name="内容占位符 2"/>
          <p:cNvSpPr>
            <a:spLocks noGrp="1"/>
          </p:cNvSpPr>
          <p:nvPr/>
        </p:nvSpPr>
        <p:spPr>
          <a:xfrm>
            <a:off x="650874" y="1450975"/>
            <a:ext cx="11277601" cy="4852988"/>
          </a:xfrm>
          <a:prstGeom prst="rect">
            <a:avLst/>
          </a:prstGeom>
        </p:spPr>
        <p:txBody>
          <a:bodyPr vert="horz" lIns="91440" tIns="45720" rIns="91440" bIns="45720" rtlCol="0" anchor="t">
            <a:norm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a:lnSpc>
                <a:spcPct val="110000"/>
              </a:lnSpc>
            </a:pPr>
            <a:r>
              <a:rPr lang="en-US" altLang="zh-CN">
                <a:sym typeface="+mn-ea"/>
              </a:rPr>
              <a:t>Actuellement, KernelGen ne prend en charge que les invites en une seule </a:t>
            </a:r>
            <a:r>
              <a:rPr lang="en-US" altLang="en-US">
                <a:sym typeface="+mn-ea"/>
              </a:rPr>
              <a:t>é</a:t>
            </a:r>
            <a:r>
              <a:rPr lang="en-US" altLang="zh-CN">
                <a:sym typeface="+mn-ea"/>
              </a:rPr>
              <a:t>tape. Une nouvelle version sera publi</a:t>
            </a:r>
            <a:r>
              <a:rPr lang="en-US" altLang="en-US">
                <a:sym typeface="+mn-ea"/>
              </a:rPr>
              <a:t>é</a:t>
            </a:r>
            <a:r>
              <a:rPr lang="en-US" altLang="zh-CN">
                <a:sym typeface="+mn-ea"/>
              </a:rPr>
              <a:t>e ult</a:t>
            </a:r>
            <a:r>
              <a:rPr lang="en-US" altLang="en-US">
                <a:sym typeface="+mn-ea"/>
              </a:rPr>
              <a:t>é</a:t>
            </a:r>
            <a:r>
              <a:rPr lang="en-US" altLang="zh-CN">
                <a:sym typeface="+mn-ea"/>
              </a:rPr>
              <a:t>rieurement pour permettre des it</a:t>
            </a:r>
            <a:r>
              <a:rPr lang="en-US" altLang="en-US">
                <a:sym typeface="+mn-ea"/>
              </a:rPr>
              <a:t>é</a:t>
            </a:r>
            <a:r>
              <a:rPr lang="en-US" altLang="zh-CN">
                <a:sym typeface="+mn-ea"/>
              </a:rPr>
              <a:t>rations d’invites en plusieurs </a:t>
            </a:r>
            <a:r>
              <a:rPr lang="en-US" altLang="en-US">
                <a:sym typeface="+mn-ea"/>
              </a:rPr>
              <a:t>é</a:t>
            </a:r>
            <a:r>
              <a:rPr lang="en-US" altLang="zh-CN">
                <a:sym typeface="+mn-ea"/>
              </a:rPr>
              <a:t>tapes pour des cas de test sp</a:t>
            </a:r>
            <a:r>
              <a:rPr lang="en-US" altLang="en-US">
                <a:sym typeface="+mn-ea"/>
              </a:rPr>
              <a:t>é</a:t>
            </a:r>
            <a:r>
              <a:rPr lang="en-US" altLang="zh-CN">
                <a:sym typeface="+mn-ea"/>
              </a:rPr>
              <a:t>cifiques.</a:t>
            </a:r>
            <a:endParaRPr lang="en-US" altLang="zh-CN">
              <a:sym typeface="+mn-ea"/>
            </a:endParaRPr>
          </a:p>
          <a:p>
            <a:pPr>
              <a:lnSpc>
                <a:spcPct val="110000"/>
              </a:lnSpc>
            </a:pPr>
            <a:r>
              <a:rPr lang="en-US" altLang="zh-CN">
                <a:sym typeface="+mn-ea"/>
              </a:rPr>
              <a:t>Int</a:t>
            </a:r>
            <a:r>
              <a:rPr lang="en-US" altLang="en-US">
                <a:sym typeface="+mn-ea"/>
              </a:rPr>
              <a:t>é</a:t>
            </a:r>
            <a:r>
              <a:rPr lang="en-US" altLang="zh-CN">
                <a:sym typeface="+mn-ea"/>
              </a:rPr>
              <a:t>gration dans l’</a:t>
            </a:r>
            <a:r>
              <a:rPr lang="en-US" altLang="en-US">
                <a:sym typeface="+mn-ea"/>
              </a:rPr>
              <a:t>é</a:t>
            </a:r>
            <a:r>
              <a:rPr lang="en-US" altLang="zh-CN">
                <a:sym typeface="+mn-ea"/>
              </a:rPr>
              <a:t>cosyst</a:t>
            </a:r>
            <a:r>
              <a:rPr lang="en-US" altLang="en-US">
                <a:sym typeface="+mn-ea"/>
              </a:rPr>
              <a:t>è</a:t>
            </a:r>
            <a:r>
              <a:rPr lang="en-US" altLang="zh-CN">
                <a:sym typeface="+mn-ea"/>
              </a:rPr>
              <a:t>me FlagOS : des outils sp</a:t>
            </a:r>
            <a:r>
              <a:rPr lang="en-US" altLang="en-US">
                <a:sym typeface="+mn-ea"/>
              </a:rPr>
              <a:t>é</a:t>
            </a:r>
            <a:r>
              <a:rPr lang="en-US" altLang="zh-CN">
                <a:sym typeface="+mn-ea"/>
              </a:rPr>
              <a:t>cialis</a:t>
            </a:r>
            <a:r>
              <a:rPr lang="en-US" altLang="en-US">
                <a:sym typeface="+mn-ea"/>
              </a:rPr>
              <a:t>é</a:t>
            </a:r>
            <a:r>
              <a:rPr lang="en-US" altLang="zh-CN">
                <a:sym typeface="+mn-ea"/>
              </a:rPr>
              <a:t>s sont disponibles sur GitHub pour convertir le code g</a:t>
            </a:r>
            <a:r>
              <a:rPr lang="en-US" altLang="en-US">
                <a:sym typeface="+mn-ea"/>
              </a:rPr>
              <a:t>é</a:t>
            </a:r>
            <a:r>
              <a:rPr lang="en-US" altLang="zh-CN">
                <a:sym typeface="+mn-ea"/>
              </a:rPr>
              <a:t>n</a:t>
            </a:r>
            <a:r>
              <a:rPr lang="en-US" altLang="en-US">
                <a:sym typeface="+mn-ea"/>
              </a:rPr>
              <a:t>é</a:t>
            </a:r>
            <a:r>
              <a:rPr lang="en-US" altLang="zh-CN">
                <a:sym typeface="+mn-ea"/>
              </a:rPr>
              <a:t>r</a:t>
            </a:r>
            <a:r>
              <a:rPr lang="en-US" altLang="en-US">
                <a:sym typeface="+mn-ea"/>
              </a:rPr>
              <a:t>é</a:t>
            </a:r>
            <a:r>
              <a:rPr lang="en-US" altLang="zh-CN">
                <a:sym typeface="+mn-ea"/>
              </a:rPr>
              <a:t> par KernelGen au format FlagGems.</a:t>
            </a:r>
            <a:endParaRPr lang="en-US" altLang="zh-CN">
              <a:sym typeface="+mn-ea"/>
            </a:endParaRPr>
          </a:p>
          <a:p>
            <a:pPr>
              <a:lnSpc>
                <a:spcPct val="110000"/>
              </a:lnSpc>
            </a:pPr>
            <a:r>
              <a:rPr lang="en-US" altLang="zh-CN">
                <a:sym typeface="+mn-ea"/>
              </a:rPr>
              <a:t>KernelGen pr</a:t>
            </a:r>
            <a:r>
              <a:rPr lang="en-US" altLang="en-US">
                <a:sym typeface="+mn-ea"/>
              </a:rPr>
              <a:t>é</a:t>
            </a:r>
            <a:r>
              <a:rPr lang="en-US" altLang="zh-CN">
                <a:sym typeface="+mn-ea"/>
              </a:rPr>
              <a:t>voit officiellement d’int</a:t>
            </a:r>
            <a:r>
              <a:rPr lang="en-US" altLang="en-US">
                <a:sym typeface="+mn-ea"/>
              </a:rPr>
              <a:t>é</a:t>
            </a:r>
            <a:r>
              <a:rPr lang="en-US" altLang="zh-CN">
                <a:sym typeface="+mn-ea"/>
              </a:rPr>
              <a:t>grer KernelGen dans des IDE tels que VSCode d’ici la fin mars, ce qui simplifiera encore davantage le d</a:t>
            </a:r>
            <a:r>
              <a:rPr lang="en-US" altLang="en-US">
                <a:sym typeface="+mn-ea"/>
              </a:rPr>
              <a:t>é</a:t>
            </a:r>
            <a:r>
              <a:rPr lang="en-US" altLang="zh-CN">
                <a:sym typeface="+mn-ea"/>
              </a:rPr>
              <a:t>veloppement de noyaux</a:t>
            </a:r>
            <a:r>
              <a:rPr lang="en-US" altLang="zh-CN">
                <a:sym typeface="+mn-ea"/>
              </a:rPr>
              <a:t>.</a:t>
            </a:r>
            <a:endParaRPr lang="en-US" altLang="zh-CN">
              <a:sym typeface="+mn-ea"/>
            </a:endParaRPr>
          </a:p>
        </p:txBody>
      </p:sp>
      <p:sp>
        <p:nvSpPr>
          <p:cNvPr id="9" name="标题 1"/>
          <p:cNvSpPr>
            <a:spLocks noGrp="1"/>
          </p:cNvSpPr>
          <p:nvPr/>
        </p:nvSpPr>
        <p:spPr>
          <a:xfrm>
            <a:off x="868404" y="431629"/>
            <a:ext cx="9987507" cy="700925"/>
          </a:xfrm>
          <a:prstGeom prst="rect">
            <a:avLst/>
          </a:prstGeom>
        </p:spPr>
        <p:txBody>
          <a:bodyPr vert="horz" lIns="91440" tIns="45720" rIns="91440" bIns="45720" rtlCol="0" anchor="ctr">
            <a:noAutofit/>
          </a:bodyPr>
          <a:lst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b="1">
                <a:sym typeface="+mn-ea"/>
              </a:rPr>
              <a:t>Conseils</a:t>
            </a:r>
            <a:endParaRPr lang="en-US" altLang="zh-CN" b="1">
              <a:sym typeface="+mn-ea"/>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lnSpcReduction="10000"/>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42</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De la génération au déploiement</a:t>
            </a:r>
            <a:b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Intégration du code généré</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 de l'</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cosyst</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 FlagOS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https://docs.flagos.io/en/latest/overview.html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11277600" cy="159448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Philosophie de conception : </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couplage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Modele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Systeme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Puce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decouples,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Developper une fois, executer partout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KernelGen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(source intelligente) :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LLM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agent de generation et de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validation par tests</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FlagGems</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(bibliotheque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haute performance) :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biblioth</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 d'op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ralistes hautes performances bas</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sur Triton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FlagTree (moteur de compilation) : compilateur MLIR unifi</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connectant les 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à plus de dix types de puces h</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nes</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107690" y="3290570"/>
            <a:ext cx="6294755" cy="3246755"/>
          </a:xfrm>
          <a:prstGeom prst="rect">
            <a:avLst/>
          </a:prstGeom>
          <a:ln w="12700">
            <a:noFill/>
            <a:prstDash val="solid"/>
          </a:ln>
        </p:spPr>
      </p:pic>
      <p:sp>
        <p:nvSpPr>
          <p:cNvPr id="7" name="AutoShape 7"/>
          <p:cNvSpPr/>
          <p:nvPr/>
        </p:nvSpPr>
        <p:spPr>
          <a:xfrm>
            <a:off x="2839085" y="4561840"/>
            <a:ext cx="1993265" cy="1699260"/>
          </a:xfrm>
          <a:prstGeom prst="rect">
            <a:avLst/>
          </a:prstGeom>
          <a:noFill/>
          <a:ln w="381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 de FlagGems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466840" cy="5032375"/>
          </a:xfrm>
          <a:prstGeom prst="rect">
            <a:avLst/>
          </a:prstGeom>
        </p:spPr>
        <p:txBody>
          <a:bodyPr wrap="square" lIns="91440" tIns="45720" rIns="91440" bIns="45720" anchor="t">
            <a:normAutofit lnSpcReduction="10000"/>
          </a:bodyPr>
          <a:lstStyle>
            <a:lvl1pPr algn="l">
              <a:lnSpc>
                <a:spcPct val="92000"/>
              </a:lnSpc>
              <a:defRPr sz="2100" b="0" i="0" u="none" strike="noStrike" spc="0">
                <a:solidFill>
                  <a:srgbClr val="404040">
                    <a:alpha val="100000"/>
                  </a:srgbClr>
                </a:solidFill>
                <a:latin typeface="Calibri" panose="020F0502020204030204"/>
              </a:defRPr>
            </a:lvl1pPr>
          </a:lstStyle>
          <a:p>
            <a:pPr marL="266700" indent="-266700" algn="l">
              <a:lnSpc>
                <a:spcPct val="92000"/>
              </a:lnSpc>
              <a:spcBef>
                <a:spcPts val="1500"/>
              </a:spcBef>
              <a:buClr>
                <a:srgbClr val="404040"/>
              </a:buClr>
              <a:buChar char="•"/>
            </a:pPr>
            <a:r>
              <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alt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a:t>
            </a: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unification multi-materiel :</a:t>
            </a:r>
            <a:endPar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natif de CUDA, MLU, XPU, NPU et de 10+ backends mat</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riels</a:t>
            </a:r>
            <a:endParaRPr 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92000"/>
              </a:lnSpc>
              <a:spcBef>
                <a:spcPts val="1500"/>
              </a:spcBef>
              <a:buClr>
                <a:srgbClr val="404040"/>
              </a:buClr>
              <a:buChar char="•"/>
            </a:pP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haute performance</a:t>
            </a: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matricielles, m</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canismes d'attention, normalisation, fonctions d'activation et autres op</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cl</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pour l'entra</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 et l'inf</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a:t>
            </a:r>
            <a:endParaRPr 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92000"/>
              </a:lnSpc>
              <a:spcBef>
                <a:spcPts val="1500"/>
              </a:spcBef>
              <a:buClr>
                <a:srgbClr val="404040"/>
              </a:buClr>
              <a:buChar char="•"/>
            </a:pPr>
            <a:r>
              <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rPr>
              <a:t>LibEntry </a:t>
            </a: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cache de noyaux :</a:t>
            </a:r>
            <a:endPar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d'ordonnancement propre rempla</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ant l'Autotuner natif de Triton, r</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significativement le co</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compilation initiale et la latence de dispatch</a:t>
            </a:r>
            <a:endParaRPr 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92000"/>
              </a:lnSpc>
              <a:spcBef>
                <a:spcPts val="1500"/>
              </a:spcBef>
              <a:buClr>
                <a:srgbClr val="404040"/>
              </a:buClr>
              <a:buChar char="•"/>
            </a:pP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ploiement double mode</a:t>
            </a: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package Python pur (validation rapide) et extension C++ (acc</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en production) à basculement libre. La voie C++ </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limine le co</a:t>
            </a:r>
            <a:r>
              <a:rPr lang="en-US" alt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la trame d'appel Python.</a:t>
            </a:r>
            <a:endParaRPr lang="en-US" sz="13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92000"/>
              </a:lnSpc>
              <a:spcBef>
                <a:spcPts val="1500"/>
              </a:spcBef>
              <a:buClr>
                <a:srgbClr val="404040"/>
              </a:buClr>
              <a:buChar char="•"/>
            </a:pP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pilot</a:t>
            </a:r>
            <a:r>
              <a:rPr lang="en-US" alt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 configuration</a:t>
            </a: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370" b="0" i="0" u="none" strike="noStrike">
                <a:solidFill>
                  <a:srgbClr val="404040"/>
                </a:solidFill>
                <a:latin typeface="Calibri" panose="020F0502020204030204"/>
                <a:ea typeface="Calibri" panose="020F0502020204030204"/>
                <a:cs typeface="Calibri" panose="020F0502020204030204"/>
                <a:sym typeface="Calibri" panose="020F0502020204030204"/>
              </a:rPr>
              <a:t>LibTuner recherche automatiquement les hyperparam</a:t>
            </a:r>
            <a:r>
              <a:rPr lang="en-US" altLang="en-US" sz="137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370" b="0" i="0" u="none" strike="noStrike">
                <a:solidFill>
                  <a:srgbClr val="404040"/>
                </a:solidFill>
                <a:latin typeface="Calibri" panose="020F0502020204030204"/>
                <a:ea typeface="Calibri" panose="020F0502020204030204"/>
                <a:cs typeface="Calibri" panose="020F0502020204030204"/>
                <a:sym typeface="Calibri" panose="020F0502020204030204"/>
              </a:rPr>
              <a:t>tres optimaux et les persist</a:t>
            </a:r>
            <a:r>
              <a:rPr lang="en-US" altLang="en-US" sz="13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370" b="0" i="0" u="none" strike="noStrike">
                <a:solidFill>
                  <a:srgbClr val="404040"/>
                </a:solidFill>
                <a:latin typeface="Calibri" panose="020F0502020204030204"/>
                <a:ea typeface="Calibri" panose="020F0502020204030204"/>
                <a:cs typeface="Calibri" panose="020F0502020204030204"/>
                <a:sym typeface="Calibri" panose="020F0502020204030204"/>
              </a:rPr>
              <a:t> en YAML, r</a:t>
            </a:r>
            <a:r>
              <a:rPr lang="en-US" altLang="en-US" sz="13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370" b="0" i="0" u="none" strike="noStrike">
                <a:solidFill>
                  <a:srgbClr val="404040"/>
                </a:solidFill>
                <a:latin typeface="Calibri" panose="020F0502020204030204"/>
                <a:ea typeface="Calibri" panose="020F0502020204030204"/>
                <a:cs typeface="Calibri" panose="020F0502020204030204"/>
                <a:sym typeface="Calibri" panose="020F0502020204030204"/>
              </a:rPr>
              <a:t>utilisation directe au d</a:t>
            </a:r>
            <a:r>
              <a:rPr lang="en-US" altLang="en-US" sz="13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370" b="0" i="0" u="none" strike="noStrike">
                <a:solidFill>
                  <a:srgbClr val="404040"/>
                </a:solidFill>
                <a:latin typeface="Calibri" panose="020F0502020204030204"/>
                <a:ea typeface="Calibri" panose="020F0502020204030204"/>
                <a:cs typeface="Calibri" panose="020F0502020204030204"/>
                <a:sym typeface="Calibri" panose="020F0502020204030204"/>
              </a:rPr>
              <a:t>marrage à froid, sans avoir à refaire le benchmark.</a:t>
            </a:r>
            <a:endParaRPr lang="en-US" sz="137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90715" y="1323975"/>
            <a:ext cx="4810760" cy="47218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Enregistrement et distribution des op</a:t>
            </a:r>
            <a:r>
              <a:rPr lang="en-US" altLang="en-US"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 FlagGems</a:t>
            </a:r>
            <a:endParaRPr lang="en-US" sz="27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204585" cy="5017770"/>
          </a:xfrm>
          <a:prstGeom prst="rect">
            <a:avLst/>
          </a:prstGeom>
        </p:spPr>
        <p:txBody>
          <a:bodyPr wrap="square" lIns="91440" tIns="45720" rIns="91440" bIns="45720" anchor="t">
            <a:normAutofit/>
          </a:bodyPr>
          <a:lstStyle>
            <a:lvl1pPr algn="l">
              <a:lnSpc>
                <a:spcPct val="100000"/>
              </a:lnSpc>
              <a:defRPr sz="2400" b="0" i="0" u="none" strike="noStrike" spc="0">
                <a:solidFill>
                  <a:srgbClr val="0F172A">
                    <a:alpha val="100000"/>
                  </a:srgbClr>
                </a:solidFill>
                <a:latin typeface="Calibri" panose="020F0502020204030204"/>
              </a:defRPr>
            </a:lvl1pPr>
          </a:lstStyle>
          <a:p>
            <a:pPr marL="304800" indent="-304800" algn="l">
              <a:lnSpc>
                <a:spcPct val="100000"/>
              </a:lnSpc>
              <a:spcBef>
                <a:spcPts val="1500"/>
              </a:spcBef>
              <a:buClr>
                <a:srgbClr val="0F172A"/>
              </a:buClr>
              <a:buChar char="•"/>
            </a:pPr>
            <a:r>
              <a:rPr lang="en-US" sz="2055" b="0" i="0" u="none" strike="noStrike">
                <a:solidFill>
                  <a:srgbClr val="0F172A"/>
                </a:solidFill>
                <a:latin typeface="Calibri" panose="020F0502020204030204"/>
                <a:ea typeface="Calibri" panose="020F0502020204030204"/>
                <a:cs typeface="Calibri" panose="020F0502020204030204"/>
                <a:sym typeface="Calibri" panose="020F0502020204030204"/>
              </a:rPr>
              <a:t>Appel utilisateur</a:t>
            </a:r>
            <a:endParaRPr lang="en-US" sz="2055" b="0" i="0" u="none" strike="noStrike">
              <a:solidFill>
                <a:srgbClr val="0F172A"/>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rPr>
              <a:t>flag_gems.enable() </a:t>
            </a:r>
            <a:r>
              <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rPr>
              <a:t> flag_gems.use_gems()</a:t>
            </a:r>
            <a:endPar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15"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171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15" b="0" i="0" u="none" strike="noStrike">
                <a:solidFill>
                  <a:srgbClr val="404040"/>
                </a:solidFill>
                <a:latin typeface="Calibri" panose="020F0502020204030204"/>
                <a:ea typeface="Calibri" panose="020F0502020204030204"/>
                <a:cs typeface="Calibri" panose="020F0502020204030204"/>
                <a:sym typeface="Calibri" panose="020F0502020204030204"/>
              </a:rPr>
              <a:t>clenche l'initialisation du module, parcourt ops/init.p</a:t>
            </a:r>
            <a:r>
              <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rPr>
              <a:t>y</a:t>
            </a:r>
            <a:endPar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0F172A"/>
              </a:buClr>
              <a:buChar char="•"/>
            </a:pPr>
            <a:r>
              <a:rPr lang="en-US" sz="2055" b="0" i="0" u="none" strike="noStrike">
                <a:solidFill>
                  <a:srgbClr val="0F172A"/>
                </a:solidFill>
                <a:latin typeface="Calibri" panose="020F0502020204030204"/>
                <a:ea typeface="Calibri" panose="020F0502020204030204"/>
                <a:cs typeface="Calibri" panose="020F0502020204030204"/>
                <a:sym typeface="Calibri" panose="020F0502020204030204"/>
              </a:rPr>
              <a:t>Enregistrement Library</a:t>
            </a:r>
            <a:endParaRPr lang="en-US" sz="2055" b="0" i="0" u="none" strike="noStrike">
              <a:solidFill>
                <a:srgbClr val="0F172A"/>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rPr>
              <a:t>torch.library.Library("aten", "IMPL")</a:t>
            </a:r>
            <a:endPar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Selon la cl</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dispatch (CUDA/XPU…), enregistre l'impl</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a:t>
            </a:r>
            <a:endPar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0F172A"/>
              </a:buClr>
              <a:buChar char="•"/>
            </a:pPr>
            <a:r>
              <a:rPr lang="en-US" sz="2055" b="0" i="0" u="none" strike="noStrike">
                <a:solidFill>
                  <a:srgbClr val="0F172A"/>
                </a:solidFill>
                <a:latin typeface="Calibri" panose="020F0502020204030204"/>
                <a:ea typeface="Calibri" panose="020F0502020204030204"/>
                <a:cs typeface="Calibri" panose="020F0502020204030204"/>
                <a:sym typeface="Calibri" panose="020F0502020204030204"/>
              </a:rPr>
              <a:t>TORCH_LIBRARY_IMPL</a:t>
            </a:r>
            <a:endParaRPr lang="en-US" sz="2055" b="0" i="0" u="none" strike="noStrike">
              <a:solidFill>
                <a:srgbClr val="0F172A"/>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Côt</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 : aten::mm </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mm, aten::add.Tensor </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add, remplace l'impl</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par d</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faut dans la table des op</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ATen.</a:t>
            </a:r>
            <a:endPar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0F172A"/>
              </a:buClr>
              <a:buChar char="•"/>
            </a:pPr>
            <a:r>
              <a:rPr lang="en-US" sz="2055" b="0" i="0" u="none" strike="noStrike">
                <a:solidFill>
                  <a:srgbClr val="0F172A"/>
                </a:solidFill>
                <a:latin typeface="Calibri" panose="020F0502020204030204"/>
                <a:ea typeface="Calibri" panose="020F0502020204030204"/>
                <a:cs typeface="Calibri" panose="020F0502020204030204"/>
                <a:sym typeface="Calibri" panose="020F0502020204030204"/>
              </a:rPr>
              <a:t>Routage ATen Dispatcher</a:t>
            </a:r>
            <a:endParaRPr lang="en-US" sz="2055" b="0" i="0" u="none" strike="noStrike">
              <a:solidFill>
                <a:srgbClr val="0F172A"/>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334155"/>
              </a:buClr>
              <a:buChar char="•"/>
            </a:pPr>
            <a:r>
              <a:rPr lang="en-US" sz="1715" b="0" i="0" u="none" strike="noStrike">
                <a:solidFill>
                  <a:srgbClr val="334155"/>
                </a:solidFill>
                <a:latin typeface="Calibri" panose="020F0502020204030204"/>
                <a:ea typeface="Calibri" panose="020F0502020204030204"/>
                <a:cs typeface="Calibri" panose="020F0502020204030204"/>
                <a:sym typeface="Calibri" panose="020F0502020204030204"/>
              </a:rPr>
              <a:t>Décision config.aten_patch_list</a:t>
            </a:r>
            <a:endParaRPr lang="en-US" sz="1715" b="0" i="0" u="none" strike="noStrike">
              <a:solidFill>
                <a:srgbClr val="334155"/>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28460" y="1334135"/>
            <a:ext cx="5073015" cy="4843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FlagGems : enregistrement et dispatch des op</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 source Triton (.py)</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92000"/>
              </a:lnSpc>
              <a:spcBef>
                <a:spcPts val="75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op</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sont </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crits en Triton DSL (ops/mm.py, ops/attention.py, etc.</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92000"/>
              </a:lnSpc>
              <a:spcBef>
                <a:spcPts val="75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corateur @triton.jit marquant le point d'entr</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compilation JIT</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1990" b="0" i="0" u="none" strike="noStrike">
                <a:solidFill>
                  <a:srgbClr val="404040"/>
                </a:solidFill>
                <a:latin typeface="Calibri" panose="020F0502020204030204"/>
                <a:ea typeface="Calibri" panose="020F0502020204030204"/>
                <a:cs typeface="Calibri" panose="020F0502020204030204"/>
                <a:sym typeface="Calibri" panose="020F0502020204030204"/>
              </a:rPr>
              <a:t>@libentry() </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décorateur</a:t>
            </a:r>
            <a:r>
              <a:rPr lang="en-US" sz="199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remplace</a:t>
            </a:r>
            <a:r>
              <a:rPr lang="en-US" sz="1990" b="0" i="0" u="none" strike="noStrike">
                <a:solidFill>
                  <a:srgbClr val="404040"/>
                </a:solidFill>
                <a:latin typeface="Calibri" panose="020F0502020204030204"/>
                <a:ea typeface="Calibri" panose="020F0502020204030204"/>
                <a:cs typeface="Calibri" panose="020F0502020204030204"/>
                <a:sym typeface="Calibri" panose="020F0502020204030204"/>
              </a:rPr>
              <a:t> Autotuner</a:t>
            </a:r>
            <a:endParaRPr lang="en-US" sz="199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92000"/>
              </a:lnSpc>
              <a:spcBef>
                <a:spcPts val="75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LibEntry g</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ind</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pendamment le kernel_cache, contournant l'Autotuner natif de Triton à l'ex</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premier appel d</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clenche la compilation JIT, LibEntry g</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un cache ind</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 pour </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le surco</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l'Autotuner</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92000"/>
              </a:lnSpc>
              <a:spcBef>
                <a:spcPts val="75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@triton.jit </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Triton Compiler </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PTX / ISA (selon le backend</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92000"/>
              </a:lnSpc>
              <a:spcBef>
                <a:spcPts val="75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r</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de compilation sont mis en cache dans le kernel_cache, les appels suivants sont directement servi</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1990" b="0" i="0" u="none" strike="noStrike">
                <a:solidFill>
                  <a:srgbClr val="404040"/>
                </a:solidFill>
                <a:latin typeface="Calibri" panose="020F0502020204030204"/>
                <a:ea typeface="Calibri" panose="020F0502020204030204"/>
                <a:cs typeface="Calibri" panose="020F0502020204030204"/>
                <a:sym typeface="Calibri" panose="020F0502020204030204"/>
              </a:rPr>
              <a:t>LibTuner — </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recherche d'hyperparamètres</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92000"/>
              </a:lnSpc>
              <a:spcBef>
                <a:spcPts val="75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BenchmarkCache enregistre BLOCK_M/N/K, num_warps, stages et autres configurations optimale</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p>
          <a:p>
            <a:pPr indent="0" algn="l">
              <a:lnSpc>
                <a:spcPct val="92000"/>
              </a:lnSpc>
              <a:spcBef>
                <a:spcPts val="1500"/>
              </a:spcBef>
            </a:pPr>
            <a:r>
              <a:rPr lang="en-US" sz="199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9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680" y="5811520"/>
            <a:ext cx="10874375" cy="365760"/>
          </a:xfrm>
          <a:prstGeom prst="rect">
            <a:avLst/>
          </a:prstGeom>
          <a:solidFill>
            <a:srgbClr val="8B0012">
              <a:alpha val="100000"/>
            </a:srgbClr>
          </a:solidFill>
          <a:ln w="12700">
            <a:noFill/>
            <a:prstDash val="solid"/>
          </a:ln>
          <a:effectLst>
            <a:outerShdw blurRad="101600" dist="38100" dir="8100000" algn="bl" rotWithShape="0">
              <a:srgbClr val="000000">
                <a:alpha val="18000"/>
              </a:srgbClr>
            </a:outerShdw>
          </a:effectLst>
        </p:spPr>
        <p:txBody>
          <a:bodyPr wrap="square" lIns="91440" tIns="45720" rIns="91440" bIns="45720" rtlCol="0" anchor="t">
            <a:noAutofit/>
          </a:bodyPr>
          <a:lstStyle/>
          <a:p>
            <a:pPr algn="ctr">
              <a:defRPr/>
            </a:pPr>
          </a:p>
        </p:txBody>
      </p:sp>
      <p:sp>
        <p:nvSpPr>
          <p:cNvPr id="7" name="AutoShape 7"/>
          <p:cNvSpPr/>
          <p:nvPr/>
        </p:nvSpPr>
        <p:spPr>
          <a:xfrm>
            <a:off x="787400" y="5811520"/>
            <a:ext cx="10758805" cy="36576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85" b="1" i="0" u="none" strike="noStrike">
                <a:solidFill>
                  <a:srgbClr val="FFFFFF"/>
                </a:solidFill>
                <a:latin typeface="Calibri" panose="020F0502020204030204"/>
                <a:ea typeface="Calibri" panose="020F0502020204030204"/>
                <a:cs typeface="Calibri" panose="020F0502020204030204"/>
                <a:sym typeface="Calibri" panose="020F0502020204030204"/>
              </a:rPr>
              <a:t>★  1er appel → Compilation Triton JIT (lent)    |    Appels suivants → kernel_cache servi directement (rapide)    |    Optimisation démarrage à froid : préchargement ConfigCache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FlagGems : chargement à l'ex</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cution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478282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[PY]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Python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pur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Pure Package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pip install flaggems (sans compilation C++</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ops/init.py : enregistrement via torch.library</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Dispatch : pile d'appels Python (chemin Python)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 pour validation rapide / environnement de test Cl</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 trames d'appel Python + contention du GIL</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581140" y="1327785"/>
            <a:ext cx="5464175" cy="485330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 Extension C++ (avec runtime C++</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pip install flaggems[cpp] (compile cstub.cpp</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lib/cstub.cpp -&gt; enregistrement via la macro TORCH_LIBRARY_IMPL</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Dispatch : chemin C++ (pointeurs de fonction), z</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 co</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Python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 pour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ploiement en production / acc</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d'inf</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significativement la latence de dispatch des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courts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5589905" y="2496820"/>
            <a:ext cx="594360" cy="594360"/>
          </a:xfrm>
          <a:prstGeom prst="ellipse">
            <a:avLst/>
          </a:prstGeom>
          <a:solidFill>
            <a:srgbClr val="8B0012">
              <a:alpha val="100000"/>
            </a:srgbClr>
          </a:solidFill>
          <a:ln w="12700">
            <a:noFill/>
            <a:prstDash val="solid"/>
          </a:ln>
          <a:effectLst>
            <a:outerShdw blurRad="101600" dist="38100" dir="8100000" algn="bl" rotWithShape="0">
              <a:srgbClr val="000000">
                <a:alpha val="18000"/>
              </a:srgbClr>
            </a:outerShdw>
          </a:effectLst>
        </p:spPr>
        <p:txBody>
          <a:bodyPr wrap="square" lIns="91440" tIns="45720" rIns="91440" bIns="45720" rtlCol="0" anchor="t">
            <a:noAutofit/>
          </a:bodyPr>
          <a:lstStyle/>
          <a:p>
            <a:pPr algn="ctr">
              <a:defRPr/>
            </a:pPr>
          </a:p>
        </p:txBody>
      </p:sp>
      <p:sp>
        <p:nvSpPr>
          <p:cNvPr id="8" name="AutoShape 8"/>
          <p:cNvSpPr/>
          <p:nvPr/>
        </p:nvSpPr>
        <p:spPr>
          <a:xfrm>
            <a:off x="5589905" y="2496820"/>
            <a:ext cx="594360" cy="594360"/>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300" b="1" i="0" u="none" strike="noStrike">
                <a:solidFill>
                  <a:srgbClr val="FFFFFF"/>
                </a:solidFill>
                <a:latin typeface="Calibri" panose="020F0502020204030204"/>
                <a:ea typeface="Calibri" panose="020F0502020204030204"/>
                <a:cs typeface="Calibri" panose="020F0502020204030204"/>
                <a:sym typeface="Calibri" panose="020F0502020204030204"/>
              </a:rPr>
              <a:t>VS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FlagTree : Vue d'ensemble du syst</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Compilateur unifi</a:t>
            </a:r>
            <a:r>
              <a:rPr lang="en-US" alt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d'op</a:t>
            </a:r>
            <a:r>
              <a:rPr lang="en-US" alt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AI multi-puces · Bas</a:t>
            </a:r>
            <a:r>
              <a:rPr lang="en-US" alt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a:t>
            </a:r>
            <a:r>
              <a:rPr lang="en-US" alt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cosyst</a:t>
            </a:r>
            <a:r>
              <a:rPr lang="en-US" alt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Triton &amp; MLIR</a:t>
            </a:r>
            <a:endPar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Backends support</a:t>
            </a:r>
            <a:r>
              <a:rPr lang="en-US" alt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(10+ principales IA nationales et internationales</a:t>
            </a: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NVIDIA</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Cambricon, Tsingmicro, Huawei Ascend, Moore Threads, etc.</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Plusieurs branches de versions de Triton (v3.1 à v3.5) maintenues en parall</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avec CI/CD ind</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 pour chaque backen</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741680" y="3359150"/>
            <a:ext cx="10964545" cy="2765907"/>
            <a:chOff x="741680" y="3359150"/>
            <a:chExt cx="10964545" cy="2765907"/>
          </a:xfrm>
        </p:grpSpPr>
        <p:sp>
          <p:nvSpPr>
            <p:cNvPr id="7" name="AutoShape 7"/>
            <p:cNvSpPr/>
            <p:nvPr/>
          </p:nvSpPr>
          <p:spPr>
            <a:xfrm>
              <a:off x="741680" y="3359150"/>
              <a:ext cx="2582578" cy="2765907"/>
            </a:xfrm>
            <a:prstGeom prst="rect">
              <a:avLst/>
            </a:prstGeom>
            <a:solidFill>
              <a:srgbClr val="FBF0F1">
                <a:alpha val="100000"/>
              </a:srgbClr>
            </a:solidFill>
            <a:ln w="25400">
              <a:solidFill>
                <a:srgbClr val="8B0012">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8" name="AutoShape 8"/>
            <p:cNvSpPr/>
            <p:nvPr/>
          </p:nvSpPr>
          <p:spPr>
            <a:xfrm>
              <a:off x="741680" y="3359150"/>
              <a:ext cx="2582578" cy="176428"/>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74168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Calibri" panose="020F0502020204030204"/>
                  <a:ea typeface="Arial" panose="020B0604020202020204"/>
                  <a:cs typeface="Arial" panose="020B0604020202020204"/>
                  <a:sym typeface="Arial" panose="020B0604020202020204"/>
                </a:rPr>
                <a:t>Frontend Python</a:t>
              </a:r>
              <a:endParaRPr lang="en-US" sz="1100"/>
            </a:p>
          </p:txBody>
        </p:sp>
        <p:sp>
          <p:nvSpPr>
            <p:cNvPr id="10" name="AutoShape 10"/>
            <p:cNvSpPr/>
            <p:nvPr/>
          </p:nvSpPr>
          <p:spPr>
            <a:xfrm>
              <a:off x="74168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Calibri" panose="020F0502020204030204"/>
                  <a:ea typeface="Arial" panose="020B0604020202020204"/>
                  <a:cs typeface="Arial" panose="020B0604020202020204"/>
                  <a:sym typeface="Arial" panose="020B0604020202020204"/>
                </a:rPr>
                <a:t>@triton.jit</a:t>
              </a:r>
              <a:endParaRPr lang="en-US" sz="1100"/>
            </a:p>
            <a:p>
              <a:pPr indent="0" algn="ctr">
                <a:lnSpc>
                  <a:spcPct val="100000"/>
                </a:lnSpc>
              </a:pPr>
              <a:r>
                <a:rPr lang="en-US" sz="1600" b="1" i="0" u="none" strike="noStrike">
                  <a:solidFill>
                    <a:srgbClr val="7A6065"/>
                  </a:solidFill>
                  <a:latin typeface="Calibri" panose="020F0502020204030204"/>
                  <a:ea typeface="Arial" panose="020B0604020202020204"/>
                  <a:cs typeface="Arial" panose="020B0604020202020204"/>
                  <a:sym typeface="Arial" panose="020B0604020202020204"/>
                </a:rPr>
                <a:t>FlagGems LibEntry</a:t>
              </a:r>
              <a:endParaRPr lang="en-US" sz="1600" b="1" i="0" u="none" strike="noStrike">
                <a:solidFill>
                  <a:srgbClr val="7A6065"/>
                </a:solidFill>
                <a:latin typeface="Calibri" panose="020F0502020204030204"/>
                <a:ea typeface="Arial" panose="020B0604020202020204"/>
                <a:cs typeface="Arial" panose="020B0604020202020204"/>
                <a:sym typeface="Arial" panose="020B0604020202020204"/>
              </a:endParaRPr>
            </a:p>
          </p:txBody>
        </p:sp>
        <p:sp>
          <p:nvSpPr>
            <p:cNvPr id="11" name="AutoShape 11"/>
            <p:cNvSpPr/>
            <p:nvPr/>
          </p:nvSpPr>
          <p:spPr>
            <a:xfrm>
              <a:off x="332425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2" name="AutoShape 12"/>
            <p:cNvSpPr/>
            <p:nvPr/>
          </p:nvSpPr>
          <p:spPr>
            <a:xfrm>
              <a:off x="3465289"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65" b="1" i="0" u="none" strike="noStrike">
                  <a:solidFill>
                    <a:srgbClr val="7A6065"/>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p:txBody>
        </p:sp>
        <p:sp>
          <p:nvSpPr>
            <p:cNvPr id="13" name="AutoShape 13"/>
            <p:cNvSpPr/>
            <p:nvPr/>
          </p:nvSpPr>
          <p:spPr>
            <a:xfrm>
              <a:off x="3535397" y="3359150"/>
              <a:ext cx="2582578" cy="2765907"/>
            </a:xfrm>
            <a:prstGeom prst="rect">
              <a:avLst/>
            </a:prstGeom>
            <a:solidFill>
              <a:srgbClr val="FBF0F1">
                <a:alpha val="100000"/>
              </a:srgbClr>
            </a:solidFill>
            <a:ln w="25400">
              <a:solidFill>
                <a:srgbClr val="B8860B">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14" name="AutoShape 14"/>
            <p:cNvSpPr/>
            <p:nvPr/>
          </p:nvSpPr>
          <p:spPr>
            <a:xfrm>
              <a:off x="3535397" y="3359150"/>
              <a:ext cx="2582578" cy="176428"/>
            </a:xfrm>
            <a:prstGeom prst="rect">
              <a:avLst/>
            </a:prstGeom>
            <a:solidFill>
              <a:srgbClr val="B8860B">
                <a:alpha val="100000"/>
              </a:srgbClr>
            </a:solidFill>
            <a:ln w="12700">
              <a:solidFill>
                <a:srgbClr val="B8860B">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353539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60" b="1" i="0" u="none" strike="noStrike">
                  <a:solidFill>
                    <a:srgbClr val="1C1C1C"/>
                  </a:solidFill>
                  <a:latin typeface="Calibri" panose="020F0502020204030204"/>
                  <a:ea typeface="Arial" panose="020B0604020202020204"/>
                  <a:cs typeface="Arial" panose="020B0604020202020204"/>
                  <a:sym typeface="Arial" panose="020B0604020202020204"/>
                </a:rPr>
                <a:t>Couche intermédiaire du compilateur</a:t>
              </a:r>
              <a:endParaRPr lang="en-US" sz="1100"/>
            </a:p>
          </p:txBody>
        </p:sp>
        <p:sp>
          <p:nvSpPr>
            <p:cNvPr id="16" name="AutoShape 16"/>
            <p:cNvSpPr/>
            <p:nvPr/>
          </p:nvSpPr>
          <p:spPr>
            <a:xfrm>
              <a:off x="353539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Calibri" panose="020F0502020204030204"/>
                  <a:ea typeface="Arial" panose="020B0604020202020204"/>
                  <a:cs typeface="Arial" panose="020B0604020202020204"/>
                  <a:sym typeface="Arial" panose="020B0604020202020204"/>
                </a:rPr>
                <a:t>MLIR Dialects</a:t>
              </a:r>
              <a:endParaRPr lang="en-US" sz="1100"/>
            </a:p>
            <a:p>
              <a:pPr indent="0" algn="ctr">
                <a:lnSpc>
                  <a:spcPct val="100000"/>
                </a:lnSpc>
              </a:pPr>
              <a:r>
                <a:rPr lang="en-US" sz="1600" b="1" i="0" u="none" strike="noStrike">
                  <a:solidFill>
                    <a:srgbClr val="7A6065"/>
                  </a:solidFill>
                  <a:latin typeface="Calibri" panose="020F0502020204030204"/>
                  <a:ea typeface="Arial" panose="020B0604020202020204"/>
                  <a:cs typeface="Arial" panose="020B0604020202020204"/>
                  <a:sym typeface="Arial" panose="020B0604020202020204"/>
                </a:rPr>
                <a:t>Triton-IR / TTGIR</a:t>
              </a:r>
              <a:endParaRPr lang="en-US" sz="1600" b="1" i="0" u="none" strike="noStrike">
                <a:solidFill>
                  <a:srgbClr val="7A6065"/>
                </a:solidFill>
                <a:latin typeface="Calibri" panose="020F0502020204030204"/>
                <a:ea typeface="Arial" panose="020B0604020202020204"/>
                <a:cs typeface="Arial" panose="020B0604020202020204"/>
                <a:sym typeface="Arial" panose="020B0604020202020204"/>
              </a:endParaRPr>
            </a:p>
          </p:txBody>
        </p:sp>
        <p:sp>
          <p:nvSpPr>
            <p:cNvPr id="17" name="AutoShape 17"/>
            <p:cNvSpPr/>
            <p:nvPr/>
          </p:nvSpPr>
          <p:spPr>
            <a:xfrm>
              <a:off x="6117975"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6259006"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65" b="1" i="0" u="none" strike="noStrike">
                  <a:solidFill>
                    <a:srgbClr val="7A6065"/>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p:txBody>
        </p:sp>
        <p:sp>
          <p:nvSpPr>
            <p:cNvPr id="19" name="AutoShape 19"/>
            <p:cNvSpPr/>
            <p:nvPr/>
          </p:nvSpPr>
          <p:spPr>
            <a:xfrm>
              <a:off x="6329930" y="3359150"/>
              <a:ext cx="2582578" cy="2765907"/>
            </a:xfrm>
            <a:prstGeom prst="rect">
              <a:avLst/>
            </a:prstGeom>
            <a:solidFill>
              <a:srgbClr val="FBF0F1">
                <a:alpha val="100000"/>
              </a:srgbClr>
            </a:solidFill>
            <a:ln w="25400">
              <a:solidFill>
                <a:srgbClr val="C4314A">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0" name="AutoShape 20"/>
            <p:cNvSpPr/>
            <p:nvPr/>
          </p:nvSpPr>
          <p:spPr>
            <a:xfrm>
              <a:off x="6329930" y="3359150"/>
              <a:ext cx="2582578" cy="176428"/>
            </a:xfrm>
            <a:prstGeom prst="rect">
              <a:avLst/>
            </a:prstGeom>
            <a:solidFill>
              <a:srgbClr val="C4314A">
                <a:alpha val="100000"/>
              </a:srgbClr>
            </a:solidFill>
            <a:ln w="12700">
              <a:solidFill>
                <a:srgbClr val="C4314A">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632993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Calibri" panose="020F0502020204030204"/>
                  <a:ea typeface="Arial" panose="020B0604020202020204"/>
                  <a:cs typeface="Arial" panose="020B0604020202020204"/>
                  <a:sym typeface="Arial" panose="020B0604020202020204"/>
                </a:rPr>
                <a:t>Génération de code backend</a:t>
              </a:r>
              <a:endParaRPr lang="en-US" sz="1100"/>
            </a:p>
          </p:txBody>
        </p:sp>
        <p:sp>
          <p:nvSpPr>
            <p:cNvPr id="22" name="AutoShape 22"/>
            <p:cNvSpPr/>
            <p:nvPr/>
          </p:nvSpPr>
          <p:spPr>
            <a:xfrm>
              <a:off x="632993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Calibri" panose="020F0502020204030204"/>
                  <a:ea typeface="Arial" panose="020B0604020202020204"/>
                  <a:cs typeface="Arial" panose="020B0604020202020204"/>
                  <a:sym typeface="Arial" panose="020B0604020202020204"/>
                </a:rPr>
                <a:t>LLVM-IR → PTX</a:t>
              </a:r>
              <a:endParaRPr lang="en-US" sz="1100"/>
            </a:p>
            <a:p>
              <a:pPr indent="0" algn="ctr">
                <a:lnSpc>
                  <a:spcPct val="100000"/>
                </a:lnSpc>
              </a:pPr>
              <a:r>
                <a:rPr lang="en-US" sz="1600" b="1" i="0" u="none" strike="noStrike">
                  <a:solidFill>
                    <a:srgbClr val="7A6065"/>
                  </a:solidFill>
                  <a:latin typeface="Calibri" panose="020F0502020204030204"/>
                  <a:ea typeface="Arial" panose="020B0604020202020204"/>
                  <a:cs typeface="Arial" panose="020B0604020202020204"/>
                  <a:sym typeface="Arial" panose="020B0604020202020204"/>
                </a:rPr>
                <a:t>ASM / Chaîne d'outils constructeur</a:t>
              </a:r>
              <a:endParaRPr lang="en-US" sz="1600" b="1" i="0" u="none" strike="noStrike">
                <a:solidFill>
                  <a:srgbClr val="7A6065"/>
                </a:solidFill>
                <a:latin typeface="Calibri" panose="020F0502020204030204"/>
                <a:ea typeface="Arial" panose="020B0604020202020204"/>
                <a:cs typeface="Arial" panose="020B0604020202020204"/>
                <a:sym typeface="Arial" panose="020B0604020202020204"/>
              </a:endParaRPr>
            </a:p>
          </p:txBody>
        </p:sp>
        <p:sp>
          <p:nvSpPr>
            <p:cNvPr id="23" name="AutoShape 23"/>
            <p:cNvSpPr/>
            <p:nvPr/>
          </p:nvSpPr>
          <p:spPr>
            <a:xfrm>
              <a:off x="891250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9052724"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65" b="1" i="0" u="none" strike="noStrike">
                  <a:solidFill>
                    <a:srgbClr val="7A6065"/>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p:txBody>
        </p:sp>
        <p:sp>
          <p:nvSpPr>
            <p:cNvPr id="25" name="AutoShape 25"/>
            <p:cNvSpPr/>
            <p:nvPr/>
          </p:nvSpPr>
          <p:spPr>
            <a:xfrm>
              <a:off x="9123647" y="3359150"/>
              <a:ext cx="2582578" cy="2765907"/>
            </a:xfrm>
            <a:prstGeom prst="rect">
              <a:avLst/>
            </a:prstGeom>
            <a:solidFill>
              <a:srgbClr val="FBF0F1">
                <a:alpha val="100000"/>
              </a:srgbClr>
            </a:solidFill>
            <a:ln w="25400">
              <a:solidFill>
                <a:srgbClr val="5C0009">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6" name="AutoShape 26"/>
            <p:cNvSpPr/>
            <p:nvPr/>
          </p:nvSpPr>
          <p:spPr>
            <a:xfrm>
              <a:off x="9123647" y="3359150"/>
              <a:ext cx="2582578" cy="176428"/>
            </a:xfrm>
            <a:prstGeom prst="rect">
              <a:avLst/>
            </a:prstGeom>
            <a:solidFill>
              <a:srgbClr val="5C0009">
                <a:alpha val="100000"/>
              </a:srgbClr>
            </a:solidFill>
            <a:ln w="12700">
              <a:solidFill>
                <a:srgbClr val="5C0009">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912364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Calibri" panose="020F0502020204030204"/>
                  <a:ea typeface="Arial" panose="020B0604020202020204"/>
                  <a:cs typeface="Arial" panose="020B0604020202020204"/>
                  <a:sym typeface="Arial" panose="020B0604020202020204"/>
                </a:rPr>
                <a:t>Chargement à l'exécution</a:t>
              </a:r>
              <a:endParaRPr lang="en-US" sz="1100"/>
            </a:p>
          </p:txBody>
        </p:sp>
        <p:sp>
          <p:nvSpPr>
            <p:cNvPr id="28" name="AutoShape 28"/>
            <p:cNvSpPr/>
            <p:nvPr/>
          </p:nvSpPr>
          <p:spPr>
            <a:xfrm>
              <a:off x="912364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Calibri" panose="020F0502020204030204"/>
                  <a:ea typeface="Arial" panose="020B0604020202020204"/>
                  <a:cs typeface="Arial" panose="020B0604020202020204"/>
                  <a:sym typeface="Arial" panose="020B0604020202020204"/>
                </a:rPr>
                <a:t>Cache JIT</a:t>
              </a:r>
              <a:endParaRPr lang="en-US" sz="1100"/>
            </a:p>
            <a:p>
              <a:pPr indent="0" algn="ctr">
                <a:lnSpc>
                  <a:spcPct val="100000"/>
                </a:lnSpc>
              </a:pPr>
              <a:r>
                <a:rPr lang="en-US" sz="1600" b="1" i="0" u="none" strike="noStrike">
                  <a:solidFill>
                    <a:srgbClr val="7A6065"/>
                  </a:solidFill>
                  <a:latin typeface="Calibri" panose="020F0502020204030204"/>
                  <a:ea typeface="Arial" panose="020B0604020202020204"/>
                  <a:cs typeface="Arial" panose="020B0604020202020204"/>
                  <a:sym typeface="Arial" panose="020B0604020202020204"/>
                </a:rPr>
                <a:t>Unified HW Manager</a:t>
              </a:r>
              <a:endParaRPr lang="en-US" sz="1600" b="1" i="0" u="none" strike="noStrike">
                <a:solidFill>
                  <a:srgbClr val="7A6065"/>
                </a:solidFill>
                <a:latin typeface="Calibri" panose="020F0502020204030204"/>
                <a:ea typeface="Arial" panose="020B0604020202020204"/>
                <a:cs typeface="Arial" panose="020B0604020202020204"/>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50" b="0" i="0" u="none" strike="noStrike">
                <a:solidFill>
                  <a:srgbClr val="262626"/>
                </a:solidFill>
                <a:latin typeface="Calibri" panose="020F0502020204030204"/>
                <a:ea typeface="Calibri" panose="020F0502020204030204"/>
                <a:cs typeface="Calibri" panose="020F0502020204030204"/>
                <a:sym typeface="Calibri" panose="020F0502020204030204"/>
              </a:rPr>
              <a:t>FlagTree </a:t>
            </a:r>
            <a:r>
              <a:rPr lang="en-US" sz="29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Pipeline de compilation d'opérateurs</a:t>
            </a:r>
            <a:r>
              <a:rPr lang="en-US" sz="2950"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29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①</a:t>
            </a:r>
            <a:endParaRPr lang="en-US" sz="29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du frontend · G</a:t>
            </a:r>
            <a:r>
              <a:rPr lang="en-US" altLang="en-US"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Triton-IR · Optimisation de TritonGPU-IR</a:t>
            </a:r>
            <a:endParaRPr lang="en-US" altLang="zh-CN"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Noyau Python + analyse de l'AS</a:t>
            </a:r>
            <a:r>
              <a:rPr lang="en-US"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endParaRPr lang="en-US"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8B0012"/>
              </a:buClr>
              <a:buChar char="•"/>
            </a:pP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Le d</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corateur @triton.jit d</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clenche la compilation JIT ; le frontend parcourt l'AST Python, identifie les op</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rations tensorielles au niveau des tuiles et construit le Triton-IR</a:t>
            </a:r>
            <a:r>
              <a:rPr 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10" b="0" i="0" u="none" strike="noStrike">
                <a:solidFill>
                  <a:srgbClr val="404040"/>
                </a:solidFill>
                <a:latin typeface="Calibri" panose="020F0502020204030204"/>
                <a:ea typeface="Calibri" panose="020F0502020204030204"/>
                <a:cs typeface="Calibri" panose="020F0502020204030204"/>
                <a:sym typeface="Calibri" panose="020F0502020204030204"/>
              </a:rPr>
              <a:t>Triton-IR → TritonGPU-IR</a:t>
            </a:r>
            <a:endParaRPr lang="en-US" sz="22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8B0012"/>
              </a:buClr>
              <a:buChar char="•"/>
            </a:pP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Injection de module Layout Encoding, g</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ration de TritonGPU IR, ex</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cution des pass g</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riques : CSE, DCE, inlining, etc</a:t>
            </a:r>
            <a:r>
              <a:rPr 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10" b="0" i="0" u="none" strike="noStrike">
                <a:solidFill>
                  <a:srgbClr val="404040"/>
                </a:solidFill>
                <a:latin typeface="Calibri" panose="020F0502020204030204"/>
                <a:ea typeface="Calibri" panose="020F0502020204030204"/>
                <a:cs typeface="Calibri" panose="020F0502020204030204"/>
                <a:sym typeface="Calibri" panose="020F0502020204030204"/>
              </a:rPr>
              <a:t>TritonGPU-IR → LLVM-IR</a:t>
            </a:r>
            <a:endParaRPr lang="en-US" sz="22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8B0012"/>
              </a:buClr>
              <a:buChar char="•"/>
            </a:pP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Optimisations sp</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cifiques au fabricant pour le TTGIR, puis conversion via la couche de pont MLIR </a:t>
            </a:r>
            <a:r>
              <a:rPr lang="en-US" alt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 LLVM pour produire l'LLVM-IR, achevant ainsi la phase d'optimisation de haut niveau</a:t>
            </a:r>
            <a:r>
              <a:rPr 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40" b="0"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25">
                <a:solidFill>
                  <a:srgbClr val="262626"/>
                </a:solidFill>
                <a:ea typeface="Calibri" panose="020F0502020204030204"/>
                <a:cs typeface="Calibri" panose="020F0502020204030204"/>
                <a:sym typeface="Calibri" panose="020F0502020204030204"/>
              </a:rPr>
              <a:t>FlagTree </a:t>
            </a:r>
            <a:r>
              <a:rPr lang="en-US" sz="2925">
                <a:solidFill>
                  <a:srgbClr val="262626"/>
                </a:solidFill>
                <a:ea typeface="微软雅黑" panose="020B0503020204020204" charset="-122"/>
                <a:cs typeface="微软雅黑" panose="020B0503020204020204" charset="-122"/>
                <a:sym typeface="微软雅黑" panose="020B0503020204020204" charset="-122"/>
              </a:rPr>
              <a:t>Pipeline de compilation d'opérateurs</a:t>
            </a:r>
            <a:r>
              <a:rPr lang="en-US" sz="2925"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29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②</a:t>
            </a:r>
            <a:r>
              <a:rPr lang="en-US" sz="2925" b="0" i="0" u="none" strike="noStrike">
                <a:solidFill>
                  <a:srgbClr val="262626"/>
                </a:solidFill>
                <a:latin typeface="Calibri" panose="020F0502020204030204"/>
                <a:ea typeface="Calibri" panose="020F0502020204030204"/>
                <a:cs typeface="Calibri" panose="020F0502020204030204"/>
                <a:sym typeface="Calibri" panose="020F0502020204030204"/>
              </a:rPr>
              <a:t> </a:t>
            </a:r>
            <a:endParaRPr lang="en-US" sz="292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LLVM-IR →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Assembleur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Binaire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Backend modulaire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Cache de compilation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Architecture backend modulaire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third_party/</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 de cache des résultats de compilation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523240" y="3288030"/>
          <a:ext cx="11263630" cy="2841625"/>
        </p:xfrm>
        <a:graphic>
          <a:graphicData uri="http://schemas.openxmlformats.org/drawingml/2006/table">
            <a:tbl>
              <a:tblPr>
                <a:effectLst/>
              </a:tblPr>
              <a:tblGrid>
                <a:gridCol w="2011680"/>
                <a:gridCol w="2010410"/>
                <a:gridCol w="3431540"/>
                <a:gridCol w="3810000"/>
              </a:tblGrid>
              <a:tr h="568325">
                <a:tc>
                  <a:txBody>
                    <a:bodyPr rtlCol="0"/>
                    <a:lstStyle/>
                    <a:p>
                      <a:r>
                        <a:t>Étape</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c>
                  <a:txBody>
                    <a:bodyPr rtlCol="0"/>
                    <a:lstStyle/>
                    <a:p>
                      <a:r>
                        <a:t>Entrée</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c>
                  <a:txBody>
                    <a:bodyPr rtlCol="0"/>
                    <a:lstStyle/>
                    <a:p>
                      <a:r>
                        <a:t>Produit</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c>
                  <a:txBody>
                    <a:bodyPr rtlCol="0"/>
                    <a:lstStyle/>
                    <a:p>
                      <a:r>
                        <a:t>Chaîne d'outils</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r>
              <a:tr h="568325">
                <a:tc>
                  <a:txBody>
                    <a:bodyPr rtlCol="0"/>
                    <a:lstStyle/>
                    <a:p>
                      <a:r>
                        <a:t>Optimisation LLVM</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1C1C1C"/>
                          </a:solidFill>
                          <a:latin typeface="Calibri" panose="020F0502020204030204"/>
                          <a:ea typeface="Arial" panose="020B0604020202020204"/>
                          <a:cs typeface="Arial" panose="020B0604020202020204"/>
                          <a:sym typeface="Arial" panose="020B0604020202020204"/>
                        </a:rPr>
                        <a:t>LLVM-IR</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r>
                        <a:t>LLVM-IR optimisé</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1C1C1C"/>
                          </a:solidFill>
                          <a:latin typeface="Calibri" panose="020F0502020204030204"/>
                          <a:ea typeface="Arial" panose="020B0604020202020204"/>
                          <a:cs typeface="Arial" panose="020B0604020202020204"/>
                          <a:sym typeface="Arial" panose="020B0604020202020204"/>
                        </a:rPr>
                        <a:t>LLVM opt passes</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r>
              <a:tr h="568325">
                <a:tc>
                  <a:txBody>
                    <a:bodyPr rtlCol="0"/>
                    <a:lstStyle/>
                    <a:p>
                      <a:r>
                        <a:t>Génération assembleur</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pPr indent="0" algn="l">
                        <a:lnSpc>
                          <a:spcPct val="100000"/>
                        </a:lnSpc>
                        <a:defRPr/>
                      </a:pPr>
                      <a:r>
                        <a:rPr lang="en-US" sz="1400" b="0" i="0" u="none" strike="noStrike">
                          <a:solidFill>
                            <a:srgbClr val="1C1C1C"/>
                          </a:solidFill>
                          <a:latin typeface="Calibri" panose="020F0502020204030204"/>
                          <a:ea typeface="Arial" panose="020B0604020202020204"/>
                          <a:cs typeface="Arial" panose="020B0604020202020204"/>
                          <a:sym typeface="Arial" panose="020B0604020202020204"/>
                        </a:rPr>
                        <a:t>LLVM-IR</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r>
                        <a:t>PTX / AMDGCN / ASM fabricant</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r>
                        <a:t>LLVM backend + pilote fabricant</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r>
              <a:tr h="568325">
                <a:tc>
                  <a:txBody>
                    <a:bodyPr rtlCol="0"/>
                    <a:lstStyle/>
                    <a:p>
                      <a:r>
                        <a:t>Compilation périphérique</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1C1C1C"/>
                          </a:solidFill>
                          <a:latin typeface="Calibri" panose="020F0502020204030204"/>
                          <a:ea typeface="Arial" panose="020B0604020202020204"/>
                          <a:cs typeface="Arial" panose="020B0604020202020204"/>
                          <a:sym typeface="Arial" panose="020B0604020202020204"/>
                        </a:rPr>
                        <a:t>ASM / BC</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r>
                        <a:t>.cubin / .hsaco / binaire</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r>
                        <a:t>NVCC / HIPCC / compilateur fabricant</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r>
              <a:tr h="568325">
                <a:tc>
                  <a:txBody>
                    <a:bodyPr rtlCol="0"/>
                    <a:lstStyle/>
                    <a:p>
                      <a:r>
                        <a:t>Écriture cache</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r>
                        <a:t>Produit compilé</a:t>
                      </a:r>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pPr indent="0" algn="l">
                        <a:lnSpc>
                          <a:spcPct val="100000"/>
                        </a:lnSpc>
                        <a:defRPr/>
                      </a:pPr>
                      <a:r>
                        <a:rPr lang="en-US" sz="1400" b="0" i="0" u="none" strike="noStrike">
                          <a:solidFill>
                            <a:srgbClr val="1C1C1C"/>
                          </a:solidFill>
                          <a:latin typeface="Calibri" panose="020F0502020204030204"/>
                          <a:ea typeface="Arial" panose="020B0604020202020204"/>
                          <a:cs typeface="Arial" panose="020B0604020202020204"/>
                          <a:sym typeface="Arial" panose="020B0604020202020204"/>
                        </a:rPr>
                        <a:t>kernel_hash.bin</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pPr indent="0" algn="l">
                        <a:lnSpc>
                          <a:spcPct val="100000"/>
                        </a:lnSpc>
                        <a:defRPr/>
                      </a:pPr>
                      <a:r>
                        <a:rPr lang="en-US" sz="1400" b="0" i="0" u="none" strike="noStrike">
                          <a:solidFill>
                            <a:srgbClr val="1C1C1C"/>
                          </a:solidFill>
                          <a:latin typeface="Calibri" panose="020F0502020204030204"/>
                          <a:ea typeface="Arial" panose="020B0604020202020204"/>
                          <a:cs typeface="Arial" panose="020B0604020202020204"/>
                          <a:sym typeface="Arial" panose="020B0604020202020204"/>
                        </a:rPr>
                        <a:t>~/.triton/cache/</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3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FlagTree : chargement à l'ex</a:t>
            </a:r>
            <a:r>
              <a:rPr lang="en-US" altLang="en-US" sz="23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cution et couche d'abstraction mat</a:t>
            </a:r>
            <a:r>
              <a:rPr lang="en-US" altLang="en-US" sz="23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rielle unifi</a:t>
            </a:r>
            <a:r>
              <a:rPr lang="en-US" altLang="en-US" sz="23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3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FlagTree Hints ——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Extension du comportement à l'exécution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flagtree_hints (shared_mem)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flagtree_hints (async_dma)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Couche intermédiaire FLIR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intermédiaire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523875" y="3602355"/>
            <a:ext cx="11277600" cy="2574925"/>
            <a:chOff x="523875" y="3602355"/>
            <a:chExt cx="11277600" cy="2574925"/>
          </a:xfrm>
        </p:grpSpPr>
        <p:sp>
          <p:nvSpPr>
            <p:cNvPr id="7" name="AutoShape 7"/>
            <p:cNvSpPr/>
            <p:nvPr/>
          </p:nvSpPr>
          <p:spPr>
            <a:xfrm>
              <a:off x="523875" y="3602355"/>
              <a:ext cx="2685143" cy="2574925"/>
            </a:xfrm>
            <a:prstGeom prst="rect">
              <a:avLst/>
            </a:prstGeom>
            <a:solidFill>
              <a:srgbClr val="FBF0F1">
                <a:alpha val="100000"/>
              </a:srgbClr>
            </a:solidFill>
            <a:ln w="25400">
              <a:solidFill>
                <a:srgbClr val="8B0012">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8" name="AutoShape 8"/>
            <p:cNvSpPr/>
            <p:nvPr/>
          </p:nvSpPr>
          <p:spPr>
            <a:xfrm>
              <a:off x="523875" y="3602355"/>
              <a:ext cx="2685143" cy="116229"/>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523875"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135" b="1" i="0" u="none" strike="noStrike">
                  <a:solidFill>
                    <a:srgbClr val="8B0012"/>
                  </a:solidFill>
                  <a:latin typeface="Calibri" panose="020F0502020204030204"/>
                  <a:ea typeface="Arial" panose="020B0604020202020204"/>
                  <a:cs typeface="Arial" panose="020B0604020202020204"/>
                  <a:sym typeface="Arial" panose="020B0604020202020204"/>
                </a:rPr>
                <a:t>①</a:t>
              </a:r>
              <a:endParaRPr lang="en-US" sz="1100"/>
            </a:p>
          </p:txBody>
        </p:sp>
        <p:sp>
          <p:nvSpPr>
            <p:cNvPr id="10" name="AutoShape 10"/>
            <p:cNvSpPr/>
            <p:nvPr/>
          </p:nvSpPr>
          <p:spPr>
            <a:xfrm>
              <a:off x="643215"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435" b="1" i="0" u="none" strike="noStrike">
                  <a:solidFill>
                    <a:srgbClr val="1C1C1C"/>
                  </a:solidFill>
                  <a:latin typeface="Calibri" panose="020F0502020204030204"/>
                  <a:ea typeface="Arial" panose="020B0604020202020204"/>
                  <a:cs typeface="Arial" panose="020B0604020202020204"/>
                  <a:sym typeface="Arial" panose="020B0604020202020204"/>
                </a:rPr>
                <a:t>Premier appel déclenche le JIT</a:t>
              </a:r>
              <a:endParaRPr lang="en-US" sz="1100"/>
            </a:p>
          </p:txBody>
        </p:sp>
        <p:sp>
          <p:nvSpPr>
            <p:cNvPr id="11" name="AutoShape 11"/>
            <p:cNvSpPr/>
            <p:nvPr/>
          </p:nvSpPr>
          <p:spPr>
            <a:xfrm>
              <a:off x="643215"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55" b="0" i="0" u="none" strike="noStrike">
                  <a:solidFill>
                    <a:srgbClr val="4A3A3B"/>
                  </a:solidFill>
                  <a:latin typeface="Calibri" panose="020F0502020204030204"/>
                  <a:ea typeface="Arial" panose="020B0604020202020204"/>
                  <a:cs typeface="Arial" panose="020B0604020202020204"/>
                  <a:sym typeface="Arial" panose="020B0604020202020204"/>
                </a:rPr>
                <a:t>Le noyau encapsulé par @triton.jit est appelé pour la première fois, spécialisant la clé selon dtype / shape des arguments réels, interrogeant le cache disque.</a:t>
              </a:r>
              <a:endParaRPr lang="en-US" sz="1100"/>
            </a:p>
          </p:txBody>
        </p:sp>
        <p:sp>
          <p:nvSpPr>
            <p:cNvPr id="12" name="AutoShape 12"/>
            <p:cNvSpPr/>
            <p:nvPr/>
          </p:nvSpPr>
          <p:spPr>
            <a:xfrm>
              <a:off x="3209018" y="4825444"/>
              <a:ext cx="179010" cy="64373"/>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3304324" y="4728885"/>
              <a:ext cx="143373" cy="25749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775" b="0" i="0" u="none" strike="noStrike">
                  <a:solidFill>
                    <a:srgbClr val="7A6065"/>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p:txBody>
        </p:sp>
        <p:sp>
          <p:nvSpPr>
            <p:cNvPr id="14" name="AutoShape 14"/>
            <p:cNvSpPr/>
            <p:nvPr/>
          </p:nvSpPr>
          <p:spPr>
            <a:xfrm>
              <a:off x="3388027" y="3602355"/>
              <a:ext cx="2685143" cy="2574925"/>
            </a:xfrm>
            <a:prstGeom prst="rect">
              <a:avLst/>
            </a:prstGeom>
            <a:solidFill>
              <a:srgbClr val="FBF0F1">
                <a:alpha val="100000"/>
              </a:srgbClr>
            </a:solidFill>
            <a:ln w="25400">
              <a:solidFill>
                <a:srgbClr val="B8860B">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15" name="AutoShape 15"/>
            <p:cNvSpPr/>
            <p:nvPr/>
          </p:nvSpPr>
          <p:spPr>
            <a:xfrm>
              <a:off x="3388027" y="3602355"/>
              <a:ext cx="2685143" cy="116229"/>
            </a:xfrm>
            <a:prstGeom prst="rect">
              <a:avLst/>
            </a:prstGeom>
            <a:solidFill>
              <a:srgbClr val="B8860B">
                <a:alpha val="100000"/>
              </a:srgbClr>
            </a:solidFill>
            <a:ln w="12700">
              <a:solidFill>
                <a:srgbClr val="B8860B">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3388027"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135" b="1" i="0" u="none" strike="noStrike">
                  <a:solidFill>
                    <a:srgbClr val="B8860B"/>
                  </a:solidFill>
                  <a:latin typeface="Calibri" panose="020F0502020204030204"/>
                  <a:ea typeface="Arial" panose="020B0604020202020204"/>
                  <a:cs typeface="Arial" panose="020B0604020202020204"/>
                  <a:sym typeface="Arial" panose="020B0604020202020204"/>
                </a:rPr>
                <a:t>②</a:t>
              </a:r>
              <a:endParaRPr lang="en-US" sz="1100"/>
            </a:p>
          </p:txBody>
        </p:sp>
        <p:sp>
          <p:nvSpPr>
            <p:cNvPr id="17" name="AutoShape 17"/>
            <p:cNvSpPr/>
            <p:nvPr/>
          </p:nvSpPr>
          <p:spPr>
            <a:xfrm>
              <a:off x="3507367"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520" b="1" i="0" u="none" strike="noStrike">
                  <a:solidFill>
                    <a:srgbClr val="1C1C1C"/>
                  </a:solidFill>
                  <a:latin typeface="Calibri" panose="020F0502020204030204"/>
                  <a:ea typeface="Arial" panose="020B0604020202020204"/>
                  <a:cs typeface="Arial" panose="020B0604020202020204"/>
                  <a:sym typeface="Arial" panose="020B0604020202020204"/>
                </a:rPr>
                <a:t>Compilation ou cache touché</a:t>
              </a:r>
              <a:endParaRPr lang="en-US" sz="1100"/>
            </a:p>
          </p:txBody>
        </p:sp>
        <p:sp>
          <p:nvSpPr>
            <p:cNvPr id="18" name="AutoShape 18"/>
            <p:cNvSpPr/>
            <p:nvPr/>
          </p:nvSpPr>
          <p:spPr>
            <a:xfrm>
              <a:off x="3507367"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altLang="zh-CN" sz="1195" b="0" i="0" u="none" strike="noStrike">
                  <a:solidFill>
                    <a:srgbClr val="4A3A3B"/>
                  </a:solidFill>
                  <a:latin typeface="Calibri" panose="020F0502020204030204"/>
                  <a:ea typeface="Arial" panose="020B0604020202020204"/>
                  <a:cs typeface="Arial" panose="020B0604020202020204"/>
                  <a:sym typeface="Arial" panose="020B0604020202020204"/>
                </a:rPr>
                <a:t>En cas de d</a:t>
              </a:r>
              <a:r>
                <a:rPr lang="en-US" altLang="en-US" sz="1195" b="0" i="0" u="none" strike="noStrike">
                  <a:solidFill>
                    <a:srgbClr val="4A3A3B"/>
                  </a:solidFill>
                  <a:latin typeface="Calibri" panose="020F0502020204030204"/>
                  <a:ea typeface="Arial" panose="020B0604020202020204"/>
                  <a:cs typeface="Arial" panose="020B0604020202020204"/>
                  <a:sym typeface="Arial" panose="020B0604020202020204"/>
                </a:rPr>
                <a:t>é</a:t>
              </a:r>
              <a:r>
                <a:rPr lang="en-US" altLang="zh-CN" sz="1195" b="0" i="0" u="none" strike="noStrike">
                  <a:solidFill>
                    <a:srgbClr val="4A3A3B"/>
                  </a:solidFill>
                  <a:latin typeface="Calibri" panose="020F0502020204030204"/>
                  <a:ea typeface="Arial" panose="020B0604020202020204"/>
                  <a:cs typeface="Arial" panose="020B0604020202020204"/>
                  <a:sym typeface="Arial" panose="020B0604020202020204"/>
                </a:rPr>
                <a:t>faut de cache, le pipeline de compilation complet est lanc</a:t>
              </a:r>
              <a:r>
                <a:rPr lang="en-US" altLang="en-US" sz="1195" b="0" i="0" u="none" strike="noStrike">
                  <a:solidFill>
                    <a:srgbClr val="4A3A3B"/>
                  </a:solidFill>
                  <a:latin typeface="Calibri" panose="020F0502020204030204"/>
                  <a:ea typeface="Arial" panose="020B0604020202020204"/>
                  <a:cs typeface="Arial" panose="020B0604020202020204"/>
                  <a:sym typeface="Arial" panose="020B0604020202020204"/>
                </a:rPr>
                <a:t>é</a:t>
              </a:r>
              <a:r>
                <a:rPr lang="en-US" altLang="zh-CN" sz="1195" b="0" i="0" u="none" strike="noStrike">
                  <a:solidFill>
                    <a:srgbClr val="4A3A3B"/>
                  </a:solidFill>
                  <a:latin typeface="Calibri" panose="020F0502020204030204"/>
                  <a:ea typeface="Arial" panose="020B0604020202020204"/>
                  <a:cs typeface="Arial" panose="020B0604020202020204"/>
                  <a:sym typeface="Arial" panose="020B0604020202020204"/>
                </a:rPr>
                <a:t> et le r</a:t>
              </a:r>
              <a:r>
                <a:rPr lang="en-US" altLang="en-US" sz="1195" b="0" i="0" u="none" strike="noStrike">
                  <a:solidFill>
                    <a:srgbClr val="4A3A3B"/>
                  </a:solidFill>
                  <a:latin typeface="Calibri" panose="020F0502020204030204"/>
                  <a:ea typeface="Arial" panose="020B0604020202020204"/>
                  <a:cs typeface="Arial" panose="020B0604020202020204"/>
                  <a:sym typeface="Arial" panose="020B0604020202020204"/>
                </a:rPr>
                <a:t>é</a:t>
              </a:r>
              <a:r>
                <a:rPr lang="en-US" altLang="zh-CN" sz="1195" b="0" i="0" u="none" strike="noStrike">
                  <a:solidFill>
                    <a:srgbClr val="4A3A3B"/>
                  </a:solidFill>
                  <a:latin typeface="Calibri" panose="020F0502020204030204"/>
                  <a:ea typeface="Arial" panose="020B0604020202020204"/>
                  <a:cs typeface="Arial" panose="020B0604020202020204"/>
                  <a:sym typeface="Arial" panose="020B0604020202020204"/>
                </a:rPr>
                <a:t>sultat est </a:t>
              </a:r>
              <a:r>
                <a:rPr lang="en-US" altLang="en-US" sz="1195" b="0" i="0" u="none" strike="noStrike">
                  <a:solidFill>
                    <a:srgbClr val="4A3A3B"/>
                  </a:solidFill>
                  <a:latin typeface="Calibri" panose="020F0502020204030204"/>
                  <a:ea typeface="Arial" panose="020B0604020202020204"/>
                  <a:cs typeface="Arial" panose="020B0604020202020204"/>
                  <a:sym typeface="Arial" panose="020B0604020202020204"/>
                </a:rPr>
                <a:t>é</a:t>
              </a:r>
              <a:r>
                <a:rPr lang="en-US" altLang="zh-CN" sz="1195" b="0" i="0" u="none" strike="noStrike">
                  <a:solidFill>
                    <a:srgbClr val="4A3A3B"/>
                  </a:solidFill>
                  <a:latin typeface="Calibri" panose="020F0502020204030204"/>
                  <a:ea typeface="Arial" panose="020B0604020202020204"/>
                  <a:cs typeface="Arial" panose="020B0604020202020204"/>
                  <a:sym typeface="Arial" panose="020B0604020202020204"/>
                </a:rPr>
                <a:t>crit sur disque ; en cas de succ</a:t>
              </a:r>
              <a:r>
                <a:rPr lang="en-US" altLang="en-US" sz="1195" b="0" i="0" u="none" strike="noStrike">
                  <a:solidFill>
                    <a:srgbClr val="4A3A3B"/>
                  </a:solidFill>
                  <a:latin typeface="Calibri" panose="020F0502020204030204"/>
                  <a:ea typeface="Arial" panose="020B0604020202020204"/>
                  <a:cs typeface="Arial" panose="020B0604020202020204"/>
                  <a:sym typeface="Arial" panose="020B0604020202020204"/>
                </a:rPr>
                <a:t>è</a:t>
              </a:r>
              <a:r>
                <a:rPr lang="en-US" altLang="zh-CN" sz="1195" b="0" i="0" u="none" strike="noStrike">
                  <a:solidFill>
                    <a:srgbClr val="4A3A3B"/>
                  </a:solidFill>
                  <a:latin typeface="Calibri" panose="020F0502020204030204"/>
                  <a:ea typeface="Arial" panose="020B0604020202020204"/>
                  <a:cs typeface="Arial" panose="020B0604020202020204"/>
                  <a:sym typeface="Arial" panose="020B0604020202020204"/>
                </a:rPr>
                <a:t>s, le fichier binaire d</a:t>
              </a:r>
              <a:r>
                <a:rPr lang="en-US" altLang="en-US" sz="1195" b="0" i="0" u="none" strike="noStrike">
                  <a:solidFill>
                    <a:srgbClr val="4A3A3B"/>
                  </a:solidFill>
                  <a:latin typeface="Calibri" panose="020F0502020204030204"/>
                  <a:ea typeface="Arial" panose="020B0604020202020204"/>
                  <a:cs typeface="Arial" panose="020B0604020202020204"/>
                  <a:sym typeface="Arial" panose="020B0604020202020204"/>
                </a:rPr>
                <a:t>é</a:t>
              </a:r>
              <a:r>
                <a:rPr lang="en-US" altLang="zh-CN" sz="1195" b="0" i="0" u="none" strike="noStrike">
                  <a:solidFill>
                    <a:srgbClr val="4A3A3B"/>
                  </a:solidFill>
                  <a:latin typeface="Calibri" panose="020F0502020204030204"/>
                  <a:ea typeface="Arial" panose="020B0604020202020204"/>
                  <a:cs typeface="Arial" panose="020B0604020202020204"/>
                  <a:sym typeface="Arial" panose="020B0604020202020204"/>
                </a:rPr>
                <a:t>jà compil</a:t>
              </a:r>
              <a:r>
                <a:rPr lang="en-US" altLang="en-US" sz="1195" b="0" i="0" u="none" strike="noStrike">
                  <a:solidFill>
                    <a:srgbClr val="4A3A3B"/>
                  </a:solidFill>
                  <a:latin typeface="Calibri" panose="020F0502020204030204"/>
                  <a:ea typeface="Arial" panose="020B0604020202020204"/>
                  <a:cs typeface="Arial" panose="020B0604020202020204"/>
                  <a:sym typeface="Arial" panose="020B0604020202020204"/>
                </a:rPr>
                <a:t>é</a:t>
              </a:r>
              <a:r>
                <a:rPr lang="en-US" altLang="zh-CN" sz="1195" b="0" i="0" u="none" strike="noStrike">
                  <a:solidFill>
                    <a:srgbClr val="4A3A3B"/>
                  </a:solidFill>
                  <a:latin typeface="Calibri" panose="020F0502020204030204"/>
                  <a:ea typeface="Arial" panose="020B0604020202020204"/>
                  <a:cs typeface="Arial" panose="020B0604020202020204"/>
                  <a:sym typeface="Arial" panose="020B0604020202020204"/>
                </a:rPr>
                <a:t> est directement lu</a:t>
              </a:r>
              <a:r>
                <a:rPr lang="en-US" sz="1195" b="0" i="0" u="none" strike="noStrike">
                  <a:solidFill>
                    <a:srgbClr val="4A3A3B"/>
                  </a:solidFill>
                  <a:latin typeface="Calibri" panose="020F0502020204030204"/>
                  <a:ea typeface="Arial" panose="020B0604020202020204"/>
                  <a:cs typeface="Arial" panose="020B0604020202020204"/>
                  <a:sym typeface="Arial" panose="020B0604020202020204"/>
                </a:rPr>
                <a:t>.</a:t>
              </a:r>
              <a:endParaRPr lang="en-US" sz="1100"/>
            </a:p>
          </p:txBody>
        </p:sp>
        <p:sp>
          <p:nvSpPr>
            <p:cNvPr id="19" name="AutoShape 19"/>
            <p:cNvSpPr/>
            <p:nvPr/>
          </p:nvSpPr>
          <p:spPr>
            <a:xfrm>
              <a:off x="6073170" y="4825444"/>
              <a:ext cx="179010" cy="64373"/>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nvSpPr>
          <p:spPr>
            <a:xfrm>
              <a:off x="6168476" y="4728885"/>
              <a:ext cx="143373" cy="25749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775" b="0" i="0" u="none" strike="noStrike">
                  <a:solidFill>
                    <a:srgbClr val="7A6065"/>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p:txBody>
        </p:sp>
        <p:sp>
          <p:nvSpPr>
            <p:cNvPr id="21" name="AutoShape 21"/>
            <p:cNvSpPr/>
            <p:nvPr/>
          </p:nvSpPr>
          <p:spPr>
            <a:xfrm>
              <a:off x="6252180" y="3602355"/>
              <a:ext cx="2685143" cy="2574925"/>
            </a:xfrm>
            <a:prstGeom prst="rect">
              <a:avLst/>
            </a:prstGeom>
            <a:solidFill>
              <a:srgbClr val="FBF0F1">
                <a:alpha val="100000"/>
              </a:srgbClr>
            </a:solidFill>
            <a:ln w="25400">
              <a:solidFill>
                <a:srgbClr val="C4314A">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2" name="AutoShape 22"/>
            <p:cNvSpPr/>
            <p:nvPr/>
          </p:nvSpPr>
          <p:spPr>
            <a:xfrm>
              <a:off x="6252180" y="3602355"/>
              <a:ext cx="2685143" cy="116229"/>
            </a:xfrm>
            <a:prstGeom prst="rect">
              <a:avLst/>
            </a:prstGeom>
            <a:solidFill>
              <a:srgbClr val="C4314A">
                <a:alpha val="100000"/>
              </a:srgbClr>
            </a:solidFill>
            <a:ln w="12700">
              <a:solidFill>
                <a:srgbClr val="C4314A">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6252180"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135" b="1" i="0" u="none" strike="noStrike">
                  <a:solidFill>
                    <a:srgbClr val="C4314A"/>
                  </a:solidFill>
                  <a:latin typeface="Calibri" panose="020F0502020204030204"/>
                  <a:ea typeface="Arial" panose="020B0604020202020204"/>
                  <a:cs typeface="Arial" panose="020B0604020202020204"/>
                  <a:sym typeface="Arial" panose="020B0604020202020204"/>
                </a:rPr>
                <a:t>③</a:t>
              </a:r>
              <a:endParaRPr lang="en-US" sz="1100"/>
            </a:p>
          </p:txBody>
        </p:sp>
        <p:sp>
          <p:nvSpPr>
            <p:cNvPr id="24" name="AutoShape 24"/>
            <p:cNvSpPr/>
            <p:nvPr/>
          </p:nvSpPr>
          <p:spPr>
            <a:xfrm>
              <a:off x="6371519"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285" b="1" i="0" u="none" strike="noStrike">
                  <a:solidFill>
                    <a:srgbClr val="1C1C1C"/>
                  </a:solidFill>
                  <a:latin typeface="Calibri" panose="020F0502020204030204"/>
                  <a:ea typeface="Arial" panose="020B0604020202020204"/>
                  <a:cs typeface="Arial" panose="020B0604020202020204"/>
                  <a:sym typeface="Arial" panose="020B0604020202020204"/>
                </a:rPr>
                <a:t>Chargement de la bibliothèque dynamique</a:t>
              </a:r>
              <a:endParaRPr lang="en-US" sz="1100"/>
            </a:p>
          </p:txBody>
        </p:sp>
        <p:sp>
          <p:nvSpPr>
            <p:cNvPr id="25" name="AutoShape 25"/>
            <p:cNvSpPr/>
            <p:nvPr/>
          </p:nvSpPr>
          <p:spPr>
            <a:xfrm>
              <a:off x="6371519"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95" b="0" i="0" u="none" strike="noStrike">
                  <a:solidFill>
                    <a:srgbClr val="4A3A3B"/>
                  </a:solidFill>
                  <a:latin typeface="Calibri" panose="020F0502020204030204"/>
                  <a:ea typeface="Arial" panose="020B0604020202020204"/>
                  <a:cs typeface="Arial" panose="020B0604020202020204"/>
                  <a:sym typeface="Arial" panose="020B0604020202020204"/>
                </a:rPr>
                <a:t>Chargement sur le périphérique via cuModuleLoadData (NVIDIA) / hipModuleLoad (AMD) ou API équivalente du fabricant, obtention du handle du noyau.</a:t>
              </a:r>
              <a:endParaRPr lang="en-US" sz="1100"/>
            </a:p>
          </p:txBody>
        </p:sp>
        <p:sp>
          <p:nvSpPr>
            <p:cNvPr id="26" name="AutoShape 26"/>
            <p:cNvSpPr/>
            <p:nvPr/>
          </p:nvSpPr>
          <p:spPr>
            <a:xfrm>
              <a:off x="8937323" y="4825444"/>
              <a:ext cx="179010" cy="64373"/>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9032629" y="4728885"/>
              <a:ext cx="143373" cy="25749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775" b="0" i="0" u="none" strike="noStrike">
                  <a:solidFill>
                    <a:srgbClr val="7A6065"/>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p:txBody>
        </p:sp>
        <p:sp>
          <p:nvSpPr>
            <p:cNvPr id="28" name="AutoShape 28"/>
            <p:cNvSpPr/>
            <p:nvPr/>
          </p:nvSpPr>
          <p:spPr>
            <a:xfrm>
              <a:off x="9116332" y="3602355"/>
              <a:ext cx="2685143" cy="2574925"/>
            </a:xfrm>
            <a:prstGeom prst="rect">
              <a:avLst/>
            </a:prstGeom>
            <a:solidFill>
              <a:srgbClr val="FBF0F1">
                <a:alpha val="100000"/>
              </a:srgbClr>
            </a:solidFill>
            <a:ln w="25400">
              <a:solidFill>
                <a:srgbClr val="5C0009">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9" name="AutoShape 29"/>
            <p:cNvSpPr/>
            <p:nvPr/>
          </p:nvSpPr>
          <p:spPr>
            <a:xfrm>
              <a:off x="9116332" y="3602355"/>
              <a:ext cx="2685143" cy="116229"/>
            </a:xfrm>
            <a:prstGeom prst="rect">
              <a:avLst/>
            </a:prstGeom>
            <a:solidFill>
              <a:srgbClr val="5C0009">
                <a:alpha val="100000"/>
              </a:srgbClr>
            </a:solidFill>
            <a:ln w="12700">
              <a:solidFill>
                <a:srgbClr val="5C0009">
                  <a:alpha val="100000"/>
                </a:srgbClr>
              </a:solidFill>
              <a:prstDash val="solid"/>
            </a:ln>
          </p:spPr>
          <p:txBody>
            <a:bodyPr wrap="square" lIns="91440" tIns="45720" rIns="91440" bIns="45720" rtlCol="0" anchor="t">
              <a:noAutofit/>
            </a:bodyPr>
            <a:lstStyle/>
            <a:p>
              <a:pPr algn="ctr">
                <a:defRPr/>
              </a:pPr>
            </a:p>
          </p:txBody>
        </p:sp>
        <p:sp>
          <p:nvSpPr>
            <p:cNvPr id="30" name="AutoShape 30"/>
            <p:cNvSpPr/>
            <p:nvPr/>
          </p:nvSpPr>
          <p:spPr>
            <a:xfrm>
              <a:off x="9116332"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135" b="1" i="0" u="none" strike="noStrike">
                  <a:solidFill>
                    <a:srgbClr val="5C0009"/>
                  </a:solidFill>
                  <a:latin typeface="Calibri" panose="020F0502020204030204"/>
                  <a:ea typeface="Arial" panose="020B0604020202020204"/>
                  <a:cs typeface="Arial" panose="020B0604020202020204"/>
                  <a:sym typeface="Arial" panose="020B0604020202020204"/>
                </a:rPr>
                <a:t>④</a:t>
              </a:r>
              <a:endParaRPr lang="en-US" sz="1100"/>
            </a:p>
          </p:txBody>
        </p:sp>
        <p:sp>
          <p:nvSpPr>
            <p:cNvPr id="31" name="AutoShape 31"/>
            <p:cNvSpPr/>
            <p:nvPr/>
          </p:nvSpPr>
          <p:spPr>
            <a:xfrm>
              <a:off x="9235672"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375" b="1" i="0" u="none" strike="noStrike">
                  <a:solidFill>
                    <a:srgbClr val="1C1C1C"/>
                  </a:solidFill>
                  <a:latin typeface="Calibri" panose="020F0502020204030204"/>
                  <a:ea typeface="Arial" panose="020B0604020202020204"/>
                  <a:cs typeface="Arial" panose="020B0604020202020204"/>
                  <a:sym typeface="Arial" panose="020B0604020202020204"/>
                </a:rPr>
                <a:t>Distribution et exécution du noyau</a:t>
              </a:r>
              <a:endParaRPr lang="en-US" sz="1100"/>
            </a:p>
          </p:txBody>
        </p:sp>
        <p:sp>
          <p:nvSpPr>
            <p:cNvPr id="32" name="AutoShape 32"/>
            <p:cNvSpPr/>
            <p:nvPr/>
          </p:nvSpPr>
          <p:spPr>
            <a:xfrm>
              <a:off x="9235672"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20" b="0" i="0" u="none" strike="noStrike">
                  <a:solidFill>
                    <a:srgbClr val="4A3A3B"/>
                  </a:solidFill>
                  <a:latin typeface="Calibri" panose="020F0502020204030204"/>
                  <a:ea typeface="Arial" panose="020B0604020202020204"/>
                  <a:cs typeface="Arial" panose="020B0604020202020204"/>
                  <a:sym typeface="Arial" panose="020B0604020202020204"/>
                </a:rPr>
                <a:t>UnifiedHardware Manager encapsule de manière unifiée l'API de lancement, masquant les différences entre fabricants ; FlagTree remplace le paquet triton système, permettant une transition transparente pour les frameworks de niveau supérieur.</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de code g</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par KernelGen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1132268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code 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KernelGen est fonctionnellement complet.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 point de vue structurel, il se pr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sente 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comme un fichier unique hybride contenant la logique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tier, des outils de test et des scripts de tra</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18490" y="2918460"/>
            <a:ext cx="5240655" cy="197675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316345" y="2764155"/>
            <a:ext cx="5485130" cy="350012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5748931"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Exigences techniques pour l'intégration des opérateurs</a:t>
            </a:r>
            <a:endParaRPr lang="en-US" sz="28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571690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op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par KernelGen doivent satisfaire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Validation de la correction passée dans un environnement isolé</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une comparaison avec l'impl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de base CUDA</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L'impl</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mentation de base est </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galement g</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r</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e par KernelGe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Atteint le critère prédéfini dans les tests de performance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490335" y="640715"/>
            <a:ext cx="4722495" cy="58566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61340" y="4941570"/>
            <a:ext cx="5534660" cy="12814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Refonte de normalisation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https://github.com/flagos-ai/KernelGen/tree/main/tools</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Logique d'ex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 analyse de l'AST et nettoyage structurel, transformation du code original en modules de biblioth</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 d'op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conformes aux normes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Extraction du noyau : suppression des tests de référence, configuration dynamique de la grille.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Injection de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pendances : montage du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corateur @libentry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FlagGems pour int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grer le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de mise en cache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Migration des tests :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des assertions dans le framework pytest de test param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standard</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Refactorisation normalisée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https://github.com/flagos-ai/KernelGen/tree/main/tools</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custDataLst>
              <p:tags r:id="rId1"/>
            </p:custDataLst>
          </p:nvPr>
        </p:nvGraphicFramePr>
        <p:xfrm>
          <a:off x="215900" y="1267460"/>
          <a:ext cx="11760200" cy="5093970"/>
        </p:xfrm>
        <a:graphic>
          <a:graphicData uri="http://schemas.openxmlformats.org/drawingml/2006/table">
            <a:tbl>
              <a:tblPr>
                <a:effectLst/>
              </a:tblPr>
              <a:tblGrid>
                <a:gridCol w="2173605"/>
                <a:gridCol w="6901815"/>
                <a:gridCol w="2684780"/>
              </a:tblGrid>
              <a:tr h="642620">
                <a:tc>
                  <a:txBody>
                    <a:bodyPr rtlCol="0"/>
                    <a:lstStyle/>
                    <a:p>
                      <a:pPr indent="0" algn="ctr">
                        <a:lnSpc>
                          <a:spcPct val="117000"/>
                        </a:lnSpc>
                        <a:defRPr/>
                      </a:pPr>
                      <a:r>
                        <a:rPr lang="en-US" sz="1200" b="1" i="0" u="none" strike="noStrike" spc="120">
                          <a:solidFill>
                            <a:srgbClr val="000000"/>
                          </a:solidFill>
                          <a:latin typeface="Calibri" panose="020F0502020204030204"/>
                          <a:ea typeface="Arial" panose="020B0604020202020204"/>
                          <a:cs typeface="Arial" panose="020B0604020202020204"/>
                          <a:sym typeface="Arial" panose="020B0604020202020204"/>
                        </a:rPr>
                        <a:t>Sortie de fichiers bruts KernelGen</a:t>
                      </a:r>
                      <a:endParaRPr lang="en-US" sz="1200" b="1"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200" b="1" i="0" u="none" strike="noStrike" spc="120">
                          <a:solidFill>
                            <a:srgbClr val="000000"/>
                          </a:solidFill>
                          <a:latin typeface="Calibri" panose="020F0502020204030204"/>
                          <a:ea typeface="Arial" panose="020B0604020202020204"/>
                          <a:cs typeface="Arial" panose="020B0604020202020204"/>
                          <a:sym typeface="Arial" panose="020B0604020202020204"/>
                        </a:rPr>
                        <a:t>Analyse comportementale et nettoyage structurel par convert.py</a:t>
                      </a:r>
                      <a:endParaRPr lang="en-US" sz="1200" b="1"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200" b="1" i="0" u="none" strike="noStrike" spc="120">
                          <a:solidFill>
                            <a:srgbClr val="000000"/>
                          </a:solidFill>
                          <a:latin typeface="Calibri" panose="020F0502020204030204"/>
                          <a:ea typeface="Arial" panose="020B0604020202020204"/>
                          <a:cs typeface="Arial" panose="020B0604020202020204"/>
                          <a:sym typeface="Arial" panose="020B0604020202020204"/>
                        </a:rPr>
                        <a:t>Mapping vers les modules cibles FlagGems</a:t>
                      </a:r>
                      <a:endParaRPr lang="en-US" sz="1200" b="1"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r>
              <a:tr h="1282700">
                <a:tc>
                  <a:txBody>
                    <a:bodyPr rtlCol="0"/>
                    <a:lstStyle/>
                    <a:p>
                      <a:pPr indent="0" algn="ctr">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[operator]_triton.py</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Dissocier tous les codes de référence de performance et les stubs de test. Extraire la fonction principale du noyau contenant @triton.jit. Convertir les paramètres de lancement codés en dur générés par KernelGen en une configuration de grille (Grid) dynamique ; injecter le décorateur @libentry exclusif à FlagGems pour monter les mécanismes d'auto-optimisation et de mise en cache des règles heuristiques.</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src/flag_gems/ops/[operator].py</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655320">
                <a:tc>
                  <a:txBody>
                    <a:bodyPr rtlCol="0"/>
                    <a:lstStyle/>
                    <a:p>
                      <a:pPr indent="0" algn="ctr">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[operator]_baseline.py</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Extraire l'implémentation native PyTorch ou CUDA comme référence de base, et l'encapsuler comme fonction de comparaison dans la suite de tests.</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Extraire pour appel par le module de test.</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1282700">
                <a:tc>
                  <a:txBody>
                    <a:bodyPr rtlCol="0"/>
                    <a:lstStyle/>
                    <a:p>
                      <a:pPr indent="0" algn="ctr">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test_[op]_accuracy.py</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Refactoriser la logique d'assertion. Transformer les scripts d'assertion indépendants en classes de tests unitaires conformes au framework pytest standard. Injecter des décorateurs paramétrés pour différents types de données (FP16, BF16, FP32), et compléter le traitement des conditions aux limites pour les valeurs atypiques comme NaN et Inf.</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tests/[operator]_test.py</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1230630">
                <a:tc>
                  <a:txBody>
                    <a:bodyPr rtlCol="0"/>
                    <a:lstStyle/>
                    <a:p>
                      <a:pPr indent="0" algn="ctr">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test_[op]_performance.py</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Nettoyer le code de génération de graphiques. Conserver la logique d'évaluation clé Throughput (débit) et Latency (latence), et l'intégrer dans le flux d'évaluation de référence (Benchmark) CI/CD automatisé de FlagGems, pour assurer la stabilité des tests de régression.</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tests/[operator]_test.py</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Soumettre</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experimental_ops</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https://github.com/flagos-ai/FlagGems/tree/master/src/flag_gems/experimental_ops</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1945272" y="1323975"/>
            <a:ext cx="8434806"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43</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 L'optimisation extrême des systèmes hétérogènes</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528149"/>
            <a:ext cx="9987507"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Microarchitecture des systèmes hétérogènes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volution architecturale : du mod</a:t>
            </a:r>
            <a:r>
              <a:rPr lang="en-US" alt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SIMT unique vers une architecture int</a:t>
            </a:r>
            <a:r>
              <a:rPr lang="en-US" alt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grant moteurs de tenseurs fusionn</a:t>
            </a:r>
            <a:r>
              <a:rPr lang="en-US" alt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m</a:t>
            </a:r>
            <a:r>
              <a:rPr lang="en-US" alt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asynchrone et cache massif sur puce</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Différences d'écosystème : les débits d'instructions, la taille des bancs de registres et la topologie mémoire diffèrent fondamentalement selon le matériel.</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Exigences d'optimisation : s'en remettre à un compilateur générique abstrait entraîne souvent des blocages de pipeline ou une bande passante inutilisée, nécessitant une spécialisation ciblée.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330029"/>
            <a:ext cx="9987507"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Exemple de microarchitecture </a:t>
            </a:r>
            <a:endPar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typique d'un GPU national</a:t>
            </a:r>
            <a:endPar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236345"/>
            <a:ext cx="1127760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Moore Threads : architecture de cinqui</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me g</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ration </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Huagang </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prenant en charge le mod</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de programmation asynchrone de nouvelle g</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ration et le format de donn</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es quantifi</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es FP4, et supportant des clusters de plus de 100 000 cartes.</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Biren Technology (Biren) : architecture BR100, dot</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 de 300 Mo de cache massif sur puce et de 64 Go de HBM2E, ce qui </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vite au maximum la latence d'acc</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à la m</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globale</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76935" y="3328670"/>
            <a:ext cx="4815840" cy="33928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002655" y="3328670"/>
            <a:ext cx="5925820" cy="26073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Étude de cas : contexte et défis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https://github.com/flagos-ai/FlagTree/pull/333</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08127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Objectif</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Prenant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tle.gpu.local_ptr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comme exemple, présenter comment réaliser une optimisation microarchitecturelle ciblée</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Emplacement du code :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https://github.com/flagos-ai/FlagTree/pull/333</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Défis majeurs</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L'optimisation générique peine à atteindre les couches inférieures</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Goulot d'étranglement d'accès à la mémoire partagée</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Écart de performance des opérateurs significatif</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Comme moe_align_block_size, topk, etc</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Fragmentation de la pile logicielle</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sz="1400"/>
          </a:p>
          <a:p>
            <a:pPr marL="342900" lvl="1" indent="0" algn="l">
              <a:lnSpc>
                <a:spcPct val="100000"/>
              </a:lnSpc>
              <a:spcBef>
                <a:spcPts val="75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605780" y="3057525"/>
            <a:ext cx="6499225" cy="25228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Principes matériels et bases de l'optimisation d'accès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445250" cy="467487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Caractéristiques principales de la</a:t>
            </a:r>
            <a:r>
              <a:rPr lang="en-US"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Shared Memory</a:t>
            </a:r>
            <a:endParaRPr lang="en-US"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Structure en banks : divis</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 en 32 banks, chaque bank de 4 octets, acc</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è</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 parall</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è</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le sans conflit</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Visibilit</a:t>
            </a:r>
            <a:r>
              <a:rPr lang="en-US" alt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bloc de threads : tous les threads d'un m</a:t>
            </a:r>
            <a:r>
              <a:rPr lang="en-US" alt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ê</a:t>
            </a: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me CTA partagent la m</a:t>
            </a:r>
            <a:r>
              <a:rPr lang="en-US" alt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moire, n</a:t>
            </a:r>
            <a:r>
              <a:rPr lang="en-US" alt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cessitant une synchronisation __syncthreads(</a:t>
            </a: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a:t>
            </a:r>
            <a:endPar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Gestion explicite : </a:t>
            </a: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contrôle explicite par le programmeur/compilateur de l'allocation, cache non transparent</a:t>
            </a:r>
            <a:endPar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Diff</a:t>
            </a:r>
            <a:r>
              <a:rPr lang="en-US" alt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rences des puces nationales : la largeur des banks de certains GPU nationaux et le mappage d'adresses diff</a:t>
            </a:r>
            <a:r>
              <a:rPr lang="en-US" alt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è</a:t>
            </a: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rent de NVIDI</a:t>
            </a: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A</a:t>
            </a:r>
            <a:endPar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Signification de</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local_ptr</a:t>
            </a: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 à travers l'abstraction</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local_ptr</a:t>
            </a: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exprimer de manière unifiée les opérations de pointeur</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shared mem</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custDataLst>
              <p:tags r:id="rId1"/>
            </p:custDataLst>
          </p:nvPr>
        </p:nvGrpSpPr>
        <p:grpSpPr>
          <a:xfrm>
            <a:off x="7071366" y="2126956"/>
            <a:ext cx="4728706" cy="3424542"/>
            <a:chOff x="7071366" y="2126956"/>
            <a:chExt cx="4728706" cy="3424542"/>
          </a:xfrm>
        </p:grpSpPr>
        <p:sp>
          <p:nvSpPr>
            <p:cNvPr id="7" name="AutoShape 7"/>
            <p:cNvSpPr/>
            <p:nvPr/>
          </p:nvSpPr>
          <p:spPr>
            <a:xfrm>
              <a:off x="7071366" y="2126956"/>
              <a:ext cx="4727205" cy="457436"/>
            </a:xfrm>
            <a:prstGeom prst="rect">
              <a:avLst/>
            </a:prstGeom>
            <a:solidFill>
              <a:srgbClr val="C62828">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7248477" y="2191711"/>
              <a:ext cx="3308818" cy="327096"/>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Registres</a:t>
              </a: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 (Register)</a:t>
              </a:r>
              <a:endParaRPr lang="en-US" sz="1100"/>
            </a:p>
          </p:txBody>
        </p:sp>
        <p:sp>
          <p:nvSpPr>
            <p:cNvPr id="9" name="AutoShape 9"/>
            <p:cNvSpPr/>
            <p:nvPr/>
          </p:nvSpPr>
          <p:spPr>
            <a:xfrm>
              <a:off x="10380935" y="2128846"/>
              <a:ext cx="1418387" cy="327096"/>
            </a:xfrm>
            <a:prstGeom prst="rect">
              <a:avLst/>
            </a:prstGeom>
            <a:noFill/>
            <a:ln w="12700">
              <a:noFill/>
              <a:prstDash val="solid"/>
            </a:ln>
          </p:spPr>
          <p:txBody>
            <a:bodyPr wrap="square" lIns="91440" tIns="45720" rIns="91440" bIns="45720" rtlCol="0" anchor="t">
              <a:noAutofit/>
            </a:bodyPr>
            <a:lstStyle/>
            <a:p>
              <a:pPr indent="0" algn="r">
                <a:lnSpc>
                  <a:spcPct val="100000"/>
                </a:lnSpc>
                <a:defRPr/>
              </a:pPr>
              <a:r>
                <a:rPr lang="en-US"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Le plus rapide</a:t>
              </a:r>
              <a:r>
                <a:rPr lang="en-US" b="0" i="0" u="none" strike="noStrike">
                  <a:solidFill>
                    <a:srgbClr val="FFFFFF"/>
                  </a:solidFill>
                  <a:latin typeface="Arial" panose="020B0604020202020204"/>
                  <a:ea typeface="Arial" panose="020B0604020202020204"/>
                  <a:cs typeface="Arial" panose="020B0604020202020204"/>
                  <a:sym typeface="Arial" panose="020B0604020202020204"/>
                </a:rPr>
                <a:t> ~1 cycle</a:t>
              </a:r>
              <a:endParaRPr lang="en-US" b="0"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custDataLst>
                <p:tags r:id="rId2"/>
              </p:custDataLst>
            </p:nvPr>
          </p:nvSpPr>
          <p:spPr>
            <a:xfrm>
              <a:off x="7071366" y="2688996"/>
              <a:ext cx="4727205" cy="49645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custDataLst>
                <p:tags r:id="rId3"/>
              </p:custDataLst>
            </p:nvPr>
          </p:nvSpPr>
          <p:spPr>
            <a:xfrm>
              <a:off x="7248531" y="2684486"/>
              <a:ext cx="2324735" cy="36639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Mémoire partagée</a:t>
              </a:r>
              <a:endPar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defRPr/>
              </a:pP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(Shared Memory)</a:t>
              </a:r>
              <a:endPar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AutoShape 12"/>
            <p:cNvSpPr/>
            <p:nvPr>
              <p:custDataLst>
                <p:tags r:id="rId4"/>
              </p:custDataLst>
            </p:nvPr>
          </p:nvSpPr>
          <p:spPr>
            <a:xfrm>
              <a:off x="9749796" y="2716871"/>
              <a:ext cx="2049780" cy="366395"/>
            </a:xfrm>
            <a:prstGeom prst="rect">
              <a:avLst/>
            </a:prstGeom>
            <a:noFill/>
            <a:ln w="12700">
              <a:noFill/>
              <a:prstDash val="solid"/>
            </a:ln>
          </p:spPr>
          <p:txBody>
            <a:bodyPr wrap="square" lIns="91440" tIns="45720" rIns="91440" bIns="45720" rtlCol="0" anchor="t">
              <a:noAutofit/>
            </a:bodyPr>
            <a:lstStyle/>
            <a:p>
              <a:pPr indent="0" algn="r">
                <a:lnSpc>
                  <a:spcPct val="100000"/>
                </a:lnSpc>
                <a:defRPr/>
              </a:pPr>
              <a:r>
                <a:rPr lang="en-US"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Très rapide</a:t>
              </a:r>
              <a:r>
                <a:rPr lang="en-US" b="0" i="0" u="none" strike="noStrike">
                  <a:solidFill>
                    <a:srgbClr val="FFFFFF"/>
                  </a:solidFill>
                  <a:latin typeface="Arial" panose="020B0604020202020204"/>
                  <a:ea typeface="Arial" panose="020B0604020202020204"/>
                  <a:cs typeface="Arial" panose="020B0604020202020204"/>
                  <a:sym typeface="Arial" panose="020B0604020202020204"/>
                </a:rPr>
                <a:t> ~5 cycles, </a:t>
              </a:r>
              <a:r>
                <a:rPr lang="en-US"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partagée par bloc de threads</a:t>
              </a:r>
              <a:endParaRPr lang="en-US"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custDataLst>
                <p:tags r:id="rId5"/>
              </p:custDataLst>
            </p:nvPr>
          </p:nvSpPr>
          <p:spPr>
            <a:xfrm>
              <a:off x="7071366" y="3290055"/>
              <a:ext cx="4727205" cy="496455"/>
            </a:xfrm>
            <a:prstGeom prst="rect">
              <a:avLst/>
            </a:prstGeom>
            <a:solidFill>
              <a:srgbClr val="E57373">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custDataLst>
                <p:tags r:id="rId6"/>
              </p:custDataLst>
            </p:nvPr>
          </p:nvSpPr>
          <p:spPr>
            <a:xfrm>
              <a:off x="7248477" y="3355640"/>
              <a:ext cx="3308818" cy="366115"/>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L1 Cache / Texture</a:t>
              </a:r>
              <a:endParaRPr lang="en-US" sz="1100"/>
            </a:p>
          </p:txBody>
        </p:sp>
        <p:sp>
          <p:nvSpPr>
            <p:cNvPr id="15" name="AutoShape 15"/>
            <p:cNvSpPr/>
            <p:nvPr>
              <p:custDataLst>
                <p:tags r:id="rId7"/>
              </p:custDataLst>
            </p:nvPr>
          </p:nvSpPr>
          <p:spPr>
            <a:xfrm>
              <a:off x="10380935" y="3335320"/>
              <a:ext cx="1418387" cy="366115"/>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3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Rapide</a:t>
              </a:r>
              <a:r>
                <a:rPr lang="en-US" sz="1300" b="0" i="0" u="none" strike="noStrike">
                  <a:solidFill>
                    <a:srgbClr val="FFFFFF"/>
                  </a:solidFill>
                  <a:latin typeface="Arial" panose="020B0604020202020204"/>
                  <a:ea typeface="Arial" panose="020B0604020202020204"/>
                  <a:cs typeface="Arial" panose="020B0604020202020204"/>
                  <a:sym typeface="Arial" panose="020B0604020202020204"/>
                </a:rPr>
                <a:t> ~30 cycles</a:t>
              </a:r>
              <a:endParaRPr lang="en-US" sz="1100"/>
            </a:p>
          </p:txBody>
        </p:sp>
        <p:sp>
          <p:nvSpPr>
            <p:cNvPr id="16" name="AutoShape 16"/>
            <p:cNvSpPr/>
            <p:nvPr>
              <p:custDataLst>
                <p:tags r:id="rId8"/>
              </p:custDataLst>
            </p:nvPr>
          </p:nvSpPr>
          <p:spPr>
            <a:xfrm>
              <a:off x="7071366" y="3891944"/>
              <a:ext cx="4727205" cy="496455"/>
            </a:xfrm>
            <a:prstGeom prst="rect">
              <a:avLst/>
            </a:prstGeom>
            <a:solidFill>
              <a:srgbClr val="EF9A9A">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7" name="AutoShape 17"/>
            <p:cNvSpPr/>
            <p:nvPr>
              <p:custDataLst>
                <p:tags r:id="rId9"/>
              </p:custDataLst>
            </p:nvPr>
          </p:nvSpPr>
          <p:spPr>
            <a:xfrm>
              <a:off x="7248477" y="3956699"/>
              <a:ext cx="3308818" cy="366115"/>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L2 Cache</a:t>
              </a:r>
              <a:endParaRPr lang="en-US" sz="1100"/>
            </a:p>
          </p:txBody>
        </p:sp>
        <p:sp>
          <p:nvSpPr>
            <p:cNvPr id="18" name="AutoShape 18"/>
            <p:cNvSpPr/>
            <p:nvPr>
              <p:custDataLst>
                <p:tags r:id="rId10"/>
              </p:custDataLst>
            </p:nvPr>
          </p:nvSpPr>
          <p:spPr>
            <a:xfrm>
              <a:off x="10380935" y="3936379"/>
              <a:ext cx="1418387" cy="366115"/>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Assez rapide</a:t>
              </a: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~100 cycles</a:t>
              </a:r>
              <a:endParaRPr lang="en-US" sz="1100"/>
            </a:p>
          </p:txBody>
        </p:sp>
        <p:sp>
          <p:nvSpPr>
            <p:cNvPr id="19" name="AutoShape 19"/>
            <p:cNvSpPr/>
            <p:nvPr>
              <p:custDataLst>
                <p:tags r:id="rId11"/>
              </p:custDataLst>
            </p:nvPr>
          </p:nvSpPr>
          <p:spPr>
            <a:xfrm>
              <a:off x="7071366" y="4493003"/>
              <a:ext cx="4727205" cy="496455"/>
            </a:xfrm>
            <a:prstGeom prst="rect">
              <a:avLst/>
            </a:prstGeom>
            <a:solidFill>
              <a:srgbClr val="FFCCBC">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0" name="AutoShape 20"/>
            <p:cNvSpPr/>
            <p:nvPr>
              <p:custDataLst>
                <p:tags r:id="rId12"/>
              </p:custDataLst>
            </p:nvPr>
          </p:nvSpPr>
          <p:spPr>
            <a:xfrm>
              <a:off x="7248531" y="4522811"/>
              <a:ext cx="2369185" cy="36639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3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Mémoire globale</a:t>
              </a:r>
              <a:endParaRPr lang="en-US" sz="13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defRPr/>
              </a:pPr>
              <a:r>
                <a:rPr lang="en-US" sz="1300" b="1" i="0" u="none" strike="noStrike">
                  <a:solidFill>
                    <a:srgbClr val="FFFFFF"/>
                  </a:solidFill>
                  <a:latin typeface="Arial" panose="020B0604020202020204"/>
                  <a:ea typeface="Arial" panose="020B0604020202020204"/>
                  <a:cs typeface="Arial" panose="020B0604020202020204"/>
                  <a:sym typeface="Arial" panose="020B0604020202020204"/>
                </a:rPr>
                <a:t> (Global Memory / HBM)</a:t>
              </a:r>
              <a:endParaRPr lang="en-US" sz="1300" b="1"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21" name="AutoShape 21"/>
            <p:cNvSpPr/>
            <p:nvPr>
              <p:custDataLst>
                <p:tags r:id="rId13"/>
              </p:custDataLst>
            </p:nvPr>
          </p:nvSpPr>
          <p:spPr>
            <a:xfrm>
              <a:off x="10381685" y="4536311"/>
              <a:ext cx="1418387" cy="366115"/>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3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Lent</a:t>
              </a:r>
              <a:r>
                <a:rPr lang="en-US" sz="1300" b="0" i="0" u="none" strike="noStrike">
                  <a:solidFill>
                    <a:srgbClr val="FFFFFF"/>
                  </a:solidFill>
                  <a:latin typeface="Arial" panose="020B0604020202020204"/>
                  <a:ea typeface="Arial" panose="020B0604020202020204"/>
                  <a:cs typeface="Arial" panose="020B0604020202020204"/>
                  <a:sym typeface="Arial" panose="020B0604020202020204"/>
                </a:rPr>
                <a:t> ~400+ cycles</a:t>
              </a:r>
              <a:endParaRPr lang="en-US" sz="1100"/>
            </a:p>
          </p:txBody>
        </p:sp>
        <p:sp>
          <p:nvSpPr>
            <p:cNvPr id="22" name="AutoShape 22"/>
            <p:cNvSpPr/>
            <p:nvPr/>
          </p:nvSpPr>
          <p:spPr>
            <a:xfrm>
              <a:off x="7071366" y="5159647"/>
              <a:ext cx="4727205" cy="391851"/>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4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Latence croissante de haut en bas</a:t>
              </a:r>
              <a:r>
                <a:rPr lang="en-US" sz="1400" b="0" i="0" u="none" strike="noStrike">
                  <a:solidFill>
                    <a:srgbClr val="666666"/>
                  </a:solidFill>
                  <a:latin typeface="Arial" panose="020B0604020202020204"/>
                  <a:ea typeface="Arial" panose="020B0604020202020204"/>
                  <a:cs typeface="Arial" panose="020B0604020202020204"/>
                  <a:sym typeface="Arial" panose="020B0604020202020204"/>
                </a:rPr>
                <a:t>  </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Aperçu de</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3600" b="0" i="0" u="none" strike="noStrike">
                <a:solidFill>
                  <a:srgbClr val="262626"/>
                </a:solidFill>
                <a:ea typeface="Calibri" panose="020F0502020204030204"/>
                <a:cs typeface="Calibri" panose="020F0502020204030204"/>
                <a:sym typeface="微软雅黑" panose="020B0503020204020204" charset="-122"/>
              </a:rPr>
              <a:t>FlagGems</a:t>
            </a:r>
            <a:endParaRPr lang="en-US" sz="3600" b="0" i="0" u="none" strike="noStrike">
              <a:solidFill>
                <a:srgbClr val="262626"/>
              </a:solidFill>
              <a:ea typeface="Calibri" panose="020F0502020204030204"/>
              <a:cs typeface="Calibri" panose="020F0502020204030204"/>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593205" cy="4935220"/>
          </a:xfrm>
          <a:prstGeom prst="rect">
            <a:avLst/>
          </a:prstGeom>
        </p:spPr>
        <p:txBody>
          <a:bodyPr wrap="square" lIns="91440" tIns="45720" rIns="91440" bIns="45720" anchor="t">
            <a:normAutofit fontScale="90000" lnSpcReduction="10000"/>
          </a:bodyPr>
          <a:lstStyle>
            <a:lvl1pPr algn="l">
              <a:lnSpc>
                <a:spcPct val="83000"/>
              </a:lnSpc>
              <a:defRPr sz="2100" b="0" i="0" u="none" strike="noStrike" spc="0">
                <a:solidFill>
                  <a:srgbClr val="404040">
                    <a:alpha val="100000"/>
                  </a:srgbClr>
                </a:solidFill>
                <a:latin typeface="Calibri" panose="020F0502020204030204"/>
              </a:defRPr>
            </a:lvl1pPr>
          </a:lstStyle>
          <a:p>
            <a:pPr marL="266700" indent="-266700" algn="l">
              <a:lnSpc>
                <a:spcPct val="8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crit en</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Triton</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71500" lvl="1" indent="-228600" algn="l">
              <a:lnSpc>
                <a:spcPct val="93000"/>
              </a:lnSpc>
              <a:spcBef>
                <a:spcPts val="750"/>
              </a:spcBef>
              <a:buClr>
                <a:srgbClr val="404040"/>
              </a:buClr>
              <a:buChar char="•"/>
            </a:pP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Support natif de</a:t>
            </a: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CUDA</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a:t>
            </a: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MLU</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a:t>
            </a: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XPU</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a:t>
            </a: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NPU </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et plus de</a:t>
            </a: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10 </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backends matériels</a:t>
            </a:r>
            <a:endPar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266700" indent="-266700" algn="l">
              <a:lnSpc>
                <a:spcPct val="83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Opérateurs haute performance :</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71500" lvl="1" indent="-228600" algn="l">
              <a:lnSpc>
                <a:spcPct val="103000"/>
              </a:lnSpc>
              <a:spcBef>
                <a:spcPts val="750"/>
              </a:spcBef>
              <a:buClr>
                <a:srgbClr val="404040"/>
              </a:buClr>
              <a:buChar char="•"/>
            </a:pP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Calcul matriciel, mécanisme d'attention, normalisation, fonctions d'activation et autres opérateurs centraux pour l'entraînement et l'inférence</a:t>
            </a:r>
            <a:endPar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266700" indent="-266700" algn="l">
              <a:lnSpc>
                <a:spcPct val="83000"/>
              </a:lnSpc>
              <a:spcBef>
                <a:spcPts val="1500"/>
              </a:spcBef>
              <a:buClr>
                <a:srgbClr val="404040"/>
              </a:buClr>
              <a:buChar char="•"/>
            </a:pP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Cache de noyau</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LibEntry</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71500" lvl="1" indent="-228600" algn="l">
              <a:lnSpc>
                <a:spcPct val="103000"/>
              </a:lnSpc>
              <a:spcBef>
                <a:spcPts val="750"/>
              </a:spcBef>
              <a:buClr>
                <a:srgbClr val="404040"/>
              </a:buClr>
              <a:buChar char="•"/>
            </a:pPr>
            <a:r>
              <a:rPr lang="en-US" altLang="zh-CN"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Couche d'ordonnancement propri</a:t>
            </a:r>
            <a:r>
              <a:rPr lang="en-US" alt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taire rempla</a:t>
            </a:r>
            <a:r>
              <a:rPr lang="en-US" alt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ç</a:t>
            </a:r>
            <a:r>
              <a:rPr lang="en-US" altLang="zh-CN"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ant l'Autotuner natif de Triton, r</a:t>
            </a:r>
            <a:r>
              <a:rPr lang="en-US" alt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duisant significativement le co</a:t>
            </a:r>
            <a:r>
              <a:rPr lang="en-US" alt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û</a:t>
            </a:r>
            <a:r>
              <a:rPr lang="en-US" altLang="zh-CN"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t de compilation initiale et la latence de dispatc</a:t>
            </a: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h</a:t>
            </a:r>
            <a:endPar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a:p>
            <a:pPr marL="266700" indent="-266700" algn="l">
              <a:lnSpc>
                <a:spcPct val="83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Déploiement double mode :</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71500" lvl="1" indent="-228600" algn="l">
              <a:lnSpc>
                <a:spcPct val="93000"/>
              </a:lnSpc>
              <a:spcBef>
                <a:spcPts val="750"/>
              </a:spcBef>
              <a:buClr>
                <a:srgbClr val="404040"/>
              </a:buClr>
              <a:buChar char="•"/>
            </a:pPr>
            <a:r>
              <a:rPr lang="en-US" altLang="zh-CN"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Paquet pur Python (validation rapide) et extension C++ (acc</a:t>
            </a:r>
            <a:r>
              <a:rPr lang="en-US" alt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a:t>
            </a:r>
            <a:r>
              <a:rPr lang="en-US" alt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ration production) librement interchangeables, le chemin C++ </a:t>
            </a:r>
            <a:r>
              <a:rPr lang="en-US" alt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limine le co</a:t>
            </a:r>
            <a:r>
              <a:rPr lang="en-US" alt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û</a:t>
            </a:r>
            <a:r>
              <a:rPr lang="en-US" altLang="zh-CN"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t de la trame d'appel Pytho</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n</a:t>
            </a:r>
            <a:endPar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266700" indent="-266700" algn="l">
              <a:lnSpc>
                <a:spcPct val="83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Optimisation pilotée par configuration :</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71500" lvl="1" indent="-228600" algn="l">
              <a:lnSpc>
                <a:spcPct val="93000"/>
              </a:lnSpc>
              <a:spcBef>
                <a:spcPts val="750"/>
              </a:spcBef>
              <a:buClr>
                <a:srgbClr val="404040"/>
              </a:buClr>
              <a:buChar char="•"/>
            </a:pPr>
            <a:r>
              <a:rPr lang="en-US" altLang="zh-CN"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LibTuner recherche automatiquement les hyperparam</a:t>
            </a:r>
            <a:r>
              <a:rPr lang="en-US" alt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è</a:t>
            </a:r>
            <a:r>
              <a:rPr lang="en-US" altLang="zh-CN"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tres optimaux et les enregistre en YAML, r</a:t>
            </a:r>
            <a:r>
              <a:rPr lang="en-US" alt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utilisation directe au d</a:t>
            </a:r>
            <a:r>
              <a:rPr lang="en-US" alt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marrage à froid, sans nouveau benchmar</a:t>
            </a: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k</a:t>
            </a:r>
            <a:endPar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p:txBody>
      </p:sp>
      <p:pic>
        <p:nvPicPr>
          <p:cNvPr id="6" name="Picture 6"/>
          <p:cNvPicPr>
            <a:picLocks noChangeAspect="1"/>
          </p:cNvPicPr>
          <p:nvPr/>
        </p:nvPicPr>
        <p:blipFill>
          <a:blip r:embed="rId1"/>
          <a:srcRect/>
          <a:stretch>
            <a:fillRect/>
          </a:stretch>
        </p:blipFill>
        <p:spPr>
          <a:xfrm>
            <a:off x="6990715" y="1323975"/>
            <a:ext cx="4810760" cy="47218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Aperçu du système</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FlagTree</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Compilateur d'opérateurs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AI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multi-puces unifié</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Basé sur l'écosystème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Triton &amp; MLIR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Backends de puces support</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(plus de 10 puces IA principales, nationales et internationales</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NVIDIA</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Cambricon, Tsingmicro, Huawei Ascend, Moore Threads, etc.</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Plusieurs branches de Triton (v3.1 ~ v3.5) maintenues en parall</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le, chaque backend disposant de son propre CI/CD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741680" y="3359150"/>
            <a:ext cx="10964545" cy="2765907"/>
            <a:chOff x="741680" y="3359150"/>
            <a:chExt cx="10964545" cy="2765907"/>
          </a:xfrm>
        </p:grpSpPr>
        <p:sp>
          <p:nvSpPr>
            <p:cNvPr id="7" name="AutoShape 7"/>
            <p:cNvSpPr/>
            <p:nvPr/>
          </p:nvSpPr>
          <p:spPr>
            <a:xfrm>
              <a:off x="741680" y="3359150"/>
              <a:ext cx="2582578" cy="2765907"/>
            </a:xfrm>
            <a:prstGeom prst="rect">
              <a:avLst/>
            </a:prstGeom>
            <a:solidFill>
              <a:srgbClr val="FBF0F1">
                <a:alpha val="100000"/>
              </a:srgbClr>
            </a:solidFill>
            <a:ln w="25400">
              <a:solidFill>
                <a:srgbClr val="8B0012">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8" name="AutoShape 8"/>
            <p:cNvSpPr/>
            <p:nvPr/>
          </p:nvSpPr>
          <p:spPr>
            <a:xfrm>
              <a:off x="741680" y="3359150"/>
              <a:ext cx="2582578" cy="176428"/>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74168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Frontend Python</a:t>
              </a:r>
              <a:endParaRPr lang="en-US" sz="1100"/>
            </a:p>
          </p:txBody>
        </p:sp>
        <p:sp>
          <p:nvSpPr>
            <p:cNvPr id="10" name="AutoShape 10"/>
            <p:cNvSpPr/>
            <p:nvPr/>
          </p:nvSpPr>
          <p:spPr>
            <a:xfrm>
              <a:off x="74168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@triton.jit</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FlagGems LibEntry</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332425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2" name="AutoShape 12"/>
            <p:cNvSpPr/>
            <p:nvPr/>
          </p:nvSpPr>
          <p:spPr>
            <a:xfrm>
              <a:off x="3465289"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3" name="AutoShape 13"/>
            <p:cNvSpPr/>
            <p:nvPr/>
          </p:nvSpPr>
          <p:spPr>
            <a:xfrm>
              <a:off x="3535397" y="3359150"/>
              <a:ext cx="2582578" cy="2765907"/>
            </a:xfrm>
            <a:prstGeom prst="rect">
              <a:avLst/>
            </a:prstGeom>
            <a:solidFill>
              <a:srgbClr val="FBF0F1">
                <a:alpha val="100000"/>
              </a:srgbClr>
            </a:solidFill>
            <a:ln w="25400">
              <a:solidFill>
                <a:srgbClr val="B8860B">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14" name="AutoShape 14"/>
            <p:cNvSpPr/>
            <p:nvPr/>
          </p:nvSpPr>
          <p:spPr>
            <a:xfrm>
              <a:off x="3535397" y="3359150"/>
              <a:ext cx="2582578" cy="176428"/>
            </a:xfrm>
            <a:prstGeom prst="rect">
              <a:avLst/>
            </a:prstGeom>
            <a:solidFill>
              <a:srgbClr val="B8860B">
                <a:alpha val="100000"/>
              </a:srgbClr>
            </a:solidFill>
            <a:ln w="12700">
              <a:solidFill>
                <a:srgbClr val="B8860B">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353539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Couche intermédiaire compilateur</a:t>
              </a:r>
              <a:endParaRPr lang="en-US" sz="1100"/>
            </a:p>
          </p:txBody>
        </p:sp>
        <p:sp>
          <p:nvSpPr>
            <p:cNvPr id="16" name="AutoShape 16"/>
            <p:cNvSpPr/>
            <p:nvPr/>
          </p:nvSpPr>
          <p:spPr>
            <a:xfrm>
              <a:off x="353539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MLIR Dialects</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Triton-IR / TTGIR</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6117975"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6259006"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9" name="AutoShape 19"/>
            <p:cNvSpPr/>
            <p:nvPr/>
          </p:nvSpPr>
          <p:spPr>
            <a:xfrm>
              <a:off x="6329930" y="3359150"/>
              <a:ext cx="2582578" cy="2765907"/>
            </a:xfrm>
            <a:prstGeom prst="rect">
              <a:avLst/>
            </a:prstGeom>
            <a:solidFill>
              <a:srgbClr val="FBF0F1">
                <a:alpha val="100000"/>
              </a:srgbClr>
            </a:solidFill>
            <a:ln w="25400">
              <a:solidFill>
                <a:srgbClr val="C4314A">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0" name="AutoShape 20"/>
            <p:cNvSpPr/>
            <p:nvPr/>
          </p:nvSpPr>
          <p:spPr>
            <a:xfrm>
              <a:off x="6329930" y="3359150"/>
              <a:ext cx="2582578" cy="176428"/>
            </a:xfrm>
            <a:prstGeom prst="rect">
              <a:avLst/>
            </a:prstGeom>
            <a:solidFill>
              <a:srgbClr val="C4314A">
                <a:alpha val="100000"/>
              </a:srgbClr>
            </a:solidFill>
            <a:ln w="12700">
              <a:solidFill>
                <a:srgbClr val="C4314A">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632993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Génération de code backend</a:t>
              </a:r>
              <a:endParaRPr lang="en-US" sz="1100"/>
            </a:p>
          </p:txBody>
        </p:sp>
        <p:sp>
          <p:nvSpPr>
            <p:cNvPr id="22" name="AutoShape 22"/>
            <p:cNvSpPr/>
            <p:nvPr/>
          </p:nvSpPr>
          <p:spPr>
            <a:xfrm>
              <a:off x="632993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LLVM-IR → PTX</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ASM / Chaîne d'outils constructeur</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sp>
          <p:nvSpPr>
            <p:cNvPr id="23" name="AutoShape 23"/>
            <p:cNvSpPr/>
            <p:nvPr/>
          </p:nvSpPr>
          <p:spPr>
            <a:xfrm>
              <a:off x="891250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9052724"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25" name="AutoShape 25"/>
            <p:cNvSpPr/>
            <p:nvPr/>
          </p:nvSpPr>
          <p:spPr>
            <a:xfrm>
              <a:off x="9123647" y="3359150"/>
              <a:ext cx="2582578" cy="2765907"/>
            </a:xfrm>
            <a:prstGeom prst="rect">
              <a:avLst/>
            </a:prstGeom>
            <a:solidFill>
              <a:srgbClr val="FBF0F1">
                <a:alpha val="100000"/>
              </a:srgbClr>
            </a:solidFill>
            <a:ln w="25400">
              <a:solidFill>
                <a:srgbClr val="5C0009">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6" name="AutoShape 26"/>
            <p:cNvSpPr/>
            <p:nvPr/>
          </p:nvSpPr>
          <p:spPr>
            <a:xfrm>
              <a:off x="9123647" y="3359150"/>
              <a:ext cx="2582578" cy="176428"/>
            </a:xfrm>
            <a:prstGeom prst="rect">
              <a:avLst/>
            </a:prstGeom>
            <a:solidFill>
              <a:srgbClr val="5C0009">
                <a:alpha val="100000"/>
              </a:srgbClr>
            </a:solidFill>
            <a:ln w="12700">
              <a:solidFill>
                <a:srgbClr val="5C0009">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912364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Chargement d'exécution</a:t>
              </a:r>
              <a:endParaRPr lang="en-US" sz="1100"/>
            </a:p>
          </p:txBody>
        </p:sp>
        <p:sp>
          <p:nvSpPr>
            <p:cNvPr id="28" name="AutoShape 28"/>
            <p:cNvSpPr/>
            <p:nvPr/>
          </p:nvSpPr>
          <p:spPr>
            <a:xfrm>
              <a:off x="912364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Cache JIT</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Unified HW Manager</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Conception de</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tle.gpu.local_ptr</a:t>
            </a:r>
            <a:b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b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11277600" cy="135826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Extension</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FlagTree TLE</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 Primitive de pointeur</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Shared Memory</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Idée centrale : introduire une primitive dédiée au niveau du langage</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Triton</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permettant au compilateur de percevoir les opérations de pointeur</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shared memory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et de générer des instructions spécialisées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04800" indent="-304800" algn="l">
              <a:lnSpc>
                <a:spcPct val="100000"/>
              </a:lnSpc>
              <a:spcBef>
                <a:spcPts val="1500"/>
              </a:spcBef>
              <a:buClr>
                <a:srgbClr val="404040"/>
              </a:buClr>
              <a:buChar char="•"/>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295900" y="2873375"/>
            <a:ext cx="6773545" cy="2985770"/>
          </a:xfrm>
          <a:prstGeom prst="rect">
            <a:avLst/>
          </a:prstGeom>
          <a:no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Courier New Regular"/>
                <a:ea typeface="Courier New Regular"/>
                <a:cs typeface="Courier New Regular"/>
                <a:sym typeface="Courier New Regular"/>
              </a:rPr>
              <a:t># tle.gpu.local_ptr: </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obtenir un pointeur vers une position spécifiée en</a:t>
            </a:r>
            <a:r>
              <a:rPr lang="en-US" sz="1600" b="0" i="0" u="none" strike="noStrike">
                <a:solidFill>
                  <a:srgbClr val="000000"/>
                </a:solidFill>
                <a:latin typeface="Courier New Regular"/>
                <a:ea typeface="Courier New Regular"/>
                <a:cs typeface="Courier New Regular"/>
                <a:sym typeface="Courier New Regular"/>
              </a:rPr>
              <a:t> shared memory</a:t>
            </a:r>
            <a:endParaRPr lang="en-US" sz="1100"/>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def local_ptr(ptr: tl.tensor, offset: tl.tensor) -&gt; tl.tensor:</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Retourne un pointeur vers la position</a:t>
            </a:r>
            <a:r>
              <a:rPr lang="en-US" sz="1600" b="0" i="0" u="none" strike="noStrike">
                <a:solidFill>
                  <a:srgbClr val="000000"/>
                </a:solidFill>
                <a:latin typeface="Courier New Regular"/>
                <a:ea typeface="Courier New Regular"/>
                <a:cs typeface="Courier New Regular"/>
                <a:sym typeface="Courier New Regular"/>
              </a:rPr>
              <a:t> dans le</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GPU Shared Memory</a:t>
            </a:r>
            <a:r>
              <a:rPr lang="en-US" sz="1600" b="0" i="0" u="none" strike="noStrike">
                <a:solidFill>
                  <a:srgbClr val="000000"/>
                </a:solidFill>
                <a:latin typeface="Courier New Regular"/>
                <a:ea typeface="Courier New Regular"/>
                <a:cs typeface="Courier New Regular"/>
                <a:sym typeface="Courier New Regular"/>
              </a:rPr>
              <a:t> (ptr + offset)</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Différence avec</a:t>
            </a:r>
            <a:r>
              <a:rPr lang="en-US" sz="1600" b="0" i="0" u="none" strike="noStrike">
                <a:solidFill>
                  <a:srgbClr val="000000"/>
                </a:solidFill>
                <a:latin typeface="Courier New Regular"/>
                <a:ea typeface="Courier New Regular"/>
                <a:cs typeface="Courier New Regular"/>
                <a:sym typeface="Courier New Regular"/>
              </a:rPr>
              <a:t> tl.make_block_ptr</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 opère directement sur l'adresse</a:t>
            </a:r>
            <a:r>
              <a:rPr lang="en-US" sz="1600" b="0" i="0" u="none" strike="noStrike">
                <a:solidFill>
                  <a:srgbClr val="000000"/>
                </a:solidFill>
                <a:latin typeface="Courier New Regular"/>
                <a:ea typeface="Courier New Regular"/>
                <a:cs typeface="Courier New Regular"/>
                <a:sym typeface="Courier New Regular"/>
              </a:rPr>
              <a:t> shared memory</a:t>
            </a:r>
            <a:br>
              <a:rPr lang="en-US" sz="1600" b="0" i="0" u="none" strike="noStrike">
                <a:solidFill>
                  <a:srgbClr val="000000"/>
                </a:solidFill>
                <a:latin typeface="Courier New Regular"/>
                <a:ea typeface="Courier New Regular"/>
                <a:cs typeface="Courier New Regular"/>
                <a:sym typeface="Courier New Regular"/>
              </a:rPr>
            </a:br>
            <a:r>
              <a:rPr lang="en-US" sz="1600" b="0" i="0" u="none" strike="noStrike">
                <a:solidFill>
                  <a:srgbClr val="000000"/>
                </a:solidFill>
                <a:latin typeface="Courier New Regular"/>
                <a:ea typeface="Courier New Regular"/>
                <a:cs typeface="Courier New Regular"/>
                <a:sym typeface="Courier New Regular"/>
              </a:rPr>
              <a:t>  </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permettant au compilateur d'émettre des instructions</a:t>
            </a:r>
            <a:r>
              <a:rPr lang="en-US" sz="1600" b="0" i="0" u="none" strike="noStrike">
                <a:solidFill>
                  <a:srgbClr val="000000"/>
                </a:solidFill>
                <a:latin typeface="Courier New Regular"/>
                <a:ea typeface="Courier New Regular"/>
                <a:cs typeface="Courier New Regular"/>
                <a:sym typeface="Courier New Regular"/>
              </a:rPr>
              <a:t> local load/store</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spécifiques à l'architecture</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文本框 6"/>
          <p:cNvSpPr txBox="1"/>
          <p:nvPr/>
        </p:nvSpPr>
        <p:spPr>
          <a:xfrm>
            <a:off x="523875" y="2569210"/>
            <a:ext cx="4772025" cy="3838575"/>
          </a:xfrm>
          <a:prstGeom prst="rect">
            <a:avLst/>
          </a:prstGeom>
          <a:noFill/>
        </p:spPr>
        <p:txBody>
          <a:bodyPr wrap="square" rtlCol="0">
            <a:spAutoFit/>
          </a:bodyPr>
          <a:p>
            <a:pPr marL="304800" indent="-304800" algn="l">
              <a:lnSpc>
                <a:spcPct val="100000"/>
              </a:lnSpc>
              <a:spcBef>
                <a:spcPts val="1500"/>
              </a:spcBef>
              <a:buClr>
                <a:srgbClr val="404040"/>
              </a:buClr>
              <a:buSzTx/>
              <a:buChar char="•"/>
            </a:pPr>
            <a:r>
              <a:rPr lang="en-US" sz="2000">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Points de conception</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1800">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Déclarer explicitement l'opération sur</a:t>
            </a:r>
            <a:r>
              <a:rPr lang="en-US" sz="1800">
                <a:solidFill>
                  <a:srgbClr val="404040"/>
                </a:solidFill>
                <a:latin typeface="Calibri" panose="020F0502020204030204" charset="0"/>
                <a:ea typeface="Calibri" panose="020F0502020204030204"/>
                <a:cs typeface="Calibri" panose="020F0502020204030204" charset="0"/>
                <a:sym typeface="Calibri" panose="020F0502020204030204"/>
              </a:rPr>
              <a:t> shared memory</a:t>
            </a:r>
            <a:endPar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a:p>
            <a:pPr marL="596900" lvl="1" indent="-254000" algn="l">
              <a:lnSpc>
                <a:spcPct val="100000"/>
              </a:lnSpc>
              <a:spcBef>
                <a:spcPts val="750"/>
              </a:spcBef>
              <a:buClr>
                <a:srgbClr val="404040"/>
              </a:buClr>
              <a:buChar char="•"/>
            </a:pPr>
            <a:r>
              <a:rPr lang="en-US" sz="1800">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Visible par le compilateur, </a:t>
            </a:r>
            <a:r>
              <a:rPr lang="en-US" sz="1800">
                <a:solidFill>
                  <a:srgbClr val="404040"/>
                </a:solidFill>
                <a:latin typeface="Calibri" panose="020F0502020204030204" charset="0"/>
                <a:ea typeface="Calibri" panose="020F0502020204030204"/>
                <a:cs typeface="Calibri" panose="020F0502020204030204" charset="0"/>
                <a:sym typeface="Calibri" panose="020F0502020204030204"/>
              </a:rPr>
              <a:t>lowering pass </a:t>
            </a:r>
            <a:r>
              <a:rPr lang="en-US" sz="1800">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identifiable</a:t>
            </a:r>
            <a:endParaRPr lang="en-US" sz="1800">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altLang="zh-CN" sz="1800">
                <a:solidFill>
                  <a:srgbClr val="404040"/>
                </a:solidFill>
                <a:latin typeface="Calibri" panose="020F0502020204030204" charset="0"/>
                <a:ea typeface="Calibri" panose="020F0502020204030204"/>
                <a:cs typeface="Calibri" panose="020F0502020204030204" charset="0"/>
                <a:sym typeface="Calibri" panose="020F0502020204030204"/>
              </a:rPr>
              <a:t>Unifi</a:t>
            </a:r>
            <a:r>
              <a:rPr lang="en-US" altLang="en-US" sz="1800">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800">
                <a:solidFill>
                  <a:srgbClr val="404040"/>
                </a:solidFill>
                <a:latin typeface="Calibri" panose="020F0502020204030204" charset="0"/>
                <a:ea typeface="Calibri" panose="020F0502020204030204"/>
                <a:cs typeface="Calibri" panose="020F0502020204030204" charset="0"/>
                <a:sym typeface="Calibri" panose="020F0502020204030204"/>
              </a:rPr>
              <a:t>e au niveau TLE, chaque backend impl</a:t>
            </a:r>
            <a:r>
              <a:rPr lang="en-US" altLang="en-US" sz="1800">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800">
                <a:solidFill>
                  <a:srgbClr val="404040"/>
                </a:solidFill>
                <a:latin typeface="Calibri" panose="020F0502020204030204" charset="0"/>
                <a:ea typeface="Calibri" panose="020F0502020204030204"/>
                <a:cs typeface="Calibri" panose="020F0502020204030204" charset="0"/>
                <a:sym typeface="Calibri" panose="020F0502020204030204"/>
              </a:rPr>
              <a:t>mentant s</a:t>
            </a:r>
            <a:r>
              <a:rPr lang="en-US" altLang="en-US" sz="1800">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800">
                <a:solidFill>
                  <a:srgbClr val="404040"/>
                </a:solidFill>
                <a:latin typeface="Calibri" panose="020F0502020204030204" charset="0"/>
                <a:ea typeface="Calibri" panose="020F0502020204030204"/>
                <a:cs typeface="Calibri" panose="020F0502020204030204" charset="0"/>
                <a:sym typeface="Calibri" panose="020F0502020204030204"/>
              </a:rPr>
              <a:t>par</a:t>
            </a:r>
            <a:r>
              <a:rPr lang="en-US" altLang="en-US" sz="1800">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800">
                <a:solidFill>
                  <a:srgbClr val="404040"/>
                </a:solidFill>
                <a:latin typeface="Calibri" panose="020F0502020204030204" charset="0"/>
                <a:ea typeface="Calibri" panose="020F0502020204030204"/>
                <a:cs typeface="Calibri" panose="020F0502020204030204" charset="0"/>
                <a:sym typeface="Calibri" panose="020F0502020204030204"/>
              </a:rPr>
              <a:t>ment le lowering de local_ptr</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1800">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Zéro surcoût d'exécution</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42900" lvl="1" indent="0" algn="l">
              <a:lnSpc>
                <a:spcPct val="100000"/>
              </a:lnSpc>
              <a:spcBef>
                <a:spcPts val="750"/>
              </a:spcBef>
            </a:pPr>
            <a:endParaRPr lang="zh-CN" altLang="en-US"/>
          </a:p>
          <a:p>
            <a:pPr marL="342900" lvl="1" indent="0" algn="l">
              <a:lnSpc>
                <a:spcPct val="100000"/>
              </a:lnSpc>
              <a:spcBef>
                <a:spcPts val="750"/>
              </a:spcBef>
            </a:pPr>
            <a:r>
              <a:rPr lang="en-US">
                <a:solidFill>
                  <a:srgbClr val="404040"/>
                </a:solidFill>
                <a:latin typeface="Calibri" panose="020F0502020204030204"/>
                <a:ea typeface="Calibri" panose="020F0502020204030204"/>
                <a:cs typeface="Calibri" panose="020F0502020204030204"/>
                <a:sym typeface="Calibri" panose="020F0502020204030204"/>
              </a:rPr>
              <a:t> </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Flux de conversion de</a:t>
            </a:r>
            <a:r>
              <a:rPr lang="en-US" sz="24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tle.gpu.local_ptr</a:t>
            </a:r>
            <a:r>
              <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vers instructions spécialisées d'architecture</a:t>
            </a:r>
            <a:endPar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Pass</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clé :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LocalPtrToSharedMemPass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Intégration du</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Pass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du compilateur</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pSp>
        <p:nvGrpSpPr>
          <p:cNvPr id="6" name="Group 6"/>
          <p:cNvGrpSpPr/>
          <p:nvPr/>
        </p:nvGrpSpPr>
        <p:grpSpPr>
          <a:xfrm>
            <a:off x="1313180" y="2091055"/>
            <a:ext cx="9988568" cy="1215390"/>
            <a:chOff x="1313180" y="2091055"/>
            <a:chExt cx="9988568" cy="1215390"/>
          </a:xfrm>
        </p:grpSpPr>
        <p:sp>
          <p:nvSpPr>
            <p:cNvPr id="7" name="AutoShape 7"/>
            <p:cNvSpPr/>
            <p:nvPr/>
          </p:nvSpPr>
          <p:spPr>
            <a:xfrm>
              <a:off x="1313180" y="2091055"/>
              <a:ext cx="1750533" cy="1191381"/>
            </a:xfrm>
            <a:prstGeom prst="rect">
              <a:avLst/>
            </a:prstGeom>
            <a:solidFill>
              <a:srgbClr val="F5F5F5">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1313180" y="2150813"/>
              <a:ext cx="1750533" cy="476553"/>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00" b="1" i="0" u="none" strike="noStrike">
                  <a:solidFill>
                    <a:srgbClr val="1A1A1A"/>
                  </a:solidFill>
                  <a:latin typeface="Arial" panose="020B0604020202020204"/>
                  <a:ea typeface="Arial" panose="020B0604020202020204"/>
                  <a:cs typeface="Arial" panose="020B0604020202020204"/>
                  <a:sym typeface="Arial" panose="020B0604020202020204"/>
                </a:rPr>
                <a:t>Triton Python</a:t>
              </a:r>
              <a:endParaRPr lang="en-US" sz="1100"/>
            </a:p>
            <a:p>
              <a:pPr indent="0" algn="ctr">
                <a:lnSpc>
                  <a:spcPct val="100000"/>
                </a:lnSpc>
              </a:pPr>
              <a:r>
                <a:rPr lang="en-US" sz="14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Code source</a:t>
              </a:r>
              <a:endParaRPr lang="en-US" sz="14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1313180" y="2686368"/>
              <a:ext cx="1750533" cy="536311"/>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Opérateur</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FlagGems</a:t>
              </a:r>
              <a:endParaRPr lang="en-US" sz="1200"/>
            </a:p>
            <a:p>
              <a:pPr indent="0" algn="ctr">
                <a:lnSpc>
                  <a:spcPct val="100000"/>
                </a:lnSpc>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appelant</a:t>
              </a: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 local_ptr</a:t>
              </a:r>
              <a:endParaRPr lang="en-US" sz="12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3115373" y="2567608"/>
              <a:ext cx="205984" cy="59758"/>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3373016" y="2091055"/>
              <a:ext cx="1750533" cy="1191381"/>
            </a:xfrm>
            <a:prstGeom prst="rect">
              <a:avLst/>
            </a:prstGeom>
            <a:solidFill>
              <a:srgbClr val="FFF3E0">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3373016" y="2150813"/>
              <a:ext cx="1750533" cy="476553"/>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00" b="1" i="0" u="none" strike="noStrike">
                  <a:solidFill>
                    <a:srgbClr val="E65100"/>
                  </a:solidFill>
                  <a:latin typeface="Arial" panose="020B0604020202020204"/>
                  <a:ea typeface="Arial" panose="020B0604020202020204"/>
                  <a:cs typeface="Arial" panose="020B0604020202020204"/>
                  <a:sym typeface="Arial" panose="020B0604020202020204"/>
                </a:rPr>
                <a:t>Triton IR</a:t>
              </a:r>
              <a:endParaRPr lang="en-US" sz="1100"/>
            </a:p>
            <a:p>
              <a:pPr indent="0" algn="ctr">
                <a:lnSpc>
                  <a:spcPct val="100000"/>
                </a:lnSpc>
              </a:pPr>
              <a:r>
                <a:rPr lang="en-US" sz="1400" b="1" i="0" u="none" strike="noStrike">
                  <a:solidFill>
                    <a:srgbClr val="E65100"/>
                  </a:solidFill>
                  <a:latin typeface="Arial" panose="020B0604020202020204"/>
                  <a:ea typeface="Arial" panose="020B0604020202020204"/>
                  <a:cs typeface="Arial" panose="020B0604020202020204"/>
                  <a:sym typeface="Arial" panose="020B0604020202020204"/>
                </a:rPr>
                <a:t>(TTIR)</a:t>
              </a:r>
              <a:endParaRPr lang="en-US" sz="1400" b="1" i="0" u="none" strike="noStrike">
                <a:solidFill>
                  <a:srgbClr val="E65100"/>
                </a:solidFill>
                <a:latin typeface="Arial" panose="020B0604020202020204"/>
                <a:ea typeface="Arial" panose="020B0604020202020204"/>
                <a:cs typeface="Arial" panose="020B0604020202020204"/>
                <a:sym typeface="Arial" panose="020B0604020202020204"/>
              </a:endParaRPr>
            </a:p>
          </p:txBody>
        </p:sp>
        <p:sp>
          <p:nvSpPr>
            <p:cNvPr id="13" name="AutoShape 13"/>
            <p:cNvSpPr/>
            <p:nvPr/>
          </p:nvSpPr>
          <p:spPr>
            <a:xfrm>
              <a:off x="3424555" y="2627630"/>
              <a:ext cx="1750695" cy="678815"/>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Nœud</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local_ptr</a:t>
              </a:r>
              <a:endParaRPr lang="en-US" sz="1200"/>
            </a:p>
            <a:p>
              <a:pPr indent="0" algn="ctr">
                <a:lnSpc>
                  <a:spcPct val="100000"/>
                </a:lnSpc>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conservé dans l'</a:t>
              </a: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 IR </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Joue</a:t>
              </a:r>
              <a:endParaRPr lang="en-US" sz="16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AutoShape 14"/>
            <p:cNvSpPr/>
            <p:nvPr/>
          </p:nvSpPr>
          <p:spPr>
            <a:xfrm>
              <a:off x="5175209" y="2567608"/>
              <a:ext cx="205984" cy="59758"/>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5432198" y="2091055"/>
              <a:ext cx="1750533" cy="1191381"/>
            </a:xfrm>
            <a:prstGeom prst="rect">
              <a:avLst/>
            </a:prstGeom>
            <a:solidFill>
              <a:srgbClr val="FCE4EC">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5432198" y="2150813"/>
              <a:ext cx="1750533" cy="476553"/>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00" b="1" i="0" u="none" strike="noStrike">
                  <a:solidFill>
                    <a:srgbClr val="8B0012"/>
                  </a:solidFill>
                  <a:latin typeface="Arial" panose="020B0604020202020204"/>
                  <a:ea typeface="Arial" panose="020B0604020202020204"/>
                  <a:cs typeface="Arial" panose="020B0604020202020204"/>
                  <a:sym typeface="Arial" panose="020B0604020202020204"/>
                </a:rPr>
                <a:t>TTGIR</a:t>
              </a:r>
              <a:endParaRPr lang="en-US" sz="1100"/>
            </a:p>
            <a:p>
              <a:pPr indent="0" algn="ctr">
                <a:lnSpc>
                  <a:spcPct val="100000"/>
                </a:lnSpc>
              </a:pPr>
              <a:r>
                <a:rPr lang="en-US" sz="1400" b="1" i="0" u="none" strike="noStrike">
                  <a:solidFill>
                    <a:srgbClr val="8B0012"/>
                  </a:solidFill>
                  <a:latin typeface="Arial" panose="020B0604020202020204"/>
                  <a:ea typeface="Arial" panose="020B0604020202020204"/>
                  <a:cs typeface="Arial" panose="020B0604020202020204"/>
                  <a:sym typeface="Arial" panose="020B0604020202020204"/>
                </a:rPr>
                <a:t>(Triton GPU IR)</a:t>
              </a:r>
              <a:endParaRPr lang="en-US" sz="1400" b="1" i="0" u="none" strike="noStrike">
                <a:solidFill>
                  <a:srgbClr val="8B0012"/>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5432198" y="2686368"/>
              <a:ext cx="1750533" cy="536311"/>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Pass </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identifiant</a:t>
              </a:r>
              <a:endParaRPr lang="en-US" sz="1200"/>
            </a:p>
            <a:p>
              <a:pPr indent="0" algn="ctr">
                <a:lnSpc>
                  <a:spcPct val="100000"/>
                </a:lnSpc>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le nœud</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local_ptr</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AutoShape 18"/>
            <p:cNvSpPr/>
            <p:nvPr/>
          </p:nvSpPr>
          <p:spPr>
            <a:xfrm>
              <a:off x="7234391" y="2567608"/>
              <a:ext cx="205984" cy="59758"/>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7492034" y="2091055"/>
              <a:ext cx="1750533" cy="1191381"/>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0" name="AutoShape 20"/>
            <p:cNvSpPr/>
            <p:nvPr/>
          </p:nvSpPr>
          <p:spPr>
            <a:xfrm>
              <a:off x="7348855" y="2091055"/>
              <a:ext cx="1778635" cy="47625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Pass</a:t>
              </a: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de spécialisation</a:t>
              </a:r>
              <a:endParaRPr lang="en-US" sz="1100"/>
            </a:p>
            <a:p>
              <a:pPr indent="0" algn="ctr">
                <a:lnSpc>
                  <a:spcPct val="100000"/>
                </a:lnSpc>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traitant</a:t>
              </a:r>
              <a:endPar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AutoShape 21"/>
            <p:cNvSpPr/>
            <p:nvPr/>
          </p:nvSpPr>
          <p:spPr>
            <a:xfrm>
              <a:off x="7492034" y="2763203"/>
              <a:ext cx="1750533" cy="536311"/>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Remplacement par</a:t>
              </a:r>
              <a:endParaRPr lang="en-US" sz="1200"/>
            </a:p>
            <a:p>
              <a:pPr indent="0" algn="ctr">
                <a:lnSpc>
                  <a:spcPct val="100000"/>
                </a:lnSpc>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local load/store</a:t>
              </a:r>
              <a:endParaRPr lang="en-US" sz="1200" b="0"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22" name="AutoShape 22"/>
            <p:cNvSpPr/>
            <p:nvPr/>
          </p:nvSpPr>
          <p:spPr>
            <a:xfrm>
              <a:off x="9294226" y="2567608"/>
              <a:ext cx="205984" cy="59758"/>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9551215" y="2091055"/>
              <a:ext cx="1750533" cy="1191381"/>
            </a:xfrm>
            <a:prstGeom prst="rect">
              <a:avLst/>
            </a:prstGeom>
            <a:solidFill>
              <a:srgbClr val="E8F5E9">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4" name="AutoShape 24"/>
            <p:cNvSpPr/>
            <p:nvPr/>
          </p:nvSpPr>
          <p:spPr>
            <a:xfrm>
              <a:off x="9551215" y="2091123"/>
              <a:ext cx="1750533" cy="476553"/>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1" i="0" u="none" strike="noStrike">
                  <a:solidFill>
                    <a:srgbClr val="2E7D32"/>
                  </a:solidFill>
                  <a:latin typeface="Arial" panose="020B0604020202020204"/>
                  <a:ea typeface="Arial" panose="020B0604020202020204"/>
                  <a:cs typeface="Arial" panose="020B0604020202020204"/>
                  <a:sym typeface="Arial" panose="020B0604020202020204"/>
                </a:rPr>
                <a:t>LLVM IR /</a:t>
              </a:r>
              <a:endParaRPr lang="en-US" sz="1200"/>
            </a:p>
            <a:p>
              <a:pPr indent="0" algn="ctr">
                <a:lnSpc>
                  <a:spcPct val="100000"/>
                </a:lnSpc>
              </a:pPr>
              <a:r>
                <a:rPr lang="en-US" sz="1200" b="1" i="0" u="none" strike="noStrike">
                  <a:solidFill>
                    <a:srgbClr val="2E7D32"/>
                  </a:solidFill>
                  <a:latin typeface="微软雅黑" panose="020B0503020204020204" charset="-122"/>
                  <a:ea typeface="微软雅黑" panose="020B0503020204020204" charset="-122"/>
                  <a:cs typeface="微软雅黑" panose="020B0503020204020204" charset="-122"/>
                  <a:sym typeface="微软雅黑" panose="020B0503020204020204" charset="-122"/>
                </a:rPr>
                <a:t>Assembleur cible</a:t>
              </a:r>
              <a:endParaRPr lang="en-US" sz="1200" b="1" i="0" u="none" strike="noStrike">
                <a:solidFill>
                  <a:srgbClr val="2E7D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AutoShape 25"/>
            <p:cNvSpPr/>
            <p:nvPr/>
          </p:nvSpPr>
          <p:spPr>
            <a:xfrm>
              <a:off x="9551215" y="2518728"/>
              <a:ext cx="1750533" cy="536311"/>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Génération de la séquence</a:t>
              </a:r>
              <a:endParaRPr lang="en-US" sz="1200"/>
            </a:p>
            <a:p>
              <a:pPr indent="0" algn="ctr">
                <a:lnSpc>
                  <a:spcPct val="100000"/>
                </a:lnSpc>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d'instructions d'accès mémoire optimale</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26" name="AutoShape 26"/>
          <p:cNvSpPr/>
          <p:nvPr/>
        </p:nvSpPr>
        <p:spPr>
          <a:xfrm>
            <a:off x="1281430" y="3877945"/>
            <a:ext cx="9761855" cy="2553335"/>
          </a:xfrm>
          <a:prstGeom prst="rect">
            <a:avLst/>
          </a:prstGeom>
          <a:noFill/>
          <a:ln w="12700">
            <a:solidFill>
              <a:srgbClr val="8B0012">
                <a:alpha val="100000"/>
              </a:srgbClr>
            </a:solidFill>
            <a:prstDash val="solid"/>
          </a:ln>
        </p:spPr>
        <p:txBody>
          <a:bodyPr wrap="square" lIns="91440" tIns="45720" rIns="91440" bIns="45720" rtlCol="0" anchor="t">
            <a:spAutoFit/>
          </a:bodyPr>
          <a:lstStyle/>
          <a:p>
            <a:pPr algn="l">
              <a:lnSpc>
                <a:spcPct val="100000"/>
              </a:lnSpc>
              <a:buSzTx/>
            </a:pPr>
            <a:r>
              <a:rPr lang="en-US" sz="1600" b="0" i="0" u="none" strike="noStrike">
                <a:solidFill>
                  <a:srgbClr val="000000"/>
                </a:solidFill>
                <a:latin typeface="Courier New Regular"/>
                <a:ea typeface="Courier New Regular"/>
                <a:cs typeface="Courier New Regular"/>
                <a:sym typeface="Courier New Regular"/>
              </a:rPr>
              <a:t>// FlagTree: lib/Dialect/TritonGPU/Transforms/LocalPtrToSharedMem.cpp</a:t>
            </a:r>
            <a:endParaRPr lang="en-US" sz="1600">
              <a:latin typeface="Courier New Regular"/>
              <a:ea typeface="Courier New Regular"/>
              <a:cs typeface="Courier New Regular"/>
            </a:endParaRPr>
          </a:p>
          <a:p>
            <a:pPr algn="l">
              <a:lnSpc>
                <a:spcPct val="100000"/>
              </a:lnSpc>
              <a:buSzTx/>
            </a:pPr>
            <a:r>
              <a:rPr lang="en-US" sz="1600" b="0" i="0" u="none" strike="noStrike">
                <a:solidFill>
                  <a:srgbClr val="000000"/>
                </a:solidFill>
                <a:latin typeface="Courier New Regular"/>
                <a:ea typeface="Courier New Regular"/>
                <a:cs typeface="Courier New Regular"/>
                <a:sym typeface="Courier New Regular"/>
              </a:rPr>
              <a:t>class LocalPtrToSharedMemPass : public ...&lt;LocalPtrToSharedMemPass&gt; {</a:t>
            </a:r>
            <a:endParaRPr lang="en-US" sz="1600"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sz="1600" b="0" i="0" u="none" strike="noStrike">
                <a:solidFill>
                  <a:srgbClr val="000000"/>
                </a:solidFill>
                <a:latin typeface="Courier New Regular"/>
                <a:ea typeface="Courier New Regular"/>
                <a:cs typeface="Courier New Regular"/>
                <a:sym typeface="Courier New Regular"/>
              </a:rPr>
              <a:t>  void runOnOperation() override {</a:t>
            </a:r>
            <a:endParaRPr lang="en-US" sz="1600"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sz="1600" b="0" i="0" u="none" strike="noStrike">
                <a:solidFill>
                  <a:srgbClr val="000000"/>
                </a:solidFill>
                <a:latin typeface="Courier New Regular"/>
                <a:ea typeface="Courier New Regular"/>
                <a:cs typeface="Courier New Regular"/>
                <a:sym typeface="Courier New Regular"/>
              </a:rPr>
              <a:t>    // </a:t>
            </a:r>
            <a:r>
              <a:rPr lang="en-US" sz="1600" b="0" i="0" u="none" strike="noStrike">
                <a:solidFill>
                  <a:srgbClr val="000000"/>
                </a:solidFill>
                <a:latin typeface="Courier New Regular"/>
                <a:ea typeface="Courier New Regular"/>
                <a:cs typeface="Courier New Regular"/>
                <a:sym typeface="微软雅黑" panose="020B0503020204020204" charset="-122"/>
              </a:rPr>
              <a:t>Parcourir tous les nœuds d'opération</a:t>
            </a:r>
            <a:r>
              <a:rPr lang="en-US" sz="1600" b="0" i="0" u="none" strike="noStrike">
                <a:solidFill>
                  <a:srgbClr val="000000"/>
                </a:solidFill>
                <a:latin typeface="Courier New Regular"/>
                <a:ea typeface="Courier New Regular"/>
                <a:cs typeface="Courier New Regular"/>
                <a:sym typeface="Courier New Regular"/>
              </a:rPr>
              <a:t> tle.gpu.local_ptr</a:t>
            </a:r>
            <a:endParaRPr lang="en-US" sz="1600"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sz="1600" b="0" i="0" u="none" strike="noStrike">
                <a:solidFill>
                  <a:srgbClr val="000000"/>
                </a:solidFill>
                <a:latin typeface="Courier New Regular"/>
                <a:ea typeface="Courier New Regular"/>
                <a:cs typeface="Courier New Regular"/>
                <a:sym typeface="Courier New Regular"/>
              </a:rPr>
              <a:t>    getOperation()-&gt;walk([&amp;](tle::gpu::LocalPtrOp op) {</a:t>
            </a:r>
            <a:endParaRPr lang="en-US" sz="1600"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sz="1600" b="0" i="0" u="none" strike="noStrike">
                <a:solidFill>
                  <a:srgbClr val="000000"/>
                </a:solidFill>
                <a:latin typeface="Courier New Regular"/>
                <a:ea typeface="Courier New Regular"/>
                <a:cs typeface="Courier New Regular"/>
                <a:sym typeface="Courier New Regular"/>
              </a:rPr>
              <a:t>      // </a:t>
            </a:r>
            <a:r>
              <a:rPr lang="en-US" sz="1600" b="0" i="0" u="none" strike="noStrike">
                <a:solidFill>
                  <a:srgbClr val="000000"/>
                </a:solidFill>
                <a:latin typeface="Courier New Regular"/>
                <a:ea typeface="Courier New Regular"/>
                <a:cs typeface="Courier New Regular"/>
                <a:sym typeface="微软雅黑" panose="020B0503020204020204" charset="-122"/>
              </a:rPr>
              <a:t>Remplacer</a:t>
            </a:r>
            <a:r>
              <a:rPr lang="en-US" sz="1600" b="0" i="0" u="none" strike="noStrike">
                <a:solidFill>
                  <a:srgbClr val="000000"/>
                </a:solidFill>
                <a:latin typeface="Courier New Regular"/>
                <a:ea typeface="Courier New Regular"/>
                <a:cs typeface="Courier New Regular"/>
                <a:sym typeface="Courier New Regular"/>
              </a:rPr>
              <a:t> local_ptr </a:t>
            </a:r>
            <a:r>
              <a:rPr lang="en-US" sz="1600" b="0" i="0" u="none" strike="noStrike">
                <a:solidFill>
                  <a:srgbClr val="000000"/>
                </a:solidFill>
                <a:latin typeface="Courier New Regular"/>
                <a:ea typeface="Courier New Regular"/>
                <a:cs typeface="Courier New Regular"/>
                <a:sym typeface="微软雅黑" panose="020B0503020204020204" charset="-122"/>
              </a:rPr>
              <a:t>par l'intrinsic shared memory de la puce cible</a:t>
            </a:r>
            <a:endParaRPr lang="en-US" sz="1600" b="0" i="0" u="none" strike="noStrike">
              <a:solidFill>
                <a:srgbClr val="000000"/>
              </a:solidFill>
              <a:latin typeface="Courier New Regular"/>
              <a:ea typeface="Courier New Regular"/>
              <a:cs typeface="Courier New Regular"/>
              <a:sym typeface="微软雅黑" panose="020B0503020204020204" charset="-122"/>
            </a:endParaRPr>
          </a:p>
          <a:p>
            <a:pPr algn="l">
              <a:lnSpc>
                <a:spcPct val="100000"/>
              </a:lnSpc>
              <a:buSzTx/>
            </a:pPr>
            <a:r>
              <a:rPr lang="en-US" sz="1600" b="0" i="0" u="none" strike="noStrike">
                <a:solidFill>
                  <a:srgbClr val="000000"/>
                </a:solidFill>
                <a:latin typeface="Courier New Regular"/>
                <a:ea typeface="Courier New Regular"/>
                <a:cs typeface="Courier New Regular"/>
                <a:sym typeface="Courier New Regular"/>
              </a:rPr>
              <a:t>      rewriter.replaceOpWithNewOp&lt;gpu::SharedMemLoadOp&gt;(op, ...);</a:t>
            </a:r>
            <a:endParaRPr lang="en-US" sz="1600"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sz="1600" b="0" i="0" u="none" strike="noStrike">
                <a:solidFill>
                  <a:srgbClr val="000000"/>
                </a:solidFill>
                <a:latin typeface="Courier New Regular"/>
                <a:ea typeface="Courier New Regular"/>
                <a:cs typeface="Courier New Regular"/>
                <a:sym typeface="Courier New Regular"/>
              </a:rPr>
              <a:t>    });</a:t>
            </a:r>
            <a:endParaRPr lang="en-US" sz="1600"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sz="1600" b="0" i="0" u="none" strike="noStrike">
                <a:solidFill>
                  <a:srgbClr val="000000"/>
                </a:solidFill>
                <a:latin typeface="Courier New Regular"/>
                <a:ea typeface="Courier New Regular"/>
                <a:cs typeface="Courier New Regular"/>
                <a:sym typeface="Courier New Regular"/>
              </a:rPr>
              <a:t>  }</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a:t>
            </a:r>
            <a:endParaRPr lang="en-US" sz="1600" b="0" i="0" u="none" strike="noStrike">
              <a:solidFill>
                <a:srgbClr val="000000"/>
              </a:solidFill>
              <a:latin typeface="Courier New Regular"/>
              <a:ea typeface="Courier New Regular"/>
              <a:cs typeface="Courier New Regular"/>
              <a:sym typeface="Courier New Regular"/>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Enregistrement du Pass et </a:t>
            </a:r>
            <a:endPar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int</a:t>
            </a:r>
            <a:r>
              <a:rPr lang="en-US" alt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gration back-end</a:t>
            </a:r>
            <a:endParaRPr 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06742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Effets de l'optimisation</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R</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duction des allers-retours vers la m</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moire globale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Exploitation de la localit</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 des banks de m</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R</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duction de la latence d'acc</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s m</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moire de 5 à 10</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x</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Am</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lioration du parall</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lisme warp au niveau des instructions</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4584065" y="3544570"/>
            <a:ext cx="2007235"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2000" b="1" i="0" u="none" strike="noStrike">
                <a:solidFill>
                  <a:srgbClr val="8B0012"/>
                </a:solidFill>
                <a:latin typeface="Arial" panose="020B0604020202020204"/>
                <a:ea typeface="Arial" panose="020B0604020202020204"/>
                <a:cs typeface="Arial" panose="020B0604020202020204"/>
                <a:sym typeface="Arial" panose="020B0604020202020204"/>
              </a:rPr>
              <a:t>Processus d'enregistrement du</a:t>
            </a:r>
            <a:r>
              <a:rPr lang="en-US" sz="20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 Pass</a:t>
            </a:r>
            <a:endParaRPr lang="en-US" sz="1100"/>
          </a:p>
        </p:txBody>
      </p:sp>
      <p:sp>
        <p:nvSpPr>
          <p:cNvPr id="7" name="AutoShape 7"/>
          <p:cNvSpPr/>
          <p:nvPr/>
        </p:nvSpPr>
        <p:spPr>
          <a:xfrm>
            <a:off x="6798310" y="1258570"/>
            <a:ext cx="5003165" cy="3509645"/>
          </a:xfrm>
          <a:prstGeom prst="rect">
            <a:avLst/>
          </a:prstGeom>
          <a:noFill/>
          <a:ln w="12700">
            <a:solidFill>
              <a:srgbClr val="8B0012">
                <a:alpha val="100000"/>
              </a:srgbClr>
            </a:solidFill>
            <a:prstDash val="solid"/>
          </a:ln>
        </p:spPr>
        <p:txBody>
          <a:bodyPr wrap="square" lIns="91440" tIns="45720" rIns="91440" bIns="45720" rtlCol="0" anchor="t">
            <a:noAutofit/>
          </a:bodyPr>
          <a:lstStyle/>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a:t>
            </a:r>
            <a:r>
              <a:rPr lang="en-US" b="0" i="0" u="none" strike="noStrike">
                <a:solidFill>
                  <a:srgbClr val="000000"/>
                </a:solidFill>
                <a:latin typeface="Courier New Regular"/>
                <a:ea typeface="Courier New Regular"/>
                <a:cs typeface="Courier New Regular"/>
                <a:sym typeface="微软雅黑" panose="020B0503020204020204" charset="-122"/>
              </a:rPr>
              <a:t>Enregistrer le</a:t>
            </a:r>
            <a:r>
              <a:rPr lang="en-US" b="0" i="0" u="none" strike="noStrike">
                <a:solidFill>
                  <a:srgbClr val="000000"/>
                </a:solidFill>
                <a:latin typeface="Courier New Regular"/>
                <a:ea typeface="Courier New Regular"/>
                <a:cs typeface="Courier New Regular"/>
                <a:sym typeface="Courier New Regular"/>
              </a:rPr>
              <a:t> Pass </a:t>
            </a:r>
            <a:r>
              <a:rPr lang="en-US" b="0" i="0" u="none" strike="noStrike">
                <a:solidFill>
                  <a:srgbClr val="000000"/>
                </a:solidFill>
                <a:latin typeface="Courier New Regular"/>
                <a:ea typeface="Courier New Regular"/>
                <a:cs typeface="Courier New Regular"/>
                <a:sym typeface="微软雅黑" panose="020B0503020204020204" charset="-122"/>
              </a:rPr>
              <a:t>dans le pipeline backend</a:t>
            </a:r>
            <a:endParaRPr lang="en-US">
              <a:latin typeface="Courier New Regular"/>
              <a:ea typeface="Courier New Regular"/>
              <a:cs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void addPasses(PassManager &amp;pm,</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BackendType backend) {</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 </a:t>
            </a:r>
            <a:r>
              <a:rPr lang="en-US" b="0" i="0" u="none" strike="noStrike">
                <a:solidFill>
                  <a:srgbClr val="000000"/>
                </a:solidFill>
                <a:latin typeface="Courier New Regular"/>
                <a:ea typeface="Courier New Regular"/>
                <a:cs typeface="Courier New Regular"/>
                <a:sym typeface="微软雅黑" panose="020B0503020204020204" charset="-122"/>
              </a:rPr>
              <a:t>Pass</a:t>
            </a:r>
            <a:r>
              <a:rPr lang="en-US" b="0" i="0" u="none" strike="noStrike">
                <a:solidFill>
                  <a:srgbClr val="000000"/>
                </a:solidFill>
                <a:latin typeface="Courier New Regular"/>
                <a:ea typeface="Courier New Regular"/>
                <a:cs typeface="Courier New Regular"/>
                <a:sym typeface="Courier New Regular"/>
              </a:rPr>
              <a:t> commun</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pm.addPass(createTritonGPUIRPass());</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 </a:t>
            </a:r>
            <a:r>
              <a:rPr lang="en-US" b="0" i="0" u="none" strike="noStrike">
                <a:solidFill>
                  <a:srgbClr val="000000"/>
                </a:solidFill>
                <a:latin typeface="Courier New Regular"/>
                <a:ea typeface="Courier New Regular"/>
                <a:cs typeface="Courier New Regular"/>
                <a:sym typeface="微软雅黑" panose="020B0503020204020204" charset="-122"/>
              </a:rPr>
              <a:t>Pass</a:t>
            </a:r>
            <a:r>
              <a:rPr lang="en-US" b="0" i="0" u="none" strike="noStrike">
                <a:solidFill>
                  <a:srgbClr val="000000"/>
                </a:solidFill>
                <a:latin typeface="Courier New Regular"/>
                <a:ea typeface="Courier New Regular"/>
                <a:cs typeface="Courier New Regular"/>
                <a:sym typeface="Courier New Regular"/>
              </a:rPr>
              <a:t> de spécialisation (backend cible uniquement)</a:t>
            </a:r>
            <a:r>
              <a:rPr lang="en-US" b="0" i="0" u="none" strike="noStrike">
                <a:solidFill>
                  <a:srgbClr val="000000"/>
                </a:solidFill>
                <a:latin typeface="Courier New Regular"/>
                <a:ea typeface="Courier New Regular"/>
                <a:cs typeface="Courier New Regular"/>
                <a:sym typeface="微软雅黑" panose="020B0503020204020204" charset="-122"/>
              </a:rPr>
              <a:t>(backend cible uniquement)</a:t>
            </a:r>
            <a:endParaRPr lang="en-US" b="0" i="0" u="none" strike="noStrike">
              <a:solidFill>
                <a:srgbClr val="000000"/>
              </a:solidFill>
              <a:latin typeface="Courier New Regular"/>
              <a:ea typeface="Courier New Regular"/>
              <a:cs typeface="Courier New Regular"/>
              <a:sym typeface="微软雅黑" panose="020B0503020204020204" charset="-122"/>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if (backend == BackendType::DCU) {</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pm.addPass(</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createLocalPtrToSharedMemPass()</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  pm.addPass(createLLVMLoweringPass());</a:t>
            </a:r>
            <a:endParaRPr lang="en-US"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b="0" i="0" u="none" strike="noStrike">
                <a:solidFill>
                  <a:srgbClr val="000000"/>
                </a:solidFill>
                <a:latin typeface="Courier New Regular"/>
                <a:ea typeface="Courier New Regular"/>
                <a:cs typeface="Courier New Regular"/>
                <a:sym typeface="Courier New Regular"/>
              </a:rPr>
              <a:t>}</a:t>
            </a:r>
            <a:endParaRPr lang="en-US"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168910" y="5271135"/>
            <a:ext cx="1759585"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2000" b="1" i="0" u="none" strike="noStrike">
                <a:solidFill>
                  <a:srgbClr val="8B0012"/>
                </a:solidFill>
                <a:latin typeface="Arial" panose="020B0604020202020204"/>
                <a:ea typeface="Arial" panose="020B0604020202020204"/>
                <a:cs typeface="Arial" panose="020B0604020202020204"/>
                <a:sym typeface="Arial" panose="020B0604020202020204"/>
              </a:rPr>
              <a:t>Exemple de conversion</a:t>
            </a:r>
            <a:r>
              <a:rPr lang="en-US" sz="20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 IR</a:t>
            </a:r>
            <a:endParaRPr lang="en-US" sz="1100"/>
          </a:p>
        </p:txBody>
      </p:sp>
      <p:sp>
        <p:nvSpPr>
          <p:cNvPr id="9" name="AutoShape 9"/>
          <p:cNvSpPr/>
          <p:nvPr/>
        </p:nvSpPr>
        <p:spPr>
          <a:xfrm>
            <a:off x="1764665" y="4977130"/>
            <a:ext cx="4471670" cy="988060"/>
          </a:xfrm>
          <a:prstGeom prst="rect">
            <a:avLst/>
          </a:prstGeom>
          <a:no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Courier New Regular"/>
                <a:ea typeface="Courier New Regular"/>
                <a:cs typeface="Courier New Regular"/>
                <a:sym typeface="Courier New Regular"/>
              </a:rPr>
              <a:t>%ptr = tle.gpu.local_ptr %base,</a:t>
            </a:r>
            <a:endParaRPr lang="en-US" sz="1100"/>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%offset : !tt.ptr&lt;f32&gt;</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%val = tt.load %ptr : f32</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7148195" y="4947285"/>
            <a:ext cx="4653280" cy="1229360"/>
          </a:xfrm>
          <a:prstGeom prst="rect">
            <a:avLst/>
          </a:prstGeom>
          <a:noFill/>
          <a:ln w="12700">
            <a:solidFill>
              <a:srgbClr val="8B0012">
                <a:alpha val="100000"/>
              </a:srgbClr>
            </a:solidFill>
            <a:prstDash val="solid"/>
          </a:ln>
        </p:spPr>
        <p:txBody>
          <a:bodyPr wrap="square" lIns="91440" tIns="45720" rIns="91440" bIns="45720" rtlCol="0" anchor="t">
            <a:noAutofit/>
          </a:bodyPr>
          <a:lstStyle/>
          <a:p>
            <a:pPr algn="l">
              <a:lnSpc>
                <a:spcPct val="100000"/>
              </a:lnSpc>
              <a:buSzTx/>
            </a:pPr>
            <a:r>
              <a:rPr lang="en-US" sz="1400" b="0" i="0" u="none" strike="noStrike">
                <a:solidFill>
                  <a:srgbClr val="000000"/>
                </a:solidFill>
                <a:latin typeface="Courier New Regular"/>
                <a:ea typeface="Courier New Regular"/>
                <a:cs typeface="Courier New Regular"/>
                <a:sym typeface="Courier New Regular"/>
              </a:rPr>
              <a:t>// </a:t>
            </a:r>
            <a:r>
              <a:rPr lang="en-US" sz="1400" b="0" i="0" u="none" strike="noStrike">
                <a:solidFill>
                  <a:srgbClr val="000000"/>
                </a:solidFill>
                <a:latin typeface="Courier New Regular"/>
                <a:ea typeface="Courier New Regular"/>
                <a:cs typeface="Courier New Regular"/>
                <a:sym typeface="微软雅黑" panose="020B0503020204020204" charset="-122"/>
              </a:rPr>
              <a:t>Accès</a:t>
            </a:r>
            <a:r>
              <a:rPr lang="en-US" sz="1400" b="0" i="0" u="none" strike="noStrike">
                <a:solidFill>
                  <a:srgbClr val="000000"/>
                </a:solidFill>
                <a:latin typeface="Courier New Regular"/>
                <a:ea typeface="Courier New Regular"/>
                <a:cs typeface="Courier New Regular"/>
                <a:sym typeface="Courier New Regular"/>
              </a:rPr>
              <a:t> shared mem</a:t>
            </a:r>
            <a:r>
              <a:rPr lang="en-US" sz="1400" b="0" i="0" u="none" strike="noStrike">
                <a:solidFill>
                  <a:srgbClr val="000000"/>
                </a:solidFill>
                <a:latin typeface="Courier New Regular"/>
                <a:ea typeface="Courier New Regular"/>
                <a:cs typeface="Courier New Regular"/>
                <a:sym typeface="微软雅黑" panose="020B0503020204020204" charset="-122"/>
              </a:rPr>
              <a:t>de l'architecture</a:t>
            </a:r>
            <a:r>
              <a:rPr lang="en-US" sz="1400" b="0" i="0" u="none" strike="noStrike">
                <a:solidFill>
                  <a:srgbClr val="000000"/>
                </a:solidFill>
                <a:latin typeface="Courier New Regular"/>
                <a:ea typeface="Courier New Regular"/>
                <a:cs typeface="Courier New Regular"/>
                <a:sym typeface="Courier New Regular"/>
              </a:rPr>
              <a:t> DCU</a:t>
            </a:r>
            <a:r>
              <a:rPr lang="en-US" sz="1400" b="0" i="0" u="none" strike="noStrike">
                <a:solidFill>
                  <a:srgbClr val="000000"/>
                </a:solidFill>
                <a:latin typeface="Courier New Regular"/>
                <a:ea typeface="Courier New Regular"/>
                <a:cs typeface="Courier New Regular"/>
                <a:sym typeface="微软雅黑" panose="020B0503020204020204" charset="-122"/>
              </a:rPr>
              <a:t>national</a:t>
            </a:r>
            <a:endParaRPr lang="en-US" sz="1400">
              <a:latin typeface="Courier New Regular"/>
              <a:ea typeface="Courier New Regular"/>
              <a:cs typeface="Courier New Regular"/>
            </a:endParaRPr>
          </a:p>
          <a:p>
            <a:pPr algn="l">
              <a:lnSpc>
                <a:spcPct val="100000"/>
              </a:lnSpc>
              <a:buSzTx/>
            </a:pPr>
            <a:r>
              <a:rPr lang="en-US" sz="1400" b="0" i="0" u="none" strike="noStrike">
                <a:solidFill>
                  <a:srgbClr val="000000"/>
                </a:solidFill>
                <a:latin typeface="Courier New Regular"/>
                <a:ea typeface="Courier New Regular"/>
                <a:cs typeface="Courier New Regular"/>
                <a:sym typeface="Courier New Regular"/>
              </a:rPr>
              <a:t>%ptr = gpu.shared_mem_ptr %base,</a:t>
            </a:r>
            <a:endParaRPr lang="en-US" sz="1400"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sz="1400" b="0" i="0" u="none" strike="noStrike">
                <a:solidFill>
                  <a:srgbClr val="000000"/>
                </a:solidFill>
                <a:latin typeface="Courier New Regular"/>
                <a:ea typeface="Courier New Regular"/>
                <a:cs typeface="Courier New Regular"/>
                <a:sym typeface="Courier New Regular"/>
              </a:rPr>
              <a:t>            %offset</a:t>
            </a:r>
            <a:endParaRPr lang="en-US" sz="1400" b="0" i="0" u="none" strike="noStrike">
              <a:solidFill>
                <a:srgbClr val="000000"/>
              </a:solidFill>
              <a:latin typeface="Courier New Regular"/>
              <a:ea typeface="Courier New Regular"/>
              <a:cs typeface="Courier New Regular"/>
              <a:sym typeface="Courier New Regular"/>
            </a:endParaRPr>
          </a:p>
          <a:p>
            <a:pPr algn="l">
              <a:lnSpc>
                <a:spcPct val="100000"/>
              </a:lnSpc>
              <a:buSzTx/>
            </a:pPr>
            <a:r>
              <a:rPr lang="en-US" sz="1400" b="0" i="0" u="none" strike="noStrike">
                <a:solidFill>
                  <a:srgbClr val="000000"/>
                </a:solidFill>
                <a:latin typeface="Courier New Regular"/>
                <a:ea typeface="Courier New Regular"/>
                <a:cs typeface="Courier New Regular"/>
                <a:sym typeface="Courier New Regular"/>
              </a:rPr>
              <a:t>%val = gpu.ds_read_b32 %ptr : i32</a:t>
            </a:r>
            <a:endParaRPr lang="en-US" sz="14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6248400" y="5102225"/>
            <a:ext cx="899795" cy="70104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800" b="1" i="0" u="none" strike="noStrike">
                <a:solidFill>
                  <a:srgbClr val="8B0012"/>
                </a:solidFill>
                <a:latin typeface="Arial" panose="020B0604020202020204"/>
                <a:ea typeface="Arial" panose="020B0604020202020204"/>
                <a:cs typeface="Arial" panose="020B0604020202020204"/>
                <a:sym typeface="Arial" panose="020B0604020202020204"/>
              </a:rPr>
              <a:t> Pass</a:t>
            </a:r>
            <a:br>
              <a:rPr lang="en-US" sz="1800" b="1" i="0" u="none" strike="noStrike">
                <a:solidFill>
                  <a:srgbClr val="8B0012"/>
                </a:solidFill>
                <a:latin typeface="Arial" panose="020B0604020202020204"/>
                <a:ea typeface="Arial" panose="020B0604020202020204"/>
                <a:cs typeface="Arial" panose="020B0604020202020204"/>
                <a:sym typeface="Arial" panose="020B0604020202020204"/>
              </a:rPr>
            </a:br>
            <a:r>
              <a:rPr lang="en-US" sz="1800" b="1" i="0" u="none" strike="noStrike">
                <a:solidFill>
                  <a:srgbClr val="8B0012"/>
                </a:solidFill>
                <a:latin typeface="Arial" panose="020B0604020202020204"/>
                <a:ea typeface="Arial" panose="020B0604020202020204"/>
                <a:cs typeface="Arial" panose="020B0604020202020204"/>
                <a:sym typeface="Arial" panose="020B0604020202020204"/>
              </a:rPr>
              <a:t> ==&gt;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642620" y="462280"/>
            <a:ext cx="9987280" cy="6826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Architecture de la couche opérateur</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FlagGems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Comment int</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grer l'optimisation local_ptr dans les op</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rateurs FlagGems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1831340" y="1884680"/>
            <a:ext cx="9199880" cy="4350385"/>
            <a:chOff x="1831340" y="1884680"/>
            <a:chExt cx="9199880" cy="4350385"/>
          </a:xfrm>
        </p:grpSpPr>
        <p:sp>
          <p:nvSpPr>
            <p:cNvPr id="7" name="AutoShape 7"/>
            <p:cNvSpPr/>
            <p:nvPr/>
          </p:nvSpPr>
          <p:spPr>
            <a:xfrm>
              <a:off x="1831340" y="1884680"/>
              <a:ext cx="9199880" cy="699770"/>
            </a:xfrm>
            <a:prstGeom prst="rect">
              <a:avLst/>
            </a:prstGeom>
            <a:solidFill>
              <a:srgbClr val="1A237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1931035" y="1954530"/>
              <a:ext cx="8999855" cy="56007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FlagGems  —  </a:t>
              </a:r>
              <a:r>
                <a:rPr lang="en-US" altLang="zh-CN"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Couche d'enregistrement des op</a:t>
              </a:r>
              <a:r>
                <a:rPr lang="en-US" alt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rateurs PyTorch ATen</a:t>
              </a:r>
              <a:endPar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1831340" y="2734310"/>
              <a:ext cx="9199880" cy="699770"/>
            </a:xfrm>
            <a:prstGeom prst="rect">
              <a:avLst/>
            </a:prstGeom>
            <a:solidFill>
              <a:srgbClr val="283593">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1931035" y="2804795"/>
              <a:ext cx="8999855" cy="56007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altLang="zh-CN"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LibEntry / LibTuner — Gestion du cache de noyaux et de l'autotuning</a:t>
              </a:r>
              <a:endParaRPr lang="en-US" altLang="zh-CN"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ctr">
                <a:lnSpc>
                  <a:spcPct val="100000"/>
                </a:lnSpc>
                <a:defRPr/>
              </a:pPr>
              <a:endParaRPr lang="en-US" altLang="zh-CN"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ctr">
                <a:lnSpc>
                  <a:spcPct val="100000"/>
                </a:lnSpc>
                <a:defRPr/>
              </a:pPr>
              <a:r>
                <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g</a:t>
              </a:r>
              <a:endPar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AutoShape 11"/>
            <p:cNvSpPr/>
            <p:nvPr/>
          </p:nvSpPr>
          <p:spPr>
            <a:xfrm>
              <a:off x="1831340" y="3584575"/>
              <a:ext cx="9199880" cy="69977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AutoShape 12"/>
            <p:cNvSpPr/>
            <p:nvPr/>
          </p:nvSpPr>
          <p:spPr>
            <a:xfrm>
              <a:off x="1931035" y="3654425"/>
              <a:ext cx="8999855" cy="56007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Noyau</a:t>
              </a: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Triton</a:t>
              </a: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  —  </a:t>
              </a: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Implémentation des opérateurs</a:t>
              </a: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 ( .py )  ←  Point d'injection</a:t>
              </a: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tle.gpu.local_ptr</a:t>
              </a:r>
              <a:endPar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nvSpPr>
          <p:spPr>
            <a:xfrm>
              <a:off x="1831340" y="4434840"/>
              <a:ext cx="9199880" cy="699770"/>
            </a:xfrm>
            <a:prstGeom prst="rect">
              <a:avLst/>
            </a:prstGeom>
            <a:solidFill>
              <a:srgbClr val="B71C1C">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4" name="AutoShape 14"/>
            <p:cNvSpPr/>
            <p:nvPr/>
          </p:nvSpPr>
          <p:spPr>
            <a:xfrm>
              <a:off x="1931035" y="4504690"/>
              <a:ext cx="8999855" cy="56007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Compilateur</a:t>
              </a:r>
              <a:r>
                <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FlagTree</a:t>
              </a: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  —  </a:t>
              </a:r>
              <a:r>
                <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Traitement</a:t>
              </a: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 Pass </a:t>
              </a:r>
              <a:r>
                <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de spécialisation</a:t>
              </a: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 local_ptr → instructions d'architecture</a:t>
              </a:r>
              <a:endPar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AutoShape 15"/>
            <p:cNvSpPr/>
            <p:nvPr/>
          </p:nvSpPr>
          <p:spPr>
            <a:xfrm>
              <a:off x="1831340" y="5334635"/>
              <a:ext cx="919988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Opérateurs utilisant l'optimisation</a:t>
              </a:r>
              <a:r>
                <a:rPr lang="en-US" sz="1600" b="1" i="0" u="none" strike="noStrike">
                  <a:solidFill>
                    <a:srgbClr val="8B0012"/>
                  </a:solidFill>
                  <a:latin typeface="Arial" panose="020B0604020202020204"/>
                  <a:ea typeface="Arial" panose="020B0604020202020204"/>
                  <a:cs typeface="Arial" panose="020B0604020202020204"/>
                  <a:sym typeface="Arial" panose="020B0604020202020204"/>
                </a:rPr>
                <a:t> local_ptr</a:t>
              </a:r>
              <a:r>
                <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 (concernés par</a:t>
              </a:r>
              <a:r>
                <a:rPr lang="en-US" sz="1600" b="1" i="0" u="none" strike="noStrike">
                  <a:solidFill>
                    <a:srgbClr val="8B0012"/>
                  </a:solidFill>
                  <a:latin typeface="Arial" panose="020B0604020202020204"/>
                  <a:ea typeface="Arial" panose="020B0604020202020204"/>
                  <a:cs typeface="Arial" panose="020B0604020202020204"/>
                  <a:sym typeface="Arial" panose="020B0604020202020204"/>
                </a:rPr>
                <a:t> PR #333</a:t>
              </a:r>
              <a:r>
                <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a:p>
          </p:txBody>
        </p:sp>
        <p:sp>
          <p:nvSpPr>
            <p:cNvPr id="16" name="AutoShape 16"/>
            <p:cNvSpPr/>
            <p:nvPr/>
          </p:nvSpPr>
          <p:spPr>
            <a:xfrm>
              <a:off x="1831340"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1831340"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topk</a:t>
              </a:r>
              <a:endParaRPr lang="en-US" sz="1600" b="1"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8" name="AutoShape 18"/>
            <p:cNvSpPr/>
            <p:nvPr/>
          </p:nvSpPr>
          <p:spPr>
            <a:xfrm>
              <a:off x="3371215"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9" name="AutoShape 19"/>
            <p:cNvSpPr/>
            <p:nvPr/>
          </p:nvSpPr>
          <p:spPr>
            <a:xfrm>
              <a:off x="3371215"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sort</a:t>
              </a:r>
              <a:endParaRPr lang="en-US" sz="1600" b="1"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20" name="AutoShape 20"/>
            <p:cNvSpPr/>
            <p:nvPr/>
          </p:nvSpPr>
          <p:spPr>
            <a:xfrm>
              <a:off x="4911090"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AutoShape 21"/>
            <p:cNvSpPr/>
            <p:nvPr/>
          </p:nvSpPr>
          <p:spPr>
            <a:xfrm>
              <a:off x="4911090"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argsort</a:t>
              </a:r>
              <a:endParaRPr lang="en-US" sz="1600" b="1"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22" name="AutoShape 22"/>
            <p:cNvSpPr/>
            <p:nvPr/>
          </p:nvSpPr>
          <p:spPr>
            <a:xfrm>
              <a:off x="6451600"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AutoShape 23"/>
            <p:cNvSpPr/>
            <p:nvPr/>
          </p:nvSpPr>
          <p:spPr>
            <a:xfrm>
              <a:off x="6451600"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median</a:t>
              </a:r>
              <a:endParaRPr lang="en-US" sz="1600" b="1"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24" name="AutoShape 24"/>
            <p:cNvSpPr/>
            <p:nvPr/>
          </p:nvSpPr>
          <p:spPr>
            <a:xfrm>
              <a:off x="7991475"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5" name="AutoShape 25"/>
            <p:cNvSpPr/>
            <p:nvPr/>
          </p:nvSpPr>
          <p:spPr>
            <a:xfrm>
              <a:off x="7991475"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kthvalue</a:t>
              </a:r>
              <a:endParaRPr lang="en-US" sz="1600" b="1"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26" name="AutoShape 26"/>
            <p:cNvSpPr/>
            <p:nvPr/>
          </p:nvSpPr>
          <p:spPr>
            <a:xfrm>
              <a:off x="9531350"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7" name="AutoShape 27"/>
            <p:cNvSpPr/>
            <p:nvPr/>
          </p:nvSpPr>
          <p:spPr>
            <a:xfrm>
              <a:off x="9531350"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mode</a:t>
              </a:r>
              <a:endParaRPr lang="en-US" sz="1600" b="1" i="0" u="none" strike="noStrike">
                <a:solidFill>
                  <a:srgbClr val="FFFFF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 d'optimisation de l'opérateur</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TopK</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098540" cy="4608195"/>
          </a:xfrm>
          <a:prstGeom prst="rect">
            <a:avLst/>
          </a:prstGeom>
        </p:spPr>
        <p:txBody>
          <a:bodyPr wrap="square" lIns="91440" tIns="45720" rIns="91440" bIns="45720" anchor="t">
            <a:noAutofit/>
          </a:bodyPr>
          <a:lstStyle>
            <a:lvl1pPr algn="l">
              <a:lnSpc>
                <a:spcPct val="133000"/>
              </a:lnSpc>
              <a:defRPr sz="2400" b="0" i="0" u="none" strike="noStrike" spc="0">
                <a:solidFill>
                  <a:srgbClr val="404040">
                    <a:alpha val="100000"/>
                  </a:srgbClr>
                </a:solidFill>
                <a:latin typeface="Calibri" panose="020F0502020204030204"/>
              </a:defRPr>
            </a:lvl1pPr>
          </a:lstStyle>
          <a:p>
            <a:pPr marL="304800" indent="-304800" algn="l">
              <a:lnSpc>
                <a:spcPct val="133000"/>
              </a:lnSpc>
              <a:spcBef>
                <a:spcPts val="1500"/>
              </a:spcBef>
              <a:buClr>
                <a:srgbClr val="404040"/>
              </a:buClr>
              <a:buChar char="•"/>
            </a:pP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Pratique d'optimisation microarchitecturelle</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local_ptr</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33000"/>
              </a:lnSpc>
              <a:spcBef>
                <a:spcPts val="750"/>
              </a:spcBef>
              <a:buClr>
                <a:srgbClr val="404040"/>
              </a:buClr>
              <a:buChar char="•"/>
            </a:pP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Stockage des donn</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es à proximit</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 r</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sultats de tri interm</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diaires stock</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 en m</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moire partag</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 </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vitant l'</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criture en m</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moire globale puis la relecture.</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33000"/>
              </a:lnSpc>
              <a:spcBef>
                <a:spcPts val="750"/>
              </a:spcBef>
              <a:buClr>
                <a:srgbClr val="404040"/>
              </a:buClr>
              <a:buChar char="•"/>
            </a:pP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Optimisation d'acc</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è</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 aux banks : local_ptr porte l'information d'offset, le compilateur peut analyser les conflits de banks et r</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organiser l'ordre d'acc</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è</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33000"/>
              </a:lnSpc>
              <a:spcBef>
                <a:spcPts val="750"/>
              </a:spcBef>
              <a:buClr>
                <a:srgbClr val="404040"/>
              </a:buClr>
              <a:buChar char="•"/>
            </a:pP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Fusion d'instructions : le Pass fusionne local_ptr + load en une seule instruction ds_read, r</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duisant le nombre d'instructions.</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33000"/>
              </a:lnSpc>
              <a:spcBef>
                <a:spcPts val="750"/>
              </a:spcBef>
              <a:buClr>
                <a:srgbClr val="404040"/>
              </a:buClr>
              <a:buChar char="•"/>
            </a:pP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Masquage de latence : latence m</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moire partag</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 ~5 cycles, le basculement de warp pouvant masquer efficacement, le d</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bit est largement am</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lior</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sp>
        <p:nvSpPr>
          <p:cNvPr id="6" name="AutoShape 6"/>
          <p:cNvSpPr/>
          <p:nvPr/>
        </p:nvSpPr>
        <p:spPr>
          <a:xfrm>
            <a:off x="6751955" y="2042160"/>
            <a:ext cx="5324475" cy="3810000"/>
          </a:xfrm>
          <a:prstGeom prst="rect">
            <a:avLst/>
          </a:prstGeom>
          <a:no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altLang="zh-CN" sz="1600" b="0" i="0" u="none" strike="noStrike">
                <a:solidFill>
                  <a:srgbClr val="000000"/>
                </a:solidFill>
                <a:latin typeface="Courier New Regular"/>
                <a:ea typeface="Courier New Regular"/>
                <a:cs typeface="Courier New Regular"/>
                <a:sym typeface="Courier New Regular"/>
              </a:rPr>
              <a:t># Optimisation local_ptr : passer par la m</a:t>
            </a:r>
            <a:r>
              <a:rPr lang="en-US" altLang="en-US" sz="1600" b="0" i="0" u="none" strike="noStrike">
                <a:solidFill>
                  <a:srgbClr val="000000"/>
                </a:solidFill>
                <a:latin typeface="Courier New Regular"/>
                <a:ea typeface="Courier New Regular"/>
                <a:cs typeface="Courier New Regular"/>
                <a:sym typeface="Courier New Regular"/>
              </a:rPr>
              <a:t>é</a:t>
            </a:r>
            <a:r>
              <a:rPr lang="en-US" altLang="zh-CN" sz="1600" b="0" i="0" u="none" strike="noStrike">
                <a:solidFill>
                  <a:srgbClr val="000000"/>
                </a:solidFill>
                <a:latin typeface="Courier New Regular"/>
                <a:ea typeface="Courier New Regular"/>
                <a:cs typeface="Courier New Regular"/>
                <a:sym typeface="Courier New Regular"/>
              </a:rPr>
              <a:t>moire partag</a:t>
            </a:r>
            <a:r>
              <a:rPr lang="en-US" altLang="en-US" sz="1600" b="0" i="0" u="none" strike="noStrike">
                <a:solidFill>
                  <a:srgbClr val="000000"/>
                </a:solidFill>
                <a:latin typeface="Courier New Regular"/>
                <a:ea typeface="Courier New Regular"/>
                <a:cs typeface="Courier New Regular"/>
                <a:sym typeface="Courier New Regular"/>
              </a:rPr>
              <a:t>é</a:t>
            </a:r>
            <a:r>
              <a:rPr lang="en-US" altLang="zh-CN" sz="1600" b="0" i="0" u="none" strike="noStrike">
                <a:solidFill>
                  <a:srgbClr val="000000"/>
                </a:solidFill>
                <a:latin typeface="Courier New Regular"/>
                <a:ea typeface="Courier New Regular"/>
                <a:cs typeface="Courier New Regular"/>
                <a:sym typeface="Courier New Regular"/>
              </a:rPr>
              <a:t>e</a:t>
            </a:r>
            <a:endParaRPr lang="en-US" altLang="zh-CN" sz="1600" b="0" i="0" u="none" strike="noStrike">
              <a:solidFill>
                <a:srgbClr val="000000"/>
              </a:solidFill>
              <a:latin typeface="Courier New Regular"/>
              <a:ea typeface="Courier New Regular"/>
              <a:cs typeface="Courier New Regular"/>
              <a:sym typeface="Courier New Regular"/>
            </a:endParaRPr>
          </a:p>
          <a:p>
            <a:pPr indent="0" algn="l">
              <a:lnSpc>
                <a:spcPct val="100000"/>
              </a:lnSpc>
              <a:defRPr/>
            </a:pPr>
            <a:r>
              <a:rPr lang="en-US" sz="1600" b="0" i="0" u="none" strike="noStrike">
                <a:solidFill>
                  <a:srgbClr val="000000"/>
                </a:solidFill>
                <a:latin typeface="Courier New Regular"/>
                <a:ea typeface="Courier New Regular"/>
                <a:cs typeface="Courier New Regular"/>
                <a:sym typeface="Courier New Regular"/>
              </a:rPr>
              <a:t>@triton.jit</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def topk_kernel_opt(X, OUT_VAL, OUT_IDX,</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BLOCK: tl.constexpr):</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smem = tl.zeros([BLOCK], dtype=tl.float32)</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altLang="zh-CN" sz="1600" b="0" i="0" u="none" strike="noStrike">
                <a:solidFill>
                  <a:srgbClr val="000000"/>
                </a:solidFill>
                <a:latin typeface="Courier New Regular"/>
                <a:ea typeface="Courier New Regular"/>
                <a:cs typeface="Courier New Regular"/>
                <a:sym typeface="Courier New Regular"/>
              </a:rPr>
              <a:t># Utiliser local_ptr pour </a:t>
            </a:r>
            <a:r>
              <a:rPr lang="en-US" altLang="en-US" sz="1600" b="0" i="0" u="none" strike="noStrike">
                <a:solidFill>
                  <a:srgbClr val="000000"/>
                </a:solidFill>
                <a:latin typeface="Courier New Regular"/>
                <a:ea typeface="Courier New Regular"/>
                <a:cs typeface="Courier New Regular"/>
                <a:sym typeface="Courier New Regular"/>
              </a:rPr>
              <a:t>é</a:t>
            </a:r>
            <a:r>
              <a:rPr lang="en-US" altLang="zh-CN" sz="1600" b="0" i="0" u="none" strike="noStrike">
                <a:solidFill>
                  <a:srgbClr val="000000"/>
                </a:solidFill>
                <a:latin typeface="Courier New Regular"/>
                <a:ea typeface="Courier New Regular"/>
                <a:cs typeface="Courier New Regular"/>
                <a:sym typeface="Courier New Regular"/>
              </a:rPr>
              <a:t>crire en m</a:t>
            </a:r>
            <a:r>
              <a:rPr lang="en-US" altLang="en-US" sz="1600" b="0" i="0" u="none" strike="noStrike">
                <a:solidFill>
                  <a:srgbClr val="000000"/>
                </a:solidFill>
                <a:latin typeface="Courier New Regular"/>
                <a:ea typeface="Courier New Regular"/>
                <a:cs typeface="Courier New Regular"/>
                <a:sym typeface="Courier New Regular"/>
              </a:rPr>
              <a:t>é</a:t>
            </a:r>
            <a:r>
              <a:rPr lang="en-US" altLang="zh-CN" sz="1600" b="0" i="0" u="none" strike="noStrike">
                <a:solidFill>
                  <a:srgbClr val="000000"/>
                </a:solidFill>
                <a:latin typeface="Courier New Regular"/>
                <a:ea typeface="Courier New Regular"/>
                <a:cs typeface="Courier New Regular"/>
                <a:sym typeface="Courier New Regular"/>
              </a:rPr>
              <a:t>moire partag</a:t>
            </a:r>
            <a:r>
              <a:rPr lang="en-US" altLang="en-US" sz="1600" b="0" i="0" u="none" strike="noStrike">
                <a:solidFill>
                  <a:srgbClr val="000000"/>
                </a:solidFill>
                <a:latin typeface="Courier New Regular"/>
                <a:ea typeface="Courier New Regular"/>
                <a:cs typeface="Courier New Regular"/>
                <a:sym typeface="Courier New Regular"/>
              </a:rPr>
              <a:t>é</a:t>
            </a:r>
            <a:r>
              <a:rPr lang="en-US" altLang="zh-CN" sz="1600" b="0" i="0" u="none" strike="noStrike">
                <a:solidFill>
                  <a:srgbClr val="000000"/>
                </a:solidFill>
                <a:latin typeface="Courier New Regular"/>
                <a:ea typeface="Courier New Regular"/>
                <a:cs typeface="Courier New Regular"/>
                <a:sym typeface="Courier New Regular"/>
              </a:rPr>
              <a:t>e</a:t>
            </a:r>
            <a:endParaRPr lang="en-US" altLang="zh-CN"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ptr = tle.gpu.local_ptr(smem, xidx)</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tl.store(ptr, tl.load(X + xidx))</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tl.debug_barrier()  # </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Synchronisation</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Lire depuis la m</a:t>
            </a:r>
            <a:r>
              <a:rPr lang="en-US" alt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partag</a:t>
            </a:r>
            <a:r>
              <a:rPr lang="en-US" alt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e pour le tri</a:t>
            </a:r>
            <a:endParaRPr lang="en-US" altLang="zh-CN"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600" b="0" i="0" u="none" strike="noStrike">
                <a:solidFill>
                  <a:srgbClr val="000000"/>
                </a:solidFill>
                <a:latin typeface="Courier New Regular"/>
                <a:ea typeface="Courier New Regular"/>
                <a:cs typeface="Courier New Regular"/>
                <a:sym typeface="Courier New Regular"/>
              </a:rPr>
              <a:t>    vals = tl.load(tle.gpu.local_ptr(smem, ...))</a:t>
            </a:r>
            <a:endParaRPr lang="en-US" sz="1600" b="0" i="0" u="none" strike="noStrike">
              <a:solidFill>
                <a:srgbClr val="000000"/>
              </a:solidFill>
              <a:latin typeface="Courier New Regular"/>
              <a:ea typeface="Courier New Regular"/>
              <a:cs typeface="Courier New Regular"/>
              <a:sym typeface="Courier New Regular"/>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7276530" y="1581090"/>
            <a:ext cx="4800000" cy="38000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Après optimisation :</a:t>
            </a:r>
            <a:r>
              <a:rPr lang="en-US" sz="1600" b="1" i="0" u="none" strike="noStrike">
                <a:solidFill>
                  <a:srgbClr val="8B0012"/>
                </a:solidFill>
                <a:latin typeface="Arial" panose="020B0604020202020204"/>
                <a:ea typeface="Arial" panose="020B0604020202020204"/>
                <a:cs typeface="Arial" panose="020B0604020202020204"/>
                <a:sym typeface="Arial" panose="020B0604020202020204"/>
              </a:rPr>
              <a:t>local_ptr Shared Memory</a:t>
            </a:r>
            <a:endParaRPr lang="en-US" sz="16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591649"/>
            <a:ext cx="9987507"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Chemin d'optimisation complet TopK FlagGems</a:t>
            </a:r>
            <a:endParaRPr 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pSp>
        <p:nvGrpSpPr>
          <p:cNvPr id="6" name="Group 6"/>
          <p:cNvGrpSpPr/>
          <p:nvPr/>
        </p:nvGrpSpPr>
        <p:grpSpPr>
          <a:xfrm>
            <a:off x="1429385" y="1750060"/>
            <a:ext cx="9299575" cy="4349750"/>
            <a:chOff x="1429385" y="1750060"/>
            <a:chExt cx="9299575" cy="4349750"/>
          </a:xfrm>
        </p:grpSpPr>
        <p:sp>
          <p:nvSpPr>
            <p:cNvPr id="7" name="AutoShape 7"/>
            <p:cNvSpPr/>
            <p:nvPr/>
          </p:nvSpPr>
          <p:spPr>
            <a:xfrm>
              <a:off x="1429385" y="1750060"/>
              <a:ext cx="299720" cy="89979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1429385" y="2000250"/>
              <a:ext cx="299720" cy="400050"/>
            </a:xfrm>
            <a:prstGeom prst="rect">
              <a:avLst/>
            </a:prstGeom>
            <a:noFill/>
            <a:ln w="12700">
              <a:noFill/>
              <a:prstDash val="solid"/>
            </a:ln>
          </p:spPr>
          <p:txBody>
            <a:bodyPr wrap="square" lIns="91440" tIns="45720" rIns="91440" bIns="45720" rtlCol="0" anchor="t">
              <a:normAutofit lnSpcReduction="10000"/>
            </a:bodyPr>
            <a:lstStyle/>
            <a:p>
              <a:pPr indent="0" algn="ctr">
                <a:lnSpc>
                  <a:spcPct val="100000"/>
                </a:lnSpc>
                <a:defRPr/>
              </a:pPr>
              <a:r>
                <a:rPr lang="en-US" sz="2200" b="1"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9" name="AutoShape 9"/>
            <p:cNvSpPr/>
            <p:nvPr/>
          </p:nvSpPr>
          <p:spPr>
            <a:xfrm>
              <a:off x="1809115" y="1800225"/>
              <a:ext cx="3143250" cy="34988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600" b="1" i="0" u="none" strike="noStrike">
                  <a:solidFill>
                    <a:srgbClr val="8B0012"/>
                  </a:solidFill>
                  <a:latin typeface="Arial" panose="020B0604020202020204"/>
                  <a:ea typeface="Arial" panose="020B0604020202020204"/>
                  <a:cs typeface="Arial" panose="020B0604020202020204"/>
                  <a:sym typeface="Arial" panose="020B0604020202020204"/>
                </a:rPr>
                <a:t>Couche d'enregistrement</a:t>
              </a:r>
              <a:r>
                <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 FlagGems</a:t>
              </a:r>
              <a:endPar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nvSpPr>
          <p:spPr>
            <a:xfrm>
              <a:off x="1809115" y="2400300"/>
              <a:ext cx="2999740" cy="29972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300" b="0" i="1" u="none" strike="noStrike">
                  <a:solidFill>
                    <a:srgbClr val="666666"/>
                  </a:solidFill>
                  <a:latin typeface="Arial" panose="020B0604020202020204"/>
                  <a:ea typeface="Arial" panose="020B0604020202020204"/>
                  <a:cs typeface="Arial" panose="020B0604020202020204"/>
                  <a:sym typeface="Arial" panose="020B0604020202020204"/>
                </a:rPr>
                <a:t>src/flag_gems/ops/topk.py</a:t>
              </a:r>
              <a:endParaRPr lang="en-US" sz="1100"/>
            </a:p>
          </p:txBody>
        </p:sp>
        <p:sp>
          <p:nvSpPr>
            <p:cNvPr id="11" name="AutoShape 11"/>
            <p:cNvSpPr/>
            <p:nvPr/>
          </p:nvSpPr>
          <p:spPr>
            <a:xfrm>
              <a:off x="5029200" y="1750060"/>
              <a:ext cx="5699760" cy="899795"/>
            </a:xfrm>
            <a:prstGeom prst="rect">
              <a:avLst/>
            </a:prstGeom>
            <a:solidFill>
              <a:srgbClr val="1E1E1E">
                <a:alpha val="100000"/>
              </a:srgbClr>
            </a:solidFill>
            <a:ln w="12700">
              <a:noFill/>
              <a:prstDash val="solid"/>
            </a:ln>
          </p:spPr>
          <p:txBody>
            <a:bodyPr wrap="square" lIns="182880" tIns="182880" rIns="182880" bIns="182880" rtlCol="0" anchor="t">
              <a:normAutofit/>
            </a:bodyPr>
            <a:lstStyle/>
            <a:p>
              <a:pPr indent="0" algn="l">
                <a:lnSpc>
                  <a:spcPct val="100000"/>
                </a:lnSpc>
                <a:defRPr/>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def topk(input, k, dim=-1, largest=True, sorted=True):</a:t>
              </a:r>
              <a:endParaRPr lang="en-US" sz="1100"/>
            </a:p>
            <a:p>
              <a:pPr indent="0" algn="l">
                <a:lnSpc>
                  <a:spcPct val="100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    ...</a:t>
              </a:r>
              <a:r>
                <a:rPr lang="en-US" sz="1300" b="0" i="0" u="none" strike="noStrike">
                  <a:solidFill>
                    <a:srgbClr val="D4D4D4"/>
                  </a:solidFill>
                  <a:latin typeface="微软雅黑" panose="020B0503020204020204" charset="-122"/>
                  <a:ea typeface="微软雅黑" panose="020B0503020204020204" charset="-122"/>
                  <a:cs typeface="微软雅黑" panose="020B0503020204020204" charset="-122"/>
                  <a:sym typeface="微软雅黑" panose="020B0503020204020204" charset="-122"/>
                </a:rPr>
                <a:t>appel du noyau</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 Triton</a:t>
              </a:r>
              <a:r>
                <a:rPr lang="en-US" sz="1300" b="0" i="0" u="none" strike="noStrike">
                  <a:solidFill>
                    <a:srgbClr val="D4D4D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2" name="AutoShape 12"/>
            <p:cNvSpPr/>
            <p:nvPr/>
          </p:nvSpPr>
          <p:spPr>
            <a:xfrm>
              <a:off x="1569085" y="2649855"/>
              <a:ext cx="19685" cy="14986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1429385" y="2900045"/>
              <a:ext cx="299720" cy="89979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429385" y="3150235"/>
              <a:ext cx="299720" cy="400050"/>
            </a:xfrm>
            <a:prstGeom prst="rect">
              <a:avLst/>
            </a:prstGeom>
            <a:noFill/>
            <a:ln w="12700">
              <a:noFill/>
              <a:prstDash val="solid"/>
            </a:ln>
          </p:spPr>
          <p:txBody>
            <a:bodyPr wrap="square" lIns="91440" tIns="45720" rIns="91440" bIns="45720" rtlCol="0" anchor="t">
              <a:normAutofit lnSpcReduction="10000"/>
            </a:bodyPr>
            <a:lstStyle/>
            <a:p>
              <a:pPr indent="0" algn="ctr">
                <a:lnSpc>
                  <a:spcPct val="100000"/>
                </a:lnSpc>
                <a:defRPr/>
              </a:pPr>
              <a:r>
                <a:rPr lang="en-US" sz="2200" b="1"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5" name="AutoShape 15"/>
            <p:cNvSpPr/>
            <p:nvPr/>
          </p:nvSpPr>
          <p:spPr>
            <a:xfrm>
              <a:off x="1809115" y="2950210"/>
              <a:ext cx="2999740" cy="34988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600" b="1" i="0" u="none" strike="noStrike">
                  <a:solidFill>
                    <a:srgbClr val="8B0012"/>
                  </a:solidFill>
                  <a:latin typeface="Arial" panose="020B0604020202020204"/>
                  <a:ea typeface="Arial" panose="020B0604020202020204"/>
                  <a:cs typeface="Arial" panose="020B0604020202020204"/>
                  <a:sym typeface="Arial" panose="020B0604020202020204"/>
                </a:rPr>
                <a:t>Couche noyau</a:t>
              </a:r>
              <a:r>
                <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 Triton</a:t>
              </a:r>
              <a:endParaRPr lang="en-US" sz="1600"/>
            </a:p>
          </p:txBody>
        </p:sp>
        <p:sp>
          <p:nvSpPr>
            <p:cNvPr id="16" name="AutoShape 16"/>
            <p:cNvSpPr/>
            <p:nvPr/>
          </p:nvSpPr>
          <p:spPr>
            <a:xfrm>
              <a:off x="1809115" y="3279775"/>
              <a:ext cx="2999740" cy="29972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300" b="0" i="1"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Introduction de</a:t>
              </a:r>
              <a:r>
                <a:rPr lang="en-US" sz="1300" b="0" i="1" u="none" strike="noStrike">
                  <a:solidFill>
                    <a:srgbClr val="666666"/>
                  </a:solidFill>
                  <a:latin typeface="Arial" panose="020B0604020202020204"/>
                  <a:ea typeface="Arial" panose="020B0604020202020204"/>
                  <a:cs typeface="Arial" panose="020B0604020202020204"/>
                  <a:sym typeface="Arial" panose="020B0604020202020204"/>
                </a:rPr>
                <a:t> tle.gpu.local_ptr</a:t>
              </a:r>
              <a:endParaRPr lang="en-US" sz="1100"/>
            </a:p>
          </p:txBody>
        </p:sp>
        <p:sp>
          <p:nvSpPr>
            <p:cNvPr id="17" name="AutoShape 17"/>
            <p:cNvSpPr/>
            <p:nvPr/>
          </p:nvSpPr>
          <p:spPr>
            <a:xfrm>
              <a:off x="5029200" y="2900045"/>
              <a:ext cx="5699760" cy="899795"/>
            </a:xfrm>
            <a:prstGeom prst="rect">
              <a:avLst/>
            </a:prstGeom>
            <a:solidFill>
              <a:srgbClr val="1E1E1E">
                <a:alpha val="100000"/>
              </a:srgbClr>
            </a:solidFill>
            <a:ln w="12700">
              <a:noFill/>
              <a:prstDash val="solid"/>
            </a:ln>
          </p:spPr>
          <p:txBody>
            <a:bodyPr wrap="square" lIns="182880" tIns="182880" rIns="182880" bIns="182880" rtlCol="0" anchor="t">
              <a:normAutofit/>
            </a:bodyPr>
            <a:lstStyle/>
            <a:p>
              <a:pPr indent="0" algn="l">
                <a:lnSpc>
                  <a:spcPct val="100000"/>
                </a:lnSpc>
                <a:defRPr/>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ptr = tle.gpu.local_ptr(shared_buf, lane_offset)</a:t>
              </a:r>
              <a:endParaRPr lang="en-US" sz="1100"/>
            </a:p>
            <a:p>
              <a:pPr indent="0" algn="l">
                <a:lnSpc>
                  <a:spcPct val="100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tl.store(ptr, val)  # → écriture shared mem</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8" name="AutoShape 18"/>
            <p:cNvSpPr/>
            <p:nvPr/>
          </p:nvSpPr>
          <p:spPr>
            <a:xfrm>
              <a:off x="1569085" y="3799840"/>
              <a:ext cx="19685" cy="14986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1429385" y="4050030"/>
              <a:ext cx="299720" cy="89979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0" name="AutoShape 20"/>
            <p:cNvSpPr/>
            <p:nvPr/>
          </p:nvSpPr>
          <p:spPr>
            <a:xfrm>
              <a:off x="1429385" y="4300220"/>
              <a:ext cx="299720" cy="400050"/>
            </a:xfrm>
            <a:prstGeom prst="rect">
              <a:avLst/>
            </a:prstGeom>
            <a:noFill/>
            <a:ln w="12700">
              <a:noFill/>
              <a:prstDash val="solid"/>
            </a:ln>
          </p:spPr>
          <p:txBody>
            <a:bodyPr wrap="square" lIns="91440" tIns="45720" rIns="91440" bIns="45720" rtlCol="0" anchor="t">
              <a:normAutofit lnSpcReduction="10000"/>
            </a:bodyPr>
            <a:lstStyle/>
            <a:p>
              <a:pPr indent="0" algn="ctr">
                <a:lnSpc>
                  <a:spcPct val="100000"/>
                </a:lnSpc>
                <a:defRPr/>
              </a:pPr>
              <a:r>
                <a:rPr lang="en-US" sz="2200" b="1"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21" name="AutoShape 21"/>
            <p:cNvSpPr/>
            <p:nvPr/>
          </p:nvSpPr>
          <p:spPr>
            <a:xfrm>
              <a:off x="1809115" y="4100195"/>
              <a:ext cx="2999740" cy="34988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600" b="1" i="0" u="none" strike="noStrike">
                  <a:solidFill>
                    <a:srgbClr val="8B0012"/>
                  </a:solidFill>
                  <a:latin typeface="Arial" panose="020B0604020202020204"/>
                  <a:ea typeface="Arial" panose="020B0604020202020204"/>
                  <a:cs typeface="Arial" panose="020B0604020202020204"/>
                  <a:sym typeface="Arial" panose="020B0604020202020204"/>
                </a:rPr>
                <a:t>Compilation</a:t>
              </a:r>
              <a:r>
                <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 FlagTree</a:t>
              </a:r>
              <a:endParaRPr lang="en-US" sz="1600"/>
            </a:p>
          </p:txBody>
        </p:sp>
        <p:sp>
          <p:nvSpPr>
            <p:cNvPr id="22" name="AutoShape 22"/>
            <p:cNvSpPr/>
            <p:nvPr/>
          </p:nvSpPr>
          <p:spPr>
            <a:xfrm>
              <a:off x="1809115" y="4429760"/>
              <a:ext cx="2999740" cy="29972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300" b="0" i="1" u="none" strike="noStrike">
                  <a:solidFill>
                    <a:srgbClr val="666666"/>
                  </a:solidFill>
                  <a:latin typeface="Arial" panose="020B0604020202020204"/>
                  <a:ea typeface="Arial" panose="020B0604020202020204"/>
                  <a:cs typeface="Arial" panose="020B0604020202020204"/>
                  <a:sym typeface="Arial" panose="020B0604020202020204"/>
                </a:rPr>
                <a:t>Traitement</a:t>
              </a:r>
              <a:r>
                <a:rPr lang="en-US" sz="1300" b="0" i="1"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LocalPtrToSharedMemPass</a:t>
              </a:r>
              <a:endParaRPr lang="en-US" sz="1100"/>
            </a:p>
          </p:txBody>
        </p:sp>
        <p:sp>
          <p:nvSpPr>
            <p:cNvPr id="23" name="AutoShape 23"/>
            <p:cNvSpPr/>
            <p:nvPr/>
          </p:nvSpPr>
          <p:spPr>
            <a:xfrm>
              <a:off x="5029200" y="4050030"/>
              <a:ext cx="5699760" cy="899795"/>
            </a:xfrm>
            <a:prstGeom prst="rect">
              <a:avLst/>
            </a:prstGeom>
            <a:solidFill>
              <a:srgbClr val="1E1E1E">
                <a:alpha val="100000"/>
              </a:srgbClr>
            </a:solidFill>
            <a:ln w="12700">
              <a:noFill/>
              <a:prstDash val="solid"/>
            </a:ln>
          </p:spPr>
          <p:txBody>
            <a:bodyPr wrap="square" lIns="182880" tIns="182880" rIns="182880" bIns="182880" rtlCol="0" anchor="t">
              <a:normAutofit/>
            </a:bodyPr>
            <a:lstStyle/>
            <a:p>
              <a:pPr indent="0" algn="l">
                <a:lnSpc>
                  <a:spcPct val="100000"/>
                </a:lnSpc>
                <a:defRPr/>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tle.gpu.local_ptr → gpu.ds_write_b32</a:t>
              </a:r>
              <a:endParaRPr lang="en-US" sz="1100"/>
            </a:p>
            <a:p>
              <a:pPr indent="0" algn="l">
                <a:lnSpc>
                  <a:spcPct val="100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r>
                <a:rPr lang="en-US" sz="1300" b="0" i="0" u="none" strike="noStrike">
                  <a:solidFill>
                    <a:srgbClr val="D4D4D4"/>
                  </a:solidFill>
                  <a:latin typeface="微软雅黑" panose="020B0503020204020204" charset="-122"/>
                  <a:ea typeface="微软雅黑" panose="020B0503020204020204" charset="-122"/>
                  <a:cs typeface="微软雅黑" panose="020B0503020204020204" charset="-122"/>
                  <a:sym typeface="微软雅黑" panose="020B0503020204020204" charset="-122"/>
                </a:rPr>
                <a:t>instruction d'écriture</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 shared memory</a:t>
              </a:r>
              <a:r>
                <a:rPr lang="en-US" sz="1300" b="0" i="0" u="none" strike="noStrike">
                  <a:solidFill>
                    <a:srgbClr val="D4D4D4"/>
                  </a:solidFill>
                  <a:latin typeface="微软雅黑" panose="020B0503020204020204" charset="-122"/>
                  <a:ea typeface="微软雅黑" panose="020B0503020204020204" charset="-122"/>
                  <a:cs typeface="微软雅黑" panose="020B0503020204020204" charset="-122"/>
                  <a:sym typeface="微软雅黑" panose="020B0503020204020204" charset="-122"/>
                </a:rPr>
                <a:t>du</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 DCU</a:t>
              </a:r>
              <a:r>
                <a:rPr lang="en-US" sz="1300" b="0" i="0" u="none" strike="noStrike">
                  <a:solidFill>
                    <a:srgbClr val="D4D4D4"/>
                  </a:solidFill>
                  <a:latin typeface="微软雅黑" panose="020B0503020204020204" charset="-122"/>
                  <a:ea typeface="微软雅黑" panose="020B0503020204020204" charset="-122"/>
                  <a:cs typeface="微软雅黑" panose="020B0503020204020204" charset="-122"/>
                  <a:sym typeface="微软雅黑" panose="020B0503020204020204" charset="-122"/>
                </a:rPr>
                <a:t>national</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24" name="AutoShape 24"/>
            <p:cNvSpPr/>
            <p:nvPr/>
          </p:nvSpPr>
          <p:spPr>
            <a:xfrm>
              <a:off x="1569085" y="4949825"/>
              <a:ext cx="19685" cy="14986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5" name="AutoShape 25"/>
            <p:cNvSpPr/>
            <p:nvPr/>
          </p:nvSpPr>
          <p:spPr>
            <a:xfrm>
              <a:off x="1429385" y="5200015"/>
              <a:ext cx="299720" cy="89979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6" name="AutoShape 26"/>
            <p:cNvSpPr/>
            <p:nvPr/>
          </p:nvSpPr>
          <p:spPr>
            <a:xfrm>
              <a:off x="1429385" y="5450205"/>
              <a:ext cx="299720" cy="400050"/>
            </a:xfrm>
            <a:prstGeom prst="rect">
              <a:avLst/>
            </a:prstGeom>
            <a:noFill/>
            <a:ln w="12700">
              <a:noFill/>
              <a:prstDash val="solid"/>
            </a:ln>
          </p:spPr>
          <p:txBody>
            <a:bodyPr wrap="square" lIns="91440" tIns="45720" rIns="91440" bIns="45720" rtlCol="0" anchor="t">
              <a:normAutofit lnSpcReduction="10000"/>
            </a:bodyPr>
            <a:lstStyle/>
            <a:p>
              <a:pPr indent="0" algn="ctr">
                <a:lnSpc>
                  <a:spcPct val="100000"/>
                </a:lnSpc>
                <a:defRPr/>
              </a:pPr>
              <a:r>
                <a:rPr lang="en-US" sz="2200" b="1"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27" name="AutoShape 27"/>
            <p:cNvSpPr/>
            <p:nvPr/>
          </p:nvSpPr>
          <p:spPr>
            <a:xfrm>
              <a:off x="1809115" y="5250180"/>
              <a:ext cx="2999740" cy="34988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Génération du code cible</a:t>
              </a:r>
              <a:endParaRPr lang="en-US" sz="1600" b="1"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8" name="AutoShape 28"/>
            <p:cNvSpPr/>
            <p:nvPr/>
          </p:nvSpPr>
          <p:spPr>
            <a:xfrm>
              <a:off x="1809115" y="5579745"/>
              <a:ext cx="2999740" cy="29972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300" b="0" i="1"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Séquence d'instructions optimale pour l'architecture</a:t>
              </a:r>
              <a:endParaRPr lang="en-US" sz="1100"/>
            </a:p>
          </p:txBody>
        </p:sp>
        <p:sp>
          <p:nvSpPr>
            <p:cNvPr id="29" name="AutoShape 29"/>
            <p:cNvSpPr/>
            <p:nvPr/>
          </p:nvSpPr>
          <p:spPr>
            <a:xfrm>
              <a:off x="5029200" y="5200015"/>
              <a:ext cx="5699760" cy="899795"/>
            </a:xfrm>
            <a:prstGeom prst="rect">
              <a:avLst/>
            </a:prstGeom>
            <a:solidFill>
              <a:srgbClr val="1E1E1E">
                <a:alpha val="100000"/>
              </a:srgbClr>
            </a:solidFill>
            <a:ln w="12700">
              <a:noFill/>
              <a:prstDash val="solid"/>
            </a:ln>
          </p:spPr>
          <p:txBody>
            <a:bodyPr wrap="square" lIns="182880" tIns="182880" rIns="182880" bIns="182880" rtlCol="0" anchor="t">
              <a:normAutofit/>
            </a:bodyPr>
            <a:lstStyle/>
            <a:p>
              <a:pPr indent="0" algn="l">
                <a:lnSpc>
                  <a:spcPct val="100000"/>
                </a:lnSpc>
                <a:defRPr/>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ds_write_b32 v[addr], v[data]</a:t>
              </a:r>
              <a:endParaRPr lang="en-US" sz="1100"/>
            </a:p>
            <a:p>
              <a:pPr indent="0" algn="l">
                <a:lnSpc>
                  <a:spcPct val="100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ds_read_b32  v[out], v[addr]</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Effets d'amélioration des performances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Amélioration des performances par opérateur (relativement à avant optimisation, environnement de test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GPU DCU national)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7481570" y="2264410"/>
            <a:ext cx="4430395" cy="3243580"/>
            <a:chOff x="7481570" y="2264410"/>
            <a:chExt cx="4430395" cy="3243580"/>
          </a:xfrm>
        </p:grpSpPr>
        <p:sp>
          <p:nvSpPr>
            <p:cNvPr id="7" name="AutoShape 7"/>
            <p:cNvSpPr/>
            <p:nvPr/>
          </p:nvSpPr>
          <p:spPr>
            <a:xfrm>
              <a:off x="7481570" y="2264410"/>
              <a:ext cx="2150110" cy="1550035"/>
            </a:xfrm>
            <a:prstGeom prst="rect">
              <a:avLst/>
            </a:prstGeom>
            <a:solidFill>
              <a:srgbClr val="F8F8F8">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7481570" y="2364105"/>
              <a:ext cx="2150110" cy="77470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4400" b="1" i="0" u="none" strike="noStrike">
                  <a:solidFill>
                    <a:srgbClr val="8B0012"/>
                  </a:solidFill>
                  <a:latin typeface="Arial Black" panose="020B0A04020102020204"/>
                  <a:ea typeface="Arial Black" panose="020B0A04020102020204"/>
                  <a:cs typeface="Arial Black" panose="020B0A04020102020204"/>
                  <a:sym typeface="Arial Black" panose="020B0A04020102020204"/>
                </a:rPr>
                <a:t>~60%</a:t>
              </a:r>
              <a:endParaRPr lang="en-US" sz="1100"/>
            </a:p>
          </p:txBody>
        </p:sp>
        <p:sp>
          <p:nvSpPr>
            <p:cNvPr id="9" name="AutoShape 9"/>
            <p:cNvSpPr/>
            <p:nvPr/>
          </p:nvSpPr>
          <p:spPr>
            <a:xfrm>
              <a:off x="7481570" y="3089275"/>
              <a:ext cx="2150110" cy="675005"/>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b="0" i="0" u="none" strike="noStrike">
                  <a:solidFill>
                    <a:srgbClr val="666666"/>
                  </a:solidFill>
                  <a:latin typeface="Arial" panose="020B0604020202020204"/>
                  <a:ea typeface="Arial" panose="020B0604020202020204"/>
                  <a:cs typeface="Arial" panose="020B0604020202020204"/>
                  <a:sym typeface="Arial" panose="020B0604020202020204"/>
                </a:rPr>
                <a:t>Opérateurs type</a:t>
              </a:r>
              <a:r>
                <a:rPr lang="en-US"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TopK</a:t>
              </a:r>
              <a:endParaRPr lang="en-US"/>
            </a:p>
            <a:p>
              <a:pPr indent="0" algn="ctr">
                <a:lnSpc>
                  <a:spcPct val="125000"/>
                </a:lnSpc>
              </a:pPr>
              <a:r>
                <a:rPr lang="en-US"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amélioration moyenne</a:t>
              </a:r>
              <a:endParaRPr lang="en-US"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nvSpPr>
          <p:spPr>
            <a:xfrm>
              <a:off x="9761855" y="2264410"/>
              <a:ext cx="2150110" cy="1550035"/>
            </a:xfrm>
            <a:prstGeom prst="rect">
              <a:avLst/>
            </a:prstGeom>
            <a:solidFill>
              <a:srgbClr val="F8F8F8">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9761855" y="2364105"/>
              <a:ext cx="2150110" cy="77470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4400" b="1" i="0" u="none" strike="noStrike">
                  <a:solidFill>
                    <a:srgbClr val="8B0012"/>
                  </a:solidFill>
                  <a:latin typeface="Arial Black" panose="020B0A04020102020204"/>
                  <a:ea typeface="Arial Black" panose="020B0A04020102020204"/>
                  <a:cs typeface="Arial Black" panose="020B0A04020102020204"/>
                  <a:sym typeface="Arial Black" panose="020B0A04020102020204"/>
                </a:rPr>
                <a:t>~40%</a:t>
              </a:r>
              <a:endParaRPr lang="en-US" sz="1100"/>
            </a:p>
          </p:txBody>
        </p:sp>
        <p:sp>
          <p:nvSpPr>
            <p:cNvPr id="12" name="AutoShape 12"/>
            <p:cNvSpPr/>
            <p:nvPr/>
          </p:nvSpPr>
          <p:spPr>
            <a:xfrm>
              <a:off x="9761855" y="3089275"/>
              <a:ext cx="2150110" cy="675005"/>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b="0" i="0" u="none" strike="noStrike">
                  <a:solidFill>
                    <a:srgbClr val="666666"/>
                  </a:solidFill>
                  <a:latin typeface="Arial" panose="020B0604020202020204"/>
                  <a:ea typeface="Arial" panose="020B0604020202020204"/>
                  <a:cs typeface="Arial" panose="020B0604020202020204"/>
                  <a:sym typeface="Arial" panose="020B0604020202020204"/>
                </a:rPr>
                <a:t>Opérateurs type</a:t>
              </a:r>
              <a:r>
                <a:rPr lang="en-US"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Sort</a:t>
              </a:r>
              <a:endParaRPr lang="en-US"/>
            </a:p>
            <a:p>
              <a:pPr indent="0" algn="ctr">
                <a:lnSpc>
                  <a:spcPct val="125000"/>
                </a:lnSpc>
              </a:pPr>
              <a:r>
                <a:rPr lang="en-US"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amélioration moyenne</a:t>
              </a:r>
              <a:endParaRPr lang="en-US"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nvSpPr>
          <p:spPr>
            <a:xfrm>
              <a:off x="7481570" y="3957955"/>
              <a:ext cx="2150110" cy="1550035"/>
            </a:xfrm>
            <a:prstGeom prst="rect">
              <a:avLst/>
            </a:prstGeom>
            <a:solidFill>
              <a:srgbClr val="F8F8F8">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7481570" y="4057650"/>
              <a:ext cx="2150110" cy="77470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4400" b="1" i="0" u="none" strike="noStrike">
                  <a:solidFill>
                    <a:srgbClr val="8B0012"/>
                  </a:solidFill>
                  <a:latin typeface="Arial Black" panose="020B0A04020102020204"/>
                  <a:ea typeface="Arial Black" panose="020B0A04020102020204"/>
                  <a:cs typeface="Arial Black" panose="020B0A04020102020204"/>
                  <a:sym typeface="Arial Black" panose="020B0A04020102020204"/>
                </a:rPr>
                <a:t>5~10x</a:t>
              </a:r>
              <a:endParaRPr lang="en-US" sz="1100"/>
            </a:p>
          </p:txBody>
        </p:sp>
        <p:sp>
          <p:nvSpPr>
            <p:cNvPr id="15" name="AutoShape 15"/>
            <p:cNvSpPr/>
            <p:nvPr/>
          </p:nvSpPr>
          <p:spPr>
            <a:xfrm>
              <a:off x="7481570" y="4761865"/>
              <a:ext cx="2150110" cy="675005"/>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b="0" i="0" u="none" strike="noStrike">
                  <a:solidFill>
                    <a:srgbClr val="666666"/>
                  </a:solidFill>
                  <a:latin typeface="Arial" panose="020B0604020202020204"/>
                  <a:ea typeface="Arial" panose="020B0604020202020204"/>
                  <a:cs typeface="Arial" panose="020B0604020202020204"/>
                  <a:sym typeface="Arial" panose="020B0604020202020204"/>
                </a:rPr>
                <a:t>Rapport de latence</a:t>
              </a:r>
              <a:endParaRPr lang="en-US"/>
            </a:p>
            <a:p>
              <a:pPr indent="0" algn="ctr">
                <a:lnSpc>
                  <a:spcPct val="125000"/>
                </a:lnSpc>
              </a:pPr>
              <a:r>
                <a:rPr lang="en-US" b="0" i="0" u="none" strike="noStrike">
                  <a:solidFill>
                    <a:srgbClr val="666666"/>
                  </a:solidFill>
                  <a:latin typeface="Arial" panose="020B0604020202020204"/>
                  <a:ea typeface="Arial" panose="020B0604020202020204"/>
                  <a:cs typeface="Arial" panose="020B0604020202020204"/>
                  <a:sym typeface="Arial" panose="020B0604020202020204"/>
                </a:rPr>
                <a:t> shared mem vs global mem</a:t>
              </a:r>
              <a:endParaRPr lang="en-US"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16" name="AutoShape 16"/>
            <p:cNvSpPr/>
            <p:nvPr/>
          </p:nvSpPr>
          <p:spPr>
            <a:xfrm>
              <a:off x="9761855" y="3957955"/>
              <a:ext cx="2150110" cy="1550035"/>
            </a:xfrm>
            <a:prstGeom prst="rect">
              <a:avLst/>
            </a:prstGeom>
            <a:solidFill>
              <a:srgbClr val="F8F8F8">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7" name="AutoShape 17"/>
            <p:cNvSpPr/>
            <p:nvPr/>
          </p:nvSpPr>
          <p:spPr>
            <a:xfrm>
              <a:off x="9761855" y="4057650"/>
              <a:ext cx="2150110" cy="77470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4400" b="1" i="0" u="none" strike="noStrike">
                  <a:solidFill>
                    <a:srgbClr val="8B0012"/>
                  </a:solidFill>
                  <a:latin typeface="Arial Black" panose="020B0A04020102020204"/>
                  <a:ea typeface="Arial Black" panose="020B0A04020102020204"/>
                  <a:cs typeface="Arial Black" panose="020B0A04020102020204"/>
                  <a:sym typeface="Arial Black" panose="020B0A04020102020204"/>
                </a:rPr>
                <a:t>0</a:t>
              </a:r>
              <a:endParaRPr lang="en-US" sz="1100"/>
            </a:p>
          </p:txBody>
        </p:sp>
        <p:sp>
          <p:nvSpPr>
            <p:cNvPr id="18" name="AutoShape 18"/>
            <p:cNvSpPr/>
            <p:nvPr/>
          </p:nvSpPr>
          <p:spPr>
            <a:xfrm>
              <a:off x="9761855" y="4782820"/>
              <a:ext cx="2150110" cy="675005"/>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Quantité d'intrusion de code</a:t>
              </a:r>
              <a:endParaRPr lang="en-US" sz="1200"/>
            </a:p>
            <a:p>
              <a:pPr indent="0" algn="ctr">
                <a:lnSpc>
                  <a:spcPct val="125000"/>
                </a:lnSpc>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code opérateur inchangé</a:t>
              </a: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a:t>
              </a:r>
              <a:endParaRPr lang="en-US" sz="12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grpSp>
      <p:grpSp>
        <p:nvGrpSpPr>
          <p:cNvPr id="19" name="Group 19"/>
          <p:cNvGrpSpPr/>
          <p:nvPr/>
        </p:nvGrpSpPr>
        <p:grpSpPr>
          <a:xfrm>
            <a:off x="249555" y="2304415"/>
            <a:ext cx="6800215" cy="3180080"/>
            <a:chOff x="249555" y="2304415"/>
            <a:chExt cx="6800215" cy="3180080"/>
          </a:xfrm>
        </p:grpSpPr>
        <p:sp>
          <p:nvSpPr>
            <p:cNvPr id="20" name="AutoShape 20"/>
            <p:cNvSpPr/>
            <p:nvPr/>
          </p:nvSpPr>
          <p:spPr>
            <a:xfrm>
              <a:off x="249555" y="230441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topk (K=10)</a:t>
              </a:r>
              <a:endParaRPr lang="en-US" sz="1100"/>
            </a:p>
          </p:txBody>
        </p:sp>
        <p:sp>
          <p:nvSpPr>
            <p:cNvPr id="21" name="AutoShape 21"/>
            <p:cNvSpPr/>
            <p:nvPr/>
          </p:nvSpPr>
          <p:spPr>
            <a:xfrm>
              <a:off x="2549525" y="234442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2549525" y="2344420"/>
              <a:ext cx="3060065"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5709285" y="230441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+68%</a:t>
              </a:r>
              <a:endParaRPr lang="en-US" sz="1100"/>
            </a:p>
          </p:txBody>
        </p:sp>
        <p:sp>
          <p:nvSpPr>
            <p:cNvPr id="24" name="AutoShape 24"/>
            <p:cNvSpPr/>
            <p:nvPr/>
          </p:nvSpPr>
          <p:spPr>
            <a:xfrm>
              <a:off x="249555" y="286448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topk (K=100)</a:t>
              </a:r>
              <a:endParaRPr lang="en-US" sz="1100"/>
            </a:p>
          </p:txBody>
        </p:sp>
        <p:sp>
          <p:nvSpPr>
            <p:cNvPr id="25" name="AutoShape 25"/>
            <p:cNvSpPr/>
            <p:nvPr/>
          </p:nvSpPr>
          <p:spPr>
            <a:xfrm>
              <a:off x="2549525" y="290449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6" name="AutoShape 26"/>
            <p:cNvSpPr/>
            <p:nvPr/>
          </p:nvSpPr>
          <p:spPr>
            <a:xfrm>
              <a:off x="2549525" y="2904490"/>
              <a:ext cx="2339975"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AutoShape 27"/>
            <p:cNvSpPr/>
            <p:nvPr/>
          </p:nvSpPr>
          <p:spPr>
            <a:xfrm>
              <a:off x="4989830" y="286448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+52%</a:t>
              </a:r>
              <a:endParaRPr lang="en-US" sz="1100"/>
            </a:p>
          </p:txBody>
        </p:sp>
        <p:sp>
          <p:nvSpPr>
            <p:cNvPr id="28" name="AutoShape 28"/>
            <p:cNvSpPr/>
            <p:nvPr/>
          </p:nvSpPr>
          <p:spPr>
            <a:xfrm>
              <a:off x="249555" y="342455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sort (BitonicSort)</a:t>
              </a:r>
              <a:endParaRPr lang="en-US" sz="1100"/>
            </a:p>
          </p:txBody>
        </p:sp>
        <p:sp>
          <p:nvSpPr>
            <p:cNvPr id="29" name="AutoShape 29"/>
            <p:cNvSpPr/>
            <p:nvPr/>
          </p:nvSpPr>
          <p:spPr>
            <a:xfrm>
              <a:off x="2549525" y="346456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0" name="AutoShape 30"/>
            <p:cNvSpPr/>
            <p:nvPr/>
          </p:nvSpPr>
          <p:spPr>
            <a:xfrm>
              <a:off x="2549525" y="3464560"/>
              <a:ext cx="2025015"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1" name="AutoShape 31"/>
            <p:cNvSpPr/>
            <p:nvPr/>
          </p:nvSpPr>
          <p:spPr>
            <a:xfrm>
              <a:off x="4674870" y="342455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+45%</a:t>
              </a:r>
              <a:endParaRPr lang="en-US" sz="1100"/>
            </a:p>
          </p:txBody>
        </p:sp>
        <p:sp>
          <p:nvSpPr>
            <p:cNvPr id="32" name="AutoShape 32"/>
            <p:cNvSpPr/>
            <p:nvPr/>
          </p:nvSpPr>
          <p:spPr>
            <a:xfrm>
              <a:off x="249555" y="398462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argsort</a:t>
              </a:r>
              <a:endParaRPr lang="en-US" sz="1100"/>
            </a:p>
          </p:txBody>
        </p:sp>
        <p:sp>
          <p:nvSpPr>
            <p:cNvPr id="33" name="AutoShape 33"/>
            <p:cNvSpPr/>
            <p:nvPr/>
          </p:nvSpPr>
          <p:spPr>
            <a:xfrm>
              <a:off x="2549525" y="402463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4" name="AutoShape 34"/>
            <p:cNvSpPr/>
            <p:nvPr/>
          </p:nvSpPr>
          <p:spPr>
            <a:xfrm>
              <a:off x="2549525" y="4024630"/>
              <a:ext cx="1845310"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5" name="AutoShape 35"/>
            <p:cNvSpPr/>
            <p:nvPr/>
          </p:nvSpPr>
          <p:spPr>
            <a:xfrm>
              <a:off x="4494530" y="398462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+41%</a:t>
              </a:r>
              <a:endParaRPr lang="en-US" sz="1100"/>
            </a:p>
          </p:txBody>
        </p:sp>
        <p:sp>
          <p:nvSpPr>
            <p:cNvPr id="36" name="AutoShape 36"/>
            <p:cNvSpPr/>
            <p:nvPr/>
          </p:nvSpPr>
          <p:spPr>
            <a:xfrm>
              <a:off x="249555" y="454469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median</a:t>
              </a:r>
              <a:endParaRPr lang="en-US" sz="1100"/>
            </a:p>
          </p:txBody>
        </p:sp>
        <p:sp>
          <p:nvSpPr>
            <p:cNvPr id="37" name="AutoShape 37"/>
            <p:cNvSpPr/>
            <p:nvPr/>
          </p:nvSpPr>
          <p:spPr>
            <a:xfrm>
              <a:off x="2549525" y="458470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8" name="AutoShape 38"/>
            <p:cNvSpPr/>
            <p:nvPr/>
          </p:nvSpPr>
          <p:spPr>
            <a:xfrm>
              <a:off x="2549525" y="4584700"/>
              <a:ext cx="1574800"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9" name="AutoShape 39"/>
            <p:cNvSpPr/>
            <p:nvPr/>
          </p:nvSpPr>
          <p:spPr>
            <a:xfrm>
              <a:off x="4224655" y="454469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+35%</a:t>
              </a:r>
              <a:endParaRPr lang="en-US" sz="1100"/>
            </a:p>
          </p:txBody>
        </p:sp>
        <p:sp>
          <p:nvSpPr>
            <p:cNvPr id="40" name="AutoShape 40"/>
            <p:cNvSpPr/>
            <p:nvPr/>
          </p:nvSpPr>
          <p:spPr>
            <a:xfrm>
              <a:off x="249555" y="510476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kthvalue</a:t>
              </a:r>
              <a:endParaRPr lang="en-US" sz="1100"/>
            </a:p>
          </p:txBody>
        </p:sp>
        <p:sp>
          <p:nvSpPr>
            <p:cNvPr id="41" name="AutoShape 41"/>
            <p:cNvSpPr/>
            <p:nvPr/>
          </p:nvSpPr>
          <p:spPr>
            <a:xfrm>
              <a:off x="2549525" y="514477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2" name="AutoShape 42"/>
            <p:cNvSpPr/>
            <p:nvPr/>
          </p:nvSpPr>
          <p:spPr>
            <a:xfrm>
              <a:off x="2549525" y="5144770"/>
              <a:ext cx="1710055"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3" name="AutoShape 43"/>
            <p:cNvSpPr/>
            <p:nvPr/>
          </p:nvSpPr>
          <p:spPr>
            <a:xfrm>
              <a:off x="4359275" y="510476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+38%</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Extensibilité : </a:t>
            </a:r>
            <a:endParaRPr 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modèles d'optimisation pour d'autres opérateurs</a:t>
            </a:r>
            <a:endParaRPr 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pSp>
        <p:nvGrpSpPr>
          <p:cNvPr id="6" name="Group 6"/>
          <p:cNvGrpSpPr/>
          <p:nvPr/>
        </p:nvGrpSpPr>
        <p:grpSpPr>
          <a:xfrm>
            <a:off x="1104265" y="1475740"/>
            <a:ext cx="10467975" cy="4721225"/>
            <a:chOff x="1612265" y="1510665"/>
            <a:chExt cx="9464675" cy="4721225"/>
          </a:xfrm>
        </p:grpSpPr>
        <p:sp>
          <p:nvSpPr>
            <p:cNvPr id="7" name="AutoShape 7"/>
            <p:cNvSpPr/>
            <p:nvPr/>
          </p:nvSpPr>
          <p:spPr>
            <a:xfrm>
              <a:off x="1612265" y="1510665"/>
              <a:ext cx="4399915" cy="4700270"/>
            </a:xfrm>
            <a:prstGeom prst="rect">
              <a:avLst/>
            </a:prstGeom>
            <a:solidFill>
              <a:srgbClr val="FFF5F5">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1612265" y="1531620"/>
              <a:ext cx="4399915" cy="56007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1711960" y="1601470"/>
              <a:ext cx="4199890" cy="4197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Modèles d'opérateurs adaptés à l'optimisation</a:t>
              </a:r>
              <a:r>
                <a:rPr lang="en-US" b="1" i="0" u="none" strike="noStrike">
                  <a:solidFill>
                    <a:srgbClr val="FFFFFF"/>
                  </a:solidFill>
                  <a:latin typeface="Arial" panose="020B0604020202020204"/>
                  <a:ea typeface="Arial" panose="020B0604020202020204"/>
                  <a:cs typeface="Arial" panose="020B0604020202020204"/>
                  <a:sym typeface="Arial" panose="020B0604020202020204"/>
                </a:rPr>
                <a:t> local_ptr </a:t>
              </a: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Mode operateur optimise</a:t>
              </a:r>
              <a:endPar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nvSpPr>
          <p:spPr>
            <a:xfrm>
              <a:off x="1711960" y="2311400"/>
              <a:ext cx="120015" cy="120015"/>
            </a:xfrm>
            <a:prstGeom prst="ellipse">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1951990" y="2211705"/>
              <a:ext cx="3930015" cy="349885"/>
            </a:xfrm>
            <a:prstGeom prst="rect">
              <a:avLst/>
            </a:prstGeom>
            <a:noFill/>
            <a:ln w="12700">
              <a:noFill/>
              <a:prstDash val="solid"/>
            </a:ln>
          </p:spPr>
          <p:txBody>
            <a:bodyPr wrap="square" lIns="0" tIns="0" rIns="91440" bIns="0" rtlCol="0" anchor="t">
              <a:normAutofit/>
            </a:bodyPr>
            <a:lstStyle/>
            <a:p>
              <a:pPr indent="0" algn="l">
                <a:lnSpc>
                  <a:spcPct val="100000"/>
                </a:lnSpc>
                <a:defRPr/>
              </a:pPr>
              <a:r>
                <a:rPr lang="en-US"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Réutilisation de résultats intermédiaires</a:t>
              </a:r>
              <a:endParaRPr lang="en-US"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AutoShape 12"/>
            <p:cNvSpPr/>
            <p:nvPr/>
          </p:nvSpPr>
          <p:spPr>
            <a:xfrm>
              <a:off x="1892300" y="2472690"/>
              <a:ext cx="4050030"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L'opérateur lit/écrit plusieurs fois les mêmes données</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nvSpPr>
          <p:spPr>
            <a:xfrm>
              <a:off x="1892300" y="2710815"/>
              <a:ext cx="4050030"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Stocker en</a:t>
              </a: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shared mem</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pour éviter de multiples accès</a:t>
              </a: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global</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Acces</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AutoShape 14"/>
            <p:cNvSpPr/>
            <p:nvPr/>
          </p:nvSpPr>
          <p:spPr>
            <a:xfrm>
              <a:off x="1711960" y="3101340"/>
              <a:ext cx="120015" cy="120015"/>
            </a:xfrm>
            <a:prstGeom prst="ellipse">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1951990" y="3051810"/>
              <a:ext cx="3930015" cy="349885"/>
            </a:xfrm>
            <a:prstGeom prst="rect">
              <a:avLst/>
            </a:prstGeom>
            <a:noFill/>
            <a:ln w="12700">
              <a:noFill/>
              <a:prstDash val="solid"/>
            </a:ln>
          </p:spPr>
          <p:txBody>
            <a:bodyPr wrap="square" lIns="0" tIns="0" rIns="91440" bIns="0" rtlCol="0" anchor="t">
              <a:normAutofit/>
            </a:bodyPr>
            <a:lstStyle/>
            <a:p>
              <a:pPr indent="0" algn="l">
                <a:lnSpc>
                  <a:spcPct val="100000"/>
                </a:lnSpc>
                <a:defRPr/>
              </a:pPr>
              <a:r>
                <a:rPr lang="en-US" b="1" i="0" u="none" strike="noStrike">
                  <a:solidFill>
                    <a:srgbClr val="1A1A1A"/>
                  </a:solidFill>
                  <a:latin typeface="Arial" panose="020B0604020202020204"/>
                  <a:ea typeface="Arial" panose="020B0604020202020204"/>
                  <a:cs typeface="Arial" panose="020B0604020202020204"/>
                  <a:sym typeface="Arial" panose="020B0604020202020204"/>
                </a:rPr>
                <a:t>Communication inter</a:t>
              </a:r>
              <a:r>
                <a:rPr lang="en-US"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 Warp</a:t>
              </a:r>
              <a:endParaRPr lang="en-US"/>
            </a:p>
          </p:txBody>
        </p:sp>
        <p:sp>
          <p:nvSpPr>
            <p:cNvPr id="16" name="AutoShape 16"/>
            <p:cNvSpPr/>
            <p:nvPr/>
          </p:nvSpPr>
          <p:spPr>
            <a:xfrm>
              <a:off x="1892300" y="3340735"/>
              <a:ext cx="4050030"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Échange de données entre</a:t>
              </a: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warp</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au sein d'un même</a:t>
              </a: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CTA</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Donnees a echanger</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AutoShape 17"/>
            <p:cNvSpPr/>
            <p:nvPr/>
          </p:nvSpPr>
          <p:spPr>
            <a:xfrm>
              <a:off x="1892300" y="3676650"/>
              <a:ext cx="4050030"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Communication efficace via</a:t>
              </a: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shared mem</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Realiser une communication efficace</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AutoShape 18"/>
            <p:cNvSpPr/>
            <p:nvPr/>
          </p:nvSpPr>
          <p:spPr>
            <a:xfrm>
              <a:off x="1711960" y="4133850"/>
              <a:ext cx="120015" cy="120015"/>
            </a:xfrm>
            <a:prstGeom prst="ellipse">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1951990" y="4105910"/>
              <a:ext cx="3930015" cy="349885"/>
            </a:xfrm>
            <a:prstGeom prst="rect">
              <a:avLst/>
            </a:prstGeom>
            <a:noFill/>
            <a:ln w="12700">
              <a:noFill/>
              <a:prstDash val="solid"/>
            </a:ln>
          </p:spPr>
          <p:txBody>
            <a:bodyPr wrap="square" lIns="0" tIns="0" rIns="91440" bIns="0" rtlCol="0" anchor="t">
              <a:normAutofit/>
            </a:bodyPr>
            <a:lstStyle/>
            <a:p>
              <a:pPr indent="0" algn="l">
                <a:lnSpc>
                  <a:spcPct val="100000"/>
                </a:lnSpc>
                <a:defRPr/>
              </a:pPr>
              <a:r>
                <a:rPr lang="en-US"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Opérations de réduction</a:t>
              </a:r>
              <a:endParaRPr lang="en-US"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AutoShape 20"/>
            <p:cNvSpPr/>
            <p:nvPr/>
          </p:nvSpPr>
          <p:spPr>
            <a:xfrm>
              <a:off x="1892300" y="4361815"/>
              <a:ext cx="4050030"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Réductions inter-threads comme Sum / Max / Min</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Reduction entre threads</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AutoShape 21"/>
            <p:cNvSpPr/>
            <p:nvPr/>
          </p:nvSpPr>
          <p:spPr>
            <a:xfrm>
              <a:off x="1892300" y="4621530"/>
              <a:ext cx="4050030"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Alternative au</a:t>
              </a: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shuffle</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traditionnel</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AutoShape 22"/>
            <p:cNvSpPr/>
            <p:nvPr/>
          </p:nvSpPr>
          <p:spPr>
            <a:xfrm>
              <a:off x="1711960" y="4985385"/>
              <a:ext cx="120015" cy="120015"/>
            </a:xfrm>
            <a:prstGeom prst="ellipse">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1951990" y="4941570"/>
              <a:ext cx="3930015" cy="349885"/>
            </a:xfrm>
            <a:prstGeom prst="rect">
              <a:avLst/>
            </a:prstGeom>
            <a:noFill/>
            <a:ln w="12700">
              <a:noFill/>
              <a:prstDash val="solid"/>
            </a:ln>
          </p:spPr>
          <p:txBody>
            <a:bodyPr wrap="square" lIns="0" tIns="0" rIns="91440" bIns="0" rtlCol="0" anchor="t">
              <a:normAutofit/>
            </a:bodyPr>
            <a:lstStyle/>
            <a:p>
              <a:pPr indent="0" algn="l">
                <a:lnSpc>
                  <a:spcPct val="100000"/>
                </a:lnSpc>
                <a:defRPr/>
              </a:pPr>
              <a:r>
                <a:rPr lang="en-US"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Tri par blocs</a:t>
              </a:r>
              <a:endParaRPr lang="en-US"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 name="AutoShape 24"/>
            <p:cNvSpPr/>
            <p:nvPr/>
          </p:nvSpPr>
          <p:spPr>
            <a:xfrm>
              <a:off x="1892300" y="5251450"/>
              <a:ext cx="4050030"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Implémentation par blocs</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Bitonic sort / Radix sort</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AutoShape 25"/>
            <p:cNvSpPr/>
            <p:nvPr/>
          </p:nvSpPr>
          <p:spPr>
            <a:xfrm>
              <a:off x="1892300" y="5531485"/>
              <a:ext cx="4050030"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local_ptr</a:t>
              </a: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 maintient les données de bloc en</a:t>
              </a:r>
              <a:endParaRPr lang="en-US" sz="10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26" name="AutoShape 26"/>
            <p:cNvSpPr/>
            <p:nvPr/>
          </p:nvSpPr>
          <p:spPr>
            <a:xfrm>
              <a:off x="6212205" y="1531620"/>
              <a:ext cx="4864735" cy="4700270"/>
            </a:xfrm>
            <a:prstGeom prst="rect">
              <a:avLst/>
            </a:prstGeom>
            <a:solidFill>
              <a:srgbClr val="F0F8FF">
                <a:alpha val="100000"/>
              </a:srgbClr>
            </a:solidFill>
            <a:ln w="12700">
              <a:solidFill>
                <a:srgbClr val="0066CC">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AutoShape 27"/>
            <p:cNvSpPr/>
            <p:nvPr/>
          </p:nvSpPr>
          <p:spPr>
            <a:xfrm>
              <a:off x="6212205" y="1531620"/>
              <a:ext cx="4799965" cy="560070"/>
            </a:xfrm>
            <a:prstGeom prst="rect">
              <a:avLst/>
            </a:prstGeom>
            <a:solidFill>
              <a:srgbClr val="0D47A1">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8" name="AutoShape 28"/>
            <p:cNvSpPr/>
            <p:nvPr/>
          </p:nvSpPr>
          <p:spPr>
            <a:xfrm>
              <a:off x="6312535" y="1601470"/>
              <a:ext cx="4599940" cy="4197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Étapes d'intégration</a:t>
              </a:r>
              <a:r>
                <a:rPr lang="en-US" b="1" i="0" u="none" strike="noStrike">
                  <a:solidFill>
                    <a:srgbClr val="FFFFFF"/>
                  </a:solidFill>
                  <a:latin typeface="Arial" panose="020B0604020202020204"/>
                  <a:ea typeface="Arial" panose="020B0604020202020204"/>
                  <a:cs typeface="Arial" panose="020B0604020202020204"/>
                  <a:sym typeface="Arial" panose="020B0604020202020204"/>
                </a:rPr>
                <a:t> local_ptr</a:t>
              </a: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pour nouveaux opérateurs</a:t>
              </a:r>
              <a:endPar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AutoShape 29"/>
            <p:cNvSpPr/>
            <p:nvPr/>
          </p:nvSpPr>
          <p:spPr>
            <a:xfrm>
              <a:off x="6312535" y="2211705"/>
              <a:ext cx="97028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Étape 1</a:t>
              </a:r>
              <a:endParaRPr lang="en-US" sz="1100"/>
            </a:p>
          </p:txBody>
        </p:sp>
        <p:sp>
          <p:nvSpPr>
            <p:cNvPr id="30" name="AutoShape 30"/>
            <p:cNvSpPr/>
            <p:nvPr/>
          </p:nvSpPr>
          <p:spPr>
            <a:xfrm>
              <a:off x="7212330" y="2211705"/>
              <a:ext cx="3700145"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Identifier les scénarios d'utilisation de</a:t>
              </a: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 shared memory </a:t>
              </a: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dans l'opérateur</a:t>
              </a:r>
              <a:endPar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1" name="AutoShape 31"/>
            <p:cNvSpPr/>
            <p:nvPr/>
          </p:nvSpPr>
          <p:spPr>
            <a:xfrm>
              <a:off x="6312535" y="2911475"/>
              <a:ext cx="97028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Étape 2</a:t>
              </a:r>
              <a:endParaRPr lang="en-US" sz="1100"/>
            </a:p>
          </p:txBody>
        </p:sp>
        <p:sp>
          <p:nvSpPr>
            <p:cNvPr id="32" name="AutoShape 32"/>
            <p:cNvSpPr/>
            <p:nvPr/>
          </p:nvSpPr>
          <p:spPr>
            <a:xfrm>
              <a:off x="7212330" y="2911475"/>
              <a:ext cx="3700145" cy="70040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Remplacer le</a:t>
              </a: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 shared buffer </a:t>
              </a: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déclaré par</a:t>
              </a: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 tl.zeros / tl.full </a:t>
              </a:r>
              <a:r>
                <a:rPr lang="en-US" sz="1300">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par une référence </a:t>
              </a:r>
              <a:r>
                <a:rPr lang="en-US" sz="1300">
                  <a:solidFill>
                    <a:srgbClr val="1A1A1A"/>
                  </a:solidFill>
                  <a:sym typeface="Arial" panose="020B0604020202020204"/>
                </a:rPr>
                <a:t>tle.gpu.local_ptr</a:t>
              </a:r>
              <a:endParaRPr lang="en-US" sz="500"/>
            </a:p>
          </p:txBody>
        </p:sp>
        <p:sp>
          <p:nvSpPr>
            <p:cNvPr id="34" name="AutoShape 34"/>
            <p:cNvSpPr/>
            <p:nvPr/>
          </p:nvSpPr>
          <p:spPr>
            <a:xfrm>
              <a:off x="6312535" y="3611245"/>
              <a:ext cx="97028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Étape 3</a:t>
              </a:r>
              <a:endParaRPr lang="en-US" sz="1100"/>
            </a:p>
          </p:txBody>
        </p:sp>
        <p:sp>
          <p:nvSpPr>
            <p:cNvPr id="35" name="AutoShape 35"/>
            <p:cNvSpPr/>
            <p:nvPr/>
          </p:nvSpPr>
          <p:spPr>
            <a:xfrm>
              <a:off x="7212330" y="3611245"/>
              <a:ext cx="3700145"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Valider l'exécution correcte via le</a:t>
              </a: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 Pass</a:t>
              </a: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du compilateur</a:t>
              </a: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 FlagTree </a:t>
              </a: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Execution correcte</a:t>
              </a:r>
              <a:endPar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defRPr/>
              </a:pPr>
              <a:r>
                <a:rPr lang="en-US" sz="1300">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(consulter le</a:t>
              </a:r>
              <a:r>
                <a:rPr lang="en-US" sz="1300">
                  <a:solidFill>
                    <a:srgbClr val="1A1A1A"/>
                  </a:solidFill>
                  <a:sym typeface="Arial" panose="020B0604020202020204"/>
                </a:rPr>
                <a:t> PTX / ISA</a:t>
              </a:r>
              <a:r>
                <a:rPr lang="en-US" sz="1300">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 généré)</a:t>
              </a:r>
              <a:endParaRPr lang="en-US" sz="1300"/>
            </a:p>
            <a:p>
              <a:pPr indent="0" algn="l">
                <a:lnSpc>
                  <a:spcPct val="100000"/>
                </a:lnSpc>
                <a:defRPr/>
              </a:pPr>
              <a:endParaRPr lang="en-US" sz="500"/>
            </a:p>
          </p:txBody>
        </p:sp>
        <p:sp>
          <p:nvSpPr>
            <p:cNvPr id="37" name="AutoShape 37"/>
            <p:cNvSpPr/>
            <p:nvPr/>
          </p:nvSpPr>
          <p:spPr>
            <a:xfrm>
              <a:off x="6312535" y="4311650"/>
              <a:ext cx="97028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Étape 4</a:t>
              </a:r>
              <a:endParaRPr lang="en-US" sz="1100"/>
            </a:p>
          </p:txBody>
        </p:sp>
        <p:sp>
          <p:nvSpPr>
            <p:cNvPr id="38" name="AutoShape 38"/>
            <p:cNvSpPr/>
            <p:nvPr/>
          </p:nvSpPr>
          <p:spPr>
            <a:xfrm>
              <a:off x="7212330" y="4311650"/>
              <a:ext cx="3700145"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Valider la correction des résultats dans la suite de tests</a:t>
              </a: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 FlagGems</a:t>
              </a:r>
              <a:endParaRPr lang="en-US" sz="1300" b="0" i="0" u="none" strike="noStrike">
                <a:solidFill>
                  <a:srgbClr val="1A1A1A"/>
                </a:solidFill>
                <a:latin typeface="Arial" panose="020B0604020202020204"/>
                <a:ea typeface="Arial" panose="020B0604020202020204"/>
                <a:cs typeface="Arial" panose="020B0604020202020204"/>
                <a:sym typeface="Arial" panose="020B0604020202020204"/>
              </a:endParaRPr>
            </a:p>
          </p:txBody>
        </p:sp>
        <p:sp>
          <p:nvSpPr>
            <p:cNvPr id="39" name="AutoShape 39"/>
            <p:cNvSpPr/>
            <p:nvPr/>
          </p:nvSpPr>
          <p:spPr>
            <a:xfrm>
              <a:off x="6312535" y="5011420"/>
              <a:ext cx="97028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Étape 5</a:t>
              </a:r>
              <a:endParaRPr lang="en-US" sz="1100"/>
            </a:p>
          </p:txBody>
        </p:sp>
        <p:sp>
          <p:nvSpPr>
            <p:cNvPr id="40" name="AutoShape 40"/>
            <p:cNvSpPr/>
            <p:nvPr/>
          </p:nvSpPr>
          <p:spPr>
            <a:xfrm>
              <a:off x="7212330" y="5011420"/>
              <a:ext cx="3700145" cy="2800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Soumettre un</a:t>
              </a: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 PR</a:t>
              </a: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tests de régression</a:t>
              </a: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 CI/CD</a:t>
              </a:r>
              <a:endPar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44</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 </a:t>
            </a:r>
            <a:r>
              <a:rPr lang="en-US" altLang="zh-CN"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Optimisation de bout en bout des performances</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Optimisation de bout en bout des performances</a:t>
            </a:r>
            <a:endPar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Accélération collaborative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De la conception d'algorithmes à l'optimisation du compilateur jusqu'à l'implémentation des opérateurs</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5943600" y="32766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1"/>
          <a:srcRect/>
          <a:stretch>
            <a:fillRect/>
          </a:stretch>
        </p:blipFill>
        <p:spPr>
          <a:xfrm>
            <a:off x="741404" y="2218411"/>
            <a:ext cx="5991096" cy="4639589"/>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50030" y="2290525"/>
            <a:ext cx="5164802" cy="429134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Table des matières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Perspective macroscopique : l'importance de la collaboration de bout en bout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Modèle et algorithme : évolution structurelle et méthodes légères</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Compilation et ordonnancement : fusion d'opérateurs et planification mémoire fine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Couche matérielle : utiliser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FlagGems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pour le déploiement </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haute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performant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Collaboration écosystémique :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FlagScale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et conception de l'architecture du système d'exploitation</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vLLM </a:t>
            </a:r>
            <a:r>
              <a:rPr lang="zh-CN" altLang="en-US" sz="2400" b="0" i="0" u="none" strike="noStrike">
                <a:solidFill>
                  <a:srgbClr val="404040"/>
                </a:solidFill>
                <a:latin typeface="Calibri" panose="020F0502020204030204"/>
                <a:ea typeface="宋体" panose="02010600030101010101" pitchFamily="2" charset="-122"/>
                <a:cs typeface="Calibri" panose="020F0502020204030204"/>
                <a:sym typeface="Calibri" panose="020F0502020204030204"/>
              </a:rPr>
              <a:t>：</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analyse pratique de l'accélération par plugins</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Qu'est-ce que l'optimisation </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collaborative de bout en bout ?</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7767320" cy="483235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Limites de l'optimisation locale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Loi d'Amdahl</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Mod</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en entonnoir de bout en bout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Couche sup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rieure (couche algorithmique) : charge de calcul th</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orique (nombre d'op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rations en virgule flottante, FLOPs) et besoins en 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Couche interm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diaire (compilation / framework) : chemin d'ex</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cution du graphe de calcul et dur</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 de vie de la 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GPU</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Couche inf</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rieure (op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rateurs / couche mat</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rielle) : efficacit</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d'ex</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cution des instructions sp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cifiques</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Mécanisme de rétroaction</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Les caract</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ristiques du mat</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riel sous-jacent (par exemple le FP16/FP8 d</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di</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au TensorCore) influencent en retour la conception des algorithmes de la couche sup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rieure et les strat</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gies de quantification</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t="13710" b="9930"/>
          <a:stretch>
            <a:fillRect/>
          </a:stretch>
        </p:blipFill>
        <p:spPr>
          <a:xfrm>
            <a:off x="8291043" y="1916348"/>
            <a:ext cx="3900957" cy="444000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698224" y="322409"/>
            <a:ext cx="9987507"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rPr>
              <a:t>La barri</a:t>
            </a:r>
            <a:r>
              <a:rPr lang="en-US" alt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rPr>
              <a:t>re à 2 niveaux de </a:t>
            </a:r>
            <a:endPar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rPr>
              <a:t>l’inf</a:t>
            </a:r>
            <a:r>
              <a:rPr lang="en-US" alt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rPr>
              <a:t>rence des grands mod</a:t>
            </a:r>
            <a:r>
              <a:rPr lang="en-US" alt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rPr>
              <a:t>les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Mur mémoire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 phase de d</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codage de l'inf</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rence des LLM est principalement limit</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 par la bande passante d'acc</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à la 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norme cache de cl</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s-valeurs consomme une grande quantit</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de 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GPU, limitant ainsi la taille du batch concurrent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077362" y="3005819"/>
            <a:ext cx="7315200" cy="371565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a:solidFill>
                  <a:srgbClr val="262626"/>
                </a:solidFill>
                <a:latin typeface="Calibri" panose="020F0502020204030204"/>
                <a:ea typeface="Calibri" panose="020F0502020204030204"/>
                <a:cs typeface="Calibri" panose="020F0502020204030204"/>
                <a:sym typeface="Calibri" panose="020F0502020204030204"/>
              </a:rPr>
              <a:t>La barri</a:t>
            </a:r>
            <a:r>
              <a:rPr lang="en-US" altLang="en-US">
                <a:solidFill>
                  <a:srgbClr val="262626"/>
                </a:solidFill>
                <a:latin typeface="Calibri" panose="020F0502020204030204"/>
                <a:ea typeface="Calibri" panose="020F0502020204030204"/>
                <a:cs typeface="Calibri" panose="020F0502020204030204"/>
                <a:sym typeface="Calibri" panose="020F0502020204030204"/>
              </a:rPr>
              <a:t>è</a:t>
            </a:r>
            <a:r>
              <a:rPr lang="en-US" altLang="zh-CN">
                <a:solidFill>
                  <a:srgbClr val="262626"/>
                </a:solidFill>
                <a:latin typeface="Calibri" panose="020F0502020204030204"/>
                <a:ea typeface="Calibri" panose="020F0502020204030204"/>
                <a:cs typeface="Calibri" panose="020F0502020204030204"/>
                <a:sym typeface="Calibri" panose="020F0502020204030204"/>
              </a:rPr>
              <a:t>re à 2 niveaux de </a:t>
            </a:r>
            <a:endPar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altLang="zh-CN">
                <a:solidFill>
                  <a:srgbClr val="262626"/>
                </a:solidFill>
                <a:latin typeface="Calibri" panose="020F0502020204030204"/>
                <a:ea typeface="Calibri" panose="020F0502020204030204"/>
                <a:cs typeface="Calibri" panose="020F0502020204030204"/>
                <a:sym typeface="Calibri" panose="020F0502020204030204"/>
              </a:rPr>
              <a:t>l’inf</a:t>
            </a:r>
            <a:r>
              <a:rPr lang="en-US" altLang="en-US">
                <a:solidFill>
                  <a:srgbClr val="262626"/>
                </a:solidFill>
                <a:latin typeface="Calibri" panose="020F0502020204030204"/>
                <a:ea typeface="Calibri" panose="020F0502020204030204"/>
                <a:cs typeface="Calibri" panose="020F0502020204030204"/>
                <a:sym typeface="Calibri" panose="020F0502020204030204"/>
              </a:rPr>
              <a:t>é</a:t>
            </a:r>
            <a:r>
              <a:rPr lang="en-US" altLang="zh-CN">
                <a:solidFill>
                  <a:srgbClr val="262626"/>
                </a:solidFill>
                <a:latin typeface="Calibri" panose="020F0502020204030204"/>
                <a:ea typeface="Calibri" panose="020F0502020204030204"/>
                <a:cs typeface="Calibri" panose="020F0502020204030204"/>
                <a:sym typeface="Calibri" panose="020F0502020204030204"/>
              </a:rPr>
              <a:t>rence des grands mod</a:t>
            </a:r>
            <a:r>
              <a:rPr lang="en-US" altLang="en-US">
                <a:solidFill>
                  <a:srgbClr val="262626"/>
                </a:solidFill>
                <a:latin typeface="Calibri" panose="020F0502020204030204"/>
                <a:ea typeface="Calibri" panose="020F0502020204030204"/>
                <a:cs typeface="Calibri" panose="020F0502020204030204"/>
                <a:sym typeface="Calibri" panose="020F0502020204030204"/>
              </a:rPr>
              <a:t>è</a:t>
            </a:r>
            <a:r>
              <a:rPr lang="en-US" altLang="zh-CN">
                <a:solidFill>
                  <a:srgbClr val="262626"/>
                </a:solidFill>
                <a:latin typeface="Calibri" panose="020F0502020204030204"/>
                <a:ea typeface="Calibri" panose="020F0502020204030204"/>
                <a:cs typeface="Calibri" panose="020F0502020204030204"/>
                <a:sym typeface="Calibri" panose="020F0502020204030204"/>
              </a:rPr>
              <a:t>les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987044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Goulot d'étranglement de calcul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En phase de pr</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remplissage, le co</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û</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 de calcul de l’attention cro</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î</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 de mani</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 quadratique avec la longueur du contexte (limite de calcul)</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06513" y="2508817"/>
            <a:ext cx="6952307" cy="417138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Objectifs centraux de l'optimisation de bout en bout</a:t>
            </a:r>
            <a:endParaRPr lang="en-US"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Briser les barrières</a:t>
            </a:r>
            <a:endPar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Maximiser la capacité de calcul du matériel (</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MFU</a:t>
            </a:r>
            <a:r>
              <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élevé)</a:t>
            </a:r>
            <a:endPar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Fusion d'opérateurs et optimisation des noyaux</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Précision mixte et quantification</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Efficacité du pipeline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Maximiser le taux d'utilisation</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 de la bande passante de la m</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moire GPU</a:t>
            </a:r>
            <a:endPar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Optimisation des modes d'accès mémoire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Découpage et réutilisation des données</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Strat</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gies sans redondance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43694"/>
            <a:ext cx="9987507"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Conception d'algorithmes et optimisation au niveau du modèle</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Évolution du mécanisme d'attention (réduction des coûts du cache clés-valeurs)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MHA</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(attention multi-têtes) : structure standard, coût mémoire élevé.</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MQA</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(attention multi-requêtes) : toutes les têtes d'attention partagent un cache clés-valeurs, réduisant significativement l'utilisation de la mémoire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GQA</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(attention par groupes de requêtes) : compromis entre capacité du modèle et coût d'inférence.</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Architecture clairsemée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MoE - </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mod</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de m</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lange d'experts</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Active uniquement une partie du r</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seau d'experts, ce qui r</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duit significativement le co</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û</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 de calcul par inf</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rence tout en conservant un grand nombre de param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tres du mod</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53910" y="4298388"/>
            <a:ext cx="5767056" cy="2471274"/>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39418" y="4204109"/>
            <a:ext cx="4843604" cy="265389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Techniques de quantification et de sparsit</a:t>
            </a:r>
            <a:r>
              <a:rPr lang="en-US" alt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endParaRPr lang="en-US" alt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132840"/>
            <a:ext cx="1127760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Outils puissants pour réduire la pression d'accès mémoire et améliorer la précision de calcul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PTQ</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(quantification post-entraînement) et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QAT</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(entraînement avec conscience de la quantification).</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Principales solutions de quantification pour les grands mod</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les</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Quantification des poids uniquement : par exemple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AWQ</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GPTQ</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Quantification poids-activation : par exemple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W8A8</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SmoothQuant</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Support du format FP8 : combin</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aux caract</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ristiques du mat</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riel GPU de nouvelle g</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ration.</a:t>
            </a:r>
            <a:endParaRPr lang="zh-CN"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419101" y="4378742"/>
            <a:ext cx="5882112" cy="234273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53171" y="4295228"/>
            <a:ext cx="3196345" cy="256277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680" y="431800"/>
            <a:ext cx="9290685" cy="701040"/>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dist">
              <a:lnSpc>
                <a:spcPct val="100000"/>
              </a:lnSpc>
            </a:pPr>
            <a:r>
              <a:rPr lang="en-US" altLang="zh-CN"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Strat</a:t>
            </a:r>
            <a:r>
              <a:rPr lang="en-US" altLang="en-US"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gies d’optimisation au niveau du compilateur</a:t>
            </a:r>
            <a:endParaRPr lang="en-US"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Optimisation du graphe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Fusion d'op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rateurs : fusionner plusieurs petits op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rateurs (par exemple, multiplication matricielle + biais + ReLU) en un seul noyau de grande taille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Avantage : </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viter les op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rations de lecture/</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criture r</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es des r</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sultats interm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diaires dans la 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GPU (DRAM -&gt; SRAM -&gt; DRAM) ; ex</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cuter directement dans les registres ou la 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partag</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 am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liorant ainsi significativement le taux d'utilisation de la bande passante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Pliage de constantes et </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limination de code mort</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523873" y="3862467"/>
            <a:ext cx="5666244" cy="2859009"/>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650524" y="4043694"/>
            <a:ext cx="4856430" cy="267778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Optimisation mémoire et communication</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Planification mémoire :</a:t>
            </a:r>
            <a:endPar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Pooling m</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analyse du cycle de vie des tenseurs et op</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rations sur place</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Chevauchement des communications</a:t>
            </a:r>
            <a:r>
              <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Dans le parall</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lisme de tenseurs et le parall</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lisme de pipeline, masquer le temps de communication dans le processus de calcul</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t="11674"/>
          <a:stretch>
            <a:fillRect/>
          </a:stretch>
        </p:blipFill>
        <p:spPr>
          <a:xfrm>
            <a:off x="2254312" y="3569260"/>
            <a:ext cx="6826313" cy="32887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Implémentation des opérateurs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tapes suivantes apr</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le r</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glage automatique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Les ordonnancements optimaux trouv</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par AutoTVM ou par des algorithmes heuristiques sont compil</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en instructions mat</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rielles finales</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Principales techniques d'optimisation</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FlashAttention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et ses variantes : par le découpage et le recalcul, éviter d'instancier la matrice d'attention complète dans la mémoire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Optimisation extr</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ê</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me au niveau assembleur : utilisation de PTX ou de kernels personnalis</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crits à la main pour les microarchitectures sp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cifiques de puces domestiques, afin d'extraire les derniers 5 % de performance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060731" y="4468757"/>
            <a:ext cx="5702363" cy="225644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975239" y="4213860"/>
            <a:ext cx="2692887" cy="2507616"/>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565886" y="4422706"/>
            <a:ext cx="2115911" cy="243529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200" b="0" i="0" u="none" strike="noStrike">
                <a:solidFill>
                  <a:srgbClr val="262626"/>
                </a:solidFill>
                <a:latin typeface="Calibri" panose="020F0502020204030204"/>
                <a:ea typeface="Calibri" panose="020F0502020204030204"/>
                <a:cs typeface="Calibri" panose="020F0502020204030204"/>
                <a:sym typeface="Calibri" panose="020F0502020204030204"/>
              </a:rPr>
              <a:t>Biblioth</a:t>
            </a:r>
            <a:r>
              <a:rPr lang="en-US" alt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3200" b="0" i="0" u="none" strike="noStrike">
                <a:solidFill>
                  <a:srgbClr val="262626"/>
                </a:solidFill>
                <a:latin typeface="Calibri" panose="020F0502020204030204"/>
                <a:ea typeface="Calibri" panose="020F0502020204030204"/>
                <a:cs typeface="Calibri" panose="020F0502020204030204"/>
                <a:sym typeface="Calibri" panose="020F0502020204030204"/>
              </a:rPr>
              <a:t>que d'op</a:t>
            </a:r>
            <a:r>
              <a:rPr lang="en-US" alt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200" b="0" i="0" u="none" strike="noStrike">
                <a:solidFill>
                  <a:srgbClr val="262626"/>
                </a:solidFill>
                <a:latin typeface="Calibri" panose="020F0502020204030204"/>
                <a:ea typeface="Calibri" panose="020F0502020204030204"/>
                <a:cs typeface="Calibri" panose="020F0502020204030204"/>
                <a:sym typeface="Calibri" panose="020F0502020204030204"/>
              </a:rPr>
              <a:t>rateurs FlagGems : Rôle et </a:t>
            </a:r>
            <a:r>
              <a:rPr lang="en-US" alt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200" b="0" i="0" u="none" strike="noStrike">
                <a:solidFill>
                  <a:srgbClr val="262626"/>
                </a:solidFill>
                <a:latin typeface="Calibri" panose="020F0502020204030204"/>
                <a:ea typeface="Calibri" panose="020F0502020204030204"/>
                <a:cs typeface="Calibri" panose="020F0502020204030204"/>
                <a:sym typeface="Calibri" panose="020F0502020204030204"/>
              </a:rPr>
              <a:t>cosyst</a:t>
            </a:r>
            <a:r>
              <a:rPr lang="en-US" alt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3200" b="0" i="0" u="none" strike="noStrike">
                <a:solidFill>
                  <a:srgbClr val="262626"/>
                </a:solidFill>
                <a:latin typeface="Calibri" panose="020F0502020204030204"/>
                <a:ea typeface="Calibri" panose="020F0502020204030204"/>
                <a:cs typeface="Calibri" panose="020F0502020204030204"/>
                <a:sym typeface="Calibri" panose="020F0502020204030204"/>
              </a:rPr>
              <a:t>me</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229995"/>
            <a:ext cx="1127760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Qu'est-ce que FlagGems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FlagGems est une bibliothèque d'opérateurs haute efficacité développée par Zhiyuan, conçue pour fournir un support d'opérateurs de base haute performance et multiplateforme pour les grands modèles de langage.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Positionnement dans le pipeline de bout en bout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Elle se connecte à la couche framework (vLLM, Megatron) au-dessus, et masque les différences entre matériels hétérogènes en dessous.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Ensemble d'op</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rateurs pris en charge : couvre divers op</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rateurs fusionn</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s, Attention personnalis</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e, etc</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19100" y="4636336"/>
            <a:ext cx="3458143" cy="195196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140898" y="4635976"/>
            <a:ext cx="7315200" cy="201834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FlagOS</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et </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FlagScale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Positionnement système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 Scale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vise à résoudre les problèmes de calcul efficace et de scalabilité de l'entraînement à l'inférence à l'ère des grands modèles.</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Pourquoi une collaboration au niveau système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Un simple moteur d'inférence ou framework d'entraînement ne suffit pas pour gérer l'ordonnancement de clusters à l'échelle de centaines de milliers de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FlagOS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fournit l'abstraction matérielle et l'ordonnancement de bas niveau, tandis que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FlagScale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fournit des stratégies distribuées efficaces au niveau du modèle.</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855796" y="4438141"/>
            <a:ext cx="4174628" cy="233096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605258" y="4198997"/>
            <a:ext cx="2471940" cy="257010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7447750" y="4251214"/>
            <a:ext cx="4634286" cy="2606786"/>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Int</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gration entra</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î</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nement-inf</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renc</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e</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Collaboration côté entraînement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Megatron-LM-FL</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 une stratégie de parallélisme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3D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optimisée pour les clusters à très grande échelle.</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TransformerEngine-FL : acc</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 les calculs de bas niveau, en particulier avec prise en charge du calcul en basse pr</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cision</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Tendance au développement intégré entraînement-inférence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graphe de flux de calcul et les op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rateurs accumul</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lors de l'entra</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î</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nement peuvent migrer en douceur vers le moteur d'inf</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rence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2"/>
          <a:srcRect/>
          <a:stretch>
            <a:fillRect/>
          </a:stretch>
        </p:blipFill>
        <p:spPr>
          <a:xfrm>
            <a:off x="523874" y="4422664"/>
            <a:ext cx="3966645" cy="2435336"/>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4490519" y="4079764"/>
            <a:ext cx="3320072" cy="277823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algn="l">
              <a:lnSpc>
                <a:spcPct val="100000"/>
              </a:lnSpc>
              <a:buSzTx/>
            </a:pPr>
            <a:r>
              <a:rPr lang="en-US" altLang="zh-CN" sz="3600" b="0" i="0" u="none" strike="noStrike">
                <a:solidFill>
                  <a:srgbClr val="262626"/>
                </a:solidFill>
                <a:ea typeface="Calibri" panose="020F0502020204030204"/>
                <a:cs typeface="Calibri" panose="020F0502020204030204"/>
                <a:sym typeface="微软雅黑" panose="020B0503020204020204" charset="-122"/>
              </a:rPr>
              <a:t>Philosophie de conception de vLLM-Plugin-FL</a:t>
            </a:r>
            <a:endParaRPr lang="en-US" altLang="zh-CN" sz="3600" b="0" i="0" u="none" strike="noStrike">
              <a:solidFill>
                <a:srgbClr val="262626"/>
              </a:solidFill>
              <a:ea typeface="Calibri" panose="020F0502020204030204"/>
              <a:cs typeface="Calibri" panose="020F0502020204030204"/>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673215" cy="199326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SzTx/>
              <a:buChar char="•"/>
            </a:pPr>
            <a:r>
              <a:rPr lang="en-US" altLang="zh-CN" b="0" i="0" u="none" strike="noStrike">
                <a:solidFill>
                  <a:srgbClr val="404040"/>
                </a:solidFill>
                <a:ea typeface="Calibri" panose="020F0502020204030204"/>
                <a:cs typeface="Calibri" panose="020F0502020204030204"/>
                <a:sym typeface="微软雅黑" panose="020B0503020204020204" charset="-122"/>
              </a:rPr>
              <a:t>Architecture plugin de vLLM-Plugin-FL</a:t>
            </a:r>
            <a:endParaRPr lang="en-US" b="0" i="0" u="none" strike="noStrike">
              <a:solidFill>
                <a:srgbClr val="404040"/>
              </a:solidFill>
              <a:ea typeface="Calibri" panose="020F0502020204030204"/>
              <a:cs typeface="Calibri" panose="020F0502020204030204"/>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Découplage : séparer la logique d'ordonnancement centrale de l'exécution matérielle de bas niveau</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de la bibliothèque d'opérateurs.</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Hot-plug : </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permet une int</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gration rapide avec des biblioth</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ques d'optimisation d</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velopp</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es en interne (par exemple FlagGems)</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t="7339"/>
          <a:stretch>
            <a:fillRect/>
          </a:stretch>
        </p:blipFill>
        <p:spPr>
          <a:xfrm>
            <a:off x="7412744" y="1132554"/>
            <a:ext cx="4779256" cy="558892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972629" y="3705676"/>
            <a:ext cx="5190044" cy="283323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Optimisation approfondie de </a:t>
            </a:r>
            <a:r>
              <a:rPr lang="en-US" sz="3600" b="0" i="0" u="none" strike="noStrike">
                <a:solidFill>
                  <a:srgbClr val="262626"/>
                </a:solidFill>
                <a:ea typeface="Calibri" panose="020F0502020204030204"/>
                <a:cs typeface="Calibri" panose="020F0502020204030204"/>
                <a:sym typeface="微软雅黑" panose="020B0503020204020204" charset="-122"/>
              </a:rPr>
              <a:t>PagedAttention</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PagedAttention</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S'inspire de la mémoire virtuelle et du mécanisme de pagination du système d'exploitation.</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Diviser le cache cl</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s-valeurs en blocs de taille fixe (par exemple, 16 tokens)</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Les clés-valeurs continues logiquement peuvent être stockées de manière discontinue physiquement, éliminant ainsi complètement le gaspillage de mémoire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Optimisations ciblées dans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Plugin-FL</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Utiliser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FlagGems </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pour l'accélération matérielle extrême de l'opérateur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PagedAttention</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41404" y="4407924"/>
            <a:ext cx="5558828" cy="185873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517762" y="4329374"/>
            <a:ext cx="5134267" cy="252862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Traitement par lots continu </a:t>
            </a:r>
            <a:endParaRPr lang="en-US"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(traitement par lots dynamique)</a:t>
            </a:r>
            <a:endParaRPr lang="en-US"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Traitement par lots continu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Continuous Batching</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Ordonnancement itératif à granularité fine.</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Dès qu'une requête rencontre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EOS</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(fin de séquence), elle est immédiatement retirée du lot et une nouvelle requête est insérée, maintenant ainsi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GPU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à haute charge en permanence.</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Bond de débit : combiné à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PagedAttention</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le débit d'inférence peut être amélioré de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2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à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4</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fois.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10899" y="4139603"/>
            <a:ext cx="8968192" cy="20373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vLLM-Plugin-FL + FlagGems + FlagTree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457199" y="1214755"/>
            <a:ext cx="1127760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Mécanisme de collaboration du triangle de fer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vLLM-Plugin-FL</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agit comme le cerveau, responsable de l'ordonnancement efficace des requ</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ê</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tes, de la gestion m</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(cache cl</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s-valeurs) et de la distribution du graphe de calcu</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FlagGems</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agit comme le muscle, fournissant des noyaux fortement optimis</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(par exemple FlashAttention et divers op</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rateurs fusionn</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FlagTree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fournit des optimisations de plus haut niveau d'arbres de d</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cision ou de chemins d'ex</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cution</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Avantage de bout en bout : </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alisation d'une haute performance </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pr</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ê</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 à l'emploi </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sur plusieurs plateformes</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t="10736"/>
          <a:stretch>
            <a:fillRect/>
          </a:stretch>
        </p:blipFill>
        <p:spPr>
          <a:xfrm>
            <a:off x="2763727" y="3971001"/>
            <a:ext cx="5269118" cy="256759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Scénarios d'extension</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Inf</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rence robotique incarn</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 : FlagOS-Robo</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Intégration des grands modèles dans le monde physique :</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Le VLA</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(architecture très large) impose des exigences de latence de bout en bout extrêmement faibles pour les applications robotiques.</a:t>
            </a:r>
            <a:endPar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Capacités de la plateforme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FlagOS-Robo</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Framework de réglage fin pour scénarios robotiques et capacités de déploiement d'inférence efficaces.</a:t>
            </a:r>
            <a:endPar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Optimisation de la latence de bout en bout pour les entrées multimodales (caméras, capteurs) et les sorties de flux de contrôle.</a:t>
            </a:r>
            <a:endPar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49314" y="4093670"/>
            <a:ext cx="4229680" cy="2764329"/>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977411" y="4094334"/>
            <a:ext cx="3773172" cy="276366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Guide expérimental</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Objectif expérimental</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Valider complètement l'efficacité de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vLLM-Plugin-FL </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dans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FlagScale </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pour accélérer l'inférence des grands modèles.</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Processus de déploiement (installation et configuration)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Lancer rapidement l'environnement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FlagScale</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Configurer les paramètres matériels et les variables d'environnement des plugins.</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930395" y="3750469"/>
            <a:ext cx="9609524" cy="228571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Résumé de l'optimisation de bout en bout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Perception méthodologique centrale :</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L'optimisation ne se fait pas de manière isolée, mais est un processus d'ingénierie complète couvrant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algorithme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compilation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matériel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Une bonne conception architecturale (par exemple plugin) peut grandement accélérer l'intégration de l'écosystème innovant.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Perspectives futures :</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Avec la popularité croissante des experts mixtes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MoE</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et des modèles à contexte long, l'optimisation de bout en bout de la gestion mémoire fera face à de nouveaux défis, et le système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FlagOS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continuera d'évoluer.</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lnSpcReduction="10000"/>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45</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 Contribution open source et collaboration communautaire</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691769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Communaute open source</a:t>
            </a:r>
            <a:endParaRPr lang="en-US" sz="3200"/>
          </a:p>
        </p:txBody>
      </p:sp>
      <p:sp>
        <p:nvSpPr>
          <p:cNvPr id="3" name="Freeform 3"/>
          <p:cNvSpPr/>
          <p:nvPr/>
        </p:nvSpPr>
        <p:spPr>
          <a:xfrm>
            <a:off x="399911" y="1640886"/>
            <a:ext cx="37909" cy="657225"/>
          </a:xfrm>
          <a:custGeom>
            <a:avLst/>
            <a:gdLst/>
            <a:ahLst/>
            <a:cxnLst/>
            <a:rect l="l" t="t" r="r" b="b"/>
            <a:pathLst>
              <a:path w="37909" h="657225">
                <a:moveTo>
                  <a:pt x="0" y="0"/>
                </a:moveTo>
                <a:lnTo>
                  <a:pt x="37909" y="0"/>
                </a:lnTo>
                <a:lnTo>
                  <a:pt x="37909" y="657225"/>
                </a:lnTo>
                <a:lnTo>
                  <a:pt x="0" y="657225"/>
                </a:lnTo>
                <a:lnTo>
                  <a:pt x="0"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custDataLst>
              <p:tags r:id="rId1"/>
            </p:custDataLst>
          </p:nvPr>
        </p:nvSpPr>
        <p:spPr>
          <a:xfrm>
            <a:off x="571248" y="1640886"/>
            <a:ext cx="7219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Logiciel open source</a:t>
            </a:r>
            <a:endParaRPr lang="en-US" sz="1100"/>
          </a:p>
        </p:txBody>
      </p:sp>
      <p:sp>
        <p:nvSpPr>
          <p:cNvPr id="5" name="AutoShape 5"/>
          <p:cNvSpPr/>
          <p:nvPr>
            <p:custDataLst>
              <p:tags r:id="rId2"/>
            </p:custDataLst>
          </p:nvPr>
        </p:nvSpPr>
        <p:spPr>
          <a:xfrm>
            <a:off x="571248" y="2021841"/>
            <a:ext cx="72104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Promouvoir la collaboration mondiale des d</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veloppeurs en rendant le code source public. Tout le monde peut consulter, utiliser, modifier et distribuer le code.</a:t>
            </a:r>
            <a:endParaRPr lang="en-US" sz="1100"/>
          </a:p>
        </p:txBody>
      </p:sp>
      <p:sp>
        <p:nvSpPr>
          <p:cNvPr id="6" name="Freeform 6"/>
          <p:cNvSpPr/>
          <p:nvPr/>
        </p:nvSpPr>
        <p:spPr>
          <a:xfrm>
            <a:off x="399911" y="2529041"/>
            <a:ext cx="37909" cy="657225"/>
          </a:xfrm>
          <a:custGeom>
            <a:avLst/>
            <a:gdLst/>
            <a:ahLst/>
            <a:cxnLst/>
            <a:rect l="l" t="t" r="r" b="b"/>
            <a:pathLst>
              <a:path w="37909" h="657225">
                <a:moveTo>
                  <a:pt x="0" y="0"/>
                </a:moveTo>
                <a:lnTo>
                  <a:pt x="37909" y="0"/>
                </a:lnTo>
                <a:lnTo>
                  <a:pt x="37909" y="657225"/>
                </a:lnTo>
                <a:lnTo>
                  <a:pt x="0" y="657225"/>
                </a:lnTo>
                <a:lnTo>
                  <a:pt x="0"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custDataLst>
              <p:tags r:id="rId3"/>
            </p:custDataLst>
          </p:nvPr>
        </p:nvSpPr>
        <p:spPr>
          <a:xfrm>
            <a:off x="571248" y="2675726"/>
            <a:ext cx="7219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Mod</a:t>
            </a:r>
            <a:r>
              <a:rPr lang="en-US" alt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è</a:t>
            </a: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le </a:t>
            </a: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de collaboration</a:t>
            </a:r>
            <a:endParaRPr lang="en-US" sz="1100"/>
          </a:p>
        </p:txBody>
      </p:sp>
      <p:sp>
        <p:nvSpPr>
          <p:cNvPr id="8" name="AutoShape 8"/>
          <p:cNvSpPr/>
          <p:nvPr>
            <p:custDataLst>
              <p:tags r:id="rId4"/>
            </p:custDataLst>
          </p:nvPr>
        </p:nvSpPr>
        <p:spPr>
          <a:xfrm>
            <a:off x="571248" y="3266232"/>
            <a:ext cx="72104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Les d</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veloppeurs du monde entier peuvent participer conjointement au d</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veloppement de projets, en am</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liorant continuellement la qualit</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logicielle par le biais de revues de code et de discussions sur les probl</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mes.</a:t>
            </a:r>
            <a:endParaRPr lang="zh-CN"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399911" y="3417197"/>
            <a:ext cx="37909" cy="933450"/>
          </a:xfrm>
          <a:custGeom>
            <a:avLst/>
            <a:gdLst/>
            <a:ahLst/>
            <a:cxnLst/>
            <a:rect l="l" t="t" r="r" b="b"/>
            <a:pathLst>
              <a:path w="37909" h="933450">
                <a:moveTo>
                  <a:pt x="0" y="0"/>
                </a:moveTo>
                <a:lnTo>
                  <a:pt x="37909" y="0"/>
                </a:lnTo>
                <a:lnTo>
                  <a:pt x="37909" y="933450"/>
                </a:lnTo>
                <a:lnTo>
                  <a:pt x="0" y="933450"/>
                </a:lnTo>
                <a:lnTo>
                  <a:pt x="0"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custDataLst>
              <p:tags r:id="rId5"/>
            </p:custDataLst>
          </p:nvPr>
        </p:nvSpPr>
        <p:spPr>
          <a:xfrm>
            <a:off x="571248" y="4003937"/>
            <a:ext cx="7219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Plateforme GitHub</a:t>
            </a:r>
            <a:endParaRPr lang="en-US" sz="1100"/>
          </a:p>
        </p:txBody>
      </p:sp>
      <p:sp>
        <p:nvSpPr>
          <p:cNvPr id="11" name="AutoShape 11"/>
          <p:cNvSpPr/>
          <p:nvPr>
            <p:custDataLst>
              <p:tags r:id="rId6"/>
            </p:custDataLst>
          </p:nvPr>
        </p:nvSpPr>
        <p:spPr>
          <a:xfrm>
            <a:off x="571248" y="4384893"/>
            <a:ext cx="7210425" cy="5619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La plateforme de collaboration open source la plus populaire, offrant une cha</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î</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ne d'outils compl</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te : h</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bergement de code, contrôle de version, suivi des probl</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mes, Pull Request, etc.</a:t>
            </a:r>
            <a:endParaRPr lang="en-US" sz="1100"/>
          </a:p>
        </p:txBody>
      </p:sp>
      <p:sp>
        <p:nvSpPr>
          <p:cNvPr id="12" name="Freeform 12"/>
          <p:cNvSpPr/>
          <p:nvPr/>
        </p:nvSpPr>
        <p:spPr>
          <a:xfrm>
            <a:off x="399911" y="4583980"/>
            <a:ext cx="37909" cy="657225"/>
          </a:xfrm>
          <a:custGeom>
            <a:avLst/>
            <a:gdLst/>
            <a:ahLst/>
            <a:cxnLst/>
            <a:rect l="l" t="t" r="r" b="b"/>
            <a:pathLst>
              <a:path w="37909" h="657225">
                <a:moveTo>
                  <a:pt x="0" y="0"/>
                </a:moveTo>
                <a:lnTo>
                  <a:pt x="37909" y="0"/>
                </a:lnTo>
                <a:lnTo>
                  <a:pt x="37909" y="657225"/>
                </a:lnTo>
                <a:lnTo>
                  <a:pt x="0" y="657225"/>
                </a:lnTo>
                <a:lnTo>
                  <a:pt x="0"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custDataLst>
              <p:tags r:id="rId7"/>
            </p:custDataLst>
          </p:nvPr>
        </p:nvSpPr>
        <p:spPr>
          <a:xfrm>
            <a:off x="571248" y="5275495"/>
            <a:ext cx="7219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Open source dans le domaine de l'IA</a:t>
            </a:r>
            <a:endParaRPr lang="en-US" sz="1100"/>
          </a:p>
        </p:txBody>
      </p:sp>
      <p:sp>
        <p:nvSpPr>
          <p:cNvPr id="14" name="AutoShape 14"/>
          <p:cNvSpPr/>
          <p:nvPr>
            <p:custDataLst>
              <p:tags r:id="rId8"/>
            </p:custDataLst>
          </p:nvPr>
        </p:nvSpPr>
        <p:spPr>
          <a:xfrm>
            <a:off x="580773" y="5714236"/>
            <a:ext cx="72104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Les logiciels centraux de l'IA comme PyTorch, TensorFlow et Hugging Face adoptent tous le mod</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le open source, favorisant le d</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veloppement rapide de l'industrie.</a:t>
            </a:r>
            <a:endParaRPr lang="en-US" sz="1100"/>
          </a:p>
        </p:txBody>
      </p:sp>
      <p:pic>
        <p:nvPicPr>
          <p:cNvPr id="15" name="Picture 15"/>
          <p:cNvPicPr>
            <a:picLocks noChangeAspect="1"/>
          </p:cNvPicPr>
          <p:nvPr/>
        </p:nvPicPr>
        <p:blipFill>
          <a:blip r:embed="rId9"/>
          <a:srcRect t="77" b="78"/>
          <a:stretch>
            <a:fillRect/>
          </a:stretch>
        </p:blipFill>
        <p:spPr>
          <a:xfrm>
            <a:off x="8001030" y="2254783"/>
            <a:ext cx="3810000" cy="2028825"/>
          </a:xfrm>
          <a:prstGeom prst="roundRect">
            <a:avLst>
              <a:gd name="adj" fmla="val 3755"/>
            </a:avLst>
          </a:prstGeom>
          <a:ln w="12700">
            <a:noFill/>
            <a:prstDash val="solid"/>
          </a:ln>
        </p:spPr>
      </p:pic>
      <p:sp>
        <p:nvSpPr>
          <p:cNvPr id="16" name="AutoShape 16"/>
          <p:cNvSpPr/>
          <p:nvPr/>
        </p:nvSpPr>
        <p:spPr>
          <a:xfrm>
            <a:off x="7967692" y="4439150"/>
            <a:ext cx="38766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GitHub Topics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3415" y="554990"/>
            <a:ext cx="8623935" cy="311150"/>
          </a:xfrm>
          <a:prstGeom prst="rect">
            <a:avLst/>
          </a:prstGeom>
          <a:noFill/>
          <a:ln w="12700">
            <a:noFill/>
            <a:prstDash val="solid"/>
          </a:ln>
        </p:spPr>
        <p:txBody>
          <a:bodyPr wrap="square" lIns="0" tIns="0" rIns="0" bIns="0" rtlCol="0" anchor="ctr">
            <a:noAutofit/>
          </a:bodyPr>
          <a:lstStyle/>
          <a:p>
            <a:pPr algn="l">
              <a:lnSpc>
                <a:spcPct val="100000"/>
              </a:lnSpc>
              <a:buSzTx/>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Projets FlagOS et FlagTree</a:t>
            </a:r>
            <a:endParaRPr lang="en-US" sz="3200" b="1">
              <a:solidFill>
                <a:srgbClr val="1A1A1A"/>
              </a:solidFill>
              <a:latin typeface="Noto Sans SC" panose="020B0200000000000000" charset="-122"/>
              <a:ea typeface="Noto Sans SC" panose="020B0200000000000000" charset="-122"/>
              <a:cs typeface="Noto Sans SC" panose="020B0200000000000000" charset="-122"/>
            </a:endParaRPr>
          </a:p>
        </p:txBody>
      </p:sp>
      <p:sp>
        <p:nvSpPr>
          <p:cNvPr id="3" name="Freeform 3"/>
          <p:cNvSpPr/>
          <p:nvPr/>
        </p:nvSpPr>
        <p:spPr>
          <a:xfrm>
            <a:off x="345832" y="1489599"/>
            <a:ext cx="5611779" cy="1980119"/>
          </a:xfrm>
          <a:custGeom>
            <a:avLst/>
            <a:gdLst/>
            <a:ahLst/>
            <a:cxnLst/>
            <a:rect l="l" t="t" r="r" b="b"/>
            <a:pathLst>
              <a:path w="5611779" h="1980119">
                <a:moveTo>
                  <a:pt x="69165" y="0"/>
                </a:moveTo>
                <a:lnTo>
                  <a:pt x="5542613" y="0"/>
                </a:lnTo>
                <a:cubicBezTo>
                  <a:pt x="5580812" y="0"/>
                  <a:pt x="5611779" y="30966"/>
                  <a:pt x="5611779" y="69165"/>
                </a:cubicBezTo>
                <a:lnTo>
                  <a:pt x="5611779" y="1910954"/>
                </a:lnTo>
                <a:cubicBezTo>
                  <a:pt x="5611779" y="1949153"/>
                  <a:pt x="5580812" y="1980119"/>
                  <a:pt x="5542613" y="1980119"/>
                </a:cubicBezTo>
                <a:lnTo>
                  <a:pt x="69165" y="1980119"/>
                </a:lnTo>
                <a:cubicBezTo>
                  <a:pt x="30966" y="1980119"/>
                  <a:pt x="0" y="1949153"/>
                  <a:pt x="0" y="1910954"/>
                </a:cubicBezTo>
                <a:lnTo>
                  <a:pt x="0" y="69165"/>
                </a:lnTo>
                <a:cubicBezTo>
                  <a:pt x="0" y="30966"/>
                  <a:pt x="30966" y="0"/>
                  <a:pt x="69165" y="0"/>
                </a:cubicBezTo>
                <a:close/>
              </a:path>
            </a:pathLst>
          </a:custGeom>
          <a:gradFill rotWithShape="1">
            <a:gsLst>
              <a:gs pos="0">
                <a:srgbClr val="8B0000">
                  <a:alpha val="100000"/>
                </a:srgbClr>
              </a:gs>
              <a:gs pos="100000">
                <a:srgbClr val="B22222">
                  <a:alpha val="100000"/>
                </a:srgbClr>
              </a:gs>
            </a:gsLst>
            <a:lin ang="2700000"/>
          </a:gradFill>
          <a:ln w="12700">
            <a:noFill/>
            <a:prstDash val="solid"/>
          </a:ln>
          <a:effectLst>
            <a:outerShdw blurRad="1270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4" name="Freeform 4"/>
          <p:cNvSpPr/>
          <p:nvPr/>
        </p:nvSpPr>
        <p:spPr>
          <a:xfrm>
            <a:off x="587918" y="1704840"/>
            <a:ext cx="259404" cy="261127"/>
          </a:xfrm>
          <a:custGeom>
            <a:avLst/>
            <a:gdLst/>
            <a:ahLst/>
            <a:cxnLst/>
            <a:rect l="l" t="t" r="r" b="b"/>
            <a:pathLst>
              <a:path w="259404" h="261127">
                <a:moveTo>
                  <a:pt x="117796" y="3496"/>
                </a:moveTo>
                <a:cubicBezTo>
                  <a:pt x="125345" y="0"/>
                  <a:pt x="134059" y="0"/>
                  <a:pt x="141608" y="3496"/>
                </a:cubicBezTo>
                <a:lnTo>
                  <a:pt x="252362" y="54667"/>
                </a:lnTo>
                <a:cubicBezTo>
                  <a:pt x="256668" y="56643"/>
                  <a:pt x="259404" y="60950"/>
                  <a:pt x="259404" y="65712"/>
                </a:cubicBezTo>
                <a:cubicBezTo>
                  <a:pt x="259404" y="70475"/>
                  <a:pt x="256668" y="74781"/>
                  <a:pt x="252362" y="76757"/>
                </a:cubicBezTo>
                <a:lnTo>
                  <a:pt x="141608" y="127930"/>
                </a:lnTo>
                <a:cubicBezTo>
                  <a:pt x="134059" y="131425"/>
                  <a:pt x="125345" y="131425"/>
                  <a:pt x="117796" y="127930"/>
                </a:cubicBezTo>
                <a:lnTo>
                  <a:pt x="7042" y="76757"/>
                </a:lnTo>
                <a:cubicBezTo>
                  <a:pt x="2736" y="74731"/>
                  <a:pt x="0" y="70424"/>
                  <a:pt x="0" y="65712"/>
                </a:cubicBezTo>
                <a:cubicBezTo>
                  <a:pt x="0" y="61001"/>
                  <a:pt x="2736" y="56643"/>
                  <a:pt x="7042" y="54667"/>
                </a:cubicBezTo>
                <a:lnTo>
                  <a:pt x="117796" y="3496"/>
                </a:lnTo>
                <a:close/>
                <a:moveTo>
                  <a:pt x="24370" y="111514"/>
                </a:moveTo>
                <a:lnTo>
                  <a:pt x="107612" y="149968"/>
                </a:lnTo>
                <a:cubicBezTo>
                  <a:pt x="121646" y="156453"/>
                  <a:pt x="137809" y="156453"/>
                  <a:pt x="151842" y="149968"/>
                </a:cubicBezTo>
                <a:lnTo>
                  <a:pt x="235085" y="111514"/>
                </a:lnTo>
                <a:lnTo>
                  <a:pt x="252362" y="119518"/>
                </a:lnTo>
                <a:cubicBezTo>
                  <a:pt x="256668" y="121494"/>
                  <a:pt x="259404" y="125801"/>
                  <a:pt x="259404" y="130564"/>
                </a:cubicBezTo>
                <a:cubicBezTo>
                  <a:pt x="259404" y="135326"/>
                  <a:pt x="256668" y="139633"/>
                  <a:pt x="252362" y="141607"/>
                </a:cubicBezTo>
                <a:lnTo>
                  <a:pt x="141608" y="192780"/>
                </a:lnTo>
                <a:cubicBezTo>
                  <a:pt x="134059" y="196275"/>
                  <a:pt x="125345" y="196275"/>
                  <a:pt x="117796" y="192780"/>
                </a:cubicBezTo>
                <a:lnTo>
                  <a:pt x="7042" y="141607"/>
                </a:lnTo>
                <a:cubicBezTo>
                  <a:pt x="2736" y="139581"/>
                  <a:pt x="0" y="135275"/>
                  <a:pt x="0" y="130564"/>
                </a:cubicBezTo>
                <a:cubicBezTo>
                  <a:pt x="0" y="125851"/>
                  <a:pt x="2736" y="121494"/>
                  <a:pt x="7042" y="119518"/>
                </a:cubicBezTo>
                <a:lnTo>
                  <a:pt x="24319" y="111514"/>
                </a:lnTo>
                <a:close/>
                <a:moveTo>
                  <a:pt x="7042" y="184368"/>
                </a:moveTo>
                <a:lnTo>
                  <a:pt x="24319" y="176364"/>
                </a:lnTo>
                <a:lnTo>
                  <a:pt x="107561" y="214819"/>
                </a:lnTo>
                <a:cubicBezTo>
                  <a:pt x="121596" y="221304"/>
                  <a:pt x="137758" y="221304"/>
                  <a:pt x="151792" y="214819"/>
                </a:cubicBezTo>
                <a:lnTo>
                  <a:pt x="235034" y="176364"/>
                </a:lnTo>
                <a:lnTo>
                  <a:pt x="252311" y="184368"/>
                </a:lnTo>
                <a:cubicBezTo>
                  <a:pt x="256617" y="186344"/>
                  <a:pt x="259354" y="190652"/>
                  <a:pt x="259354" y="195414"/>
                </a:cubicBezTo>
                <a:cubicBezTo>
                  <a:pt x="259354" y="200177"/>
                  <a:pt x="256617" y="204483"/>
                  <a:pt x="252311" y="206459"/>
                </a:cubicBezTo>
                <a:lnTo>
                  <a:pt x="141558" y="257631"/>
                </a:lnTo>
                <a:cubicBezTo>
                  <a:pt x="134009" y="261127"/>
                  <a:pt x="125294" y="261127"/>
                  <a:pt x="117746" y="257631"/>
                </a:cubicBezTo>
                <a:lnTo>
                  <a:pt x="7042" y="206459"/>
                </a:lnTo>
                <a:cubicBezTo>
                  <a:pt x="2736" y="204433"/>
                  <a:pt x="0" y="200127"/>
                  <a:pt x="0" y="195414"/>
                </a:cubicBezTo>
                <a:cubicBezTo>
                  <a:pt x="0" y="190702"/>
                  <a:pt x="2736" y="186344"/>
                  <a:pt x="7042" y="18436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981303" y="1697098"/>
            <a:ext cx="830094" cy="276698"/>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FlagOS</a:t>
            </a:r>
            <a:endParaRPr lang="en-US" sz="1100"/>
          </a:p>
        </p:txBody>
      </p:sp>
      <p:sp>
        <p:nvSpPr>
          <p:cNvPr id="6" name="AutoShape 6"/>
          <p:cNvSpPr/>
          <p:nvPr/>
        </p:nvSpPr>
        <p:spPr>
          <a:xfrm>
            <a:off x="553331" y="2112028"/>
            <a:ext cx="5274553" cy="25075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Pile logicielle de systeme IA unifiee</a:t>
            </a:r>
            <a:endParaRPr lang="en-US" sz="1100"/>
          </a:p>
        </p:txBody>
      </p:sp>
      <p:sp>
        <p:nvSpPr>
          <p:cNvPr id="7" name="Freeform 7"/>
          <p:cNvSpPr/>
          <p:nvPr/>
        </p:nvSpPr>
        <p:spPr>
          <a:xfrm>
            <a:off x="570625" y="2533413"/>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73365" y="2503300"/>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Prend en charge plusieurs puces IA</a:t>
            </a:r>
            <a:endParaRPr lang="en-US" sz="1100"/>
          </a:p>
        </p:txBody>
      </p:sp>
      <p:sp>
        <p:nvSpPr>
          <p:cNvPr id="9" name="Freeform 9"/>
          <p:cNvSpPr/>
          <p:nvPr/>
        </p:nvSpPr>
        <p:spPr>
          <a:xfrm>
            <a:off x="570625" y="2810079"/>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73365" y="2779965"/>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Prend en charge plusieurs plateformes de calcul</a:t>
            </a:r>
            <a:endParaRPr lang="en-US" sz="1100"/>
          </a:p>
        </p:txBody>
      </p:sp>
      <p:sp>
        <p:nvSpPr>
          <p:cNvPr id="11" name="Freeform 11"/>
          <p:cNvSpPr/>
          <p:nvPr/>
        </p:nvSpPr>
        <p:spPr>
          <a:xfrm>
            <a:off x="570625" y="3086744"/>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73365" y="3056631"/>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Interface de programmation unifiee</a:t>
            </a:r>
            <a:endParaRPr lang="en-US" sz="1100"/>
          </a:p>
        </p:txBody>
      </p:sp>
      <p:sp>
        <p:nvSpPr>
          <p:cNvPr id="13" name="Freeform 13"/>
          <p:cNvSpPr/>
          <p:nvPr/>
        </p:nvSpPr>
        <p:spPr>
          <a:xfrm>
            <a:off x="6233311" y="1489599"/>
            <a:ext cx="5611779" cy="1980119"/>
          </a:xfrm>
          <a:custGeom>
            <a:avLst/>
            <a:gdLst/>
            <a:ahLst/>
            <a:cxnLst/>
            <a:rect l="l" t="t" r="r" b="b"/>
            <a:pathLst>
              <a:path w="5611779" h="1980119">
                <a:moveTo>
                  <a:pt x="69165" y="0"/>
                </a:moveTo>
                <a:lnTo>
                  <a:pt x="5542613" y="0"/>
                </a:lnTo>
                <a:cubicBezTo>
                  <a:pt x="5580812" y="0"/>
                  <a:pt x="5611779" y="30966"/>
                  <a:pt x="5611779" y="69165"/>
                </a:cubicBezTo>
                <a:lnTo>
                  <a:pt x="5611779" y="1910954"/>
                </a:lnTo>
                <a:cubicBezTo>
                  <a:pt x="5611779" y="1949153"/>
                  <a:pt x="5580812" y="1980119"/>
                  <a:pt x="5542613" y="1980119"/>
                </a:cubicBezTo>
                <a:lnTo>
                  <a:pt x="69165" y="1980119"/>
                </a:lnTo>
                <a:cubicBezTo>
                  <a:pt x="30966" y="1980119"/>
                  <a:pt x="0" y="1949153"/>
                  <a:pt x="0" y="1910954"/>
                </a:cubicBezTo>
                <a:lnTo>
                  <a:pt x="0" y="69165"/>
                </a:lnTo>
                <a:cubicBezTo>
                  <a:pt x="0" y="30966"/>
                  <a:pt x="30966" y="0"/>
                  <a:pt x="69165" y="0"/>
                </a:cubicBezTo>
                <a:close/>
              </a:path>
            </a:pathLst>
          </a:custGeom>
          <a:gradFill rotWithShape="1">
            <a:gsLst>
              <a:gs pos="0">
                <a:srgbClr val="333333">
                  <a:alpha val="100000"/>
                </a:srgbClr>
              </a:gs>
              <a:gs pos="100000">
                <a:srgbClr val="555555">
                  <a:alpha val="100000"/>
                </a:srgbClr>
              </a:gs>
            </a:gsLst>
            <a:lin ang="2700000"/>
          </a:gradFill>
          <a:ln w="12700">
            <a:noFill/>
            <a:prstDash val="solid"/>
          </a:ln>
          <a:effectLst>
            <a:outerShdw blurRad="1270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4" name="Freeform 14"/>
          <p:cNvSpPr/>
          <p:nvPr/>
        </p:nvSpPr>
        <p:spPr>
          <a:xfrm>
            <a:off x="6490749" y="1689488"/>
            <a:ext cx="228702" cy="291829"/>
          </a:xfrm>
          <a:custGeom>
            <a:avLst/>
            <a:gdLst/>
            <a:ahLst/>
            <a:cxnLst/>
            <a:rect l="l" t="t" r="r" b="b"/>
            <a:pathLst>
              <a:path w="228702" h="291829">
                <a:moveTo>
                  <a:pt x="114349" y="0"/>
                </a:moveTo>
                <a:cubicBezTo>
                  <a:pt x="117897" y="0"/>
                  <a:pt x="121291" y="1571"/>
                  <a:pt x="123622" y="4307"/>
                </a:cubicBezTo>
                <a:lnTo>
                  <a:pt x="192526" y="85371"/>
                </a:lnTo>
                <a:cubicBezTo>
                  <a:pt x="195617" y="88967"/>
                  <a:pt x="196275" y="94034"/>
                  <a:pt x="194300" y="98341"/>
                </a:cubicBezTo>
                <a:cubicBezTo>
                  <a:pt x="192324" y="102647"/>
                  <a:pt x="188017" y="105384"/>
                  <a:pt x="183255" y="105384"/>
                </a:cubicBezTo>
                <a:lnTo>
                  <a:pt x="170638" y="105384"/>
                </a:lnTo>
                <a:lnTo>
                  <a:pt x="208738" y="150222"/>
                </a:lnTo>
                <a:cubicBezTo>
                  <a:pt x="211830" y="153819"/>
                  <a:pt x="212487" y="158885"/>
                  <a:pt x="210513" y="163191"/>
                </a:cubicBezTo>
                <a:cubicBezTo>
                  <a:pt x="208536" y="167498"/>
                  <a:pt x="204230" y="170234"/>
                  <a:pt x="199467" y="170234"/>
                </a:cubicBezTo>
                <a:lnTo>
                  <a:pt x="179961" y="170234"/>
                </a:lnTo>
                <a:lnTo>
                  <a:pt x="224953" y="223179"/>
                </a:lnTo>
                <a:cubicBezTo>
                  <a:pt x="228042" y="226776"/>
                  <a:pt x="228702" y="231842"/>
                  <a:pt x="226725" y="236149"/>
                </a:cubicBezTo>
                <a:cubicBezTo>
                  <a:pt x="224749" y="240456"/>
                  <a:pt x="220443" y="243192"/>
                  <a:pt x="215680" y="243192"/>
                </a:cubicBezTo>
                <a:lnTo>
                  <a:pt x="130564" y="243192"/>
                </a:lnTo>
                <a:lnTo>
                  <a:pt x="130564" y="275617"/>
                </a:lnTo>
                <a:cubicBezTo>
                  <a:pt x="130564" y="284586"/>
                  <a:pt x="123318" y="291830"/>
                  <a:pt x="114349" y="291830"/>
                </a:cubicBezTo>
                <a:cubicBezTo>
                  <a:pt x="105383" y="291830"/>
                  <a:pt x="98138" y="284586"/>
                  <a:pt x="98138" y="275617"/>
                </a:cubicBezTo>
                <a:lnTo>
                  <a:pt x="98138" y="243192"/>
                </a:lnTo>
                <a:lnTo>
                  <a:pt x="13021" y="243192"/>
                </a:lnTo>
                <a:cubicBezTo>
                  <a:pt x="8257" y="243192"/>
                  <a:pt x="3952" y="240456"/>
                  <a:pt x="1976" y="236149"/>
                </a:cubicBezTo>
                <a:cubicBezTo>
                  <a:pt x="0" y="231842"/>
                  <a:pt x="658" y="226776"/>
                  <a:pt x="3749" y="223179"/>
                </a:cubicBezTo>
                <a:lnTo>
                  <a:pt x="48739" y="170234"/>
                </a:lnTo>
                <a:lnTo>
                  <a:pt x="29233" y="170234"/>
                </a:lnTo>
                <a:cubicBezTo>
                  <a:pt x="24472" y="170234"/>
                  <a:pt x="20164" y="167498"/>
                  <a:pt x="18188" y="163191"/>
                </a:cubicBezTo>
                <a:cubicBezTo>
                  <a:pt x="16211" y="158885"/>
                  <a:pt x="16871" y="153819"/>
                  <a:pt x="19962" y="150222"/>
                </a:cubicBezTo>
                <a:lnTo>
                  <a:pt x="58062" y="105384"/>
                </a:lnTo>
                <a:lnTo>
                  <a:pt x="45446" y="105384"/>
                </a:lnTo>
                <a:cubicBezTo>
                  <a:pt x="40684" y="105384"/>
                  <a:pt x="36377" y="102647"/>
                  <a:pt x="34400" y="98341"/>
                </a:cubicBezTo>
                <a:cubicBezTo>
                  <a:pt x="32426" y="94034"/>
                  <a:pt x="33083" y="88967"/>
                  <a:pt x="36175" y="85371"/>
                </a:cubicBezTo>
                <a:lnTo>
                  <a:pt x="105078" y="4307"/>
                </a:lnTo>
                <a:cubicBezTo>
                  <a:pt x="107409" y="1571"/>
                  <a:pt x="110804" y="0"/>
                  <a:pt x="11434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868782" y="1697098"/>
            <a:ext cx="994383" cy="276698"/>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FlagTree</a:t>
            </a:r>
            <a:endParaRPr lang="en-US" sz="1100"/>
          </a:p>
        </p:txBody>
      </p:sp>
      <p:sp>
        <p:nvSpPr>
          <p:cNvPr id="16" name="AutoShape 16"/>
          <p:cNvSpPr/>
          <p:nvPr/>
        </p:nvSpPr>
        <p:spPr>
          <a:xfrm>
            <a:off x="6440810" y="2112028"/>
            <a:ext cx="5274553" cy="25075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Composant important de l'ecosysteme FlagOS</a:t>
            </a:r>
            <a:endParaRPr lang="en-US" sz="1100"/>
          </a:p>
        </p:txBody>
      </p:sp>
      <p:sp>
        <p:nvSpPr>
          <p:cNvPr id="17" name="Freeform 17"/>
          <p:cNvSpPr/>
          <p:nvPr/>
        </p:nvSpPr>
        <p:spPr>
          <a:xfrm>
            <a:off x="6458104" y="2533413"/>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660844" y="2503300"/>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Compilateur unifie multi-puces IA</a:t>
            </a:r>
            <a:endParaRPr lang="en-US" sz="1100"/>
          </a:p>
        </p:txBody>
      </p:sp>
      <p:sp>
        <p:nvSpPr>
          <p:cNvPr id="19" name="Freeform 19"/>
          <p:cNvSpPr/>
          <p:nvPr/>
        </p:nvSpPr>
        <p:spPr>
          <a:xfrm>
            <a:off x="6458104" y="2810079"/>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660844" y="2779965"/>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Generation et optimisation de code</a:t>
            </a:r>
            <a:endParaRPr lang="en-US" sz="1100"/>
          </a:p>
        </p:txBody>
      </p:sp>
      <p:sp>
        <p:nvSpPr>
          <p:cNvPr id="21" name="Freeform 21"/>
          <p:cNvSpPr/>
          <p:nvPr/>
        </p:nvSpPr>
        <p:spPr>
          <a:xfrm>
            <a:off x="6458104" y="3086744"/>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660844" y="3056631"/>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Compatibilite multi-plateformes</a:t>
            </a:r>
            <a:endParaRPr lang="en-US" sz="1100"/>
          </a:p>
        </p:txBody>
      </p:sp>
      <p:sp>
        <p:nvSpPr>
          <p:cNvPr id="23" name="Freeform 23"/>
          <p:cNvSpPr/>
          <p:nvPr/>
        </p:nvSpPr>
        <p:spPr>
          <a:xfrm>
            <a:off x="345832" y="3748294"/>
            <a:ext cx="11500255" cy="2766979"/>
          </a:xfrm>
          <a:custGeom>
            <a:avLst/>
            <a:gdLst/>
            <a:ahLst/>
            <a:cxnLst/>
            <a:rect l="l" t="t" r="r" b="b"/>
            <a:pathLst>
              <a:path w="11500255" h="2766979">
                <a:moveTo>
                  <a:pt x="69174" y="0"/>
                </a:moveTo>
                <a:lnTo>
                  <a:pt x="11431081" y="0"/>
                </a:lnTo>
                <a:cubicBezTo>
                  <a:pt x="11469285" y="0"/>
                  <a:pt x="11500255" y="30970"/>
                  <a:pt x="11500255" y="69174"/>
                </a:cubicBezTo>
                <a:lnTo>
                  <a:pt x="11500255" y="2697804"/>
                </a:lnTo>
                <a:cubicBezTo>
                  <a:pt x="11500255" y="2736008"/>
                  <a:pt x="11469285" y="2766979"/>
                  <a:pt x="11431081" y="2766979"/>
                </a:cubicBezTo>
                <a:lnTo>
                  <a:pt x="69174" y="2766979"/>
                </a:lnTo>
                <a:cubicBezTo>
                  <a:pt x="30970" y="2766979"/>
                  <a:pt x="0" y="2736008"/>
                  <a:pt x="0" y="2697804"/>
                </a:cubicBezTo>
                <a:lnTo>
                  <a:pt x="0" y="69174"/>
                </a:lnTo>
                <a:cubicBezTo>
                  <a:pt x="0" y="30970"/>
                  <a:pt x="30970" y="0"/>
                  <a:pt x="6917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553331" y="3955794"/>
            <a:ext cx="11171677" cy="24211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Architecture de la pile logicielle IA</a:t>
            </a:r>
            <a:endParaRPr lang="en-US" sz="1100"/>
          </a:p>
        </p:txBody>
      </p:sp>
      <p:pic>
        <p:nvPicPr>
          <p:cNvPr id="25" name="Picture 25"/>
          <p:cNvPicPr>
            <a:picLocks noChangeAspect="1"/>
          </p:cNvPicPr>
          <p:nvPr/>
        </p:nvPicPr>
        <p:blipFill>
          <a:blip r:embed="rId1"/>
          <a:srcRect t="39746" b="39746"/>
          <a:stretch>
            <a:fillRect/>
          </a:stretch>
        </p:blipFill>
        <p:spPr>
          <a:xfrm>
            <a:off x="553331" y="4336243"/>
            <a:ext cx="11085209" cy="1729362"/>
          </a:xfrm>
          <a:prstGeom prst="roundRect">
            <a:avLst>
              <a:gd name="adj" fmla="val 1999"/>
            </a:avLst>
          </a:prstGeom>
          <a:ln w="12700">
            <a:noFill/>
            <a:prstDash val="solid"/>
          </a:ln>
        </p:spPr>
      </p:pic>
      <p:sp>
        <p:nvSpPr>
          <p:cNvPr id="26" name="AutoShape 26"/>
          <p:cNvSpPr/>
          <p:nvPr/>
        </p:nvSpPr>
        <p:spPr>
          <a:xfrm>
            <a:off x="553331" y="6134771"/>
            <a:ext cx="11145736" cy="17293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The New Stack</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39470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Pourquoi contribuer </a:t>
            </a:r>
            <a:r>
              <a:rPr lang="en-US" altLang="zh-CN"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à</a:t>
            </a: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l'open source</a:t>
            </a:r>
            <a:endParaRPr lang="en-US" sz="3200"/>
          </a:p>
        </p:txBody>
      </p:sp>
      <p:sp>
        <p:nvSpPr>
          <p:cNvPr id="3" name="Freeform 3"/>
          <p:cNvSpPr/>
          <p:nvPr/>
        </p:nvSpPr>
        <p:spPr>
          <a:xfrm>
            <a:off x="380956" y="164088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01220" y="1772787"/>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2"/>
                </a:lnTo>
                <a:cubicBezTo>
                  <a:pt x="216655" y="100422"/>
                  <a:pt x="216655" y="92869"/>
                  <a:pt x="212005" y="88218"/>
                </a:cubicBezTo>
                <a:lnTo>
                  <a:pt x="176286" y="52500"/>
                </a:lnTo>
                <a:cubicBezTo>
                  <a:pt x="171637" y="47849"/>
                  <a:pt x="164083" y="47849"/>
                  <a:pt x="159432" y="52500"/>
                </a:cubicBezTo>
                <a:close/>
                <a:moveTo>
                  <a:pt x="57224" y="52461"/>
                </a:moveTo>
                <a:cubicBezTo>
                  <a:pt x="52573" y="47811"/>
                  <a:pt x="45020" y="47811"/>
                  <a:pt x="40369" y="52461"/>
                </a:cubicBezTo>
                <a:lnTo>
                  <a:pt x="4651" y="88181"/>
                </a:lnTo>
                <a:cubicBezTo>
                  <a:pt x="0" y="92832"/>
                  <a:pt x="0" y="100385"/>
                  <a:pt x="4651" y="105036"/>
                </a:cubicBezTo>
                <a:lnTo>
                  <a:pt x="40369" y="140754"/>
                </a:lnTo>
                <a:cubicBezTo>
                  <a:pt x="45020" y="145405"/>
                  <a:pt x="52573" y="145405"/>
                  <a:pt x="57224" y="140754"/>
                </a:cubicBezTo>
                <a:cubicBezTo>
                  <a:pt x="61876" y="136104"/>
                  <a:pt x="61876" y="128551"/>
                  <a:pt x="57224" y="123900"/>
                </a:cubicBezTo>
                <a:lnTo>
                  <a:pt x="29913" y="96627"/>
                </a:lnTo>
                <a:lnTo>
                  <a:pt x="57187" y="69317"/>
                </a:lnTo>
                <a:cubicBezTo>
                  <a:pt x="61837" y="64666"/>
                  <a:pt x="61837" y="57113"/>
                  <a:pt x="57187" y="5246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952500" y="1717040"/>
            <a:ext cx="5143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Croissance technique</a:t>
            </a:r>
            <a:endParaRPr lang="en-US" sz="1100"/>
          </a:p>
        </p:txBody>
      </p:sp>
      <p:sp>
        <p:nvSpPr>
          <p:cNvPr id="6" name="Freeform 6"/>
          <p:cNvSpPr/>
          <p:nvPr/>
        </p:nvSpPr>
        <p:spPr>
          <a:xfrm>
            <a:off x="1018297" y="2306570"/>
            <a:ext cx="68551" cy="116205"/>
          </a:xfrm>
          <a:custGeom>
            <a:avLst/>
            <a:gdLst/>
            <a:ahLst/>
            <a:cxnLst/>
            <a:rect l="l" t="t" r="r" b="b"/>
            <a:pathLst>
              <a:path w="68551" h="116205">
                <a:moveTo>
                  <a:pt x="64830" y="51376"/>
                </a:moveTo>
                <a:cubicBezTo>
                  <a:pt x="68551" y="55097"/>
                  <a:pt x="68551" y="61140"/>
                  <a:pt x="64830" y="64859"/>
                </a:cubicBezTo>
                <a:lnTo>
                  <a:pt x="17205" y="112484"/>
                </a:lnTo>
                <a:cubicBezTo>
                  <a:pt x="13484" y="116205"/>
                  <a:pt x="7442" y="116205"/>
                  <a:pt x="3721" y="112484"/>
                </a:cubicBezTo>
                <a:cubicBezTo>
                  <a:pt x="0" y="108765"/>
                  <a:pt x="0" y="102722"/>
                  <a:pt x="3721" y="99001"/>
                </a:cubicBezTo>
                <a:lnTo>
                  <a:pt x="44619" y="58103"/>
                </a:lnTo>
                <a:lnTo>
                  <a:pt x="3750" y="17205"/>
                </a:lnTo>
                <a:cubicBezTo>
                  <a:pt x="31" y="13484"/>
                  <a:pt x="31" y="7441"/>
                  <a:pt x="3750" y="3722"/>
                </a:cubicBezTo>
                <a:cubicBezTo>
                  <a:pt x="7471" y="0"/>
                  <a:pt x="13514" y="0"/>
                  <a:pt x="17235" y="3722"/>
                </a:cubicBezTo>
                <a:lnTo>
                  <a:pt x="64860" y="5134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257935" y="2186305"/>
            <a:ext cx="623379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Lire du code industriel </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el </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et apprendre les bonnes pratiques de code</a:t>
            </a:r>
            <a:endParaRPr lang="en-US" sz="1100"/>
          </a:p>
        </p:txBody>
      </p:sp>
      <p:sp>
        <p:nvSpPr>
          <p:cNvPr id="8" name="Freeform 8"/>
          <p:cNvSpPr/>
          <p:nvPr/>
        </p:nvSpPr>
        <p:spPr>
          <a:xfrm>
            <a:off x="1018297" y="2687526"/>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1257300" y="2568575"/>
            <a:ext cx="647509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Apprendre les id</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es de conception architecturale des grands syst</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10" name="Freeform 10"/>
          <p:cNvSpPr/>
          <p:nvPr/>
        </p:nvSpPr>
        <p:spPr>
          <a:xfrm>
            <a:off x="1018297" y="3068482"/>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57300" y="3096260"/>
            <a:ext cx="60864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î</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triser le processus de d</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veloppement collaboratif et les bonnes pratique</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12" name="Freeform 12"/>
          <p:cNvSpPr/>
          <p:nvPr/>
        </p:nvSpPr>
        <p:spPr>
          <a:xfrm>
            <a:off x="380956" y="358379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14279" y="3717074"/>
            <a:ext cx="190500" cy="178594"/>
          </a:xfrm>
          <a:custGeom>
            <a:avLst/>
            <a:gdLst/>
            <a:ahLst/>
            <a:cxnLst/>
            <a:rect l="l" t="t" r="r" b="b"/>
            <a:pathLst>
              <a:path w="190500" h="178594">
                <a:moveTo>
                  <a:pt x="74414" y="17859"/>
                </a:moveTo>
                <a:lnTo>
                  <a:pt x="116086" y="17859"/>
                </a:lnTo>
                <a:cubicBezTo>
                  <a:pt x="117723" y="17859"/>
                  <a:pt x="119063" y="19199"/>
                  <a:pt x="119063" y="20836"/>
                </a:cubicBezTo>
                <a:lnTo>
                  <a:pt x="119063" y="35719"/>
                </a:lnTo>
                <a:lnTo>
                  <a:pt x="71437" y="35719"/>
                </a:lnTo>
                <a:lnTo>
                  <a:pt x="71437" y="20836"/>
                </a:lnTo>
                <a:cubicBezTo>
                  <a:pt x="71437" y="19199"/>
                  <a:pt x="72777" y="17859"/>
                  <a:pt x="74414" y="17859"/>
                </a:cubicBezTo>
                <a:close/>
                <a:moveTo>
                  <a:pt x="53577" y="20836"/>
                </a:moveTo>
                <a:lnTo>
                  <a:pt x="53577" y="35719"/>
                </a:lnTo>
                <a:lnTo>
                  <a:pt x="23813" y="35719"/>
                </a:lnTo>
                <a:cubicBezTo>
                  <a:pt x="10678" y="35719"/>
                  <a:pt x="0" y="46397"/>
                  <a:pt x="0" y="59531"/>
                </a:cubicBezTo>
                <a:lnTo>
                  <a:pt x="0" y="95250"/>
                </a:lnTo>
                <a:lnTo>
                  <a:pt x="190500" y="95250"/>
                </a:lnTo>
                <a:lnTo>
                  <a:pt x="190500" y="59531"/>
                </a:lnTo>
                <a:cubicBezTo>
                  <a:pt x="190500" y="46397"/>
                  <a:pt x="179822" y="35719"/>
                  <a:pt x="166687" y="35719"/>
                </a:cubicBezTo>
                <a:lnTo>
                  <a:pt x="136923" y="35719"/>
                </a:lnTo>
                <a:lnTo>
                  <a:pt x="136923" y="20836"/>
                </a:lnTo>
                <a:cubicBezTo>
                  <a:pt x="136923" y="9340"/>
                  <a:pt x="127583" y="0"/>
                  <a:pt x="116086" y="0"/>
                </a:cubicBezTo>
                <a:lnTo>
                  <a:pt x="74414" y="0"/>
                </a:lnTo>
                <a:cubicBezTo>
                  <a:pt x="62917" y="0"/>
                  <a:pt x="53577" y="9340"/>
                  <a:pt x="53577" y="20836"/>
                </a:cubicBezTo>
                <a:close/>
                <a:moveTo>
                  <a:pt x="190500" y="113109"/>
                </a:moveTo>
                <a:lnTo>
                  <a:pt x="119063" y="113109"/>
                </a:lnTo>
                <a:lnTo>
                  <a:pt x="119063" y="119062"/>
                </a:lnTo>
                <a:cubicBezTo>
                  <a:pt x="119063" y="125647"/>
                  <a:pt x="113742" y="130969"/>
                  <a:pt x="107156" y="130969"/>
                </a:cubicBezTo>
                <a:lnTo>
                  <a:pt x="83344" y="130969"/>
                </a:lnTo>
                <a:cubicBezTo>
                  <a:pt x="76758" y="130969"/>
                  <a:pt x="71437" y="125647"/>
                  <a:pt x="71437" y="119062"/>
                </a:cubicBezTo>
                <a:lnTo>
                  <a:pt x="71437" y="113109"/>
                </a:lnTo>
                <a:lnTo>
                  <a:pt x="0" y="113109"/>
                </a:lnTo>
                <a:lnTo>
                  <a:pt x="0" y="154781"/>
                </a:lnTo>
                <a:cubicBezTo>
                  <a:pt x="0" y="167916"/>
                  <a:pt x="10678" y="178594"/>
                  <a:pt x="23813" y="178594"/>
                </a:cubicBezTo>
                <a:lnTo>
                  <a:pt x="166687" y="178594"/>
                </a:lnTo>
                <a:cubicBezTo>
                  <a:pt x="179822" y="178594"/>
                  <a:pt x="190500" y="167916"/>
                  <a:pt x="190500" y="154781"/>
                </a:cubicBezTo>
                <a:lnTo>
                  <a:pt x="190500" y="11310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952500" y="3660140"/>
            <a:ext cx="555371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Developpement professionnel</a:t>
            </a:r>
            <a:endParaRPr lang="en-US" sz="1100"/>
          </a:p>
        </p:txBody>
      </p:sp>
      <p:sp>
        <p:nvSpPr>
          <p:cNvPr id="15" name="Freeform 15"/>
          <p:cNvSpPr/>
          <p:nvPr/>
        </p:nvSpPr>
        <p:spPr>
          <a:xfrm>
            <a:off x="1018297" y="4186615"/>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1257300" y="4193540"/>
            <a:ext cx="597789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L'historique de contribution open source sur GitHub devient une carte de visite technique</a:t>
            </a:r>
            <a:endParaRPr lang="en-US" sz="1100"/>
          </a:p>
        </p:txBody>
      </p:sp>
      <p:sp>
        <p:nvSpPr>
          <p:cNvPr id="17" name="Freeform 17"/>
          <p:cNvSpPr/>
          <p:nvPr/>
        </p:nvSpPr>
        <p:spPr>
          <a:xfrm>
            <a:off x="1018297" y="4819031"/>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1257300" y="4707255"/>
            <a:ext cx="608711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Augmenter significativement la valeur et la comp</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titivit</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du C</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a:t>
            </a:r>
            <a:endParaRPr lang="en-US" sz="1100"/>
          </a:p>
        </p:txBody>
      </p:sp>
      <p:sp>
        <p:nvSpPr>
          <p:cNvPr id="19" name="Freeform 19"/>
          <p:cNvSpPr/>
          <p:nvPr/>
        </p:nvSpPr>
        <p:spPr>
          <a:xfrm>
            <a:off x="1018297" y="5172047"/>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257300" y="5088255"/>
            <a:ext cx="60864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Construire une influence et un r</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seau dans la communaut</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techniqu</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pic>
        <p:nvPicPr>
          <p:cNvPr id="21" name="Picture 21"/>
          <p:cNvPicPr>
            <a:picLocks noChangeAspect="1"/>
          </p:cNvPicPr>
          <p:nvPr/>
        </p:nvPicPr>
        <p:blipFill>
          <a:blip r:embed="rId1"/>
          <a:srcRect l="169" r="170"/>
          <a:stretch>
            <a:fillRect/>
          </a:stretch>
        </p:blipFill>
        <p:spPr>
          <a:xfrm>
            <a:off x="7524780" y="2704673"/>
            <a:ext cx="4286250" cy="1114425"/>
          </a:xfrm>
          <a:prstGeom prst="roundRect">
            <a:avLst>
              <a:gd name="adj" fmla="val 6838"/>
            </a:avLst>
          </a:prstGeom>
          <a:ln w="12700">
            <a:noFill/>
            <a:prstDash val="solid"/>
          </a:ln>
        </p:spPr>
      </p:pic>
      <p:sp>
        <p:nvSpPr>
          <p:cNvPr id="22" name="AutoShape 22"/>
          <p:cNvSpPr/>
          <p:nvPr/>
        </p:nvSpPr>
        <p:spPr>
          <a:xfrm>
            <a:off x="7491442" y="3967639"/>
            <a:ext cx="435292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GitHub Docs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744918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Outils de collaboration open source</a:t>
            </a:r>
            <a:endParaRPr lang="en-US" sz="3200"/>
          </a:p>
        </p:txBody>
      </p:sp>
      <p:sp>
        <p:nvSpPr>
          <p:cNvPr id="3" name="Freeform 3"/>
          <p:cNvSpPr/>
          <p:nvPr/>
        </p:nvSpPr>
        <p:spPr>
          <a:xfrm>
            <a:off x="390433" y="1650364"/>
            <a:ext cx="5543455" cy="2228755"/>
          </a:xfrm>
          <a:custGeom>
            <a:avLst/>
            <a:gdLst/>
            <a:ahLst/>
            <a:cxnLst/>
            <a:rect l="l" t="t" r="r" b="b"/>
            <a:pathLst>
              <a:path w="5543455" h="2228755">
                <a:moveTo>
                  <a:pt x="76201" y="0"/>
                </a:moveTo>
                <a:lnTo>
                  <a:pt x="5467253" y="0"/>
                </a:lnTo>
                <a:cubicBezTo>
                  <a:pt x="5509339" y="0"/>
                  <a:pt x="5543455" y="34116"/>
                  <a:pt x="5543455" y="76201"/>
                </a:cubicBezTo>
                <a:lnTo>
                  <a:pt x="5543455" y="2152553"/>
                </a:lnTo>
                <a:cubicBezTo>
                  <a:pt x="5543455" y="2194639"/>
                  <a:pt x="5509339" y="2228755"/>
                  <a:pt x="5467253" y="2228755"/>
                </a:cubicBezTo>
                <a:lnTo>
                  <a:pt x="76201" y="2228755"/>
                </a:lnTo>
                <a:cubicBezTo>
                  <a:pt x="34116" y="2228755"/>
                  <a:pt x="0" y="2194639"/>
                  <a:pt x="0" y="2152553"/>
                </a:cubicBezTo>
                <a:lnTo>
                  <a:pt x="0" y="76201"/>
                </a:lnTo>
                <a:cubicBezTo>
                  <a:pt x="0" y="34116"/>
                  <a:pt x="34116" y="0"/>
                  <a:pt x="76201"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692778" y="1909844"/>
            <a:ext cx="300038" cy="300038"/>
          </a:xfrm>
          <a:custGeom>
            <a:avLst/>
            <a:gdLst/>
            <a:ahLst/>
            <a:cxnLst/>
            <a:rect l="l" t="t" r="r" b="b"/>
            <a:pathLst>
              <a:path w="300038" h="300038">
                <a:moveTo>
                  <a:pt x="294411" y="136692"/>
                </a:moveTo>
                <a:lnTo>
                  <a:pt x="163413" y="5692"/>
                </a:lnTo>
                <a:cubicBezTo>
                  <a:pt x="159796" y="2009"/>
                  <a:pt x="154841" y="0"/>
                  <a:pt x="149751" y="0"/>
                </a:cubicBezTo>
                <a:cubicBezTo>
                  <a:pt x="144661" y="0"/>
                  <a:pt x="139705" y="2009"/>
                  <a:pt x="136088" y="5626"/>
                </a:cubicBezTo>
                <a:lnTo>
                  <a:pt x="108831" y="32817"/>
                </a:lnTo>
                <a:lnTo>
                  <a:pt x="143321" y="67308"/>
                </a:lnTo>
                <a:cubicBezTo>
                  <a:pt x="161472" y="61213"/>
                  <a:pt x="178617" y="78559"/>
                  <a:pt x="172389" y="96575"/>
                </a:cubicBezTo>
                <a:lnTo>
                  <a:pt x="205673" y="129860"/>
                </a:lnTo>
                <a:cubicBezTo>
                  <a:pt x="228578" y="121957"/>
                  <a:pt x="246659" y="150622"/>
                  <a:pt x="229448" y="167835"/>
                </a:cubicBezTo>
                <a:cubicBezTo>
                  <a:pt x="211701" y="185582"/>
                  <a:pt x="182434" y="165891"/>
                  <a:pt x="191944" y="142852"/>
                </a:cubicBezTo>
                <a:lnTo>
                  <a:pt x="160934" y="111845"/>
                </a:lnTo>
                <a:lnTo>
                  <a:pt x="160934" y="193483"/>
                </a:lnTo>
                <a:cubicBezTo>
                  <a:pt x="177879" y="201857"/>
                  <a:pt x="175870" y="221479"/>
                  <a:pt x="167030" y="230319"/>
                </a:cubicBezTo>
                <a:cubicBezTo>
                  <a:pt x="162744" y="234605"/>
                  <a:pt x="156850" y="237083"/>
                  <a:pt x="150755" y="237083"/>
                </a:cubicBezTo>
                <a:cubicBezTo>
                  <a:pt x="144661" y="237083"/>
                  <a:pt x="138834" y="234672"/>
                  <a:pt x="134482" y="230319"/>
                </a:cubicBezTo>
                <a:cubicBezTo>
                  <a:pt x="122693" y="218532"/>
                  <a:pt x="127047" y="198909"/>
                  <a:pt x="141982" y="192815"/>
                </a:cubicBezTo>
                <a:lnTo>
                  <a:pt x="141982" y="110438"/>
                </a:lnTo>
                <a:cubicBezTo>
                  <a:pt x="128052" y="104745"/>
                  <a:pt x="125506" y="89878"/>
                  <a:pt x="129525" y="80300"/>
                </a:cubicBezTo>
                <a:lnTo>
                  <a:pt x="95503" y="46210"/>
                </a:lnTo>
                <a:lnTo>
                  <a:pt x="5693" y="136022"/>
                </a:lnTo>
                <a:cubicBezTo>
                  <a:pt x="2009" y="139705"/>
                  <a:pt x="0" y="144594"/>
                  <a:pt x="0" y="149684"/>
                </a:cubicBezTo>
                <a:cubicBezTo>
                  <a:pt x="0" y="154774"/>
                  <a:pt x="2009" y="159729"/>
                  <a:pt x="5693" y="163346"/>
                </a:cubicBezTo>
                <a:lnTo>
                  <a:pt x="136691" y="294412"/>
                </a:lnTo>
                <a:cubicBezTo>
                  <a:pt x="140308" y="298029"/>
                  <a:pt x="145197" y="300038"/>
                  <a:pt x="150354" y="300038"/>
                </a:cubicBezTo>
                <a:cubicBezTo>
                  <a:pt x="155512" y="300038"/>
                  <a:pt x="160400" y="298029"/>
                  <a:pt x="164015" y="294412"/>
                </a:cubicBezTo>
                <a:lnTo>
                  <a:pt x="294411" y="164016"/>
                </a:lnTo>
                <a:cubicBezTo>
                  <a:pt x="298028" y="160400"/>
                  <a:pt x="300038" y="155444"/>
                  <a:pt x="300038" y="150354"/>
                </a:cubicBezTo>
                <a:cubicBezTo>
                  <a:pt x="300038" y="145264"/>
                  <a:pt x="298028" y="140309"/>
                  <a:pt x="294411" y="13669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171300" y="1907516"/>
            <a:ext cx="44767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a:t>
            </a:r>
            <a:endParaRPr lang="en-US" sz="1100"/>
          </a:p>
        </p:txBody>
      </p:sp>
      <p:sp>
        <p:nvSpPr>
          <p:cNvPr id="6" name="AutoShape 6"/>
          <p:cNvSpPr/>
          <p:nvPr/>
        </p:nvSpPr>
        <p:spPr>
          <a:xfrm>
            <a:off x="628484" y="2383692"/>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Syst</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 de contrôle de version distribu</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endParaRPr lang="en-US" sz="1100"/>
          </a:p>
        </p:txBody>
      </p:sp>
      <p:sp>
        <p:nvSpPr>
          <p:cNvPr id="7" name="Freeform 7"/>
          <p:cNvSpPr/>
          <p:nvPr/>
        </p:nvSpPr>
        <p:spPr>
          <a:xfrm>
            <a:off x="656136" y="2853693"/>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6"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876134" y="2802780"/>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a:t>
            </a:r>
            <a:r>
              <a:rPr lang="en-US" alt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rer </a:t>
            </a: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les changements de version du code</a:t>
            </a:r>
            <a:endParaRPr lang="en-US" sz="1100"/>
          </a:p>
        </p:txBody>
      </p:sp>
      <p:sp>
        <p:nvSpPr>
          <p:cNvPr id="9" name="Freeform 9"/>
          <p:cNvSpPr/>
          <p:nvPr/>
        </p:nvSpPr>
        <p:spPr>
          <a:xfrm>
            <a:off x="656136" y="3158459"/>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6"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76134" y="3107545"/>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Prend en charge le </a:t>
            </a: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a:t>
            </a:r>
            <a:r>
              <a:rPr lang="en-US" alt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veloppement </a:t>
            </a: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par branches</a:t>
            </a:r>
            <a:endParaRPr lang="en-US" sz="1100"/>
          </a:p>
        </p:txBody>
      </p:sp>
      <p:sp>
        <p:nvSpPr>
          <p:cNvPr id="11" name="Freeform 11"/>
          <p:cNvSpPr/>
          <p:nvPr/>
        </p:nvSpPr>
        <p:spPr>
          <a:xfrm>
            <a:off x="656136" y="3463221"/>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6" y="124301"/>
                  <a:pt x="41821" y="122336"/>
                </a:cubicBezTo>
                <a:lnTo>
                  <a:pt x="3721" y="84236"/>
                </a:lnTo>
                <a:cubicBezTo>
                  <a:pt x="0" y="80515"/>
                  <a:pt x="0" y="74472"/>
                  <a:pt x="3721" y="70753"/>
                </a:cubicBezTo>
                <a:cubicBezTo>
                  <a:pt x="7442" y="67031"/>
                  <a:pt x="13485" y="67031"/>
                  <a:pt x="17204" y="70753"/>
                </a:cubicBezTo>
                <a:lnTo>
                  <a:pt x="47416" y="100965"/>
                </a:lnTo>
                <a:lnTo>
                  <a:pt x="117068" y="5208"/>
                </a:lnTo>
                <a:cubicBezTo>
                  <a:pt x="120165" y="952"/>
                  <a:pt x="126117" y="0"/>
                  <a:pt x="130374" y="309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876134" y="3412310"/>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Tracer l'historique des modifications</a:t>
            </a:r>
            <a:endParaRPr lang="en-US" sz="1100"/>
          </a:p>
        </p:txBody>
      </p:sp>
      <p:sp>
        <p:nvSpPr>
          <p:cNvPr id="13" name="Freeform 13"/>
          <p:cNvSpPr/>
          <p:nvPr/>
        </p:nvSpPr>
        <p:spPr>
          <a:xfrm>
            <a:off x="6257815" y="1650364"/>
            <a:ext cx="5543455" cy="2228755"/>
          </a:xfrm>
          <a:custGeom>
            <a:avLst/>
            <a:gdLst/>
            <a:ahLst/>
            <a:cxnLst/>
            <a:rect l="l" t="t" r="r" b="b"/>
            <a:pathLst>
              <a:path w="5543455" h="2228755">
                <a:moveTo>
                  <a:pt x="76201" y="0"/>
                </a:moveTo>
                <a:lnTo>
                  <a:pt x="5467253" y="0"/>
                </a:lnTo>
                <a:cubicBezTo>
                  <a:pt x="5509339" y="0"/>
                  <a:pt x="5543455" y="34116"/>
                  <a:pt x="5543455" y="76201"/>
                </a:cubicBezTo>
                <a:lnTo>
                  <a:pt x="5543455" y="2152553"/>
                </a:lnTo>
                <a:cubicBezTo>
                  <a:pt x="5543455" y="2194639"/>
                  <a:pt x="5509339" y="2228755"/>
                  <a:pt x="5467253" y="2228755"/>
                </a:cubicBezTo>
                <a:lnTo>
                  <a:pt x="76201" y="2228755"/>
                </a:lnTo>
                <a:cubicBezTo>
                  <a:pt x="34116" y="2228755"/>
                  <a:pt x="0" y="2194639"/>
                  <a:pt x="0" y="2152553"/>
                </a:cubicBezTo>
                <a:lnTo>
                  <a:pt x="0" y="76201"/>
                </a:lnTo>
                <a:cubicBezTo>
                  <a:pt x="0" y="34116"/>
                  <a:pt x="34116" y="0"/>
                  <a:pt x="76201" y="0"/>
                </a:cubicBezTo>
                <a:close/>
              </a:path>
            </a:pathLst>
          </a:custGeom>
          <a:solidFill>
            <a:srgbClr val="000000">
              <a:alpha val="0"/>
            </a:srgbClr>
          </a:solidFill>
          <a:ln w="12700">
            <a:solidFill>
              <a:srgbClr val="333333">
                <a:alpha val="100000"/>
              </a:srgbClr>
            </a:solidFill>
            <a:prstDash val="solid"/>
          </a:ln>
        </p:spPr>
        <p:txBody>
          <a:bodyPr wrap="square" lIns="91440" tIns="45720" rIns="91440" bIns="45720" rtlCol="0" anchor="t">
            <a:noAutofit/>
          </a:bodyPr>
          <a:lstStyle/>
          <a:p>
            <a:pPr algn="ctr">
              <a:defRPr/>
            </a:pPr>
          </a:p>
        </p:txBody>
      </p:sp>
      <p:sp>
        <p:nvSpPr>
          <p:cNvPr id="14" name="Freeform 14"/>
          <p:cNvSpPr/>
          <p:nvPr/>
        </p:nvSpPr>
        <p:spPr>
          <a:xfrm>
            <a:off x="6544087" y="1893771"/>
            <a:ext cx="332184" cy="325152"/>
          </a:xfrm>
          <a:custGeom>
            <a:avLst/>
            <a:gdLst/>
            <a:ahLst/>
            <a:cxnLst/>
            <a:rect l="l" t="t" r="r" b="b"/>
            <a:pathLst>
              <a:path w="332184" h="325152">
                <a:moveTo>
                  <a:pt x="111107" y="260791"/>
                </a:moveTo>
                <a:cubicBezTo>
                  <a:pt x="111107" y="262131"/>
                  <a:pt x="109567" y="263203"/>
                  <a:pt x="107625" y="263203"/>
                </a:cubicBezTo>
                <a:cubicBezTo>
                  <a:pt x="105415" y="263403"/>
                  <a:pt x="103873" y="262333"/>
                  <a:pt x="103873" y="260791"/>
                </a:cubicBezTo>
                <a:cubicBezTo>
                  <a:pt x="103873" y="259452"/>
                  <a:pt x="105415" y="258380"/>
                  <a:pt x="107357" y="258380"/>
                </a:cubicBezTo>
                <a:cubicBezTo>
                  <a:pt x="109366" y="258178"/>
                  <a:pt x="111107" y="259252"/>
                  <a:pt x="111107" y="260791"/>
                </a:cubicBezTo>
                <a:close/>
                <a:moveTo>
                  <a:pt x="90279" y="257778"/>
                </a:moveTo>
                <a:cubicBezTo>
                  <a:pt x="89809" y="259117"/>
                  <a:pt x="91151" y="260657"/>
                  <a:pt x="93158" y="261059"/>
                </a:cubicBezTo>
                <a:cubicBezTo>
                  <a:pt x="94900" y="261729"/>
                  <a:pt x="96909" y="261059"/>
                  <a:pt x="97311" y="259720"/>
                </a:cubicBezTo>
                <a:cubicBezTo>
                  <a:pt x="97713" y="258380"/>
                  <a:pt x="96440" y="256840"/>
                  <a:pt x="94431" y="256237"/>
                </a:cubicBezTo>
                <a:cubicBezTo>
                  <a:pt x="92690" y="255768"/>
                  <a:pt x="90748" y="256439"/>
                  <a:pt x="90279" y="257778"/>
                </a:cubicBezTo>
                <a:close/>
                <a:moveTo>
                  <a:pt x="119881" y="256639"/>
                </a:moveTo>
                <a:cubicBezTo>
                  <a:pt x="117939" y="257108"/>
                  <a:pt x="116599" y="258380"/>
                  <a:pt x="116799" y="259921"/>
                </a:cubicBezTo>
                <a:cubicBezTo>
                  <a:pt x="117001" y="261259"/>
                  <a:pt x="118743" y="262131"/>
                  <a:pt x="120752" y="261662"/>
                </a:cubicBezTo>
                <a:cubicBezTo>
                  <a:pt x="122694" y="261193"/>
                  <a:pt x="124033" y="259921"/>
                  <a:pt x="123831" y="258581"/>
                </a:cubicBezTo>
                <a:cubicBezTo>
                  <a:pt x="123631" y="257308"/>
                  <a:pt x="121824" y="256439"/>
                  <a:pt x="119881" y="256639"/>
                </a:cubicBezTo>
                <a:close/>
                <a:moveTo>
                  <a:pt x="163950" y="0"/>
                </a:moveTo>
                <a:cubicBezTo>
                  <a:pt x="71058" y="0"/>
                  <a:pt x="0" y="70522"/>
                  <a:pt x="0" y="163414"/>
                </a:cubicBezTo>
                <a:cubicBezTo>
                  <a:pt x="0" y="237686"/>
                  <a:pt x="46748" y="301243"/>
                  <a:pt x="113518" y="323611"/>
                </a:cubicBezTo>
                <a:cubicBezTo>
                  <a:pt x="122092" y="325152"/>
                  <a:pt x="125105" y="319861"/>
                  <a:pt x="125105" y="315507"/>
                </a:cubicBezTo>
                <a:cubicBezTo>
                  <a:pt x="125105" y="311356"/>
                  <a:pt x="124905" y="288451"/>
                  <a:pt x="124905" y="274387"/>
                </a:cubicBezTo>
                <a:cubicBezTo>
                  <a:pt x="124905" y="274387"/>
                  <a:pt x="78023" y="284433"/>
                  <a:pt x="68178" y="254429"/>
                </a:cubicBezTo>
                <a:cubicBezTo>
                  <a:pt x="68178" y="254429"/>
                  <a:pt x="60544" y="234940"/>
                  <a:pt x="49561" y="229917"/>
                </a:cubicBezTo>
                <a:cubicBezTo>
                  <a:pt x="49561" y="229917"/>
                  <a:pt x="34223" y="219402"/>
                  <a:pt x="50631" y="219603"/>
                </a:cubicBezTo>
                <a:cubicBezTo>
                  <a:pt x="50631" y="219603"/>
                  <a:pt x="67308" y="220943"/>
                  <a:pt x="76483" y="236882"/>
                </a:cubicBezTo>
                <a:cubicBezTo>
                  <a:pt x="91151" y="262734"/>
                  <a:pt x="115729" y="255301"/>
                  <a:pt x="125306" y="250878"/>
                </a:cubicBezTo>
                <a:cubicBezTo>
                  <a:pt x="126846" y="240163"/>
                  <a:pt x="131199" y="232730"/>
                  <a:pt x="136021" y="228311"/>
                </a:cubicBezTo>
                <a:cubicBezTo>
                  <a:pt x="98584" y="224156"/>
                  <a:pt x="60812" y="218733"/>
                  <a:pt x="60812" y="154305"/>
                </a:cubicBezTo>
                <a:cubicBezTo>
                  <a:pt x="60812" y="135888"/>
                  <a:pt x="65900" y="126645"/>
                  <a:pt x="76617" y="114858"/>
                </a:cubicBezTo>
                <a:cubicBezTo>
                  <a:pt x="74876" y="110505"/>
                  <a:pt x="69183" y="92556"/>
                  <a:pt x="78358" y="69383"/>
                </a:cubicBezTo>
                <a:cubicBezTo>
                  <a:pt x="92355" y="65030"/>
                  <a:pt x="124569" y="87466"/>
                  <a:pt x="124569" y="87466"/>
                </a:cubicBezTo>
                <a:cubicBezTo>
                  <a:pt x="137963" y="83716"/>
                  <a:pt x="152363" y="81773"/>
                  <a:pt x="166628" y="81773"/>
                </a:cubicBezTo>
                <a:cubicBezTo>
                  <a:pt x="180893" y="81773"/>
                  <a:pt x="195292" y="83716"/>
                  <a:pt x="208687" y="87466"/>
                </a:cubicBezTo>
                <a:cubicBezTo>
                  <a:pt x="208687" y="87466"/>
                  <a:pt x="240900" y="64963"/>
                  <a:pt x="254898" y="69383"/>
                </a:cubicBezTo>
                <a:cubicBezTo>
                  <a:pt x="264073" y="92623"/>
                  <a:pt x="258380" y="110505"/>
                  <a:pt x="256639" y="114858"/>
                </a:cubicBezTo>
                <a:cubicBezTo>
                  <a:pt x="267355" y="126712"/>
                  <a:pt x="273918" y="135954"/>
                  <a:pt x="273918" y="154305"/>
                </a:cubicBezTo>
                <a:cubicBezTo>
                  <a:pt x="273918" y="218933"/>
                  <a:pt x="234471" y="224090"/>
                  <a:pt x="197033" y="228311"/>
                </a:cubicBezTo>
                <a:cubicBezTo>
                  <a:pt x="203195" y="233600"/>
                  <a:pt x="208419" y="243646"/>
                  <a:pt x="208419" y="259385"/>
                </a:cubicBezTo>
                <a:cubicBezTo>
                  <a:pt x="208419" y="281955"/>
                  <a:pt x="208218" y="309881"/>
                  <a:pt x="208218" y="315374"/>
                </a:cubicBezTo>
                <a:cubicBezTo>
                  <a:pt x="208218" y="319726"/>
                  <a:pt x="211299" y="325019"/>
                  <a:pt x="219804" y="323478"/>
                </a:cubicBezTo>
                <a:cubicBezTo>
                  <a:pt x="286778" y="301243"/>
                  <a:pt x="332184" y="237686"/>
                  <a:pt x="332184" y="163414"/>
                </a:cubicBezTo>
                <a:cubicBezTo>
                  <a:pt x="332184" y="70522"/>
                  <a:pt x="256840" y="0"/>
                  <a:pt x="163950" y="0"/>
                </a:cubicBezTo>
                <a:close/>
                <a:moveTo>
                  <a:pt x="65097" y="230989"/>
                </a:moveTo>
                <a:cubicBezTo>
                  <a:pt x="64227" y="231658"/>
                  <a:pt x="64429" y="233199"/>
                  <a:pt x="65566" y="234471"/>
                </a:cubicBezTo>
                <a:cubicBezTo>
                  <a:pt x="66638" y="235543"/>
                  <a:pt x="68178" y="236011"/>
                  <a:pt x="69049" y="235141"/>
                </a:cubicBezTo>
                <a:cubicBezTo>
                  <a:pt x="69919" y="234471"/>
                  <a:pt x="69718" y="232931"/>
                  <a:pt x="68580" y="231658"/>
                </a:cubicBezTo>
                <a:cubicBezTo>
                  <a:pt x="67508" y="230586"/>
                  <a:pt x="65968" y="230118"/>
                  <a:pt x="65097" y="230989"/>
                </a:cubicBezTo>
                <a:close/>
                <a:moveTo>
                  <a:pt x="57864" y="225564"/>
                </a:moveTo>
                <a:cubicBezTo>
                  <a:pt x="57395" y="226434"/>
                  <a:pt x="58065" y="227505"/>
                  <a:pt x="59404" y="228176"/>
                </a:cubicBezTo>
                <a:cubicBezTo>
                  <a:pt x="60476" y="228845"/>
                  <a:pt x="61816" y="228645"/>
                  <a:pt x="62283" y="227707"/>
                </a:cubicBezTo>
                <a:cubicBezTo>
                  <a:pt x="62753" y="226836"/>
                  <a:pt x="62083" y="225765"/>
                  <a:pt x="60744" y="225095"/>
                </a:cubicBezTo>
                <a:cubicBezTo>
                  <a:pt x="59404" y="224694"/>
                  <a:pt x="58332" y="224894"/>
                  <a:pt x="57864" y="225564"/>
                </a:cubicBezTo>
                <a:close/>
                <a:moveTo>
                  <a:pt x="79563" y="249407"/>
                </a:moveTo>
                <a:cubicBezTo>
                  <a:pt x="78492" y="250276"/>
                  <a:pt x="78894" y="252286"/>
                  <a:pt x="80434" y="253558"/>
                </a:cubicBezTo>
                <a:cubicBezTo>
                  <a:pt x="81974" y="255099"/>
                  <a:pt x="83917" y="255301"/>
                  <a:pt x="84787" y="254227"/>
                </a:cubicBezTo>
                <a:cubicBezTo>
                  <a:pt x="85658" y="253358"/>
                  <a:pt x="85256" y="251348"/>
                  <a:pt x="83917" y="250076"/>
                </a:cubicBezTo>
                <a:cubicBezTo>
                  <a:pt x="82443" y="248535"/>
                  <a:pt x="80434" y="248333"/>
                  <a:pt x="79563" y="249407"/>
                </a:cubicBezTo>
                <a:close/>
                <a:moveTo>
                  <a:pt x="71928" y="239561"/>
                </a:moveTo>
                <a:cubicBezTo>
                  <a:pt x="70857" y="240231"/>
                  <a:pt x="70857" y="241972"/>
                  <a:pt x="71928" y="243512"/>
                </a:cubicBezTo>
                <a:cubicBezTo>
                  <a:pt x="73000" y="245053"/>
                  <a:pt x="74808" y="245722"/>
                  <a:pt x="75679" y="245053"/>
                </a:cubicBezTo>
                <a:cubicBezTo>
                  <a:pt x="76750" y="244182"/>
                  <a:pt x="76750" y="242441"/>
                  <a:pt x="75679" y="240900"/>
                </a:cubicBezTo>
                <a:cubicBezTo>
                  <a:pt x="74741" y="239360"/>
                  <a:pt x="73000" y="238690"/>
                  <a:pt x="71928" y="239561"/>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038681" y="1907516"/>
            <a:ext cx="94297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a:t>
            </a:r>
            <a:endParaRPr lang="en-US" sz="1100"/>
          </a:p>
        </p:txBody>
      </p:sp>
      <p:sp>
        <p:nvSpPr>
          <p:cNvPr id="16" name="AutoShape 16"/>
          <p:cNvSpPr/>
          <p:nvPr/>
        </p:nvSpPr>
        <p:spPr>
          <a:xfrm>
            <a:off x="6495866" y="2383692"/>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Plateforme d'</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h</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bergement</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de code open source</a:t>
            </a:r>
            <a:endParaRPr lang="en-US" sz="1100"/>
          </a:p>
        </p:txBody>
      </p:sp>
      <p:sp>
        <p:nvSpPr>
          <p:cNvPr id="17" name="Freeform 17"/>
          <p:cNvSpPr/>
          <p:nvPr/>
        </p:nvSpPr>
        <p:spPr>
          <a:xfrm>
            <a:off x="6523518" y="2853693"/>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743516" y="2802780"/>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Offre des services </a:t>
            </a: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d'h</a:t>
            </a:r>
            <a:r>
              <a:rPr lang="en-US" alt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bergement </a:t>
            </a: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de code</a:t>
            </a:r>
            <a:endParaRPr lang="en-US" sz="1100"/>
          </a:p>
        </p:txBody>
      </p:sp>
      <p:sp>
        <p:nvSpPr>
          <p:cNvPr id="19" name="Freeform 19"/>
          <p:cNvSpPr/>
          <p:nvPr/>
        </p:nvSpPr>
        <p:spPr>
          <a:xfrm>
            <a:off x="6523518" y="3158459"/>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743516" y="3107545"/>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Ensemble d'outils de </a:t>
            </a: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a:t>
            </a:r>
            <a:r>
              <a:rPr lang="en-US" alt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veloppement </a:t>
            </a: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collaboratif</a:t>
            </a:r>
            <a:endParaRPr lang="en-US" sz="1100"/>
          </a:p>
        </p:txBody>
      </p:sp>
      <p:sp>
        <p:nvSpPr>
          <p:cNvPr id="21" name="Freeform 21"/>
          <p:cNvSpPr/>
          <p:nvPr/>
        </p:nvSpPr>
        <p:spPr>
          <a:xfrm>
            <a:off x="6523518" y="3463221"/>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1"/>
                  <a:pt x="13485" y="67031"/>
                  <a:pt x="17204" y="70753"/>
                </a:cubicBezTo>
                <a:lnTo>
                  <a:pt x="47416" y="100965"/>
                </a:lnTo>
                <a:lnTo>
                  <a:pt x="117068" y="5208"/>
                </a:lnTo>
                <a:cubicBezTo>
                  <a:pt x="120165" y="952"/>
                  <a:pt x="126117" y="0"/>
                  <a:pt x="130374" y="3095"/>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743516" y="3412310"/>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Plateforme de communication communautaire</a:t>
            </a:r>
            <a:endParaRPr lang="en-US" sz="1100"/>
          </a:p>
        </p:txBody>
      </p:sp>
      <p:sp>
        <p:nvSpPr>
          <p:cNvPr id="23" name="Freeform 23"/>
          <p:cNvSpPr/>
          <p:nvPr/>
        </p:nvSpPr>
        <p:spPr>
          <a:xfrm>
            <a:off x="380956" y="4116986"/>
            <a:ext cx="11430000" cy="2000250"/>
          </a:xfrm>
          <a:custGeom>
            <a:avLst/>
            <a:gdLst/>
            <a:ahLst/>
            <a:cxnLst/>
            <a:rect l="l" t="t" r="r" b="b"/>
            <a:pathLst>
              <a:path w="11430000" h="2000250">
                <a:moveTo>
                  <a:pt x="76210" y="0"/>
                </a:moveTo>
                <a:lnTo>
                  <a:pt x="11353790" y="0"/>
                </a:lnTo>
                <a:cubicBezTo>
                  <a:pt x="11395880" y="0"/>
                  <a:pt x="11430000" y="34120"/>
                  <a:pt x="11430000" y="76210"/>
                </a:cubicBezTo>
                <a:lnTo>
                  <a:pt x="11430000" y="1924040"/>
                </a:lnTo>
                <a:cubicBezTo>
                  <a:pt x="11430000" y="1966130"/>
                  <a:pt x="11395880" y="2000250"/>
                  <a:pt x="11353790" y="2000250"/>
                </a:cubicBezTo>
                <a:lnTo>
                  <a:pt x="76210" y="2000250"/>
                </a:lnTo>
                <a:cubicBezTo>
                  <a:pt x="34120" y="2000250"/>
                  <a:pt x="0" y="1966130"/>
                  <a:pt x="0" y="192404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09529" y="4345558"/>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Concepts cles</a:t>
            </a:r>
            <a:endParaRPr lang="en-US" sz="1100"/>
          </a:p>
        </p:txBody>
      </p:sp>
      <p:sp>
        <p:nvSpPr>
          <p:cNvPr id="25" name="Freeform 25"/>
          <p:cNvSpPr/>
          <p:nvPr/>
        </p:nvSpPr>
        <p:spPr>
          <a:xfrm>
            <a:off x="609529" y="4764646"/>
            <a:ext cx="2628900" cy="1123950"/>
          </a:xfrm>
          <a:custGeom>
            <a:avLst/>
            <a:gdLst/>
            <a:ahLst/>
            <a:cxnLst/>
            <a:rect l="l" t="t" r="r" b="b"/>
            <a:pathLst>
              <a:path w="2628900" h="1123950">
                <a:moveTo>
                  <a:pt x="76204" y="0"/>
                </a:moveTo>
                <a:lnTo>
                  <a:pt x="2552696" y="0"/>
                </a:lnTo>
                <a:cubicBezTo>
                  <a:pt x="2594781" y="0"/>
                  <a:pt x="2628900" y="34119"/>
                  <a:pt x="2628900" y="76204"/>
                </a:cubicBezTo>
                <a:lnTo>
                  <a:pt x="2628900" y="1047746"/>
                </a:lnTo>
                <a:cubicBezTo>
                  <a:pt x="2628900" y="1089831"/>
                  <a:pt x="2594781" y="1123950"/>
                  <a:pt x="2552696" y="1123950"/>
                </a:cubicBezTo>
                <a:lnTo>
                  <a:pt x="76204" y="1123950"/>
                </a:lnTo>
                <a:cubicBezTo>
                  <a:pt x="34119" y="1123950"/>
                  <a:pt x="0" y="1089831"/>
                  <a:pt x="0" y="1047746"/>
                </a:cubicBezTo>
                <a:lnTo>
                  <a:pt x="0" y="76204"/>
                </a:lnTo>
                <a:cubicBezTo>
                  <a:pt x="0" y="34146"/>
                  <a:pt x="34146" y="0"/>
                  <a:pt x="76204"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6" name="Freeform 26"/>
          <p:cNvSpPr/>
          <p:nvPr/>
        </p:nvSpPr>
        <p:spPr>
          <a:xfrm>
            <a:off x="1783686" y="4934887"/>
            <a:ext cx="306567" cy="232173"/>
          </a:xfrm>
          <a:custGeom>
            <a:avLst/>
            <a:gdLst/>
            <a:ahLst/>
            <a:cxnLst/>
            <a:rect l="l" t="t" r="r" b="b"/>
            <a:pathLst>
              <a:path w="306567" h="232173">
                <a:moveTo>
                  <a:pt x="13169" y="108050"/>
                </a:moveTo>
                <a:lnTo>
                  <a:pt x="0" y="147452"/>
                </a:lnTo>
                <a:lnTo>
                  <a:pt x="0" y="35718"/>
                </a:lnTo>
                <a:cubicBezTo>
                  <a:pt x="0" y="16018"/>
                  <a:pt x="16015" y="0"/>
                  <a:pt x="35717" y="0"/>
                </a:cubicBezTo>
                <a:lnTo>
                  <a:pt x="113127" y="0"/>
                </a:lnTo>
                <a:cubicBezTo>
                  <a:pt x="120829" y="0"/>
                  <a:pt x="128364" y="2512"/>
                  <a:pt x="134559" y="7143"/>
                </a:cubicBezTo>
                <a:lnTo>
                  <a:pt x="155989" y="23218"/>
                </a:lnTo>
                <a:cubicBezTo>
                  <a:pt x="159059" y="25562"/>
                  <a:pt x="162854" y="26789"/>
                  <a:pt x="166705" y="26789"/>
                </a:cubicBezTo>
                <a:lnTo>
                  <a:pt x="232169" y="26789"/>
                </a:lnTo>
                <a:cubicBezTo>
                  <a:pt x="251872" y="26789"/>
                  <a:pt x="267890" y="42808"/>
                  <a:pt x="267890" y="62508"/>
                </a:cubicBezTo>
                <a:lnTo>
                  <a:pt x="267890" y="71439"/>
                </a:lnTo>
                <a:lnTo>
                  <a:pt x="63958" y="71439"/>
                </a:lnTo>
                <a:cubicBezTo>
                  <a:pt x="40908" y="71439"/>
                  <a:pt x="20425" y="86172"/>
                  <a:pt x="13114" y="108050"/>
                </a:cubicBezTo>
                <a:close/>
                <a:moveTo>
                  <a:pt x="248579" y="232172"/>
                </a:moveTo>
                <a:lnTo>
                  <a:pt x="37169" y="232172"/>
                </a:lnTo>
                <a:cubicBezTo>
                  <a:pt x="18863" y="232172"/>
                  <a:pt x="5970" y="214258"/>
                  <a:pt x="11775" y="196901"/>
                </a:cubicBezTo>
                <a:lnTo>
                  <a:pt x="38564" y="116532"/>
                </a:lnTo>
                <a:cubicBezTo>
                  <a:pt x="42191" y="105594"/>
                  <a:pt x="52461" y="98227"/>
                  <a:pt x="63958" y="98227"/>
                </a:cubicBezTo>
                <a:lnTo>
                  <a:pt x="275369" y="98227"/>
                </a:lnTo>
                <a:cubicBezTo>
                  <a:pt x="293674" y="98227"/>
                  <a:pt x="306566" y="116143"/>
                  <a:pt x="300762" y="133500"/>
                </a:cubicBezTo>
                <a:lnTo>
                  <a:pt x="273973" y="213866"/>
                </a:lnTo>
                <a:cubicBezTo>
                  <a:pt x="270344" y="224805"/>
                  <a:pt x="260076" y="232172"/>
                  <a:pt x="248579" y="23217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719049" y="5278955"/>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Repository</a:t>
            </a:r>
            <a:endParaRPr lang="en-US" sz="1100"/>
          </a:p>
        </p:txBody>
      </p:sp>
      <p:sp>
        <p:nvSpPr>
          <p:cNvPr id="28" name="AutoShape 28"/>
          <p:cNvSpPr/>
          <p:nvPr/>
        </p:nvSpPr>
        <p:spPr>
          <a:xfrm>
            <a:off x="728574" y="554566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Depot de code</a:t>
            </a:r>
            <a:endParaRPr lang="en-US" sz="1100"/>
          </a:p>
        </p:txBody>
      </p:sp>
      <p:sp>
        <p:nvSpPr>
          <p:cNvPr id="29" name="Freeform 29"/>
          <p:cNvSpPr/>
          <p:nvPr/>
        </p:nvSpPr>
        <p:spPr>
          <a:xfrm>
            <a:off x="3390838" y="4764646"/>
            <a:ext cx="2628900" cy="1123950"/>
          </a:xfrm>
          <a:custGeom>
            <a:avLst/>
            <a:gdLst/>
            <a:ahLst/>
            <a:cxnLst/>
            <a:rect l="l" t="t" r="r" b="b"/>
            <a:pathLst>
              <a:path w="2628900" h="1123950">
                <a:moveTo>
                  <a:pt x="76204" y="0"/>
                </a:moveTo>
                <a:lnTo>
                  <a:pt x="2552696" y="0"/>
                </a:lnTo>
                <a:cubicBezTo>
                  <a:pt x="2594781" y="0"/>
                  <a:pt x="2628900" y="34119"/>
                  <a:pt x="2628900" y="76204"/>
                </a:cubicBezTo>
                <a:lnTo>
                  <a:pt x="2628900" y="1047746"/>
                </a:lnTo>
                <a:cubicBezTo>
                  <a:pt x="2628900" y="1089831"/>
                  <a:pt x="2594781" y="1123950"/>
                  <a:pt x="2552696" y="1123950"/>
                </a:cubicBezTo>
                <a:lnTo>
                  <a:pt x="76204" y="1123950"/>
                </a:lnTo>
                <a:cubicBezTo>
                  <a:pt x="34119" y="1123950"/>
                  <a:pt x="0" y="1089831"/>
                  <a:pt x="0" y="1047746"/>
                </a:cubicBezTo>
                <a:lnTo>
                  <a:pt x="0" y="76204"/>
                </a:lnTo>
                <a:cubicBezTo>
                  <a:pt x="0" y="34146"/>
                  <a:pt x="34146" y="0"/>
                  <a:pt x="76204"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0" name="Freeform 30"/>
          <p:cNvSpPr/>
          <p:nvPr/>
        </p:nvSpPr>
        <p:spPr>
          <a:xfrm>
            <a:off x="4582630" y="4934887"/>
            <a:ext cx="250031" cy="250033"/>
          </a:xfrm>
          <a:custGeom>
            <a:avLst/>
            <a:gdLst/>
            <a:ahLst/>
            <a:cxnLst/>
            <a:rect l="l" t="t" r="r" b="b"/>
            <a:pathLst>
              <a:path w="250031" h="250033">
                <a:moveTo>
                  <a:pt x="35719" y="0"/>
                </a:moveTo>
                <a:cubicBezTo>
                  <a:pt x="16019" y="0"/>
                  <a:pt x="0" y="16018"/>
                  <a:pt x="0" y="35718"/>
                </a:cubicBezTo>
                <a:lnTo>
                  <a:pt x="0" y="214314"/>
                </a:lnTo>
                <a:cubicBezTo>
                  <a:pt x="0" y="234014"/>
                  <a:pt x="16019" y="250032"/>
                  <a:pt x="35719" y="250032"/>
                </a:cubicBezTo>
                <a:lnTo>
                  <a:pt x="214312" y="250032"/>
                </a:lnTo>
                <a:cubicBezTo>
                  <a:pt x="234014" y="250032"/>
                  <a:pt x="250031" y="234014"/>
                  <a:pt x="250031" y="214314"/>
                </a:cubicBezTo>
                <a:lnTo>
                  <a:pt x="250031" y="78860"/>
                </a:lnTo>
                <a:cubicBezTo>
                  <a:pt x="250031" y="69373"/>
                  <a:pt x="246292" y="60276"/>
                  <a:pt x="239594" y="53579"/>
                </a:cubicBezTo>
                <a:lnTo>
                  <a:pt x="196452" y="10437"/>
                </a:lnTo>
                <a:cubicBezTo>
                  <a:pt x="189756" y="3740"/>
                  <a:pt x="180659" y="0"/>
                  <a:pt x="171171" y="0"/>
                </a:cubicBezTo>
                <a:lnTo>
                  <a:pt x="35719" y="0"/>
                </a:lnTo>
                <a:close/>
                <a:moveTo>
                  <a:pt x="53577" y="53579"/>
                </a:moveTo>
                <a:cubicBezTo>
                  <a:pt x="53577" y="43700"/>
                  <a:pt x="61559" y="35718"/>
                  <a:pt x="71438" y="35718"/>
                </a:cubicBezTo>
                <a:lnTo>
                  <a:pt x="160734" y="35718"/>
                </a:lnTo>
                <a:cubicBezTo>
                  <a:pt x="170613" y="35718"/>
                  <a:pt x="178594" y="43700"/>
                  <a:pt x="178594" y="53579"/>
                </a:cubicBezTo>
                <a:lnTo>
                  <a:pt x="178594" y="89297"/>
                </a:lnTo>
                <a:cubicBezTo>
                  <a:pt x="178594" y="99177"/>
                  <a:pt x="170613" y="107157"/>
                  <a:pt x="160734" y="107157"/>
                </a:cubicBezTo>
                <a:lnTo>
                  <a:pt x="71438" y="107157"/>
                </a:lnTo>
                <a:cubicBezTo>
                  <a:pt x="61559" y="107157"/>
                  <a:pt x="53577" y="99177"/>
                  <a:pt x="53577" y="89297"/>
                </a:cubicBezTo>
                <a:lnTo>
                  <a:pt x="53577" y="53579"/>
                </a:lnTo>
                <a:close/>
                <a:moveTo>
                  <a:pt x="125016" y="142875"/>
                </a:moveTo>
                <a:cubicBezTo>
                  <a:pt x="144729" y="142875"/>
                  <a:pt x="160734" y="158881"/>
                  <a:pt x="160734" y="178593"/>
                </a:cubicBezTo>
                <a:cubicBezTo>
                  <a:pt x="160734" y="198308"/>
                  <a:pt x="144729" y="214314"/>
                  <a:pt x="125016" y="214314"/>
                </a:cubicBezTo>
                <a:cubicBezTo>
                  <a:pt x="105302" y="214314"/>
                  <a:pt x="89298" y="198308"/>
                  <a:pt x="89298" y="178593"/>
                </a:cubicBezTo>
                <a:cubicBezTo>
                  <a:pt x="89298" y="158881"/>
                  <a:pt x="105302" y="142875"/>
                  <a:pt x="125016" y="14287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3500358" y="5278955"/>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Commit</a:t>
            </a:r>
            <a:endParaRPr lang="en-US" sz="1100"/>
          </a:p>
        </p:txBody>
      </p:sp>
      <p:sp>
        <p:nvSpPr>
          <p:cNvPr id="32" name="AutoShape 32"/>
          <p:cNvSpPr/>
          <p:nvPr/>
        </p:nvSpPr>
        <p:spPr>
          <a:xfrm>
            <a:off x="3509883" y="554566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Soumission de code</a:t>
            </a:r>
            <a:endParaRPr lang="en-US" sz="1100"/>
          </a:p>
        </p:txBody>
      </p:sp>
      <p:sp>
        <p:nvSpPr>
          <p:cNvPr id="33" name="Freeform 33"/>
          <p:cNvSpPr/>
          <p:nvPr/>
        </p:nvSpPr>
        <p:spPr>
          <a:xfrm>
            <a:off x="6172147" y="4764646"/>
            <a:ext cx="2628900" cy="1123950"/>
          </a:xfrm>
          <a:custGeom>
            <a:avLst/>
            <a:gdLst/>
            <a:ahLst/>
            <a:cxnLst/>
            <a:rect l="l" t="t" r="r" b="b"/>
            <a:pathLst>
              <a:path w="2628900" h="1123950">
                <a:moveTo>
                  <a:pt x="76204" y="0"/>
                </a:moveTo>
                <a:lnTo>
                  <a:pt x="2552696" y="0"/>
                </a:lnTo>
                <a:cubicBezTo>
                  <a:pt x="2594781" y="0"/>
                  <a:pt x="2628900" y="34119"/>
                  <a:pt x="2628900" y="76204"/>
                </a:cubicBezTo>
                <a:lnTo>
                  <a:pt x="2628900" y="1047746"/>
                </a:lnTo>
                <a:cubicBezTo>
                  <a:pt x="2628900" y="1089831"/>
                  <a:pt x="2594781" y="1123950"/>
                  <a:pt x="2552696" y="1123950"/>
                </a:cubicBezTo>
                <a:lnTo>
                  <a:pt x="76204" y="1123950"/>
                </a:lnTo>
                <a:cubicBezTo>
                  <a:pt x="34119" y="1123950"/>
                  <a:pt x="0" y="1089831"/>
                  <a:pt x="0" y="1047746"/>
                </a:cubicBezTo>
                <a:lnTo>
                  <a:pt x="0" y="76204"/>
                </a:lnTo>
                <a:cubicBezTo>
                  <a:pt x="0" y="34146"/>
                  <a:pt x="34146" y="0"/>
                  <a:pt x="76204"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4" name="Freeform 34"/>
          <p:cNvSpPr/>
          <p:nvPr/>
        </p:nvSpPr>
        <p:spPr>
          <a:xfrm>
            <a:off x="7328220" y="4917028"/>
            <a:ext cx="321469" cy="284745"/>
          </a:xfrm>
          <a:custGeom>
            <a:avLst/>
            <a:gdLst/>
            <a:ahLst/>
            <a:cxnLst/>
            <a:rect l="l" t="t" r="r" b="b"/>
            <a:pathLst>
              <a:path w="321469" h="284745">
                <a:moveTo>
                  <a:pt x="107156" y="53577"/>
                </a:moveTo>
                <a:cubicBezTo>
                  <a:pt x="107156" y="23999"/>
                  <a:pt x="131155" y="0"/>
                  <a:pt x="160734" y="0"/>
                </a:cubicBezTo>
                <a:cubicBezTo>
                  <a:pt x="190315" y="0"/>
                  <a:pt x="214313" y="23999"/>
                  <a:pt x="214313" y="53577"/>
                </a:cubicBezTo>
                <a:lnTo>
                  <a:pt x="214313" y="55587"/>
                </a:lnTo>
                <a:cubicBezTo>
                  <a:pt x="214313" y="64350"/>
                  <a:pt x="207225" y="71438"/>
                  <a:pt x="198462" y="71438"/>
                </a:cubicBezTo>
                <a:lnTo>
                  <a:pt x="123062" y="71438"/>
                </a:lnTo>
                <a:cubicBezTo>
                  <a:pt x="114300" y="71438"/>
                  <a:pt x="107212" y="64350"/>
                  <a:pt x="107212" y="55587"/>
                </a:cubicBezTo>
                <a:lnTo>
                  <a:pt x="107212" y="53577"/>
                </a:lnTo>
                <a:close/>
                <a:moveTo>
                  <a:pt x="300038" y="60723"/>
                </a:moveTo>
                <a:cubicBezTo>
                  <a:pt x="305953" y="68591"/>
                  <a:pt x="304335" y="79809"/>
                  <a:pt x="296466" y="85725"/>
                </a:cubicBezTo>
                <a:lnTo>
                  <a:pt x="241883" y="126634"/>
                </a:lnTo>
                <a:cubicBezTo>
                  <a:pt x="244841" y="131601"/>
                  <a:pt x="247073" y="137071"/>
                  <a:pt x="248469" y="142875"/>
                </a:cubicBezTo>
                <a:lnTo>
                  <a:pt x="303609" y="142875"/>
                </a:lnTo>
                <a:cubicBezTo>
                  <a:pt x="313488" y="142875"/>
                  <a:pt x="321469" y="150856"/>
                  <a:pt x="321469" y="160734"/>
                </a:cubicBezTo>
                <a:cubicBezTo>
                  <a:pt x="321469" y="170613"/>
                  <a:pt x="313488" y="178594"/>
                  <a:pt x="303609" y="178594"/>
                </a:cubicBezTo>
                <a:lnTo>
                  <a:pt x="250031" y="178594"/>
                </a:lnTo>
                <a:lnTo>
                  <a:pt x="250031" y="196452"/>
                </a:lnTo>
                <a:cubicBezTo>
                  <a:pt x="250031" y="197904"/>
                  <a:pt x="249975" y="199412"/>
                  <a:pt x="249919" y="200862"/>
                </a:cubicBezTo>
                <a:lnTo>
                  <a:pt x="296466" y="235744"/>
                </a:lnTo>
                <a:cubicBezTo>
                  <a:pt x="304335" y="241659"/>
                  <a:pt x="305953" y="252879"/>
                  <a:pt x="300038" y="260748"/>
                </a:cubicBezTo>
                <a:cubicBezTo>
                  <a:pt x="294122" y="268616"/>
                  <a:pt x="282904" y="270234"/>
                  <a:pt x="275034" y="264319"/>
                </a:cubicBezTo>
                <a:lnTo>
                  <a:pt x="239818" y="237921"/>
                </a:lnTo>
                <a:cubicBezTo>
                  <a:pt x="226870" y="262589"/>
                  <a:pt x="202703" y="280448"/>
                  <a:pt x="174128" y="284745"/>
                </a:cubicBezTo>
                <a:lnTo>
                  <a:pt x="174128" y="156270"/>
                </a:lnTo>
                <a:cubicBezTo>
                  <a:pt x="174128" y="148847"/>
                  <a:pt x="168157" y="142875"/>
                  <a:pt x="160734" y="142875"/>
                </a:cubicBezTo>
                <a:cubicBezTo>
                  <a:pt x="153312" y="142875"/>
                  <a:pt x="147340" y="148847"/>
                  <a:pt x="147340" y="156270"/>
                </a:cubicBezTo>
                <a:lnTo>
                  <a:pt x="147340" y="284745"/>
                </a:lnTo>
                <a:cubicBezTo>
                  <a:pt x="118765" y="280448"/>
                  <a:pt x="94598" y="262589"/>
                  <a:pt x="81651" y="237921"/>
                </a:cubicBezTo>
                <a:lnTo>
                  <a:pt x="46434" y="264319"/>
                </a:lnTo>
                <a:cubicBezTo>
                  <a:pt x="38565" y="270234"/>
                  <a:pt x="27347" y="268616"/>
                  <a:pt x="21431" y="260748"/>
                </a:cubicBezTo>
                <a:cubicBezTo>
                  <a:pt x="15516" y="252879"/>
                  <a:pt x="17134" y="241659"/>
                  <a:pt x="25002" y="235744"/>
                </a:cubicBezTo>
                <a:lnTo>
                  <a:pt x="71549" y="200862"/>
                </a:lnTo>
                <a:cubicBezTo>
                  <a:pt x="71493" y="199412"/>
                  <a:pt x="71438" y="197960"/>
                  <a:pt x="71438" y="196452"/>
                </a:cubicBezTo>
                <a:lnTo>
                  <a:pt x="71438" y="178594"/>
                </a:lnTo>
                <a:lnTo>
                  <a:pt x="17859" y="178594"/>
                </a:lnTo>
                <a:cubicBezTo>
                  <a:pt x="7981" y="178594"/>
                  <a:pt x="0" y="170613"/>
                  <a:pt x="0" y="160734"/>
                </a:cubicBezTo>
                <a:cubicBezTo>
                  <a:pt x="0" y="150856"/>
                  <a:pt x="7981" y="142875"/>
                  <a:pt x="17859" y="142875"/>
                </a:cubicBezTo>
                <a:lnTo>
                  <a:pt x="73000" y="142875"/>
                </a:lnTo>
                <a:cubicBezTo>
                  <a:pt x="74395" y="137071"/>
                  <a:pt x="76628" y="131601"/>
                  <a:pt x="79586" y="126634"/>
                </a:cubicBezTo>
                <a:lnTo>
                  <a:pt x="25002" y="85725"/>
                </a:lnTo>
                <a:cubicBezTo>
                  <a:pt x="17134" y="79809"/>
                  <a:pt x="15516" y="68591"/>
                  <a:pt x="21431" y="60723"/>
                </a:cubicBezTo>
                <a:cubicBezTo>
                  <a:pt x="27347" y="52854"/>
                  <a:pt x="38565" y="51234"/>
                  <a:pt x="46434" y="57150"/>
                </a:cubicBezTo>
                <a:lnTo>
                  <a:pt x="107156" y="102691"/>
                </a:lnTo>
                <a:cubicBezTo>
                  <a:pt x="114021" y="99845"/>
                  <a:pt x="121556" y="98227"/>
                  <a:pt x="129480" y="98227"/>
                </a:cubicBezTo>
                <a:lnTo>
                  <a:pt x="191988" y="98227"/>
                </a:lnTo>
                <a:cubicBezTo>
                  <a:pt x="199913" y="98227"/>
                  <a:pt x="207448" y="99789"/>
                  <a:pt x="214313" y="102691"/>
                </a:cubicBezTo>
                <a:lnTo>
                  <a:pt x="275034" y="57150"/>
                </a:lnTo>
                <a:cubicBezTo>
                  <a:pt x="282904" y="51234"/>
                  <a:pt x="294122" y="52854"/>
                  <a:pt x="300038" y="6072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281667" y="5278955"/>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Issue</a:t>
            </a:r>
            <a:endParaRPr lang="en-US" sz="1100"/>
          </a:p>
        </p:txBody>
      </p:sp>
      <p:sp>
        <p:nvSpPr>
          <p:cNvPr id="36" name="AutoShape 36"/>
          <p:cNvSpPr/>
          <p:nvPr/>
        </p:nvSpPr>
        <p:spPr>
          <a:xfrm>
            <a:off x="6291192" y="554566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Suivi des problemes</a:t>
            </a:r>
            <a:endParaRPr lang="en-US" sz="1100"/>
          </a:p>
        </p:txBody>
      </p:sp>
      <p:sp>
        <p:nvSpPr>
          <p:cNvPr id="37" name="Freeform 37"/>
          <p:cNvSpPr/>
          <p:nvPr/>
        </p:nvSpPr>
        <p:spPr>
          <a:xfrm>
            <a:off x="8953455" y="4764646"/>
            <a:ext cx="2628900" cy="1123950"/>
          </a:xfrm>
          <a:custGeom>
            <a:avLst/>
            <a:gdLst/>
            <a:ahLst/>
            <a:cxnLst/>
            <a:rect l="l" t="t" r="r" b="b"/>
            <a:pathLst>
              <a:path w="2628900" h="1123950">
                <a:moveTo>
                  <a:pt x="76204" y="0"/>
                </a:moveTo>
                <a:lnTo>
                  <a:pt x="2552696" y="0"/>
                </a:lnTo>
                <a:cubicBezTo>
                  <a:pt x="2594781" y="0"/>
                  <a:pt x="2628900" y="34119"/>
                  <a:pt x="2628900" y="76204"/>
                </a:cubicBezTo>
                <a:lnTo>
                  <a:pt x="2628900" y="1047746"/>
                </a:lnTo>
                <a:cubicBezTo>
                  <a:pt x="2628900" y="1089831"/>
                  <a:pt x="2594781" y="1123950"/>
                  <a:pt x="2552696" y="1123950"/>
                </a:cubicBezTo>
                <a:lnTo>
                  <a:pt x="76204" y="1123950"/>
                </a:lnTo>
                <a:cubicBezTo>
                  <a:pt x="34119" y="1123950"/>
                  <a:pt x="0" y="1089831"/>
                  <a:pt x="0" y="1047746"/>
                </a:cubicBezTo>
                <a:lnTo>
                  <a:pt x="0" y="76204"/>
                </a:lnTo>
                <a:cubicBezTo>
                  <a:pt x="0" y="34146"/>
                  <a:pt x="34146" y="0"/>
                  <a:pt x="76204"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8" name="Freeform 38"/>
          <p:cNvSpPr/>
          <p:nvPr/>
        </p:nvSpPr>
        <p:spPr>
          <a:xfrm>
            <a:off x="10145321" y="4917028"/>
            <a:ext cx="250031" cy="285750"/>
          </a:xfrm>
          <a:custGeom>
            <a:avLst/>
            <a:gdLst/>
            <a:ahLst/>
            <a:cxnLst/>
            <a:rect l="l" t="t" r="r" b="b"/>
            <a:pathLst>
              <a:path w="250031" h="285750">
                <a:moveTo>
                  <a:pt x="44648" y="58043"/>
                </a:moveTo>
                <a:cubicBezTo>
                  <a:pt x="52041" y="58043"/>
                  <a:pt x="58043" y="52041"/>
                  <a:pt x="58043" y="44648"/>
                </a:cubicBezTo>
                <a:cubicBezTo>
                  <a:pt x="58043" y="37255"/>
                  <a:pt x="52041" y="31253"/>
                  <a:pt x="44648" y="31253"/>
                </a:cubicBezTo>
                <a:cubicBezTo>
                  <a:pt x="37255" y="31253"/>
                  <a:pt x="31253" y="37255"/>
                  <a:pt x="31253" y="44648"/>
                </a:cubicBezTo>
                <a:cubicBezTo>
                  <a:pt x="31253" y="52041"/>
                  <a:pt x="37255" y="58043"/>
                  <a:pt x="44648" y="58043"/>
                </a:cubicBezTo>
                <a:close/>
                <a:moveTo>
                  <a:pt x="89298" y="44648"/>
                </a:moveTo>
                <a:cubicBezTo>
                  <a:pt x="89298" y="62954"/>
                  <a:pt x="78302" y="78693"/>
                  <a:pt x="62508" y="85559"/>
                </a:cubicBezTo>
                <a:lnTo>
                  <a:pt x="62508" y="125016"/>
                </a:lnTo>
                <a:lnTo>
                  <a:pt x="160734" y="125016"/>
                </a:lnTo>
                <a:cubicBezTo>
                  <a:pt x="175524" y="125016"/>
                  <a:pt x="187523" y="113016"/>
                  <a:pt x="187523" y="98227"/>
                </a:cubicBezTo>
                <a:lnTo>
                  <a:pt x="187523" y="85559"/>
                </a:lnTo>
                <a:cubicBezTo>
                  <a:pt x="171729" y="78693"/>
                  <a:pt x="160734" y="62954"/>
                  <a:pt x="160734" y="44648"/>
                </a:cubicBezTo>
                <a:cubicBezTo>
                  <a:pt x="160734" y="19980"/>
                  <a:pt x="180715" y="0"/>
                  <a:pt x="205383" y="0"/>
                </a:cubicBezTo>
                <a:cubicBezTo>
                  <a:pt x="230052" y="0"/>
                  <a:pt x="250031" y="19980"/>
                  <a:pt x="250031" y="44648"/>
                </a:cubicBezTo>
                <a:cubicBezTo>
                  <a:pt x="250031" y="62954"/>
                  <a:pt x="239037" y="78693"/>
                  <a:pt x="223242" y="85559"/>
                </a:cubicBezTo>
                <a:lnTo>
                  <a:pt x="223242" y="98227"/>
                </a:lnTo>
                <a:cubicBezTo>
                  <a:pt x="223242" y="132773"/>
                  <a:pt x="195282" y="160734"/>
                  <a:pt x="160734" y="160734"/>
                </a:cubicBezTo>
                <a:lnTo>
                  <a:pt x="62508" y="160734"/>
                </a:lnTo>
                <a:lnTo>
                  <a:pt x="62508" y="200191"/>
                </a:lnTo>
                <a:cubicBezTo>
                  <a:pt x="78302" y="207057"/>
                  <a:pt x="89298" y="222796"/>
                  <a:pt x="89298" y="241102"/>
                </a:cubicBezTo>
                <a:cubicBezTo>
                  <a:pt x="89298" y="265770"/>
                  <a:pt x="69317" y="285750"/>
                  <a:pt x="44648" y="285750"/>
                </a:cubicBezTo>
                <a:cubicBezTo>
                  <a:pt x="19980" y="285750"/>
                  <a:pt x="0" y="265770"/>
                  <a:pt x="0" y="241102"/>
                </a:cubicBezTo>
                <a:cubicBezTo>
                  <a:pt x="0" y="222796"/>
                  <a:pt x="10994" y="207057"/>
                  <a:pt x="26789" y="200191"/>
                </a:cubicBezTo>
                <a:lnTo>
                  <a:pt x="26789" y="85613"/>
                </a:lnTo>
                <a:cubicBezTo>
                  <a:pt x="10994" y="78693"/>
                  <a:pt x="0" y="62954"/>
                  <a:pt x="0" y="44648"/>
                </a:cubicBezTo>
                <a:cubicBezTo>
                  <a:pt x="0" y="19980"/>
                  <a:pt x="19980" y="0"/>
                  <a:pt x="44648" y="0"/>
                </a:cubicBezTo>
                <a:cubicBezTo>
                  <a:pt x="69317" y="0"/>
                  <a:pt x="89298" y="19980"/>
                  <a:pt x="89298" y="44648"/>
                </a:cubicBezTo>
                <a:close/>
                <a:moveTo>
                  <a:pt x="218777" y="44648"/>
                </a:moveTo>
                <a:cubicBezTo>
                  <a:pt x="218777" y="37255"/>
                  <a:pt x="212775" y="31253"/>
                  <a:pt x="205383" y="31253"/>
                </a:cubicBezTo>
                <a:cubicBezTo>
                  <a:pt x="197990" y="31253"/>
                  <a:pt x="191988" y="37255"/>
                  <a:pt x="191988" y="44648"/>
                </a:cubicBezTo>
                <a:cubicBezTo>
                  <a:pt x="191988" y="52041"/>
                  <a:pt x="197990" y="58043"/>
                  <a:pt x="205383" y="58043"/>
                </a:cubicBezTo>
                <a:cubicBezTo>
                  <a:pt x="212775" y="58043"/>
                  <a:pt x="218777" y="52041"/>
                  <a:pt x="218777" y="44648"/>
                </a:cubicBezTo>
                <a:close/>
                <a:moveTo>
                  <a:pt x="44648" y="254497"/>
                </a:moveTo>
                <a:cubicBezTo>
                  <a:pt x="52041" y="254497"/>
                  <a:pt x="58043" y="248495"/>
                  <a:pt x="58043" y="241102"/>
                </a:cubicBezTo>
                <a:cubicBezTo>
                  <a:pt x="58043" y="233709"/>
                  <a:pt x="52041" y="227707"/>
                  <a:pt x="44648" y="227707"/>
                </a:cubicBezTo>
                <a:cubicBezTo>
                  <a:pt x="37255" y="227707"/>
                  <a:pt x="31253" y="233709"/>
                  <a:pt x="31253" y="241102"/>
                </a:cubicBezTo>
                <a:cubicBezTo>
                  <a:pt x="31253" y="248495"/>
                  <a:pt x="37255" y="254497"/>
                  <a:pt x="44648" y="25449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9062975" y="5278955"/>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Pull Request</a:t>
            </a:r>
            <a:endParaRPr lang="en-US" sz="1100"/>
          </a:p>
        </p:txBody>
      </p:sp>
      <p:sp>
        <p:nvSpPr>
          <p:cNvPr id="40" name="AutoShape 40"/>
          <p:cNvSpPr/>
          <p:nvPr/>
        </p:nvSpPr>
        <p:spPr>
          <a:xfrm>
            <a:off x="9072500" y="554566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Demande de fusion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42645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Qu'est-ce qu'une Pull Request (PR)</a:t>
            </a:r>
            <a:endParaRPr lang="en-US" sz="3200"/>
          </a:p>
        </p:txBody>
      </p:sp>
      <p:sp>
        <p:nvSpPr>
          <p:cNvPr id="3" name="AutoShape 3"/>
          <p:cNvSpPr/>
          <p:nvPr/>
        </p:nvSpPr>
        <p:spPr>
          <a:xfrm>
            <a:off x="380956" y="1640886"/>
            <a:ext cx="69342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Role de la PR</a:t>
            </a:r>
            <a:endParaRPr lang="en-US" sz="1100"/>
          </a:p>
        </p:txBody>
      </p:sp>
      <p:sp>
        <p:nvSpPr>
          <p:cNvPr id="4" name="Freeform 4"/>
          <p:cNvSpPr/>
          <p:nvPr/>
        </p:nvSpPr>
        <p:spPr>
          <a:xfrm>
            <a:off x="380956" y="2059974"/>
            <a:ext cx="6838950" cy="495300"/>
          </a:xfrm>
          <a:custGeom>
            <a:avLst/>
            <a:gdLst/>
            <a:ahLst/>
            <a:cxnLst/>
            <a:rect l="l" t="t" r="r" b="b"/>
            <a:pathLst>
              <a:path w="6838950" h="495300">
                <a:moveTo>
                  <a:pt x="76203" y="0"/>
                </a:moveTo>
                <a:lnTo>
                  <a:pt x="6762747" y="0"/>
                </a:lnTo>
                <a:cubicBezTo>
                  <a:pt x="6804833" y="0"/>
                  <a:pt x="6838950" y="34117"/>
                  <a:pt x="6838950" y="76203"/>
                </a:cubicBezTo>
                <a:lnTo>
                  <a:pt x="6838950" y="419097"/>
                </a:lnTo>
                <a:cubicBezTo>
                  <a:pt x="6838950" y="461183"/>
                  <a:pt x="6804833" y="495300"/>
                  <a:pt x="676274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30924" y="2211128"/>
            <a:ext cx="166688" cy="179747"/>
          </a:xfrm>
          <a:custGeom>
            <a:avLst/>
            <a:gdLst/>
            <a:ahLst/>
            <a:cxnLst/>
            <a:rect l="l" t="t" r="r" b="b"/>
            <a:pathLst>
              <a:path w="166688" h="179747">
                <a:moveTo>
                  <a:pt x="95250" y="41820"/>
                </a:moveTo>
                <a:lnTo>
                  <a:pt x="95250" y="120216"/>
                </a:lnTo>
                <a:cubicBezTo>
                  <a:pt x="95250" y="126800"/>
                  <a:pt x="89929" y="132122"/>
                  <a:pt x="83344" y="132122"/>
                </a:cubicBezTo>
                <a:cubicBezTo>
                  <a:pt x="76758" y="132122"/>
                  <a:pt x="71438" y="126800"/>
                  <a:pt x="71438" y="120216"/>
                </a:cubicBezTo>
                <a:lnTo>
                  <a:pt x="71438" y="41820"/>
                </a:lnTo>
                <a:lnTo>
                  <a:pt x="56034" y="57224"/>
                </a:lnTo>
                <a:cubicBezTo>
                  <a:pt x="51383" y="61876"/>
                  <a:pt x="43830" y="61876"/>
                  <a:pt x="39180" y="57224"/>
                </a:cubicBezTo>
                <a:cubicBezTo>
                  <a:pt x="34527" y="52573"/>
                  <a:pt x="34527" y="45020"/>
                  <a:pt x="39180" y="40369"/>
                </a:cubicBezTo>
                <a:lnTo>
                  <a:pt x="74898" y="4651"/>
                </a:lnTo>
                <a:cubicBezTo>
                  <a:pt x="79549" y="0"/>
                  <a:pt x="87102" y="0"/>
                  <a:pt x="91752" y="4651"/>
                </a:cubicBezTo>
                <a:lnTo>
                  <a:pt x="127471" y="40369"/>
                </a:lnTo>
                <a:cubicBezTo>
                  <a:pt x="132122" y="45020"/>
                  <a:pt x="132122" y="52573"/>
                  <a:pt x="127471" y="57224"/>
                </a:cubicBezTo>
                <a:cubicBezTo>
                  <a:pt x="122820" y="61876"/>
                  <a:pt x="115266" y="61876"/>
                  <a:pt x="110617" y="57224"/>
                </a:cubicBezTo>
                <a:lnTo>
                  <a:pt x="95250" y="41820"/>
                </a:lnTo>
                <a:close/>
                <a:moveTo>
                  <a:pt x="83344" y="149980"/>
                </a:moveTo>
                <a:cubicBezTo>
                  <a:pt x="99789" y="149980"/>
                  <a:pt x="113109" y="136661"/>
                  <a:pt x="113109" y="120216"/>
                </a:cubicBezTo>
                <a:lnTo>
                  <a:pt x="142875" y="120216"/>
                </a:lnTo>
                <a:cubicBezTo>
                  <a:pt x="156009" y="120216"/>
                  <a:pt x="166688" y="130894"/>
                  <a:pt x="166688" y="144028"/>
                </a:cubicBezTo>
                <a:lnTo>
                  <a:pt x="166688" y="155934"/>
                </a:lnTo>
                <a:cubicBezTo>
                  <a:pt x="166688" y="169069"/>
                  <a:pt x="156009" y="179747"/>
                  <a:pt x="142875" y="179747"/>
                </a:cubicBezTo>
                <a:lnTo>
                  <a:pt x="23812" y="179747"/>
                </a:lnTo>
                <a:cubicBezTo>
                  <a:pt x="10678" y="179747"/>
                  <a:pt x="0" y="169069"/>
                  <a:pt x="0" y="155934"/>
                </a:cubicBezTo>
                <a:lnTo>
                  <a:pt x="0" y="144028"/>
                </a:lnTo>
                <a:cubicBezTo>
                  <a:pt x="0" y="130894"/>
                  <a:pt x="10678" y="120216"/>
                  <a:pt x="23812" y="120216"/>
                </a:cubicBezTo>
                <a:lnTo>
                  <a:pt x="53577" y="120216"/>
                </a:lnTo>
                <a:cubicBezTo>
                  <a:pt x="53577" y="136661"/>
                  <a:pt x="66899" y="149980"/>
                  <a:pt x="83344" y="149980"/>
                </a:cubicBezTo>
                <a:close/>
                <a:moveTo>
                  <a:pt x="136923" y="158911"/>
                </a:moveTo>
                <a:cubicBezTo>
                  <a:pt x="141850" y="158911"/>
                  <a:pt x="145852" y="154911"/>
                  <a:pt x="145852" y="149980"/>
                </a:cubicBezTo>
                <a:cubicBezTo>
                  <a:pt x="145852" y="145053"/>
                  <a:pt x="141850" y="141051"/>
                  <a:pt x="136923" y="141051"/>
                </a:cubicBezTo>
                <a:cubicBezTo>
                  <a:pt x="131992" y="141051"/>
                  <a:pt x="127992" y="145053"/>
                  <a:pt x="127992" y="149980"/>
                </a:cubicBezTo>
                <a:cubicBezTo>
                  <a:pt x="127992" y="154911"/>
                  <a:pt x="131992" y="158911"/>
                  <a:pt x="136923" y="15891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847725" y="2174240"/>
            <a:ext cx="608393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Soumettre des modifications de code</a:t>
            </a:r>
            <a:endParaRPr lang="en-US" sz="1100"/>
          </a:p>
        </p:txBody>
      </p:sp>
      <p:sp>
        <p:nvSpPr>
          <p:cNvPr id="7" name="Freeform 7"/>
          <p:cNvSpPr/>
          <p:nvPr/>
        </p:nvSpPr>
        <p:spPr>
          <a:xfrm>
            <a:off x="380956" y="2669428"/>
            <a:ext cx="6838950" cy="495300"/>
          </a:xfrm>
          <a:custGeom>
            <a:avLst/>
            <a:gdLst/>
            <a:ahLst/>
            <a:cxnLst/>
            <a:rect l="l" t="t" r="r" b="b"/>
            <a:pathLst>
              <a:path w="6838950" h="495300">
                <a:moveTo>
                  <a:pt x="76203" y="0"/>
                </a:moveTo>
                <a:lnTo>
                  <a:pt x="6762747" y="0"/>
                </a:lnTo>
                <a:cubicBezTo>
                  <a:pt x="6804833" y="0"/>
                  <a:pt x="6838950" y="34117"/>
                  <a:pt x="6838950" y="76203"/>
                </a:cubicBezTo>
                <a:lnTo>
                  <a:pt x="6838950" y="419097"/>
                </a:lnTo>
                <a:cubicBezTo>
                  <a:pt x="6838950" y="461183"/>
                  <a:pt x="6804833" y="495300"/>
                  <a:pt x="676274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07111" y="2833643"/>
            <a:ext cx="214312" cy="166724"/>
          </a:xfrm>
          <a:custGeom>
            <a:avLst/>
            <a:gdLst/>
            <a:ahLst/>
            <a:cxnLst/>
            <a:rect l="l" t="t" r="r" b="b"/>
            <a:pathLst>
              <a:path w="214312" h="166724">
                <a:moveTo>
                  <a:pt x="100051" y="19794"/>
                </a:moveTo>
                <a:lnTo>
                  <a:pt x="56666" y="68015"/>
                </a:lnTo>
                <a:cubicBezTo>
                  <a:pt x="54955" y="69912"/>
                  <a:pt x="55029" y="72853"/>
                  <a:pt x="56852" y="74675"/>
                </a:cubicBezTo>
                <a:cubicBezTo>
                  <a:pt x="68200" y="86022"/>
                  <a:pt x="86618" y="86022"/>
                  <a:pt x="97967" y="74675"/>
                </a:cubicBezTo>
                <a:lnTo>
                  <a:pt x="109798" y="62842"/>
                </a:lnTo>
                <a:cubicBezTo>
                  <a:pt x="111361" y="61280"/>
                  <a:pt x="113334" y="60424"/>
                  <a:pt x="115341" y="60276"/>
                </a:cubicBezTo>
                <a:cubicBezTo>
                  <a:pt x="117873" y="60052"/>
                  <a:pt x="120476" y="60908"/>
                  <a:pt x="122411" y="62842"/>
                </a:cubicBezTo>
                <a:lnTo>
                  <a:pt x="188119" y="127992"/>
                </a:lnTo>
                <a:lnTo>
                  <a:pt x="214313" y="107157"/>
                </a:lnTo>
                <a:lnTo>
                  <a:pt x="214313" y="0"/>
                </a:lnTo>
                <a:lnTo>
                  <a:pt x="172641" y="23813"/>
                </a:lnTo>
                <a:lnTo>
                  <a:pt x="163786" y="17897"/>
                </a:lnTo>
                <a:cubicBezTo>
                  <a:pt x="157907" y="13991"/>
                  <a:pt x="151023" y="11907"/>
                  <a:pt x="143955" y="11907"/>
                </a:cubicBezTo>
                <a:lnTo>
                  <a:pt x="117759" y="11907"/>
                </a:lnTo>
                <a:cubicBezTo>
                  <a:pt x="117351" y="11907"/>
                  <a:pt x="116903" y="11907"/>
                  <a:pt x="116495" y="11945"/>
                </a:cubicBezTo>
                <a:cubicBezTo>
                  <a:pt x="110207" y="12279"/>
                  <a:pt x="104291" y="15106"/>
                  <a:pt x="100051" y="19794"/>
                </a:cubicBezTo>
                <a:close/>
                <a:moveTo>
                  <a:pt x="43383" y="56071"/>
                </a:moveTo>
                <a:lnTo>
                  <a:pt x="83121" y="11907"/>
                </a:lnTo>
                <a:lnTo>
                  <a:pt x="68387" y="11907"/>
                </a:lnTo>
                <a:cubicBezTo>
                  <a:pt x="58899" y="11907"/>
                  <a:pt x="49820" y="15664"/>
                  <a:pt x="43123" y="22362"/>
                </a:cubicBezTo>
                <a:lnTo>
                  <a:pt x="41673" y="23813"/>
                </a:lnTo>
                <a:lnTo>
                  <a:pt x="0" y="0"/>
                </a:lnTo>
                <a:lnTo>
                  <a:pt x="0" y="107157"/>
                </a:lnTo>
                <a:lnTo>
                  <a:pt x="58191" y="155637"/>
                </a:lnTo>
                <a:cubicBezTo>
                  <a:pt x="66749" y="162781"/>
                  <a:pt x="77539" y="166688"/>
                  <a:pt x="88664" y="166688"/>
                </a:cubicBezTo>
                <a:lnTo>
                  <a:pt x="94506" y="166688"/>
                </a:lnTo>
                <a:lnTo>
                  <a:pt x="91901" y="164083"/>
                </a:lnTo>
                <a:cubicBezTo>
                  <a:pt x="88403" y="160585"/>
                  <a:pt x="88403" y="154930"/>
                  <a:pt x="91901" y="151471"/>
                </a:cubicBezTo>
                <a:cubicBezTo>
                  <a:pt x="95399" y="148010"/>
                  <a:pt x="101054" y="147973"/>
                  <a:pt x="104515" y="151471"/>
                </a:cubicBezTo>
                <a:lnTo>
                  <a:pt x="119769" y="166725"/>
                </a:lnTo>
                <a:lnTo>
                  <a:pt x="123118" y="166725"/>
                </a:lnTo>
                <a:cubicBezTo>
                  <a:pt x="130225" y="166725"/>
                  <a:pt x="137182" y="165124"/>
                  <a:pt x="143507" y="162147"/>
                </a:cubicBezTo>
                <a:lnTo>
                  <a:pt x="133574" y="152177"/>
                </a:lnTo>
                <a:cubicBezTo>
                  <a:pt x="130076" y="148680"/>
                  <a:pt x="130076" y="143024"/>
                  <a:pt x="133574" y="139564"/>
                </a:cubicBezTo>
                <a:cubicBezTo>
                  <a:pt x="137071" y="136104"/>
                  <a:pt x="142726" y="136066"/>
                  <a:pt x="146186" y="139564"/>
                </a:cubicBezTo>
                <a:lnTo>
                  <a:pt x="158093" y="151471"/>
                </a:lnTo>
                <a:lnTo>
                  <a:pt x="164603" y="144959"/>
                </a:lnTo>
                <a:cubicBezTo>
                  <a:pt x="167916" y="141647"/>
                  <a:pt x="168883" y="136848"/>
                  <a:pt x="167432" y="132643"/>
                </a:cubicBezTo>
                <a:lnTo>
                  <a:pt x="116122" y="81744"/>
                </a:lnTo>
                <a:lnTo>
                  <a:pt x="110579" y="87289"/>
                </a:lnTo>
                <a:cubicBezTo>
                  <a:pt x="92236" y="105631"/>
                  <a:pt x="62545" y="105631"/>
                  <a:pt x="44202" y="87289"/>
                </a:cubicBezTo>
                <a:cubicBezTo>
                  <a:pt x="35644" y="78730"/>
                  <a:pt x="35309" y="65001"/>
                  <a:pt x="43383" y="5603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847725" y="2783840"/>
            <a:ext cx="618553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Demander aux maintainers du projet de fusionner le code</a:t>
            </a:r>
            <a:endParaRPr lang="en-US" sz="1100"/>
          </a:p>
        </p:txBody>
      </p:sp>
      <p:sp>
        <p:nvSpPr>
          <p:cNvPr id="10" name="Freeform 10"/>
          <p:cNvSpPr/>
          <p:nvPr/>
        </p:nvSpPr>
        <p:spPr>
          <a:xfrm>
            <a:off x="380956" y="3278884"/>
            <a:ext cx="6838950" cy="495300"/>
          </a:xfrm>
          <a:custGeom>
            <a:avLst/>
            <a:gdLst/>
            <a:ahLst/>
            <a:cxnLst/>
            <a:rect l="l" t="t" r="r" b="b"/>
            <a:pathLst>
              <a:path w="6838950" h="495300">
                <a:moveTo>
                  <a:pt x="76203" y="0"/>
                </a:moveTo>
                <a:lnTo>
                  <a:pt x="6762747" y="0"/>
                </a:lnTo>
                <a:cubicBezTo>
                  <a:pt x="6804833" y="0"/>
                  <a:pt x="6838950" y="34117"/>
                  <a:pt x="6838950" y="76203"/>
                </a:cubicBezTo>
                <a:lnTo>
                  <a:pt x="6838950" y="419097"/>
                </a:lnTo>
                <a:cubicBezTo>
                  <a:pt x="6838950" y="461183"/>
                  <a:pt x="6804833" y="495300"/>
                  <a:pt x="676274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06776" y="3443099"/>
            <a:ext cx="214982" cy="166688"/>
          </a:xfrm>
          <a:custGeom>
            <a:avLst/>
            <a:gdLst/>
            <a:ahLst/>
            <a:cxnLst/>
            <a:rect l="l" t="t" r="r" b="b"/>
            <a:pathLst>
              <a:path w="214982" h="166688">
                <a:moveTo>
                  <a:pt x="107491" y="0"/>
                </a:moveTo>
                <a:cubicBezTo>
                  <a:pt x="77428" y="0"/>
                  <a:pt x="53355" y="13692"/>
                  <a:pt x="35832" y="29989"/>
                </a:cubicBezTo>
                <a:cubicBezTo>
                  <a:pt x="18419" y="46174"/>
                  <a:pt x="6773" y="65485"/>
                  <a:pt x="1228" y="78768"/>
                </a:cubicBezTo>
                <a:cubicBezTo>
                  <a:pt x="0" y="81707"/>
                  <a:pt x="0" y="84981"/>
                  <a:pt x="1228" y="87920"/>
                </a:cubicBezTo>
                <a:cubicBezTo>
                  <a:pt x="6773" y="101203"/>
                  <a:pt x="18419" y="120551"/>
                  <a:pt x="35832" y="136699"/>
                </a:cubicBezTo>
                <a:cubicBezTo>
                  <a:pt x="53355" y="152958"/>
                  <a:pt x="77428" y="166688"/>
                  <a:pt x="107491" y="166688"/>
                </a:cubicBezTo>
                <a:cubicBezTo>
                  <a:pt x="137555" y="166688"/>
                  <a:pt x="161628" y="152996"/>
                  <a:pt x="179152" y="136699"/>
                </a:cubicBezTo>
                <a:cubicBezTo>
                  <a:pt x="196565" y="120514"/>
                  <a:pt x="208211" y="101203"/>
                  <a:pt x="213755" y="87920"/>
                </a:cubicBezTo>
                <a:cubicBezTo>
                  <a:pt x="214982" y="84981"/>
                  <a:pt x="214982" y="81707"/>
                  <a:pt x="213755" y="78768"/>
                </a:cubicBezTo>
                <a:cubicBezTo>
                  <a:pt x="208211" y="65485"/>
                  <a:pt x="196565" y="46137"/>
                  <a:pt x="179152" y="29989"/>
                </a:cubicBezTo>
                <a:cubicBezTo>
                  <a:pt x="161628" y="13730"/>
                  <a:pt x="137555" y="0"/>
                  <a:pt x="107491" y="0"/>
                </a:cubicBezTo>
                <a:close/>
                <a:moveTo>
                  <a:pt x="53912" y="83344"/>
                </a:moveTo>
                <a:cubicBezTo>
                  <a:pt x="53912" y="53773"/>
                  <a:pt x="77921" y="29767"/>
                  <a:pt x="107491" y="29767"/>
                </a:cubicBezTo>
                <a:cubicBezTo>
                  <a:pt x="137062" y="29767"/>
                  <a:pt x="161069" y="53773"/>
                  <a:pt x="161069" y="83344"/>
                </a:cubicBezTo>
                <a:cubicBezTo>
                  <a:pt x="161069" y="112915"/>
                  <a:pt x="137062" y="136921"/>
                  <a:pt x="107491" y="136921"/>
                </a:cubicBezTo>
                <a:cubicBezTo>
                  <a:pt x="77921" y="136921"/>
                  <a:pt x="53912" y="112915"/>
                  <a:pt x="53912" y="83344"/>
                </a:cubicBezTo>
                <a:close/>
                <a:moveTo>
                  <a:pt x="107491" y="59531"/>
                </a:moveTo>
                <a:cubicBezTo>
                  <a:pt x="107491" y="72666"/>
                  <a:pt x="96813" y="83344"/>
                  <a:pt x="83679" y="83344"/>
                </a:cubicBezTo>
                <a:cubicBezTo>
                  <a:pt x="79400" y="83344"/>
                  <a:pt x="75382" y="82228"/>
                  <a:pt x="71884" y="80219"/>
                </a:cubicBezTo>
                <a:cubicBezTo>
                  <a:pt x="71512" y="84274"/>
                  <a:pt x="71847" y="88441"/>
                  <a:pt x="72962" y="92571"/>
                </a:cubicBezTo>
                <a:cubicBezTo>
                  <a:pt x="78060" y="111621"/>
                  <a:pt x="97669" y="122932"/>
                  <a:pt x="116719" y="117835"/>
                </a:cubicBezTo>
                <a:cubicBezTo>
                  <a:pt x="135769" y="112738"/>
                  <a:pt x="147080" y="93129"/>
                  <a:pt x="141982" y="74079"/>
                </a:cubicBezTo>
                <a:cubicBezTo>
                  <a:pt x="137443" y="57077"/>
                  <a:pt x="121332" y="46249"/>
                  <a:pt x="104366" y="47737"/>
                </a:cubicBezTo>
                <a:cubicBezTo>
                  <a:pt x="106338" y="51196"/>
                  <a:pt x="107491" y="55215"/>
                  <a:pt x="107491" y="5953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847725" y="3393440"/>
            <a:ext cx="62928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tape importante de la revue de code</a:t>
            </a:r>
            <a:endParaRPr lang="en-US" sz="1100"/>
          </a:p>
        </p:txBody>
      </p:sp>
      <p:sp>
        <p:nvSpPr>
          <p:cNvPr id="13" name="AutoShape 13"/>
          <p:cNvSpPr/>
          <p:nvPr/>
        </p:nvSpPr>
        <p:spPr>
          <a:xfrm>
            <a:off x="380956" y="4002663"/>
            <a:ext cx="69342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Processus type d'une PR</a:t>
            </a:r>
            <a:endParaRPr lang="en-US" sz="1100"/>
          </a:p>
        </p:txBody>
      </p:sp>
      <p:sp>
        <p:nvSpPr>
          <p:cNvPr id="14" name="Freeform 14"/>
          <p:cNvSpPr/>
          <p:nvPr/>
        </p:nvSpPr>
        <p:spPr>
          <a:xfrm>
            <a:off x="380956"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457105"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 Fork</a:t>
            </a:r>
            <a:endParaRPr lang="en-US" sz="1100"/>
          </a:p>
        </p:txBody>
      </p:sp>
      <p:sp>
        <p:nvSpPr>
          <p:cNvPr id="16" name="AutoShape 16"/>
          <p:cNvSpPr/>
          <p:nvPr/>
        </p:nvSpPr>
        <p:spPr>
          <a:xfrm>
            <a:off x="461868"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depot</a:t>
            </a:r>
            <a:endParaRPr lang="en-US" sz="1100"/>
          </a:p>
        </p:txBody>
      </p:sp>
      <p:sp>
        <p:nvSpPr>
          <p:cNvPr id="17" name="Freeform 17"/>
          <p:cNvSpPr/>
          <p:nvPr/>
        </p:nvSpPr>
        <p:spPr>
          <a:xfrm>
            <a:off x="1569750" y="4687378"/>
            <a:ext cx="153323" cy="116205"/>
          </a:xfrm>
          <a:custGeom>
            <a:avLst/>
            <a:gdLst/>
            <a:ahLst/>
            <a:cxnLst/>
            <a:rect l="l" t="t" r="r" b="b"/>
            <a:pathLst>
              <a:path w="153323" h="116205">
                <a:moveTo>
                  <a:pt x="149602" y="64829"/>
                </a:moveTo>
                <a:cubicBezTo>
                  <a:pt x="153323" y="61108"/>
                  <a:pt x="153323" y="55065"/>
                  <a:pt x="149602" y="51346"/>
                </a:cubicBezTo>
                <a:lnTo>
                  <a:pt x="101977" y="3721"/>
                </a:lnTo>
                <a:cubicBezTo>
                  <a:pt x="98256" y="0"/>
                  <a:pt x="92213" y="0"/>
                  <a:pt x="88494" y="3721"/>
                </a:cubicBezTo>
                <a:cubicBezTo>
                  <a:pt x="84773" y="7440"/>
                  <a:pt x="84773" y="13483"/>
                  <a:pt x="88494" y="17204"/>
                </a:cubicBezTo>
                <a:lnTo>
                  <a:pt x="119866" y="48577"/>
                </a:lnTo>
                <a:lnTo>
                  <a:pt x="9525" y="48577"/>
                </a:lnTo>
                <a:cubicBezTo>
                  <a:pt x="4256" y="48577"/>
                  <a:pt x="0" y="52833"/>
                  <a:pt x="0" y="58102"/>
                </a:cubicBezTo>
                <a:cubicBezTo>
                  <a:pt x="0" y="63371"/>
                  <a:pt x="4256" y="67627"/>
                  <a:pt x="9525" y="67627"/>
                </a:cubicBezTo>
                <a:lnTo>
                  <a:pt x="119866" y="67627"/>
                </a:lnTo>
                <a:lnTo>
                  <a:pt x="88494" y="99000"/>
                </a:lnTo>
                <a:cubicBezTo>
                  <a:pt x="84773" y="102721"/>
                  <a:pt x="84773" y="108764"/>
                  <a:pt x="88494" y="112483"/>
                </a:cubicBezTo>
                <a:cubicBezTo>
                  <a:pt x="92213" y="116204"/>
                  <a:pt x="98256" y="116204"/>
                  <a:pt x="101977" y="112483"/>
                </a:cubicBezTo>
                <a:lnTo>
                  <a:pt x="149602" y="6485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1817332"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1893482"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 Modifier</a:t>
            </a:r>
            <a:endParaRPr lang="en-US" sz="1100"/>
          </a:p>
        </p:txBody>
      </p:sp>
      <p:sp>
        <p:nvSpPr>
          <p:cNvPr id="20" name="AutoShape 20"/>
          <p:cNvSpPr/>
          <p:nvPr/>
        </p:nvSpPr>
        <p:spPr>
          <a:xfrm>
            <a:off x="1898244"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code</a:t>
            </a:r>
            <a:endParaRPr lang="en-US" sz="1100"/>
          </a:p>
        </p:txBody>
      </p:sp>
      <p:sp>
        <p:nvSpPr>
          <p:cNvPr id="21" name="Freeform 21"/>
          <p:cNvSpPr/>
          <p:nvPr/>
        </p:nvSpPr>
        <p:spPr>
          <a:xfrm>
            <a:off x="3006127" y="4687378"/>
            <a:ext cx="153323" cy="116205"/>
          </a:xfrm>
          <a:custGeom>
            <a:avLst/>
            <a:gdLst/>
            <a:ahLst/>
            <a:cxnLst/>
            <a:rect l="l" t="t" r="r" b="b"/>
            <a:pathLst>
              <a:path w="153323" h="116205">
                <a:moveTo>
                  <a:pt x="149602" y="64829"/>
                </a:moveTo>
                <a:cubicBezTo>
                  <a:pt x="153323" y="61108"/>
                  <a:pt x="153323" y="55065"/>
                  <a:pt x="149602" y="51346"/>
                </a:cubicBezTo>
                <a:lnTo>
                  <a:pt x="101977" y="3721"/>
                </a:lnTo>
                <a:cubicBezTo>
                  <a:pt x="98256" y="0"/>
                  <a:pt x="92213" y="0"/>
                  <a:pt x="88494" y="3721"/>
                </a:cubicBezTo>
                <a:cubicBezTo>
                  <a:pt x="84773" y="7440"/>
                  <a:pt x="84773" y="13483"/>
                  <a:pt x="88494" y="17204"/>
                </a:cubicBezTo>
                <a:lnTo>
                  <a:pt x="119866" y="48577"/>
                </a:lnTo>
                <a:lnTo>
                  <a:pt x="9525" y="48577"/>
                </a:lnTo>
                <a:cubicBezTo>
                  <a:pt x="4256" y="48577"/>
                  <a:pt x="0" y="52833"/>
                  <a:pt x="0" y="58102"/>
                </a:cubicBezTo>
                <a:cubicBezTo>
                  <a:pt x="0" y="63371"/>
                  <a:pt x="4256" y="67627"/>
                  <a:pt x="9525" y="67627"/>
                </a:cubicBezTo>
                <a:lnTo>
                  <a:pt x="119866" y="67627"/>
                </a:lnTo>
                <a:lnTo>
                  <a:pt x="88494" y="99000"/>
                </a:lnTo>
                <a:cubicBezTo>
                  <a:pt x="84773" y="102721"/>
                  <a:pt x="84773" y="108764"/>
                  <a:pt x="88494" y="112483"/>
                </a:cubicBezTo>
                <a:cubicBezTo>
                  <a:pt x="92213" y="116204"/>
                  <a:pt x="98256" y="116204"/>
                  <a:pt x="101977" y="112483"/>
                </a:cubicBezTo>
                <a:lnTo>
                  <a:pt x="149602" y="6485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3253709"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3329858"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 Soumettre</a:t>
            </a:r>
            <a:endParaRPr lang="en-US" sz="1100"/>
          </a:p>
        </p:txBody>
      </p:sp>
      <p:sp>
        <p:nvSpPr>
          <p:cNvPr id="24" name="AutoShape 24"/>
          <p:cNvSpPr/>
          <p:nvPr/>
        </p:nvSpPr>
        <p:spPr>
          <a:xfrm>
            <a:off x="3334621"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a:t>
            </a:r>
            <a:endParaRPr lang="en-US" sz="1100"/>
          </a:p>
        </p:txBody>
      </p:sp>
      <p:sp>
        <p:nvSpPr>
          <p:cNvPr id="25" name="Freeform 25"/>
          <p:cNvSpPr/>
          <p:nvPr/>
        </p:nvSpPr>
        <p:spPr>
          <a:xfrm>
            <a:off x="4442503" y="4687378"/>
            <a:ext cx="153323" cy="116205"/>
          </a:xfrm>
          <a:custGeom>
            <a:avLst/>
            <a:gdLst/>
            <a:ahLst/>
            <a:cxnLst/>
            <a:rect l="l" t="t" r="r" b="b"/>
            <a:pathLst>
              <a:path w="153323" h="116205">
                <a:moveTo>
                  <a:pt x="149602" y="64829"/>
                </a:moveTo>
                <a:cubicBezTo>
                  <a:pt x="153323" y="61108"/>
                  <a:pt x="153323" y="55065"/>
                  <a:pt x="149602" y="51346"/>
                </a:cubicBezTo>
                <a:lnTo>
                  <a:pt x="101977" y="3721"/>
                </a:lnTo>
                <a:cubicBezTo>
                  <a:pt x="98256" y="0"/>
                  <a:pt x="92213" y="0"/>
                  <a:pt x="88494" y="3721"/>
                </a:cubicBezTo>
                <a:cubicBezTo>
                  <a:pt x="84773" y="7440"/>
                  <a:pt x="84773" y="13483"/>
                  <a:pt x="88494" y="17204"/>
                </a:cubicBezTo>
                <a:lnTo>
                  <a:pt x="119866" y="48577"/>
                </a:lnTo>
                <a:lnTo>
                  <a:pt x="9525" y="48577"/>
                </a:lnTo>
                <a:cubicBezTo>
                  <a:pt x="4256" y="48577"/>
                  <a:pt x="0" y="52833"/>
                  <a:pt x="0" y="58102"/>
                </a:cubicBezTo>
                <a:cubicBezTo>
                  <a:pt x="0" y="63371"/>
                  <a:pt x="4256" y="67627"/>
                  <a:pt x="9525" y="67627"/>
                </a:cubicBezTo>
                <a:lnTo>
                  <a:pt x="119866" y="67627"/>
                </a:lnTo>
                <a:lnTo>
                  <a:pt x="88494" y="99000"/>
                </a:lnTo>
                <a:cubicBezTo>
                  <a:pt x="84773" y="102721"/>
                  <a:pt x="84773" y="108764"/>
                  <a:pt x="88494" y="112483"/>
                </a:cubicBezTo>
                <a:cubicBezTo>
                  <a:pt x="92213" y="116204"/>
                  <a:pt x="98256" y="116204"/>
                  <a:pt x="101977" y="112483"/>
                </a:cubicBezTo>
                <a:lnTo>
                  <a:pt x="149602" y="6485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4690085"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4766235"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 Examiner</a:t>
            </a:r>
            <a:endParaRPr lang="en-US" sz="1100"/>
          </a:p>
        </p:txBody>
      </p:sp>
      <p:sp>
        <p:nvSpPr>
          <p:cNvPr id="28" name="AutoShape 28"/>
          <p:cNvSpPr/>
          <p:nvPr/>
        </p:nvSpPr>
        <p:spPr>
          <a:xfrm>
            <a:off x="4770997"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code</a:t>
            </a:r>
            <a:endParaRPr lang="en-US" sz="1100"/>
          </a:p>
        </p:txBody>
      </p:sp>
      <p:sp>
        <p:nvSpPr>
          <p:cNvPr id="29" name="Freeform 29"/>
          <p:cNvSpPr/>
          <p:nvPr/>
        </p:nvSpPr>
        <p:spPr>
          <a:xfrm>
            <a:off x="5878880" y="4687378"/>
            <a:ext cx="153323" cy="116205"/>
          </a:xfrm>
          <a:custGeom>
            <a:avLst/>
            <a:gdLst/>
            <a:ahLst/>
            <a:cxnLst/>
            <a:rect l="l" t="t" r="r" b="b"/>
            <a:pathLst>
              <a:path w="153323" h="116205">
                <a:moveTo>
                  <a:pt x="149602" y="64829"/>
                </a:moveTo>
                <a:cubicBezTo>
                  <a:pt x="153323" y="61108"/>
                  <a:pt x="153323" y="55065"/>
                  <a:pt x="149602" y="51346"/>
                </a:cubicBezTo>
                <a:lnTo>
                  <a:pt x="101977" y="3721"/>
                </a:lnTo>
                <a:cubicBezTo>
                  <a:pt x="98256" y="0"/>
                  <a:pt x="92213" y="0"/>
                  <a:pt x="88494" y="3721"/>
                </a:cubicBezTo>
                <a:cubicBezTo>
                  <a:pt x="84772" y="7440"/>
                  <a:pt x="84772" y="13483"/>
                  <a:pt x="88494" y="17204"/>
                </a:cubicBezTo>
                <a:lnTo>
                  <a:pt x="119866" y="48577"/>
                </a:lnTo>
                <a:lnTo>
                  <a:pt x="9525" y="48577"/>
                </a:lnTo>
                <a:cubicBezTo>
                  <a:pt x="4256" y="48577"/>
                  <a:pt x="0" y="52833"/>
                  <a:pt x="0" y="58102"/>
                </a:cubicBezTo>
                <a:cubicBezTo>
                  <a:pt x="0" y="63371"/>
                  <a:pt x="4256" y="67627"/>
                  <a:pt x="9525" y="67627"/>
                </a:cubicBezTo>
                <a:lnTo>
                  <a:pt x="119866" y="67627"/>
                </a:lnTo>
                <a:lnTo>
                  <a:pt x="88494" y="99000"/>
                </a:lnTo>
                <a:cubicBezTo>
                  <a:pt x="84772" y="102721"/>
                  <a:pt x="84772" y="108764"/>
                  <a:pt x="88494" y="112483"/>
                </a:cubicBezTo>
                <a:cubicBezTo>
                  <a:pt x="92213" y="116204"/>
                  <a:pt x="98256" y="116204"/>
                  <a:pt x="101977" y="112483"/>
                </a:cubicBezTo>
                <a:lnTo>
                  <a:pt x="149602" y="6485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126462"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202611"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 Fusionner</a:t>
            </a:r>
            <a:endParaRPr lang="en-US" sz="1100"/>
          </a:p>
        </p:txBody>
      </p:sp>
      <p:sp>
        <p:nvSpPr>
          <p:cNvPr id="32" name="AutoShape 32"/>
          <p:cNvSpPr/>
          <p:nvPr/>
        </p:nvSpPr>
        <p:spPr>
          <a:xfrm>
            <a:off x="6207373"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code</a:t>
            </a:r>
            <a:endParaRPr lang="en-US" sz="1100"/>
          </a:p>
        </p:txBody>
      </p:sp>
      <p:pic>
        <p:nvPicPr>
          <p:cNvPr id="33" name="Picture 33"/>
          <p:cNvPicPr>
            <a:picLocks noChangeAspect="1"/>
          </p:cNvPicPr>
          <p:nvPr/>
        </p:nvPicPr>
        <p:blipFill>
          <a:blip r:embed="rId1"/>
          <a:srcRect l="63" r="63"/>
          <a:stretch>
            <a:fillRect/>
          </a:stretch>
        </p:blipFill>
        <p:spPr>
          <a:xfrm>
            <a:off x="7524780" y="1785272"/>
            <a:ext cx="4286250" cy="2800350"/>
          </a:xfrm>
          <a:prstGeom prst="roundRect">
            <a:avLst>
              <a:gd name="adj" fmla="val 2720"/>
            </a:avLst>
          </a:prstGeom>
          <a:ln w="12700">
            <a:noFill/>
            <a:prstDash val="solid"/>
          </a:ln>
        </p:spPr>
      </p:pic>
      <p:sp>
        <p:nvSpPr>
          <p:cNvPr id="34" name="AutoShape 34"/>
          <p:cNvSpPr/>
          <p:nvPr/>
        </p:nvSpPr>
        <p:spPr>
          <a:xfrm>
            <a:off x="7491442" y="4734365"/>
            <a:ext cx="435292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Source de l'image : Nulab</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85063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Processus de base pour </a:t>
            </a:r>
            <a:endPar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soumettre une PR </a:t>
            </a:r>
            <a:r>
              <a:rPr lang="en-US" altLang="zh-CN"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à FlagOS</a:t>
            </a:r>
            <a:endParaRPr lang="en-US" sz="3200"/>
          </a:p>
        </p:txBody>
      </p:sp>
      <p:sp>
        <p:nvSpPr>
          <p:cNvPr id="3" name="Freeform 3"/>
          <p:cNvSpPr/>
          <p:nvPr/>
        </p:nvSpPr>
        <p:spPr>
          <a:xfrm>
            <a:off x="1104882"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1282007"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5" name="AutoShape 5"/>
          <p:cNvSpPr/>
          <p:nvPr/>
        </p:nvSpPr>
        <p:spPr>
          <a:xfrm>
            <a:off x="338093"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Fork FlagOS</a:t>
            </a:r>
            <a:endParaRPr lang="en-US" sz="1100"/>
          </a:p>
        </p:txBody>
      </p:sp>
      <p:sp>
        <p:nvSpPr>
          <p:cNvPr id="6" name="AutoShape 6"/>
          <p:cNvSpPr/>
          <p:nvPr/>
        </p:nvSpPr>
        <p:spPr>
          <a:xfrm>
            <a:off x="347618"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depot</a:t>
            </a:r>
            <a:endParaRPr lang="en-US" sz="1100"/>
          </a:p>
        </p:txBody>
      </p:sp>
      <p:sp>
        <p:nvSpPr>
          <p:cNvPr id="7" name="Freeform 7"/>
          <p:cNvSpPr/>
          <p:nvPr/>
        </p:nvSpPr>
        <p:spPr>
          <a:xfrm>
            <a:off x="2466913" y="2125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3" y="0"/>
                  <a:pt x="138321" y="0"/>
                  <a:pt x="132740" y="5581"/>
                </a:cubicBezTo>
                <a:cubicBezTo>
                  <a:pt x="127159" y="11162"/>
                  <a:pt x="127159" y="20226"/>
                  <a:pt x="132740" y="25807"/>
                </a:cubicBezTo>
                <a:lnTo>
                  <a:pt x="179799" y="72867"/>
                </a:lnTo>
                <a:lnTo>
                  <a:pt x="14287" y="72867"/>
                </a:lnTo>
                <a:cubicBezTo>
                  <a:pt x="6386" y="72867"/>
                  <a:pt x="0" y="79251"/>
                  <a:pt x="0" y="87154"/>
                </a:cubicBezTo>
                <a:cubicBezTo>
                  <a:pt x="0" y="95057"/>
                  <a:pt x="6386" y="101441"/>
                  <a:pt x="14287" y="101441"/>
                </a:cubicBezTo>
                <a:lnTo>
                  <a:pt x="179799" y="101441"/>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3448000"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625124"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0" name="AutoShape 10"/>
          <p:cNvSpPr/>
          <p:nvPr/>
        </p:nvSpPr>
        <p:spPr>
          <a:xfrm>
            <a:off x="2681210"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Creer une nouvelle</a:t>
            </a:r>
            <a:endParaRPr lang="en-US" sz="1100"/>
          </a:p>
        </p:txBody>
      </p:sp>
      <p:sp>
        <p:nvSpPr>
          <p:cNvPr id="11" name="AutoShape 11"/>
          <p:cNvSpPr/>
          <p:nvPr/>
        </p:nvSpPr>
        <p:spPr>
          <a:xfrm>
            <a:off x="2690735"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branche de developpement</a:t>
            </a:r>
            <a:endParaRPr lang="en-US" sz="1100"/>
          </a:p>
        </p:txBody>
      </p:sp>
      <p:sp>
        <p:nvSpPr>
          <p:cNvPr id="12" name="Freeform 12"/>
          <p:cNvSpPr/>
          <p:nvPr/>
        </p:nvSpPr>
        <p:spPr>
          <a:xfrm>
            <a:off x="4810104" y="2125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4" y="0"/>
                  <a:pt x="138321" y="0"/>
                  <a:pt x="132740" y="5581"/>
                </a:cubicBezTo>
                <a:cubicBezTo>
                  <a:pt x="127159" y="11162"/>
                  <a:pt x="127159" y="20226"/>
                  <a:pt x="132740" y="25807"/>
                </a:cubicBezTo>
                <a:lnTo>
                  <a:pt x="179799" y="72867"/>
                </a:lnTo>
                <a:lnTo>
                  <a:pt x="14288" y="72867"/>
                </a:lnTo>
                <a:cubicBezTo>
                  <a:pt x="6386" y="72867"/>
                  <a:pt x="0" y="79251"/>
                  <a:pt x="0" y="87154"/>
                </a:cubicBezTo>
                <a:cubicBezTo>
                  <a:pt x="0" y="95057"/>
                  <a:pt x="6386" y="101441"/>
                  <a:pt x="14288" y="101441"/>
                </a:cubicBezTo>
                <a:lnTo>
                  <a:pt x="179799" y="101441"/>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791191"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968316"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15" name="AutoShape 15"/>
          <p:cNvSpPr/>
          <p:nvPr/>
        </p:nvSpPr>
        <p:spPr>
          <a:xfrm>
            <a:off x="5024402"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Modifier le code</a:t>
            </a:r>
            <a:endParaRPr lang="en-US" sz="1100"/>
          </a:p>
        </p:txBody>
      </p:sp>
      <p:sp>
        <p:nvSpPr>
          <p:cNvPr id="16" name="AutoShape 16"/>
          <p:cNvSpPr/>
          <p:nvPr/>
        </p:nvSpPr>
        <p:spPr>
          <a:xfrm>
            <a:off x="5033927"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ou la documentation</a:t>
            </a:r>
            <a:endParaRPr lang="en-US" sz="1100"/>
          </a:p>
        </p:txBody>
      </p:sp>
      <p:sp>
        <p:nvSpPr>
          <p:cNvPr id="17" name="Freeform 17"/>
          <p:cNvSpPr/>
          <p:nvPr/>
        </p:nvSpPr>
        <p:spPr>
          <a:xfrm>
            <a:off x="7153222" y="2125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4" y="0"/>
                  <a:pt x="138321" y="0"/>
                  <a:pt x="132740" y="5581"/>
                </a:cubicBezTo>
                <a:cubicBezTo>
                  <a:pt x="127159" y="11162"/>
                  <a:pt x="127159" y="20226"/>
                  <a:pt x="132740" y="25807"/>
                </a:cubicBezTo>
                <a:lnTo>
                  <a:pt x="179799" y="72867"/>
                </a:lnTo>
                <a:lnTo>
                  <a:pt x="14288" y="72867"/>
                </a:lnTo>
                <a:cubicBezTo>
                  <a:pt x="6386" y="72867"/>
                  <a:pt x="0" y="79251"/>
                  <a:pt x="0" y="87154"/>
                </a:cubicBezTo>
                <a:cubicBezTo>
                  <a:pt x="0" y="95057"/>
                  <a:pt x="6386" y="101441"/>
                  <a:pt x="14288" y="101441"/>
                </a:cubicBezTo>
                <a:lnTo>
                  <a:pt x="179799" y="101441"/>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8134308"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8311433"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0" name="AutoShape 20"/>
          <p:cNvSpPr/>
          <p:nvPr/>
        </p:nvSpPr>
        <p:spPr>
          <a:xfrm>
            <a:off x="7367519"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Commit</a:t>
            </a:r>
            <a:endParaRPr lang="en-US" sz="1100"/>
          </a:p>
        </p:txBody>
      </p:sp>
      <p:sp>
        <p:nvSpPr>
          <p:cNvPr id="21" name="AutoShape 21"/>
          <p:cNvSpPr/>
          <p:nvPr/>
        </p:nvSpPr>
        <p:spPr>
          <a:xfrm>
            <a:off x="7377044"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soumettre les modifications</a:t>
            </a:r>
            <a:endParaRPr lang="en-US" sz="1100"/>
          </a:p>
        </p:txBody>
      </p:sp>
      <p:sp>
        <p:nvSpPr>
          <p:cNvPr id="22" name="Freeform 22"/>
          <p:cNvSpPr/>
          <p:nvPr/>
        </p:nvSpPr>
        <p:spPr>
          <a:xfrm>
            <a:off x="9496413" y="2125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3" y="0"/>
                  <a:pt x="138321" y="0"/>
                  <a:pt x="132740" y="5581"/>
                </a:cubicBezTo>
                <a:cubicBezTo>
                  <a:pt x="127159" y="11162"/>
                  <a:pt x="127159" y="20226"/>
                  <a:pt x="132740" y="25807"/>
                </a:cubicBezTo>
                <a:lnTo>
                  <a:pt x="179799" y="72867"/>
                </a:lnTo>
                <a:lnTo>
                  <a:pt x="14287" y="72867"/>
                </a:lnTo>
                <a:cubicBezTo>
                  <a:pt x="6386" y="72867"/>
                  <a:pt x="0" y="79251"/>
                  <a:pt x="0" y="87154"/>
                </a:cubicBezTo>
                <a:cubicBezTo>
                  <a:pt x="0" y="95057"/>
                  <a:pt x="6386" y="101441"/>
                  <a:pt x="14287" y="101441"/>
                </a:cubicBezTo>
                <a:lnTo>
                  <a:pt x="179799" y="101441"/>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10477500"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10654624"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25" name="AutoShape 25"/>
          <p:cNvSpPr/>
          <p:nvPr/>
        </p:nvSpPr>
        <p:spPr>
          <a:xfrm>
            <a:off x="9710711"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Soumettre</a:t>
            </a:r>
            <a:endParaRPr lang="en-US" sz="1100"/>
          </a:p>
        </p:txBody>
      </p:sp>
      <p:sp>
        <p:nvSpPr>
          <p:cNvPr id="26" name="AutoShape 26"/>
          <p:cNvSpPr/>
          <p:nvPr/>
        </p:nvSpPr>
        <p:spPr>
          <a:xfrm>
            <a:off x="9720236"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Pull Request</a:t>
            </a:r>
            <a:endParaRPr lang="en-US" sz="1100"/>
          </a:p>
        </p:txBody>
      </p:sp>
      <p:sp>
        <p:nvSpPr>
          <p:cNvPr id="27" name="Freeform 27"/>
          <p:cNvSpPr/>
          <p:nvPr/>
        </p:nvSpPr>
        <p:spPr>
          <a:xfrm>
            <a:off x="381000" y="3012440"/>
            <a:ext cx="11430000" cy="2214880"/>
          </a:xfrm>
          <a:custGeom>
            <a:avLst/>
            <a:gdLst/>
            <a:ahLst/>
            <a:cxnLst/>
            <a:rect l="l" t="t" r="r" b="b"/>
            <a:pathLst>
              <a:path w="11430000" h="1333500">
                <a:moveTo>
                  <a:pt x="76196" y="0"/>
                </a:moveTo>
                <a:lnTo>
                  <a:pt x="11353804" y="0"/>
                </a:lnTo>
                <a:cubicBezTo>
                  <a:pt x="11395887" y="0"/>
                  <a:pt x="11430000" y="34113"/>
                  <a:pt x="11430000" y="76196"/>
                </a:cubicBezTo>
                <a:lnTo>
                  <a:pt x="11430000" y="1257304"/>
                </a:lnTo>
                <a:cubicBezTo>
                  <a:pt x="11430000" y="1299387"/>
                  <a:pt x="11395887" y="1333500"/>
                  <a:pt x="11353804" y="1333500"/>
                </a:cubicBezTo>
                <a:lnTo>
                  <a:pt x="76196" y="1333500"/>
                </a:lnTo>
                <a:cubicBezTo>
                  <a:pt x="34113" y="1333500"/>
                  <a:pt x="0" y="1299387"/>
                  <a:pt x="0" y="1257304"/>
                </a:cubicBezTo>
                <a:lnTo>
                  <a:pt x="0" y="76196"/>
                </a:lnTo>
                <a:cubicBezTo>
                  <a:pt x="0" y="34141"/>
                  <a:pt x="34141" y="0"/>
                  <a:pt x="76196"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09529" y="3240900"/>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La PR doit contenir</a:t>
            </a:r>
            <a:endParaRPr lang="en-US" sz="1800"/>
          </a:p>
        </p:txBody>
      </p:sp>
      <p:sp>
        <p:nvSpPr>
          <p:cNvPr id="29" name="Freeform 29"/>
          <p:cNvSpPr/>
          <p:nvPr/>
        </p:nvSpPr>
        <p:spPr>
          <a:xfrm>
            <a:off x="666679" y="3698049"/>
            <a:ext cx="171450" cy="228600"/>
          </a:xfrm>
          <a:custGeom>
            <a:avLst/>
            <a:gdLst/>
            <a:ahLst/>
            <a:cxnLst/>
            <a:rect l="l" t="t" r="r" b="b"/>
            <a:pathLst>
              <a:path w="171450" h="228600">
                <a:moveTo>
                  <a:pt x="0" y="28575"/>
                </a:moveTo>
                <a:cubicBezTo>
                  <a:pt x="0" y="12814"/>
                  <a:pt x="12814" y="0"/>
                  <a:pt x="28575" y="0"/>
                </a:cubicBezTo>
                <a:lnTo>
                  <a:pt x="95324" y="0"/>
                </a:lnTo>
                <a:cubicBezTo>
                  <a:pt x="102914" y="0"/>
                  <a:pt x="110192" y="2991"/>
                  <a:pt x="115550" y="8349"/>
                </a:cubicBezTo>
                <a:lnTo>
                  <a:pt x="163101" y="55943"/>
                </a:lnTo>
                <a:cubicBezTo>
                  <a:pt x="168459" y="61302"/>
                  <a:pt x="171450" y="68580"/>
                  <a:pt x="171450" y="76170"/>
                </a:cubicBezTo>
                <a:lnTo>
                  <a:pt x="171450" y="200025"/>
                </a:lnTo>
                <a:cubicBezTo>
                  <a:pt x="171450" y="215786"/>
                  <a:pt x="158636" y="228600"/>
                  <a:pt x="142875" y="228600"/>
                </a:cubicBezTo>
                <a:lnTo>
                  <a:pt x="28575" y="228600"/>
                </a:lnTo>
                <a:cubicBezTo>
                  <a:pt x="12814" y="228600"/>
                  <a:pt x="0" y="215786"/>
                  <a:pt x="0" y="200025"/>
                </a:cubicBezTo>
                <a:lnTo>
                  <a:pt x="0" y="28575"/>
                </a:lnTo>
                <a:close/>
                <a:moveTo>
                  <a:pt x="92869" y="26119"/>
                </a:moveTo>
                <a:lnTo>
                  <a:pt x="92869" y="67866"/>
                </a:lnTo>
                <a:cubicBezTo>
                  <a:pt x="92869" y="73804"/>
                  <a:pt x="97646" y="78581"/>
                  <a:pt x="103584" y="78581"/>
                </a:cubicBezTo>
                <a:lnTo>
                  <a:pt x="145331" y="78581"/>
                </a:lnTo>
                <a:lnTo>
                  <a:pt x="92869" y="26119"/>
                </a:lnTo>
                <a:close/>
                <a:moveTo>
                  <a:pt x="53577" y="114300"/>
                </a:moveTo>
                <a:cubicBezTo>
                  <a:pt x="47640" y="114300"/>
                  <a:pt x="42863" y="119076"/>
                  <a:pt x="42863" y="125016"/>
                </a:cubicBezTo>
                <a:cubicBezTo>
                  <a:pt x="42863" y="130954"/>
                  <a:pt x="47640" y="135731"/>
                  <a:pt x="53577" y="135731"/>
                </a:cubicBezTo>
                <a:lnTo>
                  <a:pt x="117873" y="135731"/>
                </a:lnTo>
                <a:cubicBezTo>
                  <a:pt x="123810" y="135731"/>
                  <a:pt x="128587" y="130954"/>
                  <a:pt x="128587" y="125016"/>
                </a:cubicBezTo>
                <a:cubicBezTo>
                  <a:pt x="128587" y="119076"/>
                  <a:pt x="123810" y="114300"/>
                  <a:pt x="117873" y="114300"/>
                </a:cubicBezTo>
                <a:lnTo>
                  <a:pt x="53577" y="114300"/>
                </a:lnTo>
                <a:close/>
                <a:moveTo>
                  <a:pt x="53577" y="157163"/>
                </a:moveTo>
                <a:cubicBezTo>
                  <a:pt x="47640" y="157163"/>
                  <a:pt x="42863" y="161940"/>
                  <a:pt x="42863" y="167877"/>
                </a:cubicBezTo>
                <a:cubicBezTo>
                  <a:pt x="42863" y="173816"/>
                  <a:pt x="47640" y="178594"/>
                  <a:pt x="53577" y="178594"/>
                </a:cubicBezTo>
                <a:lnTo>
                  <a:pt x="117873" y="178594"/>
                </a:lnTo>
                <a:cubicBezTo>
                  <a:pt x="123810" y="178594"/>
                  <a:pt x="128587" y="173816"/>
                  <a:pt x="128587" y="167877"/>
                </a:cubicBezTo>
                <a:cubicBezTo>
                  <a:pt x="128587" y="161940"/>
                  <a:pt x="123810" y="157163"/>
                  <a:pt x="117873" y="157163"/>
                </a:cubicBezTo>
                <a:lnTo>
                  <a:pt x="53577" y="15716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1009650" y="3660140"/>
            <a:ext cx="31305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Description des modifications</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1" name="AutoShape 31"/>
          <p:cNvSpPr/>
          <p:nvPr/>
        </p:nvSpPr>
        <p:spPr>
          <a:xfrm>
            <a:off x="1009514" y="4422630"/>
            <a:ext cx="18002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a:t>
            </a:r>
            <a:r>
              <a:rPr lang="en-US" alt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crit clairement le contenu sp</a:t>
            </a:r>
            <a:r>
              <a:rPr lang="en-US" alt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cifique de cette modification</a:t>
            </a:r>
            <a:endPar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Freeform 32"/>
          <p:cNvSpPr/>
          <p:nvPr/>
        </p:nvSpPr>
        <p:spPr>
          <a:xfrm>
            <a:off x="4371913" y="3698049"/>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14300" y="78581"/>
                </a:moveTo>
                <a:cubicBezTo>
                  <a:pt x="106397" y="78581"/>
                  <a:pt x="100013" y="84966"/>
                  <a:pt x="100013" y="92869"/>
                </a:cubicBezTo>
                <a:cubicBezTo>
                  <a:pt x="100013" y="98807"/>
                  <a:pt x="95235" y="103584"/>
                  <a:pt x="89298" y="103584"/>
                </a:cubicBezTo>
                <a:cubicBezTo>
                  <a:pt x="83359" y="103584"/>
                  <a:pt x="78581" y="98807"/>
                  <a:pt x="78581" y="92869"/>
                </a:cubicBezTo>
                <a:cubicBezTo>
                  <a:pt x="78581" y="73134"/>
                  <a:pt x="94565" y="57150"/>
                  <a:pt x="114300" y="57150"/>
                </a:cubicBezTo>
                <a:cubicBezTo>
                  <a:pt x="134035" y="57150"/>
                  <a:pt x="150019" y="73134"/>
                  <a:pt x="150019" y="92869"/>
                </a:cubicBezTo>
                <a:cubicBezTo>
                  <a:pt x="150019" y="113943"/>
                  <a:pt x="133946" y="122873"/>
                  <a:pt x="125016" y="126133"/>
                </a:cubicBezTo>
                <a:lnTo>
                  <a:pt x="125016" y="127828"/>
                </a:lnTo>
                <a:cubicBezTo>
                  <a:pt x="125016" y="133767"/>
                  <a:pt x="120239" y="138544"/>
                  <a:pt x="114300" y="138544"/>
                </a:cubicBezTo>
                <a:cubicBezTo>
                  <a:pt x="108361" y="138544"/>
                  <a:pt x="103584" y="133767"/>
                  <a:pt x="103584" y="127828"/>
                </a:cubicBezTo>
                <a:lnTo>
                  <a:pt x="103584" y="124212"/>
                </a:lnTo>
                <a:cubicBezTo>
                  <a:pt x="103584" y="115059"/>
                  <a:pt x="110192" y="108496"/>
                  <a:pt x="117024" y="106263"/>
                </a:cubicBezTo>
                <a:cubicBezTo>
                  <a:pt x="119880" y="105326"/>
                  <a:pt x="122917" y="103809"/>
                  <a:pt x="125150" y="101663"/>
                </a:cubicBezTo>
                <a:cubicBezTo>
                  <a:pt x="127069" y="99789"/>
                  <a:pt x="128587" y="97199"/>
                  <a:pt x="128587" y="92913"/>
                </a:cubicBezTo>
                <a:cubicBezTo>
                  <a:pt x="128587" y="85011"/>
                  <a:pt x="122203" y="78626"/>
                  <a:pt x="114300" y="78626"/>
                </a:cubicBezTo>
                <a:close/>
                <a:moveTo>
                  <a:pt x="100013" y="164306"/>
                </a:moveTo>
                <a:cubicBezTo>
                  <a:pt x="100013" y="156421"/>
                  <a:pt x="106415" y="150019"/>
                  <a:pt x="114300" y="150019"/>
                </a:cubicBezTo>
                <a:cubicBezTo>
                  <a:pt x="122185" y="150019"/>
                  <a:pt x="128587" y="156421"/>
                  <a:pt x="128587" y="164306"/>
                </a:cubicBezTo>
                <a:cubicBezTo>
                  <a:pt x="128587" y="172192"/>
                  <a:pt x="122185" y="178594"/>
                  <a:pt x="114300" y="178594"/>
                </a:cubicBezTo>
                <a:cubicBezTo>
                  <a:pt x="106415" y="178594"/>
                  <a:pt x="100013" y="172192"/>
                  <a:pt x="100013" y="16430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4743450" y="3660140"/>
            <a:ext cx="314515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Raison de la modification</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4743323" y="4422630"/>
            <a:ext cx="16668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Expliquer pourquoi cette modification est n</a:t>
            </a:r>
            <a:r>
              <a:rPr lang="en-US" alt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cessaire</a:t>
            </a:r>
            <a:endParaRPr 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5" name="Freeform 35"/>
          <p:cNvSpPr/>
          <p:nvPr/>
        </p:nvSpPr>
        <p:spPr>
          <a:xfrm>
            <a:off x="8105722" y="3696665"/>
            <a:ext cx="230029" cy="229984"/>
          </a:xfrm>
          <a:custGeom>
            <a:avLst/>
            <a:gdLst/>
            <a:ahLst/>
            <a:cxnLst/>
            <a:rect l="l" t="t" r="r" b="b"/>
            <a:pathLst>
              <a:path w="230029" h="229984">
                <a:moveTo>
                  <a:pt x="152966" y="5581"/>
                </a:moveTo>
                <a:cubicBezTo>
                  <a:pt x="147384" y="0"/>
                  <a:pt x="138321" y="0"/>
                  <a:pt x="132740" y="5581"/>
                </a:cubicBezTo>
                <a:cubicBezTo>
                  <a:pt x="127159" y="11162"/>
                  <a:pt x="127159" y="20226"/>
                  <a:pt x="132740" y="25807"/>
                </a:cubicBezTo>
                <a:lnTo>
                  <a:pt x="136936" y="29959"/>
                </a:lnTo>
                <a:lnTo>
                  <a:pt x="12546" y="154350"/>
                </a:lnTo>
                <a:cubicBezTo>
                  <a:pt x="4509" y="162386"/>
                  <a:pt x="0" y="173280"/>
                  <a:pt x="0" y="184667"/>
                </a:cubicBezTo>
                <a:lnTo>
                  <a:pt x="0" y="187121"/>
                </a:lnTo>
                <a:cubicBezTo>
                  <a:pt x="0" y="210785"/>
                  <a:pt x="19199" y="229984"/>
                  <a:pt x="42863" y="229984"/>
                </a:cubicBezTo>
                <a:lnTo>
                  <a:pt x="45317" y="229984"/>
                </a:lnTo>
                <a:cubicBezTo>
                  <a:pt x="56704" y="229984"/>
                  <a:pt x="67598" y="225475"/>
                  <a:pt x="75634" y="217438"/>
                </a:cubicBezTo>
                <a:lnTo>
                  <a:pt x="200025" y="93048"/>
                </a:lnTo>
                <a:lnTo>
                  <a:pt x="204222" y="97244"/>
                </a:lnTo>
                <a:cubicBezTo>
                  <a:pt x="209803" y="102825"/>
                  <a:pt x="218867" y="102825"/>
                  <a:pt x="224448" y="97244"/>
                </a:cubicBezTo>
                <a:cubicBezTo>
                  <a:pt x="230029" y="91663"/>
                  <a:pt x="230029" y="82600"/>
                  <a:pt x="224448" y="77018"/>
                </a:cubicBezTo>
                <a:lnTo>
                  <a:pt x="153010" y="5581"/>
                </a:lnTo>
                <a:close/>
                <a:moveTo>
                  <a:pt x="91664" y="115684"/>
                </a:moveTo>
                <a:lnTo>
                  <a:pt x="157163" y="50185"/>
                </a:lnTo>
                <a:lnTo>
                  <a:pt x="179799" y="72821"/>
                </a:lnTo>
                <a:lnTo>
                  <a:pt x="136936" y="115684"/>
                </a:lnTo>
                <a:lnTo>
                  <a:pt x="91619" y="11568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8477250" y="3660140"/>
            <a:ext cx="30861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Tests </a:t>
            </a:r>
            <a:r>
              <a:rPr lang="en-US" altLang="zh-CN"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associ</a:t>
            </a:r>
            <a:r>
              <a:rPr lang="en-US" alt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a:t>
            </a:r>
            <a:endParaRPr lang="en-US" altLang="zh-CN"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7" name="AutoShape 37"/>
          <p:cNvSpPr/>
          <p:nvPr/>
        </p:nvSpPr>
        <p:spPr>
          <a:xfrm>
            <a:off x="8477131" y="4422630"/>
            <a:ext cx="15335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Si applicable, fournir des cas de test</a:t>
            </a:r>
            <a:endParaRPr 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38200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Issue : comment signaler un bug</a:t>
            </a:r>
            <a:endParaRPr lang="en-US" sz="3200"/>
          </a:p>
        </p:txBody>
      </p:sp>
      <p:sp>
        <p:nvSpPr>
          <p:cNvPr id="3" name="AutoShape 3"/>
          <p:cNvSpPr/>
          <p:nvPr/>
        </p:nvSpPr>
        <p:spPr>
          <a:xfrm>
            <a:off x="380956" y="1640886"/>
            <a:ext cx="6457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Pour signaler un bug sur GitHub Issues, fournissez :</a:t>
            </a:r>
            <a:endParaRPr lang="en-US" sz="1100"/>
          </a:p>
        </p:txBody>
      </p:sp>
      <p:sp>
        <p:nvSpPr>
          <p:cNvPr id="4" name="Freeform 4"/>
          <p:cNvSpPr/>
          <p:nvPr/>
        </p:nvSpPr>
        <p:spPr>
          <a:xfrm>
            <a:off x="399911" y="2059972"/>
            <a:ext cx="6343555" cy="495300"/>
          </a:xfrm>
          <a:custGeom>
            <a:avLst/>
            <a:gdLst/>
            <a:ahLst/>
            <a:cxnLst/>
            <a:rect l="l" t="t" r="r" b="b"/>
            <a:pathLst>
              <a:path w="6343555" h="495300">
                <a:moveTo>
                  <a:pt x="37909" y="0"/>
                </a:moveTo>
                <a:lnTo>
                  <a:pt x="6267353" y="0"/>
                </a:lnTo>
                <a:cubicBezTo>
                  <a:pt x="6309437" y="0"/>
                  <a:pt x="6343555" y="34117"/>
                  <a:pt x="6343555" y="76203"/>
                </a:cubicBezTo>
                <a:lnTo>
                  <a:pt x="6343555" y="419097"/>
                </a:lnTo>
                <a:cubicBezTo>
                  <a:pt x="6343555" y="461183"/>
                  <a:pt x="6309437" y="495300"/>
                  <a:pt x="6267353" y="495300"/>
                </a:cubicBezTo>
                <a:lnTo>
                  <a:pt x="37909" y="495300"/>
                </a:lnTo>
                <a:cubicBezTo>
                  <a:pt x="16974" y="495300"/>
                  <a:pt x="0" y="478326"/>
                  <a:pt x="0" y="4573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99911" y="2059972"/>
            <a:ext cx="37909" cy="495300"/>
          </a:xfrm>
          <a:custGeom>
            <a:avLst/>
            <a:gdLst/>
            <a:ahLst/>
            <a:cxnLst/>
            <a:rect l="l" t="t" r="r" b="b"/>
            <a:pathLst>
              <a:path w="37909" h="495300">
                <a:moveTo>
                  <a:pt x="37909" y="0"/>
                </a:moveTo>
                <a:lnTo>
                  <a:pt x="37909" y="0"/>
                </a:lnTo>
                <a:lnTo>
                  <a:pt x="37909" y="495300"/>
                </a:lnTo>
                <a:lnTo>
                  <a:pt x="37909" y="495300"/>
                </a:lnTo>
                <a:cubicBezTo>
                  <a:pt x="16974" y="495300"/>
                  <a:pt x="0" y="478326"/>
                  <a:pt x="0" y="4573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68834" y="2224190"/>
            <a:ext cx="166688" cy="166688"/>
          </a:xfrm>
          <a:custGeom>
            <a:avLst/>
            <a:gdLst/>
            <a:ahLst/>
            <a:cxnLst/>
            <a:rect l="l" t="t" r="r" b="b"/>
            <a:pathLst>
              <a:path w="166688" h="166688">
                <a:moveTo>
                  <a:pt x="0" y="11906"/>
                </a:moveTo>
                <a:cubicBezTo>
                  <a:pt x="0" y="5322"/>
                  <a:pt x="5321" y="0"/>
                  <a:pt x="11906" y="0"/>
                </a:cubicBezTo>
                <a:lnTo>
                  <a:pt x="47625" y="0"/>
                </a:lnTo>
                <a:cubicBezTo>
                  <a:pt x="54211" y="0"/>
                  <a:pt x="59531" y="5322"/>
                  <a:pt x="59531" y="11906"/>
                </a:cubicBezTo>
                <a:cubicBezTo>
                  <a:pt x="59531" y="18491"/>
                  <a:pt x="54211" y="23813"/>
                  <a:pt x="47625" y="23813"/>
                </a:cubicBezTo>
                <a:lnTo>
                  <a:pt x="41673" y="23813"/>
                </a:lnTo>
                <a:lnTo>
                  <a:pt x="41673" y="65485"/>
                </a:lnTo>
                <a:lnTo>
                  <a:pt x="125016" y="65485"/>
                </a:lnTo>
                <a:lnTo>
                  <a:pt x="125016" y="23813"/>
                </a:lnTo>
                <a:lnTo>
                  <a:pt x="119062" y="23813"/>
                </a:lnTo>
                <a:cubicBezTo>
                  <a:pt x="112478" y="23813"/>
                  <a:pt x="107156" y="18491"/>
                  <a:pt x="107156" y="11906"/>
                </a:cubicBezTo>
                <a:cubicBezTo>
                  <a:pt x="107156" y="5322"/>
                  <a:pt x="112478" y="0"/>
                  <a:pt x="119062" y="0"/>
                </a:cubicBezTo>
                <a:lnTo>
                  <a:pt x="154781" y="0"/>
                </a:lnTo>
                <a:cubicBezTo>
                  <a:pt x="161367" y="0"/>
                  <a:pt x="166688" y="5322"/>
                  <a:pt x="166688" y="11906"/>
                </a:cubicBezTo>
                <a:cubicBezTo>
                  <a:pt x="166688" y="18491"/>
                  <a:pt x="161367" y="23813"/>
                  <a:pt x="154781" y="23813"/>
                </a:cubicBezTo>
                <a:lnTo>
                  <a:pt x="148827" y="23813"/>
                </a:lnTo>
                <a:lnTo>
                  <a:pt x="148827" y="142875"/>
                </a:lnTo>
                <a:lnTo>
                  <a:pt x="154781" y="142875"/>
                </a:lnTo>
                <a:cubicBezTo>
                  <a:pt x="161367" y="142875"/>
                  <a:pt x="166688" y="148197"/>
                  <a:pt x="166688" y="154782"/>
                </a:cubicBezTo>
                <a:cubicBezTo>
                  <a:pt x="166688" y="161366"/>
                  <a:pt x="161367" y="166688"/>
                  <a:pt x="154781" y="166688"/>
                </a:cubicBezTo>
                <a:lnTo>
                  <a:pt x="119062" y="166688"/>
                </a:lnTo>
                <a:cubicBezTo>
                  <a:pt x="112478" y="166688"/>
                  <a:pt x="107156" y="161366"/>
                  <a:pt x="107156" y="154782"/>
                </a:cubicBezTo>
                <a:cubicBezTo>
                  <a:pt x="107156" y="148197"/>
                  <a:pt x="112478" y="142875"/>
                  <a:pt x="119062" y="142875"/>
                </a:cubicBezTo>
                <a:lnTo>
                  <a:pt x="125016" y="142875"/>
                </a:lnTo>
                <a:lnTo>
                  <a:pt x="125016" y="89296"/>
                </a:lnTo>
                <a:lnTo>
                  <a:pt x="41673" y="89296"/>
                </a:lnTo>
                <a:lnTo>
                  <a:pt x="41673" y="142875"/>
                </a:lnTo>
                <a:lnTo>
                  <a:pt x="47625" y="142875"/>
                </a:lnTo>
                <a:cubicBezTo>
                  <a:pt x="54211" y="142875"/>
                  <a:pt x="59531" y="148197"/>
                  <a:pt x="59531" y="154782"/>
                </a:cubicBezTo>
                <a:cubicBezTo>
                  <a:pt x="59531" y="161366"/>
                  <a:pt x="54211" y="166688"/>
                  <a:pt x="47625" y="166688"/>
                </a:cubicBezTo>
                <a:lnTo>
                  <a:pt x="11906" y="166688"/>
                </a:lnTo>
                <a:cubicBezTo>
                  <a:pt x="5321" y="166688"/>
                  <a:pt x="0" y="161366"/>
                  <a:pt x="0" y="154782"/>
                </a:cubicBezTo>
                <a:cubicBezTo>
                  <a:pt x="0" y="148197"/>
                  <a:pt x="5321" y="142875"/>
                  <a:pt x="11906" y="142875"/>
                </a:cubicBezTo>
                <a:lnTo>
                  <a:pt x="17859" y="142875"/>
                </a:lnTo>
                <a:lnTo>
                  <a:pt x="17859" y="23813"/>
                </a:lnTo>
                <a:lnTo>
                  <a:pt x="11906" y="23813"/>
                </a:lnTo>
                <a:cubicBezTo>
                  <a:pt x="5321" y="23813"/>
                  <a:pt x="0" y="18491"/>
                  <a:pt x="0" y="1190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85190" y="2174240"/>
            <a:ext cx="350075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Description br</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ve du probl</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a:t>
            </a:r>
            <a:endParaRPr lang="en-US" sz="1100"/>
          </a:p>
        </p:txBody>
      </p:sp>
      <p:sp>
        <p:nvSpPr>
          <p:cNvPr id="8" name="Freeform 8"/>
          <p:cNvSpPr/>
          <p:nvPr/>
        </p:nvSpPr>
        <p:spPr>
          <a:xfrm>
            <a:off x="399911" y="2669428"/>
            <a:ext cx="6343555" cy="495300"/>
          </a:xfrm>
          <a:custGeom>
            <a:avLst/>
            <a:gdLst/>
            <a:ahLst/>
            <a:cxnLst/>
            <a:rect l="l" t="t" r="r" b="b"/>
            <a:pathLst>
              <a:path w="6343555" h="495300">
                <a:moveTo>
                  <a:pt x="37909" y="0"/>
                </a:moveTo>
                <a:lnTo>
                  <a:pt x="6267353" y="0"/>
                </a:lnTo>
                <a:cubicBezTo>
                  <a:pt x="6309437" y="0"/>
                  <a:pt x="6343555" y="34117"/>
                  <a:pt x="6343555" y="76203"/>
                </a:cubicBezTo>
                <a:lnTo>
                  <a:pt x="6343555" y="419097"/>
                </a:lnTo>
                <a:cubicBezTo>
                  <a:pt x="6343555" y="461183"/>
                  <a:pt x="6309437" y="495300"/>
                  <a:pt x="6267353" y="495300"/>
                </a:cubicBezTo>
                <a:lnTo>
                  <a:pt x="37909" y="495300"/>
                </a:lnTo>
                <a:cubicBezTo>
                  <a:pt x="16974" y="495300"/>
                  <a:pt x="0" y="478326"/>
                  <a:pt x="0" y="4573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399911" y="2669428"/>
            <a:ext cx="37909" cy="495300"/>
          </a:xfrm>
          <a:custGeom>
            <a:avLst/>
            <a:gdLst/>
            <a:ahLst/>
            <a:cxnLst/>
            <a:rect l="l" t="t" r="r" b="b"/>
            <a:pathLst>
              <a:path w="37909" h="495300">
                <a:moveTo>
                  <a:pt x="37909" y="0"/>
                </a:moveTo>
                <a:lnTo>
                  <a:pt x="37909" y="0"/>
                </a:lnTo>
                <a:lnTo>
                  <a:pt x="37909" y="495300"/>
                </a:lnTo>
                <a:lnTo>
                  <a:pt x="37909" y="495300"/>
                </a:lnTo>
                <a:cubicBezTo>
                  <a:pt x="16974" y="495300"/>
                  <a:pt x="0" y="478326"/>
                  <a:pt x="0" y="4573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55737" y="2839594"/>
            <a:ext cx="191691" cy="154783"/>
          </a:xfrm>
          <a:custGeom>
            <a:avLst/>
            <a:gdLst/>
            <a:ahLst/>
            <a:cxnLst/>
            <a:rect l="l" t="t" r="r" b="b"/>
            <a:pathLst>
              <a:path w="191691" h="154783">
                <a:moveTo>
                  <a:pt x="1191" y="8930"/>
                </a:moveTo>
                <a:cubicBezTo>
                  <a:pt x="1191" y="4019"/>
                  <a:pt x="5172" y="0"/>
                  <a:pt x="10120" y="0"/>
                </a:cubicBezTo>
                <a:lnTo>
                  <a:pt x="27980" y="0"/>
                </a:lnTo>
                <a:cubicBezTo>
                  <a:pt x="32930" y="0"/>
                  <a:pt x="36910" y="3982"/>
                  <a:pt x="36910" y="8930"/>
                </a:cubicBezTo>
                <a:lnTo>
                  <a:pt x="36910" y="47625"/>
                </a:lnTo>
                <a:lnTo>
                  <a:pt x="45839" y="47625"/>
                </a:lnTo>
                <a:cubicBezTo>
                  <a:pt x="50788" y="47625"/>
                  <a:pt x="54768" y="51607"/>
                  <a:pt x="54768" y="56555"/>
                </a:cubicBezTo>
                <a:cubicBezTo>
                  <a:pt x="54768" y="61505"/>
                  <a:pt x="50788" y="65485"/>
                  <a:pt x="45839" y="65485"/>
                </a:cubicBezTo>
                <a:lnTo>
                  <a:pt x="10120" y="65485"/>
                </a:lnTo>
                <a:cubicBezTo>
                  <a:pt x="5172" y="65485"/>
                  <a:pt x="1191" y="61505"/>
                  <a:pt x="1191" y="56555"/>
                </a:cubicBezTo>
                <a:cubicBezTo>
                  <a:pt x="1191" y="51607"/>
                  <a:pt x="5172" y="47625"/>
                  <a:pt x="10120" y="47625"/>
                </a:cubicBezTo>
                <a:lnTo>
                  <a:pt x="19050" y="47625"/>
                </a:lnTo>
                <a:lnTo>
                  <a:pt x="19050" y="17860"/>
                </a:lnTo>
                <a:lnTo>
                  <a:pt x="10120" y="17860"/>
                </a:lnTo>
                <a:cubicBezTo>
                  <a:pt x="5172" y="17860"/>
                  <a:pt x="1191" y="13880"/>
                  <a:pt x="1191" y="8930"/>
                </a:cubicBezTo>
                <a:close/>
                <a:moveTo>
                  <a:pt x="12502" y="94210"/>
                </a:moveTo>
                <a:cubicBezTo>
                  <a:pt x="16743" y="91009"/>
                  <a:pt x="21915" y="89297"/>
                  <a:pt x="27236" y="89297"/>
                </a:cubicBezTo>
                <a:lnTo>
                  <a:pt x="29059" y="89297"/>
                </a:lnTo>
                <a:cubicBezTo>
                  <a:pt x="41599" y="89297"/>
                  <a:pt x="51793" y="99492"/>
                  <a:pt x="51793" y="112032"/>
                </a:cubicBezTo>
                <a:cubicBezTo>
                  <a:pt x="51793" y="119323"/>
                  <a:pt x="48295" y="126132"/>
                  <a:pt x="42416" y="130411"/>
                </a:cubicBezTo>
                <a:lnTo>
                  <a:pt x="33487" y="136922"/>
                </a:lnTo>
                <a:lnTo>
                  <a:pt x="45839" y="136922"/>
                </a:lnTo>
                <a:cubicBezTo>
                  <a:pt x="50788" y="136922"/>
                  <a:pt x="54768" y="140902"/>
                  <a:pt x="54768" y="145852"/>
                </a:cubicBezTo>
                <a:cubicBezTo>
                  <a:pt x="54768" y="150800"/>
                  <a:pt x="50788" y="154782"/>
                  <a:pt x="45839" y="154782"/>
                </a:cubicBezTo>
                <a:lnTo>
                  <a:pt x="12093" y="154782"/>
                </a:lnTo>
                <a:cubicBezTo>
                  <a:pt x="6065" y="154782"/>
                  <a:pt x="1191" y="149908"/>
                  <a:pt x="1191" y="143881"/>
                </a:cubicBezTo>
                <a:cubicBezTo>
                  <a:pt x="1191" y="140383"/>
                  <a:pt x="2865" y="137108"/>
                  <a:pt x="5693" y="135062"/>
                </a:cubicBezTo>
                <a:lnTo>
                  <a:pt x="31924" y="115975"/>
                </a:lnTo>
                <a:cubicBezTo>
                  <a:pt x="33189" y="115045"/>
                  <a:pt x="33933" y="113594"/>
                  <a:pt x="33933" y="112032"/>
                </a:cubicBezTo>
                <a:cubicBezTo>
                  <a:pt x="33933" y="109352"/>
                  <a:pt x="31738" y="107157"/>
                  <a:pt x="29059" y="107157"/>
                </a:cubicBezTo>
                <a:lnTo>
                  <a:pt x="27236" y="107157"/>
                </a:lnTo>
                <a:cubicBezTo>
                  <a:pt x="25785" y="107157"/>
                  <a:pt x="24371" y="107640"/>
                  <a:pt x="23218" y="108496"/>
                </a:cubicBezTo>
                <a:lnTo>
                  <a:pt x="15479" y="114300"/>
                </a:lnTo>
                <a:cubicBezTo>
                  <a:pt x="11535" y="117277"/>
                  <a:pt x="5953" y="116457"/>
                  <a:pt x="2977" y="112514"/>
                </a:cubicBezTo>
                <a:cubicBezTo>
                  <a:pt x="0" y="108570"/>
                  <a:pt x="819" y="102989"/>
                  <a:pt x="4764" y="100014"/>
                </a:cubicBezTo>
                <a:lnTo>
                  <a:pt x="12502" y="94210"/>
                </a:lnTo>
                <a:close/>
                <a:moveTo>
                  <a:pt x="84535" y="5954"/>
                </a:moveTo>
                <a:lnTo>
                  <a:pt x="179785" y="5954"/>
                </a:lnTo>
                <a:cubicBezTo>
                  <a:pt x="186370" y="5954"/>
                  <a:pt x="191691" y="11274"/>
                  <a:pt x="191691" y="17860"/>
                </a:cubicBezTo>
                <a:cubicBezTo>
                  <a:pt x="191691" y="24445"/>
                  <a:pt x="186370" y="29766"/>
                  <a:pt x="179785" y="29766"/>
                </a:cubicBezTo>
                <a:lnTo>
                  <a:pt x="84535" y="29766"/>
                </a:lnTo>
                <a:cubicBezTo>
                  <a:pt x="77949" y="29766"/>
                  <a:pt x="72629" y="24445"/>
                  <a:pt x="72629" y="17860"/>
                </a:cubicBezTo>
                <a:cubicBezTo>
                  <a:pt x="72629" y="11274"/>
                  <a:pt x="77949" y="5954"/>
                  <a:pt x="84535" y="5954"/>
                </a:cubicBezTo>
                <a:close/>
                <a:moveTo>
                  <a:pt x="84535" y="65485"/>
                </a:moveTo>
                <a:lnTo>
                  <a:pt x="179785" y="65485"/>
                </a:lnTo>
                <a:cubicBezTo>
                  <a:pt x="186370" y="65485"/>
                  <a:pt x="191691" y="70805"/>
                  <a:pt x="191691" y="77391"/>
                </a:cubicBezTo>
                <a:cubicBezTo>
                  <a:pt x="191691" y="83977"/>
                  <a:pt x="186370" y="89297"/>
                  <a:pt x="179785" y="89297"/>
                </a:cubicBezTo>
                <a:lnTo>
                  <a:pt x="84535" y="89297"/>
                </a:lnTo>
                <a:cubicBezTo>
                  <a:pt x="77949" y="89297"/>
                  <a:pt x="72629" y="83977"/>
                  <a:pt x="72629" y="77391"/>
                </a:cubicBezTo>
                <a:cubicBezTo>
                  <a:pt x="72629" y="70805"/>
                  <a:pt x="77949" y="65485"/>
                  <a:pt x="84535" y="65485"/>
                </a:cubicBezTo>
                <a:close/>
                <a:moveTo>
                  <a:pt x="84535" y="125016"/>
                </a:moveTo>
                <a:lnTo>
                  <a:pt x="179785" y="125016"/>
                </a:lnTo>
                <a:cubicBezTo>
                  <a:pt x="186370" y="125016"/>
                  <a:pt x="191691" y="130337"/>
                  <a:pt x="191691" y="136922"/>
                </a:cubicBezTo>
                <a:cubicBezTo>
                  <a:pt x="191691" y="143508"/>
                  <a:pt x="186370" y="148828"/>
                  <a:pt x="179785" y="148828"/>
                </a:cubicBezTo>
                <a:lnTo>
                  <a:pt x="84535" y="148828"/>
                </a:lnTo>
                <a:cubicBezTo>
                  <a:pt x="77949" y="148828"/>
                  <a:pt x="72629" y="143508"/>
                  <a:pt x="72629" y="136922"/>
                </a:cubicBezTo>
                <a:cubicBezTo>
                  <a:pt x="72629" y="130337"/>
                  <a:pt x="77949" y="125016"/>
                  <a:pt x="84535" y="12501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85190" y="2783840"/>
            <a:ext cx="242379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tapes de reproductio</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100"/>
          </a:p>
        </p:txBody>
      </p:sp>
      <p:sp>
        <p:nvSpPr>
          <p:cNvPr id="12" name="Freeform 12"/>
          <p:cNvSpPr/>
          <p:nvPr/>
        </p:nvSpPr>
        <p:spPr>
          <a:xfrm>
            <a:off x="399911" y="3278884"/>
            <a:ext cx="6343555" cy="495300"/>
          </a:xfrm>
          <a:custGeom>
            <a:avLst/>
            <a:gdLst/>
            <a:ahLst/>
            <a:cxnLst/>
            <a:rect l="l" t="t" r="r" b="b"/>
            <a:pathLst>
              <a:path w="6343555" h="495300">
                <a:moveTo>
                  <a:pt x="37909" y="0"/>
                </a:moveTo>
                <a:lnTo>
                  <a:pt x="6267353" y="0"/>
                </a:lnTo>
                <a:cubicBezTo>
                  <a:pt x="6309437" y="0"/>
                  <a:pt x="6343555" y="34117"/>
                  <a:pt x="6343555" y="76203"/>
                </a:cubicBezTo>
                <a:lnTo>
                  <a:pt x="6343555" y="419097"/>
                </a:lnTo>
                <a:cubicBezTo>
                  <a:pt x="6343555" y="461183"/>
                  <a:pt x="6309437" y="495300"/>
                  <a:pt x="6267353" y="495300"/>
                </a:cubicBezTo>
                <a:lnTo>
                  <a:pt x="37909" y="495300"/>
                </a:lnTo>
                <a:cubicBezTo>
                  <a:pt x="16974" y="495300"/>
                  <a:pt x="0" y="478326"/>
                  <a:pt x="0" y="4573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99911" y="3278884"/>
            <a:ext cx="37909" cy="495300"/>
          </a:xfrm>
          <a:custGeom>
            <a:avLst/>
            <a:gdLst/>
            <a:ahLst/>
            <a:cxnLst/>
            <a:rect l="l" t="t" r="r" b="b"/>
            <a:pathLst>
              <a:path w="37909" h="495300">
                <a:moveTo>
                  <a:pt x="37909" y="0"/>
                </a:moveTo>
                <a:lnTo>
                  <a:pt x="37909" y="0"/>
                </a:lnTo>
                <a:lnTo>
                  <a:pt x="37909" y="495300"/>
                </a:lnTo>
                <a:lnTo>
                  <a:pt x="37909" y="495300"/>
                </a:lnTo>
                <a:cubicBezTo>
                  <a:pt x="16974" y="495300"/>
                  <a:pt x="0" y="478326"/>
                  <a:pt x="0" y="4573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56928" y="3431191"/>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2" y="128996"/>
                  <a:pt x="119062" y="133946"/>
                </a:cubicBezTo>
                <a:cubicBezTo>
                  <a:pt x="119062" y="138894"/>
                  <a:pt x="115081" y="142875"/>
                  <a:pt x="110133" y="142875"/>
                </a:cubicBezTo>
                <a:lnTo>
                  <a:pt x="80367" y="142875"/>
                </a:lnTo>
                <a:cubicBezTo>
                  <a:pt x="75419" y="142875"/>
                  <a:pt x="71438" y="138894"/>
                  <a:pt x="71438" y="133946"/>
                </a:cubicBezTo>
                <a:cubicBezTo>
                  <a:pt x="71438" y="128996"/>
                  <a:pt x="75419" y="125016"/>
                  <a:pt x="80367" y="125016"/>
                </a:cubicBezTo>
                <a:lnTo>
                  <a:pt x="89298" y="125016"/>
                </a:lnTo>
                <a:lnTo>
                  <a:pt x="89298" y="101202"/>
                </a:lnTo>
                <a:lnTo>
                  <a:pt x="80367" y="101202"/>
                </a:lnTo>
                <a:cubicBezTo>
                  <a:pt x="75419" y="101202"/>
                  <a:pt x="71438" y="97222"/>
                  <a:pt x="71438" y="92273"/>
                </a:cubicBezTo>
                <a:cubicBezTo>
                  <a:pt x="71438" y="87325"/>
                  <a:pt x="75419" y="83344"/>
                  <a:pt x="80367" y="8334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885190" y="3393440"/>
            <a:ext cx="403987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Explication pr</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cise du probl</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16" name="Freeform 16"/>
          <p:cNvSpPr/>
          <p:nvPr/>
        </p:nvSpPr>
        <p:spPr>
          <a:xfrm>
            <a:off x="399911" y="3888339"/>
            <a:ext cx="6343555" cy="495300"/>
          </a:xfrm>
          <a:custGeom>
            <a:avLst/>
            <a:gdLst/>
            <a:ahLst/>
            <a:cxnLst/>
            <a:rect l="l" t="t" r="r" b="b"/>
            <a:pathLst>
              <a:path w="6343555" h="495300">
                <a:moveTo>
                  <a:pt x="37909" y="0"/>
                </a:moveTo>
                <a:lnTo>
                  <a:pt x="6267353" y="0"/>
                </a:lnTo>
                <a:cubicBezTo>
                  <a:pt x="6309437" y="0"/>
                  <a:pt x="6343555" y="34117"/>
                  <a:pt x="6343555" y="76203"/>
                </a:cubicBezTo>
                <a:lnTo>
                  <a:pt x="6343555" y="419097"/>
                </a:lnTo>
                <a:cubicBezTo>
                  <a:pt x="6343555" y="461183"/>
                  <a:pt x="6309437" y="495300"/>
                  <a:pt x="6267353" y="495300"/>
                </a:cubicBezTo>
                <a:lnTo>
                  <a:pt x="37909" y="495300"/>
                </a:lnTo>
                <a:cubicBezTo>
                  <a:pt x="16974" y="495300"/>
                  <a:pt x="0" y="478326"/>
                  <a:pt x="0" y="457391"/>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399911" y="3888339"/>
            <a:ext cx="37909" cy="495300"/>
          </a:xfrm>
          <a:custGeom>
            <a:avLst/>
            <a:gdLst/>
            <a:ahLst/>
            <a:cxnLst/>
            <a:rect l="l" t="t" r="r" b="b"/>
            <a:pathLst>
              <a:path w="37909" h="495300">
                <a:moveTo>
                  <a:pt x="37909" y="0"/>
                </a:moveTo>
                <a:lnTo>
                  <a:pt x="37909" y="0"/>
                </a:lnTo>
                <a:lnTo>
                  <a:pt x="37909" y="495300"/>
                </a:lnTo>
                <a:lnTo>
                  <a:pt x="37909" y="495300"/>
                </a:lnTo>
                <a:cubicBezTo>
                  <a:pt x="16974" y="495300"/>
                  <a:pt x="0" y="478326"/>
                  <a:pt x="0" y="4573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543869" y="4039269"/>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3"/>
                </a:lnTo>
                <a:cubicBezTo>
                  <a:pt x="216655" y="100422"/>
                  <a:pt x="216655" y="92869"/>
                  <a:pt x="212005" y="88218"/>
                </a:cubicBezTo>
                <a:lnTo>
                  <a:pt x="176286" y="52500"/>
                </a:lnTo>
                <a:cubicBezTo>
                  <a:pt x="171637" y="47849"/>
                  <a:pt x="164083" y="47849"/>
                  <a:pt x="159432" y="52500"/>
                </a:cubicBezTo>
                <a:close/>
                <a:moveTo>
                  <a:pt x="57223" y="52461"/>
                </a:moveTo>
                <a:cubicBezTo>
                  <a:pt x="52573" y="47811"/>
                  <a:pt x="45020" y="47811"/>
                  <a:pt x="40369" y="52461"/>
                </a:cubicBezTo>
                <a:lnTo>
                  <a:pt x="4651" y="88181"/>
                </a:lnTo>
                <a:cubicBezTo>
                  <a:pt x="0" y="92832"/>
                  <a:pt x="0" y="100385"/>
                  <a:pt x="4651" y="105036"/>
                </a:cubicBezTo>
                <a:lnTo>
                  <a:pt x="40369" y="140754"/>
                </a:lnTo>
                <a:cubicBezTo>
                  <a:pt x="45020" y="145405"/>
                  <a:pt x="52573" y="145405"/>
                  <a:pt x="57223" y="140754"/>
                </a:cubicBezTo>
                <a:cubicBezTo>
                  <a:pt x="61876" y="136104"/>
                  <a:pt x="61876" y="128551"/>
                  <a:pt x="57223" y="123900"/>
                </a:cubicBezTo>
                <a:lnTo>
                  <a:pt x="29913" y="96627"/>
                </a:lnTo>
                <a:lnTo>
                  <a:pt x="57187" y="69317"/>
                </a:lnTo>
                <a:cubicBezTo>
                  <a:pt x="61837" y="64666"/>
                  <a:pt x="61837" y="57113"/>
                  <a:pt x="57187" y="5246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885190" y="4002405"/>
            <a:ext cx="565594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Exemple de code (si possible)</a:t>
            </a:r>
            <a:endParaRPr lang="en-US" sz="1100"/>
          </a:p>
        </p:txBody>
      </p:sp>
      <p:sp>
        <p:nvSpPr>
          <p:cNvPr id="20" name="Freeform 20"/>
          <p:cNvSpPr/>
          <p:nvPr/>
        </p:nvSpPr>
        <p:spPr>
          <a:xfrm>
            <a:off x="7048530" y="1640886"/>
            <a:ext cx="4762500" cy="3124200"/>
          </a:xfrm>
          <a:custGeom>
            <a:avLst/>
            <a:gdLst/>
            <a:ahLst/>
            <a:cxnLst/>
            <a:rect l="l" t="t" r="r" b="b"/>
            <a:pathLst>
              <a:path w="4762500" h="3124200">
                <a:moveTo>
                  <a:pt x="76199" y="0"/>
                </a:moveTo>
                <a:lnTo>
                  <a:pt x="4686301" y="0"/>
                </a:lnTo>
                <a:cubicBezTo>
                  <a:pt x="4728384" y="0"/>
                  <a:pt x="4762500" y="34116"/>
                  <a:pt x="4762500" y="76199"/>
                </a:cubicBezTo>
                <a:lnTo>
                  <a:pt x="4762500" y="3048001"/>
                </a:lnTo>
                <a:cubicBezTo>
                  <a:pt x="4762500" y="3090084"/>
                  <a:pt x="4728384" y="3124200"/>
                  <a:pt x="4686301" y="3124200"/>
                </a:cubicBezTo>
                <a:lnTo>
                  <a:pt x="76199" y="3124200"/>
                </a:lnTo>
                <a:cubicBezTo>
                  <a:pt x="34116" y="3124200"/>
                  <a:pt x="0" y="3090084"/>
                  <a:pt x="0" y="3048001"/>
                </a:cubicBezTo>
                <a:lnTo>
                  <a:pt x="0" y="76199"/>
                </a:lnTo>
                <a:cubicBezTo>
                  <a:pt x="0" y="34144"/>
                  <a:pt x="34144" y="0"/>
                  <a:pt x="76199" y="0"/>
                </a:cubicBezTo>
                <a:close/>
              </a:path>
            </a:pathLst>
          </a:custGeom>
          <a:solidFill>
            <a:srgbClr val="101828">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1" name="AutoShape 21"/>
          <p:cNvSpPr/>
          <p:nvPr/>
        </p:nvSpPr>
        <p:spPr>
          <a:xfrm>
            <a:off x="7277103" y="1869458"/>
            <a:ext cx="4400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B22222"/>
                </a:solidFill>
                <a:latin typeface="Noto Sans SC" panose="020B0200000000000000" charset="-122"/>
                <a:ea typeface="Noto Sans SC" panose="020B0200000000000000" charset="-122"/>
                <a:cs typeface="Noto Sans SC" panose="020B0200000000000000" charset="-122"/>
                <a:sym typeface="Noto Sans SC" panose="020B0200000000000000" charset="-122"/>
              </a:rPr>
              <a:t>Exemple de structure</a:t>
            </a:r>
            <a:endParaRPr lang="en-US" sz="1100"/>
          </a:p>
        </p:txBody>
      </p:sp>
      <p:sp>
        <p:nvSpPr>
          <p:cNvPr id="22" name="Freeform 22"/>
          <p:cNvSpPr/>
          <p:nvPr/>
        </p:nvSpPr>
        <p:spPr>
          <a:xfrm>
            <a:off x="7286581" y="2288549"/>
            <a:ext cx="18955" cy="381000"/>
          </a:xfrm>
          <a:custGeom>
            <a:avLst/>
            <a:gdLst/>
            <a:ahLst/>
            <a:cxnLst/>
            <a:rect l="l" t="t" r="r" b="b"/>
            <a:pathLst>
              <a:path w="18955" h="381000">
                <a:moveTo>
                  <a:pt x="0" y="0"/>
                </a:moveTo>
                <a:lnTo>
                  <a:pt x="18955" y="0"/>
                </a:lnTo>
                <a:lnTo>
                  <a:pt x="18955" y="381000"/>
                </a:lnTo>
                <a:lnTo>
                  <a:pt x="0" y="381000"/>
                </a:lnTo>
                <a:lnTo>
                  <a:pt x="0" y="0"/>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7410308" y="2288549"/>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 Summary</a:t>
            </a:r>
            <a:endParaRPr lang="en-US" sz="1100"/>
          </a:p>
        </p:txBody>
      </p:sp>
      <p:sp>
        <p:nvSpPr>
          <p:cNvPr id="24" name="AutoShape 24"/>
          <p:cNvSpPr/>
          <p:nvPr/>
        </p:nvSpPr>
        <p:spPr>
          <a:xfrm>
            <a:off x="7410308" y="2478988"/>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Decret brievement le probleme</a:t>
            </a:r>
            <a:endParaRPr lang="en-US" sz="1100"/>
          </a:p>
        </p:txBody>
      </p:sp>
      <p:sp>
        <p:nvSpPr>
          <p:cNvPr id="25" name="Freeform 25"/>
          <p:cNvSpPr/>
          <p:nvPr/>
        </p:nvSpPr>
        <p:spPr>
          <a:xfrm>
            <a:off x="7286581" y="2783677"/>
            <a:ext cx="18955" cy="762000"/>
          </a:xfrm>
          <a:custGeom>
            <a:avLst/>
            <a:gdLst/>
            <a:ahLst/>
            <a:cxnLst/>
            <a:rect l="l" t="t" r="r" b="b"/>
            <a:pathLst>
              <a:path w="18955" h="762000">
                <a:moveTo>
                  <a:pt x="0" y="0"/>
                </a:moveTo>
                <a:lnTo>
                  <a:pt x="18955" y="0"/>
                </a:lnTo>
                <a:lnTo>
                  <a:pt x="18955" y="762000"/>
                </a:lnTo>
                <a:lnTo>
                  <a:pt x="0" y="762000"/>
                </a:lnTo>
                <a:lnTo>
                  <a:pt x="0" y="0"/>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7410308" y="2783677"/>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 Steps to reproduce</a:t>
            </a:r>
            <a:endParaRPr lang="en-US" sz="1100"/>
          </a:p>
        </p:txBody>
      </p:sp>
      <p:sp>
        <p:nvSpPr>
          <p:cNvPr id="27" name="AutoShape 27"/>
          <p:cNvSpPr/>
          <p:nvPr/>
        </p:nvSpPr>
        <p:spPr>
          <a:xfrm>
            <a:off x="7410308" y="2974121"/>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1. Etape une</a:t>
            </a:r>
            <a:endParaRPr lang="en-US" sz="1100"/>
          </a:p>
        </p:txBody>
      </p:sp>
      <p:sp>
        <p:nvSpPr>
          <p:cNvPr id="28" name="AutoShape 28"/>
          <p:cNvSpPr/>
          <p:nvPr/>
        </p:nvSpPr>
        <p:spPr>
          <a:xfrm>
            <a:off x="7410308" y="3164560"/>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2. Etape deux</a:t>
            </a:r>
            <a:endParaRPr lang="en-US" sz="1100"/>
          </a:p>
        </p:txBody>
      </p:sp>
      <p:sp>
        <p:nvSpPr>
          <p:cNvPr id="29" name="AutoShape 29"/>
          <p:cNvSpPr/>
          <p:nvPr/>
        </p:nvSpPr>
        <p:spPr>
          <a:xfrm>
            <a:off x="7410308" y="3355000"/>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3. Etape trois</a:t>
            </a:r>
            <a:endParaRPr lang="en-US" sz="1100"/>
          </a:p>
        </p:txBody>
      </p:sp>
      <p:sp>
        <p:nvSpPr>
          <p:cNvPr id="30" name="Freeform 30"/>
          <p:cNvSpPr/>
          <p:nvPr/>
        </p:nvSpPr>
        <p:spPr>
          <a:xfrm>
            <a:off x="7286581" y="3659693"/>
            <a:ext cx="18955" cy="381000"/>
          </a:xfrm>
          <a:custGeom>
            <a:avLst/>
            <a:gdLst/>
            <a:ahLst/>
            <a:cxnLst/>
            <a:rect l="l" t="t" r="r" b="b"/>
            <a:pathLst>
              <a:path w="18955" h="381000">
                <a:moveTo>
                  <a:pt x="0" y="0"/>
                </a:moveTo>
                <a:lnTo>
                  <a:pt x="18955" y="0"/>
                </a:lnTo>
                <a:lnTo>
                  <a:pt x="18955" y="381000"/>
                </a:lnTo>
                <a:lnTo>
                  <a:pt x="0" y="381000"/>
                </a:lnTo>
                <a:lnTo>
                  <a:pt x="0" y="0"/>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7410308" y="3659693"/>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 Expected behavior</a:t>
            </a:r>
            <a:endParaRPr lang="en-US" sz="1100"/>
          </a:p>
        </p:txBody>
      </p:sp>
      <p:sp>
        <p:nvSpPr>
          <p:cNvPr id="32" name="AutoShape 32"/>
          <p:cNvSpPr/>
          <p:nvPr/>
        </p:nvSpPr>
        <p:spPr>
          <a:xfrm>
            <a:off x="7410308" y="3850132"/>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Description du comportement attendu</a:t>
            </a:r>
            <a:endParaRPr lang="en-US" sz="1100"/>
          </a:p>
        </p:txBody>
      </p:sp>
      <p:sp>
        <p:nvSpPr>
          <p:cNvPr id="33" name="Freeform 33"/>
          <p:cNvSpPr/>
          <p:nvPr/>
        </p:nvSpPr>
        <p:spPr>
          <a:xfrm>
            <a:off x="7286581" y="4154821"/>
            <a:ext cx="18955" cy="381000"/>
          </a:xfrm>
          <a:custGeom>
            <a:avLst/>
            <a:gdLst/>
            <a:ahLst/>
            <a:cxnLst/>
            <a:rect l="l" t="t" r="r" b="b"/>
            <a:pathLst>
              <a:path w="18955" h="381000">
                <a:moveTo>
                  <a:pt x="0" y="0"/>
                </a:moveTo>
                <a:lnTo>
                  <a:pt x="18955" y="0"/>
                </a:lnTo>
                <a:lnTo>
                  <a:pt x="18955" y="381000"/>
                </a:lnTo>
                <a:lnTo>
                  <a:pt x="0" y="381000"/>
                </a:lnTo>
                <a:lnTo>
                  <a:pt x="0" y="0"/>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7410308" y="4154821"/>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 Actual behavior</a:t>
            </a:r>
            <a:endParaRPr lang="en-US" sz="1100"/>
          </a:p>
        </p:txBody>
      </p:sp>
      <p:sp>
        <p:nvSpPr>
          <p:cNvPr id="35" name="AutoShape 35"/>
          <p:cNvSpPr/>
          <p:nvPr/>
        </p:nvSpPr>
        <p:spPr>
          <a:xfrm>
            <a:off x="7410308" y="4345260"/>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Description du comportement reel</a:t>
            </a:r>
            <a:endParaRPr lang="en-US" sz="1100"/>
          </a:p>
        </p:txBody>
      </p:sp>
      <p:sp>
        <p:nvSpPr>
          <p:cNvPr id="36" name="AutoShape 36"/>
          <p:cNvSpPr/>
          <p:nvPr/>
        </p:nvSpPr>
        <p:spPr>
          <a:xfrm>
            <a:off x="291465" y="6474460"/>
            <a:ext cx="10817860" cy="30670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Reference FlagTree : https://github.com/flagos-ai/FlagTree/issues</a:t>
            </a:r>
            <a:endParaRPr lang="en-US" sz="1100"/>
          </a:p>
        </p:txBody>
      </p:sp>
      <p:pic>
        <p:nvPicPr>
          <p:cNvPr id="37" name="Picture 37"/>
          <p:cNvPicPr>
            <a:picLocks noChangeAspect="1"/>
          </p:cNvPicPr>
          <p:nvPr/>
        </p:nvPicPr>
        <p:blipFill>
          <a:blip r:embed="rId1"/>
          <a:srcRect/>
          <a:stretch>
            <a:fillRect/>
          </a:stretch>
        </p:blipFill>
        <p:spPr>
          <a:xfrm>
            <a:off x="380956" y="5141459"/>
            <a:ext cx="4672494" cy="1218911"/>
          </a:xfrm>
          <a:prstGeom prst="rect">
            <a:avLst/>
          </a:prstGeom>
          <a:ln w="12700">
            <a:noFill/>
            <a:prstDash val="solid"/>
          </a:ln>
        </p:spPr>
      </p:pic>
      <p:pic>
        <p:nvPicPr>
          <p:cNvPr id="38" name="Picture 38"/>
          <p:cNvPicPr>
            <a:picLocks noChangeAspect="1"/>
          </p:cNvPicPr>
          <p:nvPr/>
        </p:nvPicPr>
        <p:blipFill>
          <a:blip r:embed="rId2"/>
          <a:srcRect/>
          <a:stretch>
            <a:fillRect/>
          </a:stretch>
        </p:blipFill>
        <p:spPr>
          <a:xfrm>
            <a:off x="5277852" y="5136649"/>
            <a:ext cx="2369607" cy="124461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18324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Exigences de contribution de code</a:t>
            </a:r>
            <a:endParaRPr lang="en-US" sz="3200"/>
          </a:p>
        </p:txBody>
      </p:sp>
      <p:sp>
        <p:nvSpPr>
          <p:cNvPr id="3" name="AutoShape 3"/>
          <p:cNvSpPr/>
          <p:nvPr/>
        </p:nvSpPr>
        <p:spPr>
          <a:xfrm>
            <a:off x="380956" y="1640886"/>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Pour soumettre une PR, il faut :</a:t>
            </a:r>
            <a:endParaRPr lang="en-US" sz="1100"/>
          </a:p>
        </p:txBody>
      </p:sp>
      <p:sp>
        <p:nvSpPr>
          <p:cNvPr id="4" name="Freeform 4"/>
          <p:cNvSpPr/>
          <p:nvPr/>
        </p:nvSpPr>
        <p:spPr>
          <a:xfrm>
            <a:off x="380956" y="2059972"/>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80963" y="2250411"/>
            <a:ext cx="142875" cy="190500"/>
          </a:xfrm>
          <a:custGeom>
            <a:avLst/>
            <a:gdLst/>
            <a:ahLst/>
            <a:cxnLst/>
            <a:rect l="l" t="t" r="r" b="b"/>
            <a:pathLst>
              <a:path w="142875" h="190500">
                <a:moveTo>
                  <a:pt x="0" y="23813"/>
                </a:moveTo>
                <a:cubicBezTo>
                  <a:pt x="0" y="10678"/>
                  <a:pt x="10678" y="0"/>
                  <a:pt x="23813" y="0"/>
                </a:cubicBezTo>
                <a:lnTo>
                  <a:pt x="79437" y="0"/>
                </a:lnTo>
                <a:cubicBezTo>
                  <a:pt x="85762" y="0"/>
                  <a:pt x="91827" y="2493"/>
                  <a:pt x="96291" y="6958"/>
                </a:cubicBezTo>
                <a:lnTo>
                  <a:pt x="135917" y="46620"/>
                </a:lnTo>
                <a:cubicBezTo>
                  <a:pt x="140382" y="51084"/>
                  <a:pt x="142875" y="57150"/>
                  <a:pt x="142875" y="63475"/>
                </a:cubicBezTo>
                <a:lnTo>
                  <a:pt x="142875" y="166687"/>
                </a:lnTo>
                <a:cubicBezTo>
                  <a:pt x="142875" y="179822"/>
                  <a:pt x="132197" y="190500"/>
                  <a:pt x="119063" y="190500"/>
                </a:cubicBezTo>
                <a:lnTo>
                  <a:pt x="23813" y="190500"/>
                </a:lnTo>
                <a:cubicBezTo>
                  <a:pt x="10678" y="190500"/>
                  <a:pt x="0" y="179822"/>
                  <a:pt x="0" y="166687"/>
                </a:cubicBezTo>
                <a:lnTo>
                  <a:pt x="0" y="23813"/>
                </a:lnTo>
                <a:close/>
                <a:moveTo>
                  <a:pt x="77391" y="21767"/>
                </a:moveTo>
                <a:lnTo>
                  <a:pt x="77391" y="56554"/>
                </a:lnTo>
                <a:cubicBezTo>
                  <a:pt x="77391" y="61504"/>
                  <a:pt x="81371" y="65484"/>
                  <a:pt x="86321" y="65484"/>
                </a:cubicBezTo>
                <a:lnTo>
                  <a:pt x="121108" y="65484"/>
                </a:lnTo>
                <a:lnTo>
                  <a:pt x="77391" y="21767"/>
                </a:lnTo>
                <a:close/>
                <a:moveTo>
                  <a:pt x="44648" y="95250"/>
                </a:moveTo>
                <a:cubicBezTo>
                  <a:pt x="39700" y="95250"/>
                  <a:pt x="35719" y="99231"/>
                  <a:pt x="35719" y="104179"/>
                </a:cubicBezTo>
                <a:cubicBezTo>
                  <a:pt x="35719" y="109129"/>
                  <a:pt x="39700" y="113109"/>
                  <a:pt x="44648" y="113109"/>
                </a:cubicBezTo>
                <a:lnTo>
                  <a:pt x="98227" y="113109"/>
                </a:lnTo>
                <a:cubicBezTo>
                  <a:pt x="103175" y="113109"/>
                  <a:pt x="107156" y="109129"/>
                  <a:pt x="107156" y="104179"/>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7"/>
                  <a:pt x="44648" y="148827"/>
                </a:cubicBezTo>
                <a:lnTo>
                  <a:pt x="98227" y="148827"/>
                </a:lnTo>
                <a:cubicBezTo>
                  <a:pt x="103175" y="148827"/>
                  <a:pt x="107156" y="144847"/>
                  <a:pt x="107156" y="139898"/>
                </a:cubicBezTo>
                <a:cubicBezTo>
                  <a:pt x="107156" y="134950"/>
                  <a:pt x="103175" y="130969"/>
                  <a:pt x="98227" y="130969"/>
                </a:cubicBezTo>
                <a:lnTo>
                  <a:pt x="44648" y="13096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885825" y="2212340"/>
            <a:ext cx="497268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crire </a:t>
            </a: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clairement le contenu des modifications</a:t>
            </a:r>
            <a:endParaRPr lang="en-US" sz="1100"/>
          </a:p>
        </p:txBody>
      </p:sp>
      <p:sp>
        <p:nvSpPr>
          <p:cNvPr id="7" name="AutoShape 7"/>
          <p:cNvSpPr/>
          <p:nvPr/>
        </p:nvSpPr>
        <p:spPr>
          <a:xfrm>
            <a:off x="885825" y="2479040"/>
            <a:ext cx="499681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Expliquer en d</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tail les fichiers et fonctionnalit</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 modifi</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8" name="Freeform 8"/>
          <p:cNvSpPr/>
          <p:nvPr/>
        </p:nvSpPr>
        <p:spPr>
          <a:xfrm>
            <a:off x="380956" y="2974265"/>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57150" y="316470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65484"/>
                </a:moveTo>
                <a:cubicBezTo>
                  <a:pt x="88664" y="65484"/>
                  <a:pt x="83344" y="70805"/>
                  <a:pt x="83344" y="77391"/>
                </a:cubicBezTo>
                <a:cubicBezTo>
                  <a:pt x="83344" y="82339"/>
                  <a:pt x="79364" y="86321"/>
                  <a:pt x="74414" y="86321"/>
                </a:cubicBezTo>
                <a:cubicBezTo>
                  <a:pt x="69466" y="86321"/>
                  <a:pt x="65484" y="82339"/>
                  <a:pt x="65484" y="77391"/>
                </a:cubicBezTo>
                <a:cubicBezTo>
                  <a:pt x="65484" y="60945"/>
                  <a:pt x="78804" y="47625"/>
                  <a:pt x="95250" y="47625"/>
                </a:cubicBezTo>
                <a:cubicBezTo>
                  <a:pt x="111696" y="47625"/>
                  <a:pt x="125016" y="60945"/>
                  <a:pt x="125016" y="77391"/>
                </a:cubicBezTo>
                <a:cubicBezTo>
                  <a:pt x="125016" y="94952"/>
                  <a:pt x="111622" y="102394"/>
                  <a:pt x="104179" y="105110"/>
                </a:cubicBezTo>
                <a:lnTo>
                  <a:pt x="104179" y="106524"/>
                </a:lnTo>
                <a:cubicBezTo>
                  <a:pt x="104179" y="111472"/>
                  <a:pt x="100199" y="115453"/>
                  <a:pt x="95250" y="115453"/>
                </a:cubicBezTo>
                <a:cubicBezTo>
                  <a:pt x="90301" y="115453"/>
                  <a:pt x="86321" y="111472"/>
                  <a:pt x="86321" y="106524"/>
                </a:cubicBezTo>
                <a:lnTo>
                  <a:pt x="86321" y="103510"/>
                </a:lnTo>
                <a:cubicBezTo>
                  <a:pt x="86321" y="95882"/>
                  <a:pt x="91827" y="90413"/>
                  <a:pt x="97519" y="88553"/>
                </a:cubicBezTo>
                <a:cubicBezTo>
                  <a:pt x="99901" y="87771"/>
                  <a:pt x="102431" y="86506"/>
                  <a:pt x="104291" y="84720"/>
                </a:cubicBezTo>
                <a:cubicBezTo>
                  <a:pt x="105891" y="83158"/>
                  <a:pt x="107156" y="81001"/>
                  <a:pt x="107156" y="77428"/>
                </a:cubicBezTo>
                <a:cubicBezTo>
                  <a:pt x="107156" y="70842"/>
                  <a:pt x="101836" y="65522"/>
                  <a:pt x="95250" y="65522"/>
                </a:cubicBezTo>
                <a:close/>
                <a:moveTo>
                  <a:pt x="83344" y="136923"/>
                </a:moveTo>
                <a:cubicBezTo>
                  <a:pt x="83344" y="130352"/>
                  <a:pt x="88679" y="125016"/>
                  <a:pt x="95250" y="125016"/>
                </a:cubicBezTo>
                <a:cubicBezTo>
                  <a:pt x="101821" y="125016"/>
                  <a:pt x="107156" y="130352"/>
                  <a:pt x="107156" y="136923"/>
                </a:cubicBezTo>
                <a:cubicBezTo>
                  <a:pt x="107156" y="143493"/>
                  <a:pt x="101821" y="148827"/>
                  <a:pt x="95250" y="148827"/>
                </a:cubicBezTo>
                <a:cubicBezTo>
                  <a:pt x="88679" y="148827"/>
                  <a:pt x="83344" y="143493"/>
                  <a:pt x="83344" y="13692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85825" y="3126740"/>
            <a:ext cx="465328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Expliquer la raison de la modification</a:t>
            </a:r>
            <a:endParaRPr lang="en-US" sz="1100"/>
          </a:p>
        </p:txBody>
      </p:sp>
      <p:sp>
        <p:nvSpPr>
          <p:cNvPr id="11" name="AutoShape 11"/>
          <p:cNvSpPr/>
          <p:nvPr/>
        </p:nvSpPr>
        <p:spPr>
          <a:xfrm>
            <a:off x="885825" y="3393440"/>
            <a:ext cx="497268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Justifier pourquoi cette modification </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est n</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cessair</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12" name="Freeform 12"/>
          <p:cNvSpPr/>
          <p:nvPr/>
        </p:nvSpPr>
        <p:spPr>
          <a:xfrm>
            <a:off x="380956" y="3888558"/>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57150" y="4077845"/>
            <a:ext cx="191691" cy="191653"/>
          </a:xfrm>
          <a:custGeom>
            <a:avLst/>
            <a:gdLst/>
            <a:ahLst/>
            <a:cxnLst/>
            <a:rect l="l" t="t" r="r" b="b"/>
            <a:pathLst>
              <a:path w="191691" h="191653">
                <a:moveTo>
                  <a:pt x="127471" y="4651"/>
                </a:moveTo>
                <a:cubicBezTo>
                  <a:pt x="122820" y="0"/>
                  <a:pt x="115266" y="0"/>
                  <a:pt x="110617" y="4651"/>
                </a:cubicBezTo>
                <a:cubicBezTo>
                  <a:pt x="105966" y="9301"/>
                  <a:pt x="105966" y="16854"/>
                  <a:pt x="110617" y="21505"/>
                </a:cubicBezTo>
                <a:lnTo>
                  <a:pt x="114115" y="24966"/>
                </a:lnTo>
                <a:lnTo>
                  <a:pt x="10455" y="128624"/>
                </a:lnTo>
                <a:cubicBezTo>
                  <a:pt x="3758" y="135322"/>
                  <a:pt x="0" y="144400"/>
                  <a:pt x="0" y="153888"/>
                </a:cubicBezTo>
                <a:lnTo>
                  <a:pt x="0" y="155934"/>
                </a:lnTo>
                <a:cubicBezTo>
                  <a:pt x="0" y="175654"/>
                  <a:pt x="15999" y="191653"/>
                  <a:pt x="35719" y="191653"/>
                </a:cubicBezTo>
                <a:lnTo>
                  <a:pt x="37765" y="191653"/>
                </a:lnTo>
                <a:cubicBezTo>
                  <a:pt x="47253" y="191653"/>
                  <a:pt x="56331" y="187895"/>
                  <a:pt x="63029" y="181198"/>
                </a:cubicBezTo>
                <a:lnTo>
                  <a:pt x="166688" y="77538"/>
                </a:lnTo>
                <a:lnTo>
                  <a:pt x="170185" y="81036"/>
                </a:lnTo>
                <a:cubicBezTo>
                  <a:pt x="174836" y="85687"/>
                  <a:pt x="182389" y="85687"/>
                  <a:pt x="187041" y="81036"/>
                </a:cubicBezTo>
                <a:cubicBezTo>
                  <a:pt x="191691" y="76387"/>
                  <a:pt x="191691" y="68833"/>
                  <a:pt x="187041" y="64182"/>
                </a:cubicBezTo>
                <a:lnTo>
                  <a:pt x="127508" y="4651"/>
                </a:lnTo>
                <a:close/>
                <a:moveTo>
                  <a:pt x="76385" y="96403"/>
                </a:moveTo>
                <a:lnTo>
                  <a:pt x="130969" y="41820"/>
                </a:lnTo>
                <a:lnTo>
                  <a:pt x="149833" y="60684"/>
                </a:lnTo>
                <a:lnTo>
                  <a:pt x="114115" y="96403"/>
                </a:lnTo>
                <a:lnTo>
                  <a:pt x="76349" y="96403"/>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885825" y="4041140"/>
            <a:ext cx="26828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Fournir des cas de test</a:t>
            </a:r>
            <a:endParaRPr lang="en-US" sz="1100"/>
          </a:p>
        </p:txBody>
      </p:sp>
      <p:sp>
        <p:nvSpPr>
          <p:cNvPr id="15" name="AutoShape 15"/>
          <p:cNvSpPr/>
          <p:nvPr/>
        </p:nvSpPr>
        <p:spPr>
          <a:xfrm>
            <a:off x="885825" y="4307840"/>
            <a:ext cx="405320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Si possible, fournir les cas de test correspondants</a:t>
            </a:r>
            <a:endParaRPr lang="en-US" sz="1100"/>
          </a:p>
        </p:txBody>
      </p:sp>
      <p:sp>
        <p:nvSpPr>
          <p:cNvPr id="16" name="Freeform 16"/>
          <p:cNvSpPr/>
          <p:nvPr/>
        </p:nvSpPr>
        <p:spPr>
          <a:xfrm>
            <a:off x="380956" y="4802851"/>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557150" y="4993291"/>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1" y="44648"/>
                </a:moveTo>
                <a:lnTo>
                  <a:pt x="86321" y="95250"/>
                </a:lnTo>
                <a:cubicBezTo>
                  <a:pt x="86321" y="98227"/>
                  <a:pt x="87809" y="101017"/>
                  <a:pt x="90301" y="102691"/>
                </a:cubicBezTo>
                <a:lnTo>
                  <a:pt x="126020" y="126503"/>
                </a:lnTo>
                <a:cubicBezTo>
                  <a:pt x="130113" y="129257"/>
                  <a:pt x="135658" y="128140"/>
                  <a:pt x="138410" y="124010"/>
                </a:cubicBezTo>
                <a:cubicBezTo>
                  <a:pt x="141163" y="119880"/>
                  <a:pt x="140047" y="114374"/>
                  <a:pt x="135917" y="111622"/>
                </a:cubicBezTo>
                <a:lnTo>
                  <a:pt x="104179" y="90487"/>
                </a:lnTo>
                <a:lnTo>
                  <a:pt x="104179" y="44648"/>
                </a:lnTo>
                <a:cubicBezTo>
                  <a:pt x="104179" y="39700"/>
                  <a:pt x="100199" y="35719"/>
                  <a:pt x="95250" y="35719"/>
                </a:cubicBezTo>
                <a:cubicBezTo>
                  <a:pt x="90301" y="35719"/>
                  <a:pt x="86321" y="39700"/>
                  <a:pt x="86321" y="4464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885825" y="4955540"/>
            <a:ext cx="47434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Attendre la revue des membres de </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quipe</a:t>
            </a:r>
            <a:endParaRPr lang="en-US" sz="1100"/>
          </a:p>
        </p:txBody>
      </p:sp>
      <p:sp>
        <p:nvSpPr>
          <p:cNvPr id="19" name="AutoShape 19"/>
          <p:cNvSpPr/>
          <p:nvPr/>
        </p:nvSpPr>
        <p:spPr>
          <a:xfrm>
            <a:off x="885825" y="5222240"/>
            <a:ext cx="47434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Patienter en attendant les commentaires de revue de code</a:t>
            </a:r>
            <a:endParaRPr lang="en-US" sz="1100"/>
          </a:p>
        </p:txBody>
      </p:sp>
      <p:sp>
        <p:nvSpPr>
          <p:cNvPr id="20" name="AutoShape 20"/>
          <p:cNvSpPr/>
          <p:nvPr/>
        </p:nvSpPr>
        <p:spPr>
          <a:xfrm>
            <a:off x="6248338" y="1640886"/>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Avant la fusion de la PR :</a:t>
            </a:r>
            <a:endParaRPr lang="en-US" sz="1100"/>
          </a:p>
        </p:txBody>
      </p:sp>
      <p:sp>
        <p:nvSpPr>
          <p:cNvPr id="21" name="Freeform 21"/>
          <p:cNvSpPr/>
          <p:nvPr/>
        </p:nvSpPr>
        <p:spPr>
          <a:xfrm>
            <a:off x="6248338" y="2059972"/>
            <a:ext cx="5562600" cy="3581400"/>
          </a:xfrm>
          <a:custGeom>
            <a:avLst/>
            <a:gdLst/>
            <a:ahLst/>
            <a:cxnLst/>
            <a:rect l="l" t="t" r="r" b="b"/>
            <a:pathLst>
              <a:path w="5562600" h="3581400">
                <a:moveTo>
                  <a:pt x="76211" y="0"/>
                </a:moveTo>
                <a:lnTo>
                  <a:pt x="5486389" y="0"/>
                </a:lnTo>
                <a:cubicBezTo>
                  <a:pt x="5528479" y="0"/>
                  <a:pt x="5562600" y="34121"/>
                  <a:pt x="5562600" y="76211"/>
                </a:cubicBezTo>
                <a:lnTo>
                  <a:pt x="5562600" y="3505189"/>
                </a:lnTo>
                <a:cubicBezTo>
                  <a:pt x="5562600" y="3547279"/>
                  <a:pt x="5528479" y="3581400"/>
                  <a:pt x="5486389" y="3581400"/>
                </a:cubicBezTo>
                <a:lnTo>
                  <a:pt x="76211" y="3581400"/>
                </a:lnTo>
                <a:cubicBezTo>
                  <a:pt x="34121" y="3581400"/>
                  <a:pt x="0" y="3547279"/>
                  <a:pt x="0" y="3505189"/>
                </a:cubicBezTo>
                <a:lnTo>
                  <a:pt x="0" y="76211"/>
                </a:lnTo>
                <a:cubicBezTo>
                  <a:pt x="0" y="34150"/>
                  <a:pt x="34150" y="0"/>
                  <a:pt x="7621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6476911" y="285993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6622143" y="3015896"/>
            <a:ext cx="255166" cy="225027"/>
          </a:xfrm>
          <a:custGeom>
            <a:avLst/>
            <a:gdLst/>
            <a:ahLst/>
            <a:cxnLst/>
            <a:rect l="l" t="t" r="r" b="b"/>
            <a:pathLst>
              <a:path w="255166" h="225027">
                <a:moveTo>
                  <a:pt x="39292" y="53577"/>
                </a:moveTo>
                <a:cubicBezTo>
                  <a:pt x="39292" y="24006"/>
                  <a:pt x="63298" y="0"/>
                  <a:pt x="92869" y="0"/>
                </a:cubicBezTo>
                <a:cubicBezTo>
                  <a:pt x="122440" y="0"/>
                  <a:pt x="146446" y="24006"/>
                  <a:pt x="146446" y="53577"/>
                </a:cubicBezTo>
                <a:cubicBezTo>
                  <a:pt x="146446" y="83148"/>
                  <a:pt x="122440" y="107154"/>
                  <a:pt x="92869" y="107154"/>
                </a:cubicBezTo>
                <a:cubicBezTo>
                  <a:pt x="63298" y="107154"/>
                  <a:pt x="39292" y="83148"/>
                  <a:pt x="39292" y="53577"/>
                </a:cubicBezTo>
                <a:close/>
                <a:moveTo>
                  <a:pt x="0" y="211766"/>
                </a:moveTo>
                <a:cubicBezTo>
                  <a:pt x="0" y="167788"/>
                  <a:pt x="35630" y="132158"/>
                  <a:pt x="79608" y="132158"/>
                </a:cubicBezTo>
                <a:lnTo>
                  <a:pt x="106130" y="132158"/>
                </a:lnTo>
                <a:cubicBezTo>
                  <a:pt x="150108" y="132158"/>
                  <a:pt x="185738" y="167788"/>
                  <a:pt x="185738" y="211766"/>
                </a:cubicBezTo>
                <a:cubicBezTo>
                  <a:pt x="185738" y="219088"/>
                  <a:pt x="179801" y="225027"/>
                  <a:pt x="172476" y="225027"/>
                </a:cubicBezTo>
                <a:lnTo>
                  <a:pt x="13262" y="225027"/>
                </a:lnTo>
                <a:cubicBezTo>
                  <a:pt x="5937" y="225027"/>
                  <a:pt x="0" y="219088"/>
                  <a:pt x="0" y="211766"/>
                </a:cubicBezTo>
                <a:close/>
                <a:moveTo>
                  <a:pt x="251996" y="55675"/>
                </a:moveTo>
                <a:lnTo>
                  <a:pt x="216277" y="112825"/>
                </a:lnTo>
                <a:cubicBezTo>
                  <a:pt x="214402" y="115817"/>
                  <a:pt x="211187" y="117692"/>
                  <a:pt x="207660" y="117871"/>
                </a:cubicBezTo>
                <a:cubicBezTo>
                  <a:pt x="204132" y="118049"/>
                  <a:pt x="200740" y="116442"/>
                  <a:pt x="198641" y="113585"/>
                </a:cubicBezTo>
                <a:lnTo>
                  <a:pt x="177210" y="85010"/>
                </a:lnTo>
                <a:cubicBezTo>
                  <a:pt x="173638" y="80277"/>
                  <a:pt x="174620" y="73580"/>
                  <a:pt x="179353" y="70008"/>
                </a:cubicBezTo>
                <a:cubicBezTo>
                  <a:pt x="184085" y="66436"/>
                  <a:pt x="190783" y="67417"/>
                  <a:pt x="194355" y="72151"/>
                </a:cubicBezTo>
                <a:lnTo>
                  <a:pt x="206410" y="88224"/>
                </a:lnTo>
                <a:lnTo>
                  <a:pt x="233824" y="44335"/>
                </a:lnTo>
                <a:cubicBezTo>
                  <a:pt x="236951" y="39334"/>
                  <a:pt x="243557" y="37771"/>
                  <a:pt x="248603" y="40940"/>
                </a:cubicBezTo>
                <a:cubicBezTo>
                  <a:pt x="253648" y="44112"/>
                  <a:pt x="255166" y="50675"/>
                  <a:pt x="251996" y="5571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7143750" y="2860040"/>
            <a:ext cx="455168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Approbation d'au moins un membre</a:t>
            </a:r>
            <a:endParaRPr lang="en-US" sz="1100"/>
          </a:p>
        </p:txBody>
      </p:sp>
      <p:sp>
        <p:nvSpPr>
          <p:cNvPr id="25" name="AutoShape 25"/>
          <p:cNvSpPr/>
          <p:nvPr/>
        </p:nvSpPr>
        <p:spPr>
          <a:xfrm>
            <a:off x="7143750" y="3241040"/>
            <a:ext cx="443738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La revue de code d'un maintainer du projet est requise</a:t>
            </a:r>
            <a:endParaRPr lang="en-US" sz="1100"/>
          </a:p>
        </p:txBody>
      </p:sp>
      <p:sp>
        <p:nvSpPr>
          <p:cNvPr id="26" name="Freeform 26"/>
          <p:cNvSpPr/>
          <p:nvPr/>
        </p:nvSpPr>
        <p:spPr>
          <a:xfrm>
            <a:off x="6476911" y="407777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6656433" y="4235384"/>
            <a:ext cx="174799" cy="209401"/>
          </a:xfrm>
          <a:custGeom>
            <a:avLst/>
            <a:gdLst/>
            <a:ahLst/>
            <a:cxnLst/>
            <a:rect l="l" t="t" r="r" b="b"/>
            <a:pathLst>
              <a:path w="174799" h="209401">
                <a:moveTo>
                  <a:pt x="113005" y="24601"/>
                </a:moveTo>
                <a:cubicBezTo>
                  <a:pt x="117649" y="18216"/>
                  <a:pt x="116220" y="9287"/>
                  <a:pt x="109835" y="4643"/>
                </a:cubicBezTo>
                <a:cubicBezTo>
                  <a:pt x="103451" y="0"/>
                  <a:pt x="94521" y="1430"/>
                  <a:pt x="89878" y="7813"/>
                </a:cubicBezTo>
                <a:lnTo>
                  <a:pt x="42550" y="72866"/>
                </a:lnTo>
                <a:lnTo>
                  <a:pt x="25807" y="56123"/>
                </a:lnTo>
                <a:cubicBezTo>
                  <a:pt x="20226" y="50542"/>
                  <a:pt x="11162" y="50542"/>
                  <a:pt x="5581" y="56123"/>
                </a:cubicBezTo>
                <a:cubicBezTo>
                  <a:pt x="0" y="61704"/>
                  <a:pt x="0" y="70768"/>
                  <a:pt x="5581" y="76349"/>
                </a:cubicBezTo>
                <a:lnTo>
                  <a:pt x="34156" y="104924"/>
                </a:lnTo>
                <a:cubicBezTo>
                  <a:pt x="37103" y="107870"/>
                  <a:pt x="41210" y="109388"/>
                  <a:pt x="45363" y="109076"/>
                </a:cubicBezTo>
                <a:cubicBezTo>
                  <a:pt x="49515" y="108764"/>
                  <a:pt x="53355" y="106620"/>
                  <a:pt x="55810" y="103226"/>
                </a:cubicBezTo>
                <a:lnTo>
                  <a:pt x="112960" y="24646"/>
                </a:lnTo>
                <a:close/>
                <a:moveTo>
                  <a:pt x="170155" y="85323"/>
                </a:moveTo>
                <a:cubicBezTo>
                  <a:pt x="174799" y="78938"/>
                  <a:pt x="173370" y="70010"/>
                  <a:pt x="166985" y="65365"/>
                </a:cubicBezTo>
                <a:cubicBezTo>
                  <a:pt x="160601" y="60722"/>
                  <a:pt x="151671" y="62150"/>
                  <a:pt x="147028" y="68535"/>
                </a:cubicBezTo>
                <a:lnTo>
                  <a:pt x="71125" y="172880"/>
                </a:lnTo>
                <a:lnTo>
                  <a:pt x="40095" y="141848"/>
                </a:lnTo>
                <a:cubicBezTo>
                  <a:pt x="34513" y="136267"/>
                  <a:pt x="25450" y="136267"/>
                  <a:pt x="19869" y="141848"/>
                </a:cubicBezTo>
                <a:cubicBezTo>
                  <a:pt x="14288" y="147429"/>
                  <a:pt x="14288" y="156493"/>
                  <a:pt x="19869" y="162074"/>
                </a:cubicBezTo>
                <a:lnTo>
                  <a:pt x="62731" y="204936"/>
                </a:lnTo>
                <a:cubicBezTo>
                  <a:pt x="65678" y="207883"/>
                  <a:pt x="69785" y="209401"/>
                  <a:pt x="73938" y="209088"/>
                </a:cubicBezTo>
                <a:cubicBezTo>
                  <a:pt x="78090" y="208776"/>
                  <a:pt x="81930" y="206634"/>
                  <a:pt x="84385" y="203240"/>
                </a:cubicBezTo>
                <a:lnTo>
                  <a:pt x="170110" y="8536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7162800" y="3983990"/>
            <a:ext cx="453263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Passer les checks CI</a:t>
            </a:r>
            <a:endParaRPr lang="en-US" sz="1100"/>
          </a:p>
        </p:txBody>
      </p:sp>
      <p:sp>
        <p:nvSpPr>
          <p:cNvPr id="29" name="AutoShape 29"/>
          <p:cNvSpPr/>
          <p:nvPr/>
        </p:nvSpPr>
        <p:spPr>
          <a:xfrm>
            <a:off x="7181850" y="4475480"/>
            <a:ext cx="439928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Doit passer les tests </a:t>
            </a:r>
            <a:r>
              <a:rPr lang="en-US" altLang="zh-CN"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automatis</a:t>
            </a:r>
            <a:r>
              <a:rPr lang="en-US" alt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 </a:t>
            </a: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et les </a:t>
            </a:r>
            <a:r>
              <a:rPr lang="en-US" altLang="zh-CN"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v</a:t>
            </a:r>
            <a:r>
              <a:rPr lang="en-US" alt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rifications </a:t>
            </a: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de code</a:t>
            </a:r>
            <a:endParaRPr lang="en-US" sz="1100"/>
          </a:p>
        </p:txBody>
      </p:sp>
      <p:sp>
        <p:nvSpPr>
          <p:cNvPr id="30" name="AutoShape 30"/>
          <p:cNvSpPr/>
          <p:nvPr/>
        </p:nvSpPr>
        <p:spPr>
          <a:xfrm>
            <a:off x="345440" y="5908040"/>
            <a:ext cx="11349990" cy="767080"/>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Voir les exigences de contribution FlagTree : </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https://github.com/flagos-ai/FlagTree/blob/cc6a3158/CONTRIBUTING_cn.md</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0803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Importance des normes de code</a:t>
            </a:r>
            <a:endParaRPr lang="en-US" sz="3200"/>
          </a:p>
        </p:txBody>
      </p:sp>
      <p:sp>
        <p:nvSpPr>
          <p:cNvPr id="3" name="AutoShape 3"/>
          <p:cNvSpPr/>
          <p:nvPr/>
        </p:nvSpPr>
        <p:spPr>
          <a:xfrm>
            <a:off x="380956" y="1640886"/>
            <a:ext cx="115252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Les grands projets open source necessitent un style de code unifie. C'est la base pour garantir la qualite du code et l'efficacite de la collaboration</a:t>
            </a:r>
            <a:endParaRPr lang="en-US" sz="1100"/>
          </a:p>
        </p:txBody>
      </p:sp>
      <p:sp>
        <p:nvSpPr>
          <p:cNvPr id="4" name="Freeform 4"/>
          <p:cNvSpPr/>
          <p:nvPr/>
        </p:nvSpPr>
        <p:spPr>
          <a:xfrm>
            <a:off x="380956" y="2197994"/>
            <a:ext cx="3657600" cy="1733455"/>
          </a:xfrm>
          <a:custGeom>
            <a:avLst/>
            <a:gdLst/>
            <a:ahLst/>
            <a:cxnLst/>
            <a:rect l="l" t="t" r="r" b="b"/>
            <a:pathLst>
              <a:path w="3657600" h="1733455">
                <a:moveTo>
                  <a:pt x="37910" y="0"/>
                </a:moveTo>
                <a:lnTo>
                  <a:pt x="3619691" y="0"/>
                </a:lnTo>
                <a:cubicBezTo>
                  <a:pt x="3640626" y="0"/>
                  <a:pt x="3657600" y="16974"/>
                  <a:pt x="3657600" y="37910"/>
                </a:cubicBezTo>
                <a:lnTo>
                  <a:pt x="3657600" y="1657253"/>
                </a:lnTo>
                <a:cubicBezTo>
                  <a:pt x="3657600" y="1699337"/>
                  <a:pt x="3623483" y="1733455"/>
                  <a:pt x="3581397" y="1733455"/>
                </a:cubicBezTo>
                <a:lnTo>
                  <a:pt x="76203" y="1733455"/>
                </a:lnTo>
                <a:cubicBezTo>
                  <a:pt x="34117" y="1733455"/>
                  <a:pt x="0" y="1699337"/>
                  <a:pt x="0" y="1657253"/>
                </a:cubicBezTo>
                <a:lnTo>
                  <a:pt x="0" y="37910"/>
                </a:lnTo>
                <a:cubicBezTo>
                  <a:pt x="0" y="16988"/>
                  <a:pt x="16988" y="0"/>
                  <a:pt x="379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80956" y="2197994"/>
            <a:ext cx="3657600" cy="37910"/>
          </a:xfrm>
          <a:custGeom>
            <a:avLst/>
            <a:gdLst/>
            <a:ahLst/>
            <a:cxnLst/>
            <a:rect l="l" t="t" r="r" b="b"/>
            <a:pathLst>
              <a:path w="3657600" h="37910">
                <a:moveTo>
                  <a:pt x="37910" y="0"/>
                </a:moveTo>
                <a:lnTo>
                  <a:pt x="3619691" y="0"/>
                </a:lnTo>
                <a:cubicBezTo>
                  <a:pt x="3640626" y="0"/>
                  <a:pt x="3657600" y="16974"/>
                  <a:pt x="3657600" y="37910"/>
                </a:cubicBezTo>
                <a:lnTo>
                  <a:pt x="3657600" y="37910"/>
                </a:lnTo>
                <a:lnTo>
                  <a:pt x="0" y="37910"/>
                </a:ln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2016310" y="2466951"/>
            <a:ext cx="386968" cy="300038"/>
          </a:xfrm>
          <a:custGeom>
            <a:avLst/>
            <a:gdLst/>
            <a:ahLst/>
            <a:cxnLst/>
            <a:rect l="l" t="t" r="r" b="b"/>
            <a:pathLst>
              <a:path w="386968" h="300038">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7"/>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76509" y="2811864"/>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Am</a:t>
            </a:r>
            <a:r>
              <a:rPr lang="en-US" alt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liorer la lisibilit</a:t>
            </a:r>
            <a:r>
              <a:rPr lang="en-US" alt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du code</a:t>
            </a:r>
            <a:endParaRPr lang="en-US" sz="1100"/>
          </a:p>
        </p:txBody>
      </p:sp>
      <p:sp>
        <p:nvSpPr>
          <p:cNvPr id="8" name="AutoShape 8"/>
          <p:cNvSpPr/>
          <p:nvPr/>
        </p:nvSpPr>
        <p:spPr>
          <a:xfrm>
            <a:off x="571429" y="3245565"/>
            <a:ext cx="32766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 style de code unifi</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 permet aux membres de l'</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quipe de comprendre rapidement la logique du cod</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9" name="Freeform 9"/>
          <p:cNvSpPr/>
          <p:nvPr/>
        </p:nvSpPr>
        <p:spPr>
          <a:xfrm>
            <a:off x="4267147" y="2197994"/>
            <a:ext cx="3657600" cy="1733455"/>
          </a:xfrm>
          <a:custGeom>
            <a:avLst/>
            <a:gdLst/>
            <a:ahLst/>
            <a:cxnLst/>
            <a:rect l="l" t="t" r="r" b="b"/>
            <a:pathLst>
              <a:path w="3657600" h="1733455">
                <a:moveTo>
                  <a:pt x="37909" y="0"/>
                </a:moveTo>
                <a:lnTo>
                  <a:pt x="3619690" y="0"/>
                </a:lnTo>
                <a:cubicBezTo>
                  <a:pt x="3640626" y="0"/>
                  <a:pt x="3657600" y="16974"/>
                  <a:pt x="3657600" y="37910"/>
                </a:cubicBezTo>
                <a:lnTo>
                  <a:pt x="3657600" y="1657253"/>
                </a:lnTo>
                <a:cubicBezTo>
                  <a:pt x="3657600" y="1699337"/>
                  <a:pt x="3623483" y="1733455"/>
                  <a:pt x="3581397" y="1733455"/>
                </a:cubicBezTo>
                <a:lnTo>
                  <a:pt x="76203" y="1733455"/>
                </a:lnTo>
                <a:cubicBezTo>
                  <a:pt x="34117" y="1733455"/>
                  <a:pt x="0" y="1699337"/>
                  <a:pt x="0" y="1657253"/>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267147" y="2197994"/>
            <a:ext cx="3657600" cy="37910"/>
          </a:xfrm>
          <a:custGeom>
            <a:avLst/>
            <a:gdLst/>
            <a:ahLst/>
            <a:cxnLst/>
            <a:rect l="l" t="t" r="r" b="b"/>
            <a:pathLst>
              <a:path w="3657600" h="37910">
                <a:moveTo>
                  <a:pt x="37909" y="0"/>
                </a:moveTo>
                <a:lnTo>
                  <a:pt x="3619690" y="0"/>
                </a:lnTo>
                <a:cubicBezTo>
                  <a:pt x="3640626" y="0"/>
                  <a:pt x="3657600" y="16974"/>
                  <a:pt x="3657600" y="37910"/>
                </a:cubicBezTo>
                <a:lnTo>
                  <a:pt x="3657600" y="37910"/>
                </a:lnTo>
                <a:lnTo>
                  <a:pt x="0" y="37910"/>
                </a:ln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914556" y="2436881"/>
            <a:ext cx="364132" cy="362722"/>
          </a:xfrm>
          <a:custGeom>
            <a:avLst/>
            <a:gdLst/>
            <a:ahLst/>
            <a:cxnLst/>
            <a:rect l="l" t="t" r="r" b="b"/>
            <a:pathLst>
              <a:path w="364132" h="362722">
                <a:moveTo>
                  <a:pt x="138634" y="73669"/>
                </a:moveTo>
                <a:lnTo>
                  <a:pt x="138634" y="106887"/>
                </a:lnTo>
                <a:lnTo>
                  <a:pt x="138969" y="107223"/>
                </a:lnTo>
                <a:cubicBezTo>
                  <a:pt x="143322" y="52037"/>
                  <a:pt x="189466" y="8639"/>
                  <a:pt x="245790" y="8639"/>
                </a:cubicBezTo>
                <a:cubicBezTo>
                  <a:pt x="259251" y="8639"/>
                  <a:pt x="272177" y="11117"/>
                  <a:pt x="284031" y="15671"/>
                </a:cubicBezTo>
                <a:cubicBezTo>
                  <a:pt x="290729" y="18216"/>
                  <a:pt x="291934" y="26723"/>
                  <a:pt x="286910" y="31811"/>
                </a:cubicBezTo>
                <a:lnTo>
                  <a:pt x="227506" y="91216"/>
                </a:lnTo>
                <a:cubicBezTo>
                  <a:pt x="225497" y="93225"/>
                  <a:pt x="224359" y="95971"/>
                  <a:pt x="224359" y="98784"/>
                </a:cubicBezTo>
                <a:lnTo>
                  <a:pt x="224359" y="126512"/>
                </a:lnTo>
                <a:cubicBezTo>
                  <a:pt x="224359" y="132404"/>
                  <a:pt x="229181" y="137227"/>
                  <a:pt x="235074" y="137227"/>
                </a:cubicBezTo>
                <a:lnTo>
                  <a:pt x="262801" y="137227"/>
                </a:lnTo>
                <a:cubicBezTo>
                  <a:pt x="265614" y="137227"/>
                  <a:pt x="268359" y="136089"/>
                  <a:pt x="270369" y="134079"/>
                </a:cubicBezTo>
                <a:lnTo>
                  <a:pt x="329774" y="74674"/>
                </a:lnTo>
                <a:cubicBezTo>
                  <a:pt x="334864" y="69584"/>
                  <a:pt x="343369" y="70858"/>
                  <a:pt x="345915" y="77554"/>
                </a:cubicBezTo>
                <a:cubicBezTo>
                  <a:pt x="350468" y="89408"/>
                  <a:pt x="352947" y="102335"/>
                  <a:pt x="352947" y="115795"/>
                </a:cubicBezTo>
                <a:cubicBezTo>
                  <a:pt x="352947" y="156381"/>
                  <a:pt x="330376" y="191743"/>
                  <a:pt x="297023" y="209892"/>
                </a:cubicBezTo>
                <a:lnTo>
                  <a:pt x="351607" y="264475"/>
                </a:lnTo>
                <a:cubicBezTo>
                  <a:pt x="364131" y="276998"/>
                  <a:pt x="364131" y="297358"/>
                  <a:pt x="351607" y="309949"/>
                </a:cubicBezTo>
                <a:lnTo>
                  <a:pt x="311357" y="350200"/>
                </a:lnTo>
                <a:cubicBezTo>
                  <a:pt x="298832" y="362723"/>
                  <a:pt x="278472" y="362723"/>
                  <a:pt x="265882" y="350200"/>
                </a:cubicBezTo>
                <a:lnTo>
                  <a:pt x="181497" y="265814"/>
                </a:lnTo>
                <a:cubicBezTo>
                  <a:pt x="163146" y="247463"/>
                  <a:pt x="158993" y="220340"/>
                  <a:pt x="169106" y="197971"/>
                </a:cubicBezTo>
                <a:lnTo>
                  <a:pt x="108362" y="137227"/>
                </a:lnTo>
                <a:lnTo>
                  <a:pt x="75144" y="137227"/>
                </a:lnTo>
                <a:cubicBezTo>
                  <a:pt x="67978" y="137227"/>
                  <a:pt x="61280" y="133677"/>
                  <a:pt x="57329" y="127715"/>
                </a:cubicBezTo>
                <a:lnTo>
                  <a:pt x="4220" y="48086"/>
                </a:lnTo>
                <a:cubicBezTo>
                  <a:pt x="1407" y="43868"/>
                  <a:pt x="1943" y="38174"/>
                  <a:pt x="5558" y="34557"/>
                </a:cubicBezTo>
                <a:lnTo>
                  <a:pt x="35965" y="4152"/>
                </a:lnTo>
                <a:cubicBezTo>
                  <a:pt x="39580" y="535"/>
                  <a:pt x="45207" y="0"/>
                  <a:pt x="49493" y="2812"/>
                </a:cubicBezTo>
                <a:lnTo>
                  <a:pt x="129124" y="55855"/>
                </a:lnTo>
                <a:cubicBezTo>
                  <a:pt x="135084" y="59806"/>
                  <a:pt x="138634" y="66503"/>
                  <a:pt x="138634" y="73669"/>
                </a:cubicBezTo>
                <a:close/>
                <a:moveTo>
                  <a:pt x="132941" y="207280"/>
                </a:moveTo>
                <a:cubicBezTo>
                  <a:pt x="128722" y="232060"/>
                  <a:pt x="134548" y="258246"/>
                  <a:pt x="150622" y="279209"/>
                </a:cubicBezTo>
                <a:lnTo>
                  <a:pt x="86998" y="342766"/>
                </a:lnTo>
                <a:cubicBezTo>
                  <a:pt x="68178" y="361585"/>
                  <a:pt x="37639" y="361585"/>
                  <a:pt x="18820" y="342766"/>
                </a:cubicBezTo>
                <a:cubicBezTo>
                  <a:pt x="0" y="323946"/>
                  <a:pt x="0" y="293407"/>
                  <a:pt x="18820" y="274587"/>
                </a:cubicBezTo>
                <a:lnTo>
                  <a:pt x="109502" y="183907"/>
                </a:lnTo>
                <a:lnTo>
                  <a:pt x="132941" y="20734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4448095" y="2811864"/>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a:t>
            </a:r>
            <a:r>
              <a:rPr lang="en-US" alt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duire les co</a:t>
            </a:r>
            <a:r>
              <a:rPr lang="en-US" alt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û</a:t>
            </a: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ts de maintenance</a:t>
            </a:r>
            <a:endParaRPr lang="en-US" sz="1100"/>
          </a:p>
        </p:txBody>
      </p:sp>
      <p:sp>
        <p:nvSpPr>
          <p:cNvPr id="13" name="AutoShape 13"/>
          <p:cNvSpPr/>
          <p:nvPr/>
        </p:nvSpPr>
        <p:spPr>
          <a:xfrm>
            <a:off x="4457620" y="3407490"/>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Le code standardis</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 est plus facile à maintenir et à </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tendre, r</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duisant la dette techniqu</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14" name="Freeform 14"/>
          <p:cNvSpPr/>
          <p:nvPr/>
        </p:nvSpPr>
        <p:spPr>
          <a:xfrm>
            <a:off x="8153338" y="2197994"/>
            <a:ext cx="3657600" cy="1733455"/>
          </a:xfrm>
          <a:custGeom>
            <a:avLst/>
            <a:gdLst/>
            <a:ahLst/>
            <a:cxnLst/>
            <a:rect l="l" t="t" r="r" b="b"/>
            <a:pathLst>
              <a:path w="3657600" h="1733455">
                <a:moveTo>
                  <a:pt x="37910" y="0"/>
                </a:moveTo>
                <a:lnTo>
                  <a:pt x="3619690" y="0"/>
                </a:lnTo>
                <a:cubicBezTo>
                  <a:pt x="3640626" y="0"/>
                  <a:pt x="3657600" y="16974"/>
                  <a:pt x="3657600" y="37910"/>
                </a:cubicBezTo>
                <a:lnTo>
                  <a:pt x="3657600" y="1657253"/>
                </a:lnTo>
                <a:cubicBezTo>
                  <a:pt x="3657600" y="1699337"/>
                  <a:pt x="3623483" y="1733455"/>
                  <a:pt x="3581397" y="1733455"/>
                </a:cubicBezTo>
                <a:lnTo>
                  <a:pt x="76203" y="1733455"/>
                </a:lnTo>
                <a:cubicBezTo>
                  <a:pt x="34117" y="1733455"/>
                  <a:pt x="0" y="1699337"/>
                  <a:pt x="0" y="1657253"/>
                </a:cubicBezTo>
                <a:lnTo>
                  <a:pt x="0" y="37910"/>
                </a:lnTo>
                <a:cubicBezTo>
                  <a:pt x="0" y="16988"/>
                  <a:pt x="16988" y="0"/>
                  <a:pt x="379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153338" y="2197994"/>
            <a:ext cx="3657600" cy="37910"/>
          </a:xfrm>
          <a:custGeom>
            <a:avLst/>
            <a:gdLst/>
            <a:ahLst/>
            <a:cxnLst/>
            <a:rect l="l" t="t" r="r" b="b"/>
            <a:pathLst>
              <a:path w="3657600" h="37910">
                <a:moveTo>
                  <a:pt x="37910" y="0"/>
                </a:moveTo>
                <a:lnTo>
                  <a:pt x="3619690" y="0"/>
                </a:lnTo>
                <a:cubicBezTo>
                  <a:pt x="3640626" y="0"/>
                  <a:pt x="3657600" y="16974"/>
                  <a:pt x="3657600" y="37910"/>
                </a:cubicBezTo>
                <a:lnTo>
                  <a:pt x="3657600" y="37910"/>
                </a:lnTo>
                <a:lnTo>
                  <a:pt x="0" y="37910"/>
                </a:ln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9767863" y="2456236"/>
            <a:ext cx="428625" cy="310752"/>
          </a:xfrm>
          <a:custGeom>
            <a:avLst/>
            <a:gdLst/>
            <a:ahLst/>
            <a:cxnLst/>
            <a:rect l="l" t="t" r="r" b="b"/>
            <a:pathLst>
              <a:path w="428625" h="310752">
                <a:moveTo>
                  <a:pt x="214313" y="0"/>
                </a:moveTo>
                <a:cubicBezTo>
                  <a:pt x="252754" y="0"/>
                  <a:pt x="283964" y="31209"/>
                  <a:pt x="283964" y="69651"/>
                </a:cubicBezTo>
                <a:cubicBezTo>
                  <a:pt x="283964" y="108092"/>
                  <a:pt x="252754" y="139303"/>
                  <a:pt x="214313" y="139303"/>
                </a:cubicBezTo>
                <a:cubicBezTo>
                  <a:pt x="175871" y="139303"/>
                  <a:pt x="144661" y="108092"/>
                  <a:pt x="144661" y="69651"/>
                </a:cubicBezTo>
                <a:cubicBezTo>
                  <a:pt x="144661" y="31209"/>
                  <a:pt x="175871" y="0"/>
                  <a:pt x="214313" y="0"/>
                </a:cubicBezTo>
                <a:close/>
                <a:moveTo>
                  <a:pt x="64294" y="48220"/>
                </a:moveTo>
                <a:cubicBezTo>
                  <a:pt x="90907" y="48220"/>
                  <a:pt x="112514" y="69827"/>
                  <a:pt x="112514" y="96440"/>
                </a:cubicBezTo>
                <a:cubicBezTo>
                  <a:pt x="112514" y="123054"/>
                  <a:pt x="90907" y="144661"/>
                  <a:pt x="64294" y="144661"/>
                </a:cubicBezTo>
                <a:cubicBezTo>
                  <a:pt x="37680" y="144661"/>
                  <a:pt x="16073" y="123054"/>
                  <a:pt x="16073" y="96440"/>
                </a:cubicBezTo>
                <a:cubicBezTo>
                  <a:pt x="16073" y="69827"/>
                  <a:pt x="37680" y="48220"/>
                  <a:pt x="64294" y="48220"/>
                </a:cubicBezTo>
                <a:close/>
                <a:moveTo>
                  <a:pt x="0" y="267890"/>
                </a:moveTo>
                <a:cubicBezTo>
                  <a:pt x="0" y="220541"/>
                  <a:pt x="38376" y="182165"/>
                  <a:pt x="85725" y="182165"/>
                </a:cubicBezTo>
                <a:cubicBezTo>
                  <a:pt x="94297" y="182165"/>
                  <a:pt x="102602" y="183438"/>
                  <a:pt x="110438" y="185782"/>
                </a:cubicBezTo>
                <a:cubicBezTo>
                  <a:pt x="88403" y="210428"/>
                  <a:pt x="75009" y="242975"/>
                  <a:pt x="75009" y="278607"/>
                </a:cubicBezTo>
                <a:lnTo>
                  <a:pt x="75009" y="289322"/>
                </a:lnTo>
                <a:cubicBezTo>
                  <a:pt x="75009" y="296955"/>
                  <a:pt x="76617" y="304189"/>
                  <a:pt x="79497" y="310753"/>
                </a:cubicBezTo>
                <a:lnTo>
                  <a:pt x="21431" y="310753"/>
                </a:lnTo>
                <a:cubicBezTo>
                  <a:pt x="9577" y="310753"/>
                  <a:pt x="0" y="301176"/>
                  <a:pt x="0" y="289322"/>
                </a:cubicBezTo>
                <a:lnTo>
                  <a:pt x="0" y="267890"/>
                </a:lnTo>
                <a:close/>
                <a:moveTo>
                  <a:pt x="349128" y="310753"/>
                </a:moveTo>
                <a:cubicBezTo>
                  <a:pt x="352008" y="304189"/>
                  <a:pt x="353616" y="296955"/>
                  <a:pt x="353616" y="289322"/>
                </a:cubicBezTo>
                <a:lnTo>
                  <a:pt x="353616" y="278607"/>
                </a:lnTo>
                <a:cubicBezTo>
                  <a:pt x="353616" y="242975"/>
                  <a:pt x="340222" y="210428"/>
                  <a:pt x="318187" y="185782"/>
                </a:cubicBezTo>
                <a:cubicBezTo>
                  <a:pt x="326023" y="183438"/>
                  <a:pt x="334327" y="182165"/>
                  <a:pt x="342900" y="182165"/>
                </a:cubicBezTo>
                <a:cubicBezTo>
                  <a:pt x="390249" y="182165"/>
                  <a:pt x="428625" y="220541"/>
                  <a:pt x="428625" y="267890"/>
                </a:cubicBezTo>
                <a:lnTo>
                  <a:pt x="428625" y="289322"/>
                </a:lnTo>
                <a:cubicBezTo>
                  <a:pt x="428625" y="301176"/>
                  <a:pt x="419048" y="310753"/>
                  <a:pt x="407194" y="310753"/>
                </a:cubicBezTo>
                <a:lnTo>
                  <a:pt x="349128" y="310753"/>
                </a:lnTo>
                <a:close/>
                <a:moveTo>
                  <a:pt x="316111" y="96440"/>
                </a:moveTo>
                <a:cubicBezTo>
                  <a:pt x="316111" y="69827"/>
                  <a:pt x="337718" y="48220"/>
                  <a:pt x="364331" y="48220"/>
                </a:cubicBezTo>
                <a:cubicBezTo>
                  <a:pt x="390945" y="48220"/>
                  <a:pt x="412552" y="69827"/>
                  <a:pt x="412552" y="96440"/>
                </a:cubicBezTo>
                <a:cubicBezTo>
                  <a:pt x="412552" y="123054"/>
                  <a:pt x="390945" y="144661"/>
                  <a:pt x="364331" y="144661"/>
                </a:cubicBezTo>
                <a:cubicBezTo>
                  <a:pt x="337718" y="144661"/>
                  <a:pt x="316111" y="123054"/>
                  <a:pt x="316111" y="96440"/>
                </a:cubicBezTo>
                <a:close/>
                <a:moveTo>
                  <a:pt x="107156" y="278607"/>
                </a:moveTo>
                <a:cubicBezTo>
                  <a:pt x="107156" y="219402"/>
                  <a:pt x="155109" y="171450"/>
                  <a:pt x="214313" y="171450"/>
                </a:cubicBezTo>
                <a:cubicBezTo>
                  <a:pt x="273516" y="171450"/>
                  <a:pt x="321469" y="219402"/>
                  <a:pt x="321469" y="278607"/>
                </a:cubicBezTo>
                <a:lnTo>
                  <a:pt x="321469" y="289322"/>
                </a:lnTo>
                <a:cubicBezTo>
                  <a:pt x="321469" y="301176"/>
                  <a:pt x="311892" y="310753"/>
                  <a:pt x="300037" y="310753"/>
                </a:cubicBezTo>
                <a:lnTo>
                  <a:pt x="128587" y="310753"/>
                </a:lnTo>
                <a:cubicBezTo>
                  <a:pt x="116733" y="310753"/>
                  <a:pt x="107156" y="301176"/>
                  <a:pt x="107156" y="289322"/>
                </a:cubicBezTo>
                <a:lnTo>
                  <a:pt x="107156" y="27860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334286" y="2811864"/>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Faciliter la collaboration multipartite</a:t>
            </a:r>
            <a:endParaRPr lang="en-US" sz="1100"/>
          </a:p>
        </p:txBody>
      </p:sp>
      <p:sp>
        <p:nvSpPr>
          <p:cNvPr id="18" name="AutoShape 18"/>
          <p:cNvSpPr/>
          <p:nvPr/>
        </p:nvSpPr>
        <p:spPr>
          <a:xfrm>
            <a:off x="8334286" y="3314780"/>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Des normes unifi</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es r</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duisent les disputes de style lors des revues de cod</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19" name="Freeform 19"/>
          <p:cNvSpPr/>
          <p:nvPr/>
        </p:nvSpPr>
        <p:spPr>
          <a:xfrm>
            <a:off x="381000" y="4159885"/>
            <a:ext cx="11430000" cy="1725930"/>
          </a:xfrm>
          <a:custGeom>
            <a:avLst/>
            <a:gdLst/>
            <a:ahLst/>
            <a:cxnLst/>
            <a:rect l="l" t="t" r="r" b="b"/>
            <a:pathLst>
              <a:path w="11430000" h="1333500">
                <a:moveTo>
                  <a:pt x="76196" y="0"/>
                </a:moveTo>
                <a:lnTo>
                  <a:pt x="11353804" y="0"/>
                </a:lnTo>
                <a:cubicBezTo>
                  <a:pt x="11395887" y="0"/>
                  <a:pt x="11430000" y="34113"/>
                  <a:pt x="11430000" y="76196"/>
                </a:cubicBezTo>
                <a:lnTo>
                  <a:pt x="11430000" y="1257304"/>
                </a:lnTo>
                <a:cubicBezTo>
                  <a:pt x="11430000" y="1299387"/>
                  <a:pt x="11395887" y="1333500"/>
                  <a:pt x="11353804" y="1333500"/>
                </a:cubicBezTo>
                <a:lnTo>
                  <a:pt x="76196" y="1333500"/>
                </a:lnTo>
                <a:cubicBezTo>
                  <a:pt x="34113" y="1333500"/>
                  <a:pt x="0" y="1299387"/>
                  <a:pt x="0" y="1257304"/>
                </a:cubicBezTo>
                <a:lnTo>
                  <a:pt x="0" y="76196"/>
                </a:lnTo>
                <a:cubicBezTo>
                  <a:pt x="0" y="34141"/>
                  <a:pt x="34141" y="0"/>
                  <a:pt x="76196" y="0"/>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29" y="4388430"/>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Types de normes courantes</a:t>
            </a:r>
            <a:endParaRPr lang="en-US" sz="1100"/>
          </a:p>
        </p:txBody>
      </p:sp>
      <p:sp>
        <p:nvSpPr>
          <p:cNvPr id="21" name="Freeform 21"/>
          <p:cNvSpPr/>
          <p:nvPr/>
        </p:nvSpPr>
        <p:spPr>
          <a:xfrm>
            <a:off x="652391" y="4936056"/>
            <a:ext cx="200025" cy="200025"/>
          </a:xfrm>
          <a:custGeom>
            <a:avLst/>
            <a:gdLst/>
            <a:ahLst/>
            <a:cxnLst/>
            <a:rect l="l" t="t" r="r" b="b"/>
            <a:pathLst>
              <a:path w="200025" h="200025">
                <a:moveTo>
                  <a:pt x="128587" y="14288"/>
                </a:moveTo>
                <a:cubicBezTo>
                  <a:pt x="128587" y="22191"/>
                  <a:pt x="122203" y="28576"/>
                  <a:pt x="114300" y="28576"/>
                </a:cubicBezTo>
                <a:lnTo>
                  <a:pt x="14287" y="28576"/>
                </a:lnTo>
                <a:cubicBezTo>
                  <a:pt x="6386" y="28576"/>
                  <a:pt x="0" y="22191"/>
                  <a:pt x="0" y="14288"/>
                </a:cubicBezTo>
                <a:cubicBezTo>
                  <a:pt x="0" y="6385"/>
                  <a:pt x="6386" y="0"/>
                  <a:pt x="14287" y="0"/>
                </a:cubicBezTo>
                <a:lnTo>
                  <a:pt x="114300" y="0"/>
                </a:lnTo>
                <a:cubicBezTo>
                  <a:pt x="122203" y="0"/>
                  <a:pt x="128587" y="6385"/>
                  <a:pt x="128587" y="14288"/>
                </a:cubicBezTo>
                <a:close/>
                <a:moveTo>
                  <a:pt x="128587" y="128588"/>
                </a:moveTo>
                <a:cubicBezTo>
                  <a:pt x="128587" y="136491"/>
                  <a:pt x="122203" y="142876"/>
                  <a:pt x="114300" y="142876"/>
                </a:cubicBezTo>
                <a:lnTo>
                  <a:pt x="14287" y="142876"/>
                </a:lnTo>
                <a:cubicBezTo>
                  <a:pt x="6386" y="142876"/>
                  <a:pt x="0" y="136491"/>
                  <a:pt x="0" y="128588"/>
                </a:cubicBezTo>
                <a:cubicBezTo>
                  <a:pt x="0" y="120685"/>
                  <a:pt x="6386" y="114300"/>
                  <a:pt x="14287" y="114300"/>
                </a:cubicBezTo>
                <a:lnTo>
                  <a:pt x="114300" y="114300"/>
                </a:lnTo>
                <a:cubicBezTo>
                  <a:pt x="122203" y="114300"/>
                  <a:pt x="128587" y="120685"/>
                  <a:pt x="128587" y="128588"/>
                </a:cubicBezTo>
                <a:close/>
                <a:moveTo>
                  <a:pt x="0" y="71438"/>
                </a:moveTo>
                <a:cubicBezTo>
                  <a:pt x="0" y="63535"/>
                  <a:pt x="6386" y="57150"/>
                  <a:pt x="14287" y="57150"/>
                </a:cubicBezTo>
                <a:lnTo>
                  <a:pt x="185737" y="57150"/>
                </a:lnTo>
                <a:cubicBezTo>
                  <a:pt x="193639" y="57150"/>
                  <a:pt x="200025" y="63535"/>
                  <a:pt x="200025" y="71438"/>
                </a:cubicBezTo>
                <a:cubicBezTo>
                  <a:pt x="200025" y="79341"/>
                  <a:pt x="193639" y="85726"/>
                  <a:pt x="185737" y="85726"/>
                </a:cubicBezTo>
                <a:lnTo>
                  <a:pt x="14287" y="85726"/>
                </a:lnTo>
                <a:cubicBezTo>
                  <a:pt x="6386" y="85726"/>
                  <a:pt x="0" y="79341"/>
                  <a:pt x="0" y="71438"/>
                </a:cubicBezTo>
                <a:close/>
                <a:moveTo>
                  <a:pt x="200025" y="185738"/>
                </a:moveTo>
                <a:cubicBezTo>
                  <a:pt x="200025" y="193641"/>
                  <a:pt x="193639" y="200026"/>
                  <a:pt x="185737" y="200026"/>
                </a:cubicBezTo>
                <a:lnTo>
                  <a:pt x="14287" y="200026"/>
                </a:lnTo>
                <a:cubicBezTo>
                  <a:pt x="6386" y="200026"/>
                  <a:pt x="0" y="193641"/>
                  <a:pt x="0" y="185738"/>
                </a:cubicBezTo>
                <a:cubicBezTo>
                  <a:pt x="0" y="177835"/>
                  <a:pt x="6386" y="171450"/>
                  <a:pt x="14287" y="171450"/>
                </a:cubicBezTo>
                <a:lnTo>
                  <a:pt x="185737" y="171450"/>
                </a:lnTo>
                <a:cubicBezTo>
                  <a:pt x="193639" y="171450"/>
                  <a:pt x="200025" y="177835"/>
                  <a:pt x="200025" y="185738"/>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009650" y="4807585"/>
            <a:ext cx="309308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Format de code</a:t>
            </a:r>
            <a:endParaRPr lang="en-US" sz="1100"/>
          </a:p>
        </p:txBody>
      </p:sp>
      <p:sp>
        <p:nvSpPr>
          <p:cNvPr id="23" name="AutoShape 23"/>
          <p:cNvSpPr/>
          <p:nvPr/>
        </p:nvSpPr>
        <p:spPr>
          <a:xfrm>
            <a:off x="1009650" y="5074285"/>
            <a:ext cx="303657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80000"/>
                  </a:srgbClr>
                </a:solidFill>
                <a:latin typeface="MiSans" panose="00000500000000000000" charset="-122"/>
                <a:ea typeface="MiSans" panose="00000500000000000000" charset="-122"/>
                <a:cs typeface="MiSans" panose="00000500000000000000" charset="-122"/>
                <a:sym typeface="MiSans" panose="00000500000000000000" charset="-122"/>
              </a:rPr>
              <a:t>Indentation, espaces, sauts de ligne, etc.</a:t>
            </a:r>
            <a:endParaRPr lang="en-US" sz="1100"/>
          </a:p>
        </p:txBody>
      </p:sp>
      <p:sp>
        <p:nvSpPr>
          <p:cNvPr id="24" name="Freeform 24"/>
          <p:cNvSpPr/>
          <p:nvPr/>
        </p:nvSpPr>
        <p:spPr>
          <a:xfrm>
            <a:off x="4386424" y="4936056"/>
            <a:ext cx="212392" cy="212438"/>
          </a:xfrm>
          <a:custGeom>
            <a:avLst/>
            <a:gdLst/>
            <a:ahLst/>
            <a:cxnLst/>
            <a:rect l="l" t="t" r="r" b="b"/>
            <a:pathLst>
              <a:path w="212392" h="212438">
                <a:moveTo>
                  <a:pt x="0" y="28576"/>
                </a:moveTo>
                <a:lnTo>
                  <a:pt x="0" y="95325"/>
                </a:lnTo>
                <a:cubicBezTo>
                  <a:pt x="0" y="102915"/>
                  <a:pt x="2991" y="110193"/>
                  <a:pt x="8349" y="115551"/>
                </a:cubicBezTo>
                <a:lnTo>
                  <a:pt x="94074" y="201276"/>
                </a:lnTo>
                <a:cubicBezTo>
                  <a:pt x="105236" y="212438"/>
                  <a:pt x="123320" y="212438"/>
                  <a:pt x="134482" y="201276"/>
                </a:cubicBezTo>
                <a:lnTo>
                  <a:pt x="201230" y="134527"/>
                </a:lnTo>
                <a:cubicBezTo>
                  <a:pt x="212392" y="123364"/>
                  <a:pt x="212392" y="105282"/>
                  <a:pt x="201230" y="94119"/>
                </a:cubicBezTo>
                <a:lnTo>
                  <a:pt x="115505" y="8394"/>
                </a:lnTo>
                <a:cubicBezTo>
                  <a:pt x="110147" y="2993"/>
                  <a:pt x="102914" y="0"/>
                  <a:pt x="95324" y="0"/>
                </a:cubicBezTo>
                <a:lnTo>
                  <a:pt x="28575" y="0"/>
                </a:lnTo>
                <a:cubicBezTo>
                  <a:pt x="12814" y="0"/>
                  <a:pt x="0" y="12815"/>
                  <a:pt x="0" y="28576"/>
                </a:cubicBezTo>
                <a:close/>
                <a:moveTo>
                  <a:pt x="50006" y="35719"/>
                </a:moveTo>
                <a:cubicBezTo>
                  <a:pt x="57890" y="35719"/>
                  <a:pt x="64292" y="42121"/>
                  <a:pt x="64292" y="50007"/>
                </a:cubicBezTo>
                <a:cubicBezTo>
                  <a:pt x="64292" y="57892"/>
                  <a:pt x="57890" y="64294"/>
                  <a:pt x="50006" y="64294"/>
                </a:cubicBezTo>
                <a:cubicBezTo>
                  <a:pt x="42121" y="64294"/>
                  <a:pt x="35718" y="57892"/>
                  <a:pt x="35718" y="50007"/>
                </a:cubicBezTo>
                <a:cubicBezTo>
                  <a:pt x="35718" y="42121"/>
                  <a:pt x="42121" y="35719"/>
                  <a:pt x="50006" y="35719"/>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4743450" y="4807585"/>
            <a:ext cx="309308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a:t>
            </a:r>
            <a:r>
              <a:rPr lang="en-US" alt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gles de nommag</a:t>
            </a: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26" name="AutoShape 26"/>
          <p:cNvSpPr/>
          <p:nvPr/>
        </p:nvSpPr>
        <p:spPr>
          <a:xfrm>
            <a:off x="4743450" y="5074285"/>
            <a:ext cx="303657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80000"/>
                  </a:srgbClr>
                </a:solidFill>
                <a:latin typeface="MiSans" panose="00000500000000000000" charset="-122"/>
                <a:ea typeface="MiSans" panose="00000500000000000000" charset="-122"/>
                <a:cs typeface="MiSans" panose="00000500000000000000" charset="-122"/>
                <a:sym typeface="MiSans" panose="00000500000000000000" charset="-122"/>
              </a:rPr>
              <a:t>Nommage des variables, fonctions, classes</a:t>
            </a:r>
            <a:endParaRPr lang="en-US" sz="1100"/>
          </a:p>
        </p:txBody>
      </p:sp>
      <p:sp>
        <p:nvSpPr>
          <p:cNvPr id="27" name="Freeform 27"/>
          <p:cNvSpPr/>
          <p:nvPr/>
        </p:nvSpPr>
        <p:spPr>
          <a:xfrm>
            <a:off x="8105722" y="4936056"/>
            <a:ext cx="228600" cy="185738"/>
          </a:xfrm>
          <a:custGeom>
            <a:avLst/>
            <a:gdLst/>
            <a:ahLst/>
            <a:cxnLst/>
            <a:rect l="l" t="t" r="r" b="b"/>
            <a:pathLst>
              <a:path w="228600" h="185738">
                <a:moveTo>
                  <a:pt x="28575" y="185738"/>
                </a:moveTo>
                <a:lnTo>
                  <a:pt x="200025" y="185738"/>
                </a:lnTo>
                <a:cubicBezTo>
                  <a:pt x="215786" y="185738"/>
                  <a:pt x="228600" y="172924"/>
                  <a:pt x="228600" y="157163"/>
                </a:cubicBezTo>
                <a:lnTo>
                  <a:pt x="228600" y="50007"/>
                </a:lnTo>
                <a:cubicBezTo>
                  <a:pt x="228600" y="34246"/>
                  <a:pt x="215786" y="21432"/>
                  <a:pt x="200025" y="21432"/>
                </a:cubicBezTo>
                <a:lnTo>
                  <a:pt x="133365" y="21432"/>
                </a:lnTo>
                <a:cubicBezTo>
                  <a:pt x="130284" y="21432"/>
                  <a:pt x="127248" y="20449"/>
                  <a:pt x="124791" y="18574"/>
                </a:cubicBezTo>
                <a:lnTo>
                  <a:pt x="107646" y="5716"/>
                </a:lnTo>
                <a:cubicBezTo>
                  <a:pt x="102691" y="2010"/>
                  <a:pt x="96664" y="0"/>
                  <a:pt x="90501" y="0"/>
                </a:cubicBezTo>
                <a:lnTo>
                  <a:pt x="28575" y="0"/>
                </a:lnTo>
                <a:cubicBezTo>
                  <a:pt x="12814" y="0"/>
                  <a:pt x="0" y="12815"/>
                  <a:pt x="0" y="28576"/>
                </a:cubicBezTo>
                <a:lnTo>
                  <a:pt x="0" y="157163"/>
                </a:lnTo>
                <a:cubicBezTo>
                  <a:pt x="0" y="172924"/>
                  <a:pt x="12814" y="185738"/>
                  <a:pt x="28575" y="185738"/>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8477250" y="4807585"/>
            <a:ext cx="309308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Structure des fichiers</a:t>
            </a:r>
            <a:endParaRPr lang="en-US" sz="1100"/>
          </a:p>
        </p:txBody>
      </p:sp>
      <p:sp>
        <p:nvSpPr>
          <p:cNvPr id="29" name="AutoShape 29"/>
          <p:cNvSpPr/>
          <p:nvPr/>
        </p:nvSpPr>
        <p:spPr>
          <a:xfrm>
            <a:off x="8477250" y="5186045"/>
            <a:ext cx="322199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FFFFFF">
                    <a:alpha val="80000"/>
                  </a:srgbClr>
                </a:solidFill>
                <a:latin typeface="MiSans" panose="00000500000000000000" charset="-122"/>
                <a:ea typeface="MiSans" panose="00000500000000000000" charset="-122"/>
                <a:cs typeface="MiSans" panose="00000500000000000000" charset="-122"/>
                <a:sym typeface="MiSans" panose="00000500000000000000" charset="-122"/>
              </a:rPr>
              <a:t>Organisation des r</a:t>
            </a:r>
            <a:r>
              <a:rPr lang="en-US" altLang="en-US" sz="1100" b="0" i="0" u="none" strike="noStrike">
                <a:solidFill>
                  <a:srgbClr val="FFFFFF">
                    <a:alpha val="80000"/>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80000"/>
                  </a:srgbClr>
                </a:solidFill>
                <a:latin typeface="MiSans" panose="00000500000000000000" charset="-122"/>
                <a:ea typeface="MiSans" panose="00000500000000000000" charset="-122"/>
                <a:cs typeface="MiSans" panose="00000500000000000000" charset="-122"/>
                <a:sym typeface="MiSans" panose="00000500000000000000" charset="-122"/>
              </a:rPr>
              <a:t>pertoires, division des module</a:t>
            </a:r>
            <a:r>
              <a:rPr lang="en-US" sz="1100" b="0" i="0" u="none" strike="noStrike">
                <a:solidFill>
                  <a:srgbClr val="FFFFFF">
                    <a:alpha val="80000"/>
                  </a:srgbClr>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19975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Verification automatique Pre-commit</a:t>
            </a:r>
            <a:endParaRPr lang="en-US" sz="3200"/>
          </a:p>
        </p:txBody>
      </p:sp>
      <p:sp>
        <p:nvSpPr>
          <p:cNvPr id="3" name="AutoShape 3"/>
          <p:cNvSpPr/>
          <p:nvPr/>
        </p:nvSpPr>
        <p:spPr>
          <a:xfrm>
            <a:off x="380956" y="1640886"/>
            <a:ext cx="74104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FlagTree utilise </a:t>
            </a: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pre-commit</a:t>
            </a: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pour la verification du code, executant automatiquement les outils de verification avant la soumission du code</a:t>
            </a:r>
            <a:endParaRPr lang="en-US" sz="1100"/>
          </a:p>
        </p:txBody>
      </p:sp>
      <p:sp>
        <p:nvSpPr>
          <p:cNvPr id="4" name="Freeform 4"/>
          <p:cNvSpPr/>
          <p:nvPr/>
        </p:nvSpPr>
        <p:spPr>
          <a:xfrm>
            <a:off x="380956" y="2179034"/>
            <a:ext cx="7315200" cy="3038475"/>
          </a:xfrm>
          <a:custGeom>
            <a:avLst/>
            <a:gdLst/>
            <a:ahLst/>
            <a:cxnLst/>
            <a:rect l="l" t="t" r="r" b="b"/>
            <a:pathLst>
              <a:path w="7315200" h="3038475">
                <a:moveTo>
                  <a:pt x="76205" y="0"/>
                </a:moveTo>
                <a:lnTo>
                  <a:pt x="7238995" y="0"/>
                </a:lnTo>
                <a:cubicBezTo>
                  <a:pt x="7281081" y="0"/>
                  <a:pt x="7315200" y="34119"/>
                  <a:pt x="7315200" y="76205"/>
                </a:cubicBezTo>
                <a:lnTo>
                  <a:pt x="7315200" y="2962270"/>
                </a:lnTo>
                <a:cubicBezTo>
                  <a:pt x="7315200" y="3004356"/>
                  <a:pt x="7281081" y="3038475"/>
                  <a:pt x="7238995" y="3038475"/>
                </a:cubicBezTo>
                <a:lnTo>
                  <a:pt x="76205" y="3038475"/>
                </a:lnTo>
                <a:cubicBezTo>
                  <a:pt x="34119" y="3038475"/>
                  <a:pt x="0" y="3004356"/>
                  <a:pt x="0" y="2962270"/>
                </a:cubicBezTo>
                <a:lnTo>
                  <a:pt x="0" y="76205"/>
                </a:lnTo>
                <a:cubicBezTo>
                  <a:pt x="0" y="34146"/>
                  <a:pt x="34146" y="0"/>
                  <a:pt x="76205" y="0"/>
                </a:cubicBezTo>
                <a:close/>
              </a:path>
            </a:pathLst>
          </a:custGeom>
          <a:solidFill>
            <a:srgbClr val="101828">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AutoShape 5"/>
          <p:cNvSpPr/>
          <p:nvPr/>
        </p:nvSpPr>
        <p:spPr>
          <a:xfrm>
            <a:off x="609529" y="2407611"/>
            <a:ext cx="6953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B22222"/>
                </a:solidFill>
                <a:latin typeface="Noto Sans SC" panose="020B0200000000000000" charset="-122"/>
                <a:ea typeface="Noto Sans SC" panose="020B0200000000000000" charset="-122"/>
                <a:cs typeface="Noto Sans SC" panose="020B0200000000000000" charset="-122"/>
                <a:sym typeface="Noto Sans SC" panose="020B0200000000000000" charset="-122"/>
              </a:rPr>
              <a:t>Methode d'installation</a:t>
            </a:r>
            <a:endParaRPr lang="en-US" sz="1100"/>
          </a:p>
        </p:txBody>
      </p:sp>
      <p:sp>
        <p:nvSpPr>
          <p:cNvPr id="6" name="Freeform 6"/>
          <p:cNvSpPr/>
          <p:nvPr/>
        </p:nvSpPr>
        <p:spPr>
          <a:xfrm>
            <a:off x="628484" y="2826697"/>
            <a:ext cx="6838855" cy="2162175"/>
          </a:xfrm>
          <a:custGeom>
            <a:avLst/>
            <a:gdLst/>
            <a:ahLst/>
            <a:cxnLst/>
            <a:rect l="l" t="t" r="r" b="b"/>
            <a:pathLst>
              <a:path w="6838855" h="2162175">
                <a:moveTo>
                  <a:pt x="37910" y="0"/>
                </a:moveTo>
                <a:lnTo>
                  <a:pt x="6800759" y="0"/>
                </a:lnTo>
                <a:cubicBezTo>
                  <a:pt x="6821797" y="0"/>
                  <a:pt x="6838855" y="17057"/>
                  <a:pt x="6838855" y="38097"/>
                </a:cubicBezTo>
                <a:lnTo>
                  <a:pt x="6838855" y="2124078"/>
                </a:lnTo>
                <a:cubicBezTo>
                  <a:pt x="6838855" y="2145118"/>
                  <a:pt x="6821797" y="2162175"/>
                  <a:pt x="6800759" y="2162175"/>
                </a:cubicBezTo>
                <a:lnTo>
                  <a:pt x="37910" y="2162175"/>
                </a:lnTo>
                <a:cubicBezTo>
                  <a:pt x="16974" y="2162175"/>
                  <a:pt x="0" y="2145201"/>
                  <a:pt x="0" y="2124265"/>
                </a:cubicBezTo>
                <a:lnTo>
                  <a:pt x="0" y="37910"/>
                </a:lnTo>
                <a:cubicBezTo>
                  <a:pt x="0" y="16988"/>
                  <a:pt x="16988" y="0"/>
                  <a:pt x="37910" y="0"/>
                </a:cubicBezTo>
                <a:close/>
              </a:path>
            </a:pathLst>
          </a:custGeom>
          <a:solidFill>
            <a:srgbClr val="1E29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28484" y="2826697"/>
            <a:ext cx="37909" cy="2162175"/>
          </a:xfrm>
          <a:custGeom>
            <a:avLst/>
            <a:gdLst/>
            <a:ahLst/>
            <a:cxnLst/>
            <a:rect l="l" t="t" r="r" b="b"/>
            <a:pathLst>
              <a:path w="37909" h="2162175">
                <a:moveTo>
                  <a:pt x="37910" y="0"/>
                </a:moveTo>
                <a:lnTo>
                  <a:pt x="37910" y="0"/>
                </a:lnTo>
                <a:lnTo>
                  <a:pt x="37910" y="2162175"/>
                </a:lnTo>
                <a:lnTo>
                  <a:pt x="37910" y="2162175"/>
                </a:lnTo>
                <a:cubicBezTo>
                  <a:pt x="16974" y="2162175"/>
                  <a:pt x="0" y="2145201"/>
                  <a:pt x="0" y="2124265"/>
                </a:cubicBezTo>
                <a:lnTo>
                  <a:pt x="0" y="37910"/>
                </a:lnTo>
                <a:cubicBezTo>
                  <a:pt x="0" y="16988"/>
                  <a:pt x="16988" y="0"/>
                  <a:pt x="37910"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99822" y="2940946"/>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Installer l'outil pre-commit</a:t>
            </a:r>
            <a:endParaRPr lang="en-US" sz="1100"/>
          </a:p>
        </p:txBody>
      </p:sp>
      <p:sp>
        <p:nvSpPr>
          <p:cNvPr id="9" name="AutoShape 9"/>
          <p:cNvSpPr/>
          <p:nvPr/>
        </p:nvSpPr>
        <p:spPr>
          <a:xfrm>
            <a:off x="799822" y="3154268"/>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python3 -m pip install pre-commit</a:t>
            </a:r>
            <a:endParaRPr lang="en-US" sz="1100"/>
          </a:p>
        </p:txBody>
      </p:sp>
      <p:sp>
        <p:nvSpPr>
          <p:cNvPr id="10" name="AutoShape 10"/>
          <p:cNvSpPr/>
          <p:nvPr/>
        </p:nvSpPr>
        <p:spPr>
          <a:xfrm>
            <a:off x="799822" y="3443780"/>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Entrer dans le repertoire du projet</a:t>
            </a:r>
            <a:endParaRPr lang="en-US" sz="1100"/>
          </a:p>
        </p:txBody>
      </p:sp>
      <p:sp>
        <p:nvSpPr>
          <p:cNvPr id="11" name="AutoShape 11"/>
          <p:cNvSpPr/>
          <p:nvPr/>
        </p:nvSpPr>
        <p:spPr>
          <a:xfrm>
            <a:off x="799822" y="3657098"/>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cd flagtree</a:t>
            </a:r>
            <a:endParaRPr lang="en-US" sz="1100"/>
          </a:p>
        </p:txBody>
      </p:sp>
      <p:sp>
        <p:nvSpPr>
          <p:cNvPr id="12" name="AutoShape 12"/>
          <p:cNvSpPr/>
          <p:nvPr/>
        </p:nvSpPr>
        <p:spPr>
          <a:xfrm>
            <a:off x="799822" y="3946610"/>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Installer les hooks pre-commit</a:t>
            </a:r>
            <a:endParaRPr lang="en-US" sz="1100"/>
          </a:p>
        </p:txBody>
      </p:sp>
      <p:sp>
        <p:nvSpPr>
          <p:cNvPr id="13" name="AutoShape 13"/>
          <p:cNvSpPr/>
          <p:nvPr/>
        </p:nvSpPr>
        <p:spPr>
          <a:xfrm>
            <a:off x="799822" y="4159932"/>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pre-commit install</a:t>
            </a:r>
            <a:endParaRPr lang="en-US" sz="1100"/>
          </a:p>
        </p:txBody>
      </p:sp>
      <p:sp>
        <p:nvSpPr>
          <p:cNvPr id="14" name="AutoShape 14"/>
          <p:cNvSpPr/>
          <p:nvPr/>
        </p:nvSpPr>
        <p:spPr>
          <a:xfrm>
            <a:off x="799822" y="4449445"/>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Executer manuellement la verification</a:t>
            </a:r>
            <a:endParaRPr lang="en-US" sz="1100"/>
          </a:p>
        </p:txBody>
      </p:sp>
      <p:sp>
        <p:nvSpPr>
          <p:cNvPr id="15" name="AutoShape 15"/>
          <p:cNvSpPr/>
          <p:nvPr/>
        </p:nvSpPr>
        <p:spPr>
          <a:xfrm>
            <a:off x="799822" y="4662762"/>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pre-commit</a:t>
            </a:r>
            <a:endParaRPr lang="en-US" sz="1100"/>
          </a:p>
        </p:txBody>
      </p:sp>
      <p:sp>
        <p:nvSpPr>
          <p:cNvPr id="16" name="Freeform 16"/>
          <p:cNvSpPr/>
          <p:nvPr/>
        </p:nvSpPr>
        <p:spPr>
          <a:xfrm>
            <a:off x="380956" y="5447481"/>
            <a:ext cx="7315200" cy="990600"/>
          </a:xfrm>
          <a:custGeom>
            <a:avLst/>
            <a:gdLst/>
            <a:ahLst/>
            <a:cxnLst/>
            <a:rect l="l" t="t" r="r" b="b"/>
            <a:pathLst>
              <a:path w="7315200" h="990600">
                <a:moveTo>
                  <a:pt x="76197" y="0"/>
                </a:moveTo>
                <a:lnTo>
                  <a:pt x="7239003" y="0"/>
                </a:lnTo>
                <a:cubicBezTo>
                  <a:pt x="7281085" y="0"/>
                  <a:pt x="7315200" y="34115"/>
                  <a:pt x="7315200" y="76197"/>
                </a:cubicBezTo>
                <a:lnTo>
                  <a:pt x="7315200" y="914403"/>
                </a:lnTo>
                <a:cubicBezTo>
                  <a:pt x="7315200" y="956485"/>
                  <a:pt x="7281085" y="990600"/>
                  <a:pt x="7239003" y="990600"/>
                </a:cubicBezTo>
                <a:lnTo>
                  <a:pt x="76197" y="990600"/>
                </a:lnTo>
                <a:cubicBezTo>
                  <a:pt x="34115" y="990600"/>
                  <a:pt x="0" y="956485"/>
                  <a:pt x="0" y="9144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71396" y="5637921"/>
            <a:ext cx="7019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Role</a:t>
            </a:r>
            <a:endParaRPr lang="en-US" sz="1100"/>
          </a:p>
        </p:txBody>
      </p:sp>
      <p:sp>
        <p:nvSpPr>
          <p:cNvPr id="18" name="Freeform 18"/>
          <p:cNvSpPr/>
          <p:nvPr/>
        </p:nvSpPr>
        <p:spPr>
          <a:xfrm>
            <a:off x="595209" y="6037906"/>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885825" y="6019165"/>
            <a:ext cx="325310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V</a:t>
            </a:r>
            <a:r>
              <a:rPr lang="en-US" alt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rifier automatiquement le format du cod</a:t>
            </a: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20" name="Freeform 20"/>
          <p:cNvSpPr/>
          <p:nvPr/>
        </p:nvSpPr>
        <p:spPr>
          <a:xfrm>
            <a:off x="4138577" y="6037906"/>
            <a:ext cx="190500" cy="190500"/>
          </a:xfrm>
          <a:custGeom>
            <a:avLst/>
            <a:gdLst/>
            <a:ahLst/>
            <a:cxnLst/>
            <a:rect l="l" t="t" r="r" b="b"/>
            <a:pathLst>
              <a:path w="190500" h="190500">
                <a:moveTo>
                  <a:pt x="148270" y="4539"/>
                </a:moveTo>
                <a:lnTo>
                  <a:pt x="115453" y="37356"/>
                </a:lnTo>
                <a:lnTo>
                  <a:pt x="153144" y="75047"/>
                </a:lnTo>
                <a:lnTo>
                  <a:pt x="185961" y="42230"/>
                </a:lnTo>
                <a:cubicBezTo>
                  <a:pt x="188863" y="39291"/>
                  <a:pt x="190500" y="35347"/>
                  <a:pt x="190500" y="31253"/>
                </a:cubicBezTo>
                <a:cubicBezTo>
                  <a:pt x="190500" y="27161"/>
                  <a:pt x="188863" y="23217"/>
                  <a:pt x="185961" y="20278"/>
                </a:cubicBezTo>
                <a:lnTo>
                  <a:pt x="170222" y="4539"/>
                </a:lnTo>
                <a:cubicBezTo>
                  <a:pt x="167283" y="1637"/>
                  <a:pt x="163339" y="0"/>
                  <a:pt x="159247" y="0"/>
                </a:cubicBezTo>
                <a:cubicBezTo>
                  <a:pt x="155153" y="0"/>
                  <a:pt x="151209" y="1637"/>
                  <a:pt x="148270" y="4539"/>
                </a:cubicBezTo>
                <a:close/>
                <a:moveTo>
                  <a:pt x="102840" y="49969"/>
                </a:moveTo>
                <a:lnTo>
                  <a:pt x="4539" y="148270"/>
                </a:lnTo>
                <a:cubicBezTo>
                  <a:pt x="1637" y="151209"/>
                  <a:pt x="0" y="155153"/>
                  <a:pt x="0" y="159247"/>
                </a:cubicBezTo>
                <a:cubicBezTo>
                  <a:pt x="0" y="163339"/>
                  <a:pt x="1637" y="167283"/>
                  <a:pt x="4539" y="170222"/>
                </a:cubicBezTo>
                <a:lnTo>
                  <a:pt x="20278" y="185961"/>
                </a:lnTo>
                <a:cubicBezTo>
                  <a:pt x="23217" y="188863"/>
                  <a:pt x="27161" y="190500"/>
                  <a:pt x="31253" y="190500"/>
                </a:cubicBezTo>
                <a:cubicBezTo>
                  <a:pt x="35347" y="190500"/>
                  <a:pt x="39291" y="188863"/>
                  <a:pt x="42230" y="185961"/>
                </a:cubicBezTo>
                <a:lnTo>
                  <a:pt x="140531" y="87660"/>
                </a:lnTo>
                <a:lnTo>
                  <a:pt x="102840" y="4996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4429125" y="6019165"/>
            <a:ext cx="326644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Corriger les probl</a:t>
            </a:r>
            <a:r>
              <a:rPr lang="en-US" alt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mes avant la soumissio</a:t>
            </a: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100"/>
          </a:p>
        </p:txBody>
      </p:sp>
      <p:sp>
        <p:nvSpPr>
          <p:cNvPr id="22" name="Freeform 22"/>
          <p:cNvSpPr/>
          <p:nvPr/>
        </p:nvSpPr>
        <p:spPr>
          <a:xfrm>
            <a:off x="8001030" y="2610785"/>
            <a:ext cx="3810000" cy="2857500"/>
          </a:xfrm>
          <a:custGeom>
            <a:avLst/>
            <a:gdLst/>
            <a:ahLst/>
            <a:cxnLst/>
            <a:rect l="l" t="t" r="r" b="b"/>
            <a:pathLst>
              <a:path w="3810000" h="2857500">
                <a:moveTo>
                  <a:pt x="76210" y="0"/>
                </a:moveTo>
                <a:lnTo>
                  <a:pt x="3733790" y="0"/>
                </a:lnTo>
                <a:cubicBezTo>
                  <a:pt x="3775880" y="0"/>
                  <a:pt x="3810000" y="34120"/>
                  <a:pt x="3810000" y="76210"/>
                </a:cubicBezTo>
                <a:lnTo>
                  <a:pt x="3810000" y="2781290"/>
                </a:lnTo>
                <a:cubicBezTo>
                  <a:pt x="3810000" y="2823380"/>
                  <a:pt x="3775880" y="2857500"/>
                  <a:pt x="3733790" y="2857500"/>
                </a:cubicBezTo>
                <a:lnTo>
                  <a:pt x="76210" y="2857500"/>
                </a:lnTo>
                <a:cubicBezTo>
                  <a:pt x="34120" y="2857500"/>
                  <a:pt x="0" y="2823380"/>
                  <a:pt x="0" y="27812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8229603" y="2839357"/>
            <a:ext cx="3438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Flux de travail</a:t>
            </a:r>
            <a:endParaRPr lang="en-US" sz="1100"/>
          </a:p>
        </p:txBody>
      </p:sp>
      <p:sp>
        <p:nvSpPr>
          <p:cNvPr id="24" name="Freeform 24"/>
          <p:cNvSpPr/>
          <p:nvPr/>
        </p:nvSpPr>
        <p:spPr>
          <a:xfrm>
            <a:off x="8229603" y="3258448"/>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8191503" y="3258448"/>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26" name="AutoShape 26"/>
          <p:cNvSpPr/>
          <p:nvPr/>
        </p:nvSpPr>
        <p:spPr>
          <a:xfrm>
            <a:off x="8724900" y="3334385"/>
            <a:ext cx="128143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crire le cod</a:t>
            </a: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27" name="Freeform 27"/>
          <p:cNvSpPr/>
          <p:nvPr/>
        </p:nvSpPr>
        <p:spPr>
          <a:xfrm>
            <a:off x="8229603" y="3791787"/>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8191503" y="3791787"/>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9" name="AutoShape 29"/>
          <p:cNvSpPr/>
          <p:nvPr/>
        </p:nvSpPr>
        <p:spPr>
          <a:xfrm>
            <a:off x="8724900" y="3867785"/>
            <a:ext cx="233172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git add pour ajouter des fichiers</a:t>
            </a:r>
            <a:endParaRPr lang="en-US" sz="1100"/>
          </a:p>
        </p:txBody>
      </p:sp>
      <p:sp>
        <p:nvSpPr>
          <p:cNvPr id="30" name="Freeform 30"/>
          <p:cNvSpPr/>
          <p:nvPr/>
        </p:nvSpPr>
        <p:spPr>
          <a:xfrm>
            <a:off x="8229603" y="4325122"/>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8191503" y="4325122"/>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32" name="AutoShape 32"/>
          <p:cNvSpPr/>
          <p:nvPr/>
        </p:nvSpPr>
        <p:spPr>
          <a:xfrm>
            <a:off x="8724900" y="4401185"/>
            <a:ext cx="306133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a:t>
            </a:r>
            <a:r>
              <a:rPr lang="en-US" alt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rification automatique pre-commi</a:t>
            </a: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a:t>
            </a:r>
            <a:endParaRPr lang="en-US" sz="1100"/>
          </a:p>
        </p:txBody>
      </p:sp>
      <p:sp>
        <p:nvSpPr>
          <p:cNvPr id="33" name="Freeform 33"/>
          <p:cNvSpPr/>
          <p:nvPr/>
        </p:nvSpPr>
        <p:spPr>
          <a:xfrm>
            <a:off x="8229603" y="4858462"/>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8191503" y="4858462"/>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35" name="AutoShape 35"/>
          <p:cNvSpPr/>
          <p:nvPr/>
        </p:nvSpPr>
        <p:spPr>
          <a:xfrm>
            <a:off x="8724900" y="4934585"/>
            <a:ext cx="227774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git commit : soumettr</a:t>
            </a: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00100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Outils de </a:t>
            </a:r>
            <a:r>
              <a:rPr lang="en-US" altLang="zh-CN"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v</a:t>
            </a:r>
            <a:r>
              <a:rPr lang="en-US" alt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rification </a:t>
            </a: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de code Python</a:t>
            </a:r>
            <a:endParaRPr lang="en-US" sz="3200"/>
          </a:p>
        </p:txBody>
      </p:sp>
      <p:sp>
        <p:nvSpPr>
          <p:cNvPr id="3" name="Freeform 3"/>
          <p:cNvSpPr/>
          <p:nvPr/>
        </p:nvSpPr>
        <p:spPr>
          <a:xfrm>
            <a:off x="380956" y="1640886"/>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45226" y="1802746"/>
            <a:ext cx="285750" cy="285750"/>
          </a:xfrm>
          <a:custGeom>
            <a:avLst/>
            <a:gdLst/>
            <a:ahLst/>
            <a:cxnLst/>
            <a:rect l="l" t="t" r="r" b="b"/>
            <a:pathLst>
              <a:path w="285750" h="285750">
                <a:moveTo>
                  <a:pt x="160734" y="17859"/>
                </a:moveTo>
                <a:cubicBezTo>
                  <a:pt x="160734" y="27738"/>
                  <a:pt x="168714" y="35719"/>
                  <a:pt x="178594" y="35719"/>
                </a:cubicBezTo>
                <a:lnTo>
                  <a:pt x="200918" y="35719"/>
                </a:lnTo>
                <a:cubicBezTo>
                  <a:pt x="208341" y="35719"/>
                  <a:pt x="214312" y="41690"/>
                  <a:pt x="214312" y="49113"/>
                </a:cubicBezTo>
                <a:cubicBezTo>
                  <a:pt x="214312" y="56537"/>
                  <a:pt x="208341" y="62508"/>
                  <a:pt x="200918" y="62508"/>
                </a:cubicBezTo>
                <a:lnTo>
                  <a:pt x="17859" y="62508"/>
                </a:lnTo>
                <a:cubicBezTo>
                  <a:pt x="7981" y="62508"/>
                  <a:pt x="0" y="70489"/>
                  <a:pt x="0" y="80367"/>
                </a:cubicBezTo>
                <a:cubicBezTo>
                  <a:pt x="0" y="90246"/>
                  <a:pt x="7981" y="98227"/>
                  <a:pt x="17859" y="98227"/>
                </a:cubicBezTo>
                <a:lnTo>
                  <a:pt x="200918" y="98227"/>
                </a:lnTo>
                <a:cubicBezTo>
                  <a:pt x="228042" y="98227"/>
                  <a:pt x="250031" y="76237"/>
                  <a:pt x="250031" y="49113"/>
                </a:cubicBezTo>
                <a:cubicBezTo>
                  <a:pt x="250031" y="21989"/>
                  <a:pt x="228042" y="0"/>
                  <a:pt x="200918" y="0"/>
                </a:cubicBezTo>
                <a:lnTo>
                  <a:pt x="178594" y="0"/>
                </a:lnTo>
                <a:cubicBezTo>
                  <a:pt x="168714" y="0"/>
                  <a:pt x="160734" y="7981"/>
                  <a:pt x="160734" y="17859"/>
                </a:cubicBezTo>
                <a:close/>
                <a:moveTo>
                  <a:pt x="196452" y="214312"/>
                </a:moveTo>
                <a:cubicBezTo>
                  <a:pt x="196452" y="224191"/>
                  <a:pt x="204434" y="232173"/>
                  <a:pt x="214312" y="232173"/>
                </a:cubicBezTo>
                <a:lnTo>
                  <a:pt x="232173" y="232173"/>
                </a:lnTo>
                <a:cubicBezTo>
                  <a:pt x="261751" y="232173"/>
                  <a:pt x="285750" y="208173"/>
                  <a:pt x="285750" y="178594"/>
                </a:cubicBezTo>
                <a:cubicBezTo>
                  <a:pt x="285750" y="149014"/>
                  <a:pt x="261751" y="125016"/>
                  <a:pt x="232173" y="125016"/>
                </a:cubicBezTo>
                <a:lnTo>
                  <a:pt x="17859" y="125016"/>
                </a:lnTo>
                <a:cubicBezTo>
                  <a:pt x="7981" y="125016"/>
                  <a:pt x="0" y="132997"/>
                  <a:pt x="0" y="142875"/>
                </a:cubicBezTo>
                <a:cubicBezTo>
                  <a:pt x="0" y="152753"/>
                  <a:pt x="7981" y="160734"/>
                  <a:pt x="17859" y="160734"/>
                </a:cubicBezTo>
                <a:lnTo>
                  <a:pt x="232173" y="160734"/>
                </a:lnTo>
                <a:cubicBezTo>
                  <a:pt x="242051" y="160734"/>
                  <a:pt x="250031" y="168714"/>
                  <a:pt x="250031" y="178594"/>
                </a:cubicBezTo>
                <a:cubicBezTo>
                  <a:pt x="250031" y="188472"/>
                  <a:pt x="242051" y="196452"/>
                  <a:pt x="232173" y="196452"/>
                </a:cubicBezTo>
                <a:lnTo>
                  <a:pt x="214312" y="196452"/>
                </a:lnTo>
                <a:cubicBezTo>
                  <a:pt x="204434" y="196452"/>
                  <a:pt x="196452" y="204434"/>
                  <a:pt x="196452" y="214312"/>
                </a:cubicBezTo>
                <a:close/>
                <a:moveTo>
                  <a:pt x="71438" y="285750"/>
                </a:moveTo>
                <a:lnTo>
                  <a:pt x="93762" y="285750"/>
                </a:lnTo>
                <a:cubicBezTo>
                  <a:pt x="120886" y="285750"/>
                  <a:pt x="142875" y="263761"/>
                  <a:pt x="142875" y="236637"/>
                </a:cubicBezTo>
                <a:cubicBezTo>
                  <a:pt x="142875" y="209513"/>
                  <a:pt x="120886" y="187523"/>
                  <a:pt x="93762" y="187523"/>
                </a:cubicBezTo>
                <a:lnTo>
                  <a:pt x="17859" y="187523"/>
                </a:lnTo>
                <a:cubicBezTo>
                  <a:pt x="7981" y="187523"/>
                  <a:pt x="0" y="195504"/>
                  <a:pt x="0" y="205383"/>
                </a:cubicBezTo>
                <a:cubicBezTo>
                  <a:pt x="0" y="215261"/>
                  <a:pt x="7981" y="223242"/>
                  <a:pt x="17859" y="223242"/>
                </a:cubicBezTo>
                <a:lnTo>
                  <a:pt x="93762" y="223242"/>
                </a:lnTo>
                <a:cubicBezTo>
                  <a:pt x="101185" y="223242"/>
                  <a:pt x="107156" y="229213"/>
                  <a:pt x="107156" y="236637"/>
                </a:cubicBezTo>
                <a:cubicBezTo>
                  <a:pt x="107156" y="244060"/>
                  <a:pt x="101185" y="250031"/>
                  <a:pt x="93762" y="250031"/>
                </a:cubicBezTo>
                <a:lnTo>
                  <a:pt x="71438" y="250031"/>
                </a:lnTo>
                <a:cubicBezTo>
                  <a:pt x="61559" y="250031"/>
                  <a:pt x="53577" y="258012"/>
                  <a:pt x="53577" y="267891"/>
                </a:cubicBezTo>
                <a:cubicBezTo>
                  <a:pt x="53577" y="277769"/>
                  <a:pt x="61559" y="285750"/>
                  <a:pt x="71438" y="2857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142867" y="1640886"/>
            <a:ext cx="22002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ruff</a:t>
            </a:r>
            <a:endParaRPr lang="en-US" sz="1100"/>
          </a:p>
        </p:txBody>
      </p:sp>
      <p:sp>
        <p:nvSpPr>
          <p:cNvPr id="6" name="AutoShape 6"/>
          <p:cNvSpPr/>
          <p:nvPr/>
        </p:nvSpPr>
        <p:spPr>
          <a:xfrm>
            <a:off x="1143000" y="1983740"/>
            <a:ext cx="701484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Outil de v</a:t>
            </a:r>
            <a:r>
              <a:rPr lang="en-US" alt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rification de code Python ultra-rapid</a:t>
            </a: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7" name="Freeform 7"/>
          <p:cNvSpPr/>
          <p:nvPr/>
        </p:nvSpPr>
        <p:spPr>
          <a:xfrm>
            <a:off x="390525" y="2488565"/>
            <a:ext cx="5543550" cy="2398395"/>
          </a:xfrm>
          <a:custGeom>
            <a:avLst/>
            <a:gdLst/>
            <a:ahLst/>
            <a:cxnLst/>
            <a:rect l="l" t="t" r="r" b="b"/>
            <a:pathLst>
              <a:path w="5543455" h="1923955">
                <a:moveTo>
                  <a:pt x="76208" y="0"/>
                </a:moveTo>
                <a:lnTo>
                  <a:pt x="5467247" y="0"/>
                </a:lnTo>
                <a:cubicBezTo>
                  <a:pt x="5509336" y="0"/>
                  <a:pt x="5543455" y="34119"/>
                  <a:pt x="5543455" y="76208"/>
                </a:cubicBezTo>
                <a:lnTo>
                  <a:pt x="5543455" y="1847747"/>
                </a:lnTo>
                <a:cubicBezTo>
                  <a:pt x="5543455" y="1889836"/>
                  <a:pt x="5509336" y="1923955"/>
                  <a:pt x="5467247" y="1923955"/>
                </a:cubicBezTo>
                <a:lnTo>
                  <a:pt x="76208" y="1923955"/>
                </a:lnTo>
                <a:cubicBezTo>
                  <a:pt x="34119" y="1923955"/>
                  <a:pt x="0" y="1889836"/>
                  <a:pt x="0" y="1847747"/>
                </a:cubicBezTo>
                <a:lnTo>
                  <a:pt x="0" y="76208"/>
                </a:lnTo>
                <a:cubicBezTo>
                  <a:pt x="0" y="34148"/>
                  <a:pt x="34148" y="0"/>
                  <a:pt x="76208"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628484" y="2726513"/>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Fonctionnalites</a:t>
            </a:r>
            <a:endParaRPr lang="en-US" sz="1100"/>
          </a:p>
        </p:txBody>
      </p:sp>
      <p:sp>
        <p:nvSpPr>
          <p:cNvPr id="9" name="Freeform 9"/>
          <p:cNvSpPr/>
          <p:nvPr/>
        </p:nvSpPr>
        <p:spPr>
          <a:xfrm>
            <a:off x="647534" y="3183661"/>
            <a:ext cx="172488" cy="172522"/>
          </a:xfrm>
          <a:custGeom>
            <a:avLst/>
            <a:gdLst/>
            <a:ahLst/>
            <a:cxnLst/>
            <a:rect l="l" t="t" r="r" b="b"/>
            <a:pathLst>
              <a:path w="172488" h="172522">
                <a:moveTo>
                  <a:pt x="139302" y="69652"/>
                </a:moveTo>
                <a:cubicBezTo>
                  <a:pt x="139302" y="85021"/>
                  <a:pt x="134314" y="99220"/>
                  <a:pt x="125909" y="110739"/>
                </a:cubicBezTo>
                <a:lnTo>
                  <a:pt x="168302" y="153166"/>
                </a:lnTo>
                <a:cubicBezTo>
                  <a:pt x="172488" y="157352"/>
                  <a:pt x="172488" y="164150"/>
                  <a:pt x="168302" y="168336"/>
                </a:cubicBezTo>
                <a:cubicBezTo>
                  <a:pt x="164116" y="172522"/>
                  <a:pt x="157319" y="172522"/>
                  <a:pt x="153133" y="168336"/>
                </a:cubicBezTo>
                <a:lnTo>
                  <a:pt x="110739" y="125909"/>
                </a:lnTo>
                <a:cubicBezTo>
                  <a:pt x="99220" y="134314"/>
                  <a:pt x="85021" y="139302"/>
                  <a:pt x="69652" y="139302"/>
                </a:cubicBezTo>
                <a:cubicBezTo>
                  <a:pt x="31176" y="139302"/>
                  <a:pt x="0" y="108127"/>
                  <a:pt x="0" y="69652"/>
                </a:cubicBezTo>
                <a:cubicBezTo>
                  <a:pt x="0" y="31176"/>
                  <a:pt x="31176" y="0"/>
                  <a:pt x="69652" y="0"/>
                </a:cubicBezTo>
                <a:cubicBezTo>
                  <a:pt x="108127" y="0"/>
                  <a:pt x="139302" y="31176"/>
                  <a:pt x="139302" y="69652"/>
                </a:cubicBezTo>
                <a:close/>
                <a:moveTo>
                  <a:pt x="69652" y="117873"/>
                </a:moveTo>
                <a:cubicBezTo>
                  <a:pt x="96265" y="117873"/>
                  <a:pt x="117873" y="96265"/>
                  <a:pt x="117873" y="69652"/>
                </a:cubicBezTo>
                <a:cubicBezTo>
                  <a:pt x="117873" y="43038"/>
                  <a:pt x="96265" y="21431"/>
                  <a:pt x="69652" y="21431"/>
                </a:cubicBezTo>
                <a:cubicBezTo>
                  <a:pt x="43038" y="21431"/>
                  <a:pt x="21431" y="43038"/>
                  <a:pt x="21431" y="69652"/>
                </a:cubicBezTo>
                <a:cubicBezTo>
                  <a:pt x="21431" y="96265"/>
                  <a:pt x="43038" y="117873"/>
                  <a:pt x="69652" y="11787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956945" y="3039745"/>
            <a:ext cx="477964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Analyse statique de code Python</a:t>
            </a:r>
            <a:endParaRPr lang="en-US" sz="1100"/>
          </a:p>
        </p:txBody>
      </p:sp>
      <p:sp>
        <p:nvSpPr>
          <p:cNvPr id="11" name="AutoShape 11"/>
          <p:cNvSpPr/>
          <p:nvPr/>
        </p:nvSpPr>
        <p:spPr>
          <a:xfrm>
            <a:off x="956945" y="3412490"/>
            <a:ext cx="461264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a:t>
            </a:r>
            <a:r>
              <a:rPr lang="en-US" alt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tecte les erreurs de syntaxe, probl</a:t>
            </a:r>
            <a:r>
              <a:rPr lang="en-US" alt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mes de style, bugs potentiel</a:t>
            </a: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12" name="Freeform 12"/>
          <p:cNvSpPr/>
          <p:nvPr/>
        </p:nvSpPr>
        <p:spPr>
          <a:xfrm>
            <a:off x="647534" y="3755059"/>
            <a:ext cx="171450" cy="171450"/>
          </a:xfrm>
          <a:custGeom>
            <a:avLst/>
            <a:gdLst/>
            <a:ahLst/>
            <a:cxnLst/>
            <a:rect l="l" t="t" r="r" b="b"/>
            <a:pathLst>
              <a:path w="171450" h="171450">
                <a:moveTo>
                  <a:pt x="133443" y="4086"/>
                </a:moveTo>
                <a:lnTo>
                  <a:pt x="103908" y="33619"/>
                </a:lnTo>
                <a:lnTo>
                  <a:pt x="137831" y="67542"/>
                </a:lnTo>
                <a:lnTo>
                  <a:pt x="167364" y="38007"/>
                </a:lnTo>
                <a:cubicBezTo>
                  <a:pt x="169977" y="35362"/>
                  <a:pt x="171450" y="31812"/>
                  <a:pt x="171450" y="28129"/>
                </a:cubicBezTo>
                <a:cubicBezTo>
                  <a:pt x="171450" y="24445"/>
                  <a:pt x="169977" y="20895"/>
                  <a:pt x="167364" y="18250"/>
                </a:cubicBezTo>
                <a:lnTo>
                  <a:pt x="153200" y="4086"/>
                </a:lnTo>
                <a:cubicBezTo>
                  <a:pt x="150555" y="1473"/>
                  <a:pt x="147005" y="0"/>
                  <a:pt x="143321" y="0"/>
                </a:cubicBezTo>
                <a:cubicBezTo>
                  <a:pt x="139638" y="0"/>
                  <a:pt x="136088" y="1473"/>
                  <a:pt x="133443" y="4086"/>
                </a:cubicBezTo>
                <a:close/>
                <a:moveTo>
                  <a:pt x="92556" y="44972"/>
                </a:moveTo>
                <a:lnTo>
                  <a:pt x="4086" y="133443"/>
                </a:lnTo>
                <a:cubicBezTo>
                  <a:pt x="1473" y="136088"/>
                  <a:pt x="0" y="139638"/>
                  <a:pt x="0" y="143321"/>
                </a:cubicBezTo>
                <a:cubicBezTo>
                  <a:pt x="0" y="147005"/>
                  <a:pt x="1473" y="150555"/>
                  <a:pt x="4086" y="153200"/>
                </a:cubicBezTo>
                <a:lnTo>
                  <a:pt x="18250" y="167364"/>
                </a:lnTo>
                <a:cubicBezTo>
                  <a:pt x="20895" y="169977"/>
                  <a:pt x="24445" y="171450"/>
                  <a:pt x="28129" y="171450"/>
                </a:cubicBezTo>
                <a:cubicBezTo>
                  <a:pt x="31812" y="171450"/>
                  <a:pt x="35362" y="169977"/>
                  <a:pt x="38007" y="167364"/>
                </a:cubicBezTo>
                <a:lnTo>
                  <a:pt x="126478" y="78894"/>
                </a:lnTo>
                <a:lnTo>
                  <a:pt x="92556" y="4497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956945" y="3717290"/>
            <a:ext cx="456628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Correction automatique des probl</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mes de cod</a:t>
            </a: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14" name="AutoShape 14"/>
          <p:cNvSpPr/>
          <p:nvPr/>
        </p:nvSpPr>
        <p:spPr>
          <a:xfrm>
            <a:off x="956945" y="4130675"/>
            <a:ext cx="448119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Prend en charge la correction automatique de nombreux probl</a:t>
            </a:r>
            <a:r>
              <a:rPr lang="en-US" alt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mes courant</a:t>
            </a: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15" name="Freeform 15"/>
          <p:cNvSpPr/>
          <p:nvPr/>
        </p:nvSpPr>
        <p:spPr>
          <a:xfrm>
            <a:off x="6257925" y="2488565"/>
            <a:ext cx="5543550" cy="2398395"/>
          </a:xfrm>
          <a:custGeom>
            <a:avLst/>
            <a:gdLst/>
            <a:ahLst/>
            <a:cxnLst/>
            <a:rect l="l" t="t" r="r" b="b"/>
            <a:pathLst>
              <a:path w="5543455" h="1923955">
                <a:moveTo>
                  <a:pt x="76208" y="0"/>
                </a:moveTo>
                <a:lnTo>
                  <a:pt x="5467247" y="0"/>
                </a:lnTo>
                <a:cubicBezTo>
                  <a:pt x="5509336" y="0"/>
                  <a:pt x="5543455" y="34119"/>
                  <a:pt x="5543455" y="76208"/>
                </a:cubicBezTo>
                <a:lnTo>
                  <a:pt x="5543455" y="1847747"/>
                </a:lnTo>
                <a:cubicBezTo>
                  <a:pt x="5543455" y="1889836"/>
                  <a:pt x="5509336" y="1923955"/>
                  <a:pt x="5467247" y="1923955"/>
                </a:cubicBezTo>
                <a:lnTo>
                  <a:pt x="76208" y="1923955"/>
                </a:lnTo>
                <a:cubicBezTo>
                  <a:pt x="34119" y="1923955"/>
                  <a:pt x="0" y="1889836"/>
                  <a:pt x="0" y="1847747"/>
                </a:cubicBezTo>
                <a:lnTo>
                  <a:pt x="0" y="76208"/>
                </a:lnTo>
                <a:cubicBezTo>
                  <a:pt x="0" y="34148"/>
                  <a:pt x="34148" y="0"/>
                  <a:pt x="76208" y="0"/>
                </a:cubicBezTo>
                <a:close/>
              </a:path>
            </a:pathLst>
          </a:custGeom>
          <a:solidFill>
            <a:srgbClr val="000000">
              <a:alpha val="0"/>
            </a:srgbClr>
          </a:solidFill>
          <a:ln w="12700">
            <a:solidFill>
              <a:srgbClr val="333333">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6495866" y="2726513"/>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Configuration</a:t>
            </a:r>
            <a:endParaRPr lang="en-US" sz="1100"/>
          </a:p>
        </p:txBody>
      </p:sp>
      <p:sp>
        <p:nvSpPr>
          <p:cNvPr id="17" name="Freeform 17"/>
          <p:cNvSpPr/>
          <p:nvPr/>
        </p:nvSpPr>
        <p:spPr>
          <a:xfrm>
            <a:off x="6504201" y="3236077"/>
            <a:ext cx="192881" cy="85725"/>
          </a:xfrm>
          <a:custGeom>
            <a:avLst/>
            <a:gdLst/>
            <a:ahLst/>
            <a:cxnLst/>
            <a:rect l="l" t="t" r="r" b="b"/>
            <a:pathLst>
              <a:path w="192881" h="85725">
                <a:moveTo>
                  <a:pt x="16073" y="85725"/>
                </a:moveTo>
                <a:cubicBezTo>
                  <a:pt x="7200" y="85725"/>
                  <a:pt x="0" y="78525"/>
                  <a:pt x="0" y="69651"/>
                </a:cubicBezTo>
                <a:lnTo>
                  <a:pt x="0" y="16073"/>
                </a:lnTo>
                <a:cubicBezTo>
                  <a:pt x="0" y="7199"/>
                  <a:pt x="7200" y="0"/>
                  <a:pt x="16073" y="0"/>
                </a:cubicBezTo>
                <a:lnTo>
                  <a:pt x="24110" y="0"/>
                </a:lnTo>
                <a:lnTo>
                  <a:pt x="24110" y="34825"/>
                </a:lnTo>
                <a:cubicBezTo>
                  <a:pt x="24110" y="39279"/>
                  <a:pt x="27694" y="42862"/>
                  <a:pt x="32148" y="42862"/>
                </a:cubicBezTo>
                <a:cubicBezTo>
                  <a:pt x="36601" y="42862"/>
                  <a:pt x="40184" y="39279"/>
                  <a:pt x="40184" y="34825"/>
                </a:cubicBezTo>
                <a:lnTo>
                  <a:pt x="40184" y="0"/>
                </a:lnTo>
                <a:lnTo>
                  <a:pt x="56257" y="0"/>
                </a:lnTo>
                <a:lnTo>
                  <a:pt x="56257" y="24110"/>
                </a:lnTo>
                <a:cubicBezTo>
                  <a:pt x="56257" y="28563"/>
                  <a:pt x="59840" y="32146"/>
                  <a:pt x="64294" y="32146"/>
                </a:cubicBezTo>
                <a:cubicBezTo>
                  <a:pt x="68746" y="32146"/>
                  <a:pt x="72330" y="28563"/>
                  <a:pt x="72330" y="24110"/>
                </a:cubicBezTo>
                <a:lnTo>
                  <a:pt x="72330" y="0"/>
                </a:lnTo>
                <a:lnTo>
                  <a:pt x="88403" y="0"/>
                </a:lnTo>
                <a:lnTo>
                  <a:pt x="88403" y="34825"/>
                </a:lnTo>
                <a:cubicBezTo>
                  <a:pt x="88403" y="39279"/>
                  <a:pt x="91987" y="42862"/>
                  <a:pt x="96441" y="42862"/>
                </a:cubicBezTo>
                <a:cubicBezTo>
                  <a:pt x="100894" y="42862"/>
                  <a:pt x="104477" y="39279"/>
                  <a:pt x="104477" y="34825"/>
                </a:cubicBezTo>
                <a:lnTo>
                  <a:pt x="104477" y="0"/>
                </a:lnTo>
                <a:lnTo>
                  <a:pt x="120551" y="0"/>
                </a:lnTo>
                <a:lnTo>
                  <a:pt x="120551" y="24110"/>
                </a:lnTo>
                <a:cubicBezTo>
                  <a:pt x="120551" y="28563"/>
                  <a:pt x="124134" y="32146"/>
                  <a:pt x="128587" y="32146"/>
                </a:cubicBezTo>
                <a:cubicBezTo>
                  <a:pt x="133041" y="32146"/>
                  <a:pt x="136624" y="28563"/>
                  <a:pt x="136624" y="24110"/>
                </a:cubicBezTo>
                <a:lnTo>
                  <a:pt x="136624" y="0"/>
                </a:lnTo>
                <a:lnTo>
                  <a:pt x="152698" y="0"/>
                </a:lnTo>
                <a:lnTo>
                  <a:pt x="152698" y="34825"/>
                </a:lnTo>
                <a:cubicBezTo>
                  <a:pt x="152698" y="39279"/>
                  <a:pt x="156281" y="42862"/>
                  <a:pt x="160734" y="42862"/>
                </a:cubicBezTo>
                <a:cubicBezTo>
                  <a:pt x="165188" y="42862"/>
                  <a:pt x="168772" y="39279"/>
                  <a:pt x="168772" y="34825"/>
                </a:cubicBezTo>
                <a:lnTo>
                  <a:pt x="168772" y="0"/>
                </a:lnTo>
                <a:lnTo>
                  <a:pt x="176808" y="0"/>
                </a:lnTo>
                <a:cubicBezTo>
                  <a:pt x="185682" y="0"/>
                  <a:pt x="192881" y="7199"/>
                  <a:pt x="192881" y="16073"/>
                </a:cubicBezTo>
                <a:lnTo>
                  <a:pt x="192881" y="69651"/>
                </a:lnTo>
                <a:cubicBezTo>
                  <a:pt x="192881" y="78525"/>
                  <a:pt x="185682" y="85725"/>
                  <a:pt x="176808" y="85725"/>
                </a:cubicBezTo>
                <a:lnTo>
                  <a:pt x="16073" y="85725"/>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824345" y="3145790"/>
            <a:ext cx="446214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Longueur de ligne :</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120 </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caract</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19" name="Freeform 19"/>
          <p:cNvSpPr/>
          <p:nvPr/>
        </p:nvSpPr>
        <p:spPr>
          <a:xfrm>
            <a:off x="6509894" y="3574168"/>
            <a:ext cx="176473" cy="176473"/>
          </a:xfrm>
          <a:custGeom>
            <a:avLst/>
            <a:gdLst/>
            <a:ahLst/>
            <a:cxnLst/>
            <a:rect l="l" t="t" r="r" b="b"/>
            <a:pathLst>
              <a:path w="176473" h="176473">
                <a:moveTo>
                  <a:pt x="164886" y="33017"/>
                </a:moveTo>
                <a:cubicBezTo>
                  <a:pt x="167431" y="30472"/>
                  <a:pt x="171684" y="31109"/>
                  <a:pt x="172957" y="34456"/>
                </a:cubicBezTo>
                <a:cubicBezTo>
                  <a:pt x="175234" y="40385"/>
                  <a:pt x="176473" y="46846"/>
                  <a:pt x="176473" y="53577"/>
                </a:cubicBezTo>
                <a:cubicBezTo>
                  <a:pt x="176473" y="83180"/>
                  <a:pt x="152496" y="107156"/>
                  <a:pt x="122894" y="107156"/>
                </a:cubicBezTo>
                <a:cubicBezTo>
                  <a:pt x="117033" y="107156"/>
                  <a:pt x="111376" y="106219"/>
                  <a:pt x="106084" y="104477"/>
                </a:cubicBezTo>
                <a:lnTo>
                  <a:pt x="43498" y="167063"/>
                </a:lnTo>
                <a:cubicBezTo>
                  <a:pt x="34088" y="176473"/>
                  <a:pt x="18819" y="176473"/>
                  <a:pt x="9409" y="167063"/>
                </a:cubicBezTo>
                <a:cubicBezTo>
                  <a:pt x="0" y="157654"/>
                  <a:pt x="0" y="142384"/>
                  <a:pt x="9409" y="132974"/>
                </a:cubicBezTo>
                <a:lnTo>
                  <a:pt x="71995" y="70388"/>
                </a:lnTo>
                <a:cubicBezTo>
                  <a:pt x="70254" y="65096"/>
                  <a:pt x="69316" y="59472"/>
                  <a:pt x="69316" y="53577"/>
                </a:cubicBezTo>
                <a:cubicBezTo>
                  <a:pt x="69316" y="23976"/>
                  <a:pt x="93293" y="0"/>
                  <a:pt x="122894" y="0"/>
                </a:cubicBezTo>
                <a:cubicBezTo>
                  <a:pt x="129626" y="0"/>
                  <a:pt x="136089" y="1240"/>
                  <a:pt x="142016" y="3517"/>
                </a:cubicBezTo>
                <a:cubicBezTo>
                  <a:pt x="145365" y="4789"/>
                  <a:pt x="145967" y="9041"/>
                  <a:pt x="143455" y="11586"/>
                </a:cubicBezTo>
                <a:lnTo>
                  <a:pt x="113753" y="41289"/>
                </a:lnTo>
                <a:cubicBezTo>
                  <a:pt x="112748" y="42294"/>
                  <a:pt x="112180" y="43666"/>
                  <a:pt x="112180" y="45074"/>
                </a:cubicBezTo>
                <a:lnTo>
                  <a:pt x="112180" y="58936"/>
                </a:lnTo>
                <a:cubicBezTo>
                  <a:pt x="112180" y="61883"/>
                  <a:pt x="114590" y="64294"/>
                  <a:pt x="117536" y="64294"/>
                </a:cubicBezTo>
                <a:lnTo>
                  <a:pt x="131400" y="64294"/>
                </a:lnTo>
                <a:cubicBezTo>
                  <a:pt x="132806" y="64294"/>
                  <a:pt x="134178" y="63724"/>
                  <a:pt x="135184" y="62720"/>
                </a:cubicBezTo>
                <a:lnTo>
                  <a:pt x="164886" y="33017"/>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824345" y="3526790"/>
            <a:ext cx="446151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Correction automatique :</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activ</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21" name="Freeform 21"/>
          <p:cNvSpPr/>
          <p:nvPr/>
        </p:nvSpPr>
        <p:spPr>
          <a:xfrm>
            <a:off x="380956" y="5202061"/>
            <a:ext cx="11430000" cy="1257300"/>
          </a:xfrm>
          <a:custGeom>
            <a:avLst/>
            <a:gdLst/>
            <a:ahLst/>
            <a:cxnLst/>
            <a:rect l="l" t="t" r="r" b="b"/>
            <a:pathLst>
              <a:path w="11430000" h="1257300">
                <a:moveTo>
                  <a:pt x="76205" y="0"/>
                </a:moveTo>
                <a:lnTo>
                  <a:pt x="11353795" y="0"/>
                </a:lnTo>
                <a:cubicBezTo>
                  <a:pt x="11395881" y="0"/>
                  <a:pt x="11430000" y="34119"/>
                  <a:pt x="11430000" y="76205"/>
                </a:cubicBezTo>
                <a:lnTo>
                  <a:pt x="11430000" y="1181095"/>
                </a:lnTo>
                <a:cubicBezTo>
                  <a:pt x="11430000" y="1223181"/>
                  <a:pt x="11395881" y="1257300"/>
                  <a:pt x="11353795" y="1257300"/>
                </a:cubicBezTo>
                <a:lnTo>
                  <a:pt x="76205" y="1257300"/>
                </a:lnTo>
                <a:cubicBezTo>
                  <a:pt x="34119" y="1257300"/>
                  <a:pt x="0" y="1223181"/>
                  <a:pt x="0" y="1181095"/>
                </a:cubicBezTo>
                <a:lnTo>
                  <a:pt x="0" y="76205"/>
                </a:lnTo>
                <a:cubicBezTo>
                  <a:pt x="0" y="34146"/>
                  <a:pt x="34146" y="0"/>
                  <a:pt x="76205" y="0"/>
                </a:cubicBezTo>
                <a:close/>
              </a:path>
            </a:pathLst>
          </a:custGeom>
          <a:solidFill>
            <a:srgbClr val="101828">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571396" y="5392506"/>
            <a:ext cx="11125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Commandes ruff courantes</a:t>
            </a:r>
            <a:endParaRPr lang="en-US" sz="1100"/>
          </a:p>
        </p:txBody>
      </p:sp>
      <p:sp>
        <p:nvSpPr>
          <p:cNvPr id="23" name="AutoShape 23"/>
          <p:cNvSpPr/>
          <p:nvPr/>
        </p:nvSpPr>
        <p:spPr>
          <a:xfrm>
            <a:off x="571396" y="5697268"/>
            <a:ext cx="11115675" cy="571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ruff check . # </a:t>
            </a:r>
            <a:r>
              <a:rPr lang="en-US" altLang="zh-CN"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V</a:t>
            </a:r>
            <a:r>
              <a:rPr lang="en-US" alt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rifier tous les fichiers du r</a:t>
            </a:r>
            <a:r>
              <a:rPr lang="en-US" alt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pertoire couran</a:t>
            </a: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a:t>
            </a:r>
            <a:endParaRPr lang="en-US" sz="1100"/>
          </a:p>
          <a:p>
            <a:pPr indent="0" algn="l">
              <a:lnSpc>
                <a:spcPct val="117000"/>
              </a:lnSpc>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ruff check -- fix . # </a:t>
            </a:r>
            <a:r>
              <a:rPr lang="en-US" altLang="zh-CN"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Verifier et corriger automatiquement les probleme</a:t>
            </a: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17000"/>
              </a:lnSpc>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ruff check -- </a:t>
            </a:r>
            <a:r>
              <a:rPr lang="en-US" altLang="zh-CN"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select E,W,F . # Sp</a:t>
            </a:r>
            <a:r>
              <a:rPr lang="en-US" alt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cifier un ensemble de r</a:t>
            </a:r>
            <a:r>
              <a:rPr lang="en-US" alt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gle</a:t>
            </a: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9770" y="594360"/>
            <a:ext cx="7599045" cy="33337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Formatage du code Python</a:t>
            </a:r>
            <a:endParaRPr lang="en-US" sz="3200"/>
          </a:p>
        </p:txBody>
      </p:sp>
      <p:sp>
        <p:nvSpPr>
          <p:cNvPr id="3" name="Freeform 3"/>
          <p:cNvSpPr/>
          <p:nvPr/>
        </p:nvSpPr>
        <p:spPr>
          <a:xfrm>
            <a:off x="370253" y="1594787"/>
            <a:ext cx="592474" cy="592474"/>
          </a:xfrm>
          <a:custGeom>
            <a:avLst/>
            <a:gdLst/>
            <a:ahLst/>
            <a:cxnLst/>
            <a:rect l="l" t="t" r="r" b="b"/>
            <a:pathLst>
              <a:path w="592474" h="592474">
                <a:moveTo>
                  <a:pt x="74059" y="0"/>
                </a:moveTo>
                <a:lnTo>
                  <a:pt x="518415" y="0"/>
                </a:lnTo>
                <a:cubicBezTo>
                  <a:pt x="559316" y="0"/>
                  <a:pt x="592474" y="33157"/>
                  <a:pt x="592474" y="74059"/>
                </a:cubicBezTo>
                <a:lnTo>
                  <a:pt x="592474" y="518415"/>
                </a:lnTo>
                <a:cubicBezTo>
                  <a:pt x="592474" y="559316"/>
                  <a:pt x="559316" y="592474"/>
                  <a:pt x="518415" y="592474"/>
                </a:cubicBezTo>
                <a:lnTo>
                  <a:pt x="74059" y="592474"/>
                </a:lnTo>
                <a:cubicBezTo>
                  <a:pt x="33157" y="592474"/>
                  <a:pt x="0" y="559316"/>
                  <a:pt x="0" y="518415"/>
                </a:cubicBezTo>
                <a:lnTo>
                  <a:pt x="0" y="74059"/>
                </a:lnTo>
                <a:cubicBezTo>
                  <a:pt x="0" y="33157"/>
                  <a:pt x="33157" y="0"/>
                  <a:pt x="7405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36418" y="1756439"/>
            <a:ext cx="264705" cy="269043"/>
          </a:xfrm>
          <a:custGeom>
            <a:avLst/>
            <a:gdLst/>
            <a:ahLst/>
            <a:cxnLst/>
            <a:rect l="l" t="t" r="r" b="b"/>
            <a:pathLst>
              <a:path w="264705" h="269043">
                <a:moveTo>
                  <a:pt x="264705" y="137668"/>
                </a:moveTo>
                <a:cubicBezTo>
                  <a:pt x="264705" y="214420"/>
                  <a:pt x="212143" y="269043"/>
                  <a:pt x="134522" y="269043"/>
                </a:cubicBezTo>
                <a:cubicBezTo>
                  <a:pt x="60101" y="269043"/>
                  <a:pt x="0" y="208943"/>
                  <a:pt x="0" y="134521"/>
                </a:cubicBezTo>
                <a:cubicBezTo>
                  <a:pt x="0" y="60100"/>
                  <a:pt x="60101" y="0"/>
                  <a:pt x="134522" y="0"/>
                </a:cubicBezTo>
                <a:cubicBezTo>
                  <a:pt x="170756" y="0"/>
                  <a:pt x="201240" y="13289"/>
                  <a:pt x="224728" y="35203"/>
                </a:cubicBezTo>
                <a:lnTo>
                  <a:pt x="188113" y="70406"/>
                </a:lnTo>
                <a:cubicBezTo>
                  <a:pt x="140217" y="24192"/>
                  <a:pt x="51152" y="58907"/>
                  <a:pt x="51152" y="134521"/>
                </a:cubicBezTo>
                <a:cubicBezTo>
                  <a:pt x="51152" y="181441"/>
                  <a:pt x="88633" y="219464"/>
                  <a:pt x="134522" y="219464"/>
                </a:cubicBezTo>
                <a:cubicBezTo>
                  <a:pt x="187788" y="219464"/>
                  <a:pt x="207749" y="181278"/>
                  <a:pt x="210895" y="161480"/>
                </a:cubicBezTo>
                <a:lnTo>
                  <a:pt x="134522" y="161480"/>
                </a:lnTo>
                <a:lnTo>
                  <a:pt x="134522" y="115211"/>
                </a:lnTo>
                <a:lnTo>
                  <a:pt x="262589" y="115211"/>
                </a:lnTo>
                <a:cubicBezTo>
                  <a:pt x="263836" y="122099"/>
                  <a:pt x="264705" y="128717"/>
                  <a:pt x="264705" y="13766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110759" y="1594787"/>
            <a:ext cx="3101230" cy="33326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2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yapf</a:t>
            </a:r>
            <a:endParaRPr lang="en-US" sz="1100"/>
          </a:p>
        </p:txBody>
      </p:sp>
      <p:sp>
        <p:nvSpPr>
          <p:cNvPr id="6" name="AutoShape 6"/>
          <p:cNvSpPr/>
          <p:nvPr/>
        </p:nvSpPr>
        <p:spPr>
          <a:xfrm>
            <a:off x="1110615" y="1927860"/>
            <a:ext cx="9859010" cy="25908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Outil de formatage de code Python open source par Google</a:t>
            </a:r>
            <a:endParaRPr lang="en-US" sz="1100"/>
          </a:p>
        </p:txBody>
      </p:sp>
      <p:sp>
        <p:nvSpPr>
          <p:cNvPr id="7" name="Freeform 7"/>
          <p:cNvSpPr/>
          <p:nvPr/>
        </p:nvSpPr>
        <p:spPr>
          <a:xfrm>
            <a:off x="370253" y="2427761"/>
            <a:ext cx="3665932" cy="1295944"/>
          </a:xfrm>
          <a:custGeom>
            <a:avLst/>
            <a:gdLst/>
            <a:ahLst/>
            <a:cxnLst/>
            <a:rect l="l" t="t" r="r" b="b"/>
            <a:pathLst>
              <a:path w="3665932" h="1295944">
                <a:moveTo>
                  <a:pt x="36845" y="0"/>
                </a:moveTo>
                <a:lnTo>
                  <a:pt x="3629086" y="0"/>
                </a:lnTo>
                <a:cubicBezTo>
                  <a:pt x="3649435" y="0"/>
                  <a:pt x="3665932" y="16496"/>
                  <a:pt x="3665932" y="36845"/>
                </a:cubicBezTo>
                <a:lnTo>
                  <a:pt x="3665932" y="1221881"/>
                </a:lnTo>
                <a:cubicBezTo>
                  <a:pt x="3665932" y="1262785"/>
                  <a:pt x="3632771" y="1295944"/>
                  <a:pt x="3591869" y="1295944"/>
                </a:cubicBezTo>
                <a:lnTo>
                  <a:pt x="74063" y="1295944"/>
                </a:lnTo>
                <a:cubicBezTo>
                  <a:pt x="33158" y="1295944"/>
                  <a:pt x="0" y="1262785"/>
                  <a:pt x="0" y="1221881"/>
                </a:cubicBezTo>
                <a:lnTo>
                  <a:pt x="0" y="36845"/>
                </a:lnTo>
                <a:cubicBezTo>
                  <a:pt x="0" y="16510"/>
                  <a:pt x="16510" y="0"/>
                  <a:pt x="3684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370253" y="2427761"/>
            <a:ext cx="3665932" cy="36845"/>
          </a:xfrm>
          <a:custGeom>
            <a:avLst/>
            <a:gdLst/>
            <a:ahLst/>
            <a:cxnLst/>
            <a:rect l="l" t="t" r="r" b="b"/>
            <a:pathLst>
              <a:path w="3665932" h="36845">
                <a:moveTo>
                  <a:pt x="36845" y="0"/>
                </a:moveTo>
                <a:lnTo>
                  <a:pt x="3629086" y="0"/>
                </a:lnTo>
                <a:cubicBezTo>
                  <a:pt x="3649435" y="0"/>
                  <a:pt x="3665932" y="16496"/>
                  <a:pt x="3665932" y="36845"/>
                </a:cubicBezTo>
                <a:lnTo>
                  <a:pt x="3665932" y="36845"/>
                </a:lnTo>
                <a:lnTo>
                  <a:pt x="0" y="36845"/>
                </a:lnTo>
                <a:lnTo>
                  <a:pt x="0" y="36845"/>
                </a:lnTo>
                <a:cubicBezTo>
                  <a:pt x="0" y="16496"/>
                  <a:pt x="16496" y="0"/>
                  <a:pt x="3684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2075216" y="2635612"/>
            <a:ext cx="264705" cy="269043"/>
          </a:xfrm>
          <a:custGeom>
            <a:avLst/>
            <a:gdLst/>
            <a:ahLst/>
            <a:cxnLst/>
            <a:rect l="l" t="t" r="r" b="b"/>
            <a:pathLst>
              <a:path w="264705" h="269043">
                <a:moveTo>
                  <a:pt x="264705" y="137668"/>
                </a:moveTo>
                <a:cubicBezTo>
                  <a:pt x="264705" y="214420"/>
                  <a:pt x="212143" y="269043"/>
                  <a:pt x="134522" y="269043"/>
                </a:cubicBezTo>
                <a:cubicBezTo>
                  <a:pt x="60101" y="269043"/>
                  <a:pt x="0" y="208943"/>
                  <a:pt x="0" y="134521"/>
                </a:cubicBezTo>
                <a:cubicBezTo>
                  <a:pt x="0" y="60100"/>
                  <a:pt x="60101" y="0"/>
                  <a:pt x="134522" y="0"/>
                </a:cubicBezTo>
                <a:cubicBezTo>
                  <a:pt x="170756" y="0"/>
                  <a:pt x="201240" y="13289"/>
                  <a:pt x="224728" y="35203"/>
                </a:cubicBezTo>
                <a:lnTo>
                  <a:pt x="188113" y="70406"/>
                </a:lnTo>
                <a:cubicBezTo>
                  <a:pt x="140217" y="24192"/>
                  <a:pt x="51152" y="58907"/>
                  <a:pt x="51152" y="134521"/>
                </a:cubicBezTo>
                <a:cubicBezTo>
                  <a:pt x="51152" y="181441"/>
                  <a:pt x="88633" y="219464"/>
                  <a:pt x="134522" y="219464"/>
                </a:cubicBezTo>
                <a:cubicBezTo>
                  <a:pt x="187788" y="219464"/>
                  <a:pt x="207749" y="181278"/>
                  <a:pt x="210895" y="161480"/>
                </a:cubicBezTo>
                <a:lnTo>
                  <a:pt x="134522" y="161480"/>
                </a:lnTo>
                <a:lnTo>
                  <a:pt x="134522" y="115211"/>
                </a:lnTo>
                <a:lnTo>
                  <a:pt x="262589" y="115211"/>
                </a:lnTo>
                <a:cubicBezTo>
                  <a:pt x="263836" y="122099"/>
                  <a:pt x="264705" y="128717"/>
                  <a:pt x="264705" y="13766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513685" y="3020020"/>
            <a:ext cx="3378952" cy="2592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Style Google</a:t>
            </a:r>
            <a:endParaRPr lang="en-US" sz="1100"/>
          </a:p>
        </p:txBody>
      </p:sp>
      <p:sp>
        <p:nvSpPr>
          <p:cNvPr id="11" name="AutoShape 11"/>
          <p:cNvSpPr/>
          <p:nvPr/>
        </p:nvSpPr>
        <p:spPr>
          <a:xfrm>
            <a:off x="522943" y="3353286"/>
            <a:ext cx="3360437" cy="185148"/>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Conforme au guide de style Python de Google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4262478" y="2427761"/>
            <a:ext cx="3665932" cy="1295944"/>
          </a:xfrm>
          <a:custGeom>
            <a:avLst/>
            <a:gdLst/>
            <a:ahLst/>
            <a:cxnLst/>
            <a:rect l="l" t="t" r="r" b="b"/>
            <a:pathLst>
              <a:path w="3665932" h="1295944">
                <a:moveTo>
                  <a:pt x="36845" y="0"/>
                </a:moveTo>
                <a:lnTo>
                  <a:pt x="3629086" y="0"/>
                </a:lnTo>
                <a:cubicBezTo>
                  <a:pt x="3649435" y="0"/>
                  <a:pt x="3665932" y="16496"/>
                  <a:pt x="3665932" y="36845"/>
                </a:cubicBezTo>
                <a:lnTo>
                  <a:pt x="3665932" y="1221881"/>
                </a:lnTo>
                <a:cubicBezTo>
                  <a:pt x="3665932" y="1262785"/>
                  <a:pt x="3632772" y="1295944"/>
                  <a:pt x="3591869" y="1295944"/>
                </a:cubicBezTo>
                <a:lnTo>
                  <a:pt x="74063" y="1295944"/>
                </a:lnTo>
                <a:cubicBezTo>
                  <a:pt x="33158" y="1295944"/>
                  <a:pt x="0" y="1262785"/>
                  <a:pt x="0" y="1221881"/>
                </a:cubicBezTo>
                <a:lnTo>
                  <a:pt x="0" y="36845"/>
                </a:lnTo>
                <a:cubicBezTo>
                  <a:pt x="0" y="16510"/>
                  <a:pt x="16510" y="0"/>
                  <a:pt x="3684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4262478" y="2427761"/>
            <a:ext cx="3665932" cy="36845"/>
          </a:xfrm>
          <a:custGeom>
            <a:avLst/>
            <a:gdLst/>
            <a:ahLst/>
            <a:cxnLst/>
            <a:rect l="l" t="t" r="r" b="b"/>
            <a:pathLst>
              <a:path w="3665932" h="36845">
                <a:moveTo>
                  <a:pt x="36845" y="0"/>
                </a:moveTo>
                <a:lnTo>
                  <a:pt x="3629086" y="0"/>
                </a:lnTo>
                <a:cubicBezTo>
                  <a:pt x="3649435" y="0"/>
                  <a:pt x="3665932" y="16496"/>
                  <a:pt x="3665932" y="36845"/>
                </a:cubicBezTo>
                <a:lnTo>
                  <a:pt x="3665932" y="36845"/>
                </a:lnTo>
                <a:lnTo>
                  <a:pt x="0" y="36845"/>
                </a:lnTo>
                <a:lnTo>
                  <a:pt x="0" y="36845"/>
                </a:lnTo>
                <a:cubicBezTo>
                  <a:pt x="0" y="16496"/>
                  <a:pt x="16496" y="0"/>
                  <a:pt x="3684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960933" y="2631272"/>
            <a:ext cx="277722" cy="277722"/>
          </a:xfrm>
          <a:custGeom>
            <a:avLst/>
            <a:gdLst/>
            <a:ahLst/>
            <a:cxnLst/>
            <a:rect l="l" t="t" r="r" b="b"/>
            <a:pathLst>
              <a:path w="277722" h="277722">
                <a:moveTo>
                  <a:pt x="216157" y="6618"/>
                </a:moveTo>
                <a:lnTo>
                  <a:pt x="168314" y="54460"/>
                </a:lnTo>
                <a:lnTo>
                  <a:pt x="223263" y="109407"/>
                </a:lnTo>
                <a:lnTo>
                  <a:pt x="271104" y="61565"/>
                </a:lnTo>
                <a:cubicBezTo>
                  <a:pt x="275335" y="57280"/>
                  <a:pt x="277722" y="51530"/>
                  <a:pt x="277722" y="45564"/>
                </a:cubicBezTo>
                <a:cubicBezTo>
                  <a:pt x="277722" y="39597"/>
                  <a:pt x="275335" y="33847"/>
                  <a:pt x="271104" y="29562"/>
                </a:cubicBezTo>
                <a:lnTo>
                  <a:pt x="248161" y="6618"/>
                </a:lnTo>
                <a:cubicBezTo>
                  <a:pt x="243876" y="2388"/>
                  <a:pt x="238125" y="0"/>
                  <a:pt x="232159" y="0"/>
                </a:cubicBezTo>
                <a:cubicBezTo>
                  <a:pt x="226192" y="0"/>
                  <a:pt x="220442" y="2388"/>
                  <a:pt x="216157" y="6618"/>
                </a:cubicBezTo>
                <a:close/>
                <a:moveTo>
                  <a:pt x="149927" y="72848"/>
                </a:moveTo>
                <a:lnTo>
                  <a:pt x="6618" y="216157"/>
                </a:lnTo>
                <a:cubicBezTo>
                  <a:pt x="2388" y="220442"/>
                  <a:pt x="0" y="226192"/>
                  <a:pt x="0" y="232159"/>
                </a:cubicBezTo>
                <a:cubicBezTo>
                  <a:pt x="0" y="238125"/>
                  <a:pt x="2388" y="243876"/>
                  <a:pt x="6618" y="248161"/>
                </a:cubicBezTo>
                <a:lnTo>
                  <a:pt x="29562" y="271104"/>
                </a:lnTo>
                <a:cubicBezTo>
                  <a:pt x="33847" y="275335"/>
                  <a:pt x="39597" y="277722"/>
                  <a:pt x="45564" y="277722"/>
                </a:cubicBezTo>
                <a:cubicBezTo>
                  <a:pt x="51530" y="277722"/>
                  <a:pt x="57280" y="275335"/>
                  <a:pt x="61565" y="271104"/>
                </a:cubicBezTo>
                <a:lnTo>
                  <a:pt x="204874" y="127796"/>
                </a:lnTo>
                <a:lnTo>
                  <a:pt x="149927" y="7284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4415436" y="2936835"/>
            <a:ext cx="3378952" cy="2592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Formatage automatique</a:t>
            </a:r>
            <a:endParaRPr lang="en-US" sz="1100"/>
          </a:p>
        </p:txBody>
      </p:sp>
      <p:sp>
        <p:nvSpPr>
          <p:cNvPr id="16" name="AutoShape 16"/>
          <p:cNvSpPr/>
          <p:nvPr/>
        </p:nvSpPr>
        <p:spPr>
          <a:xfrm>
            <a:off x="4415168" y="3353286"/>
            <a:ext cx="3360437" cy="185148"/>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Formater un fichier entier en une seule commande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8154704" y="2427761"/>
            <a:ext cx="3665932" cy="1295944"/>
          </a:xfrm>
          <a:custGeom>
            <a:avLst/>
            <a:gdLst/>
            <a:ahLst/>
            <a:cxnLst/>
            <a:rect l="l" t="t" r="r" b="b"/>
            <a:pathLst>
              <a:path w="3665932" h="1295944">
                <a:moveTo>
                  <a:pt x="36845" y="0"/>
                </a:moveTo>
                <a:lnTo>
                  <a:pt x="3629086" y="0"/>
                </a:lnTo>
                <a:cubicBezTo>
                  <a:pt x="3649435" y="0"/>
                  <a:pt x="3665932" y="16496"/>
                  <a:pt x="3665932" y="36845"/>
                </a:cubicBezTo>
                <a:lnTo>
                  <a:pt x="3665932" y="1221881"/>
                </a:lnTo>
                <a:cubicBezTo>
                  <a:pt x="3665932" y="1262785"/>
                  <a:pt x="3632771" y="1295944"/>
                  <a:pt x="3591869" y="1295944"/>
                </a:cubicBezTo>
                <a:lnTo>
                  <a:pt x="74063" y="1295944"/>
                </a:lnTo>
                <a:cubicBezTo>
                  <a:pt x="33158" y="1295944"/>
                  <a:pt x="0" y="1262785"/>
                  <a:pt x="0" y="1221881"/>
                </a:cubicBezTo>
                <a:lnTo>
                  <a:pt x="0" y="36845"/>
                </a:lnTo>
                <a:cubicBezTo>
                  <a:pt x="0" y="16510"/>
                  <a:pt x="16510" y="0"/>
                  <a:pt x="3684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8154704" y="2427761"/>
            <a:ext cx="3665932" cy="36845"/>
          </a:xfrm>
          <a:custGeom>
            <a:avLst/>
            <a:gdLst/>
            <a:ahLst/>
            <a:cxnLst/>
            <a:rect l="l" t="t" r="r" b="b"/>
            <a:pathLst>
              <a:path w="3665932" h="36845">
                <a:moveTo>
                  <a:pt x="36845" y="0"/>
                </a:moveTo>
                <a:lnTo>
                  <a:pt x="3629086" y="0"/>
                </a:lnTo>
                <a:cubicBezTo>
                  <a:pt x="3649435" y="0"/>
                  <a:pt x="3665932" y="16496"/>
                  <a:pt x="3665932" y="36845"/>
                </a:cubicBezTo>
                <a:lnTo>
                  <a:pt x="3665932" y="36845"/>
                </a:lnTo>
                <a:lnTo>
                  <a:pt x="0" y="36845"/>
                </a:lnTo>
                <a:lnTo>
                  <a:pt x="0" y="36845"/>
                </a:lnTo>
                <a:cubicBezTo>
                  <a:pt x="0" y="16496"/>
                  <a:pt x="16496" y="0"/>
                  <a:pt x="3684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9870516" y="2700703"/>
            <a:ext cx="243007" cy="138861"/>
          </a:xfrm>
          <a:custGeom>
            <a:avLst/>
            <a:gdLst/>
            <a:ahLst/>
            <a:cxnLst/>
            <a:rect l="l" t="t" r="r" b="b"/>
            <a:pathLst>
              <a:path w="243007" h="138861">
                <a:moveTo>
                  <a:pt x="17358" y="0"/>
                </a:moveTo>
                <a:cubicBezTo>
                  <a:pt x="7757" y="0"/>
                  <a:pt x="0" y="7756"/>
                  <a:pt x="0" y="17357"/>
                </a:cubicBezTo>
                <a:cubicBezTo>
                  <a:pt x="0" y="26958"/>
                  <a:pt x="7757" y="34715"/>
                  <a:pt x="17358" y="34715"/>
                </a:cubicBezTo>
                <a:lnTo>
                  <a:pt x="225649" y="34715"/>
                </a:lnTo>
                <a:cubicBezTo>
                  <a:pt x="235250" y="34715"/>
                  <a:pt x="243007" y="26958"/>
                  <a:pt x="243007" y="17357"/>
                </a:cubicBezTo>
                <a:cubicBezTo>
                  <a:pt x="243007" y="7756"/>
                  <a:pt x="235250" y="0"/>
                  <a:pt x="225649" y="0"/>
                </a:cubicBezTo>
                <a:lnTo>
                  <a:pt x="17358" y="0"/>
                </a:lnTo>
                <a:close/>
                <a:moveTo>
                  <a:pt x="17358" y="104145"/>
                </a:moveTo>
                <a:cubicBezTo>
                  <a:pt x="7757" y="104145"/>
                  <a:pt x="0" y="111902"/>
                  <a:pt x="0" y="121503"/>
                </a:cubicBezTo>
                <a:cubicBezTo>
                  <a:pt x="0" y="131105"/>
                  <a:pt x="7757" y="138860"/>
                  <a:pt x="17358" y="138860"/>
                </a:cubicBezTo>
                <a:lnTo>
                  <a:pt x="225649" y="138860"/>
                </a:lnTo>
                <a:cubicBezTo>
                  <a:pt x="235250" y="138860"/>
                  <a:pt x="243007" y="131105"/>
                  <a:pt x="243007" y="121503"/>
                </a:cubicBezTo>
                <a:cubicBezTo>
                  <a:pt x="243007" y="111902"/>
                  <a:pt x="235250" y="104145"/>
                  <a:pt x="225649" y="104145"/>
                </a:cubicBezTo>
                <a:lnTo>
                  <a:pt x="17358" y="104145"/>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8317186" y="2936835"/>
            <a:ext cx="3378952" cy="2592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Maintenir la coherence</a:t>
            </a:r>
            <a:endParaRPr lang="en-US" sz="1100"/>
          </a:p>
        </p:txBody>
      </p:sp>
      <p:sp>
        <p:nvSpPr>
          <p:cNvPr id="21" name="AutoShape 21"/>
          <p:cNvSpPr/>
          <p:nvPr/>
        </p:nvSpPr>
        <p:spPr>
          <a:xfrm>
            <a:off x="8307394" y="3353286"/>
            <a:ext cx="3360437" cy="185148"/>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Assurer l'uniformit</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 du style de code de l'</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quip</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Freeform 22"/>
          <p:cNvSpPr/>
          <p:nvPr/>
        </p:nvSpPr>
        <p:spPr>
          <a:xfrm>
            <a:off x="370253" y="3945616"/>
            <a:ext cx="11451408" cy="2536528"/>
          </a:xfrm>
          <a:custGeom>
            <a:avLst/>
            <a:gdLst/>
            <a:ahLst/>
            <a:cxnLst/>
            <a:rect l="l" t="t" r="r" b="b"/>
            <a:pathLst>
              <a:path w="11451408" h="2536528">
                <a:moveTo>
                  <a:pt x="74066" y="0"/>
                </a:moveTo>
                <a:lnTo>
                  <a:pt x="11377341" y="0"/>
                </a:lnTo>
                <a:cubicBezTo>
                  <a:pt x="11418247" y="0"/>
                  <a:pt x="11451408" y="33161"/>
                  <a:pt x="11451408" y="74066"/>
                </a:cubicBezTo>
                <a:lnTo>
                  <a:pt x="11451408" y="2462461"/>
                </a:lnTo>
                <a:cubicBezTo>
                  <a:pt x="11451408" y="2503368"/>
                  <a:pt x="11418247" y="2536528"/>
                  <a:pt x="11377341" y="2536528"/>
                </a:cubicBezTo>
                <a:lnTo>
                  <a:pt x="74066" y="2536528"/>
                </a:lnTo>
                <a:cubicBezTo>
                  <a:pt x="33161" y="2536528"/>
                  <a:pt x="0" y="2503368"/>
                  <a:pt x="0" y="2462461"/>
                </a:cubicBezTo>
                <a:lnTo>
                  <a:pt x="0" y="74066"/>
                </a:lnTo>
                <a:cubicBezTo>
                  <a:pt x="0" y="33188"/>
                  <a:pt x="33188" y="0"/>
                  <a:pt x="74066" y="0"/>
                </a:cubicBezTo>
                <a:close/>
              </a:path>
            </a:pathLst>
          </a:custGeom>
          <a:solidFill>
            <a:srgbClr val="101828">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3" name="AutoShape 23"/>
          <p:cNvSpPr/>
          <p:nvPr/>
        </p:nvSpPr>
        <p:spPr>
          <a:xfrm>
            <a:off x="592405" y="4167775"/>
            <a:ext cx="11090369" cy="25920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Exemples d'utilisation</a:t>
            </a:r>
            <a:endParaRPr lang="en-US" sz="1100"/>
          </a:p>
        </p:txBody>
      </p:sp>
      <p:sp>
        <p:nvSpPr>
          <p:cNvPr id="24" name="Freeform 24"/>
          <p:cNvSpPr/>
          <p:nvPr/>
        </p:nvSpPr>
        <p:spPr>
          <a:xfrm>
            <a:off x="610827" y="4575083"/>
            <a:ext cx="10988445" cy="1684847"/>
          </a:xfrm>
          <a:custGeom>
            <a:avLst/>
            <a:gdLst/>
            <a:ahLst/>
            <a:cxnLst/>
            <a:rect l="l" t="t" r="r" b="b"/>
            <a:pathLst>
              <a:path w="10988445" h="1684847">
                <a:moveTo>
                  <a:pt x="36845" y="0"/>
                </a:moveTo>
                <a:lnTo>
                  <a:pt x="10951413" y="0"/>
                </a:lnTo>
                <a:cubicBezTo>
                  <a:pt x="10971865" y="0"/>
                  <a:pt x="10988445" y="16580"/>
                  <a:pt x="10988445" y="37033"/>
                </a:cubicBezTo>
                <a:lnTo>
                  <a:pt x="10988445" y="1647814"/>
                </a:lnTo>
                <a:cubicBezTo>
                  <a:pt x="10988445" y="1668267"/>
                  <a:pt x="10971865" y="1684847"/>
                  <a:pt x="10951413" y="1684847"/>
                </a:cubicBezTo>
                <a:lnTo>
                  <a:pt x="36845" y="1684847"/>
                </a:lnTo>
                <a:cubicBezTo>
                  <a:pt x="16496" y="1684847"/>
                  <a:pt x="0" y="1668351"/>
                  <a:pt x="0" y="1648002"/>
                </a:cubicBezTo>
                <a:lnTo>
                  <a:pt x="0" y="36845"/>
                </a:lnTo>
                <a:cubicBezTo>
                  <a:pt x="0" y="16496"/>
                  <a:pt x="16496" y="0"/>
                  <a:pt x="36845" y="0"/>
                </a:cubicBezTo>
                <a:close/>
              </a:path>
            </a:pathLst>
          </a:custGeom>
          <a:solidFill>
            <a:srgbClr val="1E2939">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10827" y="4575083"/>
            <a:ext cx="36845" cy="1684847"/>
          </a:xfrm>
          <a:custGeom>
            <a:avLst/>
            <a:gdLst/>
            <a:ahLst/>
            <a:cxnLst/>
            <a:rect l="l" t="t" r="r" b="b"/>
            <a:pathLst>
              <a:path w="36845" h="1684847">
                <a:moveTo>
                  <a:pt x="36845" y="0"/>
                </a:moveTo>
                <a:lnTo>
                  <a:pt x="36845" y="0"/>
                </a:lnTo>
                <a:lnTo>
                  <a:pt x="36845" y="1684847"/>
                </a:lnTo>
                <a:lnTo>
                  <a:pt x="36845" y="1684847"/>
                </a:lnTo>
                <a:cubicBezTo>
                  <a:pt x="16496" y="1684847"/>
                  <a:pt x="0" y="1668351"/>
                  <a:pt x="0" y="1648002"/>
                </a:cubicBezTo>
                <a:lnTo>
                  <a:pt x="0" y="36845"/>
                </a:lnTo>
                <a:cubicBezTo>
                  <a:pt x="0" y="16496"/>
                  <a:pt x="16496" y="0"/>
                  <a:pt x="36845"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777351" y="4686126"/>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Formater un fichier unique (-i signifie modification directe du fichier)</a:t>
            </a:r>
            <a:endParaRPr lang="en-US" sz="1100"/>
          </a:p>
        </p:txBody>
      </p:sp>
      <p:sp>
        <p:nvSpPr>
          <p:cNvPr id="27" name="AutoShape 27"/>
          <p:cNvSpPr/>
          <p:nvPr/>
        </p:nvSpPr>
        <p:spPr>
          <a:xfrm>
            <a:off x="777351" y="4893451"/>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yapf -i file.py</a:t>
            </a:r>
            <a:endParaRPr lang="en-US" sz="1100"/>
          </a:p>
        </p:txBody>
      </p:sp>
      <p:sp>
        <p:nvSpPr>
          <p:cNvPr id="28" name="AutoShape 28"/>
          <p:cNvSpPr/>
          <p:nvPr/>
        </p:nvSpPr>
        <p:spPr>
          <a:xfrm>
            <a:off x="777351" y="5211819"/>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Formater tout un r</a:t>
            </a:r>
            <a:r>
              <a:rPr lang="en-US" altLang="en-US"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pertoire</a:t>
            </a:r>
            <a:endParaRPr lang="en-US" sz="1100"/>
          </a:p>
        </p:txBody>
      </p:sp>
      <p:sp>
        <p:nvSpPr>
          <p:cNvPr id="29" name="AutoShape 29"/>
          <p:cNvSpPr/>
          <p:nvPr/>
        </p:nvSpPr>
        <p:spPr>
          <a:xfrm>
            <a:off x="777351" y="5419152"/>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yapf -i -r .</a:t>
            </a:r>
            <a:endParaRPr lang="en-US" sz="1100"/>
          </a:p>
        </p:txBody>
      </p:sp>
      <p:sp>
        <p:nvSpPr>
          <p:cNvPr id="30" name="AutoShape 30"/>
          <p:cNvSpPr/>
          <p:nvPr/>
        </p:nvSpPr>
        <p:spPr>
          <a:xfrm>
            <a:off x="777351" y="5737511"/>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Afficher uniquement les </a:t>
            </a:r>
            <a:r>
              <a:rPr lang="en-US" altLang="zh-CN"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diff</a:t>
            </a:r>
            <a:r>
              <a:rPr lang="en-US" altLang="en-US"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rences</a:t>
            </a:r>
            <a:r>
              <a:rPr lang="en-US"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sans modifier le fichier</a:t>
            </a:r>
            <a:endParaRPr lang="en-US" sz="1100"/>
          </a:p>
        </p:txBody>
      </p:sp>
      <p:sp>
        <p:nvSpPr>
          <p:cNvPr id="31" name="AutoShape 31"/>
          <p:cNvSpPr/>
          <p:nvPr/>
        </p:nvSpPr>
        <p:spPr>
          <a:xfrm>
            <a:off x="777351" y="5944844"/>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yapf -d file.py</a:t>
            </a:r>
            <a:endParaRPr lang="en-US" sz="1100"/>
          </a:p>
        </p:txBody>
      </p:sp>
      <p:sp>
        <p:nvSpPr>
          <p:cNvPr id="32" name="文本框 31"/>
          <p:cNvSpPr txBox="1"/>
          <p:nvPr/>
        </p:nvSpPr>
        <p:spPr>
          <a:xfrm>
            <a:off x="1658620" y="346710"/>
            <a:ext cx="4064000" cy="306705"/>
          </a:xfrm>
          <a:prstGeom prst="rect">
            <a:avLst/>
          </a:prstGeom>
          <a:noFill/>
        </p:spPr>
        <p:txBody>
          <a:bodyPr wrap="square" rtlCol="0">
            <a:sp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763333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Formatage du code C++</a:t>
            </a:r>
            <a:endParaRPr lang="en-US" sz="3200"/>
          </a:p>
        </p:txBody>
      </p:sp>
      <p:sp>
        <p:nvSpPr>
          <p:cNvPr id="3" name="Freeform 3"/>
          <p:cNvSpPr/>
          <p:nvPr/>
        </p:nvSpPr>
        <p:spPr>
          <a:xfrm>
            <a:off x="380956" y="1640886"/>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25637" y="1800681"/>
            <a:ext cx="324984" cy="289880"/>
          </a:xfrm>
          <a:custGeom>
            <a:avLst/>
            <a:gdLst/>
            <a:ahLst/>
            <a:cxnLst/>
            <a:rect l="l" t="t" r="r" b="b"/>
            <a:pathLst>
              <a:path w="324984" h="289880">
                <a:moveTo>
                  <a:pt x="203094" y="2736"/>
                </a:moveTo>
                <a:cubicBezTo>
                  <a:pt x="193607" y="0"/>
                  <a:pt x="183729" y="5524"/>
                  <a:pt x="180993" y="15013"/>
                </a:cubicBezTo>
                <a:lnTo>
                  <a:pt x="109556" y="265044"/>
                </a:lnTo>
                <a:cubicBezTo>
                  <a:pt x="106821" y="274532"/>
                  <a:pt x="112347" y="284411"/>
                  <a:pt x="121834" y="287144"/>
                </a:cubicBezTo>
                <a:cubicBezTo>
                  <a:pt x="131322" y="289880"/>
                  <a:pt x="141201" y="284356"/>
                  <a:pt x="143934" y="274867"/>
                </a:cubicBezTo>
                <a:lnTo>
                  <a:pt x="215373" y="24836"/>
                </a:lnTo>
                <a:cubicBezTo>
                  <a:pt x="218108" y="15348"/>
                  <a:pt x="212582" y="5469"/>
                  <a:pt x="203094" y="2736"/>
                </a:cubicBezTo>
                <a:close/>
                <a:moveTo>
                  <a:pt x="239148" y="78693"/>
                </a:moveTo>
                <a:cubicBezTo>
                  <a:pt x="232171" y="85669"/>
                  <a:pt x="232171" y="96999"/>
                  <a:pt x="239148" y="103975"/>
                </a:cubicBezTo>
                <a:lnTo>
                  <a:pt x="280113" y="144940"/>
                </a:lnTo>
                <a:lnTo>
                  <a:pt x="239148" y="185905"/>
                </a:lnTo>
                <a:cubicBezTo>
                  <a:pt x="232171" y="192881"/>
                  <a:pt x="232171" y="204211"/>
                  <a:pt x="239148" y="211187"/>
                </a:cubicBezTo>
                <a:cubicBezTo>
                  <a:pt x="246124" y="218163"/>
                  <a:pt x="257453" y="218163"/>
                  <a:pt x="264429" y="211187"/>
                </a:cubicBezTo>
                <a:lnTo>
                  <a:pt x="318008" y="157610"/>
                </a:lnTo>
                <a:cubicBezTo>
                  <a:pt x="324984" y="150633"/>
                  <a:pt x="324984" y="139302"/>
                  <a:pt x="318008" y="132328"/>
                </a:cubicBezTo>
                <a:lnTo>
                  <a:pt x="264429" y="78749"/>
                </a:lnTo>
                <a:cubicBezTo>
                  <a:pt x="257453" y="71771"/>
                  <a:pt x="246124" y="71771"/>
                  <a:pt x="239148" y="78749"/>
                </a:cubicBezTo>
                <a:close/>
                <a:moveTo>
                  <a:pt x="85836" y="78693"/>
                </a:moveTo>
                <a:cubicBezTo>
                  <a:pt x="78860" y="71717"/>
                  <a:pt x="67531" y="71717"/>
                  <a:pt x="60554" y="78693"/>
                </a:cubicBezTo>
                <a:lnTo>
                  <a:pt x="6976" y="132270"/>
                </a:lnTo>
                <a:cubicBezTo>
                  <a:pt x="0" y="139247"/>
                  <a:pt x="0" y="150578"/>
                  <a:pt x="6976" y="157552"/>
                </a:cubicBezTo>
                <a:lnTo>
                  <a:pt x="60554" y="211131"/>
                </a:lnTo>
                <a:cubicBezTo>
                  <a:pt x="67531" y="218109"/>
                  <a:pt x="78860" y="218109"/>
                  <a:pt x="85836" y="211131"/>
                </a:cubicBezTo>
                <a:cubicBezTo>
                  <a:pt x="92813" y="204155"/>
                  <a:pt x="92813" y="192825"/>
                  <a:pt x="85836" y="185849"/>
                </a:cubicBezTo>
                <a:lnTo>
                  <a:pt x="44872" y="144940"/>
                </a:lnTo>
                <a:lnTo>
                  <a:pt x="85781" y="103975"/>
                </a:lnTo>
                <a:cubicBezTo>
                  <a:pt x="92757" y="96999"/>
                  <a:pt x="92757" y="85669"/>
                  <a:pt x="85781" y="7869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142867" y="1640886"/>
            <a:ext cx="283845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clang-format</a:t>
            </a:r>
            <a:endParaRPr lang="en-US" sz="1100"/>
          </a:p>
        </p:txBody>
      </p:sp>
      <p:sp>
        <p:nvSpPr>
          <p:cNvPr id="6" name="AutoShape 6"/>
          <p:cNvSpPr/>
          <p:nvPr/>
        </p:nvSpPr>
        <p:spPr>
          <a:xfrm>
            <a:off x="1143000" y="1983740"/>
            <a:ext cx="89947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Outil de formatage de code C++ du projet LLVM</a:t>
            </a:r>
            <a:endParaRPr lang="en-US" sz="1100"/>
          </a:p>
        </p:txBody>
      </p:sp>
      <p:sp>
        <p:nvSpPr>
          <p:cNvPr id="7" name="Freeform 7"/>
          <p:cNvSpPr/>
          <p:nvPr/>
        </p:nvSpPr>
        <p:spPr>
          <a:xfrm>
            <a:off x="390525" y="2488565"/>
            <a:ext cx="5543550" cy="2416175"/>
          </a:xfrm>
          <a:custGeom>
            <a:avLst/>
            <a:gdLst/>
            <a:ahLst/>
            <a:cxnLst/>
            <a:rect l="l" t="t" r="r" b="b"/>
            <a:pathLst>
              <a:path w="5543455" h="2038255">
                <a:moveTo>
                  <a:pt x="76190" y="0"/>
                </a:moveTo>
                <a:lnTo>
                  <a:pt x="5467265" y="0"/>
                </a:lnTo>
                <a:cubicBezTo>
                  <a:pt x="5509344" y="0"/>
                  <a:pt x="5543455" y="34111"/>
                  <a:pt x="5543455" y="76190"/>
                </a:cubicBezTo>
                <a:lnTo>
                  <a:pt x="5543455" y="1962065"/>
                </a:lnTo>
                <a:cubicBezTo>
                  <a:pt x="5543455" y="2004144"/>
                  <a:pt x="5509344" y="2038255"/>
                  <a:pt x="5467265" y="2038255"/>
                </a:cubicBezTo>
                <a:lnTo>
                  <a:pt x="76190" y="2038255"/>
                </a:lnTo>
                <a:cubicBezTo>
                  <a:pt x="34111" y="2038255"/>
                  <a:pt x="0" y="2004144"/>
                  <a:pt x="0" y="1962065"/>
                </a:cubicBezTo>
                <a:lnTo>
                  <a:pt x="0" y="76190"/>
                </a:lnTo>
                <a:cubicBezTo>
                  <a:pt x="0" y="34140"/>
                  <a:pt x="34140" y="0"/>
                  <a:pt x="76190"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628484" y="2726513"/>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Caracteristiques</a:t>
            </a:r>
            <a:endParaRPr lang="en-US" sz="1100"/>
          </a:p>
        </p:txBody>
      </p:sp>
      <p:sp>
        <p:nvSpPr>
          <p:cNvPr id="9" name="Freeform 9"/>
          <p:cNvSpPr/>
          <p:nvPr/>
        </p:nvSpPr>
        <p:spPr>
          <a:xfrm>
            <a:off x="657059" y="3197954"/>
            <a:ext cx="228600" cy="200025"/>
          </a:xfrm>
          <a:custGeom>
            <a:avLst/>
            <a:gdLst/>
            <a:ahLst/>
            <a:cxnLst/>
            <a:rect l="l" t="t" r="r" b="b"/>
            <a:pathLst>
              <a:path w="228600" h="200025">
                <a:moveTo>
                  <a:pt x="14287" y="0"/>
                </a:moveTo>
                <a:cubicBezTo>
                  <a:pt x="6386" y="0"/>
                  <a:pt x="0" y="6384"/>
                  <a:pt x="0" y="14287"/>
                </a:cubicBezTo>
                <a:lnTo>
                  <a:pt x="0" y="178593"/>
                </a:lnTo>
                <a:cubicBezTo>
                  <a:pt x="0" y="190425"/>
                  <a:pt x="9599" y="200024"/>
                  <a:pt x="21431" y="200024"/>
                </a:cubicBezTo>
                <a:lnTo>
                  <a:pt x="207169" y="200024"/>
                </a:lnTo>
                <a:cubicBezTo>
                  <a:pt x="219001" y="200024"/>
                  <a:pt x="228600" y="190425"/>
                  <a:pt x="228600" y="178593"/>
                </a:cubicBezTo>
                <a:lnTo>
                  <a:pt x="228600" y="53667"/>
                </a:lnTo>
                <a:cubicBezTo>
                  <a:pt x="228600" y="45540"/>
                  <a:pt x="219939" y="40406"/>
                  <a:pt x="212794" y="44246"/>
                </a:cubicBezTo>
                <a:lnTo>
                  <a:pt x="142875" y="81885"/>
                </a:lnTo>
                <a:lnTo>
                  <a:pt x="142875" y="53667"/>
                </a:lnTo>
                <a:cubicBezTo>
                  <a:pt x="142875" y="45540"/>
                  <a:pt x="134214" y="40406"/>
                  <a:pt x="127069" y="44246"/>
                </a:cubicBezTo>
                <a:lnTo>
                  <a:pt x="57150" y="81885"/>
                </a:lnTo>
                <a:lnTo>
                  <a:pt x="57150" y="14287"/>
                </a:lnTo>
                <a:cubicBezTo>
                  <a:pt x="57150" y="6384"/>
                  <a:pt x="50764" y="0"/>
                  <a:pt x="42863" y="0"/>
                </a:cubicBezTo>
                <a:lnTo>
                  <a:pt x="14287"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1028469" y="3145603"/>
            <a:ext cx="1800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Style LLVM</a:t>
            </a:r>
            <a:endParaRPr lang="en-US" sz="1100"/>
          </a:p>
        </p:txBody>
      </p:sp>
      <p:sp>
        <p:nvSpPr>
          <p:cNvPr id="11" name="AutoShape 11"/>
          <p:cNvSpPr/>
          <p:nvPr/>
        </p:nvSpPr>
        <p:spPr>
          <a:xfrm>
            <a:off x="1028700" y="3412490"/>
            <a:ext cx="468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Conforme aux normes de code du projet LLVM</a:t>
            </a:r>
            <a:endParaRPr lang="en-US" sz="1100"/>
          </a:p>
        </p:txBody>
      </p:sp>
      <p:sp>
        <p:nvSpPr>
          <p:cNvPr id="12" name="Freeform 12"/>
          <p:cNvSpPr/>
          <p:nvPr/>
        </p:nvSpPr>
        <p:spPr>
          <a:xfrm>
            <a:off x="628484" y="3817042"/>
            <a:ext cx="285750" cy="228600"/>
          </a:xfrm>
          <a:custGeom>
            <a:avLst/>
            <a:gdLst/>
            <a:ahLst/>
            <a:cxnLst/>
            <a:rect l="l" t="t" r="r" b="b"/>
            <a:pathLst>
              <a:path w="285750" h="228600">
                <a:moveTo>
                  <a:pt x="157162" y="14287"/>
                </a:moveTo>
                <a:cubicBezTo>
                  <a:pt x="157162" y="6384"/>
                  <a:pt x="150778" y="0"/>
                  <a:pt x="142875" y="0"/>
                </a:cubicBezTo>
                <a:cubicBezTo>
                  <a:pt x="134972" y="0"/>
                  <a:pt x="128588" y="6384"/>
                  <a:pt x="128588" y="14287"/>
                </a:cubicBezTo>
                <a:lnTo>
                  <a:pt x="128588" y="42862"/>
                </a:lnTo>
                <a:lnTo>
                  <a:pt x="85725" y="42862"/>
                </a:lnTo>
                <a:cubicBezTo>
                  <a:pt x="62061" y="42862"/>
                  <a:pt x="42862" y="62061"/>
                  <a:pt x="42862" y="85724"/>
                </a:cubicBezTo>
                <a:lnTo>
                  <a:pt x="42862" y="185737"/>
                </a:lnTo>
                <a:cubicBezTo>
                  <a:pt x="42862" y="209401"/>
                  <a:pt x="62061" y="228600"/>
                  <a:pt x="85725" y="228600"/>
                </a:cubicBezTo>
                <a:lnTo>
                  <a:pt x="200025" y="228600"/>
                </a:lnTo>
                <a:cubicBezTo>
                  <a:pt x="223689" y="228600"/>
                  <a:pt x="242888" y="209401"/>
                  <a:pt x="242888" y="185737"/>
                </a:cubicBezTo>
                <a:lnTo>
                  <a:pt x="242888" y="85724"/>
                </a:lnTo>
                <a:cubicBezTo>
                  <a:pt x="242888" y="62061"/>
                  <a:pt x="223689" y="42862"/>
                  <a:pt x="200025" y="42862"/>
                </a:cubicBezTo>
                <a:lnTo>
                  <a:pt x="157162" y="42862"/>
                </a:lnTo>
                <a:lnTo>
                  <a:pt x="157162" y="14287"/>
                </a:lnTo>
                <a:close/>
                <a:moveTo>
                  <a:pt x="71438" y="178593"/>
                </a:moveTo>
                <a:cubicBezTo>
                  <a:pt x="71438" y="172655"/>
                  <a:pt x="76215" y="167878"/>
                  <a:pt x="82152" y="167878"/>
                </a:cubicBezTo>
                <a:lnTo>
                  <a:pt x="96441" y="167878"/>
                </a:lnTo>
                <a:cubicBezTo>
                  <a:pt x="102379" y="167878"/>
                  <a:pt x="107156" y="172655"/>
                  <a:pt x="107156" y="178593"/>
                </a:cubicBezTo>
                <a:cubicBezTo>
                  <a:pt x="107156" y="184530"/>
                  <a:pt x="102379" y="189310"/>
                  <a:pt x="96441" y="189310"/>
                </a:cubicBezTo>
                <a:lnTo>
                  <a:pt x="82152" y="189310"/>
                </a:lnTo>
                <a:cubicBezTo>
                  <a:pt x="76215" y="189310"/>
                  <a:pt x="71438" y="184530"/>
                  <a:pt x="71438" y="178593"/>
                </a:cubicBezTo>
                <a:close/>
                <a:moveTo>
                  <a:pt x="125016" y="178593"/>
                </a:moveTo>
                <a:cubicBezTo>
                  <a:pt x="125016" y="172655"/>
                  <a:pt x="129793" y="167878"/>
                  <a:pt x="135731" y="167878"/>
                </a:cubicBezTo>
                <a:lnTo>
                  <a:pt x="150019" y="167878"/>
                </a:lnTo>
                <a:cubicBezTo>
                  <a:pt x="155957" y="167878"/>
                  <a:pt x="160734" y="172655"/>
                  <a:pt x="160734" y="178593"/>
                </a:cubicBezTo>
                <a:cubicBezTo>
                  <a:pt x="160734" y="184530"/>
                  <a:pt x="155957" y="189310"/>
                  <a:pt x="150019" y="189310"/>
                </a:cubicBezTo>
                <a:lnTo>
                  <a:pt x="135731" y="189310"/>
                </a:lnTo>
                <a:cubicBezTo>
                  <a:pt x="129793" y="189310"/>
                  <a:pt x="125016" y="184530"/>
                  <a:pt x="125016" y="178593"/>
                </a:cubicBezTo>
                <a:close/>
                <a:moveTo>
                  <a:pt x="178594" y="178593"/>
                </a:moveTo>
                <a:cubicBezTo>
                  <a:pt x="178594" y="172655"/>
                  <a:pt x="183371" y="167878"/>
                  <a:pt x="189309" y="167878"/>
                </a:cubicBezTo>
                <a:lnTo>
                  <a:pt x="203598" y="167878"/>
                </a:lnTo>
                <a:cubicBezTo>
                  <a:pt x="209535" y="167878"/>
                  <a:pt x="214312" y="172655"/>
                  <a:pt x="214312" y="178593"/>
                </a:cubicBezTo>
                <a:cubicBezTo>
                  <a:pt x="214312" y="184530"/>
                  <a:pt x="209535" y="189310"/>
                  <a:pt x="203598" y="189310"/>
                </a:cubicBezTo>
                <a:lnTo>
                  <a:pt x="189309" y="189310"/>
                </a:lnTo>
                <a:cubicBezTo>
                  <a:pt x="183371" y="189310"/>
                  <a:pt x="178594" y="184530"/>
                  <a:pt x="178594" y="178593"/>
                </a:cubicBezTo>
                <a:close/>
                <a:moveTo>
                  <a:pt x="100012" y="92868"/>
                </a:moveTo>
                <a:cubicBezTo>
                  <a:pt x="111841" y="92868"/>
                  <a:pt x="121444" y="102471"/>
                  <a:pt x="121444" y="114300"/>
                </a:cubicBezTo>
                <a:cubicBezTo>
                  <a:pt x="121444" y="126128"/>
                  <a:pt x="111841" y="135731"/>
                  <a:pt x="100012" y="135731"/>
                </a:cubicBezTo>
                <a:cubicBezTo>
                  <a:pt x="88184" y="135731"/>
                  <a:pt x="78581" y="126128"/>
                  <a:pt x="78581" y="114300"/>
                </a:cubicBezTo>
                <a:cubicBezTo>
                  <a:pt x="78581" y="102471"/>
                  <a:pt x="88184" y="92868"/>
                  <a:pt x="100012" y="92868"/>
                </a:cubicBezTo>
                <a:close/>
                <a:moveTo>
                  <a:pt x="164306" y="114300"/>
                </a:moveTo>
                <a:cubicBezTo>
                  <a:pt x="164306" y="102471"/>
                  <a:pt x="173909" y="92868"/>
                  <a:pt x="185738" y="92868"/>
                </a:cubicBezTo>
                <a:cubicBezTo>
                  <a:pt x="197566" y="92868"/>
                  <a:pt x="207169" y="102471"/>
                  <a:pt x="207169" y="114300"/>
                </a:cubicBezTo>
                <a:cubicBezTo>
                  <a:pt x="207169" y="126128"/>
                  <a:pt x="197566" y="135731"/>
                  <a:pt x="185738" y="135731"/>
                </a:cubicBezTo>
                <a:cubicBezTo>
                  <a:pt x="173909" y="135731"/>
                  <a:pt x="164306" y="126128"/>
                  <a:pt x="164306" y="114300"/>
                </a:cubicBezTo>
                <a:close/>
                <a:moveTo>
                  <a:pt x="28575" y="114300"/>
                </a:moveTo>
                <a:cubicBezTo>
                  <a:pt x="28575" y="106398"/>
                  <a:pt x="22189" y="100012"/>
                  <a:pt x="14288" y="100012"/>
                </a:cubicBezTo>
                <a:cubicBezTo>
                  <a:pt x="6386" y="100012"/>
                  <a:pt x="0" y="106398"/>
                  <a:pt x="0" y="114300"/>
                </a:cubicBezTo>
                <a:lnTo>
                  <a:pt x="0" y="157162"/>
                </a:lnTo>
                <a:cubicBezTo>
                  <a:pt x="0" y="165065"/>
                  <a:pt x="6386" y="171450"/>
                  <a:pt x="14288" y="171450"/>
                </a:cubicBezTo>
                <a:cubicBezTo>
                  <a:pt x="22189" y="171450"/>
                  <a:pt x="28575" y="165065"/>
                  <a:pt x="28575" y="157162"/>
                </a:cubicBezTo>
                <a:lnTo>
                  <a:pt x="28575" y="114300"/>
                </a:lnTo>
                <a:close/>
                <a:moveTo>
                  <a:pt x="271462" y="100012"/>
                </a:moveTo>
                <a:cubicBezTo>
                  <a:pt x="263561" y="100012"/>
                  <a:pt x="257175" y="106398"/>
                  <a:pt x="257175" y="114300"/>
                </a:cubicBezTo>
                <a:lnTo>
                  <a:pt x="257175" y="157162"/>
                </a:lnTo>
                <a:cubicBezTo>
                  <a:pt x="257175" y="165065"/>
                  <a:pt x="263561" y="171450"/>
                  <a:pt x="271462" y="171450"/>
                </a:cubicBezTo>
                <a:cubicBezTo>
                  <a:pt x="279364" y="171450"/>
                  <a:pt x="285750" y="165065"/>
                  <a:pt x="285750" y="157162"/>
                </a:cubicBezTo>
                <a:lnTo>
                  <a:pt x="285750" y="114300"/>
                </a:lnTo>
                <a:cubicBezTo>
                  <a:pt x="285750" y="106398"/>
                  <a:pt x="279364" y="100012"/>
                  <a:pt x="271462" y="100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28700" y="3793490"/>
            <a:ext cx="453136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Formatage automatique</a:t>
            </a:r>
            <a:endParaRPr lang="en-US" sz="1100"/>
          </a:p>
        </p:txBody>
      </p:sp>
      <p:sp>
        <p:nvSpPr>
          <p:cNvPr id="14" name="AutoShape 14"/>
          <p:cNvSpPr/>
          <p:nvPr/>
        </p:nvSpPr>
        <p:spPr>
          <a:xfrm>
            <a:off x="1028700" y="4060190"/>
            <a:ext cx="464058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Traite automatiquement le format du code C++</a:t>
            </a:r>
            <a:endParaRPr lang="en-US" sz="1100"/>
          </a:p>
        </p:txBody>
      </p:sp>
      <p:sp>
        <p:nvSpPr>
          <p:cNvPr id="15" name="Freeform 15"/>
          <p:cNvSpPr/>
          <p:nvPr/>
        </p:nvSpPr>
        <p:spPr>
          <a:xfrm>
            <a:off x="6257925" y="2488565"/>
            <a:ext cx="5543550" cy="2416175"/>
          </a:xfrm>
          <a:custGeom>
            <a:avLst/>
            <a:gdLst/>
            <a:ahLst/>
            <a:cxnLst/>
            <a:rect l="l" t="t" r="r" b="b"/>
            <a:pathLst>
              <a:path w="5543455" h="2038255">
                <a:moveTo>
                  <a:pt x="76190" y="0"/>
                </a:moveTo>
                <a:lnTo>
                  <a:pt x="5467265" y="0"/>
                </a:lnTo>
                <a:cubicBezTo>
                  <a:pt x="5509344" y="0"/>
                  <a:pt x="5543455" y="34111"/>
                  <a:pt x="5543455" y="76190"/>
                </a:cubicBezTo>
                <a:lnTo>
                  <a:pt x="5543455" y="1962065"/>
                </a:lnTo>
                <a:cubicBezTo>
                  <a:pt x="5543455" y="2004144"/>
                  <a:pt x="5509344" y="2038255"/>
                  <a:pt x="5467265" y="2038255"/>
                </a:cubicBezTo>
                <a:lnTo>
                  <a:pt x="76190" y="2038255"/>
                </a:lnTo>
                <a:cubicBezTo>
                  <a:pt x="34111" y="2038255"/>
                  <a:pt x="0" y="2004144"/>
                  <a:pt x="0" y="1962065"/>
                </a:cubicBezTo>
                <a:lnTo>
                  <a:pt x="0" y="76190"/>
                </a:lnTo>
                <a:cubicBezTo>
                  <a:pt x="0" y="34140"/>
                  <a:pt x="34140" y="0"/>
                  <a:pt x="76190" y="0"/>
                </a:cubicBezTo>
                <a:close/>
              </a:path>
            </a:pathLst>
          </a:custGeom>
          <a:solidFill>
            <a:srgbClr val="000000">
              <a:alpha val="0"/>
            </a:srgbClr>
          </a:solidFill>
          <a:ln w="12700">
            <a:solidFill>
              <a:srgbClr val="333333">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6495866" y="2726513"/>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Avantages</a:t>
            </a:r>
            <a:endParaRPr lang="en-US" sz="1100"/>
          </a:p>
        </p:txBody>
      </p:sp>
      <p:sp>
        <p:nvSpPr>
          <p:cNvPr id="17" name="Freeform 17"/>
          <p:cNvSpPr/>
          <p:nvPr/>
        </p:nvSpPr>
        <p:spPr>
          <a:xfrm>
            <a:off x="6509751" y="3197954"/>
            <a:ext cx="257980" cy="200025"/>
          </a:xfrm>
          <a:custGeom>
            <a:avLst/>
            <a:gdLst/>
            <a:ahLst/>
            <a:cxnLst/>
            <a:rect l="l" t="t" r="r" b="b"/>
            <a:pathLst>
              <a:path w="257980" h="200025">
                <a:moveTo>
                  <a:pt x="128990" y="0"/>
                </a:moveTo>
                <a:cubicBezTo>
                  <a:pt x="92915" y="0"/>
                  <a:pt x="64027" y="16429"/>
                  <a:pt x="42998" y="35986"/>
                </a:cubicBezTo>
                <a:cubicBezTo>
                  <a:pt x="22102" y="55408"/>
                  <a:pt x="8127" y="78581"/>
                  <a:pt x="1475" y="94521"/>
                </a:cubicBezTo>
                <a:cubicBezTo>
                  <a:pt x="0" y="98047"/>
                  <a:pt x="0" y="101977"/>
                  <a:pt x="1475" y="105503"/>
                </a:cubicBezTo>
                <a:cubicBezTo>
                  <a:pt x="8127" y="121443"/>
                  <a:pt x="22102" y="144660"/>
                  <a:pt x="42998" y="164038"/>
                </a:cubicBezTo>
                <a:cubicBezTo>
                  <a:pt x="64027" y="183549"/>
                  <a:pt x="92915" y="200024"/>
                  <a:pt x="128990" y="200024"/>
                </a:cubicBezTo>
                <a:cubicBezTo>
                  <a:pt x="165066" y="200024"/>
                  <a:pt x="193954" y="183595"/>
                  <a:pt x="214983" y="164038"/>
                </a:cubicBezTo>
                <a:cubicBezTo>
                  <a:pt x="235879" y="144616"/>
                  <a:pt x="249854" y="121443"/>
                  <a:pt x="256506" y="105503"/>
                </a:cubicBezTo>
                <a:cubicBezTo>
                  <a:pt x="257981" y="101977"/>
                  <a:pt x="257981" y="98047"/>
                  <a:pt x="256506" y="94521"/>
                </a:cubicBezTo>
                <a:cubicBezTo>
                  <a:pt x="249854" y="78581"/>
                  <a:pt x="235879" y="55364"/>
                  <a:pt x="214983" y="35986"/>
                </a:cubicBezTo>
                <a:cubicBezTo>
                  <a:pt x="193954" y="16475"/>
                  <a:pt x="165066" y="0"/>
                  <a:pt x="128990" y="0"/>
                </a:cubicBezTo>
                <a:close/>
                <a:moveTo>
                  <a:pt x="64697" y="100012"/>
                </a:moveTo>
                <a:cubicBezTo>
                  <a:pt x="64697" y="64527"/>
                  <a:pt x="93505" y="35718"/>
                  <a:pt x="128990" y="35718"/>
                </a:cubicBezTo>
                <a:cubicBezTo>
                  <a:pt x="164476" y="35718"/>
                  <a:pt x="193284" y="64527"/>
                  <a:pt x="193284" y="100012"/>
                </a:cubicBezTo>
                <a:cubicBezTo>
                  <a:pt x="193284" y="135497"/>
                  <a:pt x="164476" y="164306"/>
                  <a:pt x="128990" y="164306"/>
                </a:cubicBezTo>
                <a:cubicBezTo>
                  <a:pt x="93505" y="164306"/>
                  <a:pt x="64697" y="135497"/>
                  <a:pt x="64697" y="100012"/>
                </a:cubicBezTo>
                <a:close/>
                <a:moveTo>
                  <a:pt x="128990" y="71437"/>
                </a:moveTo>
                <a:cubicBezTo>
                  <a:pt x="128990" y="87198"/>
                  <a:pt x="116176" y="100012"/>
                  <a:pt x="100415" y="100012"/>
                </a:cubicBezTo>
                <a:cubicBezTo>
                  <a:pt x="95281" y="100012"/>
                  <a:pt x="90459" y="98673"/>
                  <a:pt x="86263" y="96262"/>
                </a:cubicBezTo>
                <a:cubicBezTo>
                  <a:pt x="85816" y="101128"/>
                  <a:pt x="86217" y="106130"/>
                  <a:pt x="87557" y="111085"/>
                </a:cubicBezTo>
                <a:cubicBezTo>
                  <a:pt x="93674" y="133945"/>
                  <a:pt x="117204" y="147518"/>
                  <a:pt x="140064" y="141401"/>
                </a:cubicBezTo>
                <a:cubicBezTo>
                  <a:pt x="162924" y="135284"/>
                  <a:pt x="176496" y="111754"/>
                  <a:pt x="170380" y="88894"/>
                </a:cubicBezTo>
                <a:cubicBezTo>
                  <a:pt x="164931" y="68491"/>
                  <a:pt x="145600" y="55499"/>
                  <a:pt x="125240" y="57283"/>
                </a:cubicBezTo>
                <a:cubicBezTo>
                  <a:pt x="127606" y="61436"/>
                  <a:pt x="128990" y="66258"/>
                  <a:pt x="128990" y="71437"/>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896100" y="3145790"/>
            <a:ext cx="47815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Am</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liorer la lisibilit</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du cod</a:t>
            </a: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19" name="AutoShape 19"/>
          <p:cNvSpPr/>
          <p:nvPr/>
        </p:nvSpPr>
        <p:spPr>
          <a:xfrm>
            <a:off x="6896100" y="3412490"/>
            <a:ext cx="475551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 format unifi</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 rend le code plus facile à lir</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20" name="Freeform 20"/>
          <p:cNvSpPr/>
          <p:nvPr/>
        </p:nvSpPr>
        <p:spPr>
          <a:xfrm>
            <a:off x="6509172" y="3817042"/>
            <a:ext cx="259095" cy="258158"/>
          </a:xfrm>
          <a:custGeom>
            <a:avLst/>
            <a:gdLst/>
            <a:ahLst/>
            <a:cxnLst/>
            <a:rect l="l" t="t" r="r" b="b"/>
            <a:pathLst>
              <a:path w="259095" h="258158">
                <a:moveTo>
                  <a:pt x="172432" y="78581"/>
                </a:moveTo>
                <a:cubicBezTo>
                  <a:pt x="172432" y="121979"/>
                  <a:pt x="134034" y="157162"/>
                  <a:pt x="86707" y="157162"/>
                </a:cubicBezTo>
                <a:cubicBezTo>
                  <a:pt x="74786" y="157162"/>
                  <a:pt x="63444" y="154931"/>
                  <a:pt x="53131" y="150911"/>
                </a:cubicBezTo>
                <a:lnTo>
                  <a:pt x="16698" y="170199"/>
                </a:lnTo>
                <a:cubicBezTo>
                  <a:pt x="12547" y="172387"/>
                  <a:pt x="7456" y="171629"/>
                  <a:pt x="4107" y="168324"/>
                </a:cubicBezTo>
                <a:cubicBezTo>
                  <a:pt x="758" y="165019"/>
                  <a:pt x="0" y="159886"/>
                  <a:pt x="2232" y="155733"/>
                </a:cubicBezTo>
                <a:lnTo>
                  <a:pt x="18127" y="125729"/>
                </a:lnTo>
                <a:cubicBezTo>
                  <a:pt x="7368" y="112603"/>
                  <a:pt x="982" y="96262"/>
                  <a:pt x="982" y="78581"/>
                </a:cubicBezTo>
                <a:cubicBezTo>
                  <a:pt x="982" y="35182"/>
                  <a:pt x="39380" y="0"/>
                  <a:pt x="86707" y="0"/>
                </a:cubicBezTo>
                <a:cubicBezTo>
                  <a:pt x="134034" y="0"/>
                  <a:pt x="172432" y="35182"/>
                  <a:pt x="172432" y="78581"/>
                </a:cubicBezTo>
                <a:close/>
                <a:moveTo>
                  <a:pt x="172432" y="242887"/>
                </a:moveTo>
                <a:cubicBezTo>
                  <a:pt x="130418" y="242887"/>
                  <a:pt x="95459" y="215160"/>
                  <a:pt x="88136" y="178593"/>
                </a:cubicBezTo>
                <a:cubicBezTo>
                  <a:pt x="141715" y="177924"/>
                  <a:pt x="188282" y="139793"/>
                  <a:pt x="193417" y="88091"/>
                </a:cubicBezTo>
                <a:cubicBezTo>
                  <a:pt x="230609" y="96663"/>
                  <a:pt x="258157" y="127515"/>
                  <a:pt x="258157" y="164306"/>
                </a:cubicBezTo>
                <a:cubicBezTo>
                  <a:pt x="258157" y="181987"/>
                  <a:pt x="251771" y="198328"/>
                  <a:pt x="241012" y="211454"/>
                </a:cubicBezTo>
                <a:lnTo>
                  <a:pt x="256907" y="241458"/>
                </a:lnTo>
                <a:cubicBezTo>
                  <a:pt x="259096" y="245611"/>
                  <a:pt x="258336" y="250700"/>
                  <a:pt x="255032" y="254049"/>
                </a:cubicBezTo>
                <a:cubicBezTo>
                  <a:pt x="251728" y="257398"/>
                  <a:pt x="246592" y="258157"/>
                  <a:pt x="242441" y="255924"/>
                </a:cubicBezTo>
                <a:lnTo>
                  <a:pt x="206008" y="236636"/>
                </a:lnTo>
                <a:cubicBezTo>
                  <a:pt x="195695" y="240656"/>
                  <a:pt x="184353" y="242887"/>
                  <a:pt x="172432" y="242887"/>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96100" y="3793490"/>
            <a:ext cx="395414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duire les d</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bats sur le styl</a:t>
            </a: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22" name="AutoShape 22"/>
          <p:cNvSpPr/>
          <p:nvPr/>
        </p:nvSpPr>
        <p:spPr>
          <a:xfrm>
            <a:off x="6896100" y="4060190"/>
            <a:ext cx="392811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L'automatisation </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vite les d</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bats humain</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23" name="Freeform 23"/>
          <p:cNvSpPr/>
          <p:nvPr/>
        </p:nvSpPr>
        <p:spPr>
          <a:xfrm>
            <a:off x="380956" y="5113899"/>
            <a:ext cx="11430000" cy="1257300"/>
          </a:xfrm>
          <a:custGeom>
            <a:avLst/>
            <a:gdLst/>
            <a:ahLst/>
            <a:cxnLst/>
            <a:rect l="l" t="t" r="r" b="b"/>
            <a:pathLst>
              <a:path w="11430000" h="1257300">
                <a:moveTo>
                  <a:pt x="76205" y="0"/>
                </a:moveTo>
                <a:lnTo>
                  <a:pt x="11353795" y="0"/>
                </a:lnTo>
                <a:cubicBezTo>
                  <a:pt x="11395881" y="0"/>
                  <a:pt x="11430000" y="34119"/>
                  <a:pt x="11430000" y="76205"/>
                </a:cubicBezTo>
                <a:lnTo>
                  <a:pt x="11430000" y="1181095"/>
                </a:lnTo>
                <a:cubicBezTo>
                  <a:pt x="11430000" y="1223181"/>
                  <a:pt x="11395881" y="1257300"/>
                  <a:pt x="11353795" y="1257300"/>
                </a:cubicBezTo>
                <a:lnTo>
                  <a:pt x="76205" y="1257300"/>
                </a:lnTo>
                <a:cubicBezTo>
                  <a:pt x="34119" y="1257300"/>
                  <a:pt x="0" y="1223181"/>
                  <a:pt x="0" y="1181095"/>
                </a:cubicBezTo>
                <a:lnTo>
                  <a:pt x="0" y="76205"/>
                </a:lnTo>
                <a:cubicBezTo>
                  <a:pt x="0" y="34146"/>
                  <a:pt x="34146" y="0"/>
                  <a:pt x="76205" y="0"/>
                </a:cubicBezTo>
                <a:close/>
              </a:path>
            </a:pathLst>
          </a:custGeom>
          <a:solidFill>
            <a:srgbClr val="101828">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571396" y="5304334"/>
            <a:ext cx="11125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Commandes clang-format courantes</a:t>
            </a:r>
            <a:endParaRPr lang="en-US" sz="1100"/>
          </a:p>
        </p:txBody>
      </p:sp>
      <p:sp>
        <p:nvSpPr>
          <p:cNvPr id="25" name="AutoShape 25"/>
          <p:cNvSpPr/>
          <p:nvPr/>
        </p:nvSpPr>
        <p:spPr>
          <a:xfrm>
            <a:off x="571396" y="5609106"/>
            <a:ext cx="11115675" cy="571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clang-format -i file.cpp # Formater un fichier unique</a:t>
            </a:r>
            <a:endParaRPr lang="en-US" sz="1100"/>
          </a:p>
          <a:p>
            <a:pPr indent="0" algn="l">
              <a:lnSpc>
                <a:spcPct val="117000"/>
              </a:lnSpc>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clang-format -i *.cpp *.h # Formater plusieurs fichiers</a:t>
            </a:r>
            <a:endPar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17000"/>
              </a:lnSpc>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clang-format --style=LLVM -i file.cpp # Specifier le style</a:t>
            </a:r>
            <a:endPar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720026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Concepts fondamentaux CI/CD</a:t>
            </a:r>
            <a:endParaRPr lang="en-US" sz="3200"/>
          </a:p>
        </p:txBody>
      </p:sp>
      <p:sp>
        <p:nvSpPr>
          <p:cNvPr id="3" name="AutoShape 3"/>
          <p:cNvSpPr/>
          <p:nvPr/>
        </p:nvSpPr>
        <p:spPr>
          <a:xfrm>
            <a:off x="295231" y="1640886"/>
            <a:ext cx="116014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27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CI/CD</a:t>
            </a:r>
            <a:endParaRPr lang="en-US" sz="1100"/>
          </a:p>
        </p:txBody>
      </p:sp>
      <p:sp>
        <p:nvSpPr>
          <p:cNvPr id="4" name="AutoShape 4"/>
          <p:cNvSpPr/>
          <p:nvPr/>
        </p:nvSpPr>
        <p:spPr>
          <a:xfrm>
            <a:off x="333331" y="2098030"/>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4A5565"/>
                </a:solidFill>
                <a:latin typeface="Noto Sans SC" panose="020B0200000000000000" charset="-122"/>
                <a:ea typeface="Noto Sans SC" panose="020B0200000000000000" charset="-122"/>
                <a:cs typeface="Noto Sans SC" panose="020B0200000000000000" charset="-122"/>
                <a:sym typeface="Noto Sans SC" panose="020B0200000000000000" charset="-122"/>
              </a:rPr>
              <a:t>Continuous Integration / Continuous Deployment</a:t>
            </a:r>
            <a:endParaRPr lang="en-US" sz="1100"/>
          </a:p>
        </p:txBody>
      </p:sp>
      <p:sp>
        <p:nvSpPr>
          <p:cNvPr id="5" name="AutoShape 5"/>
          <p:cNvSpPr/>
          <p:nvPr/>
        </p:nvSpPr>
        <p:spPr>
          <a:xfrm>
            <a:off x="338093" y="2364739"/>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Integration continue / Deploiement continu</a:t>
            </a:r>
            <a:endParaRPr lang="en-US" sz="1100"/>
          </a:p>
        </p:txBody>
      </p:sp>
      <p:sp>
        <p:nvSpPr>
          <p:cNvPr id="6" name="Freeform 6"/>
          <p:cNvSpPr/>
          <p:nvPr/>
        </p:nvSpPr>
        <p:spPr>
          <a:xfrm>
            <a:off x="380956" y="2860011"/>
            <a:ext cx="5562600" cy="1943100"/>
          </a:xfrm>
          <a:custGeom>
            <a:avLst/>
            <a:gdLst/>
            <a:ahLst/>
            <a:cxnLst/>
            <a:rect l="l" t="t" r="r" b="b"/>
            <a:pathLst>
              <a:path w="5562600" h="1943100">
                <a:moveTo>
                  <a:pt x="76208" y="0"/>
                </a:moveTo>
                <a:lnTo>
                  <a:pt x="5486392" y="0"/>
                </a:lnTo>
                <a:cubicBezTo>
                  <a:pt x="5528480" y="0"/>
                  <a:pt x="5562600" y="34120"/>
                  <a:pt x="5562600" y="76208"/>
                </a:cubicBezTo>
                <a:lnTo>
                  <a:pt x="5562600" y="1866892"/>
                </a:lnTo>
                <a:cubicBezTo>
                  <a:pt x="5562600" y="1908980"/>
                  <a:pt x="5528480" y="1943100"/>
                  <a:pt x="5486392" y="1943100"/>
                </a:cubicBezTo>
                <a:lnTo>
                  <a:pt x="76208" y="1943100"/>
                </a:lnTo>
                <a:cubicBezTo>
                  <a:pt x="34120" y="1943100"/>
                  <a:pt x="0" y="1908980"/>
                  <a:pt x="0" y="1866892"/>
                </a:cubicBezTo>
                <a:lnTo>
                  <a:pt x="0" y="76208"/>
                </a:lnTo>
                <a:cubicBezTo>
                  <a:pt x="0" y="34148"/>
                  <a:pt x="34148" y="0"/>
                  <a:pt x="76208" y="0"/>
                </a:cubicBezTo>
                <a:close/>
              </a:path>
            </a:pathLst>
          </a:custGeom>
          <a:gradFill rotWithShape="1">
            <a:gsLst>
              <a:gs pos="0">
                <a:srgbClr val="8B0000">
                  <a:alpha val="100000"/>
                </a:srgbClr>
              </a:gs>
              <a:gs pos="100000">
                <a:srgbClr val="B22222">
                  <a:alpha val="100000"/>
                </a:srgbClr>
              </a:gs>
            </a:gsLst>
            <a:lin ang="2700000"/>
          </a:gra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7" name="Freeform 7"/>
          <p:cNvSpPr/>
          <p:nvPr/>
        </p:nvSpPr>
        <p:spPr>
          <a:xfrm>
            <a:off x="647629" y="3097011"/>
            <a:ext cx="285750" cy="287871"/>
          </a:xfrm>
          <a:custGeom>
            <a:avLst/>
            <a:gdLst/>
            <a:ahLst/>
            <a:cxnLst/>
            <a:rect l="l" t="t" r="r" b="b"/>
            <a:pathLst>
              <a:path w="285750" h="287871">
                <a:moveTo>
                  <a:pt x="267946" y="108216"/>
                </a:moveTo>
                <a:lnTo>
                  <a:pt x="272355" y="108216"/>
                </a:lnTo>
                <a:cubicBezTo>
                  <a:pt x="279778" y="108216"/>
                  <a:pt x="285750" y="102245"/>
                  <a:pt x="285750" y="94822"/>
                </a:cubicBezTo>
                <a:lnTo>
                  <a:pt x="285750" y="14455"/>
                </a:lnTo>
                <a:cubicBezTo>
                  <a:pt x="285750" y="9041"/>
                  <a:pt x="282513" y="4130"/>
                  <a:pt x="277490" y="2065"/>
                </a:cubicBezTo>
                <a:cubicBezTo>
                  <a:pt x="272467" y="0"/>
                  <a:pt x="266719" y="1172"/>
                  <a:pt x="262868" y="4967"/>
                </a:cubicBezTo>
                <a:lnTo>
                  <a:pt x="234014" y="33877"/>
                </a:lnTo>
                <a:cubicBezTo>
                  <a:pt x="209290" y="13394"/>
                  <a:pt x="177477" y="1060"/>
                  <a:pt x="142875" y="1060"/>
                </a:cubicBezTo>
                <a:cubicBezTo>
                  <a:pt x="70879" y="1060"/>
                  <a:pt x="11330" y="54303"/>
                  <a:pt x="1452" y="123564"/>
                </a:cubicBezTo>
                <a:cubicBezTo>
                  <a:pt x="56" y="133331"/>
                  <a:pt x="6808" y="142372"/>
                  <a:pt x="16576" y="143769"/>
                </a:cubicBezTo>
                <a:cubicBezTo>
                  <a:pt x="26344" y="145163"/>
                  <a:pt x="35383" y="138355"/>
                  <a:pt x="36779" y="128643"/>
                </a:cubicBezTo>
                <a:cubicBezTo>
                  <a:pt x="44202" y="76683"/>
                  <a:pt x="88906" y="36779"/>
                  <a:pt x="142875" y="36779"/>
                </a:cubicBezTo>
                <a:cubicBezTo>
                  <a:pt x="167655" y="36779"/>
                  <a:pt x="190426" y="45151"/>
                  <a:pt x="208564" y="59270"/>
                </a:cubicBezTo>
                <a:lnTo>
                  <a:pt x="182500" y="85333"/>
                </a:lnTo>
                <a:cubicBezTo>
                  <a:pt x="178650" y="89185"/>
                  <a:pt x="177533" y="94933"/>
                  <a:pt x="179598" y="99956"/>
                </a:cubicBezTo>
                <a:cubicBezTo>
                  <a:pt x="181663" y="104979"/>
                  <a:pt x="186574" y="108216"/>
                  <a:pt x="191988" y="108216"/>
                </a:cubicBezTo>
                <a:lnTo>
                  <a:pt x="267946" y="108216"/>
                </a:lnTo>
                <a:close/>
                <a:moveTo>
                  <a:pt x="284356" y="164306"/>
                </a:moveTo>
                <a:cubicBezTo>
                  <a:pt x="285750" y="154539"/>
                  <a:pt x="278942" y="145498"/>
                  <a:pt x="269230" y="144101"/>
                </a:cubicBezTo>
                <a:cubicBezTo>
                  <a:pt x="259519" y="142707"/>
                  <a:pt x="250422" y="149515"/>
                  <a:pt x="249027" y="159227"/>
                </a:cubicBezTo>
                <a:cubicBezTo>
                  <a:pt x="241604" y="211131"/>
                  <a:pt x="196900" y="251035"/>
                  <a:pt x="142931" y="251035"/>
                </a:cubicBezTo>
                <a:cubicBezTo>
                  <a:pt x="118151" y="251035"/>
                  <a:pt x="95380" y="242664"/>
                  <a:pt x="77241" y="228544"/>
                </a:cubicBezTo>
                <a:lnTo>
                  <a:pt x="103250" y="202537"/>
                </a:lnTo>
                <a:cubicBezTo>
                  <a:pt x="107100" y="198685"/>
                  <a:pt x="108217" y="192937"/>
                  <a:pt x="106152" y="187914"/>
                </a:cubicBezTo>
                <a:cubicBezTo>
                  <a:pt x="104087" y="182891"/>
                  <a:pt x="99176" y="179654"/>
                  <a:pt x="93762" y="179654"/>
                </a:cubicBezTo>
                <a:lnTo>
                  <a:pt x="13395" y="179654"/>
                </a:lnTo>
                <a:cubicBezTo>
                  <a:pt x="5972" y="179654"/>
                  <a:pt x="0" y="185625"/>
                  <a:pt x="0" y="193048"/>
                </a:cubicBezTo>
                <a:lnTo>
                  <a:pt x="0" y="273415"/>
                </a:lnTo>
                <a:cubicBezTo>
                  <a:pt x="0" y="278829"/>
                  <a:pt x="3237" y="283740"/>
                  <a:pt x="8260" y="285805"/>
                </a:cubicBezTo>
                <a:cubicBezTo>
                  <a:pt x="13283" y="287870"/>
                  <a:pt x="19031" y="286698"/>
                  <a:pt x="22882" y="282903"/>
                </a:cubicBezTo>
                <a:lnTo>
                  <a:pt x="51792" y="253993"/>
                </a:lnTo>
                <a:cubicBezTo>
                  <a:pt x="76460" y="274476"/>
                  <a:pt x="108273" y="286810"/>
                  <a:pt x="142875" y="286810"/>
                </a:cubicBezTo>
                <a:cubicBezTo>
                  <a:pt x="214871" y="286810"/>
                  <a:pt x="274420" y="233567"/>
                  <a:pt x="284298" y="16430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080770" y="3088640"/>
            <a:ext cx="272161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Role de la CI</a:t>
            </a:r>
            <a:endParaRPr lang="en-US" sz="1100"/>
          </a:p>
        </p:txBody>
      </p:sp>
      <p:sp>
        <p:nvSpPr>
          <p:cNvPr id="9" name="Freeform 9"/>
          <p:cNvSpPr/>
          <p:nvPr/>
        </p:nvSpPr>
        <p:spPr>
          <a:xfrm>
            <a:off x="619091" y="3577764"/>
            <a:ext cx="221122" cy="198760"/>
          </a:xfrm>
          <a:custGeom>
            <a:avLst/>
            <a:gdLst/>
            <a:ahLst/>
            <a:cxnLst/>
            <a:rect l="l" t="t" r="r" b="b"/>
            <a:pathLst>
              <a:path w="221122" h="198760">
                <a:moveTo>
                  <a:pt x="82302" y="12760"/>
                </a:moveTo>
                <a:lnTo>
                  <a:pt x="91268" y="7366"/>
                </a:lnTo>
                <a:cubicBezTo>
                  <a:pt x="99306" y="2529"/>
                  <a:pt x="108496" y="0"/>
                  <a:pt x="117872" y="0"/>
                </a:cubicBezTo>
                <a:cubicBezTo>
                  <a:pt x="131564" y="0"/>
                  <a:pt x="144735" y="5431"/>
                  <a:pt x="154409" y="15142"/>
                </a:cubicBezTo>
                <a:lnTo>
                  <a:pt x="178185" y="38917"/>
                </a:lnTo>
                <a:cubicBezTo>
                  <a:pt x="183766" y="44498"/>
                  <a:pt x="186890" y="52089"/>
                  <a:pt x="186890" y="59977"/>
                </a:cubicBezTo>
                <a:lnTo>
                  <a:pt x="186890" y="71474"/>
                </a:lnTo>
                <a:lnTo>
                  <a:pt x="194221" y="78803"/>
                </a:lnTo>
                <a:lnTo>
                  <a:pt x="194221" y="78803"/>
                </a:lnTo>
                <a:cubicBezTo>
                  <a:pt x="200025" y="72999"/>
                  <a:pt x="209439" y="72999"/>
                  <a:pt x="215280" y="78803"/>
                </a:cubicBezTo>
                <a:cubicBezTo>
                  <a:pt x="221122" y="84608"/>
                  <a:pt x="221084" y="94021"/>
                  <a:pt x="215280" y="99863"/>
                </a:cubicBezTo>
                <a:lnTo>
                  <a:pt x="191468" y="123675"/>
                </a:lnTo>
                <a:cubicBezTo>
                  <a:pt x="185662" y="129479"/>
                  <a:pt x="176250" y="129479"/>
                  <a:pt x="170408" y="123675"/>
                </a:cubicBezTo>
                <a:cubicBezTo>
                  <a:pt x="164566" y="117871"/>
                  <a:pt x="164605" y="108458"/>
                  <a:pt x="170408" y="102616"/>
                </a:cubicBezTo>
                <a:lnTo>
                  <a:pt x="163079" y="95250"/>
                </a:lnTo>
                <a:lnTo>
                  <a:pt x="151582" y="95250"/>
                </a:lnTo>
                <a:cubicBezTo>
                  <a:pt x="143694" y="95250"/>
                  <a:pt x="136104" y="92123"/>
                  <a:pt x="130522" y="86542"/>
                </a:cubicBezTo>
                <a:lnTo>
                  <a:pt x="112254" y="68273"/>
                </a:lnTo>
                <a:cubicBezTo>
                  <a:pt x="106673" y="62693"/>
                  <a:pt x="103547" y="55102"/>
                  <a:pt x="103547" y="47216"/>
                </a:cubicBezTo>
                <a:lnTo>
                  <a:pt x="103547" y="42489"/>
                </a:lnTo>
                <a:cubicBezTo>
                  <a:pt x="103547" y="38322"/>
                  <a:pt x="101352" y="34415"/>
                  <a:pt x="97780" y="32296"/>
                </a:cubicBezTo>
                <a:lnTo>
                  <a:pt x="82302" y="22993"/>
                </a:lnTo>
                <a:cubicBezTo>
                  <a:pt x="78432" y="20687"/>
                  <a:pt x="78432" y="15105"/>
                  <a:pt x="82302" y="12799"/>
                </a:cubicBezTo>
                <a:close/>
                <a:moveTo>
                  <a:pt x="9303" y="155785"/>
                </a:moveTo>
                <a:lnTo>
                  <a:pt x="91939" y="73148"/>
                </a:lnTo>
                <a:lnTo>
                  <a:pt x="125610" y="106820"/>
                </a:lnTo>
                <a:lnTo>
                  <a:pt x="42974" y="189457"/>
                </a:lnTo>
                <a:cubicBezTo>
                  <a:pt x="33673" y="198760"/>
                  <a:pt x="18604" y="198760"/>
                  <a:pt x="9303" y="189457"/>
                </a:cubicBezTo>
                <a:cubicBezTo>
                  <a:pt x="0" y="180155"/>
                  <a:pt x="0" y="165086"/>
                  <a:pt x="9303" y="15578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962025" y="3545840"/>
            <a:ext cx="445579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Construire automatiquement le code</a:t>
            </a:r>
            <a:endParaRPr lang="en-US" sz="1100"/>
          </a:p>
        </p:txBody>
      </p:sp>
      <p:sp>
        <p:nvSpPr>
          <p:cNvPr id="11" name="AutoShape 11"/>
          <p:cNvSpPr/>
          <p:nvPr/>
        </p:nvSpPr>
        <p:spPr>
          <a:xfrm>
            <a:off x="962025" y="3812540"/>
            <a:ext cx="439610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Compiler automatiquement le projet à chaque soumissio</a:t>
            </a: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100"/>
          </a:p>
        </p:txBody>
      </p:sp>
      <p:sp>
        <p:nvSpPr>
          <p:cNvPr id="12" name="Freeform 12"/>
          <p:cNvSpPr/>
          <p:nvPr/>
        </p:nvSpPr>
        <p:spPr>
          <a:xfrm>
            <a:off x="633341" y="4153961"/>
            <a:ext cx="191691" cy="191653"/>
          </a:xfrm>
          <a:custGeom>
            <a:avLst/>
            <a:gdLst/>
            <a:ahLst/>
            <a:cxnLst/>
            <a:rect l="l" t="t" r="r" b="b"/>
            <a:pathLst>
              <a:path w="191691" h="191653">
                <a:moveTo>
                  <a:pt x="127471" y="4651"/>
                </a:moveTo>
                <a:cubicBezTo>
                  <a:pt x="122820" y="0"/>
                  <a:pt x="115266" y="0"/>
                  <a:pt x="110617" y="4651"/>
                </a:cubicBezTo>
                <a:cubicBezTo>
                  <a:pt x="105966" y="9301"/>
                  <a:pt x="105966" y="16854"/>
                  <a:pt x="110617" y="21505"/>
                </a:cubicBezTo>
                <a:lnTo>
                  <a:pt x="114115" y="24966"/>
                </a:lnTo>
                <a:lnTo>
                  <a:pt x="10455" y="128624"/>
                </a:lnTo>
                <a:cubicBezTo>
                  <a:pt x="3758" y="135322"/>
                  <a:pt x="0" y="144400"/>
                  <a:pt x="0" y="153888"/>
                </a:cubicBezTo>
                <a:lnTo>
                  <a:pt x="0" y="155934"/>
                </a:lnTo>
                <a:cubicBezTo>
                  <a:pt x="0" y="175654"/>
                  <a:pt x="15999" y="191653"/>
                  <a:pt x="35719" y="191653"/>
                </a:cubicBezTo>
                <a:lnTo>
                  <a:pt x="37765" y="191653"/>
                </a:lnTo>
                <a:cubicBezTo>
                  <a:pt x="47253" y="191653"/>
                  <a:pt x="56331" y="187895"/>
                  <a:pt x="63029" y="181198"/>
                </a:cubicBezTo>
                <a:lnTo>
                  <a:pt x="166687" y="77538"/>
                </a:lnTo>
                <a:lnTo>
                  <a:pt x="170185" y="81036"/>
                </a:lnTo>
                <a:cubicBezTo>
                  <a:pt x="174836" y="85687"/>
                  <a:pt x="182389" y="85687"/>
                  <a:pt x="187041" y="81036"/>
                </a:cubicBezTo>
                <a:cubicBezTo>
                  <a:pt x="191691" y="76387"/>
                  <a:pt x="191691" y="68833"/>
                  <a:pt x="187041" y="64182"/>
                </a:cubicBezTo>
                <a:lnTo>
                  <a:pt x="127508" y="4651"/>
                </a:lnTo>
                <a:close/>
                <a:moveTo>
                  <a:pt x="76385" y="96403"/>
                </a:moveTo>
                <a:lnTo>
                  <a:pt x="130969" y="41820"/>
                </a:lnTo>
                <a:lnTo>
                  <a:pt x="149833" y="60684"/>
                </a:lnTo>
                <a:lnTo>
                  <a:pt x="114115" y="96403"/>
                </a:lnTo>
                <a:lnTo>
                  <a:pt x="76349" y="9640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962025" y="4117340"/>
            <a:ext cx="487489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Ex</a:t>
            </a:r>
            <a:r>
              <a:rPr lang="en-US" alt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cuter automatiquement les test</a:t>
            </a: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14" name="AutoShape 14"/>
          <p:cNvSpPr/>
          <p:nvPr/>
        </p:nvSpPr>
        <p:spPr>
          <a:xfrm>
            <a:off x="962025" y="4384040"/>
            <a:ext cx="481520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Ex</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cuter les tests unitaires et les tests d'int</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gratio</a:t>
            </a: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100"/>
          </a:p>
        </p:txBody>
      </p:sp>
      <p:sp>
        <p:nvSpPr>
          <p:cNvPr id="15" name="Freeform 15"/>
          <p:cNvSpPr/>
          <p:nvPr/>
        </p:nvSpPr>
        <p:spPr>
          <a:xfrm>
            <a:off x="6248338" y="2860011"/>
            <a:ext cx="5562600" cy="1943100"/>
          </a:xfrm>
          <a:custGeom>
            <a:avLst/>
            <a:gdLst/>
            <a:ahLst/>
            <a:cxnLst/>
            <a:rect l="l" t="t" r="r" b="b"/>
            <a:pathLst>
              <a:path w="5562600" h="1943100">
                <a:moveTo>
                  <a:pt x="76208" y="0"/>
                </a:moveTo>
                <a:lnTo>
                  <a:pt x="5486392" y="0"/>
                </a:lnTo>
                <a:cubicBezTo>
                  <a:pt x="5528480" y="0"/>
                  <a:pt x="5562600" y="34120"/>
                  <a:pt x="5562600" y="76208"/>
                </a:cubicBezTo>
                <a:lnTo>
                  <a:pt x="5562600" y="1866892"/>
                </a:lnTo>
                <a:cubicBezTo>
                  <a:pt x="5562600" y="1908980"/>
                  <a:pt x="5528480" y="1943100"/>
                  <a:pt x="5486392" y="1943100"/>
                </a:cubicBezTo>
                <a:lnTo>
                  <a:pt x="76208" y="1943100"/>
                </a:lnTo>
                <a:cubicBezTo>
                  <a:pt x="34120" y="1943100"/>
                  <a:pt x="0" y="1908980"/>
                  <a:pt x="0" y="1866892"/>
                </a:cubicBezTo>
                <a:lnTo>
                  <a:pt x="0" y="76208"/>
                </a:lnTo>
                <a:cubicBezTo>
                  <a:pt x="0" y="34148"/>
                  <a:pt x="34148" y="0"/>
                  <a:pt x="76208" y="0"/>
                </a:cubicBezTo>
                <a:close/>
              </a:path>
            </a:pathLst>
          </a:custGeom>
          <a:gradFill rotWithShape="1">
            <a:gsLst>
              <a:gs pos="0">
                <a:srgbClr val="333333">
                  <a:alpha val="100000"/>
                </a:srgbClr>
              </a:gs>
              <a:gs pos="100000">
                <a:srgbClr val="555555">
                  <a:alpha val="100000"/>
                </a:srgbClr>
              </a:gs>
            </a:gsLst>
            <a:lin ang="2700000"/>
          </a:gra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6" name="Freeform 16"/>
          <p:cNvSpPr/>
          <p:nvPr/>
        </p:nvSpPr>
        <p:spPr>
          <a:xfrm>
            <a:off x="6506249" y="3111800"/>
            <a:ext cx="280783" cy="280783"/>
          </a:xfrm>
          <a:custGeom>
            <a:avLst/>
            <a:gdLst/>
            <a:ahLst/>
            <a:cxnLst/>
            <a:rect l="l" t="t" r="r" b="b"/>
            <a:pathLst>
              <a:path w="280783" h="280783">
                <a:moveTo>
                  <a:pt x="80200" y="164865"/>
                </a:moveTo>
                <a:lnTo>
                  <a:pt x="22436" y="164865"/>
                </a:lnTo>
                <a:cubicBezTo>
                  <a:pt x="8538" y="164865"/>
                  <a:pt x="0" y="149740"/>
                  <a:pt x="7143" y="137797"/>
                </a:cubicBezTo>
                <a:lnTo>
                  <a:pt x="36666" y="88572"/>
                </a:lnTo>
                <a:cubicBezTo>
                  <a:pt x="41523" y="80480"/>
                  <a:pt x="50229" y="75569"/>
                  <a:pt x="59661" y="75569"/>
                </a:cubicBezTo>
                <a:lnTo>
                  <a:pt x="112681" y="75569"/>
                </a:lnTo>
                <a:cubicBezTo>
                  <a:pt x="155154" y="3628"/>
                  <a:pt x="218497" y="0"/>
                  <a:pt x="260858" y="6195"/>
                </a:cubicBezTo>
                <a:cubicBezTo>
                  <a:pt x="268002" y="7256"/>
                  <a:pt x="273582" y="12837"/>
                  <a:pt x="274588" y="19925"/>
                </a:cubicBezTo>
                <a:cubicBezTo>
                  <a:pt x="280783" y="62286"/>
                  <a:pt x="277155" y="125629"/>
                  <a:pt x="205214" y="168102"/>
                </a:cubicBezTo>
                <a:lnTo>
                  <a:pt x="205214" y="221122"/>
                </a:lnTo>
                <a:cubicBezTo>
                  <a:pt x="205214" y="230554"/>
                  <a:pt x="200303" y="239260"/>
                  <a:pt x="192211" y="244117"/>
                </a:cubicBezTo>
                <a:lnTo>
                  <a:pt x="142986" y="273640"/>
                </a:lnTo>
                <a:cubicBezTo>
                  <a:pt x="131099" y="280783"/>
                  <a:pt x="115918" y="272187"/>
                  <a:pt x="115918" y="258347"/>
                </a:cubicBezTo>
                <a:lnTo>
                  <a:pt x="115918" y="200583"/>
                </a:lnTo>
                <a:cubicBezTo>
                  <a:pt x="115918" y="180882"/>
                  <a:pt x="99901" y="164865"/>
                  <a:pt x="80200" y="164865"/>
                </a:cubicBezTo>
                <a:lnTo>
                  <a:pt x="80144" y="164865"/>
                </a:lnTo>
                <a:close/>
                <a:moveTo>
                  <a:pt x="232004" y="75569"/>
                </a:moveTo>
                <a:cubicBezTo>
                  <a:pt x="232004" y="60783"/>
                  <a:pt x="220000" y="48779"/>
                  <a:pt x="205214" y="48779"/>
                </a:cubicBezTo>
                <a:cubicBezTo>
                  <a:pt x="190430" y="48779"/>
                  <a:pt x="178426" y="60783"/>
                  <a:pt x="178426" y="75569"/>
                </a:cubicBezTo>
                <a:cubicBezTo>
                  <a:pt x="178426" y="90353"/>
                  <a:pt x="190430" y="102357"/>
                  <a:pt x="205214" y="102357"/>
                </a:cubicBezTo>
                <a:cubicBezTo>
                  <a:pt x="220000" y="102357"/>
                  <a:pt x="232004" y="90353"/>
                  <a:pt x="232004" y="7556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948170" y="3088640"/>
            <a:ext cx="280162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Role de la CD</a:t>
            </a:r>
            <a:endParaRPr lang="en-US" sz="1100"/>
          </a:p>
        </p:txBody>
      </p:sp>
      <p:sp>
        <p:nvSpPr>
          <p:cNvPr id="18" name="Freeform 18"/>
          <p:cNvSpPr/>
          <p:nvPr/>
        </p:nvSpPr>
        <p:spPr>
          <a:xfrm>
            <a:off x="6488817" y="3595622"/>
            <a:ext cx="214313" cy="166688"/>
          </a:xfrm>
          <a:custGeom>
            <a:avLst/>
            <a:gdLst/>
            <a:ahLst/>
            <a:cxnLst/>
            <a:rect l="l" t="t" r="r" b="b"/>
            <a:pathLst>
              <a:path w="214313" h="166688">
                <a:moveTo>
                  <a:pt x="53577" y="166688"/>
                </a:moveTo>
                <a:cubicBezTo>
                  <a:pt x="23999" y="166688"/>
                  <a:pt x="0" y="142689"/>
                  <a:pt x="0" y="113110"/>
                </a:cubicBezTo>
                <a:cubicBezTo>
                  <a:pt x="0" y="89520"/>
                  <a:pt x="15255" y="69504"/>
                  <a:pt x="36426" y="62322"/>
                </a:cubicBezTo>
                <a:cubicBezTo>
                  <a:pt x="35942" y="59457"/>
                  <a:pt x="35719" y="56555"/>
                  <a:pt x="35719" y="53578"/>
                </a:cubicBezTo>
                <a:cubicBezTo>
                  <a:pt x="35719" y="23999"/>
                  <a:pt x="59717" y="0"/>
                  <a:pt x="89298" y="0"/>
                </a:cubicBezTo>
                <a:cubicBezTo>
                  <a:pt x="109910" y="0"/>
                  <a:pt x="127806" y="11646"/>
                  <a:pt x="136773" y="28687"/>
                </a:cubicBezTo>
                <a:cubicBezTo>
                  <a:pt x="142056" y="25598"/>
                  <a:pt x="148233" y="23813"/>
                  <a:pt x="154781" y="23813"/>
                </a:cubicBezTo>
                <a:cubicBezTo>
                  <a:pt x="174501" y="23813"/>
                  <a:pt x="190500" y="39812"/>
                  <a:pt x="190500" y="59532"/>
                </a:cubicBezTo>
                <a:cubicBezTo>
                  <a:pt x="190500" y="65374"/>
                  <a:pt x="189086" y="70917"/>
                  <a:pt x="186593" y="75791"/>
                </a:cubicBezTo>
                <a:cubicBezTo>
                  <a:pt x="202964" y="83344"/>
                  <a:pt x="214313" y="99864"/>
                  <a:pt x="214313" y="119063"/>
                </a:cubicBezTo>
                <a:cubicBezTo>
                  <a:pt x="214313" y="145368"/>
                  <a:pt x="192993" y="166688"/>
                  <a:pt x="166687" y="166688"/>
                </a:cubicBezTo>
                <a:lnTo>
                  <a:pt x="53577" y="166688"/>
                </a:lnTo>
                <a:close/>
                <a:moveTo>
                  <a:pt x="113481" y="59159"/>
                </a:moveTo>
                <a:cubicBezTo>
                  <a:pt x="109985" y="55662"/>
                  <a:pt x="104329" y="55662"/>
                  <a:pt x="100868" y="59159"/>
                </a:cubicBezTo>
                <a:lnTo>
                  <a:pt x="74079" y="85948"/>
                </a:lnTo>
                <a:cubicBezTo>
                  <a:pt x="70582" y="89446"/>
                  <a:pt x="70582" y="95100"/>
                  <a:pt x="74079" y="98562"/>
                </a:cubicBezTo>
                <a:cubicBezTo>
                  <a:pt x="77577" y="102022"/>
                  <a:pt x="83232" y="102059"/>
                  <a:pt x="86691" y="98562"/>
                </a:cubicBezTo>
                <a:lnTo>
                  <a:pt x="98227" y="87027"/>
                </a:lnTo>
                <a:lnTo>
                  <a:pt x="98227" y="125017"/>
                </a:lnTo>
                <a:cubicBezTo>
                  <a:pt x="98227" y="129964"/>
                  <a:pt x="102208" y="133946"/>
                  <a:pt x="107156" y="133946"/>
                </a:cubicBezTo>
                <a:cubicBezTo>
                  <a:pt x="112105" y="133946"/>
                  <a:pt x="116086" y="129964"/>
                  <a:pt x="116086" y="125017"/>
                </a:cubicBezTo>
                <a:lnTo>
                  <a:pt x="116086" y="87027"/>
                </a:lnTo>
                <a:lnTo>
                  <a:pt x="127620" y="98562"/>
                </a:lnTo>
                <a:cubicBezTo>
                  <a:pt x="131119" y="102059"/>
                  <a:pt x="136773" y="102059"/>
                  <a:pt x="140233" y="98562"/>
                </a:cubicBezTo>
                <a:cubicBezTo>
                  <a:pt x="143694" y="95064"/>
                  <a:pt x="143731" y="89410"/>
                  <a:pt x="140233" y="85948"/>
                </a:cubicBezTo>
                <a:lnTo>
                  <a:pt x="113444" y="5915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829425" y="3545840"/>
            <a:ext cx="486219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Deployer automatiquement le logiciel</a:t>
            </a:r>
            <a:endParaRPr lang="en-US" sz="1100"/>
          </a:p>
        </p:txBody>
      </p:sp>
      <p:sp>
        <p:nvSpPr>
          <p:cNvPr id="20" name="AutoShape 20"/>
          <p:cNvSpPr/>
          <p:nvPr/>
        </p:nvSpPr>
        <p:spPr>
          <a:xfrm>
            <a:off x="6829425" y="3812540"/>
            <a:ext cx="480695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Deployer automatiquement le code ayant pass</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 les test</a:t>
            </a: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21" name="Freeform 21"/>
          <p:cNvSpPr/>
          <p:nvPr/>
        </p:nvSpPr>
        <p:spPr>
          <a:xfrm>
            <a:off x="6476911" y="4167020"/>
            <a:ext cx="238125" cy="178594"/>
          </a:xfrm>
          <a:custGeom>
            <a:avLst/>
            <a:gdLst/>
            <a:ahLst/>
            <a:cxnLst/>
            <a:rect l="l" t="t" r="r" b="b"/>
            <a:pathLst>
              <a:path w="238125" h="178594">
                <a:moveTo>
                  <a:pt x="23813" y="23813"/>
                </a:moveTo>
                <a:cubicBezTo>
                  <a:pt x="23813" y="10678"/>
                  <a:pt x="34491" y="0"/>
                  <a:pt x="47625" y="0"/>
                </a:cubicBezTo>
                <a:lnTo>
                  <a:pt x="154781" y="0"/>
                </a:lnTo>
                <a:cubicBezTo>
                  <a:pt x="167916" y="0"/>
                  <a:pt x="178594" y="10678"/>
                  <a:pt x="178594" y="23813"/>
                </a:cubicBezTo>
                <a:lnTo>
                  <a:pt x="178594" y="35719"/>
                </a:lnTo>
                <a:lnTo>
                  <a:pt x="197458" y="35719"/>
                </a:lnTo>
                <a:cubicBezTo>
                  <a:pt x="203783" y="35719"/>
                  <a:pt x="209848" y="38212"/>
                  <a:pt x="214313" y="42677"/>
                </a:cubicBezTo>
                <a:lnTo>
                  <a:pt x="231167" y="59532"/>
                </a:lnTo>
                <a:cubicBezTo>
                  <a:pt x="235632" y="63996"/>
                  <a:pt x="238125" y="70061"/>
                  <a:pt x="238125" y="76386"/>
                </a:cubicBezTo>
                <a:lnTo>
                  <a:pt x="238125" y="130969"/>
                </a:lnTo>
                <a:cubicBezTo>
                  <a:pt x="238125" y="144103"/>
                  <a:pt x="227447" y="154782"/>
                  <a:pt x="214313" y="154782"/>
                </a:cubicBezTo>
                <a:lnTo>
                  <a:pt x="213084" y="154782"/>
                </a:lnTo>
                <a:cubicBezTo>
                  <a:pt x="209215" y="168511"/>
                  <a:pt x="196566" y="178594"/>
                  <a:pt x="181571" y="178594"/>
                </a:cubicBezTo>
                <a:cubicBezTo>
                  <a:pt x="166576" y="178594"/>
                  <a:pt x="153963" y="168511"/>
                  <a:pt x="150056" y="154782"/>
                </a:cubicBezTo>
                <a:lnTo>
                  <a:pt x="111882" y="154782"/>
                </a:lnTo>
                <a:cubicBezTo>
                  <a:pt x="108012" y="168511"/>
                  <a:pt x="95362" y="178594"/>
                  <a:pt x="80367" y="178594"/>
                </a:cubicBezTo>
                <a:cubicBezTo>
                  <a:pt x="65373" y="178594"/>
                  <a:pt x="52760" y="168511"/>
                  <a:pt x="48853" y="154782"/>
                </a:cubicBezTo>
                <a:lnTo>
                  <a:pt x="47625" y="154782"/>
                </a:lnTo>
                <a:cubicBezTo>
                  <a:pt x="34491" y="154782"/>
                  <a:pt x="23813" y="144103"/>
                  <a:pt x="23813" y="130969"/>
                </a:cubicBezTo>
                <a:lnTo>
                  <a:pt x="23813" y="113110"/>
                </a:lnTo>
                <a:lnTo>
                  <a:pt x="8929" y="113110"/>
                </a:lnTo>
                <a:cubicBezTo>
                  <a:pt x="3981" y="113110"/>
                  <a:pt x="0" y="109128"/>
                  <a:pt x="0" y="104180"/>
                </a:cubicBezTo>
                <a:cubicBezTo>
                  <a:pt x="0" y="99230"/>
                  <a:pt x="3981" y="95250"/>
                  <a:pt x="8929" y="95250"/>
                </a:cubicBezTo>
                <a:lnTo>
                  <a:pt x="50602" y="95250"/>
                </a:lnTo>
                <a:cubicBezTo>
                  <a:pt x="55550" y="95250"/>
                  <a:pt x="59531" y="91269"/>
                  <a:pt x="59531" y="86321"/>
                </a:cubicBezTo>
                <a:cubicBezTo>
                  <a:pt x="59531" y="81372"/>
                  <a:pt x="55550" y="77392"/>
                  <a:pt x="50602" y="77392"/>
                </a:cubicBezTo>
                <a:lnTo>
                  <a:pt x="8929" y="77392"/>
                </a:lnTo>
                <a:cubicBezTo>
                  <a:pt x="3981" y="77392"/>
                  <a:pt x="0" y="73410"/>
                  <a:pt x="0" y="68461"/>
                </a:cubicBezTo>
                <a:cubicBezTo>
                  <a:pt x="0" y="63513"/>
                  <a:pt x="3981" y="59532"/>
                  <a:pt x="8929" y="59532"/>
                </a:cubicBezTo>
                <a:lnTo>
                  <a:pt x="74414" y="59532"/>
                </a:lnTo>
                <a:cubicBezTo>
                  <a:pt x="79364" y="59532"/>
                  <a:pt x="83344" y="55550"/>
                  <a:pt x="83344" y="50602"/>
                </a:cubicBezTo>
                <a:cubicBezTo>
                  <a:pt x="83344" y="45653"/>
                  <a:pt x="79364" y="41671"/>
                  <a:pt x="74414" y="41671"/>
                </a:cubicBezTo>
                <a:lnTo>
                  <a:pt x="8929" y="41671"/>
                </a:lnTo>
                <a:cubicBezTo>
                  <a:pt x="3981" y="41671"/>
                  <a:pt x="0" y="37691"/>
                  <a:pt x="0" y="32742"/>
                </a:cubicBezTo>
                <a:cubicBezTo>
                  <a:pt x="0" y="27794"/>
                  <a:pt x="3981" y="23813"/>
                  <a:pt x="8929" y="23813"/>
                </a:cubicBezTo>
                <a:lnTo>
                  <a:pt x="23813" y="23813"/>
                </a:lnTo>
                <a:close/>
                <a:moveTo>
                  <a:pt x="214313" y="95250"/>
                </a:moveTo>
                <a:lnTo>
                  <a:pt x="214313" y="76386"/>
                </a:lnTo>
                <a:lnTo>
                  <a:pt x="197458" y="59532"/>
                </a:lnTo>
                <a:lnTo>
                  <a:pt x="178594" y="59532"/>
                </a:lnTo>
                <a:lnTo>
                  <a:pt x="178594" y="95250"/>
                </a:lnTo>
                <a:lnTo>
                  <a:pt x="214313" y="95250"/>
                </a:lnTo>
                <a:close/>
                <a:moveTo>
                  <a:pt x="95250" y="145852"/>
                </a:moveTo>
                <a:cubicBezTo>
                  <a:pt x="95250" y="137638"/>
                  <a:pt x="88581" y="130969"/>
                  <a:pt x="80367" y="130969"/>
                </a:cubicBezTo>
                <a:cubicBezTo>
                  <a:pt x="72153" y="130969"/>
                  <a:pt x="65484" y="137638"/>
                  <a:pt x="65484" y="145852"/>
                </a:cubicBezTo>
                <a:cubicBezTo>
                  <a:pt x="65484" y="154066"/>
                  <a:pt x="72153" y="160735"/>
                  <a:pt x="80367" y="160735"/>
                </a:cubicBezTo>
                <a:cubicBezTo>
                  <a:pt x="88581" y="160735"/>
                  <a:pt x="95250" y="154066"/>
                  <a:pt x="95250" y="145852"/>
                </a:cubicBezTo>
                <a:close/>
                <a:moveTo>
                  <a:pt x="181571" y="160735"/>
                </a:moveTo>
                <a:cubicBezTo>
                  <a:pt x="189784" y="160735"/>
                  <a:pt x="196452" y="154066"/>
                  <a:pt x="196452" y="145852"/>
                </a:cubicBezTo>
                <a:cubicBezTo>
                  <a:pt x="196452" y="137638"/>
                  <a:pt x="189784" y="130969"/>
                  <a:pt x="181571" y="130969"/>
                </a:cubicBezTo>
                <a:cubicBezTo>
                  <a:pt x="173356" y="130969"/>
                  <a:pt x="166688" y="137638"/>
                  <a:pt x="166688" y="145852"/>
                </a:cubicBezTo>
                <a:cubicBezTo>
                  <a:pt x="166688" y="154066"/>
                  <a:pt x="173356" y="160735"/>
                  <a:pt x="181571" y="16073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829425" y="4041775"/>
            <a:ext cx="447738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Livraison rapide</a:t>
            </a:r>
            <a:endParaRPr lang="en-US" sz="1100"/>
          </a:p>
        </p:txBody>
      </p:sp>
      <p:sp>
        <p:nvSpPr>
          <p:cNvPr id="23" name="AutoShape 23"/>
          <p:cNvSpPr/>
          <p:nvPr/>
        </p:nvSpPr>
        <p:spPr>
          <a:xfrm>
            <a:off x="6829425" y="4412615"/>
            <a:ext cx="44227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R</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duire le temps entre le d</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veloppement et la mise en productio</a:t>
            </a: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100"/>
          </a:p>
        </p:txBody>
      </p:sp>
      <p:sp>
        <p:nvSpPr>
          <p:cNvPr id="24" name="Freeform 24"/>
          <p:cNvSpPr/>
          <p:nvPr/>
        </p:nvSpPr>
        <p:spPr>
          <a:xfrm>
            <a:off x="380956" y="5031349"/>
            <a:ext cx="11430000" cy="571500"/>
          </a:xfrm>
          <a:custGeom>
            <a:avLst/>
            <a:gdLst/>
            <a:ahLst/>
            <a:cxnLst/>
            <a:rect l="l" t="t" r="r" b="b"/>
            <a:pathLst>
              <a:path w="11430000" h="571500">
                <a:moveTo>
                  <a:pt x="76197" y="0"/>
                </a:moveTo>
                <a:lnTo>
                  <a:pt x="11353803" y="0"/>
                </a:lnTo>
                <a:cubicBezTo>
                  <a:pt x="11395885" y="0"/>
                  <a:pt x="11430000" y="34115"/>
                  <a:pt x="11430000" y="76197"/>
                </a:cubicBezTo>
                <a:lnTo>
                  <a:pt x="11430000" y="495303"/>
                </a:lnTo>
                <a:cubicBezTo>
                  <a:pt x="11430000" y="537385"/>
                  <a:pt x="11395885" y="571500"/>
                  <a:pt x="11353803" y="571500"/>
                </a:cubicBezTo>
                <a:lnTo>
                  <a:pt x="76197" y="571500"/>
                </a:lnTo>
                <a:cubicBezTo>
                  <a:pt x="34115" y="571500"/>
                  <a:pt x="0" y="537385"/>
                  <a:pt x="0" y="49530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4385738" y="5221644"/>
            <a:ext cx="160801" cy="171182"/>
          </a:xfrm>
          <a:custGeom>
            <a:avLst/>
            <a:gdLst/>
            <a:ahLst/>
            <a:cxnLst/>
            <a:rect l="l" t="t" r="r" b="b"/>
            <a:pathLst>
              <a:path w="160801" h="171182">
                <a:moveTo>
                  <a:pt x="80367" y="0"/>
                </a:moveTo>
                <a:cubicBezTo>
                  <a:pt x="81908" y="0"/>
                  <a:pt x="83448" y="335"/>
                  <a:pt x="84854" y="972"/>
                </a:cubicBezTo>
                <a:lnTo>
                  <a:pt x="147942" y="27727"/>
                </a:lnTo>
                <a:cubicBezTo>
                  <a:pt x="155308" y="30841"/>
                  <a:pt x="160801" y="38108"/>
                  <a:pt x="160768" y="46881"/>
                </a:cubicBezTo>
                <a:cubicBezTo>
                  <a:pt x="160601" y="80099"/>
                  <a:pt x="146938" y="140877"/>
                  <a:pt x="89240" y="168504"/>
                </a:cubicBezTo>
                <a:cubicBezTo>
                  <a:pt x="83649" y="171182"/>
                  <a:pt x="77153" y="171182"/>
                  <a:pt x="71560" y="168504"/>
                </a:cubicBezTo>
                <a:cubicBezTo>
                  <a:pt x="13830" y="140877"/>
                  <a:pt x="201" y="80099"/>
                  <a:pt x="33" y="46881"/>
                </a:cubicBezTo>
                <a:cubicBezTo>
                  <a:pt x="0" y="38108"/>
                  <a:pt x="5492" y="30841"/>
                  <a:pt x="12859" y="27727"/>
                </a:cubicBezTo>
                <a:lnTo>
                  <a:pt x="75913" y="972"/>
                </a:lnTo>
                <a:cubicBezTo>
                  <a:pt x="77320" y="335"/>
                  <a:pt x="78826" y="0"/>
                  <a:pt x="80367" y="0"/>
                </a:cubicBezTo>
                <a:close/>
                <a:moveTo>
                  <a:pt x="80367" y="22369"/>
                </a:moveTo>
                <a:lnTo>
                  <a:pt x="80367" y="148981"/>
                </a:lnTo>
                <a:cubicBezTo>
                  <a:pt x="126578" y="126611"/>
                  <a:pt x="139002" y="77052"/>
                  <a:pt x="139303" y="47382"/>
                </a:cubicBezTo>
                <a:lnTo>
                  <a:pt x="80367" y="22402"/>
                </a:lnTo>
                <a:lnTo>
                  <a:pt x="80367" y="2240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4659736" y="5202687"/>
            <a:ext cx="3213707" cy="22272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Dans les projets open source, CI/CD garantit la qualite du code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2581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Architecture CI/CD de FlagTree</a:t>
            </a:r>
            <a:endParaRPr lang="en-US" sz="3200"/>
          </a:p>
        </p:txBody>
      </p:sp>
      <p:sp>
        <p:nvSpPr>
          <p:cNvPr id="3" name="AutoShape 3"/>
          <p:cNvSpPr/>
          <p:nvPr/>
        </p:nvSpPr>
        <p:spPr>
          <a:xfrm>
            <a:off x="380956" y="1640886"/>
            <a:ext cx="115252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altLang="zh-CN"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FlagTree fournit un flux CI unifi</a:t>
            </a:r>
            <a:r>
              <a:rPr lang="en-US" alt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pour diff</a:t>
            </a:r>
            <a:r>
              <a:rPr lang="en-US" alt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rents mat</a:t>
            </a:r>
            <a:r>
              <a:rPr lang="en-US" alt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riels, garantissant la compatibilit</a:t>
            </a:r>
            <a:r>
              <a:rPr lang="en-US" alt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multi-plateforme</a:t>
            </a: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endParaRPr lang="en-US" sz="1100"/>
          </a:p>
        </p:txBody>
      </p:sp>
      <p:sp>
        <p:nvSpPr>
          <p:cNvPr id="4" name="AutoShape 4"/>
          <p:cNvSpPr/>
          <p:nvPr/>
        </p:nvSpPr>
        <p:spPr>
          <a:xfrm>
            <a:off x="380956" y="2179030"/>
            <a:ext cx="11525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Backends support</a:t>
            </a:r>
            <a:r>
              <a:rPr lang="en-US" alt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endParaRPr lang="en-US" sz="1100"/>
          </a:p>
        </p:txBody>
      </p:sp>
      <p:sp>
        <p:nvSpPr>
          <p:cNvPr id="5" name="Freeform 5"/>
          <p:cNvSpPr/>
          <p:nvPr/>
        </p:nvSpPr>
        <p:spPr>
          <a:xfrm>
            <a:off x="390433" y="2607598"/>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6" name="Freeform 6"/>
          <p:cNvSpPr/>
          <p:nvPr/>
        </p:nvSpPr>
        <p:spPr>
          <a:xfrm>
            <a:off x="1612050" y="2769459"/>
            <a:ext cx="285750" cy="285750"/>
          </a:xfrm>
          <a:custGeom>
            <a:avLst/>
            <a:gdLst/>
            <a:ahLst/>
            <a:cxnLst/>
            <a:rect l="l" t="t" r="r" b="b"/>
            <a:pathLst>
              <a:path w="285750" h="285750">
                <a:moveTo>
                  <a:pt x="98227" y="13395"/>
                </a:moveTo>
                <a:cubicBezTo>
                  <a:pt x="98227" y="5972"/>
                  <a:pt x="92255" y="0"/>
                  <a:pt x="84832" y="0"/>
                </a:cubicBezTo>
                <a:cubicBezTo>
                  <a:pt x="77409" y="0"/>
                  <a:pt x="71438" y="5972"/>
                  <a:pt x="71438" y="13395"/>
                </a:cubicBezTo>
                <a:lnTo>
                  <a:pt x="71438"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3"/>
                  <a:pt x="13395" y="214313"/>
                </a:cubicBezTo>
                <a:lnTo>
                  <a:pt x="35719" y="214313"/>
                </a:lnTo>
                <a:cubicBezTo>
                  <a:pt x="35719" y="234014"/>
                  <a:pt x="51736" y="250031"/>
                  <a:pt x="71438" y="250031"/>
                </a:cubicBezTo>
                <a:lnTo>
                  <a:pt x="71438" y="272355"/>
                </a:lnTo>
                <a:cubicBezTo>
                  <a:pt x="71438"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3"/>
                </a:cubicBezTo>
                <a:lnTo>
                  <a:pt x="272355" y="214313"/>
                </a:lnTo>
                <a:cubicBezTo>
                  <a:pt x="279778" y="214313"/>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3"/>
                  <a:pt x="196452" y="214313"/>
                </a:cubicBezTo>
                <a:lnTo>
                  <a:pt x="89298" y="214313"/>
                </a:lnTo>
                <a:cubicBezTo>
                  <a:pt x="79418" y="214313"/>
                  <a:pt x="71438" y="206332"/>
                  <a:pt x="71438" y="196452"/>
                </a:cubicBezTo>
                <a:lnTo>
                  <a:pt x="71438" y="89298"/>
                </a:lnTo>
                <a:cubicBezTo>
                  <a:pt x="71438"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14193" y="3131381"/>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NVIDIA</a:t>
            </a:r>
            <a:endParaRPr lang="en-US" sz="1100"/>
          </a:p>
        </p:txBody>
      </p:sp>
      <p:sp>
        <p:nvSpPr>
          <p:cNvPr id="8" name="Freeform 8"/>
          <p:cNvSpPr/>
          <p:nvPr/>
        </p:nvSpPr>
        <p:spPr>
          <a:xfrm>
            <a:off x="3285992" y="2607598"/>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4507609" y="2769459"/>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3"/>
                  <a:pt x="13395" y="214313"/>
                </a:cubicBezTo>
                <a:lnTo>
                  <a:pt x="35719" y="214313"/>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3"/>
                </a:cubicBezTo>
                <a:lnTo>
                  <a:pt x="272355" y="214313"/>
                </a:lnTo>
                <a:cubicBezTo>
                  <a:pt x="279778" y="214313"/>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3"/>
                  <a:pt x="196452" y="214313"/>
                </a:cubicBezTo>
                <a:lnTo>
                  <a:pt x="89298" y="214313"/>
                </a:lnTo>
                <a:cubicBezTo>
                  <a:pt x="79418" y="214313"/>
                  <a:pt x="71437" y="206332"/>
                  <a:pt x="71437" y="196452"/>
                </a:cubicBezTo>
                <a:lnTo>
                  <a:pt x="71437" y="89298"/>
                </a:lnTo>
                <a:cubicBezTo>
                  <a:pt x="71437"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3409751" y="3131381"/>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AMD</a:t>
            </a:r>
            <a:endParaRPr lang="en-US" sz="1100"/>
          </a:p>
        </p:txBody>
      </p:sp>
      <p:sp>
        <p:nvSpPr>
          <p:cNvPr id="11" name="Freeform 11"/>
          <p:cNvSpPr/>
          <p:nvPr/>
        </p:nvSpPr>
        <p:spPr>
          <a:xfrm>
            <a:off x="6181624" y="2607598"/>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2" name="Freeform 12"/>
          <p:cNvSpPr/>
          <p:nvPr/>
        </p:nvSpPr>
        <p:spPr>
          <a:xfrm>
            <a:off x="7403241" y="2769459"/>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3"/>
                  <a:pt x="13395" y="214313"/>
                </a:cubicBezTo>
                <a:lnTo>
                  <a:pt x="35719" y="214313"/>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3"/>
                </a:cubicBezTo>
                <a:lnTo>
                  <a:pt x="272355" y="214313"/>
                </a:lnTo>
                <a:cubicBezTo>
                  <a:pt x="279778" y="214313"/>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3"/>
                  <a:pt x="196452" y="214313"/>
                </a:cubicBezTo>
                <a:lnTo>
                  <a:pt x="89298" y="214313"/>
                </a:lnTo>
                <a:cubicBezTo>
                  <a:pt x="79418" y="214313"/>
                  <a:pt x="71437" y="206332"/>
                  <a:pt x="71437" y="196452"/>
                </a:cubicBezTo>
                <a:lnTo>
                  <a:pt x="71437" y="89298"/>
                </a:lnTo>
                <a:cubicBezTo>
                  <a:pt x="71437"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305384" y="3131381"/>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Iluvatar</a:t>
            </a:r>
            <a:endParaRPr lang="en-US" sz="1100"/>
          </a:p>
        </p:txBody>
      </p:sp>
      <p:sp>
        <p:nvSpPr>
          <p:cNvPr id="14" name="Freeform 14"/>
          <p:cNvSpPr/>
          <p:nvPr/>
        </p:nvSpPr>
        <p:spPr>
          <a:xfrm>
            <a:off x="9077257" y="2607598"/>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5" name="Freeform 15"/>
          <p:cNvSpPr/>
          <p:nvPr/>
        </p:nvSpPr>
        <p:spPr>
          <a:xfrm>
            <a:off x="10298874" y="2769459"/>
            <a:ext cx="285750" cy="285750"/>
          </a:xfrm>
          <a:custGeom>
            <a:avLst/>
            <a:gdLst/>
            <a:ahLst/>
            <a:cxnLst/>
            <a:rect l="l" t="t" r="r" b="b"/>
            <a:pathLst>
              <a:path w="285750" h="285750">
                <a:moveTo>
                  <a:pt x="98227" y="13395"/>
                </a:moveTo>
                <a:cubicBezTo>
                  <a:pt x="98227" y="5972"/>
                  <a:pt x="92255" y="0"/>
                  <a:pt x="84832" y="0"/>
                </a:cubicBezTo>
                <a:cubicBezTo>
                  <a:pt x="77409" y="0"/>
                  <a:pt x="71438" y="5972"/>
                  <a:pt x="71438" y="13395"/>
                </a:cubicBezTo>
                <a:lnTo>
                  <a:pt x="71438"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3"/>
                  <a:pt x="13395" y="214313"/>
                </a:cubicBezTo>
                <a:lnTo>
                  <a:pt x="35719" y="214313"/>
                </a:lnTo>
                <a:cubicBezTo>
                  <a:pt x="35719" y="234014"/>
                  <a:pt x="51736" y="250031"/>
                  <a:pt x="71438" y="250031"/>
                </a:cubicBezTo>
                <a:lnTo>
                  <a:pt x="71438" y="272355"/>
                </a:lnTo>
                <a:cubicBezTo>
                  <a:pt x="71438"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2" y="279778"/>
                  <a:pt x="214312" y="272355"/>
                </a:cubicBezTo>
                <a:lnTo>
                  <a:pt x="214312" y="250031"/>
                </a:lnTo>
                <a:cubicBezTo>
                  <a:pt x="234014" y="250031"/>
                  <a:pt x="250031" y="234014"/>
                  <a:pt x="250031" y="214313"/>
                </a:cubicBezTo>
                <a:lnTo>
                  <a:pt x="272355" y="214313"/>
                </a:lnTo>
                <a:cubicBezTo>
                  <a:pt x="279778" y="214313"/>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2" y="35719"/>
                </a:cubicBezTo>
                <a:lnTo>
                  <a:pt x="214312" y="13395"/>
                </a:lnTo>
                <a:cubicBezTo>
                  <a:pt x="214312"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2" y="79418"/>
                  <a:pt x="214312" y="89298"/>
                </a:cubicBezTo>
                <a:lnTo>
                  <a:pt x="214312" y="196452"/>
                </a:lnTo>
                <a:cubicBezTo>
                  <a:pt x="214312" y="206332"/>
                  <a:pt x="206332" y="214313"/>
                  <a:pt x="196452" y="214313"/>
                </a:cubicBezTo>
                <a:lnTo>
                  <a:pt x="89298" y="214313"/>
                </a:lnTo>
                <a:cubicBezTo>
                  <a:pt x="79418" y="214313"/>
                  <a:pt x="71438" y="206332"/>
                  <a:pt x="71438" y="196452"/>
                </a:cubicBezTo>
                <a:lnTo>
                  <a:pt x="71438" y="89298"/>
                </a:lnTo>
                <a:cubicBezTo>
                  <a:pt x="71438"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201016" y="3131381"/>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Moore Threads</a:t>
            </a:r>
            <a:endParaRPr lang="en-US" sz="1100"/>
          </a:p>
        </p:txBody>
      </p:sp>
      <p:sp>
        <p:nvSpPr>
          <p:cNvPr id="17" name="Freeform 17"/>
          <p:cNvSpPr/>
          <p:nvPr/>
        </p:nvSpPr>
        <p:spPr>
          <a:xfrm>
            <a:off x="390433" y="3693160"/>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8" name="Freeform 18"/>
          <p:cNvSpPr/>
          <p:nvPr/>
        </p:nvSpPr>
        <p:spPr>
          <a:xfrm>
            <a:off x="1612050" y="3855011"/>
            <a:ext cx="285750" cy="285750"/>
          </a:xfrm>
          <a:custGeom>
            <a:avLst/>
            <a:gdLst/>
            <a:ahLst/>
            <a:cxnLst/>
            <a:rect l="l" t="t" r="r" b="b"/>
            <a:pathLst>
              <a:path w="285750" h="285750">
                <a:moveTo>
                  <a:pt x="98227" y="13395"/>
                </a:moveTo>
                <a:cubicBezTo>
                  <a:pt x="98227" y="5972"/>
                  <a:pt x="92255" y="0"/>
                  <a:pt x="84832" y="0"/>
                </a:cubicBezTo>
                <a:cubicBezTo>
                  <a:pt x="77409" y="0"/>
                  <a:pt x="71438" y="5972"/>
                  <a:pt x="71438" y="13395"/>
                </a:cubicBezTo>
                <a:lnTo>
                  <a:pt x="71438"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8" y="250031"/>
                </a:cubicBezTo>
                <a:lnTo>
                  <a:pt x="71438" y="272355"/>
                </a:lnTo>
                <a:cubicBezTo>
                  <a:pt x="71438"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2"/>
                  <a:pt x="196452" y="214312"/>
                </a:cubicBezTo>
                <a:lnTo>
                  <a:pt x="89298" y="214312"/>
                </a:lnTo>
                <a:cubicBezTo>
                  <a:pt x="79418" y="214312"/>
                  <a:pt x="71438" y="206332"/>
                  <a:pt x="71438" y="196452"/>
                </a:cubicBezTo>
                <a:lnTo>
                  <a:pt x="71438" y="89298"/>
                </a:lnTo>
                <a:cubicBezTo>
                  <a:pt x="71438"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514193" y="4216943"/>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MetaX</a:t>
            </a:r>
            <a:endParaRPr lang="en-US" sz="1100"/>
          </a:p>
        </p:txBody>
      </p:sp>
      <p:sp>
        <p:nvSpPr>
          <p:cNvPr id="20" name="Freeform 20"/>
          <p:cNvSpPr/>
          <p:nvPr/>
        </p:nvSpPr>
        <p:spPr>
          <a:xfrm>
            <a:off x="3285992" y="3693160"/>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21" name="Freeform 21"/>
          <p:cNvSpPr/>
          <p:nvPr/>
        </p:nvSpPr>
        <p:spPr>
          <a:xfrm>
            <a:off x="4507609" y="3855011"/>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2"/>
                  <a:pt x="196452" y="214312"/>
                </a:cubicBezTo>
                <a:lnTo>
                  <a:pt x="89298" y="214312"/>
                </a:lnTo>
                <a:cubicBezTo>
                  <a:pt x="79418" y="214312"/>
                  <a:pt x="71437" y="206332"/>
                  <a:pt x="71437" y="196452"/>
                </a:cubicBezTo>
                <a:lnTo>
                  <a:pt x="71437" y="89298"/>
                </a:lnTo>
                <a:cubicBezTo>
                  <a:pt x="71437"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3409751" y="4216943"/>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Huawei Ascend</a:t>
            </a:r>
            <a:endParaRPr lang="en-US" sz="1100"/>
          </a:p>
        </p:txBody>
      </p:sp>
      <p:sp>
        <p:nvSpPr>
          <p:cNvPr id="23" name="Freeform 23"/>
          <p:cNvSpPr/>
          <p:nvPr/>
        </p:nvSpPr>
        <p:spPr>
          <a:xfrm>
            <a:off x="6181624" y="3693160"/>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24" name="Freeform 24"/>
          <p:cNvSpPr/>
          <p:nvPr/>
        </p:nvSpPr>
        <p:spPr>
          <a:xfrm>
            <a:off x="7403241" y="3855011"/>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2"/>
                  <a:pt x="196452" y="214312"/>
                </a:cubicBezTo>
                <a:lnTo>
                  <a:pt x="89298" y="214312"/>
                </a:lnTo>
                <a:cubicBezTo>
                  <a:pt x="79418" y="214312"/>
                  <a:pt x="71437" y="206332"/>
                  <a:pt x="71437" y="196452"/>
                </a:cubicBezTo>
                <a:lnTo>
                  <a:pt x="71437" y="89298"/>
                </a:lnTo>
                <a:cubicBezTo>
                  <a:pt x="71437"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305384" y="4216943"/>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Cambricon</a:t>
            </a:r>
            <a:endParaRPr lang="en-US" sz="1100"/>
          </a:p>
        </p:txBody>
      </p:sp>
      <p:sp>
        <p:nvSpPr>
          <p:cNvPr id="26" name="Freeform 26"/>
          <p:cNvSpPr/>
          <p:nvPr/>
        </p:nvSpPr>
        <p:spPr>
          <a:xfrm>
            <a:off x="9067779" y="3683682"/>
            <a:ext cx="2743200" cy="933450"/>
          </a:xfrm>
          <a:custGeom>
            <a:avLst/>
            <a:gdLst/>
            <a:ahLst/>
            <a:cxnLst/>
            <a:rect l="l" t="t" r="r" b="b"/>
            <a:pathLst>
              <a:path w="2743200" h="933450">
                <a:moveTo>
                  <a:pt x="76197" y="0"/>
                </a:moveTo>
                <a:lnTo>
                  <a:pt x="2667003" y="0"/>
                </a:lnTo>
                <a:cubicBezTo>
                  <a:pt x="2709085" y="0"/>
                  <a:pt x="2743200" y="34115"/>
                  <a:pt x="2743200" y="76197"/>
                </a:cubicBezTo>
                <a:lnTo>
                  <a:pt x="2743200" y="857253"/>
                </a:lnTo>
                <a:cubicBezTo>
                  <a:pt x="2743200" y="899335"/>
                  <a:pt x="2709085" y="933450"/>
                  <a:pt x="2667003" y="933450"/>
                </a:cubicBezTo>
                <a:lnTo>
                  <a:pt x="76197" y="933450"/>
                </a:lnTo>
                <a:cubicBezTo>
                  <a:pt x="34115" y="933450"/>
                  <a:pt x="0" y="899335"/>
                  <a:pt x="0" y="857253"/>
                </a:cubicBezTo>
                <a:lnTo>
                  <a:pt x="0" y="76197"/>
                </a:lnTo>
                <a:cubicBezTo>
                  <a:pt x="0" y="34115"/>
                  <a:pt x="34115"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10316733" y="3853923"/>
            <a:ext cx="250031" cy="250033"/>
          </a:xfrm>
          <a:custGeom>
            <a:avLst/>
            <a:gdLst/>
            <a:ahLst/>
            <a:cxnLst/>
            <a:rect l="l" t="t" r="r" b="b"/>
            <a:pathLst>
              <a:path w="250031" h="250033">
                <a:moveTo>
                  <a:pt x="142875" y="17860"/>
                </a:moveTo>
                <a:cubicBezTo>
                  <a:pt x="142875" y="7980"/>
                  <a:pt x="134894" y="0"/>
                  <a:pt x="125016" y="0"/>
                </a:cubicBezTo>
                <a:cubicBezTo>
                  <a:pt x="115137" y="0"/>
                  <a:pt x="107156" y="7980"/>
                  <a:pt x="107156" y="17860"/>
                </a:cubicBezTo>
                <a:lnTo>
                  <a:pt x="107156" y="107157"/>
                </a:lnTo>
                <a:lnTo>
                  <a:pt x="17859" y="107157"/>
                </a:lnTo>
                <a:cubicBezTo>
                  <a:pt x="7981" y="107157"/>
                  <a:pt x="0" y="115138"/>
                  <a:pt x="0" y="125016"/>
                </a:cubicBezTo>
                <a:cubicBezTo>
                  <a:pt x="0" y="134894"/>
                  <a:pt x="7981" y="142875"/>
                  <a:pt x="17859" y="142875"/>
                </a:cubicBezTo>
                <a:lnTo>
                  <a:pt x="107156" y="142875"/>
                </a:lnTo>
                <a:lnTo>
                  <a:pt x="107156" y="232172"/>
                </a:lnTo>
                <a:cubicBezTo>
                  <a:pt x="107156" y="242052"/>
                  <a:pt x="115137" y="250032"/>
                  <a:pt x="125016" y="250032"/>
                </a:cubicBezTo>
                <a:cubicBezTo>
                  <a:pt x="134894" y="250032"/>
                  <a:pt x="142875" y="242052"/>
                  <a:pt x="142875" y="232172"/>
                </a:cubicBezTo>
                <a:lnTo>
                  <a:pt x="142875" y="142875"/>
                </a:lnTo>
                <a:lnTo>
                  <a:pt x="232173" y="142875"/>
                </a:lnTo>
                <a:cubicBezTo>
                  <a:pt x="242051" y="142875"/>
                  <a:pt x="250031" y="134894"/>
                  <a:pt x="250031" y="125016"/>
                </a:cubicBezTo>
                <a:cubicBezTo>
                  <a:pt x="250031" y="115138"/>
                  <a:pt x="242051" y="107157"/>
                  <a:pt x="232173" y="107157"/>
                </a:cubicBezTo>
                <a:lnTo>
                  <a:pt x="142875" y="107157"/>
                </a:lnTo>
                <a:lnTo>
                  <a:pt x="142875" y="1786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9182062" y="4197986"/>
            <a:ext cx="2514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Plus...</a:t>
            </a:r>
            <a:endParaRPr lang="en-US" sz="1100"/>
          </a:p>
        </p:txBody>
      </p:sp>
      <p:sp>
        <p:nvSpPr>
          <p:cNvPr id="29" name="Freeform 29"/>
          <p:cNvSpPr/>
          <p:nvPr/>
        </p:nvSpPr>
        <p:spPr>
          <a:xfrm>
            <a:off x="380956" y="4845425"/>
            <a:ext cx="11430000" cy="1104900"/>
          </a:xfrm>
          <a:custGeom>
            <a:avLst/>
            <a:gdLst/>
            <a:ahLst/>
            <a:cxnLst/>
            <a:rect l="l" t="t" r="r" b="b"/>
            <a:pathLst>
              <a:path w="11430000" h="1104900">
                <a:moveTo>
                  <a:pt x="76205" y="0"/>
                </a:moveTo>
                <a:lnTo>
                  <a:pt x="11353795" y="0"/>
                </a:lnTo>
                <a:cubicBezTo>
                  <a:pt x="11395881" y="0"/>
                  <a:pt x="11430000" y="34119"/>
                  <a:pt x="11430000" y="76205"/>
                </a:cubicBezTo>
                <a:lnTo>
                  <a:pt x="11430000" y="1028695"/>
                </a:lnTo>
                <a:cubicBezTo>
                  <a:pt x="11430000" y="1070781"/>
                  <a:pt x="11395881" y="1104900"/>
                  <a:pt x="11353795" y="1104900"/>
                </a:cubicBezTo>
                <a:lnTo>
                  <a:pt x="76205" y="1104900"/>
                </a:lnTo>
                <a:cubicBezTo>
                  <a:pt x="34119" y="1104900"/>
                  <a:pt x="0" y="1070781"/>
                  <a:pt x="0" y="1028695"/>
                </a:cubicBezTo>
                <a:lnTo>
                  <a:pt x="0" y="76205"/>
                </a:lnTo>
                <a:cubicBezTo>
                  <a:pt x="0" y="34146"/>
                  <a:pt x="34146" y="0"/>
                  <a:pt x="762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52391" y="5226304"/>
            <a:ext cx="342900" cy="342900"/>
          </a:xfrm>
          <a:custGeom>
            <a:avLst/>
            <a:gdLst/>
            <a:ahLst/>
            <a:cxnLst/>
            <a:rect l="l" t="t" r="r" b="b"/>
            <a:pathLst>
              <a:path w="342900" h="342900">
                <a:moveTo>
                  <a:pt x="300037" y="171450"/>
                </a:moveTo>
                <a:cubicBezTo>
                  <a:pt x="300037" y="100481"/>
                  <a:pt x="242419" y="42862"/>
                  <a:pt x="171450" y="42862"/>
                </a:cubicBezTo>
                <a:cubicBezTo>
                  <a:pt x="100481" y="42862"/>
                  <a:pt x="42863" y="100481"/>
                  <a:pt x="42863" y="171450"/>
                </a:cubicBezTo>
                <a:cubicBezTo>
                  <a:pt x="42863" y="242419"/>
                  <a:pt x="100481" y="300038"/>
                  <a:pt x="171450" y="300038"/>
                </a:cubicBezTo>
                <a:cubicBezTo>
                  <a:pt x="242419" y="300038"/>
                  <a:pt x="300037" y="242419"/>
                  <a:pt x="300037" y="171450"/>
                </a:cubicBezTo>
                <a:close/>
                <a:moveTo>
                  <a:pt x="0" y="171450"/>
                </a:moveTo>
                <a:cubicBezTo>
                  <a:pt x="0" y="76824"/>
                  <a:pt x="76824" y="0"/>
                  <a:pt x="171450" y="0"/>
                </a:cubicBezTo>
                <a:cubicBezTo>
                  <a:pt x="266076" y="0"/>
                  <a:pt x="342900" y="76824"/>
                  <a:pt x="342900" y="171450"/>
                </a:cubicBezTo>
                <a:cubicBezTo>
                  <a:pt x="342900" y="266076"/>
                  <a:pt x="266076" y="342900"/>
                  <a:pt x="171450" y="342900"/>
                </a:cubicBezTo>
                <a:cubicBezTo>
                  <a:pt x="76824" y="342900"/>
                  <a:pt x="0" y="266076"/>
                  <a:pt x="0" y="171450"/>
                </a:cubicBezTo>
                <a:close/>
                <a:moveTo>
                  <a:pt x="171450" y="225027"/>
                </a:moveTo>
                <a:cubicBezTo>
                  <a:pt x="201021" y="225027"/>
                  <a:pt x="225027" y="201021"/>
                  <a:pt x="225027" y="171450"/>
                </a:cubicBezTo>
                <a:cubicBezTo>
                  <a:pt x="225027" y="141879"/>
                  <a:pt x="201021" y="117873"/>
                  <a:pt x="171450" y="117873"/>
                </a:cubicBezTo>
                <a:cubicBezTo>
                  <a:pt x="141879" y="117873"/>
                  <a:pt x="117873" y="141879"/>
                  <a:pt x="117873" y="171450"/>
                </a:cubicBezTo>
                <a:cubicBezTo>
                  <a:pt x="117873" y="201021"/>
                  <a:pt x="141879" y="225027"/>
                  <a:pt x="171450" y="225027"/>
                </a:cubicBezTo>
                <a:close/>
                <a:moveTo>
                  <a:pt x="171450" y="75009"/>
                </a:moveTo>
                <a:cubicBezTo>
                  <a:pt x="224677" y="75009"/>
                  <a:pt x="267891" y="118223"/>
                  <a:pt x="267891" y="171450"/>
                </a:cubicBezTo>
                <a:cubicBezTo>
                  <a:pt x="267891" y="224677"/>
                  <a:pt x="224677" y="267891"/>
                  <a:pt x="171450" y="267891"/>
                </a:cubicBezTo>
                <a:cubicBezTo>
                  <a:pt x="118223" y="267891"/>
                  <a:pt x="75009" y="224677"/>
                  <a:pt x="75009" y="171450"/>
                </a:cubicBezTo>
                <a:cubicBezTo>
                  <a:pt x="75009" y="118223"/>
                  <a:pt x="118223" y="75009"/>
                  <a:pt x="171450" y="75009"/>
                </a:cubicBezTo>
                <a:close/>
                <a:moveTo>
                  <a:pt x="150019" y="171450"/>
                </a:moveTo>
                <a:cubicBezTo>
                  <a:pt x="150019" y="159622"/>
                  <a:pt x="159622" y="150019"/>
                  <a:pt x="171450" y="150019"/>
                </a:cubicBezTo>
                <a:cubicBezTo>
                  <a:pt x="183278" y="150019"/>
                  <a:pt x="192881" y="159622"/>
                  <a:pt x="192881" y="171450"/>
                </a:cubicBezTo>
                <a:cubicBezTo>
                  <a:pt x="192881" y="183278"/>
                  <a:pt x="183278" y="192881"/>
                  <a:pt x="171450" y="192881"/>
                </a:cubicBezTo>
                <a:cubicBezTo>
                  <a:pt x="159622" y="192881"/>
                  <a:pt x="150019" y="183278"/>
                  <a:pt x="150019" y="1714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1200002" y="4994622"/>
            <a:ext cx="46863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Objectif</a:t>
            </a:r>
            <a:endParaRPr lang="en-US" sz="1100"/>
          </a:p>
        </p:txBody>
      </p:sp>
      <p:sp>
        <p:nvSpPr>
          <p:cNvPr id="32" name="AutoShape 32"/>
          <p:cNvSpPr/>
          <p:nvPr/>
        </p:nvSpPr>
        <p:spPr>
          <a:xfrm>
            <a:off x="1190625" y="5446395"/>
            <a:ext cx="985901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Garantir le fonctionnement correct sur diff</a:t>
            </a:r>
            <a:r>
              <a:rPr lang="en-US" altLang="en-US"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rentes plateformes mat</a:t>
            </a:r>
            <a:r>
              <a:rPr lang="en-US" altLang="en-US"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rielles, offrir une exp</a:t>
            </a:r>
            <a:r>
              <a:rPr lang="en-US" altLang="en-US"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rience de d</a:t>
            </a:r>
            <a:r>
              <a:rPr lang="en-US" altLang="en-US"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veloppement unifi</a:t>
            </a:r>
            <a:r>
              <a:rPr lang="en-US" altLang="en-US"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820166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altLang="en-US" sz="3200"/>
              <a:t>É</a:t>
            </a:r>
            <a:r>
              <a:rPr lang="en-US" altLang="zh-CN" sz="3200"/>
              <a:t>tapes du flux de travail CI</a:t>
            </a:r>
            <a:endParaRPr lang="en-US" altLang="zh-CN" sz="3200"/>
          </a:p>
        </p:txBody>
      </p:sp>
      <p:sp>
        <p:nvSpPr>
          <p:cNvPr id="3" name="AutoShape 3"/>
          <p:cNvSpPr/>
          <p:nvPr/>
        </p:nvSpPr>
        <p:spPr>
          <a:xfrm>
            <a:off x="380956" y="1640877"/>
            <a:ext cx="11525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Flux de travail CI typique</a:t>
            </a:r>
            <a:endParaRPr lang="en-US" sz="1100"/>
          </a:p>
        </p:txBody>
      </p:sp>
      <p:sp>
        <p:nvSpPr>
          <p:cNvPr id="4" name="Freeform 4"/>
          <p:cNvSpPr/>
          <p:nvPr/>
        </p:nvSpPr>
        <p:spPr>
          <a:xfrm>
            <a:off x="1182343" y="210314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1350514" y="2312423"/>
            <a:ext cx="192063" cy="202405"/>
          </a:xfrm>
          <a:custGeom>
            <a:avLst/>
            <a:gdLst/>
            <a:ahLst/>
            <a:cxnLst/>
            <a:rect l="l" t="t" r="r" b="b"/>
            <a:pathLst>
              <a:path w="192063" h="202405">
                <a:moveTo>
                  <a:pt x="73262" y="9486"/>
                </a:moveTo>
                <a:cubicBezTo>
                  <a:pt x="74378" y="3980"/>
                  <a:pt x="79252" y="0"/>
                  <a:pt x="84908" y="0"/>
                </a:cubicBezTo>
                <a:lnTo>
                  <a:pt x="107158" y="0"/>
                </a:lnTo>
                <a:cubicBezTo>
                  <a:pt x="112813" y="0"/>
                  <a:pt x="117688" y="3980"/>
                  <a:pt x="118803" y="9486"/>
                </a:cubicBezTo>
                <a:lnTo>
                  <a:pt x="124198" y="35532"/>
                </a:lnTo>
                <a:cubicBezTo>
                  <a:pt x="129445" y="37764"/>
                  <a:pt x="134356" y="40629"/>
                  <a:pt x="138822" y="44015"/>
                </a:cubicBezTo>
                <a:lnTo>
                  <a:pt x="164048" y="35643"/>
                </a:lnTo>
                <a:cubicBezTo>
                  <a:pt x="169404" y="33856"/>
                  <a:pt x="175285" y="36090"/>
                  <a:pt x="178112" y="41001"/>
                </a:cubicBezTo>
                <a:lnTo>
                  <a:pt x="189236" y="60274"/>
                </a:lnTo>
                <a:cubicBezTo>
                  <a:pt x="192064" y="65186"/>
                  <a:pt x="191059" y="71362"/>
                  <a:pt x="186817" y="75120"/>
                </a:cubicBezTo>
                <a:lnTo>
                  <a:pt x="166986" y="92756"/>
                </a:lnTo>
                <a:cubicBezTo>
                  <a:pt x="167320" y="95509"/>
                  <a:pt x="167470" y="98337"/>
                  <a:pt x="167470" y="101202"/>
                </a:cubicBezTo>
                <a:cubicBezTo>
                  <a:pt x="167470" y="104067"/>
                  <a:pt x="167284" y="106895"/>
                  <a:pt x="166986" y="109648"/>
                </a:cubicBezTo>
                <a:lnTo>
                  <a:pt x="186856" y="127321"/>
                </a:lnTo>
                <a:cubicBezTo>
                  <a:pt x="191097" y="131079"/>
                  <a:pt x="192064" y="137293"/>
                  <a:pt x="189274" y="142167"/>
                </a:cubicBezTo>
                <a:lnTo>
                  <a:pt x="178148" y="161439"/>
                </a:lnTo>
                <a:cubicBezTo>
                  <a:pt x="175321" y="166314"/>
                  <a:pt x="169443" y="168584"/>
                  <a:pt x="164084" y="166798"/>
                </a:cubicBezTo>
                <a:lnTo>
                  <a:pt x="138858" y="158426"/>
                </a:lnTo>
                <a:cubicBezTo>
                  <a:pt x="134356" y="161811"/>
                  <a:pt x="129445" y="164640"/>
                  <a:pt x="124236" y="166911"/>
                </a:cubicBezTo>
                <a:lnTo>
                  <a:pt x="118878" y="192918"/>
                </a:lnTo>
                <a:cubicBezTo>
                  <a:pt x="117724" y="198461"/>
                  <a:pt x="112850" y="202404"/>
                  <a:pt x="107232" y="202404"/>
                </a:cubicBezTo>
                <a:lnTo>
                  <a:pt x="84982" y="202404"/>
                </a:lnTo>
                <a:cubicBezTo>
                  <a:pt x="79327" y="202404"/>
                  <a:pt x="74453" y="198424"/>
                  <a:pt x="73337" y="192918"/>
                </a:cubicBezTo>
                <a:lnTo>
                  <a:pt x="67978" y="166911"/>
                </a:lnTo>
                <a:cubicBezTo>
                  <a:pt x="62732" y="164677"/>
                  <a:pt x="57858" y="161811"/>
                  <a:pt x="53356" y="158426"/>
                </a:cubicBezTo>
                <a:lnTo>
                  <a:pt x="28018" y="166798"/>
                </a:lnTo>
                <a:cubicBezTo>
                  <a:pt x="22660" y="168584"/>
                  <a:pt x="16782" y="166352"/>
                  <a:pt x="13954" y="161439"/>
                </a:cubicBezTo>
                <a:lnTo>
                  <a:pt x="2829" y="142167"/>
                </a:lnTo>
                <a:cubicBezTo>
                  <a:pt x="0" y="137256"/>
                  <a:pt x="1006" y="131079"/>
                  <a:pt x="5247" y="127321"/>
                </a:cubicBezTo>
                <a:lnTo>
                  <a:pt x="25116" y="109648"/>
                </a:lnTo>
                <a:cubicBezTo>
                  <a:pt x="24781" y="106895"/>
                  <a:pt x="24632" y="104067"/>
                  <a:pt x="24632" y="101202"/>
                </a:cubicBezTo>
                <a:cubicBezTo>
                  <a:pt x="24632" y="98337"/>
                  <a:pt x="24818" y="95509"/>
                  <a:pt x="25116" y="92756"/>
                </a:cubicBezTo>
                <a:lnTo>
                  <a:pt x="5247" y="75083"/>
                </a:lnTo>
                <a:cubicBezTo>
                  <a:pt x="1006" y="71325"/>
                  <a:pt x="39" y="65111"/>
                  <a:pt x="2829" y="60237"/>
                </a:cubicBezTo>
                <a:lnTo>
                  <a:pt x="13954" y="40965"/>
                </a:lnTo>
                <a:cubicBezTo>
                  <a:pt x="16782" y="36052"/>
                  <a:pt x="22660" y="33820"/>
                  <a:pt x="28018" y="35606"/>
                </a:cubicBezTo>
                <a:lnTo>
                  <a:pt x="53245" y="43978"/>
                </a:lnTo>
                <a:cubicBezTo>
                  <a:pt x="57747" y="40593"/>
                  <a:pt x="62658" y="37764"/>
                  <a:pt x="67867" y="35493"/>
                </a:cubicBezTo>
                <a:lnTo>
                  <a:pt x="73262" y="9486"/>
                </a:lnTo>
                <a:close/>
                <a:moveTo>
                  <a:pt x="96033" y="130968"/>
                </a:moveTo>
                <a:cubicBezTo>
                  <a:pt x="106666" y="130928"/>
                  <a:pt x="116472" y="125218"/>
                  <a:pt x="121755" y="115989"/>
                </a:cubicBezTo>
                <a:cubicBezTo>
                  <a:pt x="127037" y="106760"/>
                  <a:pt x="126995" y="95412"/>
                  <a:pt x="121644" y="86224"/>
                </a:cubicBezTo>
                <a:cubicBezTo>
                  <a:pt x="116291" y="77033"/>
                  <a:pt x="106444" y="71396"/>
                  <a:pt x="95809" y="71436"/>
                </a:cubicBezTo>
                <a:cubicBezTo>
                  <a:pt x="85176" y="71476"/>
                  <a:pt x="75370" y="77186"/>
                  <a:pt x="70087" y="86415"/>
                </a:cubicBezTo>
                <a:cubicBezTo>
                  <a:pt x="64805" y="95644"/>
                  <a:pt x="64847" y="106992"/>
                  <a:pt x="70198" y="116180"/>
                </a:cubicBezTo>
                <a:cubicBezTo>
                  <a:pt x="75551" y="125371"/>
                  <a:pt x="85398" y="131008"/>
                  <a:pt x="96033" y="13096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219710" y="2667635"/>
            <a:ext cx="25431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Configuration de l'environnement</a:t>
            </a:r>
            <a:endParaRPr lang="en-US" sz="1100"/>
          </a:p>
        </p:txBody>
      </p:sp>
      <p:sp>
        <p:nvSpPr>
          <p:cNvPr id="7" name="AutoShape 7"/>
          <p:cNvSpPr/>
          <p:nvPr/>
        </p:nvSpPr>
        <p:spPr>
          <a:xfrm>
            <a:off x="348888"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Setup</a:t>
            </a:r>
            <a:endParaRPr lang="en-US" sz="1100"/>
          </a:p>
        </p:txBody>
      </p:sp>
      <p:sp>
        <p:nvSpPr>
          <p:cNvPr id="8" name="Freeform 8"/>
          <p:cNvSpPr/>
          <p:nvPr/>
        </p:nvSpPr>
        <p:spPr>
          <a:xfrm>
            <a:off x="2533653" y="2516112"/>
            <a:ext cx="153323" cy="116205"/>
          </a:xfrm>
          <a:custGeom>
            <a:avLst/>
            <a:gdLst/>
            <a:ahLst/>
            <a:cxnLst/>
            <a:rect l="l" t="t" r="r" b="b"/>
            <a:pathLst>
              <a:path w="153323" h="116205">
                <a:moveTo>
                  <a:pt x="149602" y="64830"/>
                </a:moveTo>
                <a:cubicBezTo>
                  <a:pt x="153323" y="61109"/>
                  <a:pt x="153323" y="55066"/>
                  <a:pt x="149602" y="51347"/>
                </a:cubicBezTo>
                <a:lnTo>
                  <a:pt x="101977" y="3722"/>
                </a:lnTo>
                <a:cubicBezTo>
                  <a:pt x="98256" y="0"/>
                  <a:pt x="92213" y="0"/>
                  <a:pt x="88494" y="3722"/>
                </a:cubicBezTo>
                <a:cubicBezTo>
                  <a:pt x="84773" y="7441"/>
                  <a:pt x="84773" y="13484"/>
                  <a:pt x="88494" y="17205"/>
                </a:cubicBezTo>
                <a:lnTo>
                  <a:pt x="119866" y="48578"/>
                </a:lnTo>
                <a:lnTo>
                  <a:pt x="9525" y="48578"/>
                </a:lnTo>
                <a:cubicBezTo>
                  <a:pt x="4256" y="48578"/>
                  <a:pt x="0" y="52834"/>
                  <a:pt x="0" y="58103"/>
                </a:cubicBezTo>
                <a:cubicBezTo>
                  <a:pt x="0" y="63372"/>
                  <a:pt x="4256" y="67628"/>
                  <a:pt x="9525" y="67628"/>
                </a:cubicBezTo>
                <a:lnTo>
                  <a:pt x="119866" y="67628"/>
                </a:lnTo>
                <a:lnTo>
                  <a:pt x="88494" y="99001"/>
                </a:lnTo>
                <a:cubicBezTo>
                  <a:pt x="84773" y="102722"/>
                  <a:pt x="84773" y="108765"/>
                  <a:pt x="88494" y="112484"/>
                </a:cubicBezTo>
                <a:cubicBezTo>
                  <a:pt x="92213" y="116205"/>
                  <a:pt x="98256" y="116205"/>
                  <a:pt x="101977" y="112484"/>
                </a:cubicBezTo>
                <a:lnTo>
                  <a:pt x="149602" y="6485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3505235" y="205996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3688524" y="2231380"/>
            <a:ext cx="166688" cy="178594"/>
          </a:xfrm>
          <a:custGeom>
            <a:avLst/>
            <a:gdLst/>
            <a:ahLst/>
            <a:cxnLst/>
            <a:rect l="l" t="t" r="r" b="b"/>
            <a:pathLst>
              <a:path w="166688" h="178594">
                <a:moveTo>
                  <a:pt x="95250" y="11906"/>
                </a:moveTo>
                <a:cubicBezTo>
                  <a:pt x="95250" y="5321"/>
                  <a:pt x="89929" y="0"/>
                  <a:pt x="83344" y="0"/>
                </a:cubicBezTo>
                <a:cubicBezTo>
                  <a:pt x="76758" y="0"/>
                  <a:pt x="71438" y="5321"/>
                  <a:pt x="71438" y="11906"/>
                </a:cubicBezTo>
                <a:lnTo>
                  <a:pt x="71438" y="90301"/>
                </a:lnTo>
                <a:lnTo>
                  <a:pt x="56034" y="74898"/>
                </a:lnTo>
                <a:cubicBezTo>
                  <a:pt x="51383" y="70248"/>
                  <a:pt x="43830" y="70248"/>
                  <a:pt x="39179" y="74898"/>
                </a:cubicBezTo>
                <a:cubicBezTo>
                  <a:pt x="34527" y="79549"/>
                  <a:pt x="34527" y="87102"/>
                  <a:pt x="39179" y="91752"/>
                </a:cubicBezTo>
                <a:lnTo>
                  <a:pt x="74898" y="127471"/>
                </a:lnTo>
                <a:cubicBezTo>
                  <a:pt x="79549" y="132122"/>
                  <a:pt x="87102" y="132122"/>
                  <a:pt x="91752" y="127471"/>
                </a:cubicBezTo>
                <a:lnTo>
                  <a:pt x="127471" y="91752"/>
                </a:lnTo>
                <a:cubicBezTo>
                  <a:pt x="132122" y="87102"/>
                  <a:pt x="132122" y="79549"/>
                  <a:pt x="127471" y="74898"/>
                </a:cubicBezTo>
                <a:cubicBezTo>
                  <a:pt x="122820" y="70248"/>
                  <a:pt x="115266" y="70248"/>
                  <a:pt x="110617" y="74898"/>
                </a:cubicBezTo>
                <a:lnTo>
                  <a:pt x="95250" y="90301"/>
                </a:lnTo>
                <a:lnTo>
                  <a:pt x="95250" y="11906"/>
                </a:lnTo>
                <a:close/>
                <a:moveTo>
                  <a:pt x="23812" y="119062"/>
                </a:moveTo>
                <a:cubicBezTo>
                  <a:pt x="10678" y="119062"/>
                  <a:pt x="0" y="129741"/>
                  <a:pt x="0" y="142875"/>
                </a:cubicBezTo>
                <a:lnTo>
                  <a:pt x="0" y="154781"/>
                </a:lnTo>
                <a:cubicBezTo>
                  <a:pt x="0" y="167916"/>
                  <a:pt x="10678" y="178594"/>
                  <a:pt x="23812" y="178594"/>
                </a:cubicBezTo>
                <a:lnTo>
                  <a:pt x="142875" y="178594"/>
                </a:lnTo>
                <a:cubicBezTo>
                  <a:pt x="156009" y="178594"/>
                  <a:pt x="166688" y="167916"/>
                  <a:pt x="166688" y="154781"/>
                </a:cubicBezTo>
                <a:lnTo>
                  <a:pt x="166688" y="142875"/>
                </a:lnTo>
                <a:cubicBezTo>
                  <a:pt x="166688" y="129741"/>
                  <a:pt x="156009" y="119062"/>
                  <a:pt x="142875" y="119062"/>
                </a:cubicBezTo>
                <a:lnTo>
                  <a:pt x="125425" y="119062"/>
                </a:lnTo>
                <a:lnTo>
                  <a:pt x="104366" y="140122"/>
                </a:lnTo>
                <a:cubicBezTo>
                  <a:pt x="92757" y="151729"/>
                  <a:pt x="73892" y="151729"/>
                  <a:pt x="62285" y="140122"/>
                </a:cubicBezTo>
                <a:lnTo>
                  <a:pt x="41264" y="119062"/>
                </a:lnTo>
                <a:lnTo>
                  <a:pt x="23812" y="119062"/>
                </a:lnTo>
                <a:close/>
                <a:moveTo>
                  <a:pt x="136923" y="139898"/>
                </a:moveTo>
                <a:cubicBezTo>
                  <a:pt x="141850" y="139898"/>
                  <a:pt x="145852" y="143900"/>
                  <a:pt x="145852" y="148827"/>
                </a:cubicBezTo>
                <a:cubicBezTo>
                  <a:pt x="145852" y="153758"/>
                  <a:pt x="141850" y="157758"/>
                  <a:pt x="136923" y="157758"/>
                </a:cubicBezTo>
                <a:cubicBezTo>
                  <a:pt x="131992" y="157758"/>
                  <a:pt x="127992" y="153758"/>
                  <a:pt x="127992" y="148827"/>
                </a:cubicBezTo>
                <a:cubicBezTo>
                  <a:pt x="127992" y="143900"/>
                  <a:pt x="131992" y="139898"/>
                  <a:pt x="136923" y="13989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2666944" y="2669502"/>
            <a:ext cx="2209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Recuperation du code</a:t>
            </a:r>
            <a:endParaRPr lang="en-US" sz="1100"/>
          </a:p>
        </p:txBody>
      </p:sp>
      <p:sp>
        <p:nvSpPr>
          <p:cNvPr id="12" name="AutoShape 12"/>
          <p:cNvSpPr/>
          <p:nvPr/>
        </p:nvSpPr>
        <p:spPr>
          <a:xfrm>
            <a:off x="2671706"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Checkout</a:t>
            </a:r>
            <a:endParaRPr lang="en-US" sz="1100"/>
          </a:p>
        </p:txBody>
      </p:sp>
      <p:sp>
        <p:nvSpPr>
          <p:cNvPr id="13" name="Freeform 13"/>
          <p:cNvSpPr/>
          <p:nvPr/>
        </p:nvSpPr>
        <p:spPr>
          <a:xfrm>
            <a:off x="4857815" y="2516112"/>
            <a:ext cx="153323" cy="116205"/>
          </a:xfrm>
          <a:custGeom>
            <a:avLst/>
            <a:gdLst/>
            <a:ahLst/>
            <a:cxnLst/>
            <a:rect l="l" t="t" r="r" b="b"/>
            <a:pathLst>
              <a:path w="153323" h="116205">
                <a:moveTo>
                  <a:pt x="149602" y="64830"/>
                </a:moveTo>
                <a:cubicBezTo>
                  <a:pt x="153323" y="61109"/>
                  <a:pt x="153323" y="55066"/>
                  <a:pt x="149602" y="51347"/>
                </a:cubicBezTo>
                <a:lnTo>
                  <a:pt x="101977" y="3722"/>
                </a:lnTo>
                <a:cubicBezTo>
                  <a:pt x="98256" y="0"/>
                  <a:pt x="92213" y="0"/>
                  <a:pt x="88494" y="3722"/>
                </a:cubicBezTo>
                <a:cubicBezTo>
                  <a:pt x="84773" y="7441"/>
                  <a:pt x="84773" y="13484"/>
                  <a:pt x="88494" y="17205"/>
                </a:cubicBezTo>
                <a:lnTo>
                  <a:pt x="119866" y="48578"/>
                </a:lnTo>
                <a:lnTo>
                  <a:pt x="9525" y="48578"/>
                </a:lnTo>
                <a:cubicBezTo>
                  <a:pt x="4256" y="48578"/>
                  <a:pt x="0" y="52834"/>
                  <a:pt x="0" y="58103"/>
                </a:cubicBezTo>
                <a:cubicBezTo>
                  <a:pt x="0" y="63372"/>
                  <a:pt x="4256" y="67628"/>
                  <a:pt x="9525" y="67628"/>
                </a:cubicBezTo>
                <a:lnTo>
                  <a:pt x="119866" y="67628"/>
                </a:lnTo>
                <a:lnTo>
                  <a:pt x="88494" y="99001"/>
                </a:lnTo>
                <a:cubicBezTo>
                  <a:pt x="84773" y="102722"/>
                  <a:pt x="84773" y="108765"/>
                  <a:pt x="88494" y="112484"/>
                </a:cubicBezTo>
                <a:cubicBezTo>
                  <a:pt x="92213" y="116205"/>
                  <a:pt x="98256" y="116205"/>
                  <a:pt x="101977" y="112484"/>
                </a:cubicBezTo>
                <a:lnTo>
                  <a:pt x="149602" y="6485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829324" y="205996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024518" y="2231380"/>
            <a:ext cx="142875" cy="190500"/>
          </a:xfrm>
          <a:custGeom>
            <a:avLst/>
            <a:gdLst/>
            <a:ahLst/>
            <a:cxnLst/>
            <a:rect l="l" t="t" r="r" b="b"/>
            <a:pathLst>
              <a:path w="142875" h="190500">
                <a:moveTo>
                  <a:pt x="0" y="23812"/>
                </a:moveTo>
                <a:cubicBezTo>
                  <a:pt x="0" y="10678"/>
                  <a:pt x="10678" y="0"/>
                  <a:pt x="23812" y="0"/>
                </a:cubicBezTo>
                <a:lnTo>
                  <a:pt x="79437" y="0"/>
                </a:lnTo>
                <a:cubicBezTo>
                  <a:pt x="85762" y="0"/>
                  <a:pt x="91827" y="2493"/>
                  <a:pt x="96291" y="6958"/>
                </a:cubicBezTo>
                <a:lnTo>
                  <a:pt x="135917" y="46620"/>
                </a:lnTo>
                <a:cubicBezTo>
                  <a:pt x="140382" y="51084"/>
                  <a:pt x="142875" y="57150"/>
                  <a:pt x="142875" y="63475"/>
                </a:cubicBezTo>
                <a:lnTo>
                  <a:pt x="142875" y="166688"/>
                </a:lnTo>
                <a:cubicBezTo>
                  <a:pt x="142875" y="179822"/>
                  <a:pt x="132197" y="190500"/>
                  <a:pt x="119062" y="190500"/>
                </a:cubicBezTo>
                <a:lnTo>
                  <a:pt x="23812" y="190500"/>
                </a:lnTo>
                <a:cubicBezTo>
                  <a:pt x="10678" y="190500"/>
                  <a:pt x="0" y="179822"/>
                  <a:pt x="0" y="166688"/>
                </a:cubicBezTo>
                <a:lnTo>
                  <a:pt x="0" y="23812"/>
                </a:lnTo>
                <a:close/>
                <a:moveTo>
                  <a:pt x="77391" y="21767"/>
                </a:moveTo>
                <a:lnTo>
                  <a:pt x="77391" y="56554"/>
                </a:lnTo>
                <a:cubicBezTo>
                  <a:pt x="77391" y="61504"/>
                  <a:pt x="81371" y="65484"/>
                  <a:pt x="86321" y="65484"/>
                </a:cubicBezTo>
                <a:lnTo>
                  <a:pt x="121108" y="65484"/>
                </a:lnTo>
                <a:lnTo>
                  <a:pt x="77391" y="21767"/>
                </a:lnTo>
                <a:close/>
                <a:moveTo>
                  <a:pt x="44648" y="95250"/>
                </a:moveTo>
                <a:cubicBezTo>
                  <a:pt x="39700" y="95250"/>
                  <a:pt x="35719" y="99231"/>
                  <a:pt x="35719" y="104179"/>
                </a:cubicBezTo>
                <a:cubicBezTo>
                  <a:pt x="35719" y="109129"/>
                  <a:pt x="39700" y="113109"/>
                  <a:pt x="44648" y="113109"/>
                </a:cubicBezTo>
                <a:lnTo>
                  <a:pt x="98227" y="113109"/>
                </a:lnTo>
                <a:cubicBezTo>
                  <a:pt x="103175" y="113109"/>
                  <a:pt x="107156" y="109129"/>
                  <a:pt x="107156" y="104179"/>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7"/>
                  <a:pt x="44648" y="148827"/>
                </a:cubicBezTo>
                <a:lnTo>
                  <a:pt x="98227" y="148827"/>
                </a:lnTo>
                <a:cubicBezTo>
                  <a:pt x="103175" y="148827"/>
                  <a:pt x="107156" y="144847"/>
                  <a:pt x="107156" y="139898"/>
                </a:cubicBezTo>
                <a:cubicBezTo>
                  <a:pt x="107156" y="134950"/>
                  <a:pt x="103175" y="130969"/>
                  <a:pt x="98227" y="130969"/>
                </a:cubicBezTo>
                <a:lnTo>
                  <a:pt x="44648" y="13096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991106" y="2669502"/>
            <a:ext cx="2209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Verification documentation</a:t>
            </a:r>
            <a:endParaRPr lang="en-US" sz="1100"/>
          </a:p>
        </p:txBody>
      </p:sp>
      <p:sp>
        <p:nvSpPr>
          <p:cNvPr id="17" name="AutoShape 17"/>
          <p:cNvSpPr/>
          <p:nvPr/>
        </p:nvSpPr>
        <p:spPr>
          <a:xfrm>
            <a:off x="4995868"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Docs</a:t>
            </a:r>
            <a:endParaRPr lang="en-US" sz="1100"/>
          </a:p>
        </p:txBody>
      </p:sp>
      <p:sp>
        <p:nvSpPr>
          <p:cNvPr id="18" name="Freeform 18"/>
          <p:cNvSpPr/>
          <p:nvPr/>
        </p:nvSpPr>
        <p:spPr>
          <a:xfrm>
            <a:off x="7181903" y="2516112"/>
            <a:ext cx="153323" cy="116205"/>
          </a:xfrm>
          <a:custGeom>
            <a:avLst/>
            <a:gdLst/>
            <a:ahLst/>
            <a:cxnLst/>
            <a:rect l="l" t="t" r="r" b="b"/>
            <a:pathLst>
              <a:path w="153323" h="116205">
                <a:moveTo>
                  <a:pt x="149602" y="64830"/>
                </a:moveTo>
                <a:cubicBezTo>
                  <a:pt x="153323" y="61109"/>
                  <a:pt x="153323" y="55066"/>
                  <a:pt x="149602" y="51347"/>
                </a:cubicBezTo>
                <a:lnTo>
                  <a:pt x="101977" y="3722"/>
                </a:lnTo>
                <a:cubicBezTo>
                  <a:pt x="98256" y="0"/>
                  <a:pt x="92213" y="0"/>
                  <a:pt x="88494" y="3722"/>
                </a:cubicBezTo>
                <a:cubicBezTo>
                  <a:pt x="84772" y="7441"/>
                  <a:pt x="84772" y="13484"/>
                  <a:pt x="88494" y="17205"/>
                </a:cubicBezTo>
                <a:lnTo>
                  <a:pt x="119866" y="48578"/>
                </a:lnTo>
                <a:lnTo>
                  <a:pt x="9525" y="48578"/>
                </a:lnTo>
                <a:cubicBezTo>
                  <a:pt x="4256" y="48578"/>
                  <a:pt x="0" y="52834"/>
                  <a:pt x="0" y="58103"/>
                </a:cubicBezTo>
                <a:cubicBezTo>
                  <a:pt x="0" y="63372"/>
                  <a:pt x="4256" y="67628"/>
                  <a:pt x="9525" y="67628"/>
                </a:cubicBezTo>
                <a:lnTo>
                  <a:pt x="119866" y="67628"/>
                </a:lnTo>
                <a:lnTo>
                  <a:pt x="88494" y="99001"/>
                </a:lnTo>
                <a:cubicBezTo>
                  <a:pt x="84772" y="102722"/>
                  <a:pt x="84772" y="108765"/>
                  <a:pt x="88494" y="112484"/>
                </a:cubicBezTo>
                <a:cubicBezTo>
                  <a:pt x="92213" y="116205"/>
                  <a:pt x="98256" y="116205"/>
                  <a:pt x="101977" y="112484"/>
                </a:cubicBezTo>
                <a:lnTo>
                  <a:pt x="149602" y="6485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8153412" y="205996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8310543" y="2225428"/>
            <a:ext cx="221122" cy="198760"/>
          </a:xfrm>
          <a:custGeom>
            <a:avLst/>
            <a:gdLst/>
            <a:ahLst/>
            <a:cxnLst/>
            <a:rect l="l" t="t" r="r" b="b"/>
            <a:pathLst>
              <a:path w="221122" h="198760">
                <a:moveTo>
                  <a:pt x="82302" y="12760"/>
                </a:moveTo>
                <a:lnTo>
                  <a:pt x="91268" y="7366"/>
                </a:lnTo>
                <a:cubicBezTo>
                  <a:pt x="99306" y="2529"/>
                  <a:pt x="108496" y="0"/>
                  <a:pt x="117872" y="0"/>
                </a:cubicBezTo>
                <a:cubicBezTo>
                  <a:pt x="131564" y="0"/>
                  <a:pt x="144735" y="5431"/>
                  <a:pt x="154409" y="15142"/>
                </a:cubicBezTo>
                <a:lnTo>
                  <a:pt x="178185" y="38917"/>
                </a:lnTo>
                <a:cubicBezTo>
                  <a:pt x="183766" y="44498"/>
                  <a:pt x="186890" y="52089"/>
                  <a:pt x="186890" y="59977"/>
                </a:cubicBezTo>
                <a:lnTo>
                  <a:pt x="186890" y="71474"/>
                </a:lnTo>
                <a:lnTo>
                  <a:pt x="194221" y="78803"/>
                </a:lnTo>
                <a:lnTo>
                  <a:pt x="194221" y="78803"/>
                </a:lnTo>
                <a:cubicBezTo>
                  <a:pt x="200025" y="72999"/>
                  <a:pt x="209439" y="72999"/>
                  <a:pt x="215280" y="78803"/>
                </a:cubicBezTo>
                <a:cubicBezTo>
                  <a:pt x="221122" y="84608"/>
                  <a:pt x="221084" y="94021"/>
                  <a:pt x="215280" y="99863"/>
                </a:cubicBezTo>
                <a:lnTo>
                  <a:pt x="191468" y="123675"/>
                </a:lnTo>
                <a:cubicBezTo>
                  <a:pt x="185662" y="129479"/>
                  <a:pt x="176250" y="129479"/>
                  <a:pt x="170408" y="123675"/>
                </a:cubicBezTo>
                <a:cubicBezTo>
                  <a:pt x="164566" y="117871"/>
                  <a:pt x="164605" y="108458"/>
                  <a:pt x="170408" y="102616"/>
                </a:cubicBezTo>
                <a:lnTo>
                  <a:pt x="163079" y="95250"/>
                </a:lnTo>
                <a:lnTo>
                  <a:pt x="151582" y="95250"/>
                </a:lnTo>
                <a:cubicBezTo>
                  <a:pt x="143694" y="95250"/>
                  <a:pt x="136104" y="92123"/>
                  <a:pt x="130522" y="86542"/>
                </a:cubicBezTo>
                <a:lnTo>
                  <a:pt x="112254" y="68273"/>
                </a:lnTo>
                <a:cubicBezTo>
                  <a:pt x="106673" y="62693"/>
                  <a:pt x="103547" y="55102"/>
                  <a:pt x="103547" y="47216"/>
                </a:cubicBezTo>
                <a:lnTo>
                  <a:pt x="103547" y="42489"/>
                </a:lnTo>
                <a:cubicBezTo>
                  <a:pt x="103547" y="38322"/>
                  <a:pt x="101352" y="34415"/>
                  <a:pt x="97780" y="32296"/>
                </a:cubicBezTo>
                <a:lnTo>
                  <a:pt x="82302" y="22993"/>
                </a:lnTo>
                <a:cubicBezTo>
                  <a:pt x="78432" y="20687"/>
                  <a:pt x="78432" y="15105"/>
                  <a:pt x="82302" y="12799"/>
                </a:cubicBezTo>
                <a:close/>
                <a:moveTo>
                  <a:pt x="9303" y="155785"/>
                </a:moveTo>
                <a:lnTo>
                  <a:pt x="91939" y="73148"/>
                </a:lnTo>
                <a:lnTo>
                  <a:pt x="125610" y="106820"/>
                </a:lnTo>
                <a:lnTo>
                  <a:pt x="42974" y="189457"/>
                </a:lnTo>
                <a:cubicBezTo>
                  <a:pt x="33673" y="198760"/>
                  <a:pt x="18604" y="198760"/>
                  <a:pt x="9303" y="189457"/>
                </a:cubicBezTo>
                <a:cubicBezTo>
                  <a:pt x="0" y="180155"/>
                  <a:pt x="0" y="165086"/>
                  <a:pt x="9303" y="15578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315194" y="2669502"/>
            <a:ext cx="2209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Construction du projet</a:t>
            </a:r>
            <a:endParaRPr lang="en-US" sz="1100"/>
          </a:p>
        </p:txBody>
      </p:sp>
      <p:sp>
        <p:nvSpPr>
          <p:cNvPr id="22" name="AutoShape 22"/>
          <p:cNvSpPr/>
          <p:nvPr/>
        </p:nvSpPr>
        <p:spPr>
          <a:xfrm>
            <a:off x="7319957"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Build</a:t>
            </a:r>
            <a:endParaRPr lang="en-US" sz="1100"/>
          </a:p>
        </p:txBody>
      </p:sp>
      <p:sp>
        <p:nvSpPr>
          <p:cNvPr id="23" name="Freeform 23"/>
          <p:cNvSpPr/>
          <p:nvPr/>
        </p:nvSpPr>
        <p:spPr>
          <a:xfrm>
            <a:off x="9505991" y="2516112"/>
            <a:ext cx="153323" cy="116205"/>
          </a:xfrm>
          <a:custGeom>
            <a:avLst/>
            <a:gdLst/>
            <a:ahLst/>
            <a:cxnLst/>
            <a:rect l="l" t="t" r="r" b="b"/>
            <a:pathLst>
              <a:path w="153323" h="116205">
                <a:moveTo>
                  <a:pt x="149602" y="64830"/>
                </a:moveTo>
                <a:cubicBezTo>
                  <a:pt x="153323" y="61109"/>
                  <a:pt x="153323" y="55066"/>
                  <a:pt x="149602" y="51347"/>
                </a:cubicBezTo>
                <a:lnTo>
                  <a:pt x="101977" y="3722"/>
                </a:lnTo>
                <a:cubicBezTo>
                  <a:pt x="98256" y="0"/>
                  <a:pt x="92213" y="0"/>
                  <a:pt x="88494" y="3722"/>
                </a:cubicBezTo>
                <a:cubicBezTo>
                  <a:pt x="84773" y="7441"/>
                  <a:pt x="84773" y="13484"/>
                  <a:pt x="88494" y="17205"/>
                </a:cubicBezTo>
                <a:lnTo>
                  <a:pt x="119866" y="48578"/>
                </a:lnTo>
                <a:lnTo>
                  <a:pt x="9525" y="48578"/>
                </a:lnTo>
                <a:cubicBezTo>
                  <a:pt x="4256" y="48578"/>
                  <a:pt x="0" y="52834"/>
                  <a:pt x="0" y="58103"/>
                </a:cubicBezTo>
                <a:cubicBezTo>
                  <a:pt x="0" y="63372"/>
                  <a:pt x="4256" y="67628"/>
                  <a:pt x="9525" y="67628"/>
                </a:cubicBezTo>
                <a:lnTo>
                  <a:pt x="119866" y="67628"/>
                </a:lnTo>
                <a:lnTo>
                  <a:pt x="88494" y="99001"/>
                </a:lnTo>
                <a:cubicBezTo>
                  <a:pt x="84773" y="102722"/>
                  <a:pt x="84773" y="108765"/>
                  <a:pt x="88494" y="112484"/>
                </a:cubicBezTo>
                <a:cubicBezTo>
                  <a:pt x="92213" y="116205"/>
                  <a:pt x="98256" y="116205"/>
                  <a:pt x="101977" y="112484"/>
                </a:cubicBezTo>
                <a:lnTo>
                  <a:pt x="149602" y="6485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10477500" y="205996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10648881" y="2230227"/>
            <a:ext cx="191691" cy="191653"/>
          </a:xfrm>
          <a:custGeom>
            <a:avLst/>
            <a:gdLst/>
            <a:ahLst/>
            <a:cxnLst/>
            <a:rect l="l" t="t" r="r" b="b"/>
            <a:pathLst>
              <a:path w="191691" h="191653">
                <a:moveTo>
                  <a:pt x="127471" y="4651"/>
                </a:moveTo>
                <a:cubicBezTo>
                  <a:pt x="122820" y="0"/>
                  <a:pt x="115266" y="0"/>
                  <a:pt x="110617" y="4651"/>
                </a:cubicBezTo>
                <a:cubicBezTo>
                  <a:pt x="105966" y="9301"/>
                  <a:pt x="105966" y="16854"/>
                  <a:pt x="110617" y="21505"/>
                </a:cubicBezTo>
                <a:lnTo>
                  <a:pt x="114115" y="24965"/>
                </a:lnTo>
                <a:lnTo>
                  <a:pt x="10455" y="128624"/>
                </a:lnTo>
                <a:cubicBezTo>
                  <a:pt x="3758" y="135322"/>
                  <a:pt x="0" y="144400"/>
                  <a:pt x="0" y="153888"/>
                </a:cubicBezTo>
                <a:lnTo>
                  <a:pt x="0" y="155934"/>
                </a:lnTo>
                <a:cubicBezTo>
                  <a:pt x="0" y="175654"/>
                  <a:pt x="15999" y="191653"/>
                  <a:pt x="35719" y="191653"/>
                </a:cubicBezTo>
                <a:lnTo>
                  <a:pt x="37765" y="191653"/>
                </a:lnTo>
                <a:cubicBezTo>
                  <a:pt x="47253" y="191653"/>
                  <a:pt x="56331" y="187895"/>
                  <a:pt x="63029" y="181198"/>
                </a:cubicBezTo>
                <a:lnTo>
                  <a:pt x="166687" y="77538"/>
                </a:lnTo>
                <a:lnTo>
                  <a:pt x="170185" y="81036"/>
                </a:lnTo>
                <a:cubicBezTo>
                  <a:pt x="174836" y="85687"/>
                  <a:pt x="182389" y="85687"/>
                  <a:pt x="187041" y="81036"/>
                </a:cubicBezTo>
                <a:cubicBezTo>
                  <a:pt x="191691" y="76387"/>
                  <a:pt x="191691" y="68833"/>
                  <a:pt x="187041" y="64182"/>
                </a:cubicBezTo>
                <a:lnTo>
                  <a:pt x="127508" y="4651"/>
                </a:lnTo>
                <a:close/>
                <a:moveTo>
                  <a:pt x="76385" y="96403"/>
                </a:moveTo>
                <a:lnTo>
                  <a:pt x="130969" y="41820"/>
                </a:lnTo>
                <a:lnTo>
                  <a:pt x="149833" y="60684"/>
                </a:lnTo>
                <a:lnTo>
                  <a:pt x="114115" y="96403"/>
                </a:lnTo>
                <a:lnTo>
                  <a:pt x="76349" y="9640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9639282" y="2669502"/>
            <a:ext cx="2209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Execution des tests</a:t>
            </a:r>
            <a:endParaRPr lang="en-US" sz="1100"/>
          </a:p>
        </p:txBody>
      </p:sp>
      <p:sp>
        <p:nvSpPr>
          <p:cNvPr id="27" name="AutoShape 27"/>
          <p:cNvSpPr/>
          <p:nvPr/>
        </p:nvSpPr>
        <p:spPr>
          <a:xfrm>
            <a:off x="9644044"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Test</a:t>
            </a:r>
            <a:endParaRPr lang="en-US" sz="1100"/>
          </a:p>
        </p:txBody>
      </p:sp>
      <p:sp>
        <p:nvSpPr>
          <p:cNvPr id="28" name="Freeform 28"/>
          <p:cNvSpPr/>
          <p:nvPr/>
        </p:nvSpPr>
        <p:spPr>
          <a:xfrm>
            <a:off x="380956" y="3317081"/>
            <a:ext cx="11430000" cy="2286000"/>
          </a:xfrm>
          <a:custGeom>
            <a:avLst/>
            <a:gdLst/>
            <a:ahLst/>
            <a:cxnLst/>
            <a:rect l="l" t="t" r="r" b="b"/>
            <a:pathLst>
              <a:path w="11430000" h="2286000">
                <a:moveTo>
                  <a:pt x="76192" y="0"/>
                </a:moveTo>
                <a:lnTo>
                  <a:pt x="11353808" y="0"/>
                </a:lnTo>
                <a:cubicBezTo>
                  <a:pt x="11395888" y="0"/>
                  <a:pt x="11430000" y="34112"/>
                  <a:pt x="11430000" y="76192"/>
                </a:cubicBezTo>
                <a:lnTo>
                  <a:pt x="11430000" y="2209808"/>
                </a:lnTo>
                <a:cubicBezTo>
                  <a:pt x="11430000" y="2251888"/>
                  <a:pt x="11395888" y="2286000"/>
                  <a:pt x="11353808" y="2286000"/>
                </a:cubicBezTo>
                <a:lnTo>
                  <a:pt x="76192" y="2286000"/>
                </a:lnTo>
                <a:cubicBezTo>
                  <a:pt x="34112" y="2286000"/>
                  <a:pt x="0" y="2251888"/>
                  <a:pt x="0" y="2209808"/>
                </a:cubicBezTo>
                <a:lnTo>
                  <a:pt x="0" y="76192"/>
                </a:lnTo>
                <a:cubicBezTo>
                  <a:pt x="0" y="34141"/>
                  <a:pt x="34141" y="0"/>
                  <a:pt x="76192" y="0"/>
                </a:cubicBezTo>
                <a:close/>
              </a:path>
            </a:pathLst>
          </a:custGeom>
          <a:solidFill>
            <a:srgbClr val="101828">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9" name="AutoShape 29"/>
          <p:cNvSpPr/>
          <p:nvPr/>
        </p:nvSpPr>
        <p:spPr>
          <a:xfrm>
            <a:off x="609529" y="3545663"/>
            <a:ext cx="11058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Exemple de construction</a:t>
            </a:r>
            <a:endParaRPr lang="en-US" sz="1100"/>
          </a:p>
        </p:txBody>
      </p:sp>
      <p:sp>
        <p:nvSpPr>
          <p:cNvPr id="30" name="Freeform 30"/>
          <p:cNvSpPr/>
          <p:nvPr/>
        </p:nvSpPr>
        <p:spPr>
          <a:xfrm>
            <a:off x="628484" y="3964744"/>
            <a:ext cx="10953655" cy="1409700"/>
          </a:xfrm>
          <a:custGeom>
            <a:avLst/>
            <a:gdLst/>
            <a:ahLst/>
            <a:cxnLst/>
            <a:rect l="l" t="t" r="r" b="b"/>
            <a:pathLst>
              <a:path w="10953655" h="1409700">
                <a:moveTo>
                  <a:pt x="37910" y="0"/>
                </a:moveTo>
                <a:lnTo>
                  <a:pt x="10915551" y="0"/>
                </a:lnTo>
                <a:cubicBezTo>
                  <a:pt x="10936595" y="0"/>
                  <a:pt x="10953655" y="17060"/>
                  <a:pt x="10953655" y="38104"/>
                </a:cubicBezTo>
                <a:lnTo>
                  <a:pt x="10953655" y="1371596"/>
                </a:lnTo>
                <a:cubicBezTo>
                  <a:pt x="10953655" y="1392640"/>
                  <a:pt x="10936595" y="1409700"/>
                  <a:pt x="10915551" y="1409700"/>
                </a:cubicBezTo>
                <a:lnTo>
                  <a:pt x="37910" y="1409700"/>
                </a:lnTo>
                <a:cubicBezTo>
                  <a:pt x="16974" y="1409700"/>
                  <a:pt x="0" y="1392726"/>
                  <a:pt x="0" y="1371790"/>
                </a:cubicBezTo>
                <a:lnTo>
                  <a:pt x="0" y="37910"/>
                </a:lnTo>
                <a:cubicBezTo>
                  <a:pt x="0" y="16988"/>
                  <a:pt x="16988" y="0"/>
                  <a:pt x="37910" y="0"/>
                </a:cubicBezTo>
                <a:close/>
              </a:path>
            </a:pathLst>
          </a:custGeom>
          <a:solidFill>
            <a:srgbClr val="1E2939">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28484" y="3964744"/>
            <a:ext cx="37909" cy="1409700"/>
          </a:xfrm>
          <a:custGeom>
            <a:avLst/>
            <a:gdLst/>
            <a:ahLst/>
            <a:cxnLst/>
            <a:rect l="l" t="t" r="r" b="b"/>
            <a:pathLst>
              <a:path w="37909" h="1409700">
                <a:moveTo>
                  <a:pt x="37910" y="0"/>
                </a:moveTo>
                <a:lnTo>
                  <a:pt x="37910" y="0"/>
                </a:lnTo>
                <a:lnTo>
                  <a:pt x="37910" y="1409700"/>
                </a:lnTo>
                <a:lnTo>
                  <a:pt x="37910" y="1409700"/>
                </a:lnTo>
                <a:cubicBezTo>
                  <a:pt x="16974" y="1409700"/>
                  <a:pt x="0" y="1392726"/>
                  <a:pt x="0" y="1371790"/>
                </a:cubicBezTo>
                <a:lnTo>
                  <a:pt x="0" y="37910"/>
                </a:lnTo>
                <a:cubicBezTo>
                  <a:pt x="0" y="16988"/>
                  <a:pt x="16988" y="0"/>
                  <a:pt x="37910"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799822" y="4078998"/>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Construire le projet avec 32 taches paralleles</a:t>
            </a:r>
            <a:endParaRPr lang="en-US" sz="1100"/>
          </a:p>
        </p:txBody>
      </p:sp>
      <p:sp>
        <p:nvSpPr>
          <p:cNvPr id="33" name="AutoShape 33"/>
          <p:cNvSpPr/>
          <p:nvPr/>
        </p:nvSpPr>
        <p:spPr>
          <a:xfrm>
            <a:off x="799822" y="4292315"/>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MAX_JOBS=32 python3 -m pip install . --no-build-isolation</a:t>
            </a:r>
            <a:endParaRPr lang="en-US" sz="1100"/>
          </a:p>
        </p:txBody>
      </p:sp>
      <p:sp>
        <p:nvSpPr>
          <p:cNvPr id="34" name="AutoShape 34"/>
          <p:cNvSpPr/>
          <p:nvPr/>
        </p:nvSpPr>
        <p:spPr>
          <a:xfrm>
            <a:off x="799822" y="4619885"/>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 Description des parametres :</a:t>
            </a:r>
            <a:endParaRPr lang="en-US" sz="1100"/>
          </a:p>
        </p:txBody>
      </p:sp>
      <p:sp>
        <p:nvSpPr>
          <p:cNvPr id="35" name="AutoShape 35"/>
          <p:cNvSpPr/>
          <p:nvPr/>
        </p:nvSpPr>
        <p:spPr>
          <a:xfrm>
            <a:off x="799822" y="4833203"/>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 MAX_JOBS=32 - nombre de taches de compilation paralleles</a:t>
            </a:r>
            <a:endParaRPr lang="en-US" sz="1100"/>
          </a:p>
        </p:txBody>
      </p:sp>
      <p:sp>
        <p:nvSpPr>
          <p:cNvPr id="36" name="AutoShape 36"/>
          <p:cNvSpPr/>
          <p:nvPr/>
        </p:nvSpPr>
        <p:spPr>
          <a:xfrm>
            <a:off x="799822" y="5046529"/>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 --no-build-isolation - ne pas utiliser d'environnement de construction isole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715200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Tests unitaires</a:t>
            </a:r>
            <a:endParaRPr lang="en-US" sz="3200"/>
          </a:p>
        </p:txBody>
      </p:sp>
      <p:sp>
        <p:nvSpPr>
          <p:cNvPr id="3" name="AutoShape 3"/>
          <p:cNvSpPr/>
          <p:nvPr/>
        </p:nvSpPr>
        <p:spPr>
          <a:xfrm>
            <a:off x="380956" y="1640886"/>
            <a:ext cx="115252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Apres l'installation, vous pouvez executer les tests pour verifier la correctitude du code</a:t>
            </a:r>
            <a:endParaRPr lang="en-US" sz="1100"/>
          </a:p>
        </p:txBody>
      </p:sp>
      <p:sp>
        <p:nvSpPr>
          <p:cNvPr id="4" name="Freeform 4"/>
          <p:cNvSpPr/>
          <p:nvPr/>
        </p:nvSpPr>
        <p:spPr>
          <a:xfrm>
            <a:off x="390433" y="2188517"/>
            <a:ext cx="5543455" cy="2324005"/>
          </a:xfrm>
          <a:custGeom>
            <a:avLst/>
            <a:gdLst/>
            <a:ahLst/>
            <a:cxnLst/>
            <a:rect l="l" t="t" r="r" b="b"/>
            <a:pathLst>
              <a:path w="5543455" h="2324005">
                <a:moveTo>
                  <a:pt x="76204" y="0"/>
                </a:moveTo>
                <a:lnTo>
                  <a:pt x="5467251" y="0"/>
                </a:lnTo>
                <a:cubicBezTo>
                  <a:pt x="5509337" y="0"/>
                  <a:pt x="5543455" y="34119"/>
                  <a:pt x="5543455" y="76204"/>
                </a:cubicBezTo>
                <a:lnTo>
                  <a:pt x="5543455" y="2247801"/>
                </a:lnTo>
                <a:cubicBezTo>
                  <a:pt x="5543455" y="2289887"/>
                  <a:pt x="5509337" y="2324005"/>
                  <a:pt x="5467251" y="2324005"/>
                </a:cubicBezTo>
                <a:lnTo>
                  <a:pt x="76204" y="2324005"/>
                </a:lnTo>
                <a:cubicBezTo>
                  <a:pt x="34119" y="2324005"/>
                  <a:pt x="0" y="2289887"/>
                  <a:pt x="0" y="2247801"/>
                </a:cubicBezTo>
                <a:lnTo>
                  <a:pt x="0" y="76204"/>
                </a:lnTo>
                <a:cubicBezTo>
                  <a:pt x="0" y="34146"/>
                  <a:pt x="34146" y="0"/>
                  <a:pt x="76204"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5" name="Freeform 5"/>
          <p:cNvSpPr/>
          <p:nvPr/>
        </p:nvSpPr>
        <p:spPr>
          <a:xfrm>
            <a:off x="666584" y="2426568"/>
            <a:ext cx="285750" cy="285750"/>
          </a:xfrm>
          <a:custGeom>
            <a:avLst/>
            <a:gdLst/>
            <a:ahLst/>
            <a:cxnLst/>
            <a:rect l="l" t="t" r="r" b="b"/>
            <a:pathLst>
              <a:path w="285750" h="285750">
                <a:moveTo>
                  <a:pt x="98227" y="13395"/>
                </a:moveTo>
                <a:cubicBezTo>
                  <a:pt x="98227" y="5972"/>
                  <a:pt x="92255" y="0"/>
                  <a:pt x="84832" y="0"/>
                </a:cubicBezTo>
                <a:cubicBezTo>
                  <a:pt x="77409" y="0"/>
                  <a:pt x="71438" y="5972"/>
                  <a:pt x="71438" y="13395"/>
                </a:cubicBezTo>
                <a:lnTo>
                  <a:pt x="71438" y="35719"/>
                </a:lnTo>
                <a:cubicBezTo>
                  <a:pt x="51736" y="35719"/>
                  <a:pt x="35719" y="51736"/>
                  <a:pt x="35719" y="71438"/>
                </a:cubicBezTo>
                <a:lnTo>
                  <a:pt x="13395" y="71438"/>
                </a:lnTo>
                <a:cubicBezTo>
                  <a:pt x="5972" y="71438"/>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8" y="250031"/>
                </a:cubicBezTo>
                <a:lnTo>
                  <a:pt x="71438" y="272355"/>
                </a:lnTo>
                <a:cubicBezTo>
                  <a:pt x="71438"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2" y="279778"/>
                  <a:pt x="214312" y="272355"/>
                </a:cubicBezTo>
                <a:lnTo>
                  <a:pt x="214312"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8"/>
                  <a:pt x="272355" y="71438"/>
                </a:cubicBezTo>
                <a:lnTo>
                  <a:pt x="250031" y="71438"/>
                </a:lnTo>
                <a:cubicBezTo>
                  <a:pt x="250031" y="51736"/>
                  <a:pt x="234014" y="35719"/>
                  <a:pt x="214312" y="35719"/>
                </a:cubicBezTo>
                <a:lnTo>
                  <a:pt x="214312" y="13395"/>
                </a:lnTo>
                <a:cubicBezTo>
                  <a:pt x="214312"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8"/>
                </a:moveTo>
                <a:lnTo>
                  <a:pt x="196452" y="71438"/>
                </a:lnTo>
                <a:cubicBezTo>
                  <a:pt x="206332" y="71438"/>
                  <a:pt x="214312" y="79418"/>
                  <a:pt x="214312" y="89298"/>
                </a:cubicBezTo>
                <a:lnTo>
                  <a:pt x="214312" y="196452"/>
                </a:lnTo>
                <a:cubicBezTo>
                  <a:pt x="214312" y="206332"/>
                  <a:pt x="206332" y="214312"/>
                  <a:pt x="196452" y="214312"/>
                </a:cubicBezTo>
                <a:lnTo>
                  <a:pt x="89298" y="214312"/>
                </a:lnTo>
                <a:cubicBezTo>
                  <a:pt x="79418" y="214312"/>
                  <a:pt x="71438" y="206332"/>
                  <a:pt x="71438" y="196452"/>
                </a:cubicBezTo>
                <a:lnTo>
                  <a:pt x="71438" y="89298"/>
                </a:lnTo>
                <a:cubicBezTo>
                  <a:pt x="71438" y="79418"/>
                  <a:pt x="79418" y="71438"/>
                  <a:pt x="89298" y="71438"/>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099921" y="2436047"/>
            <a:ext cx="1504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NVIDIA / AMD</a:t>
            </a:r>
            <a:endParaRPr lang="en-US" sz="1100"/>
          </a:p>
        </p:txBody>
      </p:sp>
      <p:sp>
        <p:nvSpPr>
          <p:cNvPr id="7" name="Freeform 7"/>
          <p:cNvSpPr/>
          <p:nvPr/>
        </p:nvSpPr>
        <p:spPr>
          <a:xfrm>
            <a:off x="628484" y="2864681"/>
            <a:ext cx="5067300" cy="1409700"/>
          </a:xfrm>
          <a:custGeom>
            <a:avLst/>
            <a:gdLst/>
            <a:ahLst/>
            <a:cxnLst/>
            <a:rect l="l" t="t" r="r" b="b"/>
            <a:pathLst>
              <a:path w="5067300" h="1409700">
                <a:moveTo>
                  <a:pt x="76194" y="0"/>
                </a:moveTo>
                <a:lnTo>
                  <a:pt x="4991106" y="0"/>
                </a:lnTo>
                <a:cubicBezTo>
                  <a:pt x="5033159" y="0"/>
                  <a:pt x="5067300" y="34141"/>
                  <a:pt x="5067300" y="76194"/>
                </a:cubicBezTo>
                <a:lnTo>
                  <a:pt x="5067300" y="1333506"/>
                </a:lnTo>
                <a:cubicBezTo>
                  <a:pt x="5067300" y="1375587"/>
                  <a:pt x="5033187" y="1409700"/>
                  <a:pt x="4991106" y="1409700"/>
                </a:cubicBezTo>
                <a:lnTo>
                  <a:pt x="76194" y="1409700"/>
                </a:lnTo>
                <a:cubicBezTo>
                  <a:pt x="34141" y="1409700"/>
                  <a:pt x="0" y="1375559"/>
                  <a:pt x="0" y="1333506"/>
                </a:cubicBezTo>
                <a:lnTo>
                  <a:pt x="0" y="76194"/>
                </a:lnTo>
                <a:cubicBezTo>
                  <a:pt x="0" y="34141"/>
                  <a:pt x="34141" y="0"/>
                  <a:pt x="76194" y="0"/>
                </a:cubicBezTo>
                <a:close/>
              </a:path>
            </a:pathLst>
          </a:custGeom>
          <a:solidFill>
            <a:srgbClr val="101828">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80866" y="3017072"/>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Entrer dans le repertoire des tests unitaires</a:t>
            </a:r>
            <a:endParaRPr lang="en-US" sz="1100"/>
          </a:p>
        </p:txBody>
      </p:sp>
      <p:sp>
        <p:nvSpPr>
          <p:cNvPr id="9" name="AutoShape 9"/>
          <p:cNvSpPr/>
          <p:nvPr/>
        </p:nvSpPr>
        <p:spPr>
          <a:xfrm>
            <a:off x="780866" y="3321834"/>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cd python/test/unit</a:t>
            </a:r>
            <a:endParaRPr lang="en-US" sz="1100"/>
          </a:p>
        </p:txBody>
      </p:sp>
      <p:sp>
        <p:nvSpPr>
          <p:cNvPr id="10" name="AutoShape 10"/>
          <p:cNvSpPr/>
          <p:nvPr/>
        </p:nvSpPr>
        <p:spPr>
          <a:xfrm>
            <a:off x="780866" y="3664651"/>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Executer les tests pytest</a:t>
            </a:r>
            <a:endParaRPr lang="en-US" sz="1100"/>
          </a:p>
        </p:txBody>
      </p:sp>
      <p:sp>
        <p:nvSpPr>
          <p:cNvPr id="11" name="AutoShape 11"/>
          <p:cNvSpPr/>
          <p:nvPr/>
        </p:nvSpPr>
        <p:spPr>
          <a:xfrm>
            <a:off x="780866" y="3893232"/>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pytest -s</a:t>
            </a:r>
            <a:endParaRPr lang="en-US" sz="1100"/>
          </a:p>
        </p:txBody>
      </p:sp>
      <p:sp>
        <p:nvSpPr>
          <p:cNvPr id="12" name="Freeform 12"/>
          <p:cNvSpPr/>
          <p:nvPr/>
        </p:nvSpPr>
        <p:spPr>
          <a:xfrm>
            <a:off x="6257815" y="2188517"/>
            <a:ext cx="5543455" cy="2324005"/>
          </a:xfrm>
          <a:custGeom>
            <a:avLst/>
            <a:gdLst/>
            <a:ahLst/>
            <a:cxnLst/>
            <a:rect l="l" t="t" r="r" b="b"/>
            <a:pathLst>
              <a:path w="5543455" h="2324005">
                <a:moveTo>
                  <a:pt x="76204" y="0"/>
                </a:moveTo>
                <a:lnTo>
                  <a:pt x="5467251" y="0"/>
                </a:lnTo>
                <a:cubicBezTo>
                  <a:pt x="5509337" y="0"/>
                  <a:pt x="5543455" y="34119"/>
                  <a:pt x="5543455" y="76204"/>
                </a:cubicBezTo>
                <a:lnTo>
                  <a:pt x="5543455" y="2247801"/>
                </a:lnTo>
                <a:cubicBezTo>
                  <a:pt x="5543455" y="2289887"/>
                  <a:pt x="5509337" y="2324005"/>
                  <a:pt x="5467251" y="2324005"/>
                </a:cubicBezTo>
                <a:lnTo>
                  <a:pt x="76204" y="2324005"/>
                </a:lnTo>
                <a:cubicBezTo>
                  <a:pt x="34119" y="2324005"/>
                  <a:pt x="0" y="2289887"/>
                  <a:pt x="0" y="2247801"/>
                </a:cubicBezTo>
                <a:lnTo>
                  <a:pt x="0" y="76204"/>
                </a:lnTo>
                <a:cubicBezTo>
                  <a:pt x="0" y="34146"/>
                  <a:pt x="34146" y="0"/>
                  <a:pt x="76204" y="0"/>
                </a:cubicBezTo>
                <a:close/>
              </a:path>
            </a:pathLst>
          </a:custGeom>
          <a:solidFill>
            <a:srgbClr val="000000">
              <a:alpha val="0"/>
            </a:srgbClr>
          </a:solidFill>
          <a:ln w="12700">
            <a:solidFill>
              <a:srgbClr val="333333">
                <a:alpha val="100000"/>
              </a:srgbClr>
            </a:solidFill>
            <a:prstDash val="solid"/>
          </a:ln>
        </p:spPr>
        <p:txBody>
          <a:bodyPr wrap="square" lIns="91440" tIns="45720" rIns="91440" bIns="45720" rtlCol="0" anchor="t">
            <a:noAutofit/>
          </a:bodyPr>
          <a:lstStyle/>
          <a:p>
            <a:pPr algn="ctr">
              <a:defRPr/>
            </a:pPr>
          </a:p>
        </p:txBody>
      </p:sp>
      <p:sp>
        <p:nvSpPr>
          <p:cNvPr id="13" name="Freeform 13"/>
          <p:cNvSpPr/>
          <p:nvPr/>
        </p:nvSpPr>
        <p:spPr>
          <a:xfrm>
            <a:off x="6533966" y="2426568"/>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8"/>
                </a:cubicBezTo>
                <a:lnTo>
                  <a:pt x="13395" y="71438"/>
                </a:lnTo>
                <a:cubicBezTo>
                  <a:pt x="5972" y="71438"/>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2" y="279778"/>
                  <a:pt x="214312" y="272355"/>
                </a:cubicBezTo>
                <a:lnTo>
                  <a:pt x="214312"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8"/>
                  <a:pt x="272355" y="71438"/>
                </a:cubicBezTo>
                <a:lnTo>
                  <a:pt x="250031" y="71438"/>
                </a:lnTo>
                <a:cubicBezTo>
                  <a:pt x="250031" y="51736"/>
                  <a:pt x="234014" y="35719"/>
                  <a:pt x="214312" y="35719"/>
                </a:cubicBezTo>
                <a:lnTo>
                  <a:pt x="214312" y="13395"/>
                </a:lnTo>
                <a:cubicBezTo>
                  <a:pt x="214312"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8"/>
                </a:moveTo>
                <a:lnTo>
                  <a:pt x="196452" y="71438"/>
                </a:lnTo>
                <a:cubicBezTo>
                  <a:pt x="206332" y="71438"/>
                  <a:pt x="214312" y="79418"/>
                  <a:pt x="214312" y="89298"/>
                </a:cubicBezTo>
                <a:lnTo>
                  <a:pt x="214312" y="196452"/>
                </a:lnTo>
                <a:cubicBezTo>
                  <a:pt x="214312" y="206332"/>
                  <a:pt x="206332" y="214312"/>
                  <a:pt x="196452" y="214312"/>
                </a:cubicBezTo>
                <a:lnTo>
                  <a:pt x="89298" y="214312"/>
                </a:lnTo>
                <a:cubicBezTo>
                  <a:pt x="79418" y="214312"/>
                  <a:pt x="71437" y="206332"/>
                  <a:pt x="71437" y="196452"/>
                </a:cubicBezTo>
                <a:lnTo>
                  <a:pt x="71437" y="89298"/>
                </a:lnTo>
                <a:cubicBezTo>
                  <a:pt x="71437" y="79418"/>
                  <a:pt x="79418" y="71438"/>
                  <a:pt x="89298" y="71438"/>
                </a:cubicBezTo>
                <a:close/>
                <a:moveTo>
                  <a:pt x="98227" y="98227"/>
                </a:moveTo>
                <a:lnTo>
                  <a:pt x="98227" y="187523"/>
                </a:lnTo>
                <a:lnTo>
                  <a:pt x="187523" y="187523"/>
                </a:lnTo>
                <a:lnTo>
                  <a:pt x="187523" y="98227"/>
                </a:lnTo>
                <a:lnTo>
                  <a:pt x="98227" y="98227"/>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967220" y="2435860"/>
            <a:ext cx="358267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Autres backends</a:t>
            </a:r>
            <a:endParaRPr lang="en-US" sz="1100"/>
          </a:p>
        </p:txBody>
      </p:sp>
      <p:sp>
        <p:nvSpPr>
          <p:cNvPr id="15" name="Freeform 15"/>
          <p:cNvSpPr/>
          <p:nvPr/>
        </p:nvSpPr>
        <p:spPr>
          <a:xfrm>
            <a:off x="6495866" y="2864681"/>
            <a:ext cx="5067300" cy="1409700"/>
          </a:xfrm>
          <a:custGeom>
            <a:avLst/>
            <a:gdLst/>
            <a:ahLst/>
            <a:cxnLst/>
            <a:rect l="l" t="t" r="r" b="b"/>
            <a:pathLst>
              <a:path w="5067300" h="1409700">
                <a:moveTo>
                  <a:pt x="76194" y="0"/>
                </a:moveTo>
                <a:lnTo>
                  <a:pt x="4991106" y="0"/>
                </a:lnTo>
                <a:cubicBezTo>
                  <a:pt x="5033159" y="0"/>
                  <a:pt x="5067300" y="34141"/>
                  <a:pt x="5067300" y="76194"/>
                </a:cubicBezTo>
                <a:lnTo>
                  <a:pt x="5067300" y="1333506"/>
                </a:lnTo>
                <a:cubicBezTo>
                  <a:pt x="5067300" y="1375587"/>
                  <a:pt x="5033187" y="1409700"/>
                  <a:pt x="4991106" y="1409700"/>
                </a:cubicBezTo>
                <a:lnTo>
                  <a:pt x="76194" y="1409700"/>
                </a:lnTo>
                <a:cubicBezTo>
                  <a:pt x="34141" y="1409700"/>
                  <a:pt x="0" y="1375559"/>
                  <a:pt x="0" y="1333506"/>
                </a:cubicBezTo>
                <a:lnTo>
                  <a:pt x="0" y="76194"/>
                </a:lnTo>
                <a:cubicBezTo>
                  <a:pt x="0" y="34141"/>
                  <a:pt x="34141" y="0"/>
                  <a:pt x="76194" y="0"/>
                </a:cubicBezTo>
                <a:close/>
              </a:path>
            </a:pathLst>
          </a:custGeom>
          <a:solidFill>
            <a:srgbClr val="101828">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648248" y="3017072"/>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Entrer dans le repertoire de tests du backend</a:t>
            </a:r>
            <a:endParaRPr lang="en-US" sz="1100"/>
          </a:p>
        </p:txBody>
      </p:sp>
      <p:sp>
        <p:nvSpPr>
          <p:cNvPr id="17" name="AutoShape 17"/>
          <p:cNvSpPr/>
          <p:nvPr/>
        </p:nvSpPr>
        <p:spPr>
          <a:xfrm>
            <a:off x="6648248" y="3321834"/>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cd third_party/backend/python/test/unit</a:t>
            </a:r>
            <a:endParaRPr lang="en-US" sz="1100"/>
          </a:p>
        </p:txBody>
      </p:sp>
      <p:sp>
        <p:nvSpPr>
          <p:cNvPr id="18" name="AutoShape 18"/>
          <p:cNvSpPr/>
          <p:nvPr/>
        </p:nvSpPr>
        <p:spPr>
          <a:xfrm>
            <a:off x="6648248" y="3664651"/>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Executer les tests pytest</a:t>
            </a:r>
            <a:endParaRPr lang="en-US" sz="1100"/>
          </a:p>
        </p:txBody>
      </p:sp>
      <p:sp>
        <p:nvSpPr>
          <p:cNvPr id="19" name="AutoShape 19"/>
          <p:cNvSpPr/>
          <p:nvPr/>
        </p:nvSpPr>
        <p:spPr>
          <a:xfrm>
            <a:off x="6648248" y="3893232"/>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pytest -s</a:t>
            </a:r>
            <a:endParaRPr lang="en-US" sz="1100"/>
          </a:p>
        </p:txBody>
      </p:sp>
      <p:sp>
        <p:nvSpPr>
          <p:cNvPr id="20" name="Freeform 20"/>
          <p:cNvSpPr/>
          <p:nvPr/>
        </p:nvSpPr>
        <p:spPr>
          <a:xfrm>
            <a:off x="380956" y="4750287"/>
            <a:ext cx="11430000" cy="647700"/>
          </a:xfrm>
          <a:custGeom>
            <a:avLst/>
            <a:gdLst/>
            <a:ahLst/>
            <a:cxnLst/>
            <a:rect l="l" t="t" r="r" b="b"/>
            <a:pathLst>
              <a:path w="11430000" h="647700">
                <a:moveTo>
                  <a:pt x="76203" y="0"/>
                </a:moveTo>
                <a:lnTo>
                  <a:pt x="11353797" y="0"/>
                </a:lnTo>
                <a:cubicBezTo>
                  <a:pt x="11395883" y="0"/>
                  <a:pt x="11430000" y="34117"/>
                  <a:pt x="11430000" y="76203"/>
                </a:cubicBezTo>
                <a:lnTo>
                  <a:pt x="11430000" y="571497"/>
                </a:lnTo>
                <a:cubicBezTo>
                  <a:pt x="11430000" y="613583"/>
                  <a:pt x="11395883" y="647700"/>
                  <a:pt x="11353797" y="647700"/>
                </a:cubicBezTo>
                <a:lnTo>
                  <a:pt x="76203" y="647700"/>
                </a:lnTo>
                <a:cubicBezTo>
                  <a:pt x="34117" y="647700"/>
                  <a:pt x="0" y="613583"/>
                  <a:pt x="0" y="5714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599971" y="4959753"/>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00013" y="71437"/>
                </a:moveTo>
                <a:cubicBezTo>
                  <a:pt x="100013" y="63552"/>
                  <a:pt x="106415" y="57150"/>
                  <a:pt x="114300" y="57150"/>
                </a:cubicBezTo>
                <a:cubicBezTo>
                  <a:pt x="122185" y="57150"/>
                  <a:pt x="128587" y="63552"/>
                  <a:pt x="128587" y="71437"/>
                </a:cubicBezTo>
                <a:cubicBezTo>
                  <a:pt x="128587" y="79323"/>
                  <a:pt x="122185" y="85725"/>
                  <a:pt x="114300" y="85725"/>
                </a:cubicBezTo>
                <a:cubicBezTo>
                  <a:pt x="106415" y="85725"/>
                  <a:pt x="100013" y="79323"/>
                  <a:pt x="100013" y="71437"/>
                </a:cubicBezTo>
                <a:close/>
                <a:moveTo>
                  <a:pt x="96441" y="100013"/>
                </a:moveTo>
                <a:lnTo>
                  <a:pt x="117873" y="100013"/>
                </a:lnTo>
                <a:cubicBezTo>
                  <a:pt x="123810" y="100013"/>
                  <a:pt x="128587" y="104790"/>
                  <a:pt x="128587" y="110727"/>
                </a:cubicBezTo>
                <a:lnTo>
                  <a:pt x="128587" y="150019"/>
                </a:lnTo>
                <a:lnTo>
                  <a:pt x="132159" y="150019"/>
                </a:lnTo>
                <a:cubicBezTo>
                  <a:pt x="138099" y="150019"/>
                  <a:pt x="142875" y="154796"/>
                  <a:pt x="142875" y="160734"/>
                </a:cubicBezTo>
                <a:cubicBezTo>
                  <a:pt x="142875" y="166674"/>
                  <a:pt x="138099" y="171450"/>
                  <a:pt x="132159" y="171450"/>
                </a:cubicBezTo>
                <a:lnTo>
                  <a:pt x="96441" y="171450"/>
                </a:lnTo>
                <a:cubicBezTo>
                  <a:pt x="90501" y="171450"/>
                  <a:pt x="85725" y="166674"/>
                  <a:pt x="85725" y="160734"/>
                </a:cubicBezTo>
                <a:cubicBezTo>
                  <a:pt x="85725" y="154796"/>
                  <a:pt x="90501" y="150019"/>
                  <a:pt x="96441" y="150019"/>
                </a:cubicBezTo>
                <a:lnTo>
                  <a:pt x="107156" y="150019"/>
                </a:lnTo>
                <a:lnTo>
                  <a:pt x="107156" y="121444"/>
                </a:lnTo>
                <a:lnTo>
                  <a:pt x="96441" y="121444"/>
                </a:lnTo>
                <a:cubicBezTo>
                  <a:pt x="90501" y="121444"/>
                  <a:pt x="85725" y="116666"/>
                  <a:pt x="85725" y="110727"/>
                </a:cubicBezTo>
                <a:cubicBezTo>
                  <a:pt x="85725" y="104790"/>
                  <a:pt x="90501" y="100013"/>
                  <a:pt x="96441" y="10001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971381" y="4940731"/>
            <a:ext cx="38004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pytest -s</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affiche les informations de sortie de test, pratique pour le debogage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787082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Scan de securite du code</a:t>
            </a:r>
            <a:endParaRPr lang="en-US" sz="3200"/>
          </a:p>
        </p:txBody>
      </p:sp>
      <p:sp>
        <p:nvSpPr>
          <p:cNvPr id="3" name="AutoShape 3"/>
          <p:cNvSpPr/>
          <p:nvPr/>
        </p:nvSpPr>
        <p:spPr>
          <a:xfrm>
            <a:off x="380956" y="1640886"/>
            <a:ext cx="115252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altLang="zh-CN" sz="150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Le projet est configur</a:t>
            </a:r>
            <a:r>
              <a:rPr lang="en-US" altLang="en-US" sz="150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avec un scan de code automatique, surveillant continuellement la </a:t>
            </a:r>
            <a:r>
              <a:rPr lang="en-US" altLang="zh-CN" sz="15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r>
              <a:rPr lang="en-US" altLang="en-US" sz="15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curit</a:t>
            </a:r>
            <a:r>
              <a:rPr lang="en-US" altLang="en-US" sz="15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50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et la conformit</a:t>
            </a:r>
            <a:r>
              <a:rPr lang="en-US" altLang="en-US" sz="150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endParaRPr lang="en-US" sz="1100"/>
          </a:p>
        </p:txBody>
      </p:sp>
      <p:sp>
        <p:nvSpPr>
          <p:cNvPr id="4" name="Freeform 4"/>
          <p:cNvSpPr/>
          <p:nvPr/>
        </p:nvSpPr>
        <p:spPr>
          <a:xfrm>
            <a:off x="380956" y="2179039"/>
            <a:ext cx="5562600" cy="1943100"/>
          </a:xfrm>
          <a:custGeom>
            <a:avLst/>
            <a:gdLst/>
            <a:ahLst/>
            <a:cxnLst/>
            <a:rect l="l" t="t" r="r" b="b"/>
            <a:pathLst>
              <a:path w="5562600" h="1943100">
                <a:moveTo>
                  <a:pt x="76208" y="0"/>
                </a:moveTo>
                <a:lnTo>
                  <a:pt x="5486392" y="0"/>
                </a:lnTo>
                <a:cubicBezTo>
                  <a:pt x="5528480" y="0"/>
                  <a:pt x="5562600" y="34120"/>
                  <a:pt x="5562600" y="76208"/>
                </a:cubicBezTo>
                <a:lnTo>
                  <a:pt x="5562600" y="1866892"/>
                </a:lnTo>
                <a:cubicBezTo>
                  <a:pt x="5562600" y="1908980"/>
                  <a:pt x="5528480" y="1943100"/>
                  <a:pt x="5486392" y="1943100"/>
                </a:cubicBezTo>
                <a:lnTo>
                  <a:pt x="76208" y="1943100"/>
                </a:lnTo>
                <a:cubicBezTo>
                  <a:pt x="34120" y="1943100"/>
                  <a:pt x="0" y="1908980"/>
                  <a:pt x="0" y="1866892"/>
                </a:cubicBezTo>
                <a:lnTo>
                  <a:pt x="0" y="76208"/>
                </a:lnTo>
                <a:cubicBezTo>
                  <a:pt x="0" y="34148"/>
                  <a:pt x="34148" y="0"/>
                  <a:pt x="76208"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09529" y="2407611"/>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Conditions de d</a:t>
            </a:r>
            <a:r>
              <a:rPr lang="en-US" alt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é</a:t>
            </a:r>
            <a:r>
              <a:rPr lang="en-US" altLang="zh-CN"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clenchement</a:t>
            </a:r>
            <a:endParaRPr lang="en-US" sz="1100"/>
          </a:p>
        </p:txBody>
      </p:sp>
      <p:sp>
        <p:nvSpPr>
          <p:cNvPr id="6" name="Freeform 6"/>
          <p:cNvSpPr/>
          <p:nvPr/>
        </p:nvSpPr>
        <p:spPr>
          <a:xfrm>
            <a:off x="652391" y="2939562"/>
            <a:ext cx="200025" cy="215697"/>
          </a:xfrm>
          <a:custGeom>
            <a:avLst/>
            <a:gdLst/>
            <a:ahLst/>
            <a:cxnLst/>
            <a:rect l="l" t="t" r="r" b="b"/>
            <a:pathLst>
              <a:path w="200025" h="215697">
                <a:moveTo>
                  <a:pt x="114300" y="50185"/>
                </a:moveTo>
                <a:lnTo>
                  <a:pt x="114300" y="144259"/>
                </a:lnTo>
                <a:cubicBezTo>
                  <a:pt x="114300" y="152162"/>
                  <a:pt x="107914" y="158546"/>
                  <a:pt x="100013" y="158546"/>
                </a:cubicBezTo>
                <a:cubicBezTo>
                  <a:pt x="92111" y="158546"/>
                  <a:pt x="85725" y="152162"/>
                  <a:pt x="85725" y="144259"/>
                </a:cubicBezTo>
                <a:lnTo>
                  <a:pt x="85725" y="50185"/>
                </a:lnTo>
                <a:lnTo>
                  <a:pt x="67241" y="68669"/>
                </a:lnTo>
                <a:cubicBezTo>
                  <a:pt x="61658" y="74250"/>
                  <a:pt x="52596" y="74250"/>
                  <a:pt x="47015" y="68669"/>
                </a:cubicBezTo>
                <a:cubicBezTo>
                  <a:pt x="41434" y="63088"/>
                  <a:pt x="41434" y="54026"/>
                  <a:pt x="47015" y="48443"/>
                </a:cubicBezTo>
                <a:lnTo>
                  <a:pt x="89877" y="5581"/>
                </a:lnTo>
                <a:cubicBezTo>
                  <a:pt x="95458" y="0"/>
                  <a:pt x="104522" y="0"/>
                  <a:pt x="110103" y="5581"/>
                </a:cubicBezTo>
                <a:lnTo>
                  <a:pt x="152966" y="48443"/>
                </a:lnTo>
                <a:cubicBezTo>
                  <a:pt x="158547" y="54026"/>
                  <a:pt x="158547" y="63088"/>
                  <a:pt x="152966" y="68669"/>
                </a:cubicBezTo>
                <a:cubicBezTo>
                  <a:pt x="147383" y="74250"/>
                  <a:pt x="138321" y="74250"/>
                  <a:pt x="132740" y="68669"/>
                </a:cubicBezTo>
                <a:lnTo>
                  <a:pt x="114300" y="50185"/>
                </a:lnTo>
                <a:close/>
                <a:moveTo>
                  <a:pt x="100013" y="179978"/>
                </a:moveTo>
                <a:cubicBezTo>
                  <a:pt x="119747" y="179978"/>
                  <a:pt x="135731" y="163994"/>
                  <a:pt x="135731" y="144259"/>
                </a:cubicBezTo>
                <a:lnTo>
                  <a:pt x="171450" y="144259"/>
                </a:lnTo>
                <a:cubicBezTo>
                  <a:pt x="187211" y="144259"/>
                  <a:pt x="200025" y="157073"/>
                  <a:pt x="200025" y="172834"/>
                </a:cubicBezTo>
                <a:lnTo>
                  <a:pt x="200025" y="187122"/>
                </a:lnTo>
                <a:cubicBezTo>
                  <a:pt x="200025" y="202882"/>
                  <a:pt x="187211" y="215696"/>
                  <a:pt x="171450" y="215696"/>
                </a:cubicBezTo>
                <a:lnTo>
                  <a:pt x="28575" y="215696"/>
                </a:lnTo>
                <a:cubicBezTo>
                  <a:pt x="12814" y="215696"/>
                  <a:pt x="0" y="202882"/>
                  <a:pt x="0" y="187122"/>
                </a:cubicBezTo>
                <a:lnTo>
                  <a:pt x="0" y="172834"/>
                </a:lnTo>
                <a:cubicBezTo>
                  <a:pt x="0" y="157073"/>
                  <a:pt x="12814" y="144259"/>
                  <a:pt x="28575" y="144259"/>
                </a:cubicBezTo>
                <a:lnTo>
                  <a:pt x="64294" y="144259"/>
                </a:lnTo>
                <a:cubicBezTo>
                  <a:pt x="64294" y="163994"/>
                  <a:pt x="80278" y="179978"/>
                  <a:pt x="100013" y="179978"/>
                </a:cubicBezTo>
                <a:close/>
                <a:moveTo>
                  <a:pt x="164306" y="190693"/>
                </a:moveTo>
                <a:cubicBezTo>
                  <a:pt x="170219" y="190693"/>
                  <a:pt x="175023" y="185892"/>
                  <a:pt x="175023" y="179978"/>
                </a:cubicBezTo>
                <a:cubicBezTo>
                  <a:pt x="175023" y="174065"/>
                  <a:pt x="170219" y="169261"/>
                  <a:pt x="164306" y="169261"/>
                </a:cubicBezTo>
                <a:cubicBezTo>
                  <a:pt x="158392" y="169261"/>
                  <a:pt x="153591" y="174065"/>
                  <a:pt x="153591" y="179978"/>
                </a:cubicBezTo>
                <a:cubicBezTo>
                  <a:pt x="153591" y="185892"/>
                  <a:pt x="158392" y="190693"/>
                  <a:pt x="164306" y="19069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custDataLst>
              <p:tags r:id="rId1"/>
            </p:custDataLst>
          </p:nvPr>
        </p:nvSpPr>
        <p:spPr>
          <a:xfrm>
            <a:off x="1009650" y="2826385"/>
            <a:ext cx="480123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push vers la branche main</a:t>
            </a:r>
            <a:endParaRPr lang="en-US" sz="1100"/>
          </a:p>
        </p:txBody>
      </p:sp>
      <p:sp>
        <p:nvSpPr>
          <p:cNvPr id="8" name="AutoShape 8"/>
          <p:cNvSpPr/>
          <p:nvPr>
            <p:custDataLst>
              <p:tags r:id="rId2"/>
            </p:custDataLst>
          </p:nvPr>
        </p:nvSpPr>
        <p:spPr>
          <a:xfrm>
            <a:off x="1009650" y="3093085"/>
            <a:ext cx="474408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clenche lors de la mise à jour du code de la branche principal</a:t>
            </a: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9" name="Freeform 9"/>
          <p:cNvSpPr/>
          <p:nvPr/>
        </p:nvSpPr>
        <p:spPr>
          <a:xfrm>
            <a:off x="652391" y="3550481"/>
            <a:ext cx="200025" cy="228600"/>
          </a:xfrm>
          <a:custGeom>
            <a:avLst/>
            <a:gdLst/>
            <a:ahLst/>
            <a:cxnLst/>
            <a:rect l="l" t="t" r="r" b="b"/>
            <a:pathLst>
              <a:path w="200025" h="228600">
                <a:moveTo>
                  <a:pt x="35719" y="46434"/>
                </a:moveTo>
                <a:cubicBezTo>
                  <a:pt x="41633" y="46434"/>
                  <a:pt x="46434" y="41633"/>
                  <a:pt x="46434" y="35719"/>
                </a:cubicBezTo>
                <a:cubicBezTo>
                  <a:pt x="46434" y="29806"/>
                  <a:pt x="41633" y="25002"/>
                  <a:pt x="35719" y="25002"/>
                </a:cubicBezTo>
                <a:cubicBezTo>
                  <a:pt x="29806" y="25002"/>
                  <a:pt x="25002" y="29806"/>
                  <a:pt x="25002" y="35719"/>
                </a:cubicBezTo>
                <a:cubicBezTo>
                  <a:pt x="25002" y="41633"/>
                  <a:pt x="29806" y="46434"/>
                  <a:pt x="35719" y="46434"/>
                </a:cubicBezTo>
                <a:close/>
                <a:moveTo>
                  <a:pt x="71437" y="35719"/>
                </a:moveTo>
                <a:cubicBezTo>
                  <a:pt x="71437" y="50363"/>
                  <a:pt x="62641" y="62954"/>
                  <a:pt x="50006" y="68445"/>
                </a:cubicBezTo>
                <a:lnTo>
                  <a:pt x="50006" y="100013"/>
                </a:lnTo>
                <a:lnTo>
                  <a:pt x="128587" y="100013"/>
                </a:lnTo>
                <a:cubicBezTo>
                  <a:pt x="140419" y="100013"/>
                  <a:pt x="150019" y="90413"/>
                  <a:pt x="150019" y="78581"/>
                </a:cubicBezTo>
                <a:lnTo>
                  <a:pt x="150019" y="68445"/>
                </a:lnTo>
                <a:cubicBezTo>
                  <a:pt x="137384" y="62954"/>
                  <a:pt x="128587" y="50363"/>
                  <a:pt x="128587" y="35719"/>
                </a:cubicBezTo>
                <a:cubicBezTo>
                  <a:pt x="128587" y="15984"/>
                  <a:pt x="144572" y="0"/>
                  <a:pt x="164306" y="0"/>
                </a:cubicBezTo>
                <a:cubicBezTo>
                  <a:pt x="184041" y="0"/>
                  <a:pt x="200025" y="15984"/>
                  <a:pt x="200025" y="35719"/>
                </a:cubicBezTo>
                <a:cubicBezTo>
                  <a:pt x="200025" y="50363"/>
                  <a:pt x="191229" y="62954"/>
                  <a:pt x="178594" y="68445"/>
                </a:cubicBezTo>
                <a:lnTo>
                  <a:pt x="178594" y="78581"/>
                </a:lnTo>
                <a:cubicBezTo>
                  <a:pt x="178594" y="106219"/>
                  <a:pt x="156225" y="128588"/>
                  <a:pt x="128587" y="128588"/>
                </a:cubicBezTo>
                <a:lnTo>
                  <a:pt x="50006" y="128588"/>
                </a:lnTo>
                <a:lnTo>
                  <a:pt x="50006" y="160155"/>
                </a:lnTo>
                <a:cubicBezTo>
                  <a:pt x="62641" y="165646"/>
                  <a:pt x="71437" y="178237"/>
                  <a:pt x="71437" y="192881"/>
                </a:cubicBezTo>
                <a:cubicBezTo>
                  <a:pt x="71437" y="212616"/>
                  <a:pt x="55453" y="228600"/>
                  <a:pt x="35719" y="228600"/>
                </a:cubicBezTo>
                <a:cubicBezTo>
                  <a:pt x="15984" y="228600"/>
                  <a:pt x="0" y="212616"/>
                  <a:pt x="0" y="192881"/>
                </a:cubicBezTo>
                <a:cubicBezTo>
                  <a:pt x="0" y="178237"/>
                  <a:pt x="8796" y="165646"/>
                  <a:pt x="21431" y="160155"/>
                </a:cubicBezTo>
                <a:lnTo>
                  <a:pt x="21431" y="68491"/>
                </a:lnTo>
                <a:cubicBezTo>
                  <a:pt x="8796" y="62954"/>
                  <a:pt x="0" y="50363"/>
                  <a:pt x="0" y="35719"/>
                </a:cubicBezTo>
                <a:cubicBezTo>
                  <a:pt x="0" y="15984"/>
                  <a:pt x="15984" y="0"/>
                  <a:pt x="35719" y="0"/>
                </a:cubicBezTo>
                <a:cubicBezTo>
                  <a:pt x="55453" y="0"/>
                  <a:pt x="71437" y="15984"/>
                  <a:pt x="71437" y="35719"/>
                </a:cubicBezTo>
                <a:close/>
                <a:moveTo>
                  <a:pt x="175023" y="35719"/>
                </a:moveTo>
                <a:cubicBezTo>
                  <a:pt x="175023" y="29806"/>
                  <a:pt x="170219" y="25002"/>
                  <a:pt x="164306" y="25002"/>
                </a:cubicBezTo>
                <a:cubicBezTo>
                  <a:pt x="158392" y="25002"/>
                  <a:pt x="153591" y="29806"/>
                  <a:pt x="153591" y="35719"/>
                </a:cubicBezTo>
                <a:cubicBezTo>
                  <a:pt x="153591" y="41633"/>
                  <a:pt x="158392" y="46434"/>
                  <a:pt x="164306" y="46434"/>
                </a:cubicBezTo>
                <a:cubicBezTo>
                  <a:pt x="170219" y="46434"/>
                  <a:pt x="175023" y="41633"/>
                  <a:pt x="175023" y="35719"/>
                </a:cubicBezTo>
                <a:close/>
                <a:moveTo>
                  <a:pt x="35719" y="203598"/>
                </a:moveTo>
                <a:cubicBezTo>
                  <a:pt x="41633" y="203598"/>
                  <a:pt x="46434" y="198794"/>
                  <a:pt x="46434" y="192881"/>
                </a:cubicBezTo>
                <a:cubicBezTo>
                  <a:pt x="46434" y="186967"/>
                  <a:pt x="41633" y="182166"/>
                  <a:pt x="35719" y="182166"/>
                </a:cubicBezTo>
                <a:cubicBezTo>
                  <a:pt x="29806" y="182166"/>
                  <a:pt x="25002" y="186967"/>
                  <a:pt x="25002" y="192881"/>
                </a:cubicBezTo>
                <a:cubicBezTo>
                  <a:pt x="25002" y="198794"/>
                  <a:pt x="29806" y="203598"/>
                  <a:pt x="35719" y="20359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custDataLst>
              <p:tags r:id="rId3"/>
            </p:custDataLst>
          </p:nvPr>
        </p:nvSpPr>
        <p:spPr>
          <a:xfrm>
            <a:off x="1009650" y="3435985"/>
            <a:ext cx="380111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Pull Request</a:t>
            </a:r>
            <a:endParaRPr lang="en-US" sz="1100"/>
          </a:p>
        </p:txBody>
      </p:sp>
      <p:sp>
        <p:nvSpPr>
          <p:cNvPr id="11" name="AutoShape 11"/>
          <p:cNvSpPr/>
          <p:nvPr>
            <p:custDataLst>
              <p:tags r:id="rId4"/>
            </p:custDataLst>
          </p:nvPr>
        </p:nvSpPr>
        <p:spPr>
          <a:xfrm>
            <a:off x="1009650" y="3702685"/>
            <a:ext cx="374396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clenche le scan lors de la soumission d'une P</a:t>
            </a: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R</a:t>
            </a:r>
            <a:endParaRPr lang="en-US" sz="1100"/>
          </a:p>
        </p:txBody>
      </p:sp>
      <p:sp>
        <p:nvSpPr>
          <p:cNvPr id="12" name="Freeform 12"/>
          <p:cNvSpPr/>
          <p:nvPr/>
        </p:nvSpPr>
        <p:spPr>
          <a:xfrm>
            <a:off x="6248338" y="2179039"/>
            <a:ext cx="5562600" cy="1943100"/>
          </a:xfrm>
          <a:custGeom>
            <a:avLst/>
            <a:gdLst/>
            <a:ahLst/>
            <a:cxnLst/>
            <a:rect l="l" t="t" r="r" b="b"/>
            <a:pathLst>
              <a:path w="5562600" h="1943100">
                <a:moveTo>
                  <a:pt x="76208" y="0"/>
                </a:moveTo>
                <a:lnTo>
                  <a:pt x="5486392" y="0"/>
                </a:lnTo>
                <a:cubicBezTo>
                  <a:pt x="5528480" y="0"/>
                  <a:pt x="5562600" y="34120"/>
                  <a:pt x="5562600" y="76208"/>
                </a:cubicBezTo>
                <a:lnTo>
                  <a:pt x="5562600" y="1866892"/>
                </a:lnTo>
                <a:cubicBezTo>
                  <a:pt x="5562600" y="1908980"/>
                  <a:pt x="5528480" y="1943100"/>
                  <a:pt x="5486392" y="1943100"/>
                </a:cubicBezTo>
                <a:lnTo>
                  <a:pt x="76208" y="1943100"/>
                </a:lnTo>
                <a:cubicBezTo>
                  <a:pt x="34120" y="1943100"/>
                  <a:pt x="0" y="1908980"/>
                  <a:pt x="0" y="1866892"/>
                </a:cubicBezTo>
                <a:lnTo>
                  <a:pt x="0" y="76208"/>
                </a:lnTo>
                <a:cubicBezTo>
                  <a:pt x="0" y="34148"/>
                  <a:pt x="34148" y="0"/>
                  <a:pt x="76208" y="0"/>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476911" y="2407611"/>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Resultats du scan</a:t>
            </a:r>
            <a:endParaRPr lang="en-US" sz="1100"/>
          </a:p>
        </p:txBody>
      </p:sp>
      <p:sp>
        <p:nvSpPr>
          <p:cNvPr id="14" name="Freeform 14"/>
          <p:cNvSpPr/>
          <p:nvPr>
            <p:custDataLst>
              <p:tags r:id="rId5"/>
            </p:custDataLst>
          </p:nvPr>
        </p:nvSpPr>
        <p:spPr>
          <a:xfrm>
            <a:off x="6534061" y="2940946"/>
            <a:ext cx="171450" cy="228600"/>
          </a:xfrm>
          <a:custGeom>
            <a:avLst/>
            <a:gdLst/>
            <a:ahLst/>
            <a:cxnLst/>
            <a:rect l="l" t="t" r="r" b="b"/>
            <a:pathLst>
              <a:path w="171450" h="228600">
                <a:moveTo>
                  <a:pt x="0" y="28575"/>
                </a:moveTo>
                <a:cubicBezTo>
                  <a:pt x="0" y="12814"/>
                  <a:pt x="12814" y="0"/>
                  <a:pt x="28575" y="0"/>
                </a:cubicBezTo>
                <a:lnTo>
                  <a:pt x="95324" y="0"/>
                </a:lnTo>
                <a:cubicBezTo>
                  <a:pt x="102914" y="0"/>
                  <a:pt x="110192" y="2991"/>
                  <a:pt x="115550" y="8349"/>
                </a:cubicBezTo>
                <a:lnTo>
                  <a:pt x="163101" y="55944"/>
                </a:lnTo>
                <a:cubicBezTo>
                  <a:pt x="168459" y="61302"/>
                  <a:pt x="171450" y="68580"/>
                  <a:pt x="171450" y="76170"/>
                </a:cubicBezTo>
                <a:lnTo>
                  <a:pt x="171450" y="200025"/>
                </a:lnTo>
                <a:cubicBezTo>
                  <a:pt x="171450" y="215786"/>
                  <a:pt x="158636" y="228600"/>
                  <a:pt x="142875" y="228600"/>
                </a:cubicBezTo>
                <a:lnTo>
                  <a:pt x="28575" y="228600"/>
                </a:lnTo>
                <a:cubicBezTo>
                  <a:pt x="12814" y="228600"/>
                  <a:pt x="0" y="215786"/>
                  <a:pt x="0" y="200025"/>
                </a:cubicBezTo>
                <a:lnTo>
                  <a:pt x="0" y="28575"/>
                </a:lnTo>
                <a:close/>
                <a:moveTo>
                  <a:pt x="92869" y="26119"/>
                </a:moveTo>
                <a:lnTo>
                  <a:pt x="92869" y="67866"/>
                </a:lnTo>
                <a:cubicBezTo>
                  <a:pt x="92869" y="73804"/>
                  <a:pt x="97646" y="78581"/>
                  <a:pt x="103584" y="78581"/>
                </a:cubicBezTo>
                <a:lnTo>
                  <a:pt x="145331" y="78581"/>
                </a:lnTo>
                <a:lnTo>
                  <a:pt x="92869" y="26119"/>
                </a:lnTo>
                <a:close/>
                <a:moveTo>
                  <a:pt x="53577" y="114300"/>
                </a:moveTo>
                <a:cubicBezTo>
                  <a:pt x="47640" y="114300"/>
                  <a:pt x="42863" y="119076"/>
                  <a:pt x="42863" y="125016"/>
                </a:cubicBezTo>
                <a:cubicBezTo>
                  <a:pt x="42863" y="130954"/>
                  <a:pt x="47640" y="135731"/>
                  <a:pt x="53577" y="135731"/>
                </a:cubicBezTo>
                <a:lnTo>
                  <a:pt x="117873" y="135731"/>
                </a:lnTo>
                <a:cubicBezTo>
                  <a:pt x="123810" y="135731"/>
                  <a:pt x="128588" y="130954"/>
                  <a:pt x="128588" y="125016"/>
                </a:cubicBezTo>
                <a:cubicBezTo>
                  <a:pt x="128588" y="119076"/>
                  <a:pt x="123810" y="114300"/>
                  <a:pt x="117873" y="114300"/>
                </a:cubicBezTo>
                <a:lnTo>
                  <a:pt x="53577" y="114300"/>
                </a:lnTo>
                <a:close/>
                <a:moveTo>
                  <a:pt x="53577" y="157162"/>
                </a:moveTo>
                <a:cubicBezTo>
                  <a:pt x="47640" y="157162"/>
                  <a:pt x="42863" y="161940"/>
                  <a:pt x="42863" y="167877"/>
                </a:cubicBezTo>
                <a:cubicBezTo>
                  <a:pt x="42863" y="173816"/>
                  <a:pt x="47640" y="178594"/>
                  <a:pt x="53577" y="178594"/>
                </a:cubicBezTo>
                <a:lnTo>
                  <a:pt x="117873" y="178594"/>
                </a:lnTo>
                <a:cubicBezTo>
                  <a:pt x="123810" y="178594"/>
                  <a:pt x="128588" y="173816"/>
                  <a:pt x="128588" y="167877"/>
                </a:cubicBezTo>
                <a:cubicBezTo>
                  <a:pt x="128588" y="161940"/>
                  <a:pt x="123810" y="157162"/>
                  <a:pt x="117873" y="157162"/>
                </a:cubicBezTo>
                <a:lnTo>
                  <a:pt x="53577" y="157162"/>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custDataLst>
              <p:tags r:id="rId6"/>
            </p:custDataLst>
          </p:nvPr>
        </p:nvSpPr>
        <p:spPr>
          <a:xfrm>
            <a:off x="6877050" y="2826385"/>
            <a:ext cx="477647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a:t>
            </a:r>
            <a:r>
              <a:rPr lang="en-US" alt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n</a:t>
            </a:r>
            <a:r>
              <a:rPr lang="en-US" alt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ration de rapports d</a:t>
            </a:r>
            <a:r>
              <a:rPr lang="en-US" alt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taill</a:t>
            </a:r>
            <a:r>
              <a:rPr lang="en-US" alt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16" name="AutoShape 16"/>
          <p:cNvSpPr/>
          <p:nvPr>
            <p:custDataLst>
              <p:tags r:id="rId7"/>
            </p:custDataLst>
          </p:nvPr>
        </p:nvSpPr>
        <p:spPr>
          <a:xfrm>
            <a:off x="6877050" y="3093085"/>
            <a:ext cx="448119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Inclut les probl</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mes d</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tect</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 et recommandation</a:t>
            </a: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17" name="Freeform 17"/>
          <p:cNvSpPr/>
          <p:nvPr>
            <p:custDataLst>
              <p:tags r:id="rId8"/>
            </p:custDataLst>
          </p:nvPr>
        </p:nvSpPr>
        <p:spPr>
          <a:xfrm>
            <a:off x="6519774" y="3550481"/>
            <a:ext cx="199981" cy="228600"/>
          </a:xfrm>
          <a:custGeom>
            <a:avLst/>
            <a:gdLst/>
            <a:ahLst/>
            <a:cxnLst/>
            <a:rect l="l" t="t" r="r" b="b"/>
            <a:pathLst>
              <a:path w="199981" h="228600">
                <a:moveTo>
                  <a:pt x="100012" y="0"/>
                </a:moveTo>
                <a:cubicBezTo>
                  <a:pt x="92111" y="0"/>
                  <a:pt x="85725" y="6386"/>
                  <a:pt x="85725" y="14288"/>
                </a:cubicBezTo>
                <a:lnTo>
                  <a:pt x="85725" y="15716"/>
                </a:lnTo>
                <a:cubicBezTo>
                  <a:pt x="53132" y="22324"/>
                  <a:pt x="28575" y="51167"/>
                  <a:pt x="28575" y="85725"/>
                </a:cubicBezTo>
                <a:lnTo>
                  <a:pt x="28575" y="95414"/>
                </a:lnTo>
                <a:cubicBezTo>
                  <a:pt x="28575" y="116890"/>
                  <a:pt x="21253" y="137740"/>
                  <a:pt x="7857" y="154529"/>
                </a:cubicBezTo>
                <a:lnTo>
                  <a:pt x="3484" y="159976"/>
                </a:lnTo>
                <a:cubicBezTo>
                  <a:pt x="1206" y="162789"/>
                  <a:pt x="0" y="166271"/>
                  <a:pt x="0" y="169887"/>
                </a:cubicBezTo>
                <a:cubicBezTo>
                  <a:pt x="0" y="178638"/>
                  <a:pt x="7099" y="185738"/>
                  <a:pt x="15850" y="185738"/>
                </a:cubicBezTo>
                <a:lnTo>
                  <a:pt x="184130" y="185738"/>
                </a:lnTo>
                <a:cubicBezTo>
                  <a:pt x="192881" y="185738"/>
                  <a:pt x="199981" y="178638"/>
                  <a:pt x="199981" y="169887"/>
                </a:cubicBezTo>
                <a:cubicBezTo>
                  <a:pt x="199981" y="166271"/>
                  <a:pt x="198775" y="162789"/>
                  <a:pt x="196498" y="159976"/>
                </a:cubicBezTo>
                <a:lnTo>
                  <a:pt x="192122" y="154529"/>
                </a:lnTo>
                <a:cubicBezTo>
                  <a:pt x="178772" y="137740"/>
                  <a:pt x="171450" y="116890"/>
                  <a:pt x="171450" y="95414"/>
                </a:cubicBezTo>
                <a:lnTo>
                  <a:pt x="171450" y="85725"/>
                </a:lnTo>
                <a:cubicBezTo>
                  <a:pt x="171450" y="51167"/>
                  <a:pt x="146893" y="22324"/>
                  <a:pt x="114300" y="15716"/>
                </a:cubicBezTo>
                <a:lnTo>
                  <a:pt x="114300" y="14288"/>
                </a:lnTo>
                <a:cubicBezTo>
                  <a:pt x="114300" y="6386"/>
                  <a:pt x="107914" y="0"/>
                  <a:pt x="100012" y="0"/>
                </a:cubicBezTo>
                <a:close/>
                <a:moveTo>
                  <a:pt x="72330" y="207169"/>
                </a:moveTo>
                <a:cubicBezTo>
                  <a:pt x="75502" y="219492"/>
                  <a:pt x="86707" y="228600"/>
                  <a:pt x="100012" y="228600"/>
                </a:cubicBezTo>
                <a:cubicBezTo>
                  <a:pt x="113318" y="228600"/>
                  <a:pt x="124523" y="219492"/>
                  <a:pt x="127695" y="207169"/>
                </a:cubicBezTo>
                <a:lnTo>
                  <a:pt x="72330" y="207169"/>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custDataLst>
              <p:tags r:id="rId9"/>
            </p:custDataLst>
          </p:nvPr>
        </p:nvSpPr>
        <p:spPr>
          <a:xfrm>
            <a:off x="6877050" y="3435985"/>
            <a:ext cx="387858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Notification automatique</a:t>
            </a:r>
            <a:endParaRPr lang="en-US" sz="1100"/>
          </a:p>
        </p:txBody>
      </p:sp>
      <p:sp>
        <p:nvSpPr>
          <p:cNvPr id="19" name="AutoShape 19"/>
          <p:cNvSpPr/>
          <p:nvPr>
            <p:custDataLst>
              <p:tags r:id="rId10"/>
            </p:custDataLst>
          </p:nvPr>
        </p:nvSpPr>
        <p:spPr>
          <a:xfrm>
            <a:off x="6877050" y="3702685"/>
            <a:ext cx="381508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Retour d'information rapide aux d</a:t>
            </a:r>
            <a:r>
              <a:rPr lang="en-US" alt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veloppeur</a:t>
            </a: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20" name="Freeform 20"/>
          <p:cNvSpPr/>
          <p:nvPr/>
        </p:nvSpPr>
        <p:spPr>
          <a:xfrm>
            <a:off x="381000" y="4350385"/>
            <a:ext cx="11429365" cy="1371600"/>
          </a:xfrm>
          <a:custGeom>
            <a:avLst/>
            <a:gdLst/>
            <a:ahLst/>
            <a:cxnLst/>
            <a:rect l="l" t="t" r="r" b="b"/>
            <a:pathLst>
              <a:path w="11430000" h="1371600">
                <a:moveTo>
                  <a:pt x="76206" y="0"/>
                </a:moveTo>
                <a:lnTo>
                  <a:pt x="11353794" y="0"/>
                </a:lnTo>
                <a:cubicBezTo>
                  <a:pt x="11395881" y="0"/>
                  <a:pt x="11430000" y="34119"/>
                  <a:pt x="11430000" y="76206"/>
                </a:cubicBezTo>
                <a:lnTo>
                  <a:pt x="11430000" y="1295394"/>
                </a:lnTo>
                <a:cubicBezTo>
                  <a:pt x="11430000" y="1337481"/>
                  <a:pt x="11395881" y="1371600"/>
                  <a:pt x="11353794" y="1371600"/>
                </a:cubicBezTo>
                <a:lnTo>
                  <a:pt x="76206" y="1371600"/>
                </a:lnTo>
                <a:cubicBezTo>
                  <a:pt x="34119" y="1371600"/>
                  <a:pt x="0" y="1337481"/>
                  <a:pt x="0" y="1295394"/>
                </a:cubicBezTo>
                <a:lnTo>
                  <a:pt x="0" y="76206"/>
                </a:lnTo>
                <a:cubicBezTo>
                  <a:pt x="0" y="34146"/>
                  <a:pt x="34146" y="0"/>
                  <a:pt x="7620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09529" y="4579097"/>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Objectifs</a:t>
            </a:r>
            <a:endParaRPr lang="en-US" sz="1100"/>
          </a:p>
        </p:txBody>
      </p:sp>
      <p:sp>
        <p:nvSpPr>
          <p:cNvPr id="22" name="Freeform 22"/>
          <p:cNvSpPr/>
          <p:nvPr/>
        </p:nvSpPr>
        <p:spPr>
          <a:xfrm>
            <a:off x="656558" y="5036241"/>
            <a:ext cx="268003" cy="285304"/>
          </a:xfrm>
          <a:custGeom>
            <a:avLst/>
            <a:gdLst/>
            <a:ahLst/>
            <a:cxnLst/>
            <a:rect l="l" t="t" r="r" b="b"/>
            <a:pathLst>
              <a:path w="268003" h="285304">
                <a:moveTo>
                  <a:pt x="133946" y="0"/>
                </a:moveTo>
                <a:cubicBezTo>
                  <a:pt x="136513" y="0"/>
                  <a:pt x="139081" y="558"/>
                  <a:pt x="141425" y="1619"/>
                </a:cubicBezTo>
                <a:lnTo>
                  <a:pt x="246572" y="46211"/>
                </a:lnTo>
                <a:cubicBezTo>
                  <a:pt x="258850" y="51402"/>
                  <a:pt x="268003" y="63511"/>
                  <a:pt x="267948" y="78135"/>
                </a:cubicBezTo>
                <a:cubicBezTo>
                  <a:pt x="267668" y="133499"/>
                  <a:pt x="244897" y="234795"/>
                  <a:pt x="148736" y="280839"/>
                </a:cubicBezTo>
                <a:cubicBezTo>
                  <a:pt x="139415" y="285304"/>
                  <a:pt x="128588" y="285304"/>
                  <a:pt x="119269" y="280839"/>
                </a:cubicBezTo>
                <a:cubicBezTo>
                  <a:pt x="23050" y="234795"/>
                  <a:pt x="336" y="133499"/>
                  <a:pt x="56" y="78135"/>
                </a:cubicBezTo>
                <a:cubicBezTo>
                  <a:pt x="0" y="63511"/>
                  <a:pt x="9155" y="51402"/>
                  <a:pt x="21432" y="46211"/>
                </a:cubicBezTo>
                <a:lnTo>
                  <a:pt x="126523" y="1619"/>
                </a:lnTo>
                <a:cubicBezTo>
                  <a:pt x="128867" y="558"/>
                  <a:pt x="131379" y="0"/>
                  <a:pt x="133946" y="0"/>
                </a:cubicBezTo>
                <a:close/>
                <a:moveTo>
                  <a:pt x="133946" y="37281"/>
                </a:moveTo>
                <a:lnTo>
                  <a:pt x="133946" y="248302"/>
                </a:lnTo>
                <a:cubicBezTo>
                  <a:pt x="210965" y="211019"/>
                  <a:pt x="231670" y="128420"/>
                  <a:pt x="232173" y="78972"/>
                </a:cubicBezTo>
                <a:lnTo>
                  <a:pt x="133946" y="37337"/>
                </a:lnTo>
                <a:lnTo>
                  <a:pt x="133946" y="3733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1080770" y="4998085"/>
            <a:ext cx="470471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Am</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liorer la s</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curit</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endParaRPr lang="en-US" sz="1100"/>
          </a:p>
        </p:txBody>
      </p:sp>
      <p:sp>
        <p:nvSpPr>
          <p:cNvPr id="24" name="AutoShape 24"/>
          <p:cNvSpPr/>
          <p:nvPr/>
        </p:nvSpPr>
        <p:spPr>
          <a:xfrm>
            <a:off x="1080770" y="5264785"/>
            <a:ext cx="46767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tecter rapidement les vuln</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rabilit</a:t>
            </a:r>
            <a:r>
              <a:rPr lang="en-US" alt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 potentielle</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25" name="Freeform 25"/>
          <p:cNvSpPr/>
          <p:nvPr/>
        </p:nvSpPr>
        <p:spPr>
          <a:xfrm>
            <a:off x="6211711" y="5036241"/>
            <a:ext cx="358470" cy="285750"/>
          </a:xfrm>
          <a:custGeom>
            <a:avLst/>
            <a:gdLst/>
            <a:ahLst/>
            <a:cxnLst/>
            <a:rect l="l" t="t" r="r" b="b"/>
            <a:pathLst>
              <a:path w="358470" h="285750">
                <a:moveTo>
                  <a:pt x="215261" y="17859"/>
                </a:moveTo>
                <a:lnTo>
                  <a:pt x="286699" y="17859"/>
                </a:lnTo>
                <a:cubicBezTo>
                  <a:pt x="296577" y="17859"/>
                  <a:pt x="304558" y="25839"/>
                  <a:pt x="304558" y="35719"/>
                </a:cubicBezTo>
                <a:cubicBezTo>
                  <a:pt x="304558" y="45597"/>
                  <a:pt x="296577" y="53577"/>
                  <a:pt x="286699" y="53577"/>
                </a:cubicBezTo>
                <a:lnTo>
                  <a:pt x="223298" y="53577"/>
                </a:lnTo>
                <a:cubicBezTo>
                  <a:pt x="220396" y="67977"/>
                  <a:pt x="210518" y="79865"/>
                  <a:pt x="197401" y="85559"/>
                </a:cubicBezTo>
                <a:lnTo>
                  <a:pt x="197401" y="250031"/>
                </a:lnTo>
                <a:lnTo>
                  <a:pt x="286699" y="250031"/>
                </a:lnTo>
                <a:cubicBezTo>
                  <a:pt x="296577" y="250031"/>
                  <a:pt x="304558" y="258012"/>
                  <a:pt x="304558" y="267891"/>
                </a:cubicBezTo>
                <a:cubicBezTo>
                  <a:pt x="304558" y="277769"/>
                  <a:pt x="296577" y="285750"/>
                  <a:pt x="286699" y="285750"/>
                </a:cubicBezTo>
                <a:lnTo>
                  <a:pt x="72387" y="285750"/>
                </a:lnTo>
                <a:cubicBezTo>
                  <a:pt x="62508" y="285750"/>
                  <a:pt x="54526" y="277769"/>
                  <a:pt x="54526" y="267891"/>
                </a:cubicBezTo>
                <a:cubicBezTo>
                  <a:pt x="54526" y="258012"/>
                  <a:pt x="62508" y="250031"/>
                  <a:pt x="72387" y="250031"/>
                </a:cubicBezTo>
                <a:lnTo>
                  <a:pt x="161683" y="250031"/>
                </a:lnTo>
                <a:lnTo>
                  <a:pt x="161683" y="85559"/>
                </a:lnTo>
                <a:cubicBezTo>
                  <a:pt x="148567" y="79809"/>
                  <a:pt x="138689" y="67921"/>
                  <a:pt x="135787" y="53577"/>
                </a:cubicBezTo>
                <a:lnTo>
                  <a:pt x="72387" y="53577"/>
                </a:lnTo>
                <a:cubicBezTo>
                  <a:pt x="62508" y="53577"/>
                  <a:pt x="54526" y="45597"/>
                  <a:pt x="54526" y="35719"/>
                </a:cubicBezTo>
                <a:cubicBezTo>
                  <a:pt x="54526" y="25839"/>
                  <a:pt x="62508" y="17859"/>
                  <a:pt x="72387" y="17859"/>
                </a:cubicBezTo>
                <a:lnTo>
                  <a:pt x="143824" y="17859"/>
                </a:lnTo>
                <a:cubicBezTo>
                  <a:pt x="151972" y="7032"/>
                  <a:pt x="164920" y="0"/>
                  <a:pt x="179543" y="0"/>
                </a:cubicBezTo>
                <a:cubicBezTo>
                  <a:pt x="194166" y="0"/>
                  <a:pt x="207113" y="7032"/>
                  <a:pt x="215261" y="17859"/>
                </a:cubicBezTo>
                <a:close/>
                <a:moveTo>
                  <a:pt x="246291" y="178594"/>
                </a:moveTo>
                <a:lnTo>
                  <a:pt x="327107" y="178594"/>
                </a:lnTo>
                <a:lnTo>
                  <a:pt x="286699" y="109277"/>
                </a:lnTo>
                <a:lnTo>
                  <a:pt x="246291" y="178594"/>
                </a:lnTo>
                <a:close/>
                <a:moveTo>
                  <a:pt x="286699" y="232173"/>
                </a:moveTo>
                <a:cubicBezTo>
                  <a:pt x="251594" y="232173"/>
                  <a:pt x="222405" y="213196"/>
                  <a:pt x="216378" y="188137"/>
                </a:cubicBezTo>
                <a:cubicBezTo>
                  <a:pt x="214927" y="181999"/>
                  <a:pt x="216937" y="175692"/>
                  <a:pt x="220117" y="170222"/>
                </a:cubicBezTo>
                <a:lnTo>
                  <a:pt x="273248" y="79139"/>
                </a:lnTo>
                <a:cubicBezTo>
                  <a:pt x="276039" y="74339"/>
                  <a:pt x="281175" y="71437"/>
                  <a:pt x="286699" y="71437"/>
                </a:cubicBezTo>
                <a:cubicBezTo>
                  <a:pt x="292223" y="71437"/>
                  <a:pt x="297359" y="74395"/>
                  <a:pt x="300150" y="79139"/>
                </a:cubicBezTo>
                <a:lnTo>
                  <a:pt x="353281" y="170222"/>
                </a:lnTo>
                <a:cubicBezTo>
                  <a:pt x="356461" y="175692"/>
                  <a:pt x="358471" y="181999"/>
                  <a:pt x="357020" y="188137"/>
                </a:cubicBezTo>
                <a:cubicBezTo>
                  <a:pt x="350993" y="213140"/>
                  <a:pt x="321804" y="232173"/>
                  <a:pt x="286699" y="232173"/>
                </a:cubicBezTo>
                <a:close/>
                <a:moveTo>
                  <a:pt x="71717" y="109277"/>
                </a:moveTo>
                <a:lnTo>
                  <a:pt x="31310" y="178594"/>
                </a:lnTo>
                <a:lnTo>
                  <a:pt x="112179" y="178594"/>
                </a:lnTo>
                <a:lnTo>
                  <a:pt x="71717" y="109277"/>
                </a:lnTo>
                <a:close/>
                <a:moveTo>
                  <a:pt x="1451" y="188137"/>
                </a:moveTo>
                <a:cubicBezTo>
                  <a:pt x="0" y="181999"/>
                  <a:pt x="2009" y="175692"/>
                  <a:pt x="5191" y="170222"/>
                </a:cubicBezTo>
                <a:lnTo>
                  <a:pt x="58323" y="79139"/>
                </a:lnTo>
                <a:cubicBezTo>
                  <a:pt x="61113" y="74339"/>
                  <a:pt x="66247" y="71437"/>
                  <a:pt x="71773" y="71437"/>
                </a:cubicBezTo>
                <a:cubicBezTo>
                  <a:pt x="77298" y="71437"/>
                  <a:pt x="82432" y="74395"/>
                  <a:pt x="85222" y="79139"/>
                </a:cubicBezTo>
                <a:lnTo>
                  <a:pt x="138355" y="170222"/>
                </a:lnTo>
                <a:cubicBezTo>
                  <a:pt x="141535" y="175692"/>
                  <a:pt x="143545" y="181999"/>
                  <a:pt x="142094" y="188137"/>
                </a:cubicBezTo>
                <a:cubicBezTo>
                  <a:pt x="136066" y="213140"/>
                  <a:pt x="106877" y="232173"/>
                  <a:pt x="71773" y="232173"/>
                </a:cubicBezTo>
                <a:cubicBezTo>
                  <a:pt x="36668" y="232173"/>
                  <a:pt x="7479" y="213196"/>
                  <a:pt x="1451" y="18813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681470" y="4998085"/>
            <a:ext cx="470471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Garantir la conformit</a:t>
            </a:r>
            <a:r>
              <a:rPr lang="en-US" alt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du cod</a:t>
            </a: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27" name="AutoShape 27"/>
          <p:cNvSpPr/>
          <p:nvPr/>
        </p:nvSpPr>
        <p:spPr>
          <a:xfrm>
            <a:off x="6681470" y="5264785"/>
            <a:ext cx="46767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Assurer le respect des exigences de licence open source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42950" y="873125"/>
            <a:ext cx="971486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altLang="zh-CN"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Challenge mondial de l'informatique ouverte FlagO</a:t>
            </a: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endParaRPr lang="en-US" sz="3200"/>
          </a:p>
        </p:txBody>
      </p:sp>
      <p:sp>
        <p:nvSpPr>
          <p:cNvPr id="3" name="Freeform 3"/>
          <p:cNvSpPr/>
          <p:nvPr/>
        </p:nvSpPr>
        <p:spPr>
          <a:xfrm>
            <a:off x="390525" y="1650365"/>
            <a:ext cx="3800475" cy="2125980"/>
          </a:xfrm>
          <a:custGeom>
            <a:avLst/>
            <a:gdLst/>
            <a:ahLst/>
            <a:cxnLst/>
            <a:rect l="l" t="t" r="r" b="b"/>
            <a:pathLst>
              <a:path w="3800476" h="2000155">
                <a:moveTo>
                  <a:pt x="52245" y="0"/>
                </a:moveTo>
                <a:lnTo>
                  <a:pt x="3748231" y="0"/>
                </a:lnTo>
                <a:cubicBezTo>
                  <a:pt x="3777085" y="0"/>
                  <a:pt x="3800476" y="34119"/>
                  <a:pt x="3800476" y="76206"/>
                </a:cubicBezTo>
                <a:lnTo>
                  <a:pt x="3800476" y="1923948"/>
                </a:lnTo>
                <a:cubicBezTo>
                  <a:pt x="3800476" y="1966037"/>
                  <a:pt x="3777085" y="2000155"/>
                  <a:pt x="3748231" y="2000155"/>
                </a:cubicBezTo>
                <a:lnTo>
                  <a:pt x="52245" y="2000155"/>
                </a:lnTo>
                <a:cubicBezTo>
                  <a:pt x="23391" y="2000155"/>
                  <a:pt x="0" y="1966037"/>
                  <a:pt x="0" y="1923948"/>
                </a:cubicBezTo>
                <a:lnTo>
                  <a:pt x="0" y="76206"/>
                </a:lnTo>
                <a:cubicBezTo>
                  <a:pt x="0" y="34146"/>
                  <a:pt x="23410" y="0"/>
                  <a:pt x="52245"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4" name="AutoShape 4"/>
          <p:cNvSpPr/>
          <p:nvPr/>
        </p:nvSpPr>
        <p:spPr>
          <a:xfrm>
            <a:off x="628484" y="1888415"/>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Organisateurs</a:t>
            </a:r>
            <a:endParaRPr lang="en-US" sz="1100"/>
          </a:p>
        </p:txBody>
      </p:sp>
      <p:sp>
        <p:nvSpPr>
          <p:cNvPr id="5" name="Freeform 5"/>
          <p:cNvSpPr/>
          <p:nvPr/>
        </p:nvSpPr>
        <p:spPr>
          <a:xfrm>
            <a:off x="628484" y="2307506"/>
            <a:ext cx="3242246" cy="495300"/>
          </a:xfrm>
          <a:custGeom>
            <a:avLst/>
            <a:gdLst/>
            <a:ahLst/>
            <a:cxnLst/>
            <a:rect l="l" t="t" r="r" b="b"/>
            <a:pathLst>
              <a:path w="3242246" h="495300">
                <a:moveTo>
                  <a:pt x="48757" y="0"/>
                </a:moveTo>
                <a:lnTo>
                  <a:pt x="3193490" y="0"/>
                </a:lnTo>
                <a:cubicBezTo>
                  <a:pt x="3220418" y="0"/>
                  <a:pt x="3242246" y="34117"/>
                  <a:pt x="3242246" y="76203"/>
                </a:cubicBezTo>
                <a:lnTo>
                  <a:pt x="3242246" y="419097"/>
                </a:lnTo>
                <a:cubicBezTo>
                  <a:pt x="3242246" y="461183"/>
                  <a:pt x="3220418" y="495300"/>
                  <a:pt x="3193490" y="495300"/>
                </a:cubicBezTo>
                <a:lnTo>
                  <a:pt x="48757" y="495300"/>
                </a:lnTo>
                <a:cubicBezTo>
                  <a:pt x="21829" y="495300"/>
                  <a:pt x="0" y="461183"/>
                  <a:pt x="0" y="419097"/>
                </a:cubicBezTo>
                <a:lnTo>
                  <a:pt x="0" y="76203"/>
                </a:lnTo>
                <a:cubicBezTo>
                  <a:pt x="0" y="34117"/>
                  <a:pt x="21829" y="0"/>
                  <a:pt x="4875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742734" y="2465765"/>
            <a:ext cx="238125" cy="172641"/>
          </a:xfrm>
          <a:custGeom>
            <a:avLst/>
            <a:gdLst/>
            <a:ahLst/>
            <a:cxnLst/>
            <a:rect l="l" t="t" r="r" b="b"/>
            <a:pathLst>
              <a:path w="238125" h="172641">
                <a:moveTo>
                  <a:pt x="119062" y="0"/>
                </a:moveTo>
                <a:cubicBezTo>
                  <a:pt x="140419" y="0"/>
                  <a:pt x="157758" y="17340"/>
                  <a:pt x="157758" y="38696"/>
                </a:cubicBezTo>
                <a:cubicBezTo>
                  <a:pt x="157758" y="60052"/>
                  <a:pt x="140419" y="77392"/>
                  <a:pt x="119062" y="77392"/>
                </a:cubicBezTo>
                <a:cubicBezTo>
                  <a:pt x="97706" y="77392"/>
                  <a:pt x="80367" y="60052"/>
                  <a:pt x="80367" y="38696"/>
                </a:cubicBezTo>
                <a:cubicBezTo>
                  <a:pt x="80367" y="17340"/>
                  <a:pt x="97706" y="0"/>
                  <a:pt x="119062" y="0"/>
                </a:cubicBezTo>
                <a:close/>
                <a:moveTo>
                  <a:pt x="35719" y="26790"/>
                </a:moveTo>
                <a:cubicBezTo>
                  <a:pt x="50504" y="26790"/>
                  <a:pt x="62508" y="38794"/>
                  <a:pt x="62508" y="53579"/>
                </a:cubicBezTo>
                <a:cubicBezTo>
                  <a:pt x="62508" y="68365"/>
                  <a:pt x="50504" y="80369"/>
                  <a:pt x="35719" y="80369"/>
                </a:cubicBezTo>
                <a:cubicBezTo>
                  <a:pt x="20933" y="80369"/>
                  <a:pt x="8929" y="68365"/>
                  <a:pt x="8929" y="53579"/>
                </a:cubicBezTo>
                <a:cubicBezTo>
                  <a:pt x="8929" y="38794"/>
                  <a:pt x="20933" y="26790"/>
                  <a:pt x="35719" y="26790"/>
                </a:cubicBezTo>
                <a:close/>
                <a:moveTo>
                  <a:pt x="0" y="148829"/>
                </a:moveTo>
                <a:cubicBezTo>
                  <a:pt x="0" y="122524"/>
                  <a:pt x="21319" y="101204"/>
                  <a:pt x="47625" y="101204"/>
                </a:cubicBezTo>
                <a:cubicBezTo>
                  <a:pt x="52388" y="101204"/>
                  <a:pt x="57001" y="101910"/>
                  <a:pt x="61354" y="103213"/>
                </a:cubicBezTo>
                <a:cubicBezTo>
                  <a:pt x="49113" y="116907"/>
                  <a:pt x="41673" y="134988"/>
                  <a:pt x="41673" y="154782"/>
                </a:cubicBezTo>
                <a:lnTo>
                  <a:pt x="41673" y="160735"/>
                </a:lnTo>
                <a:cubicBezTo>
                  <a:pt x="41673" y="164977"/>
                  <a:pt x="42565" y="168996"/>
                  <a:pt x="44166" y="172642"/>
                </a:cubicBezTo>
                <a:lnTo>
                  <a:pt x="11906" y="172642"/>
                </a:lnTo>
                <a:cubicBezTo>
                  <a:pt x="5321" y="172642"/>
                  <a:pt x="0" y="167320"/>
                  <a:pt x="0" y="160735"/>
                </a:cubicBezTo>
                <a:lnTo>
                  <a:pt x="0" y="148829"/>
                </a:lnTo>
                <a:close/>
                <a:moveTo>
                  <a:pt x="193959" y="172642"/>
                </a:moveTo>
                <a:cubicBezTo>
                  <a:pt x="195560" y="168996"/>
                  <a:pt x="196452" y="164977"/>
                  <a:pt x="196452" y="160735"/>
                </a:cubicBezTo>
                <a:lnTo>
                  <a:pt x="196452" y="154782"/>
                </a:lnTo>
                <a:cubicBezTo>
                  <a:pt x="196452" y="134988"/>
                  <a:pt x="189012" y="116907"/>
                  <a:pt x="176771" y="103213"/>
                </a:cubicBezTo>
                <a:cubicBezTo>
                  <a:pt x="181124" y="101910"/>
                  <a:pt x="185738" y="101204"/>
                  <a:pt x="190500" y="101204"/>
                </a:cubicBezTo>
                <a:cubicBezTo>
                  <a:pt x="216806" y="101204"/>
                  <a:pt x="238125" y="122524"/>
                  <a:pt x="238125" y="148829"/>
                </a:cubicBezTo>
                <a:lnTo>
                  <a:pt x="238125" y="160735"/>
                </a:lnTo>
                <a:cubicBezTo>
                  <a:pt x="238125" y="167320"/>
                  <a:pt x="232804" y="172642"/>
                  <a:pt x="226219" y="172642"/>
                </a:cubicBezTo>
                <a:lnTo>
                  <a:pt x="193959" y="172642"/>
                </a:lnTo>
                <a:close/>
                <a:moveTo>
                  <a:pt x="175617" y="53579"/>
                </a:moveTo>
                <a:cubicBezTo>
                  <a:pt x="175617" y="38794"/>
                  <a:pt x="187621" y="26790"/>
                  <a:pt x="202406" y="26790"/>
                </a:cubicBezTo>
                <a:cubicBezTo>
                  <a:pt x="217192" y="26790"/>
                  <a:pt x="229196" y="38794"/>
                  <a:pt x="229196" y="53579"/>
                </a:cubicBezTo>
                <a:cubicBezTo>
                  <a:pt x="229196" y="68365"/>
                  <a:pt x="217192" y="80369"/>
                  <a:pt x="202406" y="80369"/>
                </a:cubicBezTo>
                <a:cubicBezTo>
                  <a:pt x="187621" y="80369"/>
                  <a:pt x="175617" y="68365"/>
                  <a:pt x="175617" y="53579"/>
                </a:cubicBezTo>
                <a:close/>
                <a:moveTo>
                  <a:pt x="59531" y="154782"/>
                </a:moveTo>
                <a:cubicBezTo>
                  <a:pt x="59531" y="121891"/>
                  <a:pt x="86171" y="95250"/>
                  <a:pt x="119062" y="95250"/>
                </a:cubicBezTo>
                <a:cubicBezTo>
                  <a:pt x="151954" y="95250"/>
                  <a:pt x="178594" y="121891"/>
                  <a:pt x="178594" y="154782"/>
                </a:cubicBezTo>
                <a:lnTo>
                  <a:pt x="178594" y="160735"/>
                </a:lnTo>
                <a:cubicBezTo>
                  <a:pt x="178594" y="167320"/>
                  <a:pt x="173272" y="172642"/>
                  <a:pt x="166688" y="172642"/>
                </a:cubicBezTo>
                <a:lnTo>
                  <a:pt x="71438" y="172642"/>
                </a:lnTo>
                <a:cubicBezTo>
                  <a:pt x="64853" y="172642"/>
                  <a:pt x="59531" y="167320"/>
                  <a:pt x="59531" y="160735"/>
                </a:cubicBezTo>
                <a:lnTo>
                  <a:pt x="59531" y="15478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095375" y="2421890"/>
            <a:ext cx="263144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Communaute FlagOS Zhongzhi</a:t>
            </a:r>
            <a:endParaRPr lang="en-US" sz="1100"/>
          </a:p>
        </p:txBody>
      </p:sp>
      <p:sp>
        <p:nvSpPr>
          <p:cNvPr id="8" name="Freeform 8"/>
          <p:cNvSpPr/>
          <p:nvPr/>
        </p:nvSpPr>
        <p:spPr>
          <a:xfrm>
            <a:off x="628650" y="2917190"/>
            <a:ext cx="3242310" cy="760730"/>
          </a:xfrm>
          <a:custGeom>
            <a:avLst/>
            <a:gdLst/>
            <a:ahLst/>
            <a:cxnLst/>
            <a:rect l="l" t="t" r="r" b="b"/>
            <a:pathLst>
              <a:path w="3242246" h="495300">
                <a:moveTo>
                  <a:pt x="48757" y="0"/>
                </a:moveTo>
                <a:lnTo>
                  <a:pt x="3193490" y="0"/>
                </a:lnTo>
                <a:cubicBezTo>
                  <a:pt x="3220418" y="0"/>
                  <a:pt x="3242246" y="34117"/>
                  <a:pt x="3242246" y="76203"/>
                </a:cubicBezTo>
                <a:lnTo>
                  <a:pt x="3242246" y="419097"/>
                </a:lnTo>
                <a:cubicBezTo>
                  <a:pt x="3242246" y="461183"/>
                  <a:pt x="3220418" y="495300"/>
                  <a:pt x="3193490" y="495300"/>
                </a:cubicBezTo>
                <a:lnTo>
                  <a:pt x="48757" y="495300"/>
                </a:lnTo>
                <a:cubicBezTo>
                  <a:pt x="21829" y="495300"/>
                  <a:pt x="0" y="461183"/>
                  <a:pt x="0" y="419097"/>
                </a:cubicBezTo>
                <a:lnTo>
                  <a:pt x="0" y="76203"/>
                </a:lnTo>
                <a:cubicBezTo>
                  <a:pt x="0" y="34117"/>
                  <a:pt x="21829" y="0"/>
                  <a:pt x="4875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765541" y="3074696"/>
            <a:ext cx="192471" cy="185068"/>
          </a:xfrm>
          <a:custGeom>
            <a:avLst/>
            <a:gdLst/>
            <a:ahLst/>
            <a:cxnLst/>
            <a:rect l="l" t="t" r="r" b="b"/>
            <a:pathLst>
              <a:path w="192471" h="185068">
                <a:moveTo>
                  <a:pt x="102171" y="2084"/>
                </a:moveTo>
                <a:cubicBezTo>
                  <a:pt x="98524" y="0"/>
                  <a:pt x="94024" y="0"/>
                  <a:pt x="90339" y="2084"/>
                </a:cubicBezTo>
                <a:lnTo>
                  <a:pt x="6996" y="49709"/>
                </a:lnTo>
                <a:cubicBezTo>
                  <a:pt x="2307" y="52389"/>
                  <a:pt x="0" y="57894"/>
                  <a:pt x="1377" y="63104"/>
                </a:cubicBezTo>
                <a:cubicBezTo>
                  <a:pt x="2754" y="68312"/>
                  <a:pt x="7516" y="71959"/>
                  <a:pt x="12911" y="71959"/>
                </a:cubicBezTo>
                <a:lnTo>
                  <a:pt x="24817" y="71959"/>
                </a:lnTo>
                <a:lnTo>
                  <a:pt x="24817" y="149349"/>
                </a:lnTo>
                <a:lnTo>
                  <a:pt x="24817" y="149349"/>
                </a:lnTo>
                <a:lnTo>
                  <a:pt x="5767" y="163637"/>
                </a:lnTo>
                <a:cubicBezTo>
                  <a:pt x="2754" y="165869"/>
                  <a:pt x="1005" y="169404"/>
                  <a:pt x="1005" y="173162"/>
                </a:cubicBezTo>
                <a:cubicBezTo>
                  <a:pt x="1005" y="179747"/>
                  <a:pt x="6326" y="185068"/>
                  <a:pt x="12911" y="185068"/>
                </a:cubicBezTo>
                <a:lnTo>
                  <a:pt x="179599" y="185068"/>
                </a:lnTo>
                <a:cubicBezTo>
                  <a:pt x="186184" y="185068"/>
                  <a:pt x="191505" y="179747"/>
                  <a:pt x="191505" y="173162"/>
                </a:cubicBezTo>
                <a:cubicBezTo>
                  <a:pt x="191505" y="169404"/>
                  <a:pt x="189756" y="165869"/>
                  <a:pt x="186743" y="163637"/>
                </a:cubicBezTo>
                <a:lnTo>
                  <a:pt x="167693" y="149349"/>
                </a:lnTo>
                <a:lnTo>
                  <a:pt x="167693" y="71959"/>
                </a:lnTo>
                <a:lnTo>
                  <a:pt x="179599" y="71959"/>
                </a:lnTo>
                <a:cubicBezTo>
                  <a:pt x="184994" y="71959"/>
                  <a:pt x="189719" y="68312"/>
                  <a:pt x="191096" y="63104"/>
                </a:cubicBezTo>
                <a:cubicBezTo>
                  <a:pt x="192471" y="57894"/>
                  <a:pt x="190166" y="52389"/>
                  <a:pt x="185478" y="49709"/>
                </a:cubicBezTo>
                <a:lnTo>
                  <a:pt x="102134" y="2084"/>
                </a:lnTo>
                <a:close/>
                <a:moveTo>
                  <a:pt x="149832" y="71959"/>
                </a:moveTo>
                <a:lnTo>
                  <a:pt x="149832" y="149349"/>
                </a:lnTo>
                <a:lnTo>
                  <a:pt x="126021" y="149349"/>
                </a:lnTo>
                <a:lnTo>
                  <a:pt x="126021" y="71959"/>
                </a:lnTo>
                <a:lnTo>
                  <a:pt x="149832" y="71959"/>
                </a:lnTo>
                <a:close/>
                <a:moveTo>
                  <a:pt x="108161" y="71959"/>
                </a:moveTo>
                <a:lnTo>
                  <a:pt x="108161" y="149349"/>
                </a:lnTo>
                <a:lnTo>
                  <a:pt x="84349" y="149349"/>
                </a:lnTo>
                <a:lnTo>
                  <a:pt x="84349" y="71959"/>
                </a:lnTo>
                <a:lnTo>
                  <a:pt x="108161" y="71959"/>
                </a:lnTo>
                <a:close/>
                <a:moveTo>
                  <a:pt x="66489" y="71959"/>
                </a:moveTo>
                <a:lnTo>
                  <a:pt x="66489" y="149349"/>
                </a:lnTo>
                <a:lnTo>
                  <a:pt x="42678" y="149349"/>
                </a:lnTo>
                <a:lnTo>
                  <a:pt x="42678" y="71959"/>
                </a:lnTo>
                <a:lnTo>
                  <a:pt x="66489" y="71959"/>
                </a:lnTo>
                <a:close/>
                <a:moveTo>
                  <a:pt x="96255" y="30287"/>
                </a:moveTo>
                <a:cubicBezTo>
                  <a:pt x="102826" y="30287"/>
                  <a:pt x="108161" y="35622"/>
                  <a:pt x="108161" y="42193"/>
                </a:cubicBezTo>
                <a:cubicBezTo>
                  <a:pt x="108161" y="48764"/>
                  <a:pt x="102826" y="54099"/>
                  <a:pt x="96255" y="54099"/>
                </a:cubicBezTo>
                <a:cubicBezTo>
                  <a:pt x="89684" y="54099"/>
                  <a:pt x="84349" y="48764"/>
                  <a:pt x="84349" y="42193"/>
                </a:cubicBezTo>
                <a:cubicBezTo>
                  <a:pt x="84349" y="35622"/>
                  <a:pt x="89684" y="30287"/>
                  <a:pt x="96255" y="3028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1095375" y="3129280"/>
            <a:ext cx="277558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Institut de recherche en intelligence artificielle de Pekin (BAAI)</a:t>
            </a:r>
            <a:endParaRPr lang="en-US" sz="1100"/>
          </a:p>
        </p:txBody>
      </p:sp>
      <p:sp>
        <p:nvSpPr>
          <p:cNvPr id="11" name="Freeform 11"/>
          <p:cNvSpPr/>
          <p:nvPr/>
        </p:nvSpPr>
        <p:spPr>
          <a:xfrm>
            <a:off x="390434" y="3888264"/>
            <a:ext cx="3809954" cy="1801007"/>
          </a:xfrm>
          <a:custGeom>
            <a:avLst/>
            <a:gdLst/>
            <a:ahLst/>
            <a:cxnLst/>
            <a:rect l="l" t="t" r="r" b="b"/>
            <a:pathLst>
              <a:path w="3809954" h="1801007">
                <a:moveTo>
                  <a:pt x="25400" y="0"/>
                </a:moveTo>
                <a:lnTo>
                  <a:pt x="3784553" y="0"/>
                </a:lnTo>
                <a:cubicBezTo>
                  <a:pt x="3798581" y="0"/>
                  <a:pt x="3809954" y="57597"/>
                  <a:pt x="3809954" y="128647"/>
                </a:cubicBezTo>
                <a:lnTo>
                  <a:pt x="3809954" y="1672360"/>
                </a:lnTo>
                <a:cubicBezTo>
                  <a:pt x="3809954" y="1743409"/>
                  <a:pt x="3798581" y="1801007"/>
                  <a:pt x="3784553" y="1801007"/>
                </a:cubicBezTo>
                <a:lnTo>
                  <a:pt x="25400" y="1801007"/>
                </a:lnTo>
                <a:cubicBezTo>
                  <a:pt x="11372" y="1801007"/>
                  <a:pt x="0" y="1743409"/>
                  <a:pt x="0" y="1672360"/>
                </a:cubicBezTo>
                <a:lnTo>
                  <a:pt x="0" y="128647"/>
                </a:lnTo>
                <a:cubicBezTo>
                  <a:pt x="0" y="57645"/>
                  <a:pt x="11382" y="0"/>
                  <a:pt x="25400" y="0"/>
                </a:cubicBezTo>
                <a:close/>
              </a:path>
            </a:pathLst>
          </a:custGeom>
          <a:gradFill rotWithShape="1">
            <a:gsLst>
              <a:gs pos="0">
                <a:srgbClr val="8B0000">
                  <a:alpha val="100000"/>
                </a:srgbClr>
              </a:gs>
              <a:gs pos="100000">
                <a:srgbClr val="B22222">
                  <a:alpha val="100000"/>
                </a:srgbClr>
              </a:gs>
            </a:gsLst>
            <a:lin ang="0"/>
          </a:gra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Freeform 12"/>
          <p:cNvSpPr/>
          <p:nvPr/>
        </p:nvSpPr>
        <p:spPr>
          <a:xfrm>
            <a:off x="653396" y="4250187"/>
            <a:ext cx="341427" cy="342900"/>
          </a:xfrm>
          <a:custGeom>
            <a:avLst/>
            <a:gdLst/>
            <a:ahLst/>
            <a:cxnLst/>
            <a:rect l="l" t="t" r="r" b="b"/>
            <a:pathLst>
              <a:path w="341427" h="342900">
                <a:moveTo>
                  <a:pt x="234671" y="187523"/>
                </a:moveTo>
                <a:lnTo>
                  <a:pt x="106821" y="187523"/>
                </a:lnTo>
                <a:cubicBezTo>
                  <a:pt x="108762" y="230721"/>
                  <a:pt x="118339" y="270502"/>
                  <a:pt x="131936" y="299636"/>
                </a:cubicBezTo>
                <a:cubicBezTo>
                  <a:pt x="139571" y="316045"/>
                  <a:pt x="147809" y="327630"/>
                  <a:pt x="155442" y="334729"/>
                </a:cubicBezTo>
                <a:cubicBezTo>
                  <a:pt x="162944" y="341761"/>
                  <a:pt x="168101" y="342900"/>
                  <a:pt x="170780" y="342900"/>
                </a:cubicBezTo>
                <a:cubicBezTo>
                  <a:pt x="173459" y="342900"/>
                  <a:pt x="178616" y="341761"/>
                  <a:pt x="186117" y="334729"/>
                </a:cubicBezTo>
                <a:cubicBezTo>
                  <a:pt x="193751" y="327630"/>
                  <a:pt x="201989" y="315977"/>
                  <a:pt x="209625" y="299636"/>
                </a:cubicBezTo>
                <a:cubicBezTo>
                  <a:pt x="223219" y="270502"/>
                  <a:pt x="232797" y="230721"/>
                  <a:pt x="234739" y="187523"/>
                </a:cubicBezTo>
                <a:close/>
                <a:moveTo>
                  <a:pt x="106754" y="155377"/>
                </a:moveTo>
                <a:lnTo>
                  <a:pt x="234605" y="155377"/>
                </a:lnTo>
                <a:cubicBezTo>
                  <a:pt x="232730" y="112179"/>
                  <a:pt x="223153" y="72398"/>
                  <a:pt x="209557" y="43264"/>
                </a:cubicBezTo>
                <a:cubicBezTo>
                  <a:pt x="201922" y="26923"/>
                  <a:pt x="193685" y="15270"/>
                  <a:pt x="186049" y="8171"/>
                </a:cubicBezTo>
                <a:cubicBezTo>
                  <a:pt x="178549" y="1139"/>
                  <a:pt x="173391" y="0"/>
                  <a:pt x="170713" y="0"/>
                </a:cubicBezTo>
                <a:cubicBezTo>
                  <a:pt x="168035" y="0"/>
                  <a:pt x="162877" y="1139"/>
                  <a:pt x="155376" y="8171"/>
                </a:cubicBezTo>
                <a:cubicBezTo>
                  <a:pt x="147741" y="15270"/>
                  <a:pt x="139504" y="26923"/>
                  <a:pt x="131869" y="43264"/>
                </a:cubicBezTo>
                <a:cubicBezTo>
                  <a:pt x="118273" y="72398"/>
                  <a:pt x="108696" y="112179"/>
                  <a:pt x="106754" y="155377"/>
                </a:cubicBezTo>
                <a:close/>
                <a:moveTo>
                  <a:pt x="74607" y="155377"/>
                </a:moveTo>
                <a:cubicBezTo>
                  <a:pt x="76951" y="98048"/>
                  <a:pt x="91752" y="44806"/>
                  <a:pt x="113384" y="9845"/>
                </a:cubicBezTo>
                <a:cubicBezTo>
                  <a:pt x="51703" y="31678"/>
                  <a:pt x="6295" y="87867"/>
                  <a:pt x="0" y="155377"/>
                </a:cubicBezTo>
                <a:lnTo>
                  <a:pt x="74607" y="155377"/>
                </a:lnTo>
                <a:close/>
                <a:moveTo>
                  <a:pt x="0" y="187523"/>
                </a:moveTo>
                <a:cubicBezTo>
                  <a:pt x="6295" y="255033"/>
                  <a:pt x="51703" y="311222"/>
                  <a:pt x="113384" y="333055"/>
                </a:cubicBezTo>
                <a:cubicBezTo>
                  <a:pt x="91752" y="298094"/>
                  <a:pt x="76951" y="244852"/>
                  <a:pt x="74607" y="187523"/>
                </a:cubicBezTo>
                <a:lnTo>
                  <a:pt x="0" y="187523"/>
                </a:lnTo>
                <a:close/>
                <a:moveTo>
                  <a:pt x="266819" y="187523"/>
                </a:moveTo>
                <a:cubicBezTo>
                  <a:pt x="264475" y="244852"/>
                  <a:pt x="249674" y="298094"/>
                  <a:pt x="228041" y="333055"/>
                </a:cubicBezTo>
                <a:cubicBezTo>
                  <a:pt x="289723" y="311155"/>
                  <a:pt x="335131" y="255033"/>
                  <a:pt x="341426" y="187523"/>
                </a:cubicBezTo>
                <a:lnTo>
                  <a:pt x="266819" y="187523"/>
                </a:lnTo>
                <a:close/>
                <a:moveTo>
                  <a:pt x="341426" y="155377"/>
                </a:moveTo>
                <a:cubicBezTo>
                  <a:pt x="335131" y="87867"/>
                  <a:pt x="289723" y="31678"/>
                  <a:pt x="228041" y="9845"/>
                </a:cubicBezTo>
                <a:cubicBezTo>
                  <a:pt x="249674" y="44806"/>
                  <a:pt x="264475" y="98048"/>
                  <a:pt x="266819" y="155377"/>
                </a:cubicBezTo>
                <a:lnTo>
                  <a:pt x="341426" y="15537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190477" y="4245211"/>
            <a:ext cx="9267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Site officiel</a:t>
            </a:r>
            <a:endParaRPr lang="en-US" sz="1100"/>
          </a:p>
        </p:txBody>
      </p:sp>
      <p:sp>
        <p:nvSpPr>
          <p:cNvPr id="14" name="AutoShape 14"/>
          <p:cNvSpPr/>
          <p:nvPr/>
        </p:nvSpPr>
        <p:spPr>
          <a:xfrm>
            <a:off x="719928" y="4670546"/>
            <a:ext cx="3273341" cy="105848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Presentation officielle :</a:t>
            </a: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hlinkClick r:id="rId1" tooltip="https://flagos.io/RaceDetail"/>
              </a:rPr>
              <a:t>https://flagos.io/RaceDetail</a:t>
            </a:r>
            <a:endParaRPr lang="en-US" sz="1000"/>
          </a:p>
          <a:p>
            <a:pPr indent="0" algn="l">
              <a:lnSpc>
                <a:spcPct val="133000"/>
              </a:lnSpc>
            </a:pPr>
            <a:r>
              <a:rPr lang="en-US" sz="10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Portail d'inscription</a:t>
            </a: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 :</a:t>
            </a: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hlinkClick r:id="rId2" tooltip="https://flagos.io/events?tab=competition"/>
              </a:rPr>
              <a:t>https://flagos.io/events</a:t>
            </a:r>
            <a:endPar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33000"/>
              </a:lnSpc>
            </a:pPr>
            <a:r>
              <a:rPr lang="en-US" sz="1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0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29" name="图片 28" descr="E:/BAAI/COURSE/template-replacement/images/competition.pngcompetition"/>
          <p:cNvPicPr>
            <a:picLocks noChangeAspect="1"/>
          </p:cNvPicPr>
          <p:nvPr/>
        </p:nvPicPr>
        <p:blipFill>
          <a:blip r:embed="rId3"/>
          <a:srcRect l="3565" r="3565"/>
          <a:stretch>
            <a:fillRect/>
          </a:stretch>
        </p:blipFill>
        <p:spPr>
          <a:xfrm>
            <a:off x="4317365" y="1650365"/>
            <a:ext cx="7702550" cy="39350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793750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altLang="zh-CN"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Devoirs du cour</a:t>
            </a: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endParaRPr lang="en-US" sz="3200"/>
          </a:p>
        </p:txBody>
      </p:sp>
      <p:sp>
        <p:nvSpPr>
          <p:cNvPr id="3" name="AutoShape 3"/>
          <p:cNvSpPr/>
          <p:nvPr/>
        </p:nvSpPr>
        <p:spPr>
          <a:xfrm>
            <a:off x="380956" y="1640886"/>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Exigences du travail</a:t>
            </a:r>
            <a:endParaRPr lang="en-US" sz="1100"/>
          </a:p>
        </p:txBody>
      </p:sp>
      <p:sp>
        <p:nvSpPr>
          <p:cNvPr id="4" name="AutoShape 4"/>
          <p:cNvSpPr/>
          <p:nvPr/>
        </p:nvSpPr>
        <p:spPr>
          <a:xfrm>
            <a:off x="380956" y="2059977"/>
            <a:ext cx="5648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Chaque </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tudiant doit </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5" name="Freeform 5"/>
          <p:cNvSpPr/>
          <p:nvPr/>
        </p:nvSpPr>
        <p:spPr>
          <a:xfrm>
            <a:off x="399911" y="2479058"/>
            <a:ext cx="5543455" cy="533400"/>
          </a:xfrm>
          <a:custGeom>
            <a:avLst/>
            <a:gdLst/>
            <a:ahLst/>
            <a:cxnLst/>
            <a:rect l="l" t="t" r="r" b="b"/>
            <a:pathLst>
              <a:path w="5543455" h="533400">
                <a:moveTo>
                  <a:pt x="37909" y="0"/>
                </a:moveTo>
                <a:lnTo>
                  <a:pt x="5467253" y="0"/>
                </a:lnTo>
                <a:cubicBezTo>
                  <a:pt x="5509339" y="0"/>
                  <a:pt x="5543455" y="34117"/>
                  <a:pt x="5543455" y="76203"/>
                </a:cubicBezTo>
                <a:lnTo>
                  <a:pt x="5543455" y="457197"/>
                </a:lnTo>
                <a:cubicBezTo>
                  <a:pt x="5543455" y="499283"/>
                  <a:pt x="5509339" y="533400"/>
                  <a:pt x="5467253" y="533400"/>
                </a:cubicBezTo>
                <a:lnTo>
                  <a:pt x="37909" y="533400"/>
                </a:lnTo>
                <a:cubicBezTo>
                  <a:pt x="16974" y="533400"/>
                  <a:pt x="0" y="516426"/>
                  <a:pt x="0" y="495491"/>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399911" y="2479058"/>
            <a:ext cx="37909" cy="533400"/>
          </a:xfrm>
          <a:custGeom>
            <a:avLst/>
            <a:gdLst/>
            <a:ahLst/>
            <a:cxnLst/>
            <a:rect l="l" t="t" r="r" b="b"/>
            <a:pathLst>
              <a:path w="37909" h="533400">
                <a:moveTo>
                  <a:pt x="37909" y="0"/>
                </a:moveTo>
                <a:lnTo>
                  <a:pt x="37909" y="0"/>
                </a:lnTo>
                <a:lnTo>
                  <a:pt x="37909" y="533400"/>
                </a:lnTo>
                <a:lnTo>
                  <a:pt x="37909" y="533400"/>
                </a:lnTo>
                <a:cubicBezTo>
                  <a:pt x="16974" y="533400"/>
                  <a:pt x="0" y="516426"/>
                  <a:pt x="0" y="4954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33116" y="2593311"/>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495016" y="2593311"/>
            <a:ext cx="381000" cy="304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9" name="AutoShape 9"/>
          <p:cNvSpPr/>
          <p:nvPr/>
        </p:nvSpPr>
        <p:spPr>
          <a:xfrm>
            <a:off x="951865" y="2612390"/>
            <a:ext cx="881761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Fork un depot FlagO</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a:t>
            </a:r>
            <a:endParaRPr lang="en-US" sz="1100"/>
          </a:p>
        </p:txBody>
      </p:sp>
      <p:sp>
        <p:nvSpPr>
          <p:cNvPr id="10" name="Freeform 10"/>
          <p:cNvSpPr/>
          <p:nvPr/>
        </p:nvSpPr>
        <p:spPr>
          <a:xfrm>
            <a:off x="399911" y="3126572"/>
            <a:ext cx="5543455" cy="533400"/>
          </a:xfrm>
          <a:custGeom>
            <a:avLst/>
            <a:gdLst/>
            <a:ahLst/>
            <a:cxnLst/>
            <a:rect l="l" t="t" r="r" b="b"/>
            <a:pathLst>
              <a:path w="5543455" h="533400">
                <a:moveTo>
                  <a:pt x="37909" y="0"/>
                </a:moveTo>
                <a:lnTo>
                  <a:pt x="5467253" y="0"/>
                </a:lnTo>
                <a:cubicBezTo>
                  <a:pt x="5509339" y="0"/>
                  <a:pt x="5543455" y="34117"/>
                  <a:pt x="5543455" y="76203"/>
                </a:cubicBezTo>
                <a:lnTo>
                  <a:pt x="5543455" y="457197"/>
                </a:lnTo>
                <a:cubicBezTo>
                  <a:pt x="5543455" y="499283"/>
                  <a:pt x="5509339" y="533400"/>
                  <a:pt x="5467253" y="533400"/>
                </a:cubicBezTo>
                <a:lnTo>
                  <a:pt x="37909" y="533400"/>
                </a:lnTo>
                <a:cubicBezTo>
                  <a:pt x="16974" y="533400"/>
                  <a:pt x="0" y="516426"/>
                  <a:pt x="0" y="4954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399911" y="3126572"/>
            <a:ext cx="37909" cy="533400"/>
          </a:xfrm>
          <a:custGeom>
            <a:avLst/>
            <a:gdLst/>
            <a:ahLst/>
            <a:cxnLst/>
            <a:rect l="l" t="t" r="r" b="b"/>
            <a:pathLst>
              <a:path w="37909" h="533400">
                <a:moveTo>
                  <a:pt x="37909" y="0"/>
                </a:moveTo>
                <a:lnTo>
                  <a:pt x="37909" y="0"/>
                </a:lnTo>
                <a:lnTo>
                  <a:pt x="37909" y="533400"/>
                </a:lnTo>
                <a:lnTo>
                  <a:pt x="37909" y="533400"/>
                </a:lnTo>
                <a:cubicBezTo>
                  <a:pt x="16974" y="533400"/>
                  <a:pt x="0" y="516426"/>
                  <a:pt x="0" y="4954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533116" y="32408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495016" y="3240825"/>
            <a:ext cx="381000" cy="304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4" name="AutoShape 14"/>
          <p:cNvSpPr/>
          <p:nvPr/>
        </p:nvSpPr>
        <p:spPr>
          <a:xfrm>
            <a:off x="951865" y="3260090"/>
            <a:ext cx="1105090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Soumettre une Pull Request</a:t>
            </a:r>
            <a:endParaRPr lang="en-US" sz="1100"/>
          </a:p>
        </p:txBody>
      </p:sp>
      <p:sp>
        <p:nvSpPr>
          <p:cNvPr id="15" name="Freeform 15"/>
          <p:cNvSpPr/>
          <p:nvPr/>
        </p:nvSpPr>
        <p:spPr>
          <a:xfrm>
            <a:off x="380956" y="3812223"/>
            <a:ext cx="5562600" cy="1447800"/>
          </a:xfrm>
          <a:custGeom>
            <a:avLst/>
            <a:gdLst/>
            <a:ahLst/>
            <a:cxnLst/>
            <a:rect l="l" t="t" r="r" b="b"/>
            <a:pathLst>
              <a:path w="5562600" h="1447800">
                <a:moveTo>
                  <a:pt x="76197" y="0"/>
                </a:moveTo>
                <a:lnTo>
                  <a:pt x="5486403" y="0"/>
                </a:lnTo>
                <a:cubicBezTo>
                  <a:pt x="5528457" y="0"/>
                  <a:pt x="5562600" y="34143"/>
                  <a:pt x="5562600" y="76197"/>
                </a:cubicBezTo>
                <a:lnTo>
                  <a:pt x="5562600" y="1371603"/>
                </a:lnTo>
                <a:cubicBezTo>
                  <a:pt x="5562600" y="1413657"/>
                  <a:pt x="5528457" y="1447800"/>
                  <a:pt x="5486403" y="1447800"/>
                </a:cubicBezTo>
                <a:lnTo>
                  <a:pt x="76197" y="1447800"/>
                </a:lnTo>
                <a:cubicBezTo>
                  <a:pt x="34143" y="1447800"/>
                  <a:pt x="0" y="1413657"/>
                  <a:pt x="0" y="13716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533338" y="3964605"/>
            <a:ext cx="5334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Type de tache (au choix) :</a:t>
            </a:r>
            <a:endParaRPr lang="en-US" sz="1100"/>
          </a:p>
        </p:txBody>
      </p:sp>
      <p:sp>
        <p:nvSpPr>
          <p:cNvPr id="17" name="Freeform 17"/>
          <p:cNvSpPr/>
          <p:nvPr/>
        </p:nvSpPr>
        <p:spPr>
          <a:xfrm>
            <a:off x="571438" y="4302537"/>
            <a:ext cx="114300" cy="152400"/>
          </a:xfrm>
          <a:custGeom>
            <a:avLst/>
            <a:gdLst/>
            <a:ahLst/>
            <a:cxnLst/>
            <a:rect l="l" t="t" r="r" b="b"/>
            <a:pathLst>
              <a:path w="114300" h="152400">
                <a:moveTo>
                  <a:pt x="0" y="19050"/>
                </a:moveTo>
                <a:cubicBezTo>
                  <a:pt x="0" y="8543"/>
                  <a:pt x="8543" y="0"/>
                  <a:pt x="19050" y="0"/>
                </a:cubicBezTo>
                <a:lnTo>
                  <a:pt x="63550" y="0"/>
                </a:lnTo>
                <a:cubicBezTo>
                  <a:pt x="68610" y="0"/>
                  <a:pt x="73462" y="1994"/>
                  <a:pt x="77033" y="5566"/>
                </a:cubicBezTo>
                <a:lnTo>
                  <a:pt x="108734" y="37296"/>
                </a:lnTo>
                <a:cubicBezTo>
                  <a:pt x="112306" y="40869"/>
                  <a:pt x="114300" y="45720"/>
                  <a:pt x="114300" y="50780"/>
                </a:cubicBezTo>
                <a:lnTo>
                  <a:pt x="114300" y="133350"/>
                </a:lnTo>
                <a:cubicBezTo>
                  <a:pt x="114300" y="143857"/>
                  <a:pt x="105757" y="152400"/>
                  <a:pt x="95250" y="152400"/>
                </a:cubicBezTo>
                <a:lnTo>
                  <a:pt x="19050" y="152400"/>
                </a:lnTo>
                <a:cubicBezTo>
                  <a:pt x="8543" y="152400"/>
                  <a:pt x="0" y="143857"/>
                  <a:pt x="0" y="133350"/>
                </a:cubicBezTo>
                <a:lnTo>
                  <a:pt x="0" y="19050"/>
                </a:lnTo>
                <a:close/>
                <a:moveTo>
                  <a:pt x="61912" y="17413"/>
                </a:moveTo>
                <a:lnTo>
                  <a:pt x="61912" y="45244"/>
                </a:lnTo>
                <a:cubicBezTo>
                  <a:pt x="61912" y="49204"/>
                  <a:pt x="65096" y="52387"/>
                  <a:pt x="69056" y="52387"/>
                </a:cubicBezTo>
                <a:lnTo>
                  <a:pt x="96887" y="52387"/>
                </a:lnTo>
                <a:lnTo>
                  <a:pt x="61912" y="17413"/>
                </a:lnTo>
                <a:close/>
                <a:moveTo>
                  <a:pt x="35719" y="76200"/>
                </a:moveTo>
                <a:cubicBezTo>
                  <a:pt x="31760" y="76200"/>
                  <a:pt x="28575" y="79385"/>
                  <a:pt x="28575" y="83344"/>
                </a:cubicBezTo>
                <a:cubicBezTo>
                  <a:pt x="28575" y="87304"/>
                  <a:pt x="31760" y="90487"/>
                  <a:pt x="35719" y="90487"/>
                </a:cubicBezTo>
                <a:lnTo>
                  <a:pt x="78581" y="90487"/>
                </a:lnTo>
                <a:cubicBezTo>
                  <a:pt x="82540" y="90487"/>
                  <a:pt x="85725" y="87304"/>
                  <a:pt x="85725" y="83344"/>
                </a:cubicBezTo>
                <a:cubicBezTo>
                  <a:pt x="85725" y="79385"/>
                  <a:pt x="82540" y="76200"/>
                  <a:pt x="78581" y="76200"/>
                </a:cubicBezTo>
                <a:lnTo>
                  <a:pt x="35719" y="76200"/>
                </a:lnTo>
                <a:close/>
                <a:moveTo>
                  <a:pt x="35719" y="104775"/>
                </a:moveTo>
                <a:cubicBezTo>
                  <a:pt x="31760" y="104775"/>
                  <a:pt x="28575" y="107960"/>
                  <a:pt x="28575" y="111919"/>
                </a:cubicBezTo>
                <a:cubicBezTo>
                  <a:pt x="28575" y="115879"/>
                  <a:pt x="31760" y="119063"/>
                  <a:pt x="35719" y="119063"/>
                </a:cubicBezTo>
                <a:lnTo>
                  <a:pt x="78581" y="119063"/>
                </a:lnTo>
                <a:cubicBezTo>
                  <a:pt x="82540" y="119063"/>
                  <a:pt x="85725" y="115879"/>
                  <a:pt x="85725" y="111919"/>
                </a:cubicBezTo>
                <a:cubicBezTo>
                  <a:pt x="85725" y="107960"/>
                  <a:pt x="82540" y="104775"/>
                  <a:pt x="78581" y="104775"/>
                </a:cubicBezTo>
                <a:lnTo>
                  <a:pt x="35719" y="104775"/>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80988" y="4269367"/>
            <a:ext cx="50863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Documentation Fix (modification de documentation)</a:t>
            </a:r>
            <a:endParaRPr lang="en-US" sz="1100"/>
          </a:p>
        </p:txBody>
      </p:sp>
      <p:sp>
        <p:nvSpPr>
          <p:cNvPr id="19" name="AutoShape 19"/>
          <p:cNvSpPr/>
          <p:nvPr/>
        </p:nvSpPr>
        <p:spPr>
          <a:xfrm>
            <a:off x="495238" y="4574130"/>
            <a:ext cx="533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ou</a:t>
            </a:r>
            <a:endParaRPr lang="en-US" sz="1100"/>
          </a:p>
        </p:txBody>
      </p:sp>
      <p:sp>
        <p:nvSpPr>
          <p:cNvPr id="20" name="Freeform 20"/>
          <p:cNvSpPr/>
          <p:nvPr/>
        </p:nvSpPr>
        <p:spPr>
          <a:xfrm>
            <a:off x="542863" y="4912063"/>
            <a:ext cx="171450" cy="151864"/>
          </a:xfrm>
          <a:custGeom>
            <a:avLst/>
            <a:gdLst/>
            <a:ahLst/>
            <a:cxnLst/>
            <a:rect l="l" t="t" r="r" b="b"/>
            <a:pathLst>
              <a:path w="171450" h="151864">
                <a:moveTo>
                  <a:pt x="57150" y="28575"/>
                </a:moveTo>
                <a:cubicBezTo>
                  <a:pt x="57150" y="12799"/>
                  <a:pt x="69949" y="0"/>
                  <a:pt x="85725" y="0"/>
                </a:cubicBezTo>
                <a:cubicBezTo>
                  <a:pt x="101501" y="0"/>
                  <a:pt x="114300" y="12799"/>
                  <a:pt x="114300" y="28575"/>
                </a:cubicBezTo>
                <a:lnTo>
                  <a:pt x="114300" y="29647"/>
                </a:lnTo>
                <a:cubicBezTo>
                  <a:pt x="114300" y="34320"/>
                  <a:pt x="110520" y="38100"/>
                  <a:pt x="105847" y="38100"/>
                </a:cubicBezTo>
                <a:lnTo>
                  <a:pt x="65634" y="38100"/>
                </a:lnTo>
                <a:cubicBezTo>
                  <a:pt x="60960" y="38100"/>
                  <a:pt x="57180" y="34320"/>
                  <a:pt x="57180" y="29647"/>
                </a:cubicBezTo>
                <a:lnTo>
                  <a:pt x="57180" y="28575"/>
                </a:lnTo>
                <a:close/>
                <a:moveTo>
                  <a:pt x="160020" y="32385"/>
                </a:moveTo>
                <a:cubicBezTo>
                  <a:pt x="163175" y="36582"/>
                  <a:pt x="162312" y="42565"/>
                  <a:pt x="158115" y="45720"/>
                </a:cubicBezTo>
                <a:lnTo>
                  <a:pt x="129004" y="67539"/>
                </a:lnTo>
                <a:cubicBezTo>
                  <a:pt x="130581" y="70187"/>
                  <a:pt x="131771" y="73104"/>
                  <a:pt x="132517" y="76200"/>
                </a:cubicBezTo>
                <a:lnTo>
                  <a:pt x="161925" y="76200"/>
                </a:lnTo>
                <a:cubicBezTo>
                  <a:pt x="167194" y="76200"/>
                  <a:pt x="171450" y="80456"/>
                  <a:pt x="171450" y="85725"/>
                </a:cubicBezTo>
                <a:cubicBezTo>
                  <a:pt x="171450" y="90994"/>
                  <a:pt x="167194" y="95250"/>
                  <a:pt x="161925" y="95250"/>
                </a:cubicBezTo>
                <a:lnTo>
                  <a:pt x="133350" y="95250"/>
                </a:lnTo>
                <a:lnTo>
                  <a:pt x="133350" y="104775"/>
                </a:lnTo>
                <a:cubicBezTo>
                  <a:pt x="133350" y="105548"/>
                  <a:pt x="133320" y="106354"/>
                  <a:pt x="133290" y="107126"/>
                </a:cubicBezTo>
                <a:lnTo>
                  <a:pt x="158115" y="125730"/>
                </a:lnTo>
                <a:cubicBezTo>
                  <a:pt x="162312" y="128885"/>
                  <a:pt x="163175" y="134868"/>
                  <a:pt x="160020" y="139065"/>
                </a:cubicBezTo>
                <a:cubicBezTo>
                  <a:pt x="156865" y="143262"/>
                  <a:pt x="150882" y="144125"/>
                  <a:pt x="146685" y="140970"/>
                </a:cubicBezTo>
                <a:lnTo>
                  <a:pt x="127903" y="126891"/>
                </a:lnTo>
                <a:cubicBezTo>
                  <a:pt x="120997" y="140047"/>
                  <a:pt x="108109" y="149572"/>
                  <a:pt x="92869" y="151864"/>
                </a:cubicBezTo>
                <a:lnTo>
                  <a:pt x="92869" y="83344"/>
                </a:lnTo>
                <a:cubicBezTo>
                  <a:pt x="92869" y="79385"/>
                  <a:pt x="89684" y="76200"/>
                  <a:pt x="85725" y="76200"/>
                </a:cubicBezTo>
                <a:cubicBezTo>
                  <a:pt x="81766" y="76200"/>
                  <a:pt x="78581" y="79385"/>
                  <a:pt x="78581" y="83344"/>
                </a:cubicBezTo>
                <a:lnTo>
                  <a:pt x="78581" y="151864"/>
                </a:lnTo>
                <a:cubicBezTo>
                  <a:pt x="63341" y="149572"/>
                  <a:pt x="50453" y="140047"/>
                  <a:pt x="43547" y="126891"/>
                </a:cubicBezTo>
                <a:lnTo>
                  <a:pt x="24765" y="140970"/>
                </a:lnTo>
                <a:cubicBezTo>
                  <a:pt x="20568" y="144125"/>
                  <a:pt x="14585" y="143262"/>
                  <a:pt x="11430" y="139065"/>
                </a:cubicBezTo>
                <a:cubicBezTo>
                  <a:pt x="8275" y="134868"/>
                  <a:pt x="9138" y="128885"/>
                  <a:pt x="13335" y="125730"/>
                </a:cubicBezTo>
                <a:lnTo>
                  <a:pt x="38160" y="107126"/>
                </a:lnTo>
                <a:cubicBezTo>
                  <a:pt x="38130" y="106354"/>
                  <a:pt x="38100" y="105579"/>
                  <a:pt x="38100" y="104775"/>
                </a:cubicBezTo>
                <a:lnTo>
                  <a:pt x="38100" y="95250"/>
                </a:lnTo>
                <a:lnTo>
                  <a:pt x="9525" y="95250"/>
                </a:lnTo>
                <a:cubicBezTo>
                  <a:pt x="4256" y="95250"/>
                  <a:pt x="0" y="90994"/>
                  <a:pt x="0" y="85725"/>
                </a:cubicBezTo>
                <a:cubicBezTo>
                  <a:pt x="0" y="80456"/>
                  <a:pt x="4256" y="76200"/>
                  <a:pt x="9525" y="76200"/>
                </a:cubicBezTo>
                <a:lnTo>
                  <a:pt x="38933" y="76200"/>
                </a:lnTo>
                <a:cubicBezTo>
                  <a:pt x="39679" y="73104"/>
                  <a:pt x="40869" y="70187"/>
                  <a:pt x="42446" y="67539"/>
                </a:cubicBezTo>
                <a:lnTo>
                  <a:pt x="13335" y="45720"/>
                </a:lnTo>
                <a:cubicBezTo>
                  <a:pt x="9138" y="42565"/>
                  <a:pt x="8275" y="36582"/>
                  <a:pt x="11430" y="32385"/>
                </a:cubicBezTo>
                <a:cubicBezTo>
                  <a:pt x="14585" y="28188"/>
                  <a:pt x="20568" y="27325"/>
                  <a:pt x="24765" y="30480"/>
                </a:cubicBezTo>
                <a:lnTo>
                  <a:pt x="57150" y="54769"/>
                </a:lnTo>
                <a:cubicBezTo>
                  <a:pt x="60811" y="53251"/>
                  <a:pt x="64830" y="52387"/>
                  <a:pt x="69056" y="52387"/>
                </a:cubicBezTo>
                <a:lnTo>
                  <a:pt x="102394" y="52387"/>
                </a:lnTo>
                <a:cubicBezTo>
                  <a:pt x="106620" y="52387"/>
                  <a:pt x="110639" y="53221"/>
                  <a:pt x="114300" y="54769"/>
                </a:cubicBezTo>
                <a:lnTo>
                  <a:pt x="146685" y="30480"/>
                </a:lnTo>
                <a:cubicBezTo>
                  <a:pt x="150882" y="27325"/>
                  <a:pt x="156865" y="28188"/>
                  <a:pt x="160020" y="3238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80988" y="4878893"/>
            <a:ext cx="50863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Bug Fix (correction de petits problemes)</a:t>
            </a:r>
            <a:endParaRPr lang="en-US" sz="1100"/>
          </a:p>
        </p:txBody>
      </p:sp>
      <p:sp>
        <p:nvSpPr>
          <p:cNvPr id="22" name="AutoShape 22"/>
          <p:cNvSpPr/>
          <p:nvPr/>
        </p:nvSpPr>
        <p:spPr>
          <a:xfrm>
            <a:off x="6248338" y="1640886"/>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Description des modifications</a:t>
            </a:r>
            <a:endParaRPr lang="en-US" sz="1100"/>
          </a:p>
        </p:txBody>
      </p:sp>
      <p:sp>
        <p:nvSpPr>
          <p:cNvPr id="23" name="Freeform 23"/>
          <p:cNvSpPr/>
          <p:nvPr/>
        </p:nvSpPr>
        <p:spPr>
          <a:xfrm>
            <a:off x="6248338" y="2059977"/>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374493" y="2224190"/>
            <a:ext cx="214313" cy="166761"/>
          </a:xfrm>
          <a:custGeom>
            <a:avLst/>
            <a:gdLst/>
            <a:ahLst/>
            <a:cxnLst/>
            <a:rect l="l" t="t" r="r" b="b"/>
            <a:pathLst>
              <a:path w="214313" h="166761">
                <a:moveTo>
                  <a:pt x="156083" y="23813"/>
                </a:moveTo>
                <a:cubicBezTo>
                  <a:pt x="149907" y="23813"/>
                  <a:pt x="143916" y="25487"/>
                  <a:pt x="138671" y="28538"/>
                </a:cubicBezTo>
                <a:cubicBezTo>
                  <a:pt x="132792" y="22585"/>
                  <a:pt x="125946" y="17599"/>
                  <a:pt x="118393" y="13841"/>
                </a:cubicBezTo>
                <a:cubicBezTo>
                  <a:pt x="128885" y="4913"/>
                  <a:pt x="142243" y="0"/>
                  <a:pt x="156083" y="0"/>
                </a:cubicBezTo>
                <a:cubicBezTo>
                  <a:pt x="188231" y="0"/>
                  <a:pt x="214313" y="26045"/>
                  <a:pt x="214313" y="58228"/>
                </a:cubicBezTo>
                <a:cubicBezTo>
                  <a:pt x="214313" y="73670"/>
                  <a:pt x="208173" y="88479"/>
                  <a:pt x="197272" y="99380"/>
                </a:cubicBezTo>
                <a:lnTo>
                  <a:pt x="170818" y="125834"/>
                </a:lnTo>
                <a:cubicBezTo>
                  <a:pt x="159916" y="136736"/>
                  <a:pt x="145106" y="142875"/>
                  <a:pt x="129667" y="142875"/>
                </a:cubicBezTo>
                <a:cubicBezTo>
                  <a:pt x="97519" y="142875"/>
                  <a:pt x="71437" y="116830"/>
                  <a:pt x="71437" y="84646"/>
                </a:cubicBezTo>
                <a:cubicBezTo>
                  <a:pt x="71437" y="84088"/>
                  <a:pt x="71437" y="83529"/>
                  <a:pt x="71476" y="82972"/>
                </a:cubicBezTo>
                <a:cubicBezTo>
                  <a:pt x="71661" y="76386"/>
                  <a:pt x="77130" y="71216"/>
                  <a:pt x="83716" y="71401"/>
                </a:cubicBezTo>
                <a:cubicBezTo>
                  <a:pt x="90301" y="71588"/>
                  <a:pt x="95474" y="77056"/>
                  <a:pt x="95287" y="83642"/>
                </a:cubicBezTo>
                <a:cubicBezTo>
                  <a:pt x="95287" y="83976"/>
                  <a:pt x="95287" y="84310"/>
                  <a:pt x="95287" y="84609"/>
                </a:cubicBezTo>
                <a:cubicBezTo>
                  <a:pt x="95287" y="103622"/>
                  <a:pt x="110691" y="119026"/>
                  <a:pt x="129704" y="119026"/>
                </a:cubicBezTo>
                <a:cubicBezTo>
                  <a:pt x="138819" y="119026"/>
                  <a:pt x="147563" y="115417"/>
                  <a:pt x="154037" y="108942"/>
                </a:cubicBezTo>
                <a:lnTo>
                  <a:pt x="180491" y="82488"/>
                </a:lnTo>
                <a:cubicBezTo>
                  <a:pt x="186927" y="76050"/>
                  <a:pt x="190574" y="67271"/>
                  <a:pt x="190574" y="58155"/>
                </a:cubicBezTo>
                <a:cubicBezTo>
                  <a:pt x="190574" y="39142"/>
                  <a:pt x="175171" y="23738"/>
                  <a:pt x="156158" y="23738"/>
                </a:cubicBezTo>
                <a:close/>
                <a:moveTo>
                  <a:pt x="102394" y="52574"/>
                </a:moveTo>
                <a:cubicBezTo>
                  <a:pt x="101688" y="52276"/>
                  <a:pt x="100980" y="51867"/>
                  <a:pt x="100347" y="51420"/>
                </a:cubicBezTo>
                <a:cubicBezTo>
                  <a:pt x="95659" y="49002"/>
                  <a:pt x="90301" y="47625"/>
                  <a:pt x="84684" y="47625"/>
                </a:cubicBezTo>
                <a:cubicBezTo>
                  <a:pt x="75568" y="47625"/>
                  <a:pt x="66824" y="51235"/>
                  <a:pt x="60350" y="57708"/>
                </a:cubicBezTo>
                <a:lnTo>
                  <a:pt x="33896" y="84163"/>
                </a:lnTo>
                <a:cubicBezTo>
                  <a:pt x="27459" y="90600"/>
                  <a:pt x="23813" y="99380"/>
                  <a:pt x="23813" y="108496"/>
                </a:cubicBezTo>
                <a:cubicBezTo>
                  <a:pt x="23813" y="127510"/>
                  <a:pt x="39216" y="142912"/>
                  <a:pt x="58229" y="142912"/>
                </a:cubicBezTo>
                <a:cubicBezTo>
                  <a:pt x="64367" y="142912"/>
                  <a:pt x="70358" y="141275"/>
                  <a:pt x="75604" y="138225"/>
                </a:cubicBezTo>
                <a:cubicBezTo>
                  <a:pt x="81483" y="144177"/>
                  <a:pt x="88329" y="149163"/>
                  <a:pt x="95921" y="152921"/>
                </a:cubicBezTo>
                <a:cubicBezTo>
                  <a:pt x="85427" y="161813"/>
                  <a:pt x="72107" y="166761"/>
                  <a:pt x="58229" y="166761"/>
                </a:cubicBezTo>
                <a:cubicBezTo>
                  <a:pt x="26082" y="166761"/>
                  <a:pt x="0" y="140718"/>
                  <a:pt x="0" y="108533"/>
                </a:cubicBezTo>
                <a:cubicBezTo>
                  <a:pt x="0" y="93093"/>
                  <a:pt x="6139" y="78284"/>
                  <a:pt x="17041" y="67381"/>
                </a:cubicBezTo>
                <a:lnTo>
                  <a:pt x="43495" y="40929"/>
                </a:lnTo>
                <a:cubicBezTo>
                  <a:pt x="54397" y="30026"/>
                  <a:pt x="69205" y="23886"/>
                  <a:pt x="84645" y="23886"/>
                </a:cubicBezTo>
                <a:cubicBezTo>
                  <a:pt x="116867" y="23886"/>
                  <a:pt x="142875" y="50155"/>
                  <a:pt x="142875" y="82264"/>
                </a:cubicBezTo>
                <a:cubicBezTo>
                  <a:pt x="142875" y="82748"/>
                  <a:pt x="142875" y="83232"/>
                  <a:pt x="142875" y="83716"/>
                </a:cubicBezTo>
                <a:cubicBezTo>
                  <a:pt x="142726" y="90302"/>
                  <a:pt x="137257" y="95473"/>
                  <a:pt x="130672" y="95325"/>
                </a:cubicBezTo>
                <a:cubicBezTo>
                  <a:pt x="124085" y="95177"/>
                  <a:pt x="118914" y="89705"/>
                  <a:pt x="119063" y="83120"/>
                </a:cubicBezTo>
                <a:cubicBezTo>
                  <a:pt x="119063" y="82823"/>
                  <a:pt x="119063" y="82563"/>
                  <a:pt x="119063" y="82264"/>
                </a:cubicBezTo>
                <a:cubicBezTo>
                  <a:pt x="119063" y="69726"/>
                  <a:pt x="112365" y="58714"/>
                  <a:pt x="102394" y="5264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715125" y="2174240"/>
            <a:ext cx="417957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Lien de la PR</a:t>
            </a:r>
            <a:endParaRPr lang="en-US" sz="1100"/>
          </a:p>
        </p:txBody>
      </p:sp>
      <p:sp>
        <p:nvSpPr>
          <p:cNvPr id="26" name="Freeform 26"/>
          <p:cNvSpPr/>
          <p:nvPr/>
        </p:nvSpPr>
        <p:spPr>
          <a:xfrm>
            <a:off x="6248338" y="2669428"/>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6410212" y="2821735"/>
            <a:ext cx="142875" cy="190500"/>
          </a:xfrm>
          <a:custGeom>
            <a:avLst/>
            <a:gdLst/>
            <a:ahLst/>
            <a:cxnLst/>
            <a:rect l="l" t="t" r="r" b="b"/>
            <a:pathLst>
              <a:path w="142875" h="190500">
                <a:moveTo>
                  <a:pt x="0" y="23813"/>
                </a:moveTo>
                <a:cubicBezTo>
                  <a:pt x="0" y="10678"/>
                  <a:pt x="10678" y="0"/>
                  <a:pt x="23812" y="0"/>
                </a:cubicBezTo>
                <a:lnTo>
                  <a:pt x="79437" y="0"/>
                </a:lnTo>
                <a:cubicBezTo>
                  <a:pt x="85762" y="0"/>
                  <a:pt x="91827" y="2493"/>
                  <a:pt x="96291" y="6958"/>
                </a:cubicBezTo>
                <a:lnTo>
                  <a:pt x="135917" y="46620"/>
                </a:lnTo>
                <a:cubicBezTo>
                  <a:pt x="140382" y="51084"/>
                  <a:pt x="142875" y="57150"/>
                  <a:pt x="142875" y="63475"/>
                </a:cubicBezTo>
                <a:lnTo>
                  <a:pt x="142875" y="166687"/>
                </a:lnTo>
                <a:cubicBezTo>
                  <a:pt x="142875" y="179822"/>
                  <a:pt x="132197" y="190500"/>
                  <a:pt x="119062" y="190500"/>
                </a:cubicBezTo>
                <a:lnTo>
                  <a:pt x="23812" y="190500"/>
                </a:lnTo>
                <a:cubicBezTo>
                  <a:pt x="10678" y="190500"/>
                  <a:pt x="0" y="179822"/>
                  <a:pt x="0" y="166687"/>
                </a:cubicBezTo>
                <a:lnTo>
                  <a:pt x="0" y="23813"/>
                </a:lnTo>
                <a:close/>
                <a:moveTo>
                  <a:pt x="77391" y="21767"/>
                </a:moveTo>
                <a:lnTo>
                  <a:pt x="77391" y="56554"/>
                </a:lnTo>
                <a:cubicBezTo>
                  <a:pt x="77391" y="61504"/>
                  <a:pt x="81371" y="65484"/>
                  <a:pt x="86321" y="65484"/>
                </a:cubicBezTo>
                <a:lnTo>
                  <a:pt x="121108" y="65484"/>
                </a:lnTo>
                <a:lnTo>
                  <a:pt x="77391" y="21767"/>
                </a:lnTo>
                <a:close/>
                <a:moveTo>
                  <a:pt x="44648" y="95250"/>
                </a:moveTo>
                <a:cubicBezTo>
                  <a:pt x="39700" y="95250"/>
                  <a:pt x="35719" y="99231"/>
                  <a:pt x="35719" y="104179"/>
                </a:cubicBezTo>
                <a:cubicBezTo>
                  <a:pt x="35719" y="109129"/>
                  <a:pt x="39700" y="113109"/>
                  <a:pt x="44648" y="113109"/>
                </a:cubicBezTo>
                <a:lnTo>
                  <a:pt x="98227" y="113109"/>
                </a:lnTo>
                <a:cubicBezTo>
                  <a:pt x="103175" y="113109"/>
                  <a:pt x="107156" y="109129"/>
                  <a:pt x="107156" y="104179"/>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7"/>
                  <a:pt x="44648" y="148827"/>
                </a:cubicBezTo>
                <a:lnTo>
                  <a:pt x="98227" y="148827"/>
                </a:lnTo>
                <a:cubicBezTo>
                  <a:pt x="103175" y="148827"/>
                  <a:pt x="107156" y="144847"/>
                  <a:pt x="107156" y="139898"/>
                </a:cubicBezTo>
                <a:cubicBezTo>
                  <a:pt x="107156" y="134950"/>
                  <a:pt x="103175" y="130969"/>
                  <a:pt x="98227" y="130969"/>
                </a:cubicBezTo>
                <a:lnTo>
                  <a:pt x="44648" y="13096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715125" y="2783840"/>
            <a:ext cx="463804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Description des modifications</a:t>
            </a:r>
            <a:endParaRPr lang="en-US" sz="1100"/>
          </a:p>
        </p:txBody>
      </p:sp>
      <p:sp>
        <p:nvSpPr>
          <p:cNvPr id="29" name="AutoShape 29"/>
          <p:cNvSpPr/>
          <p:nvPr/>
        </p:nvSpPr>
        <p:spPr>
          <a:xfrm>
            <a:off x="6248338" y="3393207"/>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Objectifs d'apprentissage</a:t>
            </a:r>
            <a:endParaRPr lang="en-US" sz="1100"/>
          </a:p>
        </p:txBody>
      </p:sp>
      <p:sp>
        <p:nvSpPr>
          <p:cNvPr id="30" name="Freeform 30"/>
          <p:cNvSpPr/>
          <p:nvPr/>
        </p:nvSpPr>
        <p:spPr>
          <a:xfrm>
            <a:off x="6267388" y="3850351"/>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8" y="71225"/>
                </a:moveTo>
                <a:lnTo>
                  <a:pt x="87198" y="114088"/>
                </a:lnTo>
                <a:cubicBezTo>
                  <a:pt x="85792" y="116332"/>
                  <a:pt x="83381" y="117738"/>
                  <a:pt x="80736" y="117873"/>
                </a:cubicBezTo>
                <a:cubicBezTo>
                  <a:pt x="78090" y="118006"/>
                  <a:pt x="75545" y="116801"/>
                  <a:pt x="73971" y="114657"/>
                </a:cubicBezTo>
                <a:lnTo>
                  <a:pt x="57898" y="93226"/>
                </a:lnTo>
                <a:cubicBezTo>
                  <a:pt x="55220" y="89676"/>
                  <a:pt x="55956" y="84653"/>
                  <a:pt x="59505" y="81975"/>
                </a:cubicBezTo>
                <a:cubicBezTo>
                  <a:pt x="63055" y="79296"/>
                  <a:pt x="68078" y="80032"/>
                  <a:pt x="70757" y="83583"/>
                </a:cubicBezTo>
                <a:lnTo>
                  <a:pt x="79798" y="95637"/>
                </a:lnTo>
                <a:lnTo>
                  <a:pt x="100359" y="62720"/>
                </a:lnTo>
                <a:cubicBezTo>
                  <a:pt x="102704" y="58969"/>
                  <a:pt x="107659" y="57796"/>
                  <a:pt x="111442" y="60175"/>
                </a:cubicBezTo>
                <a:cubicBezTo>
                  <a:pt x="115226" y="62553"/>
                  <a:pt x="116365" y="67475"/>
                  <a:pt x="113988" y="71258"/>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576695" y="3812540"/>
            <a:ext cx="504698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î</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triser le flux open source sur GitHub</a:t>
            </a:r>
            <a:endParaRPr lang="en-US" sz="1100"/>
          </a:p>
        </p:txBody>
      </p:sp>
      <p:sp>
        <p:nvSpPr>
          <p:cNvPr id="32" name="Freeform 32"/>
          <p:cNvSpPr/>
          <p:nvPr/>
        </p:nvSpPr>
        <p:spPr>
          <a:xfrm>
            <a:off x="6267388" y="4231305"/>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8" y="71225"/>
                </a:moveTo>
                <a:lnTo>
                  <a:pt x="87198" y="114088"/>
                </a:lnTo>
                <a:cubicBezTo>
                  <a:pt x="85792" y="116332"/>
                  <a:pt x="83381" y="117738"/>
                  <a:pt x="80736" y="117873"/>
                </a:cubicBezTo>
                <a:cubicBezTo>
                  <a:pt x="78090" y="118006"/>
                  <a:pt x="75545" y="116801"/>
                  <a:pt x="73971" y="114657"/>
                </a:cubicBezTo>
                <a:lnTo>
                  <a:pt x="57898" y="93226"/>
                </a:lnTo>
                <a:cubicBezTo>
                  <a:pt x="55220" y="89676"/>
                  <a:pt x="55956" y="84653"/>
                  <a:pt x="59505" y="81975"/>
                </a:cubicBezTo>
                <a:cubicBezTo>
                  <a:pt x="63055" y="79296"/>
                  <a:pt x="68078" y="80032"/>
                  <a:pt x="70757" y="83583"/>
                </a:cubicBezTo>
                <a:lnTo>
                  <a:pt x="79798" y="95637"/>
                </a:lnTo>
                <a:lnTo>
                  <a:pt x="100359" y="62720"/>
                </a:lnTo>
                <a:cubicBezTo>
                  <a:pt x="102704" y="58969"/>
                  <a:pt x="107659" y="57796"/>
                  <a:pt x="111442" y="60175"/>
                </a:cubicBezTo>
                <a:cubicBezTo>
                  <a:pt x="115226" y="62553"/>
                  <a:pt x="116365" y="67475"/>
                  <a:pt x="113988" y="71258"/>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576695" y="4193540"/>
            <a:ext cx="520573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Exp</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rimenter la collaboration open source r</a:t>
            </a:r>
            <a:r>
              <a:rPr lang="en-US" alt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ell</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sz="1100"/>
          </a:p>
        </p:txBody>
      </p:sp>
      <p:sp>
        <p:nvSpPr>
          <p:cNvPr id="34" name="Freeform 34"/>
          <p:cNvSpPr/>
          <p:nvPr/>
        </p:nvSpPr>
        <p:spPr>
          <a:xfrm>
            <a:off x="6267388" y="4612267"/>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8" y="71225"/>
                </a:moveTo>
                <a:lnTo>
                  <a:pt x="87198" y="114088"/>
                </a:lnTo>
                <a:cubicBezTo>
                  <a:pt x="85792" y="116332"/>
                  <a:pt x="83381" y="117738"/>
                  <a:pt x="80736" y="117873"/>
                </a:cubicBezTo>
                <a:cubicBezTo>
                  <a:pt x="78090" y="118006"/>
                  <a:pt x="75545" y="116801"/>
                  <a:pt x="73971" y="114657"/>
                </a:cubicBezTo>
                <a:lnTo>
                  <a:pt x="57898" y="93226"/>
                </a:lnTo>
                <a:cubicBezTo>
                  <a:pt x="55220" y="89676"/>
                  <a:pt x="55956" y="84653"/>
                  <a:pt x="59505" y="81975"/>
                </a:cubicBezTo>
                <a:cubicBezTo>
                  <a:pt x="63055" y="79296"/>
                  <a:pt x="68078" y="80032"/>
                  <a:pt x="70757" y="83583"/>
                </a:cubicBezTo>
                <a:lnTo>
                  <a:pt x="79798" y="95637"/>
                </a:lnTo>
                <a:lnTo>
                  <a:pt x="100359" y="62720"/>
                </a:lnTo>
                <a:cubicBezTo>
                  <a:pt x="102704" y="58969"/>
                  <a:pt x="107659" y="57796"/>
                  <a:pt x="111442" y="60175"/>
                </a:cubicBezTo>
                <a:cubicBezTo>
                  <a:pt x="115226" y="62553"/>
                  <a:pt x="116365" y="67475"/>
                  <a:pt x="113988" y="71258"/>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576695" y="4573905"/>
            <a:ext cx="523367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Comprendre CI/CD et les normes de code</a:t>
            </a:r>
            <a:endParaRPr lang="en-US" sz="1100"/>
          </a:p>
        </p:txBody>
      </p:sp>
      <p:sp>
        <p:nvSpPr>
          <p:cNvPr id="36" name="Freeform 36"/>
          <p:cNvSpPr/>
          <p:nvPr/>
        </p:nvSpPr>
        <p:spPr>
          <a:xfrm>
            <a:off x="380956" y="5488428"/>
            <a:ext cx="11430000" cy="571500"/>
          </a:xfrm>
          <a:custGeom>
            <a:avLst/>
            <a:gdLst/>
            <a:ahLst/>
            <a:cxnLst/>
            <a:rect l="l" t="t" r="r" b="b"/>
            <a:pathLst>
              <a:path w="11430000" h="571500">
                <a:moveTo>
                  <a:pt x="76197" y="0"/>
                </a:moveTo>
                <a:lnTo>
                  <a:pt x="11353803" y="0"/>
                </a:lnTo>
                <a:cubicBezTo>
                  <a:pt x="11395885" y="0"/>
                  <a:pt x="11430000" y="34115"/>
                  <a:pt x="11430000" y="76197"/>
                </a:cubicBezTo>
                <a:lnTo>
                  <a:pt x="11430000" y="495303"/>
                </a:lnTo>
                <a:cubicBezTo>
                  <a:pt x="11430000" y="537385"/>
                  <a:pt x="11395885" y="571500"/>
                  <a:pt x="11353803" y="571500"/>
                </a:cubicBezTo>
                <a:lnTo>
                  <a:pt x="76197" y="571500"/>
                </a:lnTo>
                <a:cubicBezTo>
                  <a:pt x="34115" y="571500"/>
                  <a:pt x="0" y="537385"/>
                  <a:pt x="0" y="49530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37" name="Freeform 37"/>
          <p:cNvSpPr/>
          <p:nvPr/>
        </p:nvSpPr>
        <p:spPr>
          <a:xfrm>
            <a:off x="1847261" y="5754200"/>
            <a:ext cx="192881" cy="150017"/>
          </a:xfrm>
          <a:custGeom>
            <a:avLst/>
            <a:gdLst/>
            <a:ahLst/>
            <a:cxnLst/>
            <a:rect l="l" t="t" r="r" b="b"/>
            <a:pathLst>
              <a:path w="192881" h="150017">
                <a:moveTo>
                  <a:pt x="16073" y="54850"/>
                </a:moveTo>
                <a:lnTo>
                  <a:pt x="86128" y="83682"/>
                </a:lnTo>
                <a:cubicBezTo>
                  <a:pt x="89408" y="85020"/>
                  <a:pt x="92892" y="85725"/>
                  <a:pt x="96441" y="85725"/>
                </a:cubicBezTo>
                <a:cubicBezTo>
                  <a:pt x="99990" y="85725"/>
                  <a:pt x="103473" y="85020"/>
                  <a:pt x="106754" y="83682"/>
                </a:cubicBezTo>
                <a:lnTo>
                  <a:pt x="187924" y="50263"/>
                </a:lnTo>
                <a:cubicBezTo>
                  <a:pt x="190939" y="49024"/>
                  <a:pt x="192881" y="46110"/>
                  <a:pt x="192881" y="42861"/>
                </a:cubicBezTo>
                <a:cubicBezTo>
                  <a:pt x="192881" y="39614"/>
                  <a:pt x="190939" y="36701"/>
                  <a:pt x="187924" y="35462"/>
                </a:cubicBezTo>
                <a:lnTo>
                  <a:pt x="106754" y="2042"/>
                </a:lnTo>
                <a:cubicBezTo>
                  <a:pt x="103473" y="703"/>
                  <a:pt x="99990" y="0"/>
                  <a:pt x="96441" y="0"/>
                </a:cubicBezTo>
                <a:cubicBezTo>
                  <a:pt x="92892" y="0"/>
                  <a:pt x="89408" y="703"/>
                  <a:pt x="86128" y="2042"/>
                </a:cubicBezTo>
                <a:lnTo>
                  <a:pt x="4956" y="35462"/>
                </a:lnTo>
                <a:cubicBezTo>
                  <a:pt x="1942" y="36701"/>
                  <a:pt x="0" y="39614"/>
                  <a:pt x="0" y="42861"/>
                </a:cubicBezTo>
                <a:lnTo>
                  <a:pt x="0" y="141982"/>
                </a:lnTo>
                <a:cubicBezTo>
                  <a:pt x="0" y="146435"/>
                  <a:pt x="3583" y="150018"/>
                  <a:pt x="8037" y="150018"/>
                </a:cubicBezTo>
                <a:cubicBezTo>
                  <a:pt x="12490" y="150018"/>
                  <a:pt x="16073" y="146435"/>
                  <a:pt x="16073" y="141982"/>
                </a:cubicBezTo>
                <a:lnTo>
                  <a:pt x="16073" y="54850"/>
                </a:lnTo>
                <a:close/>
                <a:moveTo>
                  <a:pt x="32148" y="78860"/>
                </a:moveTo>
                <a:lnTo>
                  <a:pt x="32148" y="117872"/>
                </a:lnTo>
                <a:cubicBezTo>
                  <a:pt x="32148" y="135618"/>
                  <a:pt x="60945" y="150018"/>
                  <a:pt x="96441" y="150018"/>
                </a:cubicBezTo>
                <a:cubicBezTo>
                  <a:pt x="131936" y="150018"/>
                  <a:pt x="160734" y="135618"/>
                  <a:pt x="160734" y="117872"/>
                </a:cubicBezTo>
                <a:lnTo>
                  <a:pt x="160734" y="78827"/>
                </a:lnTo>
                <a:lnTo>
                  <a:pt x="112881" y="98550"/>
                </a:lnTo>
                <a:cubicBezTo>
                  <a:pt x="107659" y="100693"/>
                  <a:pt x="102100" y="101798"/>
                  <a:pt x="96441" y="101798"/>
                </a:cubicBezTo>
                <a:cubicBezTo>
                  <a:pt x="90781" y="101798"/>
                  <a:pt x="85223" y="100693"/>
                  <a:pt x="79999" y="98550"/>
                </a:cubicBezTo>
                <a:lnTo>
                  <a:pt x="32148" y="788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1847850" y="5650230"/>
            <a:ext cx="99345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Bonne r</a:t>
            </a:r>
            <a:r>
              <a:rPr lang="en-US" alt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ussite à tous pour vos travaux, et que votre voyage dans la contribution open source commence</a:t>
            </a:r>
            <a:r>
              <a:rPr 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graphicFrame>
        <p:nvGraphicFramePr>
          <p:cNvPr id="39" name="表格 38"/>
          <p:cNvGraphicFramePr/>
          <p:nvPr/>
        </p:nvGraphicFramePr>
        <p:xfrm>
          <a:off x="853440" y="3185160"/>
          <a:ext cx="5013960" cy="356235"/>
        </p:xfrm>
        <a:graphic>
          <a:graphicData uri="http://schemas.openxmlformats.org/drawingml/2006/table">
            <a:tbl>
              <a:tblPr/>
              <a:tblGrid>
                <a:gridCol w="5013960"/>
              </a:tblGrid>
              <a:tr h="356235">
                <a:tc>
                  <a:txBody>
                    <a:bodyPr/>
                    <a:p>
                      <a:pPr>
                        <a:lnSpc>
                          <a:spcPts val="1320"/>
                        </a:lnSpc>
                      </a:pPr>
                      <a:endParaRPr lang="en-US" altLang="zh-CN" sz="800" b="0" i="0">
                        <a:solidFill>
                          <a:srgbClr val="0F1115"/>
                        </a:solidFill>
                        <a:latin typeface="quote-cjk-patch"/>
                        <a:ea typeface="quote-cjk-patch"/>
                      </a:endParaRPr>
                    </a:p>
                  </a:txBody>
                  <a:tcPr marL="122237" marR="0" marT="76517" marB="76517" anchor="ctr" anchorCtr="0">
                    <a:lnL>
                      <a:noFill/>
                    </a:lnL>
                    <a:lnR>
                      <a:noFill/>
                    </a:lnR>
                    <a:lnT>
                      <a:noFill/>
                    </a:lnT>
                    <a:lnB>
                      <a:noFill/>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46-47</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 Soutenance d</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e projet de cours</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Aperçu de projet de cours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aphicFrame>
        <p:nvGraphicFramePr>
          <p:cNvPr id="6" name="Table 6"/>
          <p:cNvGraphicFramePr>
            <a:graphicFrameLocks noGrp="1"/>
          </p:cNvGraphicFramePr>
          <p:nvPr/>
        </p:nvGraphicFramePr>
        <p:xfrm>
          <a:off x="882015" y="1676575"/>
          <a:ext cx="10427970" cy="4544695"/>
        </p:xfrm>
        <a:graphic>
          <a:graphicData uri="http://schemas.openxmlformats.org/drawingml/2006/table">
            <a:tbl>
              <a:tblPr>
                <a:effectLst/>
              </a:tblPr>
              <a:tblGrid>
                <a:gridCol w="1111885"/>
                <a:gridCol w="4086225"/>
                <a:gridCol w="1414145"/>
                <a:gridCol w="3815715"/>
              </a:tblGrid>
              <a:tr h="583565">
                <a:tc>
                  <a:txBody>
                    <a:bodyPr rtlCol="0"/>
                    <a:lstStyle/>
                    <a:p>
                      <a:r>
                        <a:t>Séance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Nom du projet</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Type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Points d'évaluation clés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Environnement et chaîne d'outils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TP</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Validation en 4 étapes + rapport de TP</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Softmax Kernel (mi-session)</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Projet individuel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Exactitude 40 pts + seuil de performance 70%</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Arial" panose="020B0604020202020204"/>
                          <a:ea typeface="Arial" panose="020B0604020202020204"/>
                          <a:cs typeface="Arial" panose="020B0604020202020204"/>
                          <a:sym typeface="Arial" panose="020B0604020202020204"/>
                        </a:rPr>
                        <a:t>18</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Fusion RMSNorm+Residual (final)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Projet individuel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Performance à 90% de la référence FlagGems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847090">
                <a:tc>
                  <a:txBody>
                    <a:bodyPr rtlCol="0"/>
                    <a:lstStyle/>
                    <a:p>
                      <a:pPr indent="0" algn="ctr">
                        <a:lnSpc>
                          <a:spcPct val="117000"/>
                        </a:lnSpc>
                        <a:defRPr/>
                      </a:pPr>
                      <a:r>
                        <a:rPr lang="en-US" sz="1500" b="0" i="0" u="none" strike="noStrike" spc="120">
                          <a:solidFill>
                            <a:srgbClr val="000000"/>
                          </a:solidFill>
                          <a:latin typeface="Arial" panose="020B0604020202020204"/>
                          <a:ea typeface="Arial" panose="020B0604020202020204"/>
                          <a:cs typeface="Arial" panose="020B0604020202020204"/>
                          <a:sym typeface="Arial" panose="020B0604020202020204"/>
                        </a:rPr>
                        <a:t>27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Contribution FlagTree Pass (final)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Projet individuel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3 directions au choix, validation FileCheck</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Arial" panose="020B0604020202020204"/>
                          <a:ea typeface="Arial" panose="020B0604020202020204"/>
                          <a:cs typeface="Arial" panose="020B0604020202020204"/>
                          <a:sym typeface="Arial" panose="020B0604020202020204"/>
                        </a:rPr>
                        <a:t>36</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Entraînement distribué multi-machine 7B (final)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Groupe de 3</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Comparaison de 3 stratégies parallèles + accélération linéaire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Arial" panose="020B0604020202020204"/>
                          <a:ea typeface="Arial" panose="020B0604020202020204"/>
                          <a:cs typeface="Arial" panose="020B0604020202020204"/>
                          <a:sym typeface="Arial" panose="020B0604020202020204"/>
                        </a:rPr>
                        <a:t>46-47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Soutenance du grand projet</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Soutenance en groupe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Faisabilité du plan + authenticité de l'avancement</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Instructions générales pour la soutenance</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Le projet final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Final Project</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se fait en groupes de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3 </a:t>
            </a:r>
            <a:r>
              <a:rPr lang="en-US" altLang="zh-CN"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à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4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personnes, tout au long du cinquième module (séances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37–45</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La soutenance se déroule en deux temps : la séance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46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est une vérification de l'avancement intermédiaire, la séance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47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est la </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soutenance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finale. Le thème du projet doit couvrir au moins une des dimensions suivantes :</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50000"/>
              </a:lnSpc>
              <a:spcBef>
                <a:spcPts val="750"/>
              </a:spcBef>
              <a:buClr>
                <a:srgbClr val="404040"/>
              </a:buClr>
              <a:buChar char="•"/>
            </a:pP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Conception et réalisation autonome d'un </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protocole </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d'évaluation pour de nouveaux matériels</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50000"/>
              </a:lnSpc>
              <a:spcBef>
                <a:spcPts val="750"/>
              </a:spcBef>
              <a:buClr>
                <a:srgbClr val="404040"/>
              </a:buClr>
              <a:buChar char="•"/>
            </a:pP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KernelGen </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 évaluation de ses capacités et optimisation pour la génération d'opérateurs spécifiques</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50000"/>
              </a:lnSpc>
              <a:spcBef>
                <a:spcPts val="750"/>
              </a:spcBef>
              <a:buClr>
                <a:srgbClr val="404040"/>
              </a:buClr>
              <a:buChar char="•"/>
            </a:pP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Pratique d'optimisation full-stack (FlagTree + FlagGems) d'op</a:t>
            </a:r>
            <a:r>
              <a:rPr lang="en-US" alt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é</a:t>
            </a:r>
            <a:r>
              <a:rPr lang="en-US" altLang="zh-CN"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rateurs pour GPU domestiques</a:t>
            </a:r>
            <a:endPar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a:p>
            <a:pPr marL="596900" lvl="1" indent="-254000" algn="l">
              <a:lnSpc>
                <a:spcPct val="150000"/>
              </a:lnSpc>
              <a:spcBef>
                <a:spcPts val="750"/>
              </a:spcBef>
              <a:buClr>
                <a:srgbClr val="404040"/>
              </a:buClr>
              <a:buChar char="•"/>
            </a:pP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Exploration de l'application de la programmation assistée par </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IA </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dans le d</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veloppement de logiciels syst</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è</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me</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Pr</a:t>
            </a:r>
            <a:r>
              <a:rPr lang="en-US" altLang="en-US"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sentation de la solution et point d'avancement</a:t>
            </a:r>
            <a:endParaRPr lang="en-US" altLang="zh-CN" sz="28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Déroulement de la soutenance</a:t>
            </a:r>
            <a:endPar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Durée :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12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minutes de présentation</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+ 5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minutes de questions-réponses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Ordre de passage : déterminé par tirage au sort, </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annonc</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1 semaine à l'avance</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Documents à soumettre :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Fichier PPT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à d</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poser sur la plateforme du cours avant 08:00 le jour de la soutenance</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Contenu obligatoire </a:t>
            </a:r>
            <a:r>
              <a:rPr lang="en-US" altLang="zh-CN"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de la pr</a:t>
            </a:r>
            <a:r>
              <a:rPr lang="en-US" alt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sentation :</a:t>
            </a:r>
            <a:endPar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Contexte du projet et motivation du sujet : pourquoi avoir choisi ce problème ? Quelle est sa valeur technique ?</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Solution technique : diagramme d'architecture, feuille de route des technologies clés, points d'intégration avec l'écosystème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FlagOS </a:t>
            </a:r>
            <a:endPar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Avancement actuel : données expérimentales ou démonstration de code des parties terminées (ne pas se limiter à </a:t>
            </a:r>
            <a:r>
              <a:rPr lang="en-US" altLang="zh-CN"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une simple description sur PPT</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Défis rencontrés : difficultés techniques spécifiques, solutions déjà essayées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Planification future : plans d'amélioration, </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ch</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ances pr</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cises</a:t>
            </a:r>
            <a:endPar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Sp</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cifications du rapport final</a:t>
            </a:r>
            <a:endPar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246505"/>
            <a:ext cx="11277600" cy="510984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Exigences de format</a:t>
            </a:r>
            <a:endPar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Longueur :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8 </a:t>
            </a:r>
            <a:r>
              <a:rPr lang="en-US" altLang="zh-CN"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à</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12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pages de texte (sans couverture, table des matières, références)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Format :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A4</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12pt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pour le corps du texte, figures et tableaux doivent être numérotés et titrés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Langue : principalement en français, le code et les termes techniques peuvent rester en anglais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Contenu obligatoire</a:t>
            </a:r>
            <a:endPar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Résumé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300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caractères maximum) : contributions principales et conclusions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Chapitre sur la conception système : diagramme d'architecture, structures de données clés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Chapitre expérimental : configuration expérimentale, choix de la base de référence, analyse des résultats (au moins </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1 </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graphique à lignes</a:t>
            </a: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histogramme de comparaison de performances)</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Chapitre de discussion : analyse des limitations, orientations d'amélioration si le projet était à refaire</a:t>
            </a:r>
            <a:endPar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Critères d'évaluation</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aphicFrame>
        <p:nvGraphicFramePr>
          <p:cNvPr id="6" name="Table 6"/>
          <p:cNvGraphicFramePr>
            <a:graphicFrameLocks noGrp="1"/>
          </p:cNvGraphicFramePr>
          <p:nvPr/>
        </p:nvGraphicFramePr>
        <p:xfrm>
          <a:off x="1363345" y="2222500"/>
          <a:ext cx="9410065" cy="3436620"/>
        </p:xfrm>
        <a:graphic>
          <a:graphicData uri="http://schemas.openxmlformats.org/drawingml/2006/table">
            <a:tbl>
              <a:tblPr>
                <a:effectLst/>
              </a:tblPr>
              <a:tblGrid>
                <a:gridCol w="3016250"/>
                <a:gridCol w="1809115"/>
                <a:gridCol w="4584700"/>
              </a:tblGrid>
              <a:tr h="601345">
                <a:tc>
                  <a:txBody>
                    <a:bodyPr rtlCol="0"/>
                    <a:lstStyle/>
                    <a:p>
                      <a:r>
                        <a:t>Dimension d'évaluation</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r>
                        <a:t>Score</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r>
                        <a:t>Critères de notation</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567055">
                <a:tc>
                  <a:txBody>
                    <a:bodyPr rtlCol="0"/>
                    <a:lstStyle/>
                    <a:p>
                      <a:r>
                        <a:t>Profondeur technique et innovation</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r>
                        <a:t>30 pts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r>
                        <a:t>Difficulté du problème, conception de la solution, analyse des innovations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567055">
                <a:tc>
                  <a:txBody>
                    <a:bodyPr rtlCol="0"/>
                    <a:lstStyle/>
                    <a:p>
                      <a:r>
                        <a:t>Résultats expérimentaux et qualité des données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r>
                        <a:t>30 pts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r>
                        <a:t>Données complètes, baseline raisonnable, conclusions étayées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567055">
                <a:tc>
                  <a:txBody>
                    <a:bodyPr rtlCol="0"/>
                    <a:lstStyle/>
                    <a:p>
                      <a:r>
                        <a:t>Qualité de la présentation et de la démonstration</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r>
                        <a:t>20 pts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r>
                        <a:t>PPT clair, démo exécutable, réponses précises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567055">
                <a:tc>
                  <a:txBody>
                    <a:bodyPr rtlCol="0"/>
                    <a:lstStyle/>
                    <a:p>
                      <a:r>
                        <a:t>Réponse aux retours (séance 46)</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r>
                        <a:t>10 pts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r>
                        <a:t>Adoption justifiée, explications suffisantes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567055">
                <a:tc>
                  <a:txBody>
                    <a:bodyPr rtlCol="0"/>
                    <a:lstStyle/>
                    <a:p>
                      <a:r>
                        <a:t>Qualité du code et du rapport</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r>
                        <a:t>10 pts</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r>
                        <a:t>README complet, rapport normalisé, code reproductible</a:t>
                      </a: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lnSpcReduction="20000"/>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Leçon </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48</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 </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Perspectives technologiques et </a:t>
            </a:r>
            <a:r>
              <a:rPr lang="en-US" altLang="zh-CN"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conclusion</a:t>
            </a:r>
            <a:endParaRPr lang="en-US" altLang="zh-CN"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Vers une IA durable et l'AGI</a:t>
            </a:r>
            <a:endPar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Rétrospective des cours précédents :</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Module 1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Fondements des syst</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mes d'IA et du calcul h</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rog</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Module 2 : </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Op</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rateurs d'IA</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hautes performances et ingénierie des opérateurs</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Module 3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Principes des compilateurs </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d'IA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et optimisation</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Module 4 : </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Entra</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î</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nement distribu</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parall</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inf</a:t>
            </a:r>
            <a:r>
              <a:rPr lang="en-US" alt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rence et communicatio</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Module 5 : Évaluation des performances et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génération d'opérateurs assistée par IA</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Moteurs clés récents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Lois d'</a:t>
            </a:r>
            <a:r>
              <a:rPr lang="en-US" alt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chelle (pr</a:t>
            </a:r>
            <a:r>
              <a:rPr lang="en-US" alt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-entra</a:t>
            </a:r>
            <a:r>
              <a:rPr lang="en-US" alt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î</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nement, post-entra</a:t>
            </a:r>
            <a:r>
              <a:rPr lang="en-US" alt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î</a:t>
            </a:r>
            <a:r>
              <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nement, au test</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Flux de travail des agents et les systèmes multi-agents</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Intelligence incarnée et modèles du monde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algn="l">
              <a:lnSpc>
                <a:spcPct val="100000"/>
              </a:lnSpc>
              <a:buSzTx/>
            </a:pP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Concevoir des syst</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mes et </a:t>
            </a:r>
            <a:endPar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l">
              <a:lnSpc>
                <a:spcPct val="100000"/>
              </a:lnSpc>
              <a:buSzTx/>
            </a:pP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logiciels d'IA pour une croissance </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10</a:t>
            </a:r>
            <a:endPar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r">
              <a:lnSpc>
                <a:spcPct val="100000"/>
              </a:lnSpc>
              <a:defRPr sz="1400" b="0" i="0" u="none" strike="noStrike" spc="0">
                <a:solidFill>
                  <a:srgbClr val="A5A5A5">
                    <a:alpha val="100000"/>
                  </a:srgbClr>
                </a:solidFill>
                <a:latin typeface="微软雅黑" panose="020B0503020204020204" charset="-122"/>
              </a:defRPr>
            </a:lvl1pPr>
          </a:lstStyle>
          <a:p>
            <a:pPr indent="0" algn="r">
              <a:lnSpc>
                <a:spcPct val="100000"/>
              </a:lnSpc>
            </a:pP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Source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nvidia.com</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Mise à l'échelle du pré-entraînement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Mise à l'échelle du post-entraînement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Mise à l'échelle au moment du test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753735" y="2437765"/>
            <a:ext cx="6279515" cy="35325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Défis matériels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29348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Pourquoi les goulots d'étranglement persistent-ils après le ralentissement de la loi de Moore ?</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Mémoire :</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HBM</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 la croissance de la bande passante est bien plus lente que celle de la puissance de calcul</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Le GPU</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passe beaucoup de temps à attendre les données</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Consommation :</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L'effet de mise à l'échelle Dennard</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 pris fin vers</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2005</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Interconnexion :</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Communication multi-</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représentant</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&gt; 30%</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521335" y="4535170"/>
            <a:ext cx="3649980" cy="1642110"/>
            <a:chOff x="521335" y="4535170"/>
            <a:chExt cx="3649980" cy="1642110"/>
          </a:xfrm>
        </p:grpSpPr>
        <p:sp>
          <p:nvSpPr>
            <p:cNvPr id="7" name="AutoShape 7"/>
            <p:cNvSpPr/>
            <p:nvPr/>
          </p:nvSpPr>
          <p:spPr>
            <a:xfrm>
              <a:off x="521335" y="4535170"/>
              <a:ext cx="3649980" cy="1642110"/>
            </a:xfrm>
            <a:prstGeom prst="rect">
              <a:avLst/>
            </a:prstGeom>
            <a:solidFill>
              <a:srgbClr val="F7F7F7">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521335" y="4535170"/>
              <a:ext cx="3649980" cy="457200"/>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646216" y="4572000"/>
              <a:ext cx="3471932" cy="38417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400" b="1" i="0" u="none" strike="noStrike">
                  <a:solidFill>
                    <a:srgbClr val="FFFFFF"/>
                  </a:solidFill>
                  <a:latin typeface="Calibri" panose="020F0502020204030204"/>
                  <a:ea typeface="Calibri" panose="020F0502020204030204"/>
                  <a:cs typeface="Calibri" panose="020F0502020204030204"/>
                  <a:sym typeface="Calibri" panose="020F0502020204030204"/>
                </a:rPr>
                <a:t>Mur mémoire</a:t>
              </a:r>
              <a:endParaRPr lang="en-US" sz="1100"/>
            </a:p>
          </p:txBody>
        </p:sp>
        <p:sp>
          <p:nvSpPr>
            <p:cNvPr id="10" name="AutoShape 10"/>
            <p:cNvSpPr/>
            <p:nvPr/>
          </p:nvSpPr>
          <p:spPr>
            <a:xfrm>
              <a:off x="646216" y="5083810"/>
              <a:ext cx="3471932" cy="65849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400" b="1" i="0" u="none" strike="noStrike">
                  <a:solidFill>
                    <a:srgbClr val="8B0012"/>
                  </a:solidFill>
                  <a:latin typeface="Calibri Light" panose="020F0302020204030204"/>
                  <a:ea typeface="Calibri Light" panose="020F0302020204030204"/>
                  <a:cs typeface="Calibri Light" panose="020F0302020204030204"/>
                  <a:sym typeface="Calibri Light" panose="020F0302020204030204"/>
                </a:rPr>
                <a:t>~2% / an</a:t>
              </a:r>
              <a:endParaRPr lang="en-US" sz="1100"/>
            </a:p>
          </p:txBody>
        </p:sp>
        <p:sp>
          <p:nvSpPr>
            <p:cNvPr id="11" name="AutoShape 11"/>
            <p:cNvSpPr/>
            <p:nvPr/>
          </p:nvSpPr>
          <p:spPr>
            <a:xfrm>
              <a:off x="646216" y="5723890"/>
              <a:ext cx="3471932" cy="25590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800" b="0" i="1" u="none" strike="noStrike">
                  <a:solidFill>
                    <a:srgbClr val="000000"/>
                  </a:solidFill>
                  <a:latin typeface="Calibri" panose="020F0502020204030204"/>
                  <a:ea typeface="Calibri" panose="020F0502020204030204"/>
                  <a:cs typeface="Calibri" panose="020F0502020204030204"/>
                  <a:sym typeface="Calibri" panose="020F0502020204030204"/>
                </a:rPr>
                <a:t>Croissance annuelle de la bande passante DRAM</a:t>
              </a:r>
              <a:endParaRPr lang="en-US" sz="1100"/>
            </a:p>
          </p:txBody>
        </p:sp>
        <p:sp>
          <p:nvSpPr>
            <p:cNvPr id="12" name="AutoShape 12"/>
            <p:cNvSpPr/>
            <p:nvPr/>
          </p:nvSpPr>
          <p:spPr>
            <a:xfrm>
              <a:off x="646216" y="6016625"/>
              <a:ext cx="3382908" cy="13970"/>
            </a:xfrm>
            <a:prstGeom prst="rect">
              <a:avLst/>
            </a:prstGeom>
            <a:solidFill>
              <a:srgbClr val="DDDDDD">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grpSp>
      <p:grpSp>
        <p:nvGrpSpPr>
          <p:cNvPr id="13" name="Group 13"/>
          <p:cNvGrpSpPr/>
          <p:nvPr/>
        </p:nvGrpSpPr>
        <p:grpSpPr>
          <a:xfrm>
            <a:off x="4263390" y="4535170"/>
            <a:ext cx="3649980" cy="1679575"/>
            <a:chOff x="4263390" y="4535170"/>
            <a:chExt cx="3649980" cy="1679575"/>
          </a:xfrm>
        </p:grpSpPr>
        <p:sp>
          <p:nvSpPr>
            <p:cNvPr id="14" name="AutoShape 14"/>
            <p:cNvSpPr/>
            <p:nvPr/>
          </p:nvSpPr>
          <p:spPr>
            <a:xfrm>
              <a:off x="4263390" y="4535170"/>
              <a:ext cx="3649980" cy="1679575"/>
            </a:xfrm>
            <a:prstGeom prst="rect">
              <a:avLst/>
            </a:prstGeom>
            <a:solidFill>
              <a:srgbClr val="F7F7F7">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4263390" y="4535170"/>
              <a:ext cx="3649980" cy="467631"/>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4388271" y="4572840"/>
              <a:ext cx="3471932" cy="39294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400" b="1" i="0" u="none" strike="noStrike">
                  <a:solidFill>
                    <a:srgbClr val="FFFFFF"/>
                  </a:solidFill>
                  <a:latin typeface="Calibri" panose="020F0502020204030204"/>
                  <a:ea typeface="Calibri" panose="020F0502020204030204"/>
                  <a:cs typeface="Calibri" panose="020F0502020204030204"/>
                  <a:sym typeface="Calibri" panose="020F0502020204030204"/>
                </a:rPr>
                <a:t>Mur de consommation</a:t>
              </a:r>
              <a:endParaRPr lang="en-US" sz="1100"/>
            </a:p>
          </p:txBody>
        </p:sp>
        <p:sp>
          <p:nvSpPr>
            <p:cNvPr id="17" name="AutoShape 17"/>
            <p:cNvSpPr/>
            <p:nvPr/>
          </p:nvSpPr>
          <p:spPr>
            <a:xfrm>
              <a:off x="4388271" y="5096327"/>
              <a:ext cx="3471932" cy="673519"/>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400" b="1" i="0" u="none" strike="noStrike">
                  <a:solidFill>
                    <a:srgbClr val="8B0012"/>
                  </a:solidFill>
                  <a:latin typeface="Calibri Light" panose="020F0302020204030204"/>
                  <a:ea typeface="Calibri Light" panose="020F0302020204030204"/>
                  <a:cs typeface="Calibri Light" panose="020F0302020204030204"/>
                  <a:sym typeface="Calibri Light" panose="020F0302020204030204"/>
                </a:rPr>
                <a:t>700 W+</a:t>
              </a:r>
              <a:endParaRPr lang="en-US" sz="1100"/>
            </a:p>
          </p:txBody>
        </p:sp>
        <p:sp>
          <p:nvSpPr>
            <p:cNvPr id="18" name="AutoShape 18"/>
            <p:cNvSpPr/>
            <p:nvPr/>
          </p:nvSpPr>
          <p:spPr>
            <a:xfrm>
              <a:off x="4388271" y="5751011"/>
              <a:ext cx="3471932" cy="26174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800" b="0" i="1" u="none" strike="noStrike">
                  <a:solidFill>
                    <a:srgbClr val="000000"/>
                  </a:solidFill>
                  <a:latin typeface="Calibri" panose="020F0502020204030204"/>
                  <a:ea typeface="Calibri" panose="020F0502020204030204"/>
                  <a:cs typeface="Calibri" panose="020F0502020204030204"/>
                  <a:sym typeface="Calibri" panose="020F0502020204030204"/>
                </a:rPr>
                <a:t>Puissance thermique nominale H100 SXM</a:t>
              </a:r>
              <a:endParaRPr lang="en-US" sz="1100"/>
            </a:p>
          </p:txBody>
        </p:sp>
        <p:sp>
          <p:nvSpPr>
            <p:cNvPr id="19" name="AutoShape 19"/>
            <p:cNvSpPr/>
            <p:nvPr/>
          </p:nvSpPr>
          <p:spPr>
            <a:xfrm>
              <a:off x="4388271" y="6050425"/>
              <a:ext cx="3382908" cy="14289"/>
            </a:xfrm>
            <a:prstGeom prst="rect">
              <a:avLst/>
            </a:prstGeom>
            <a:solidFill>
              <a:srgbClr val="DDDDDD">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grpSp>
      <p:grpSp>
        <p:nvGrpSpPr>
          <p:cNvPr id="20" name="Group 20"/>
          <p:cNvGrpSpPr/>
          <p:nvPr/>
        </p:nvGrpSpPr>
        <p:grpSpPr>
          <a:xfrm>
            <a:off x="7988300" y="4535170"/>
            <a:ext cx="3649980" cy="1679575"/>
            <a:chOff x="7988300" y="4535170"/>
            <a:chExt cx="3649980" cy="1679575"/>
          </a:xfrm>
        </p:grpSpPr>
        <p:sp>
          <p:nvSpPr>
            <p:cNvPr id="21" name="AutoShape 21"/>
            <p:cNvSpPr/>
            <p:nvPr/>
          </p:nvSpPr>
          <p:spPr>
            <a:xfrm>
              <a:off x="7988300" y="4535170"/>
              <a:ext cx="3649980" cy="1679575"/>
            </a:xfrm>
            <a:prstGeom prst="rect">
              <a:avLst/>
            </a:prstGeom>
            <a:solidFill>
              <a:srgbClr val="F7F7F7">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7988300" y="4535170"/>
              <a:ext cx="3649980" cy="467631"/>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8113181" y="4572840"/>
              <a:ext cx="3471932" cy="39294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400" b="1" i="0" u="none" strike="noStrike">
                  <a:solidFill>
                    <a:srgbClr val="FFFFFF"/>
                  </a:solidFill>
                  <a:latin typeface="Calibri" panose="020F0502020204030204"/>
                  <a:ea typeface="Calibri" panose="020F0502020204030204"/>
                  <a:cs typeface="Calibri" panose="020F0502020204030204"/>
                  <a:sym typeface="Calibri" panose="020F0502020204030204"/>
                </a:rPr>
                <a:t>Mur d'interconnexion</a:t>
              </a:r>
              <a:endParaRPr lang="en-US" sz="1100"/>
            </a:p>
          </p:txBody>
        </p:sp>
        <p:sp>
          <p:nvSpPr>
            <p:cNvPr id="24" name="AutoShape 24"/>
            <p:cNvSpPr/>
            <p:nvPr/>
          </p:nvSpPr>
          <p:spPr>
            <a:xfrm>
              <a:off x="8113181" y="5096327"/>
              <a:ext cx="3471932" cy="673519"/>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400" b="1" i="0" u="none" strike="noStrike">
                  <a:solidFill>
                    <a:srgbClr val="8B0012"/>
                  </a:solidFill>
                  <a:latin typeface="Calibri Light" panose="020F0302020204030204"/>
                  <a:ea typeface="Calibri Light" panose="020F0302020204030204"/>
                  <a:cs typeface="Calibri Light" panose="020F0302020204030204"/>
                  <a:sym typeface="Calibri Light" panose="020F0302020204030204"/>
                </a:rPr>
                <a:t>400 Go/s</a:t>
              </a:r>
              <a:endParaRPr lang="en-US" sz="1100"/>
            </a:p>
          </p:txBody>
        </p:sp>
        <p:sp>
          <p:nvSpPr>
            <p:cNvPr id="25" name="AutoShape 25"/>
            <p:cNvSpPr/>
            <p:nvPr/>
          </p:nvSpPr>
          <p:spPr>
            <a:xfrm>
              <a:off x="8113181" y="5751011"/>
              <a:ext cx="3471932" cy="26174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800" b="0" i="1" u="none" strike="noStrike">
                  <a:solidFill>
                    <a:srgbClr val="000000"/>
                  </a:solidFill>
                  <a:latin typeface="Calibri" panose="020F0502020204030204"/>
                  <a:ea typeface="Calibri" panose="020F0502020204030204"/>
                  <a:cs typeface="Calibri" panose="020F0502020204030204"/>
                  <a:sym typeface="Calibri" panose="020F0502020204030204"/>
                </a:rPr>
                <a:t>Bande passante PCIe 5.0 maximale</a:t>
              </a:r>
              <a:endParaRPr lang="en-US" sz="1100"/>
            </a:p>
          </p:txBody>
        </p:sp>
        <p:sp>
          <p:nvSpPr>
            <p:cNvPr id="26" name="AutoShape 26"/>
            <p:cNvSpPr/>
            <p:nvPr/>
          </p:nvSpPr>
          <p:spPr>
            <a:xfrm>
              <a:off x="8113181" y="6050425"/>
              <a:ext cx="3382908" cy="14289"/>
            </a:xfrm>
            <a:prstGeom prst="rect">
              <a:avLst/>
            </a:prstGeom>
            <a:solidFill>
              <a:srgbClr val="DDDDDD">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grpSp>
      <p:pic>
        <p:nvPicPr>
          <p:cNvPr id="27" name="Picture 27"/>
          <p:cNvPicPr>
            <a:picLocks noChangeAspect="1"/>
          </p:cNvPicPr>
          <p:nvPr/>
        </p:nvPicPr>
        <p:blipFill>
          <a:blip r:embed="rId1"/>
          <a:srcRect/>
          <a:stretch>
            <a:fillRect/>
          </a:stretch>
        </p:blipFill>
        <p:spPr>
          <a:xfrm>
            <a:off x="6985635" y="1929130"/>
            <a:ext cx="4652645" cy="24523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Nouvelles architectures</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I</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xfrm>
            <a:off x="523875" y="1323975"/>
            <a:ext cx="5131435" cy="4853305"/>
          </a:xfrm>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微软雅黑" panose="020B0503020204020204" charset="-122"/>
              </a:defRPr>
            </a:lvl1pPr>
          </a:lstStyle>
          <a:p>
            <a:pPr marL="228600" indent="-228600" algn="l">
              <a:lnSpc>
                <a:spcPct val="100000"/>
              </a:lnSpc>
              <a:spcBef>
                <a:spcPts val="1500"/>
              </a:spcBef>
              <a:buClr>
                <a:srgbClr val="404040"/>
              </a:buClr>
              <a:buChar char="•"/>
            </a:pP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Calcul en mémoire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d-Matrix Corsair</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46100" lvl="1" indent="-203200" algn="l">
              <a:lnSpc>
                <a:spcPct val="100000"/>
              </a:lnSpc>
              <a:spcBef>
                <a:spcPts val="750"/>
              </a:spcBef>
              <a:buClr>
                <a:srgbClr val="404040"/>
              </a:buClr>
              <a:buChar char="•"/>
            </a:pPr>
            <a:r>
              <a:rPr lang="en-US" sz="14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Idée centrale : </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intégrer la logique de calcul dans la</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SRAM </a:t>
            </a:r>
            <a:r>
              <a:rPr lang="en-US" altLang="zh-CN"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pour</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éliminant totalement le transfert de données.</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46100" lvl="1" indent="-2032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FlagOS</a:t>
            </a:r>
            <a:r>
              <a:rPr lang="en-US" sz="14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Défi logiciel : </a:t>
            </a:r>
            <a:r>
              <a:rPr lang="en-US" sz="140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compilateur doit comprendre le modèle d'exécution en mémoire ;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FlagTree</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nécessite un backend</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DIMC</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sz="1400"/>
          </a:p>
          <a:p>
            <a:pPr indent="0" algn="l">
              <a:lnSpc>
                <a:spcPct val="100000"/>
              </a:lnSpc>
              <a:spcBef>
                <a:spcPts val="150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xfrm>
            <a:off x="5553710" y="1287780"/>
            <a:ext cx="4142105" cy="2206625"/>
          </a:xfrm>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微软雅黑" panose="020B0503020204020204" charset="-122"/>
              </a:defRPr>
            </a:lvl1pPr>
          </a:lstStyle>
          <a:p>
            <a:pPr marL="228600" indent="-228600" algn="l">
              <a:lnSpc>
                <a:spcPct val="100000"/>
              </a:lnSpc>
              <a:spcBef>
                <a:spcPts val="1500"/>
              </a:spcBef>
              <a:buClr>
                <a:srgbClr val="404040"/>
              </a:buClr>
              <a:buChar char="•"/>
            </a:pP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Intégration au niveau de la </a:t>
            </a:r>
            <a:r>
              <a:rPr lang="en-US" altLang="zh-CN"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plaquette </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Cerebras WSE-3</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46100" lvl="1" indent="-203200" algn="l">
              <a:lnSpc>
                <a:spcPct val="100000"/>
              </a:lnSpc>
              <a:spcBef>
                <a:spcPts val="750"/>
              </a:spcBef>
              <a:buClr>
                <a:srgbClr val="404040"/>
              </a:buClr>
              <a:buChar char="•"/>
            </a:pPr>
            <a:r>
              <a:rPr lang="en-US" sz="14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Idée centrale : </a:t>
            </a:r>
            <a:r>
              <a:rPr lang="en-US" altLang="zh-CN"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une plaquette enti</a:t>
            </a:r>
            <a:r>
              <a:rPr lang="en-US" alt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 sert de processeur ; la SRAM sur puce contient le mod</a:t>
            </a:r>
            <a:r>
              <a:rPr lang="en-US" alt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complet.</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46100" lvl="1" indent="-2032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FlagOS</a:t>
            </a:r>
            <a:r>
              <a:rPr lang="en-US" sz="14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Défi logiciel : </a:t>
            </a:r>
            <a:r>
              <a:rPr lang="en-US" sz="140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pas de pagination DRAM</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l</a:t>
            </a:r>
            <a:r>
              <a:rPr lang="en-US" altLang="zh-CN" sz="1400" b="0" i="0" u="none" strike="noStrike">
                <a:solidFill>
                  <a:srgbClr val="404040"/>
                </a:solidFill>
                <a:latin typeface="Calibri" panose="020F0502020204030204"/>
                <a:ea typeface="Calibri" panose="020F0502020204030204"/>
                <a:cs typeface="Calibri" panose="020F0502020204030204"/>
                <a:sym typeface="Calibri" panose="020F0502020204030204"/>
              </a:rPr>
              <a:t>e runtime doit conna</a:t>
            </a:r>
            <a:r>
              <a:rPr lang="en-US" alt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î</a:t>
            </a:r>
            <a:r>
              <a:rPr lang="en-US" altLang="zh-CN" sz="1400" b="0" i="0" u="none" strike="noStrike">
                <a:solidFill>
                  <a:srgbClr val="404040"/>
                </a:solidFill>
                <a:latin typeface="Calibri" panose="020F0502020204030204"/>
                <a:ea typeface="Calibri" panose="020F0502020204030204"/>
                <a:cs typeface="Calibri" panose="020F0502020204030204"/>
                <a:sym typeface="Calibri" panose="020F0502020204030204"/>
              </a:rPr>
              <a:t>tre la topologie de la plaquette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FlagGems</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nécessite un mapping sur puce.</a:t>
            </a:r>
            <a:endPar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sz="1400"/>
          </a:p>
          <a:p>
            <a:pPr indent="0" algn="l">
              <a:lnSpc>
                <a:spcPct val="100000"/>
              </a:lnSpc>
              <a:spcBef>
                <a:spcPts val="150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7" name="Group 7"/>
          <p:cNvGrpSpPr/>
          <p:nvPr/>
        </p:nvGrpSpPr>
        <p:grpSpPr>
          <a:xfrm>
            <a:off x="500380" y="3493770"/>
            <a:ext cx="4723130" cy="2753995"/>
            <a:chOff x="500380" y="3235325"/>
            <a:chExt cx="4723130" cy="2753995"/>
          </a:xfrm>
        </p:grpSpPr>
        <p:sp>
          <p:nvSpPr>
            <p:cNvPr id="8" name="AutoShape 8"/>
            <p:cNvSpPr/>
            <p:nvPr/>
          </p:nvSpPr>
          <p:spPr>
            <a:xfrm>
              <a:off x="500380" y="3235325"/>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500380" y="3295650"/>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Efficacité énergétique</a:t>
              </a:r>
              <a:endParaRPr lang="en-US" sz="1100"/>
            </a:p>
          </p:txBody>
        </p:sp>
        <p:sp>
          <p:nvSpPr>
            <p:cNvPr id="10" name="AutoShape 10"/>
            <p:cNvSpPr/>
            <p:nvPr/>
          </p:nvSpPr>
          <p:spPr>
            <a:xfrm>
              <a:off x="1638935" y="3310890"/>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38 TOPS/W</a:t>
              </a:r>
              <a:endParaRPr lang="en-US" sz="1100"/>
            </a:p>
          </p:txBody>
        </p:sp>
        <p:sp>
          <p:nvSpPr>
            <p:cNvPr id="11" name="AutoShape 11"/>
            <p:cNvSpPr/>
            <p:nvPr/>
          </p:nvSpPr>
          <p:spPr>
            <a:xfrm>
              <a:off x="2584450" y="3326130"/>
              <a:ext cx="225425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Comparé à H100 ~2,8 TOPS/W (environ 13x)</a:t>
              </a:r>
              <a:endParaRPr lang="en-US" sz="1100"/>
            </a:p>
          </p:txBody>
        </p:sp>
        <p:sp>
          <p:nvSpPr>
            <p:cNvPr id="12" name="AutoShape 12"/>
            <p:cNvSpPr/>
            <p:nvPr/>
          </p:nvSpPr>
          <p:spPr>
            <a:xfrm>
              <a:off x="500380" y="3810000"/>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500380" y="3870960"/>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Précision</a:t>
              </a:r>
              <a:endParaRPr lang="en-US" sz="1100"/>
            </a:p>
          </p:txBody>
        </p:sp>
        <p:sp>
          <p:nvSpPr>
            <p:cNvPr id="14" name="AutoShape 14"/>
            <p:cNvSpPr/>
            <p:nvPr/>
          </p:nvSpPr>
          <p:spPr>
            <a:xfrm>
              <a:off x="1638935" y="3885565"/>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MXINT8 / 4</a:t>
              </a:r>
              <a:endParaRPr lang="en-US" sz="1100"/>
            </a:p>
          </p:txBody>
        </p:sp>
        <p:sp>
          <p:nvSpPr>
            <p:cNvPr id="15" name="AutoShape 15"/>
            <p:cNvSpPr/>
            <p:nvPr/>
          </p:nvSpPr>
          <p:spPr>
            <a:xfrm>
              <a:off x="2584450" y="3900805"/>
              <a:ext cx="225425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Virgule flottante bloc, configurable</a:t>
              </a:r>
              <a:endParaRPr lang="en-US" sz="1100"/>
            </a:p>
          </p:txBody>
        </p:sp>
        <p:sp>
          <p:nvSpPr>
            <p:cNvPr id="16" name="AutoShape 16"/>
            <p:cNvSpPr/>
            <p:nvPr/>
          </p:nvSpPr>
          <p:spPr>
            <a:xfrm>
              <a:off x="500380" y="4385310"/>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500380" y="4445635"/>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Bande passante</a:t>
              </a:r>
              <a:endParaRPr lang="en-US" sz="1100"/>
            </a:p>
          </p:txBody>
        </p:sp>
        <p:sp>
          <p:nvSpPr>
            <p:cNvPr id="18" name="AutoShape 18"/>
            <p:cNvSpPr/>
            <p:nvPr/>
          </p:nvSpPr>
          <p:spPr>
            <a:xfrm>
              <a:off x="1638935" y="4460875"/>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150 To/s</a:t>
              </a:r>
              <a:endParaRPr lang="en-US" sz="1100"/>
            </a:p>
          </p:txBody>
        </p:sp>
        <p:sp>
          <p:nvSpPr>
            <p:cNvPr id="19" name="AutoShape 19"/>
            <p:cNvSpPr/>
            <p:nvPr/>
          </p:nvSpPr>
          <p:spPr>
            <a:xfrm>
              <a:off x="2584450" y="4476115"/>
              <a:ext cx="225425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Bande passante agrégée ; 6 Mo SRAM par tuile</a:t>
              </a:r>
              <a:endParaRPr lang="en-US" sz="1100"/>
            </a:p>
          </p:txBody>
        </p:sp>
        <p:sp>
          <p:nvSpPr>
            <p:cNvPr id="20" name="AutoShape 20"/>
            <p:cNvSpPr/>
            <p:nvPr/>
          </p:nvSpPr>
          <p:spPr>
            <a:xfrm>
              <a:off x="500380" y="4960620"/>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500380" y="5020945"/>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Mise à l'échelle horizontale</a:t>
              </a:r>
              <a:endParaRPr lang="en-US" sz="1100"/>
            </a:p>
          </p:txBody>
        </p:sp>
        <p:sp>
          <p:nvSpPr>
            <p:cNvPr id="22" name="AutoShape 22"/>
            <p:cNvSpPr/>
            <p:nvPr/>
          </p:nvSpPr>
          <p:spPr>
            <a:xfrm>
              <a:off x="1638935" y="5036185"/>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Transparente</a:t>
              </a:r>
              <a:endParaRPr lang="en-US" sz="1100"/>
            </a:p>
          </p:txBody>
        </p:sp>
        <p:sp>
          <p:nvSpPr>
            <p:cNvPr id="23" name="AutoShape 23"/>
            <p:cNvSpPr/>
            <p:nvPr/>
          </p:nvSpPr>
          <p:spPr>
            <a:xfrm>
              <a:off x="2584450" y="5051425"/>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Pas de RDMA ; contourne la pile hôte</a:t>
              </a:r>
              <a:endParaRPr lang="en-US" sz="1100"/>
            </a:p>
          </p:txBody>
        </p:sp>
        <p:sp>
          <p:nvSpPr>
            <p:cNvPr id="24" name="AutoShape 24"/>
            <p:cNvSpPr/>
            <p:nvPr/>
          </p:nvSpPr>
          <p:spPr>
            <a:xfrm>
              <a:off x="500380" y="5535295"/>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500380" y="5596255"/>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Runtime</a:t>
              </a:r>
              <a:endParaRPr lang="en-US" sz="1100"/>
            </a:p>
          </p:txBody>
        </p:sp>
        <p:sp>
          <p:nvSpPr>
            <p:cNvPr id="26" name="AutoShape 26"/>
            <p:cNvSpPr/>
            <p:nvPr/>
          </p:nvSpPr>
          <p:spPr>
            <a:xfrm>
              <a:off x="1638935" y="5610860"/>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RISC-V</a:t>
              </a:r>
              <a:endParaRPr lang="en-US" sz="1100"/>
            </a:p>
          </p:txBody>
        </p:sp>
        <p:sp>
          <p:nvSpPr>
            <p:cNvPr id="27" name="AutoShape 27"/>
            <p:cNvSpPr/>
            <p:nvPr/>
          </p:nvSpPr>
          <p:spPr>
            <a:xfrm>
              <a:off x="2584450" y="5626100"/>
              <a:ext cx="219519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Sans hôte ; élimine le goulot d'étranglement de l'ordonnancement CPU</a:t>
              </a:r>
              <a:endParaRPr lang="en-US" sz="1100"/>
            </a:p>
          </p:txBody>
        </p:sp>
      </p:grpSp>
      <p:grpSp>
        <p:nvGrpSpPr>
          <p:cNvPr id="28" name="Group 28"/>
          <p:cNvGrpSpPr/>
          <p:nvPr/>
        </p:nvGrpSpPr>
        <p:grpSpPr>
          <a:xfrm>
            <a:off x="5078730" y="3490595"/>
            <a:ext cx="4687570" cy="2755900"/>
            <a:chOff x="5078730" y="3232150"/>
            <a:chExt cx="4687570" cy="2755900"/>
          </a:xfrm>
        </p:grpSpPr>
        <p:sp>
          <p:nvSpPr>
            <p:cNvPr id="29" name="AutoShape 29"/>
            <p:cNvSpPr/>
            <p:nvPr/>
          </p:nvSpPr>
          <p:spPr>
            <a:xfrm>
              <a:off x="5078730" y="323215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30" name="AutoShape 30"/>
            <p:cNvSpPr/>
            <p:nvPr/>
          </p:nvSpPr>
          <p:spPr>
            <a:xfrm>
              <a:off x="5078730" y="3292475"/>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Surface de puce</a:t>
              </a:r>
              <a:endParaRPr lang="en-US" sz="1100"/>
            </a:p>
          </p:txBody>
        </p:sp>
        <p:sp>
          <p:nvSpPr>
            <p:cNvPr id="31" name="AutoShape 31"/>
            <p:cNvSpPr/>
            <p:nvPr/>
          </p:nvSpPr>
          <p:spPr>
            <a:xfrm>
              <a:off x="6193790" y="3307715"/>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46 225 mm²</a:t>
              </a:r>
              <a:endParaRPr lang="en-US" sz="1100"/>
            </a:p>
          </p:txBody>
        </p:sp>
        <p:sp>
          <p:nvSpPr>
            <p:cNvPr id="32" name="AutoShape 32"/>
            <p:cNvSpPr/>
            <p:nvPr/>
          </p:nvSpPr>
          <p:spPr>
            <a:xfrm>
              <a:off x="7096125" y="3322955"/>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57x celle de H100</a:t>
              </a:r>
              <a:endParaRPr lang="en-US" sz="1100"/>
            </a:p>
          </p:txBody>
        </p:sp>
        <p:sp>
          <p:nvSpPr>
            <p:cNvPr id="33" name="AutoShape 33"/>
            <p:cNvSpPr/>
            <p:nvPr/>
          </p:nvSpPr>
          <p:spPr>
            <a:xfrm>
              <a:off x="5078730" y="380746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34" name="AutoShape 34"/>
            <p:cNvSpPr/>
            <p:nvPr/>
          </p:nvSpPr>
          <p:spPr>
            <a:xfrm>
              <a:off x="5078730" y="3867785"/>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Cœurs AI</a:t>
              </a:r>
              <a:endParaRPr lang="en-US" sz="1100"/>
            </a:p>
          </p:txBody>
        </p:sp>
        <p:sp>
          <p:nvSpPr>
            <p:cNvPr id="35" name="AutoShape 35"/>
            <p:cNvSpPr/>
            <p:nvPr/>
          </p:nvSpPr>
          <p:spPr>
            <a:xfrm>
              <a:off x="6193790" y="3883025"/>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900 000</a:t>
              </a:r>
              <a:endParaRPr lang="en-US" sz="1100"/>
            </a:p>
          </p:txBody>
        </p:sp>
        <p:sp>
          <p:nvSpPr>
            <p:cNvPr id="36" name="AutoShape 36"/>
            <p:cNvSpPr/>
            <p:nvPr/>
          </p:nvSpPr>
          <p:spPr>
            <a:xfrm>
              <a:off x="7096125" y="3898265"/>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52x celle de H100</a:t>
              </a:r>
              <a:endParaRPr lang="en-US" sz="1100"/>
            </a:p>
          </p:txBody>
        </p:sp>
        <p:sp>
          <p:nvSpPr>
            <p:cNvPr id="37" name="AutoShape 37"/>
            <p:cNvSpPr/>
            <p:nvPr/>
          </p:nvSpPr>
          <p:spPr>
            <a:xfrm>
              <a:off x="5078730" y="438277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38" name="AutoShape 38"/>
            <p:cNvSpPr/>
            <p:nvPr/>
          </p:nvSpPr>
          <p:spPr>
            <a:xfrm>
              <a:off x="5078730" y="4443730"/>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SRAM sur puce</a:t>
              </a:r>
              <a:endParaRPr lang="en-US" sz="1100"/>
            </a:p>
          </p:txBody>
        </p:sp>
        <p:sp>
          <p:nvSpPr>
            <p:cNvPr id="39" name="AutoShape 39"/>
            <p:cNvSpPr/>
            <p:nvPr/>
          </p:nvSpPr>
          <p:spPr>
            <a:xfrm>
              <a:off x="6193790" y="4458335"/>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44 Go</a:t>
              </a:r>
              <a:endParaRPr lang="en-US" sz="1100"/>
            </a:p>
          </p:txBody>
        </p:sp>
        <p:sp>
          <p:nvSpPr>
            <p:cNvPr id="40" name="AutoShape 40"/>
            <p:cNvSpPr/>
            <p:nvPr/>
          </p:nvSpPr>
          <p:spPr>
            <a:xfrm>
              <a:off x="7096125" y="4473575"/>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880x celle de H100</a:t>
              </a:r>
              <a:endParaRPr lang="en-US" sz="1100"/>
            </a:p>
          </p:txBody>
        </p:sp>
        <p:sp>
          <p:nvSpPr>
            <p:cNvPr id="41" name="AutoShape 41"/>
            <p:cNvSpPr/>
            <p:nvPr/>
          </p:nvSpPr>
          <p:spPr>
            <a:xfrm>
              <a:off x="5078730" y="495808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42" name="AutoShape 42"/>
            <p:cNvSpPr/>
            <p:nvPr/>
          </p:nvSpPr>
          <p:spPr>
            <a:xfrm>
              <a:off x="5078730" y="5019040"/>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Bande passante mémoire</a:t>
              </a:r>
              <a:endParaRPr lang="en-US" sz="1100"/>
            </a:p>
          </p:txBody>
        </p:sp>
        <p:sp>
          <p:nvSpPr>
            <p:cNvPr id="43" name="AutoShape 43"/>
            <p:cNvSpPr/>
            <p:nvPr/>
          </p:nvSpPr>
          <p:spPr>
            <a:xfrm>
              <a:off x="6193790" y="5034280"/>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21 Po/s</a:t>
              </a:r>
              <a:endParaRPr lang="en-US" sz="1100"/>
            </a:p>
          </p:txBody>
        </p:sp>
        <p:sp>
          <p:nvSpPr>
            <p:cNvPr id="44" name="AutoShape 44"/>
            <p:cNvSpPr/>
            <p:nvPr/>
          </p:nvSpPr>
          <p:spPr>
            <a:xfrm>
              <a:off x="7096125" y="5049520"/>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7000x celle de H100</a:t>
              </a:r>
              <a:endParaRPr lang="en-US" sz="1100"/>
            </a:p>
          </p:txBody>
        </p:sp>
        <p:sp>
          <p:nvSpPr>
            <p:cNvPr id="45" name="AutoShape 45"/>
            <p:cNvSpPr/>
            <p:nvPr/>
          </p:nvSpPr>
          <p:spPr>
            <a:xfrm>
              <a:off x="5078730" y="5534025"/>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46" name="AutoShape 46"/>
            <p:cNvSpPr/>
            <p:nvPr/>
          </p:nvSpPr>
          <p:spPr>
            <a:xfrm>
              <a:off x="5078730" y="5594350"/>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Inférence</a:t>
              </a:r>
              <a:endParaRPr lang="en-US" sz="1100"/>
            </a:p>
          </p:txBody>
        </p:sp>
        <p:sp>
          <p:nvSpPr>
            <p:cNvPr id="47" name="AutoShape 47"/>
            <p:cNvSpPr/>
            <p:nvPr/>
          </p:nvSpPr>
          <p:spPr>
            <a:xfrm>
              <a:off x="6193790" y="5609590"/>
              <a:ext cx="682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Pipeline sur puce</a:t>
              </a:r>
              <a:endParaRPr lang="en-US" sz="1100"/>
            </a:p>
          </p:txBody>
        </p:sp>
        <p:sp>
          <p:nvSpPr>
            <p:cNvPr id="48" name="AutoShape 48"/>
            <p:cNvSpPr/>
            <p:nvPr/>
          </p:nvSpPr>
          <p:spPr>
            <a:xfrm>
              <a:off x="7096125" y="5624830"/>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Couches du modèle mappées sur différentes zones du wafer</a:t>
              </a:r>
              <a:endParaRPr lang="en-US" sz="1100"/>
            </a:p>
          </p:txBody>
        </p:sp>
      </p:grpSp>
      <p:pic>
        <p:nvPicPr>
          <p:cNvPr id="49" name="Picture 49"/>
          <p:cNvPicPr>
            <a:picLocks noChangeAspect="1"/>
          </p:cNvPicPr>
          <p:nvPr/>
        </p:nvPicPr>
        <p:blipFill>
          <a:blip r:embed="rId1"/>
          <a:srcRect l="12641" r="29852" b="-777"/>
          <a:stretch>
            <a:fillRect/>
          </a:stretch>
        </p:blipFill>
        <p:spPr>
          <a:xfrm>
            <a:off x="9846945" y="1132840"/>
            <a:ext cx="2233930" cy="2541905"/>
          </a:xfrm>
          <a:prstGeom prst="rect">
            <a:avLst/>
          </a:prstGeom>
          <a:ln w="12700">
            <a:noFill/>
            <a:prstDash val="solid"/>
          </a:ln>
        </p:spPr>
      </p:pic>
      <p:pic>
        <p:nvPicPr>
          <p:cNvPr id="50" name="Picture 50"/>
          <p:cNvPicPr>
            <a:picLocks noChangeAspect="1"/>
          </p:cNvPicPr>
          <p:nvPr/>
        </p:nvPicPr>
        <p:blipFill>
          <a:blip r:embed="rId2"/>
          <a:srcRect t="7681"/>
          <a:stretch>
            <a:fillRect/>
          </a:stretch>
        </p:blipFill>
        <p:spPr>
          <a:xfrm>
            <a:off x="9818370" y="3929380"/>
            <a:ext cx="2262505" cy="2426970"/>
          </a:xfrm>
          <a:prstGeom prst="rect">
            <a:avLst/>
          </a:prstGeom>
          <a:ln w="12700">
            <a:noFill/>
            <a:prstDash val="solid"/>
          </a:ln>
        </p:spPr>
      </p:pic>
      <p:sp>
        <p:nvSpPr>
          <p:cNvPr id="51" name="AutoShape 51"/>
          <p:cNvSpPr/>
          <p:nvPr/>
        </p:nvSpPr>
        <p:spPr>
          <a:xfrm>
            <a:off x="10241915" y="6356350"/>
            <a:ext cx="1444625" cy="285115"/>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1" i="0" u="none" strike="noStrike">
                <a:solidFill>
                  <a:srgbClr val="000000"/>
                </a:solidFill>
                <a:latin typeface="Arial Bold" panose="020B0704020202020204"/>
                <a:ea typeface="Arial Bold" panose="020B0704020202020204"/>
                <a:cs typeface="Arial Bold" panose="020B0704020202020204"/>
                <a:sym typeface="Arial Bold" panose="020B0704020202020204"/>
              </a:rPr>
              <a:t>Cœur</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WSE-3</a:t>
            </a:r>
            <a:endParaRPr lang="en-US" sz="1100"/>
          </a:p>
        </p:txBody>
      </p:sp>
      <p:sp>
        <p:nvSpPr>
          <p:cNvPr id="52" name="AutoShape 52"/>
          <p:cNvSpPr/>
          <p:nvPr/>
        </p:nvSpPr>
        <p:spPr>
          <a:xfrm>
            <a:off x="10241915" y="3625850"/>
            <a:ext cx="1444625" cy="285115"/>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1" i="0" u="none" strike="noStrike">
                <a:solidFill>
                  <a:srgbClr val="000000"/>
                </a:solidFill>
                <a:latin typeface="Arial Bold" panose="020B0704020202020204"/>
                <a:ea typeface="Arial Bold" panose="020B0704020202020204"/>
                <a:cs typeface="Arial Bold" panose="020B0704020202020204"/>
                <a:sym typeface="Arial Bold" panose="020B0704020202020204"/>
              </a:rPr>
              <a:t>d-Matrix Corsair</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404" y="525609"/>
            <a:ext cx="9987507"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Architectures </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mergentes II et perspective</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8000"/>
              </a:lnSpc>
              <a:defRPr sz="2400" b="0" i="0" u="none" strike="noStrike" spc="0">
                <a:solidFill>
                  <a:srgbClr val="404040">
                    <a:alpha val="100000"/>
                  </a:srgbClr>
                </a:solidFill>
                <a:latin typeface="微软雅黑" panose="020B0503020204020204" charset="-122"/>
              </a:defRPr>
            </a:lvl1pPr>
          </a:lstStyle>
          <a:p>
            <a:pPr marL="304800" indent="-304800" algn="l">
              <a:lnSpc>
                <a:spcPct val="108000"/>
              </a:lnSpc>
              <a:spcBef>
                <a:spcPts val="15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Architecture super-nœud</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8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NVIDIA NVL72</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rack est la puce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Échelle :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72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GPU Blackwell</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interconnectés via un backplane cuivre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NVLink Switch</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Objectif :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Simuler les performances au niveau du wafer avec des composants discrets</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Bande passante :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Bande passante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NVLink</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agrégée au niveau du rack</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atteignant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PB/s</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8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Huawei</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CloudMatrix 384</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 Super-nœud unifié</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Échelle :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Centaines de processeurs Ascend</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interconnectés via le protocole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HCCS</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Objectif :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Un pool mémoire unifié ; </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entra</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î</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nement et inf</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rence combin</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alt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cosyst</a:t>
            </a:r>
            <a:r>
              <a:rPr lang="en-US" alt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me logiciel</a:t>
            </a: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Pile logicielle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CANN</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mature; co-évolution avec</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FlagOS</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8181975" y="1226820"/>
            <a:ext cx="2963545" cy="29635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352665" y="4284980"/>
            <a:ext cx="4622165" cy="19932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680" y="534670"/>
            <a:ext cx="10596880" cy="701040"/>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VLA et d</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fis syst</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mes des mod</a:t>
            </a:r>
            <a:r>
              <a:rPr lang="en-US" alt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les du monde</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À quelle vitesse mon</a:t>
            </a:r>
            <a:r>
              <a:rPr lang="en-US" sz="1400" b="0" i="0" u="none" strike="noStrike">
                <a:solidFill>
                  <a:srgbClr val="A5A5A5"/>
                </a:solidFill>
                <a:latin typeface="Times New Roman Regular" panose="02020603050405020304"/>
                <a:ea typeface="Times New Roman Regular" panose="02020603050405020304"/>
                <a:cs typeface="Times New Roman Regular" panose="02020603050405020304"/>
                <a:sym typeface="Times New Roman Regular" panose="02020603050405020304"/>
              </a:rPr>
              <a:t> VLA</a:t>
            </a: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 peut-il fonctionner ?</a:t>
            </a:r>
            <a:r>
              <a:rPr lang="en-US" sz="1400" b="0" i="0" u="none" strike="noStrike">
                <a:solidFill>
                  <a:srgbClr val="A5A5A5"/>
                </a:solidFill>
                <a:latin typeface="Times New Roman Regular" panose="02020603050405020304"/>
                <a:ea typeface="Times New Roman Regular" panose="02020603050405020304"/>
                <a:cs typeface="Times New Roman Regular" panose="02020603050405020304"/>
                <a:sym typeface="Times New Roman Regular" panose="02020603050405020304"/>
              </a:rPr>
              <a:t> </a:t>
            </a: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Basé sur</a:t>
            </a:r>
            <a:r>
              <a:rPr lang="en-US" sz="1400" b="0" i="0" u="none" strike="noStrike">
                <a:solidFill>
                  <a:srgbClr val="A5A5A5"/>
                </a:solidFill>
                <a:latin typeface="Times New Roman Regular" panose="02020603050405020304"/>
                <a:ea typeface="Times New Roman Regular" panose="02020603050405020304"/>
                <a:cs typeface="Times New Roman Regular" panose="02020603050405020304"/>
                <a:sym typeface="Times New Roman Regular" panose="02020603050405020304"/>
              </a:rPr>
              <a:t> VLA-Perf</a:t>
            </a: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 pour révéler</a:t>
            </a:r>
            <a:r>
              <a:rPr lang="en-US" sz="1400" b="0" i="0" u="none" strike="noStrike">
                <a:solidFill>
                  <a:srgbClr val="A5A5A5"/>
                </a:solidFill>
                <a:latin typeface="Times New Roman Regular" panose="02020603050405020304"/>
                <a:ea typeface="Times New Roman Regular" panose="02020603050405020304"/>
                <a:cs typeface="Times New Roman Regular" panose="02020603050405020304"/>
                <a:sym typeface="Times New Roman Regular" panose="02020603050405020304"/>
              </a:rPr>
              <a:t> les performances d'inférence</a:t>
            </a: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 VLA</a:t>
            </a:r>
            <a:r>
              <a:rPr lang="en-US" sz="1400" b="0" i="0" u="none" strike="noStrike">
                <a:solidFill>
                  <a:srgbClr val="A5A5A5"/>
                </a:solidFill>
                <a:latin typeface="Times New Roman Regular" panose="02020603050405020304"/>
                <a:ea typeface="Times New Roman Regular" panose="02020603050405020304"/>
                <a:cs typeface="Times New Roman Regular" panose="02020603050405020304"/>
                <a:sym typeface="Times New Roman Regular" panose="02020603050405020304"/>
              </a:rPr>
              <a:t>, 2026</a:t>
            </a:r>
            <a:endParaRPr lang="en-US" sz="1400" b="0" i="0" u="none" strike="noStrike">
              <a:solidFill>
                <a:srgbClr val="A5A5A5"/>
              </a:solidFill>
              <a:latin typeface="Times New Roman Regular" panose="02020603050405020304"/>
              <a:ea typeface="Times New Roman Regular" panose="02020603050405020304"/>
              <a:cs typeface="Times New Roman Regular" panose="02020603050405020304"/>
              <a:sym typeface="Times New Roman Regular" panose="02020603050405020304"/>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Exigences de temps réel pour l'inférence robotique</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 perception et l'inférence du robot doivent suivre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 cadence de 24 à 60 Hz de la cam</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ra RGB</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Le taux d'inf</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rence cible va de 10 Hz (acceptable) à 100 Hz (haute performance)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Précipice de performance sur le matériel edge</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ê</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me les GPU embarqu</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avanc</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(comme Jetson Thor) n'atteignent qu'environ 19 Hz en ex</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cutant le mod</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 π0 (2,7B) ; les tr</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grands mod</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les ne sont pas r</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alisables sur les appareils embarqu</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Comme les GPU embarqu</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utilisent de la m</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LPDDR (environ 270 Go/s, contre environ 8 To/s pour le HBM dans les datacenters), l'encodeur visuel et le backbone VLM sont limit</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par la bande passante m</a:t>
            </a:r>
            <a:r>
              <a:rPr lang="en-US" alt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moire, incapables d'utiliser pleinement la puissance de calcul</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t="900" r="11370"/>
          <a:stretch>
            <a:fillRect/>
          </a:stretch>
        </p:blipFill>
        <p:spPr>
          <a:xfrm>
            <a:off x="593714" y="5198591"/>
            <a:ext cx="5610724" cy="137233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255721" y="5198715"/>
            <a:ext cx="5392225" cy="12310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621030" y="526415"/>
            <a:ext cx="10949940" cy="701040"/>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VLA</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 et défis système des modèles du monde</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300" b="0" i="0" u="none" strike="noStrike" spc="0">
                <a:solidFill>
                  <a:srgbClr val="404040">
                    <a:alpha val="100000"/>
                  </a:srgbClr>
                </a:solidFill>
                <a:latin typeface="微软雅黑" panose="020B0503020204020204" charset="-122"/>
              </a:defRPr>
            </a:lvl1pPr>
          </a:lstStyle>
          <a:p>
            <a:pPr marL="292100" indent="-292100" algn="l">
              <a:lnSpc>
                <a:spcPct val="100000"/>
              </a:lnSpc>
              <a:spcBef>
                <a:spcPts val="15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Fragmentation de la pile logicielle</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Connecter les frameworks d'IA et le RTOS robotique via des middlewares (comme ROS 2) entra</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î</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ne d'importants co</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û</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ts de s</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rialisation et de communication</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Dans de nombreux systèmes, la latence du middleware dépasse le temps d'inférence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GPU</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Mur mémoire dû à l'extension du modèle</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WAM 14B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le cache d'état du monde dépassent les limites de mémoire et de bande passante des appareils </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embarqu</a:t>
            </a:r>
            <a:r>
              <a:rPr lang="en-US" alt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Même sur</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GB200</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l'inférence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WAM</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nécessite encore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5,7</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secondes ; même après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38x</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d'optimisation, les exigences de contrôle en temps réel restent loin d'être atteintes.</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Goulot d'étranglement du contexte long</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Les modèles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VLA</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actuels manquent de capacités de contexte long, mais l'introduction de mécanismes de mémoire entraînera des goulots similaires.</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644795" y="5237473"/>
            <a:ext cx="4680994" cy="148370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523599" y="243929"/>
            <a:ext cx="9317355" cy="1076325"/>
          </a:xfrm>
          <a:prstGeom prst="rect">
            <a:avLst/>
          </a:prstGeom>
        </p:spPr>
        <p:txBody>
          <a:bodyPr vert="horz" wrap="none" lIns="91440" tIns="45720" rIns="91440" bIns="45720" anchor="ctr">
            <a:sp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Diff</a:t>
            </a:r>
            <a:r>
              <a:rPr lang="en-US" altLang="en-US"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é</a:t>
            </a: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rence fondamentale de puissance </a:t>
            </a:r>
            <a:endPar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de calcul entre un Agent et un LLM traditionnel</a:t>
            </a:r>
            <a:endParaRPr lang="en-US" altLang="zh-CN" sz="32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9133205" cy="448119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LLM</a:t>
            </a:r>
            <a:r>
              <a:rPr lang="en-US"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traditionnel</a:t>
            </a:r>
            <a:endParaRPr lang="en-US"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a:p>
            <a:pPr marL="197485" lvl="1" indent="0" algn="l">
              <a:lnSpc>
                <a:spcPct val="100000"/>
              </a:lnSpc>
              <a:spcBef>
                <a:spcPts val="750"/>
              </a:spcBef>
            </a:pP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Inférence auto-régressive à tour unique, déterministe, au niveau</a:t>
            </a: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des token</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le coût de calcul est linéairement corrélé au nombre de</a:t>
            </a:r>
            <a:r>
              <a:rPr lang="en-US" sz="16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tokens</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optimisable par parallélisme de lot.</a:t>
            </a:r>
            <a:endPar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04800" indent="-304800" algn="l">
              <a:lnSpc>
                <a:spcPct val="100000"/>
              </a:lnSpc>
              <a:spcBef>
                <a:spcPts val="1500"/>
              </a:spcBef>
              <a:buClr>
                <a:srgbClr val="404040"/>
              </a:buClr>
              <a:buChar char="•"/>
            </a:pPr>
            <a:r>
              <a:rPr lang="en-US"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Agent</a:t>
            </a:r>
            <a:endParaRPr lang="en-US"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endParaRPr>
          </a:p>
          <a:p>
            <a:pPr marL="197485" lvl="1" indent="0" algn="l">
              <a:lnSpc>
                <a:spcPct val="100000"/>
              </a:lnSpc>
              <a:spcBef>
                <a:spcPts val="750"/>
              </a:spcBef>
            </a:pP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Système de décision autonome en boucle fermée, flux de calcul continu multi-étapes, non-déterministe, multi-modal et multi-agent, les besoins en calcul </a:t>
            </a:r>
            <a:r>
              <a:rPr lang="en-US" altLang="zh-CN"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constituent un changement de paradigme</a:t>
            </a:r>
            <a:r>
              <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t>
            </a:r>
            <a:endParaRPr lang="en-US" sz="16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sp>
        <p:nvSpPr>
          <p:cNvPr id="6" name="AutoShape 6"/>
          <p:cNvSpPr/>
          <p:nvPr/>
        </p:nvSpPr>
        <p:spPr>
          <a:xfrm>
            <a:off x="523875" y="3827145"/>
            <a:ext cx="9299575" cy="495617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Trois différences fondamentales</a:t>
            </a:r>
            <a:endParaRPr lang="en-US" sz="2400">
              <a:latin typeface="Calibri" panose="020F0502020204030204" charset="0"/>
              <a:cs typeface="Calibri" panose="020F0502020204030204" charset="0"/>
            </a:endParaRPr>
          </a:p>
          <a:p>
            <a:pPr marL="540385" lvl="1" indent="-342900" algn="l">
              <a:lnSpc>
                <a:spcPct val="100000"/>
              </a:lnSpc>
              <a:spcBef>
                <a:spcPts val="750"/>
              </a:spcBef>
              <a:buFont typeface="+mj-lt"/>
              <a:buAutoNum type="arabicPeriod"/>
            </a:pP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Non-déterminisme du chemin de calcul : une tâche unique nécessite </a:t>
            </a: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5 à</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des centaines de tours</a:t>
            </a: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d'appels</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 LLM</a:t>
            </a:r>
            <a:r>
              <a:rPr lang="en-US" sz="18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 le coût de calcul augmente de </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8 à 200</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40385" lvl="1" indent="-342900" algn="l">
              <a:lnSpc>
                <a:spcPct val="100000"/>
              </a:lnSpc>
              <a:spcBef>
                <a:spcPts val="750"/>
              </a:spcBef>
              <a:buFont typeface="+mj-lt"/>
              <a:buAutoNum type="arabicPeriod"/>
            </a:pP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Hybridation des paradigmes de calcul : </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calcul h</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t</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rog</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è</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ne mixte incluant “inf</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rence + recherche + outils + interaction + apprentissage par renforcement”</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540385" lvl="1" indent="-342900" algn="l">
              <a:lnSpc>
                <a:spcPct val="100000"/>
              </a:lnSpc>
              <a:spcBef>
                <a:spcPts val="750"/>
              </a:spcBef>
              <a:buFont typeface="+mj-lt"/>
              <a:buAutoNum type="arabicPeriod"/>
            </a:pP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Continuité du mode de calcul : </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passage d'une consommation pulsatile à une charge continue compos</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 d'inf</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rence continue, d'alignement en ligne et de m</a:t>
            </a:r>
            <a:r>
              <a:rPr lang="en-US" alt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moire à vie</a:t>
            </a:r>
            <a:r>
              <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t>
            </a:r>
            <a:endParaRPr lang="en-US" sz="18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pic>
        <p:nvPicPr>
          <p:cNvPr id="11" name="图片 10" descr="E:/BAAI/COURSE/template-replacement/images/traditional_llm_inference.pngtraditional_llm_inference"/>
          <p:cNvPicPr>
            <a:picLocks noChangeAspect="1"/>
          </p:cNvPicPr>
          <p:nvPr/>
        </p:nvPicPr>
        <p:blipFill>
          <a:blip r:embed="rId1"/>
          <a:srcRect l="69" r="69"/>
          <a:stretch>
            <a:fillRect/>
          </a:stretch>
        </p:blipFill>
        <p:spPr>
          <a:xfrm>
            <a:off x="9925050" y="1485265"/>
            <a:ext cx="2144395" cy="3604260"/>
          </a:xfrm>
          <a:prstGeom prst="rect">
            <a:avLst/>
          </a:prstGeom>
        </p:spPr>
      </p:pic>
      <p:sp>
        <p:nvSpPr>
          <p:cNvPr id="8" name="文本框 7"/>
          <p:cNvSpPr txBox="1"/>
          <p:nvPr/>
        </p:nvSpPr>
        <p:spPr>
          <a:xfrm>
            <a:off x="6132830" y="6117590"/>
            <a:ext cx="4064000" cy="306705"/>
          </a:xfrm>
          <a:prstGeom prst="rect">
            <a:avLst/>
          </a:prstGeom>
          <a:noFill/>
        </p:spPr>
        <p:txBody>
          <a:bodyPr wrap="square" rtlCol="0">
            <a:sp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vert="horz" wrap="none" lIns="91440" tIns="45720" rIns="91440" bIns="45720" anchor="ctr">
            <a:sp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Défis clés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132840"/>
            <a:ext cx="7414895" cy="5044440"/>
          </a:xfrm>
          <a:prstGeom prst="rect">
            <a:avLst/>
          </a:prstGeom>
        </p:spPr>
        <p:txBody>
          <a:bodyPr wrap="square" lIns="91440" tIns="45720" rIns="91440" bIns="45720" anchor="t">
            <a:noAutofit/>
          </a:bodyPr>
          <a:lstStyle>
            <a:lvl1pPr algn="l">
              <a:lnSpc>
                <a:spcPct val="83000"/>
              </a:lnSpc>
              <a:defRPr sz="2200" b="0" i="0" u="none" strike="noStrike" spc="0">
                <a:solidFill>
                  <a:srgbClr val="404040">
                    <a:alpha val="100000"/>
                  </a:srgbClr>
                </a:solidFill>
                <a:latin typeface="微软雅黑" panose="020B0503020204020204" charset="-122"/>
              </a:defRPr>
            </a:lvl1pPr>
          </a:lstStyle>
          <a:p>
            <a:pPr marL="279400" indent="-279400" algn="l">
              <a:lnSpc>
                <a:spcPct val="83000"/>
              </a:lnSpc>
              <a:spcBef>
                <a:spcPts val="1500"/>
              </a:spcBef>
              <a:buClr>
                <a:srgbClr val="404040"/>
              </a:buClr>
              <a:buChar char="•"/>
            </a:pPr>
            <a:r>
              <a:rPr lang="en-US" sz="1200" b="1">
                <a:latin typeface="Arial" panose="020B0604020202020204" pitchFamily="34" charset="0"/>
                <a:cs typeface="Arial" panose="020B0604020202020204" pitchFamily="34" charset="0"/>
              </a:rPr>
              <a:t>Défi 1 : Mutation du paradigme de calcul</a:t>
            </a:r>
            <a:endParaRPr lang="en-US" sz="1200" b="1">
              <a:latin typeface="Arial" panose="020B0604020202020204" pitchFamily="34" charset="0"/>
              <a:cs typeface="Arial" panose="020B0604020202020204" pitchFamily="34" charset="0"/>
            </a:endParaRPr>
          </a:p>
          <a:p>
            <a:pPr marL="584200" lvl="1" indent="-241300" algn="l" eaLnBrk="1" fontAlgn="auto" latinLnBrk="0" hangingPunct="1">
              <a:lnSpc>
                <a:spcPct val="150000"/>
              </a:lnSpc>
              <a:spcBef>
                <a:spcPts val="700"/>
              </a:spcBef>
              <a:buClr>
                <a:srgbClr val="404040"/>
              </a:buClr>
              <a:buChar char="•"/>
            </a:pPr>
            <a:r>
              <a:rPr lang="en-US" sz="1200"/>
              <a:t>Point douloureux central : l'inférence unique évolue vers un calcul en boucle</a:t>
            </a:r>
            <a:endParaRPr lang="en-US" sz="1200"/>
          </a:p>
          <a:p>
            <a:pPr marL="584200" lvl="1" indent="-241300" algn="l" eaLnBrk="1" fontAlgn="auto" latinLnBrk="0" hangingPunct="1">
              <a:lnSpc>
                <a:spcPct val="150000"/>
              </a:lnSpc>
              <a:spcBef>
                <a:spcPts val="700"/>
              </a:spcBef>
              <a:buClr>
                <a:srgbClr val="404040"/>
              </a:buClr>
              <a:buChar char="•"/>
            </a:pPr>
            <a:r>
              <a:rPr lang="en-US" sz="1200"/>
              <a:t>Expansion non-linéaire de la puissance de calcul : Basé sur ReAct, ToT et autres frameworks, Agent adopte un cycle "réfléchir-agir-observer", la consommation de calcul d'une tâche unique est des dizaines, voire centaines de fois celle </a:t>
            </a:r>
            <a:r>
              <a:rPr lang="en-US" altLang="zh-CN" sz="1200"/>
              <a:t>d'un LLM traditionnel en r</a:t>
            </a:r>
            <a:r>
              <a:rPr lang="en-US" altLang="en-US" sz="1200"/>
              <a:t>é</a:t>
            </a:r>
            <a:r>
              <a:rPr lang="en-US" altLang="zh-CN" sz="1200"/>
              <a:t>ponse unique</a:t>
            </a:r>
            <a:r>
              <a:rPr lang="en-US" sz="1200"/>
              <a:t>.</a:t>
            </a:r>
            <a:endParaRPr lang="en-US" sz="1200"/>
          </a:p>
          <a:p>
            <a:pPr marL="584200" lvl="1" indent="-241300" algn="l" eaLnBrk="1" fontAlgn="auto" latinLnBrk="0" hangingPunct="1">
              <a:lnSpc>
                <a:spcPct val="150000"/>
              </a:lnSpc>
              <a:spcBef>
                <a:spcPts val="700"/>
              </a:spcBef>
              <a:buClr>
                <a:srgbClr val="404040"/>
              </a:buClr>
              <a:buChar char="•"/>
            </a:pPr>
            <a:r>
              <a:rPr lang="en-US" sz="1200"/>
              <a:t>Chute du taux d'utilisation (MFU) : les chemins d'inférence multi-étapes divergent, dépendant des retours environnementaux, </a:t>
            </a:r>
            <a:r>
              <a:rPr lang="en-US" altLang="zh-CN" sz="1200"/>
              <a:t>l'optimisation traditionnelle par batch size </a:t>
            </a:r>
            <a:r>
              <a:rPr lang="en-US" altLang="en-US" sz="1200"/>
              <a:t>é</a:t>
            </a:r>
            <a:r>
              <a:rPr lang="en-US" altLang="zh-CN" sz="1200"/>
              <a:t>choue</a:t>
            </a:r>
            <a:r>
              <a:rPr lang="en-US" sz="1200"/>
              <a:t>, </a:t>
            </a:r>
            <a:r>
              <a:rPr lang="en-US" altLang="zh-CN" sz="1200"/>
              <a:t>entra</a:t>
            </a:r>
            <a:r>
              <a:rPr lang="en-US" altLang="en-US" sz="1200"/>
              <a:t>î</a:t>
            </a:r>
            <a:r>
              <a:rPr lang="en-US" altLang="zh-CN" sz="1200"/>
              <a:t>nant des GPU/TPU inactifs ; le taux d'utilisation est g</a:t>
            </a:r>
            <a:r>
              <a:rPr lang="en-US" altLang="en-US" sz="1200"/>
              <a:t>é</a:t>
            </a:r>
            <a:r>
              <a:rPr lang="en-US" altLang="zh-CN" sz="1200"/>
              <a:t>n</a:t>
            </a:r>
            <a:r>
              <a:rPr lang="en-US" altLang="en-US" sz="1200"/>
              <a:t>é</a:t>
            </a:r>
            <a:r>
              <a:rPr lang="en-US" altLang="zh-CN" sz="1200"/>
              <a:t>ralement inf</a:t>
            </a:r>
            <a:r>
              <a:rPr lang="en-US" altLang="en-US" sz="1200"/>
              <a:t>é</a:t>
            </a:r>
            <a:r>
              <a:rPr lang="en-US" altLang="zh-CN" sz="1200"/>
              <a:t>rieur à 15%</a:t>
            </a:r>
            <a:r>
              <a:rPr lang="en-US" sz="1200"/>
              <a:t>.</a:t>
            </a:r>
            <a:endParaRPr lang="en-US" sz="1200"/>
          </a:p>
          <a:p>
            <a:pPr marL="279400" indent="-279400" algn="l">
              <a:lnSpc>
                <a:spcPct val="83000"/>
              </a:lnSpc>
              <a:spcBef>
                <a:spcPts val="1500"/>
              </a:spcBef>
              <a:buClr>
                <a:srgbClr val="404040"/>
              </a:buClr>
              <a:buChar char="•"/>
            </a:pPr>
            <a:r>
              <a:rPr lang="en-US" sz="1200" b="1">
                <a:latin typeface="Arial" panose="020B0604020202020204" pitchFamily="34" charset="0"/>
                <a:cs typeface="Arial" panose="020B0604020202020204" pitchFamily="34" charset="0"/>
              </a:rPr>
              <a:t>Défi 2 : Goulot d'étranglement architectural matériel——"Mur mémoire" et coût de la mémoire à long terme</a:t>
            </a:r>
            <a:endParaRPr lang="en-US" sz="1200" b="1">
              <a:latin typeface="Arial" panose="020B0604020202020204" pitchFamily="34" charset="0"/>
              <a:cs typeface="Arial" panose="020B0604020202020204" pitchFamily="34" charset="0"/>
            </a:endParaRPr>
          </a:p>
          <a:p>
            <a:pPr marL="584200" lvl="1" indent="-241300" algn="l" eaLnBrk="1" fontAlgn="auto" latinLnBrk="0" hangingPunct="1">
              <a:lnSpc>
                <a:spcPct val="150000"/>
              </a:lnSpc>
              <a:spcBef>
                <a:spcPts val="700"/>
              </a:spcBef>
              <a:buClr>
                <a:srgbClr val="404040"/>
              </a:buClr>
              <a:buChar char="•"/>
            </a:pPr>
            <a:r>
              <a:rPr lang="en-US" sz="1200"/>
              <a:t>Point douloureux central : l'impact physique du contexte ultra-long sur le système de stockage</a:t>
            </a:r>
            <a:endParaRPr lang="en-US" sz="1200"/>
          </a:p>
          <a:p>
            <a:pPr marL="584200" lvl="1" indent="-241300" algn="l" eaLnBrk="1" fontAlgn="auto" latinLnBrk="0" hangingPunct="1">
              <a:lnSpc>
                <a:spcPct val="150000"/>
              </a:lnSpc>
              <a:spcBef>
                <a:spcPts val="700"/>
              </a:spcBef>
              <a:buClr>
                <a:srgbClr val="404040"/>
              </a:buClr>
              <a:buChar char="•"/>
            </a:pPr>
            <a:r>
              <a:rPr lang="en-US" sz="1200"/>
              <a:t>Crise de capacité KV Cache : </a:t>
            </a:r>
            <a:r>
              <a:rPr lang="en-US" altLang="zh-CN" sz="1200"/>
              <a:t>une fen</a:t>
            </a:r>
            <a:r>
              <a:rPr lang="en-US" altLang="en-US" sz="1200"/>
              <a:t>ê</a:t>
            </a:r>
            <a:r>
              <a:rPr lang="en-US" altLang="zh-CN" sz="1200"/>
              <a:t>tre de contexte de 1M+ entra</a:t>
            </a:r>
            <a:r>
              <a:rPr lang="en-US" altLang="en-US" sz="1200"/>
              <a:t>î</a:t>
            </a:r>
            <a:r>
              <a:rPr lang="en-US" altLang="zh-CN" sz="1200"/>
              <a:t>ne l'</a:t>
            </a:r>
            <a:r>
              <a:rPr lang="en-US" altLang="en-US" sz="1200"/>
              <a:t>é</a:t>
            </a:r>
            <a:r>
              <a:rPr lang="en-US" altLang="zh-CN" sz="1200"/>
              <a:t>puisement instantan</a:t>
            </a:r>
            <a:r>
              <a:rPr lang="en-US" altLang="en-US" sz="1200"/>
              <a:t>é</a:t>
            </a:r>
            <a:r>
              <a:rPr lang="en-US" altLang="zh-CN" sz="1200"/>
              <a:t> de la HBM des GPU cloud ; le nombre d'Agents concurrents support</a:t>
            </a:r>
            <a:r>
              <a:rPr lang="en-US" altLang="en-US" sz="1200"/>
              <a:t>é</a:t>
            </a:r>
            <a:r>
              <a:rPr lang="en-US" altLang="zh-CN" sz="1200"/>
              <a:t>s par une seule carte chute radicalement.</a:t>
            </a:r>
            <a:endParaRPr lang="en-US" sz="1200"/>
          </a:p>
          <a:p>
            <a:pPr marL="584200" lvl="1" indent="-241300" algn="l" eaLnBrk="1" fontAlgn="auto" latinLnBrk="0" hangingPunct="1">
              <a:lnSpc>
                <a:spcPct val="150000"/>
              </a:lnSpc>
              <a:spcBef>
                <a:spcPts val="700"/>
              </a:spcBef>
              <a:buClr>
                <a:srgbClr val="404040"/>
              </a:buClr>
              <a:buChar char="•"/>
            </a:pPr>
            <a:r>
              <a:rPr lang="en-US" sz="1200"/>
              <a:t>Bande passante d'accès limitée : les lectures RAG fréquentes et la lecture mémoire déplacent le goulot d'étranglement de l'unité de calcul vers le transfert de données.</a:t>
            </a:r>
            <a:endParaRPr lang="en-US" sz="1200"/>
          </a:p>
          <a:p>
            <a:pPr marL="584200" lvl="1" indent="-241300" algn="l" eaLnBrk="1" fontAlgn="auto" latinLnBrk="0" hangingPunct="1">
              <a:lnSpc>
                <a:spcPct val="150000"/>
              </a:lnSpc>
              <a:spcBef>
                <a:spcPts val="700"/>
              </a:spcBef>
              <a:buClr>
                <a:srgbClr val="404040"/>
              </a:buClr>
              <a:buChar char="•"/>
            </a:pPr>
            <a:r>
              <a:rPr lang="en-US" sz="1200"/>
              <a:t>Solutions de pointe : au niveau logiciel PagedAttention, au niveau matériel l'architecture "calcul en mémoire".</a:t>
            </a:r>
            <a:endParaRPr lang="en-US" sz="1200"/>
          </a:p>
        </p:txBody>
      </p:sp>
      <p:pic>
        <p:nvPicPr>
          <p:cNvPr id="6" name="Picture 6"/>
          <p:cNvPicPr>
            <a:picLocks noChangeAspect="1"/>
          </p:cNvPicPr>
          <p:nvPr/>
        </p:nvPicPr>
        <p:blipFill>
          <a:blip r:embed="rId1"/>
          <a:srcRect/>
          <a:stretch>
            <a:fillRect/>
          </a:stretch>
        </p:blipFill>
        <p:spPr>
          <a:xfrm>
            <a:off x="8031685" y="1560316"/>
            <a:ext cx="4024511" cy="309384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vert="horz" wrap="none" lIns="91440" tIns="45720" rIns="91440" bIns="45720" anchor="ctr">
            <a:sp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Défis clés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132840"/>
            <a:ext cx="6900545" cy="5019040"/>
          </a:xfrm>
          <a:prstGeom prst="rect">
            <a:avLst/>
          </a:prstGeom>
        </p:spPr>
        <p:txBody>
          <a:bodyPr wrap="square" lIns="91440" tIns="45720" rIns="91440" bIns="45720" anchor="t">
            <a:noAutofit/>
          </a:bodyPr>
          <a:lstStyle>
            <a:lvl1pPr algn="l">
              <a:lnSpc>
                <a:spcPct val="83000"/>
              </a:lnSpc>
              <a:defRPr sz="2200" b="0" i="0" u="none" strike="noStrike" spc="0">
                <a:solidFill>
                  <a:srgbClr val="404040">
                    <a:alpha val="100000"/>
                  </a:srgbClr>
                </a:solidFill>
                <a:latin typeface="微软雅黑" panose="020B0503020204020204" charset="-122"/>
              </a:defRPr>
            </a:lvl1pPr>
          </a:lstStyle>
          <a:p>
            <a:pPr marL="279400" indent="-279400" algn="l">
              <a:lnSpc>
                <a:spcPct val="83000"/>
              </a:lnSpc>
              <a:spcBef>
                <a:spcPts val="1500"/>
              </a:spcBef>
              <a:buClr>
                <a:srgbClr val="404040"/>
              </a:buClr>
              <a:buChar char="•"/>
            </a:pPr>
            <a:r>
              <a:rPr lang="en-US" sz="10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Défi 3 : Obstacles dans la chaîne d'interaction</a:t>
            </a:r>
            <a:r>
              <a:rPr lang="en-US" sz="10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0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Temps réel et latence de bout en bout</a:t>
            </a:r>
            <a:endParaRPr lang="en-US" sz="10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Point douloureux central : la tolérance de latence connectant le monde physique</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systèmes externes est extrêmement faible, une latence de l'ordre de la milliseconde peut entraîner l'échec de la tâche.</a:t>
            </a:r>
            <a:endPar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Contradiction entre haute concurrence et faible latence : l'intelligence incarnée, les</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 Agent</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s vocaux exigent des latences TTFT</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 (Time To First Token)</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et ITL</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 (Inter-Token Latency)</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au niveau de la milliseconde, les architectures traditionnelles peuvent difficilement satisfaire ces exigences.</a:t>
            </a:r>
            <a:endPar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Gaspillage de puissance de calcul dû au blocage</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I/O</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 : lors de l'appel d'outils externes, des attentes</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I/O</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 incontrôlables existent, le changement de contexte du système d'exploitation traditionnel est lent, </a:t>
            </a:r>
            <a:r>
              <a:rPr lang="en-US" altLang="zh-CN"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entra</a:t>
            </a:r>
            <a:r>
              <a:rPr lang="en-US" alt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î</a:t>
            </a:r>
            <a:r>
              <a:rPr lang="en-US" altLang="zh-CN"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nant une perte de puissance de calcul de l'IA.</a:t>
            </a:r>
            <a:endPar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79400" indent="-279400" algn="l">
              <a:lnSpc>
                <a:spcPct val="83000"/>
              </a:lnSpc>
              <a:spcBef>
                <a:spcPts val="1500"/>
              </a:spcBef>
              <a:buClr>
                <a:srgbClr val="404040"/>
              </a:buClr>
              <a:buChar char="•"/>
            </a:pPr>
            <a:r>
              <a:rPr lang="en-US" sz="10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Défi 4 : Restructuration de la distribution du calcul</a:t>
            </a:r>
            <a:r>
              <a:rPr lang="en-US" sz="100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0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Coordination cloud-edge-device et communication</a:t>
            </a:r>
            <a:endParaRPr lang="en-US" sz="10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Point douloureux central : le calcul n'est plus limité à un seul point, la communication réseau devient l'extension du calcul.</a:t>
            </a:r>
            <a:endPar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La bande passante de communication équivaut à la puissance de calcul effective : dans le mode </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perception edge, planification cloud</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la migration transparente du contexte dépend fortement d'un réseau à haute bande passante et faible latence.</a:t>
            </a:r>
            <a:endPar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Ordonnancement dynamique du calcul hétérogène : les tâches de calcul doivent être découpées et déchargées dynamiquement entre</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 NPU</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edge,</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 CPU</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edge et</a:t>
            </a:r>
            <a:r>
              <a:rPr lang="en-US" sz="1000" b="0" i="0" u="none" strike="noStrike">
                <a:solidFill>
                  <a:srgbClr val="404040"/>
                </a:solidFill>
                <a:latin typeface="Calibri" panose="020F0502020204030204"/>
                <a:ea typeface="Calibri" panose="020F0502020204030204"/>
                <a:cs typeface="Calibri" panose="020F0502020204030204"/>
                <a:sym typeface="Calibri" panose="020F0502020204030204"/>
              </a:rPr>
              <a:t> GPU</a:t>
            </a:r>
            <a:r>
              <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cloud, nécessitant un mécanisme de routage intelligent.</a:t>
            </a:r>
            <a:endParaRPr lang="en-US" sz="1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1" name="图片 10" descr="E:/BAAI/COURSE/template-replacement/images/core-challenges.pngcore-challenges"/>
          <p:cNvPicPr>
            <a:picLocks noChangeAspect="1"/>
          </p:cNvPicPr>
          <p:nvPr/>
        </p:nvPicPr>
        <p:blipFill>
          <a:blip r:embed="rId1"/>
          <a:srcRect t="23" b="23"/>
          <a:stretch>
            <a:fillRect/>
          </a:stretch>
        </p:blipFill>
        <p:spPr>
          <a:xfrm>
            <a:off x="7591136" y="1132000"/>
            <a:ext cx="4600757" cy="47248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Solution :</a:t>
            </a:r>
            <a:r>
              <a:rPr lang="en-US" sz="2765" b="0" i="0" u="none" strike="noStrike">
                <a:solidFill>
                  <a:srgbClr val="262626"/>
                </a:solidFill>
                <a:latin typeface="Calibri" panose="020F0502020204030204"/>
                <a:ea typeface="Calibri" panose="020F0502020204030204"/>
                <a:cs typeface="Calibri" panose="020F0502020204030204"/>
                <a:sym typeface="Calibri" panose="020F0502020204030204"/>
              </a:rPr>
              <a:t> FlagOS</a:t>
            </a:r>
            <a:r>
              <a:rPr lang="en-US"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765"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altLang="zh-CN"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Pile logicielle IA unifi</a:t>
            </a:r>
            <a:r>
              <a:rPr lang="en-US" altLang="en-US"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7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xfrm>
            <a:off x="724535" y="6356350"/>
            <a:ext cx="11076940" cy="365125"/>
          </a:xfrm>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4" name="Picture 3" descr="flagos-architecture.png"/>
          <p:cNvPicPr>
            <a:picLocks noChangeAspect="1"/>
          </p:cNvPicPr>
          <p:nvPr/>
        </p:nvPicPr>
        <p:blipFill>
          <a:blip r:embed="rId1"/>
          <a:stretch>
            <a:fillRect/>
          </a:stretch>
        </p:blipFill>
        <p:spPr>
          <a:xfrm>
            <a:off x="741493" y="1256030"/>
            <a:ext cx="9408534"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7"/>
          </p:nvPr>
        </p:nvPicPr>
        <p:blipFill>
          <a:blip r:embed="rId1"/>
          <a:srcRect l="2306" r="2305"/>
          <a:stretch>
            <a:fillRect/>
          </a:stretch>
        </p:blipFill>
        <p:spPr>
          <a:xfrm>
            <a:off x="0" y="1"/>
            <a:ext cx="12192000" cy="6858000"/>
          </a:xfrm>
          <a:prstGeom prst="rect">
            <a:avLst/>
          </a:prstGeom>
        </p:spPr>
      </p:pic>
      <p:sp>
        <p:nvSpPr>
          <p:cNvPr id="3" name="AutoShape 3"/>
          <p:cNvSpPr/>
          <p:nvPr>
            <p:ph type="body" sz="quarter" idx="28" hasCustomPrompt="1"/>
          </p:nvPr>
        </p:nvSpPr>
        <p:spPr>
          <a:xfrm>
            <a:off x="6069661" y="2424583"/>
            <a:ext cx="4670511" cy="2664541"/>
          </a:xfrm>
          <a:prstGeom prst="rect">
            <a:avLst/>
          </a:prstGeom>
        </p:spPr>
        <p:txBody>
          <a:bodyPr wrap="square" lIns="91440" tIns="45720" rIns="91440" bIns="45720" anchor="ctr">
            <a:noAutofit/>
          </a:bodyPr>
          <a:lstStyle>
            <a:lvl1pPr algn="ctr">
              <a:lnSpc>
                <a:spcPct val="92000"/>
              </a:lnSpc>
              <a:defRPr sz="4400" b="0" i="0" u="none" strike="noStrike" spc="0">
                <a:solidFill>
                  <a:srgbClr val="44546A">
                    <a:alpha val="100000"/>
                  </a:srgbClr>
                </a:solidFill>
                <a:latin typeface="微软雅黑" panose="020B0503020204020204" charset="-122"/>
              </a:defRPr>
            </a:lvl1pPr>
          </a:lstStyle>
          <a:p>
            <a:pPr indent="0" algn="ctr">
              <a:lnSpc>
                <a:spcPct val="92000"/>
              </a:lnSpc>
            </a:pPr>
            <a:r>
              <a:rPr lang="en-US" sz="3530" b="0"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rPr>
              <a:t>Merci d'avoir regardé !</a:t>
            </a:r>
            <a:endParaRPr lang="en-US" sz="3530" b="0"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8110855" y="296545"/>
            <a:ext cx="927735" cy="38671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134.97692913385828,&quot;left&quot;:29.996535433070864,&quot;top&quot;:236.50448818897638,&quot;width&quot;:438}"/>
</p:tagLst>
</file>

<file path=ppt/tags/tag2.xml><?xml version="1.0" encoding="utf-8"?>
<p:tagLst xmlns:p="http://schemas.openxmlformats.org/presentationml/2006/main">
  <p:tag name="KSO_WM_DIAGRAM_VIRTUALLY_FRAME" val="{&quot;height&quot;:134.97692913385828,&quot;left&quot;:29.996535433070864,&quot;top&quot;:236.50448818897638,&quot;width&quot;:438}"/>
</p:tagLst>
</file>

<file path=ppt/tags/tag3.xml><?xml version="1.0" encoding="utf-8"?>
<p:tagLst xmlns:p="http://schemas.openxmlformats.org/presentationml/2006/main">
  <p:tag name="KSO_WM_DIAGRAM_VIRTUALLY_FRAME" val="{&quot;height&quot;:134.97692913385828,&quot;left&quot;:29.996535433070864,&quot;top&quot;:236.50448818897638,&quot;width&quot;:438}"/>
</p:tagLst>
</file>

<file path=ppt/tags/tag4.xml><?xml version="1.0" encoding="utf-8"?>
<p:tagLst xmlns:p="http://schemas.openxmlformats.org/presentationml/2006/main">
  <p:tag name="KSO_WM_DIAGRAM_VIRTUALLY_FRAME" val="{&quot;height&quot;:134.97692913385828,&quot;left&quot;:29.996535433070864,&quot;top&quot;:236.50448818897638,&quot;width&quot;:438}"/>
</p:tagLst>
</file>

<file path=ppt/tags/tag5.xml><?xml version="1.0" encoding="utf-8"?>
<p:tagLst xmlns:p="http://schemas.openxmlformats.org/presentationml/2006/main">
  <p:tag name="KSO_WM_DIAGRAM_VIRTUALLY_FRAME" val="{&quot;height&quot;:134.97692913385828,&quot;left&quot;:29.996535433070864,&quot;top&quot;:236.50448818897638,&quot;width&quot;:438}"/>
</p:tagLst>
</file>

<file path=ppt/tags/tag6.xml><?xml version="1.0" encoding="utf-8"?>
<p:tagLst xmlns:p="http://schemas.openxmlformats.org/presentationml/2006/main">
  <p:tag name="KSO_WM_DIAGRAM_VIRTUALLY_FRAME" val="{&quot;height&quot;:134.97692913385828,&quot;left&quot;:29.996535433070864,&quot;top&quot;:236.50448818897638,&quot;width&quot;:438}"/>
</p:tagLst>
</file>

<file path=ppt/tags/tag7.xml><?xml version="1.0" encoding="utf-8"?>
<p:tagLst xmlns:p="http://schemas.openxmlformats.org/presentationml/2006/main">
  <p:tag name="KSO_WM_DIAGRAM_VIRTUALLY_FRAME" val="{&quot;height&quot;:134.97692913385828,&quot;left&quot;:29.996535433070864,&quot;top&quot;:236.50448818897638,&quot;width&quot;:438}"/>
</p:tagLst>
</file>

<file path=ppt/tags/tag8.xml><?xml version="1.0" encoding="utf-8"?>
<p:tagLst xmlns:p="http://schemas.openxmlformats.org/presentationml/2006/main">
  <p:tag name="KSO_WM_DIAGRAM_VIRTUALLY_FRAME" val="{&quot;height&quot;:134.97692913385828,&quot;left&quot;:29.996535433070864,&quot;top&quot;:236.50448818897638,&quot;width&quot;:438}"/>
</p:tagLst>
</file>

<file path=ppt/tags/tag9.xml><?xml version="1.0" encoding="utf-8"?>
<p:tagLst xmlns:p="http://schemas.openxmlformats.org/presentationml/2006/main">
  <p:tag name="KSO_WM_DIAGRAM_VIRTUALLY_FRAME" val="{&quot;height&quot;:134.97692913385828,&quot;left&quot;:29.996535433070864,&quot;top&quot;:236.50448818897638,&quot;width&quot;:438}"/>
</p:tagLst>
</file>

<file path=ppt/tags/tag10.xml><?xml version="1.0" encoding="utf-8"?>
<p:tagLst xmlns:p="http://schemas.openxmlformats.org/presentationml/2006/main">
  <p:tag name="KSO_WM_DIAGRAM_VIRTUALLY_FRAME" val="{&quot;height&quot;:370,&quot;left&quot;:58.4,&quot;top&quot;:113,&quot;width&quot;:400}"/>
</p:tagLst>
</file>

<file path=ppt/tags/tag11.xml><?xml version="1.0" encoding="utf-8"?>
<p:tagLst xmlns:p="http://schemas.openxmlformats.org/presentationml/2006/main">
  <p:tag name="KSO_WM_DIAGRAM_VIRTUALLY_FRAME" val="{&quot;height&quot;:370,&quot;left&quot;:58.4,&quot;top&quot;:113,&quot;width&quot;:400}"/>
</p:tagLst>
</file>

<file path=ppt/tags/tag12.xml><?xml version="1.0" encoding="utf-8"?>
<p:tagLst xmlns:p="http://schemas.openxmlformats.org/presentationml/2006/main">
  <p:tag name="KSO_WM_DIAGRAM_VIRTUALLY_FRAME" val="{&quot;height&quot;:370,&quot;left&quot;:58.4,&quot;top&quot;:113,&quot;width&quot;:400}"/>
</p:tagLst>
</file>

<file path=ppt/tags/tag13.xml><?xml version="1.0" encoding="utf-8"?>
<p:tagLst xmlns:p="http://schemas.openxmlformats.org/presentationml/2006/main">
  <p:tag name="KSO_WM_DIAGRAM_VIRTUALLY_FRAME" val="{&quot;height&quot;:370,&quot;left&quot;:58.4,&quot;top&quot;:113,&quot;width&quot;:400}"/>
</p:tagLst>
</file>

<file path=ppt/tags/tag14.xml><?xml version="1.0" encoding="utf-8"?>
<p:tagLst xmlns:p="http://schemas.openxmlformats.org/presentationml/2006/main">
  <p:tag name="KSO_WM_DIAGRAM_VIRTUALLY_FRAME" val="{&quot;height&quot;:370,&quot;left&quot;:58.4,&quot;top&quot;:113,&quot;width&quot;:400}"/>
</p:tagLst>
</file>

<file path=ppt/tags/tag15.xml><?xml version="1.0" encoding="utf-8"?>
<p:tagLst xmlns:p="http://schemas.openxmlformats.org/presentationml/2006/main">
  <p:tag name="KSO_WM_DIAGRAM_VIRTUALLY_FRAME" val="{&quot;height&quot;:370,&quot;left&quot;:58.4,&quot;top&quot;:113,&quot;width&quot;:400}"/>
</p:tagLst>
</file>

<file path=ppt/tags/tag16.xml><?xml version="1.0" encoding="utf-8"?>
<p:tagLst xmlns:p="http://schemas.openxmlformats.org/presentationml/2006/main">
  <p:tag name="KSO_WM_DIAGRAM_VIRTUALLY_FRAME" val="{&quot;height&quot;:370,&quot;left&quot;:58.4,&quot;top&quot;:113,&quot;width&quot;:400}"/>
</p:tagLst>
</file>

<file path=ppt/tags/tag17.xml><?xml version="1.0" encoding="utf-8"?>
<p:tagLst xmlns:p="http://schemas.openxmlformats.org/presentationml/2006/main">
  <p:tag name="KSO_WM_DIAGRAM_VIRTUALLY_FRAME" val="{&quot;height&quot;:370,&quot;left&quot;:58.4,&quot;top&quot;:113,&quot;width&quot;:400}"/>
</p:tagLst>
</file>

<file path=ppt/tags/tag18.xml><?xml version="1.0" encoding="utf-8"?>
<p:tagLst xmlns:p="http://schemas.openxmlformats.org/presentationml/2006/main">
  <p:tag name="KSO_WM_DIAGRAM_VIRTUALLY_FRAME" val="{&quot;height&quot;:370,&quot;left&quot;:58.4,&quot;top&quot;:113,&quot;width&quot;:400}"/>
</p:tagLst>
</file>

<file path=ppt/tags/tag19.xml><?xml version="1.0" encoding="utf-8"?>
<p:tagLst xmlns:p="http://schemas.openxmlformats.org/presentationml/2006/main">
  <p:tag name="KSO_WM_DIAGRAM_VIRTUALLY_FRAME" val="{&quot;height&quot;:370,&quot;left&quot;:58.4,&quot;top&quot;:113,&quot;width&quot;:400}"/>
</p:tagLst>
</file>

<file path=ppt/tags/tag20.xml><?xml version="1.0" encoding="utf-8"?>
<p:tagLst xmlns:p="http://schemas.openxmlformats.org/presentationml/2006/main">
  <p:tag name="KSO_WM_DIAGRAM_VIRTUALLY_FRAME" val="{&quot;height&quot;:370,&quot;left&quot;:58.4,&quot;top&quot;:113,&quot;width&quot;:400}"/>
</p:tagLst>
</file>

<file path=ppt/tags/tag21.xml><?xml version="1.0" encoding="utf-8"?>
<p:tagLst xmlns:p="http://schemas.openxmlformats.org/presentationml/2006/main">
  <p:tag name="KSO_WM_DIAGRAM_VIRTUALLY_FRAME" val="{&quot;height&quot;:370,&quot;left&quot;:58.4,&quot;top&quot;:113,&quot;width&quot;:400}"/>
</p:tagLst>
</file>

<file path=ppt/tags/tag22.xml><?xml version="1.0" encoding="utf-8"?>
<p:tagLst xmlns:p="http://schemas.openxmlformats.org/presentationml/2006/main">
  <p:tag name="KSO_WM_DIAGRAM_VIRTUALLY_FRAME" val="{&quot;height&quot;:370,&quot;left&quot;:58.4,&quot;top&quot;:113,&quot;width&quot;:400}"/>
</p:tagLst>
</file>

<file path=ppt/tags/tag23.xml><?xml version="1.0" encoding="utf-8"?>
<p:tagLst xmlns:p="http://schemas.openxmlformats.org/presentationml/2006/main">
  <p:tag name="KSO_WM_DIAGRAM_VIRTUALLY_FRAME" val="{&quot;height&quot;:370,&quot;left&quot;:58.4,&quot;top&quot;:113,&quot;width&quot;:400}"/>
</p:tagLst>
</file>

<file path=ppt/tags/tag24.xml><?xml version="1.0" encoding="utf-8"?>
<p:tagLst xmlns:p="http://schemas.openxmlformats.org/presentationml/2006/main">
  <p:tag name="KSO_WM_DIAGRAM_VIRTUALLY_FRAME" val="{&quot;height&quot;:370,&quot;left&quot;:58.4,&quot;top&quot;:113,&quot;width&quot;:400}"/>
</p:tagLst>
</file>

<file path=ppt/tags/tag25.xml><?xml version="1.0" encoding="utf-8"?>
<p:tagLst xmlns:p="http://schemas.openxmlformats.org/presentationml/2006/main">
  <p:tag name="KSO_WM_DIAGRAM_VIRTUALLY_FRAME" val="{&quot;height&quot;:370,&quot;left&quot;:58.4,&quot;top&quot;:113,&quot;width&quot;:400}"/>
</p:tagLst>
</file>

<file path=ppt/tags/tag26.xml><?xml version="1.0" encoding="utf-8"?>
<p:tagLst xmlns:p="http://schemas.openxmlformats.org/presentationml/2006/main">
  <p:tag name="KSO_WM_DIAGRAM_VIRTUALLY_FRAME" val="{&quot;height&quot;:180,&quot;left&quot;:500,&quot;top&quot;:165,&quot;width&quot;:460.05}"/>
</p:tagLst>
</file>

<file path=ppt/tags/tag27.xml><?xml version="1.0" encoding="utf-8"?>
<p:tagLst xmlns:p="http://schemas.openxmlformats.org/presentationml/2006/main">
  <p:tag name="KSO_WM_DIAGRAM_VIRTUALLY_FRAME" val="{&quot;height&quot;:180,&quot;left&quot;:500,&quot;top&quot;:165,&quot;width&quot;:460.05}"/>
</p:tagLst>
</file>

<file path=ppt/tags/tag28.xml><?xml version="1.0" encoding="utf-8"?>
<p:tagLst xmlns:p="http://schemas.openxmlformats.org/presentationml/2006/main">
  <p:tag name="KSO_WM_DIAGRAM_VIRTUALLY_FRAME" val="{&quot;height&quot;:180,&quot;left&quot;:500,&quot;top&quot;:165,&quot;width&quot;:460.05}"/>
</p:tagLst>
</file>

<file path=ppt/tags/tag29.xml><?xml version="1.0" encoding="utf-8"?>
<p:tagLst xmlns:p="http://schemas.openxmlformats.org/presentationml/2006/main">
  <p:tag name="KSO_WM_DIAGRAM_VIRTUALLY_FRAME" val="{&quot;height&quot;:180,&quot;left&quot;:500,&quot;top&quot;:165,&quot;width&quot;:460.05}"/>
</p:tagLst>
</file>

<file path=ppt/tags/tag30.xml><?xml version="1.0" encoding="utf-8"?>
<p:tagLst xmlns:p="http://schemas.openxmlformats.org/presentationml/2006/main">
  <p:tag name="KSO_WM_DIAGRAM_VIRTUALLY_FRAME" val="{&quot;height&quot;:180,&quot;left&quot;:500,&quot;top&quot;:165,&quot;width&quot;:460.05}"/>
</p:tagLst>
</file>

<file path=ppt/tags/tag31.xml><?xml version="1.0" encoding="utf-8"?>
<p:tagLst xmlns:p="http://schemas.openxmlformats.org/presentationml/2006/main">
  <p:tag name="KSO_WM_DIAGRAM_VIRTUALLY_FRAME" val="{&quot;height&quot;:180,&quot;left&quot;:500,&quot;top&quot;:165,&quot;width&quot;:460.05}"/>
</p:tagLst>
</file>

<file path=ppt/tags/tag32.xml><?xml version="1.0" encoding="utf-8"?>
<p:tagLst xmlns:p="http://schemas.openxmlformats.org/presentationml/2006/main">
  <p:tag name="KSO_WM_DIAGRAM_VIRTUALLY_FRAME" val="{&quot;height&quot;:180,&quot;left&quot;:500,&quot;top&quot;:165,&quot;width&quot;:460.05}"/>
</p:tagLst>
</file>

<file path=ppt/tags/tag33.xml><?xml version="1.0" encoding="utf-8"?>
<p:tagLst xmlns:p="http://schemas.openxmlformats.org/presentationml/2006/main">
  <p:tag name="KSO_WM_DIAGRAM_VIRTUALLY_FRAME" val="{&quot;height&quot;:180,&quot;left&quot;:500,&quot;top&quot;:165,&quot;width&quot;:460.05}"/>
</p:tagLst>
</file>

<file path=ppt/tags/tag34.xml><?xml version="1.0" encoding="utf-8"?>
<p:tagLst xmlns:p="http://schemas.openxmlformats.org/presentationml/2006/main">
  <p:tag name="KSO_WM_DIAGRAM_VIRTUALLY_FRAME" val="{&quot;height&quot;:180,&quot;left&quot;:500,&quot;top&quot;:165,&quot;width&quot;:460.05}"/>
</p:tagLst>
</file>

<file path=ppt/tags/tag35.xml><?xml version="1.0" encoding="utf-8"?>
<p:tagLst xmlns:p="http://schemas.openxmlformats.org/presentationml/2006/main">
  <p:tag name="KSO_WM_DIAGRAM_VIRTUALLY_FRAME" val="{&quot;height&quot;:180,&quot;left&quot;:500,&quot;top&quot;:165,&quot;width&quot;:460.05}"/>
</p:tagLst>
</file>

<file path=ppt/tags/tag36.xml><?xml version="1.0" encoding="utf-8"?>
<p:tagLst xmlns:p="http://schemas.openxmlformats.org/presentationml/2006/main">
  <p:tag name="KSO_WM_DIAGRAM_VIRTUALLY_FRAME" val="{&quot;height&quot;:180,&quot;left&quot;:500,&quot;top&quot;:165,&quot;width&quot;:460.05}"/>
</p:tagLst>
</file>

<file path=ppt/tags/tag37.xml><?xml version="1.0" encoding="utf-8"?>
<p:tagLst xmlns:p="http://schemas.openxmlformats.org/presentationml/2006/main">
  <p:tag name="KSO_WM_DIAGRAM_VIRTUALLY_FRAME" val="{&quot;height&quot;:180,&quot;left&quot;:500,&quot;top&quot;:165,&quot;width&quot;:460.05}"/>
</p:tagLst>
</file>

<file path=ppt/tags/tag38.xml><?xml version="1.0" encoding="utf-8"?>
<p:tagLst xmlns:p="http://schemas.openxmlformats.org/presentationml/2006/main">
  <p:tag name="KSO_WM_DIAGRAM_VIRTUALLY_FRAME" val="{&quot;height&quot;:180,&quot;left&quot;:500,&quot;top&quot;:165,&quot;width&quot;:460.05}"/>
</p:tagLst>
</file>

<file path=ppt/tags/tag39.xml><?xml version="1.0" encoding="utf-8"?>
<p:tagLst xmlns:p="http://schemas.openxmlformats.org/presentationml/2006/main">
  <p:tag name="KSO_WM_DIAGRAM_VIRTUALLY_FRAME" val="{&quot;height&quot;:180,&quot;left&quot;:500,&quot;top&quot;:165,&quot;width&quot;:460.05}"/>
</p:tagLst>
</file>

<file path=ppt/tags/tag40.xml><?xml version="1.0" encoding="utf-8"?>
<p:tagLst xmlns:p="http://schemas.openxmlformats.org/presentationml/2006/main">
  <p:tag name="KSO_WM_DIAGRAM_VIRTUALLY_FRAME" val="{&quot;height&quot;:180,&quot;left&quot;:500,&quot;top&quot;:165,&quot;width&quot;:460.05}"/>
</p:tagLst>
</file>

<file path=ppt/tags/tag41.xml><?xml version="1.0" encoding="utf-8"?>
<p:tagLst xmlns:p="http://schemas.openxmlformats.org/presentationml/2006/main">
  <p:tag name="KSO_WM_DIAGRAM_VIRTUALLY_FRAME" val="{&quot;height&quot;:180,&quot;left&quot;:500,&quot;top&quot;:165,&quot;width&quot;:460.05}"/>
</p:tagLst>
</file>

<file path=ppt/tags/tag42.xml><?xml version="1.0" encoding="utf-8"?>
<p:tagLst xmlns:p="http://schemas.openxmlformats.org/presentationml/2006/main">
  <p:tag name="KSO_WM_DIAGRAM_VIRTUALLY_FRAME" val="{&quot;height&quot;:150,&quot;left&quot;:73,&quot;top&quot;:134.35,&quot;width&quot;:840}"/>
</p:tagLst>
</file>

<file path=ppt/tags/tag43.xml><?xml version="1.0" encoding="utf-8"?>
<p:tagLst xmlns:p="http://schemas.openxmlformats.org/presentationml/2006/main">
  <p:tag name="KSO_WM_DIAGRAM_VIRTUALLY_FRAME" val="{&quot;height&quot;:150,&quot;left&quot;:73,&quot;top&quot;:134.35,&quot;width&quot;:840}"/>
</p:tagLst>
</file>

<file path=ppt/tags/tag44.xml><?xml version="1.0" encoding="utf-8"?>
<p:tagLst xmlns:p="http://schemas.openxmlformats.org/presentationml/2006/main">
  <p:tag name="KSO_WM_DIAGRAM_VIRTUALLY_FRAME" val="{&quot;height&quot;:150,&quot;left&quot;:73,&quot;top&quot;:134.35,&quot;width&quot;:840}"/>
</p:tagLst>
</file>

<file path=ppt/tags/tag45.xml><?xml version="1.0" encoding="utf-8"?>
<p:tagLst xmlns:p="http://schemas.openxmlformats.org/presentationml/2006/main">
  <p:tag name="KSO_WM_DIAGRAM_VIRTUALLY_FRAME" val="{&quot;height&quot;:150,&quot;left&quot;:73,&quot;top&quot;:134.35,&quot;width&quot;:840}"/>
</p:tagLst>
</file>

<file path=ppt/tags/tag46.xml><?xml version="1.0" encoding="utf-8"?>
<p:tagLst xmlns:p="http://schemas.openxmlformats.org/presentationml/2006/main">
  <p:tag name="KSO_WM_DIAGRAM_VIRTUALLY_FRAME" val="{&quot;height&quot;:150,&quot;left&quot;:73,&quot;top&quot;:134.35,&quot;width&quot;:840}"/>
</p:tagLst>
</file>

<file path=ppt/tags/tag47.xml><?xml version="1.0" encoding="utf-8"?>
<p:tagLst xmlns:p="http://schemas.openxmlformats.org/presentationml/2006/main">
  <p:tag name="KSO_WM_DIAGRAM_VIRTUALLY_FRAME" val="{&quot;height&quot;:150,&quot;left&quot;:73,&quot;top&quot;:134.35,&quot;width&quot;:840}"/>
</p:tagLst>
</file>

<file path=ppt/tags/tag48.xml><?xml version="1.0" encoding="utf-8"?>
<p:tagLst xmlns:p="http://schemas.openxmlformats.org/presentationml/2006/main">
  <p:tag name="KSO_WM_DIAGRAM_VIRTUALLY_FRAME" val="{&quot;height&quot;:150,&quot;left&quot;:73,&quot;top&quot;:134.35,&quot;width&quot;:840}"/>
</p:tagLst>
</file>

<file path=ppt/tags/tag49.xml><?xml version="1.0" encoding="utf-8"?>
<p:tagLst xmlns:p="http://schemas.openxmlformats.org/presentationml/2006/main">
  <p:tag name="KSO_WM_DIAGRAM_VIRTUALLY_FRAME" val="{&quot;height&quot;:150,&quot;left&quot;:73,&quot;top&quot;:134.35,&quot;width&quot;:840}"/>
</p:tagLst>
</file>

<file path=ppt/tags/tag50.xml><?xml version="1.0" encoding="utf-8"?>
<p:tagLst xmlns:p="http://schemas.openxmlformats.org/presentationml/2006/main">
  <p:tag name="KSO_WM_DIAGRAM_VIRTUALLY_FRAME" val="{&quot;height&quot;:150,&quot;left&quot;:73,&quot;top&quot;:134.35,&quot;width&quot;:840}"/>
</p:tagLst>
</file>

<file path=ppt/tags/tag51.xml><?xml version="1.0" encoding="utf-8"?>
<p:tagLst xmlns:p="http://schemas.openxmlformats.org/presentationml/2006/main">
  <p:tag name="KSO_WM_DIAGRAM_VIRTUALLY_FRAME" val="{&quot;height&quot;:150,&quot;left&quot;:73,&quot;top&quot;:134.35,&quot;width&quot;:840}"/>
</p:tagLst>
</file>

<file path=ppt/tags/tag52.xml><?xml version="1.0" encoding="utf-8"?>
<p:tagLst xmlns:p="http://schemas.openxmlformats.org/presentationml/2006/main">
  <p:tag name="KSO_WM_DIAGRAM_VIRTUALLY_FRAME" val="{&quot;height&quot;:150,&quot;left&quot;:73,&quot;top&quot;:134.35,&quot;width&quot;:840}"/>
</p:tagLst>
</file>

<file path=ppt/tags/tag53.xml><?xml version="1.0" encoding="utf-8"?>
<p:tagLst xmlns:p="http://schemas.openxmlformats.org/presentationml/2006/main">
  <p:tag name="KSO_WM_DIAGRAM_VIRTUALLY_FRAME" val="{&quot;height&quot;:150,&quot;left&quot;:73,&quot;top&quot;:134.35,&quot;width&quot;:840}"/>
</p:tagLst>
</file>

<file path=ppt/tags/tag54.xml><?xml version="1.0" encoding="utf-8"?>
<p:tagLst xmlns:p="http://schemas.openxmlformats.org/presentationml/2006/main">
  <p:tag name="KSO_WM_DIAGRAM_VIRTUALLY_FRAME" val="{&quot;height&quot;:150,&quot;left&quot;:73,&quot;top&quot;:134.35,&quot;width&quot;:840}"/>
</p:tagLst>
</file>

<file path=ppt/tags/tag55.xml><?xml version="1.0" encoding="utf-8"?>
<p:tagLst xmlns:p="http://schemas.openxmlformats.org/presentationml/2006/main">
  <p:tag name="KSO_WM_DIAGRAM_VIRTUALLY_FRAME" val="{&quot;height&quot;:150,&quot;left&quot;:73,&quot;top&quot;:134.35,&quot;width&quot;:840}"/>
</p:tagLst>
</file>

<file path=ppt/tags/tag56.xml><?xml version="1.0" encoding="utf-8"?>
<p:tagLst xmlns:p="http://schemas.openxmlformats.org/presentationml/2006/main">
  <p:tag name="KSO_WM_DIAGRAM_VIRTUALLY_FRAME" val="{&quot;height&quot;:150,&quot;left&quot;:73,&quot;top&quot;:134.35,&quot;width&quot;:840}"/>
</p:tagLst>
</file>

<file path=ppt/tags/tag57.xml><?xml version="1.0" encoding="utf-8"?>
<p:tagLst xmlns:p="http://schemas.openxmlformats.org/presentationml/2006/main">
  <p:tag name="KSO_WM_DIAGRAM_VIRTUALLY_FRAME" val="{&quot;height&quot;:150,&quot;left&quot;:73,&quot;top&quot;:134.35,&quot;width&quot;:840}"/>
</p:tagLst>
</file>

<file path=ppt/tags/tag58.xml><?xml version="1.0" encoding="utf-8"?>
<p:tagLst xmlns:p="http://schemas.openxmlformats.org/presentationml/2006/main">
  <p:tag name="KSO_WM_DIAGRAM_VIRTUALLY_FRAME" val="{&quot;height&quot;:380,&quot;left&quot;:60,&quot;top&quot;:130,&quot;width&quot;:840}"/>
</p:tagLst>
</file>

<file path=ppt/tags/tag59.xml><?xml version="1.0" encoding="utf-8"?>
<p:tagLst xmlns:p="http://schemas.openxmlformats.org/presentationml/2006/main">
  <p:tag name="KSO_WM_DIAGRAM_VIRTUALLY_FRAME" val="{&quot;height&quot;:380,&quot;left&quot;:60,&quot;top&quot;:130,&quot;width&quot;:840}"/>
</p:tagLst>
</file>

<file path=ppt/tags/tag60.xml><?xml version="1.0" encoding="utf-8"?>
<p:tagLst xmlns:p="http://schemas.openxmlformats.org/presentationml/2006/main">
  <p:tag name="KSO_WM_DIAGRAM_VIRTUALLY_FRAME" val="{&quot;height&quot;:380,&quot;left&quot;:60,&quot;top&quot;:130,&quot;width&quot;:840}"/>
</p:tagLst>
</file>

<file path=ppt/tags/tag61.xml><?xml version="1.0" encoding="utf-8"?>
<p:tagLst xmlns:p="http://schemas.openxmlformats.org/presentationml/2006/main">
  <p:tag name="KSO_WM_DIAGRAM_VIRTUALLY_FRAME" val="{&quot;height&quot;:380,&quot;left&quot;:60,&quot;top&quot;:130,&quot;width&quot;:840}"/>
</p:tagLst>
</file>

<file path=ppt/tags/tag62.xml><?xml version="1.0" encoding="utf-8"?>
<p:tagLst xmlns:p="http://schemas.openxmlformats.org/presentationml/2006/main">
  <p:tag name="KSO_WM_DIAGRAM_VIRTUALLY_FRAME" val="{&quot;height&quot;:380,&quot;left&quot;:60,&quot;top&quot;:130,&quot;width&quot;:840}"/>
</p:tagLst>
</file>

<file path=ppt/tags/tag63.xml><?xml version="1.0" encoding="utf-8"?>
<p:tagLst xmlns:p="http://schemas.openxmlformats.org/presentationml/2006/main">
  <p:tag name="KSO_WM_DIAGRAM_VIRTUALLY_FRAME" val="{&quot;height&quot;:380,&quot;left&quot;:60,&quot;top&quot;:130,&quot;width&quot;:840}"/>
</p:tagLst>
</file>

<file path=ppt/tags/tag64.xml><?xml version="1.0" encoding="utf-8"?>
<p:tagLst xmlns:p="http://schemas.openxmlformats.org/presentationml/2006/main">
  <p:tag name="KSO_WM_DIAGRAM_VIRTUALLY_FRAME" val="{&quot;height&quot;:380,&quot;left&quot;:60,&quot;top&quot;:130,&quot;width&quot;:840}"/>
</p:tagLst>
</file>

<file path=ppt/tags/tag65.xml><?xml version="1.0" encoding="utf-8"?>
<p:tagLst xmlns:p="http://schemas.openxmlformats.org/presentationml/2006/main">
  <p:tag name="KSO_WM_DIAGRAM_VIRTUALLY_FRAME" val="{&quot;height&quot;:380,&quot;left&quot;:60,&quot;top&quot;:130,&quot;width&quot;:840}"/>
</p:tagLst>
</file>

<file path=ppt/tags/tag66.xml><?xml version="1.0" encoding="utf-8"?>
<p:tagLst xmlns:p="http://schemas.openxmlformats.org/presentationml/2006/main">
  <p:tag name="KSO_WM_DIAGRAM_VIRTUALLY_FRAME" val="{&quot;height&quot;:380,&quot;left&quot;:60,&quot;top&quot;:130,&quot;width&quot;:840}"/>
</p:tagLst>
</file>

<file path=ppt/tags/tag67.xml><?xml version="1.0" encoding="utf-8"?>
<p:tagLst xmlns:p="http://schemas.openxmlformats.org/presentationml/2006/main">
  <p:tag name="KSO_WM_DIAGRAM_VIRTUALLY_FRAME" val="{&quot;height&quot;:380,&quot;left&quot;:60,&quot;top&quot;:130,&quot;width&quot;:840}"/>
</p:tagLst>
</file>

<file path=ppt/tags/tag68.xml><?xml version="1.0" encoding="utf-8"?>
<p:tagLst xmlns:p="http://schemas.openxmlformats.org/presentationml/2006/main">
  <p:tag name="KSO_WM_DIAGRAM_VIRTUALLY_FRAME" val="{&quot;height&quot;:380,&quot;left&quot;:60,&quot;top&quot;:130,&quot;width&quot;:840}"/>
</p:tagLst>
</file>

<file path=ppt/tags/tag69.xml><?xml version="1.0" encoding="utf-8"?>
<p:tagLst xmlns:p="http://schemas.openxmlformats.org/presentationml/2006/main">
  <p:tag name="KSO_WM_DIAGRAM_VIRTUALLY_FRAME" val="{&quot;height&quot;:380,&quot;left&quot;:60,&quot;top&quot;:130,&quot;width&quot;:840}"/>
</p:tagLst>
</file>

<file path=ppt/tags/tag70.xml><?xml version="1.0" encoding="utf-8"?>
<p:tagLst xmlns:p="http://schemas.openxmlformats.org/presentationml/2006/main">
  <p:tag name="KSO_WM_DIAGRAM_VIRTUALLY_FRAME" val="{&quot;height&quot;:380,&quot;left&quot;:60,&quot;top&quot;:130,&quot;width&quot;:840}"/>
</p:tagLst>
</file>

<file path=ppt/tags/tag71.xml><?xml version="1.0" encoding="utf-8"?>
<p:tagLst xmlns:p="http://schemas.openxmlformats.org/presentationml/2006/main">
  <p:tag name="KSO_WM_DIAGRAM_VIRTUALLY_FRAME" val="{&quot;height&quot;:380,&quot;left&quot;:60,&quot;top&quot;:130,&quot;width&quot;:840}"/>
</p:tagLst>
</file>

<file path=ppt/tags/tag72.xml><?xml version="1.0" encoding="utf-8"?>
<p:tagLst xmlns:p="http://schemas.openxmlformats.org/presentationml/2006/main">
  <p:tag name="KSO_WM_DIAGRAM_VIRTUALLY_FRAME" val="{&quot;height&quot;:380,&quot;left&quot;:60,&quot;top&quot;:130,&quot;width&quot;:840}"/>
</p:tagLst>
</file>

<file path=ppt/tags/tag73.xml><?xml version="1.0" encoding="utf-8"?>
<p:tagLst xmlns:p="http://schemas.openxmlformats.org/presentationml/2006/main">
  <p:tag name="KSO_WM_DIAGRAM_VIRTUALLY_FRAME" val="{&quot;height&quot;:380,&quot;left&quot;:60,&quot;top&quot;:130,&quot;width&quot;:840}"/>
</p:tagLst>
</file>

<file path=ppt/tags/tag74.xml><?xml version="1.0" encoding="utf-8"?>
<p:tagLst xmlns:p="http://schemas.openxmlformats.org/presentationml/2006/main">
  <p:tag name="KSO_WM_DIAGRAM_VIRTUALLY_FRAME" val="{&quot;height&quot;:380,&quot;left&quot;:60,&quot;top&quot;:130,&quot;width&quot;:840}"/>
</p:tagLst>
</file>

<file path=ppt/tags/tag75.xml><?xml version="1.0" encoding="utf-8"?>
<p:tagLst xmlns:p="http://schemas.openxmlformats.org/presentationml/2006/main">
  <p:tag name="KSO_WM_DIAGRAM_VIRTUALLY_FRAME" val="{&quot;height&quot;:380,&quot;left&quot;:60,&quot;top&quot;:130,&quot;width&quot;:840}"/>
</p:tagLst>
</file>

<file path=ppt/tags/tag76.xml><?xml version="1.0" encoding="utf-8"?>
<p:tagLst xmlns:p="http://schemas.openxmlformats.org/presentationml/2006/main">
  <p:tag name="KSO_WM_DIAGRAM_VIRTUALLY_FRAME" val="{&quot;height&quot;:380,&quot;left&quot;:60,&quot;top&quot;:130,&quot;width&quot;:840}"/>
</p:tagLst>
</file>

<file path=ppt/tags/tag77.xml><?xml version="1.0" encoding="utf-8"?>
<p:tagLst xmlns:p="http://schemas.openxmlformats.org/presentationml/2006/main">
  <p:tag name="KSO_WM_DIAGRAM_VIRTUALLY_FRAME" val="{&quot;height&quot;:380,&quot;left&quot;:60,&quot;top&quot;:130,&quot;width&quot;:840}"/>
</p:tagLst>
</file>

<file path=ppt/tags/tag78.xml><?xml version="1.0" encoding="utf-8"?>
<p:tagLst xmlns:p="http://schemas.openxmlformats.org/presentationml/2006/main">
  <p:tag name="KSO_WM_DIAGRAM_VIRTUALLY_FRAME" val="{&quot;height&quot;:380,&quot;left&quot;:60,&quot;top&quot;:130,&quot;width&quot;:840}"/>
</p:tagLst>
</file>

<file path=ppt/tags/tag79.xml><?xml version="1.0" encoding="utf-8"?>
<p:tagLst xmlns:p="http://schemas.openxmlformats.org/presentationml/2006/main">
  <p:tag name="KSO_WM_DIAGRAM_VIRTUALLY_FRAME" val="{&quot;height&quot;:380,&quot;left&quot;:60,&quot;top&quot;:130,&quot;width&quot;:840}"/>
</p:tagLst>
</file>

<file path=ppt/tags/tag80.xml><?xml version="1.0" encoding="utf-8"?>
<p:tagLst xmlns:p="http://schemas.openxmlformats.org/presentationml/2006/main">
  <p:tag name="KSO_WM_DIAGRAM_VIRTUALLY_FRAME" val="{&quot;height&quot;:380,&quot;left&quot;:60,&quot;top&quot;:130,&quot;width&quot;:840}"/>
</p:tagLst>
</file>

<file path=ppt/tags/tag81.xml><?xml version="1.0" encoding="utf-8"?>
<p:tagLst xmlns:p="http://schemas.openxmlformats.org/presentationml/2006/main">
  <p:tag name="KSO_WM_DIAGRAM_VIRTUALLY_FRAME" val="{&quot;height&quot;:380,&quot;left&quot;:60,&quot;top&quot;:130,&quot;width&quot;:840}"/>
</p:tagLst>
</file>

<file path=ppt/tags/tag82.xml><?xml version="1.0" encoding="utf-8"?>
<p:tagLst xmlns:p="http://schemas.openxmlformats.org/presentationml/2006/main">
  <p:tag name="KSO_WM_DIAGRAM_VIRTUALLY_FRAME" val="{&quot;height&quot;:380,&quot;left&quot;:60,&quot;top&quot;:130,&quot;width&quot;:840}"/>
</p:tagLst>
</file>

<file path=ppt/tags/tag83.xml><?xml version="1.0" encoding="utf-8"?>
<p:tagLst xmlns:p="http://schemas.openxmlformats.org/presentationml/2006/main">
  <p:tag name="KSO_WM_DIAGRAM_VIRTUALLY_FRAME" val="{&quot;height&quot;:380,&quot;left&quot;:60,&quot;top&quot;:130,&quot;width&quot;:840}"/>
</p:tagLst>
</file>

<file path=ppt/tags/tag84.xml><?xml version="1.0" encoding="utf-8"?>
<p:tagLst xmlns:p="http://schemas.openxmlformats.org/presentationml/2006/main">
  <p:tag name="KSO_WM_DIAGRAM_VIRTUALLY_FRAME" val="{&quot;height&quot;:380,&quot;left&quot;:60,&quot;top&quot;:130,&quot;width&quot;:840}"/>
</p:tagLst>
</file>

<file path=ppt/tags/tag85.xml><?xml version="1.0" encoding="utf-8"?>
<p:tagLst xmlns:p="http://schemas.openxmlformats.org/presentationml/2006/main">
  <p:tag name="KSO_WM_DIAGRAM_VIRTUALLY_FRAME" val="{&quot;height&quot;:380,&quot;left&quot;:60,&quot;top&quot;:130,&quot;width&quot;:840}"/>
</p:tagLst>
</file>

<file path=ppt/tags/tag86.xml><?xml version="1.0" encoding="utf-8"?>
<p:tagLst xmlns:p="http://schemas.openxmlformats.org/presentationml/2006/main">
  <p:tag name="KSO_WM_DIAGRAM_VIRTUALLY_FRAME" val="{&quot;height&quot;:380,&quot;left&quot;:60,&quot;top&quot;:130,&quot;width&quot;:840}"/>
</p:tagLst>
</file>

<file path=ppt/tags/tag87.xml><?xml version="1.0" encoding="utf-8"?>
<p:tagLst xmlns:p="http://schemas.openxmlformats.org/presentationml/2006/main">
  <p:tag name="KSO_WM_DIAGRAM_VIRTUALLY_FRAME" val="{&quot;height&quot;:380,&quot;left&quot;:60,&quot;top&quot;:130,&quot;width&quot;:840}"/>
</p:tagLst>
</file>

<file path=ppt/tags/tag88.xml><?xml version="1.0" encoding="utf-8"?>
<p:tagLst xmlns:p="http://schemas.openxmlformats.org/presentationml/2006/main">
  <p:tag name="KSO_WM_DIAGRAM_VIRTUALLY_FRAME" val="{&quot;height&quot;:380,&quot;left&quot;:60,&quot;top&quot;:130,&quot;width&quot;:840}"/>
</p:tagLst>
</file>

<file path=ppt/tags/tag89.xml><?xml version="1.0" encoding="utf-8"?>
<p:tagLst xmlns:p="http://schemas.openxmlformats.org/presentationml/2006/main">
  <p:tag name="KSO_WM_DIAGRAM_VIRTUALLY_FRAME" val="{&quot;height&quot;:380,&quot;left&quot;:60,&quot;top&quot;:130,&quot;width&quot;:840}"/>
</p:tagLst>
</file>

<file path=ppt/tags/tag90.xml><?xml version="1.0" encoding="utf-8"?>
<p:tagLst xmlns:p="http://schemas.openxmlformats.org/presentationml/2006/main">
  <p:tag name="KSO_WM_DIAGRAM_VIRTUALLY_FRAME" val="{&quot;height&quot;:275,&quot;left&quot;:41.25,&quot;top&quot;:155,&quot;width&quot;:420}"/>
</p:tagLst>
</file>

<file path=ppt/tags/tag91.xml><?xml version="1.0" encoding="utf-8"?>
<p:tagLst xmlns:p="http://schemas.openxmlformats.org/presentationml/2006/main">
  <p:tag name="KSO_WM_DIAGRAM_VIRTUALLY_FRAME" val="{&quot;height&quot;:275,&quot;left&quot;:41.25,&quot;top&quot;:155,&quot;width&quot;:420}"/>
</p:tagLst>
</file>

<file path=ppt/tags/tag92.xml><?xml version="1.0" encoding="utf-8"?>
<p:tagLst xmlns:p="http://schemas.openxmlformats.org/presentationml/2006/main">
  <p:tag name="KSO_WM_DIAGRAM_VIRTUALLY_FRAME" val="{&quot;height&quot;:275,&quot;left&quot;:41.25,&quot;top&quot;:155,&quot;width&quot;:420}"/>
</p:tagLst>
</file>

<file path=ppt/tags/tag93.xml><?xml version="1.0" encoding="utf-8"?>
<p:tagLst xmlns:p="http://schemas.openxmlformats.org/presentationml/2006/main">
  <p:tag name="KSO_WM_DIAGRAM_VIRTUALLY_FRAME" val="{&quot;height&quot;:275,&quot;left&quot;:41.25,&quot;top&quot;:155,&quot;width&quot;:420}"/>
</p:tagLst>
</file>

<file path=ppt/tags/tag94.xml><?xml version="1.0" encoding="utf-8"?>
<p:tagLst xmlns:p="http://schemas.openxmlformats.org/presentationml/2006/main">
  <p:tag name="KSO_WM_DIAGRAM_VIRTUALLY_FRAME" val="{&quot;height&quot;:275,&quot;left&quot;:41.25,&quot;top&quot;:155,&quot;width&quot;:420}"/>
</p:tagLst>
</file>

<file path=ppt/tags/tag95.xml><?xml version="1.0" encoding="utf-8"?>
<p:tagLst xmlns:p="http://schemas.openxmlformats.org/presentationml/2006/main">
  <p:tag name="KSO_WM_DIAGRAM_VIRTUALLY_FRAME" val="{&quot;height&quot;:275,&quot;left&quot;:41.25,&quot;top&quot;:155,&quot;width&quot;:420}"/>
</p:tagLst>
</file>

<file path=ppt/tags/tag96.xml><?xml version="1.0" encoding="utf-8"?>
<p:tagLst xmlns:p="http://schemas.openxmlformats.org/presentationml/2006/main">
  <p:tag name="KSO_WM_DIAGRAM_VIRTUALLY_FRAME" val="{&quot;height&quot;:275,&quot;left&quot;:41.25,&quot;top&quot;:155,&quot;width&quot;:420}"/>
</p:tagLst>
</file>

<file path=ppt/tags/tag97.xml><?xml version="1.0" encoding="utf-8"?>
<p:tagLst xmlns:p="http://schemas.openxmlformats.org/presentationml/2006/main">
  <p:tag name="KSO_WM_DIAGRAM_VIRTUALLY_FRAME" val="{&quot;height&quot;:275,&quot;left&quot;:41.25,&quot;top&quot;:155,&quot;width&quot;:420}"/>
</p:tagLst>
</file>

<file path=ppt/tags/tag98.xml><?xml version="1.0" encoding="utf-8"?>
<p:tagLst xmlns:p="http://schemas.openxmlformats.org/presentationml/2006/main">
  <p:tag name="KSO_WM_DIAGRAM_VIRTUALLY_FRAME" val="{&quot;height&quot;:275,&quot;left&quot;:41.25,&quot;top&quot;:155,&quot;width&quot;:420}"/>
</p:tagLst>
</file>

<file path=ppt/tags/tag99.xml><?xml version="1.0" encoding="utf-8"?>
<p:tagLst xmlns:p="http://schemas.openxmlformats.org/presentationml/2006/main">
  <p:tag name="KSO_WM_DIAGRAM_VIRTUALLY_FRAME" val="{&quot;height&quot;:275,&quot;left&quot;:41.25,&quot;top&quot;:155,&quot;width&quot;:420}"/>
</p:tagLst>
</file>

<file path=ppt/tags/tag100.xml><?xml version="1.0" encoding="utf-8"?>
<p:tagLst xmlns:p="http://schemas.openxmlformats.org/presentationml/2006/main">
  <p:tag name="KSO_WM_DIAGRAM_VIRTUALLY_FRAME" val="{&quot;height&quot;:275,&quot;left&quot;:41.25,&quot;top&quot;:155,&quot;width&quot;:420}"/>
</p:tagLst>
</file>

<file path=ppt/tags/tag101.xml><?xml version="1.0" encoding="utf-8"?>
<p:tagLst xmlns:p="http://schemas.openxmlformats.org/presentationml/2006/main">
  <p:tag name="KSO_WM_DIAGRAM_VIRTUALLY_FRAME" val="{&quot;height&quot;:275,&quot;left&quot;:41.25,&quot;top&quot;:155,&quot;width&quot;:420}"/>
</p:tagLst>
</file>

<file path=ppt/tags/tag102.xml><?xml version="1.0" encoding="utf-8"?>
<p:tagLst xmlns:p="http://schemas.openxmlformats.org/presentationml/2006/main">
  <p:tag name="TABLE_ENDDRAG_ORIGIN_RECT" val="926*389"/>
  <p:tag name="TABLE_ENDDRAG_RECT" val="17*99*926*389"/>
</p:tagLst>
</file>

<file path=ppt/tags/tag103.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04.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05.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06.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07.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08.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09.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10.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11.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12.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13.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14.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15.xml><?xml version="1.0" encoding="utf-8"?>
<p:tagLst xmlns:p="http://schemas.openxmlformats.org/presentationml/2006/main">
  <p:tag name="KSO_WM_DIAGRAM_VIRTUALLY_FRAME" val="{&quot;height&quot;:269.6489763779528,&quot;left&quot;:556.8004724409449,&quot;top&quot;:167.47685039370077,&quot;width&quot;:372.3390551181102}"/>
</p:tagLst>
</file>

<file path=ppt/tags/tag116.xml><?xml version="1.0" encoding="utf-8"?>
<p:tagLst xmlns:p="http://schemas.openxmlformats.org/presentationml/2006/main">
  <p:tag name="KSO_WM_DIAGRAM_VIRTUALLY_FRAME" val="{&quot;height&quot;:362.236220472441,&quot;left&quot;:44.98015748031494,&quot;top&quot;:129.2036220472441,&quot;width&quot;:568.5}"/>
</p:tagLst>
</file>

<file path=ppt/tags/tag117.xml><?xml version="1.0" encoding="utf-8"?>
<p:tagLst xmlns:p="http://schemas.openxmlformats.org/presentationml/2006/main">
  <p:tag name="KSO_WM_DIAGRAM_VIRTUALLY_FRAME" val="{&quot;height&quot;:362.236220472441,&quot;left&quot;:44.98015748031494,&quot;top&quot;:129.2036220472441,&quot;width&quot;:568.5}"/>
</p:tagLst>
</file>

<file path=ppt/tags/tag118.xml><?xml version="1.0" encoding="utf-8"?>
<p:tagLst xmlns:p="http://schemas.openxmlformats.org/presentationml/2006/main">
  <p:tag name="KSO_WM_DIAGRAM_VIRTUALLY_FRAME" val="{&quot;height&quot;:362.236220472441,&quot;left&quot;:44.98015748031494,&quot;top&quot;:129.2036220472441,&quot;width&quot;:568.5}"/>
</p:tagLst>
</file>

<file path=ppt/tags/tag119.xml><?xml version="1.0" encoding="utf-8"?>
<p:tagLst xmlns:p="http://schemas.openxmlformats.org/presentationml/2006/main">
  <p:tag name="KSO_WM_DIAGRAM_VIRTUALLY_FRAME" val="{&quot;height&quot;:362.236220472441,&quot;left&quot;:44.98015748031494,&quot;top&quot;:129.2036220472441,&quot;width&quot;:568.5}"/>
</p:tagLst>
</file>

<file path=ppt/tags/tag120.xml><?xml version="1.0" encoding="utf-8"?>
<p:tagLst xmlns:p="http://schemas.openxmlformats.org/presentationml/2006/main">
  <p:tag name="KSO_WM_DIAGRAM_VIRTUALLY_FRAME" val="{&quot;height&quot;:362.236220472441,&quot;left&quot;:44.98015748031494,&quot;top&quot;:129.2036220472441,&quot;width&quot;:568.5}"/>
</p:tagLst>
</file>

<file path=ppt/tags/tag121.xml><?xml version="1.0" encoding="utf-8"?>
<p:tagLst xmlns:p="http://schemas.openxmlformats.org/presentationml/2006/main">
  <p:tag name="KSO_WM_DIAGRAM_VIRTUALLY_FRAME" val="{&quot;height&quot;:362.236220472441,&quot;left&quot;:44.98015748031494,&quot;top&quot;:129.2036220472441,&quot;width&quot;:568.5}"/>
</p:tagLst>
</file>

<file path=ppt/tags/tag122.xml><?xml version="1.0" encoding="utf-8"?>
<p:tagLst xmlns:p="http://schemas.openxmlformats.org/presentationml/2006/main">
  <p:tag name="KSO_WM_DIAGRAM_VIRTUALLY_FRAME" val="{&quot;height&quot;:362.236220472441,&quot;left&quot;:44.98015748031494,&quot;top&quot;:129.2036220472441,&quot;width&quot;:568.5}"/>
</p:tagLst>
</file>

<file path=ppt/tags/tag123.xml><?xml version="1.0" encoding="utf-8"?>
<p:tagLst xmlns:p="http://schemas.openxmlformats.org/presentationml/2006/main">
  <p:tag name="KSO_WM_DIAGRAM_VIRTUALLY_FRAME" val="{&quot;height&quot;:362.236220472441,&quot;left&quot;:44.98015748031494,&quot;top&quot;:129.2036220472441,&quot;width&quot;:568.5}"/>
</p:tagLst>
</file>

<file path=ppt/tags/tag124.xml><?xml version="1.0" encoding="utf-8"?>
<p:tagLst xmlns:p="http://schemas.openxmlformats.org/presentationml/2006/main">
  <p:tag name="KSO_WM_DIAGRAM_VIRTUALLY_FRAME" val="{&quot;height&quot;:84,&quot;left&quot;:79.5,&quot;top&quot;:222.55,&quot;width&quot;:838.1}"/>
</p:tagLst>
</file>

<file path=ppt/tags/tag125.xml><?xml version="1.0" encoding="utf-8"?>
<p:tagLst xmlns:p="http://schemas.openxmlformats.org/presentationml/2006/main">
  <p:tag name="KSO_WM_DIAGRAM_VIRTUALLY_FRAME" val="{&quot;height&quot;:84,&quot;left&quot;:79.5,&quot;top&quot;:222.55,&quot;width&quot;:838.1}"/>
</p:tagLst>
</file>

<file path=ppt/tags/tag126.xml><?xml version="1.0" encoding="utf-8"?>
<p:tagLst xmlns:p="http://schemas.openxmlformats.org/presentationml/2006/main">
  <p:tag name="KSO_WM_DIAGRAM_VIRTUALLY_FRAME" val="{&quot;height&quot;:84,&quot;left&quot;:79.5,&quot;top&quot;:222.55,&quot;width&quot;:838.1}"/>
</p:tagLst>
</file>

<file path=ppt/tags/tag127.xml><?xml version="1.0" encoding="utf-8"?>
<p:tagLst xmlns:p="http://schemas.openxmlformats.org/presentationml/2006/main">
  <p:tag name="KSO_WM_DIAGRAM_VIRTUALLY_FRAME" val="{&quot;height&quot;:84,&quot;left&quot;:79.5,&quot;top&quot;:222.55,&quot;width&quot;:838.1}"/>
</p:tagLst>
</file>

<file path=ppt/tags/tag128.xml><?xml version="1.0" encoding="utf-8"?>
<p:tagLst xmlns:p="http://schemas.openxmlformats.org/presentationml/2006/main">
  <p:tag name="KSO_WM_DIAGRAM_VIRTUALLY_FRAME" val="{&quot;height&quot;:84,&quot;left&quot;:79.5,&quot;top&quot;:222.55,&quot;width&quot;:838.1}"/>
</p:tagLst>
</file>

<file path=ppt/tags/tag129.xml><?xml version="1.0" encoding="utf-8"?>
<p:tagLst xmlns:p="http://schemas.openxmlformats.org/presentationml/2006/main">
  <p:tag name="KSO_WM_DIAGRAM_VIRTUALLY_FRAME" val="{&quot;height&quot;:84,&quot;left&quot;:79.5,&quot;top&quot;:222.55,&quot;width&quot;:838.1}"/>
</p:tagLst>
</file>

<file path=ppt/tags/tag130.xml><?xml version="1.0" encoding="utf-8"?>
<p:tagLst xmlns:p="http://schemas.openxmlformats.org/presentationml/2006/main">
  <p:tag name="KSO_WM_DIAGRAM_VIRTUALLY_FRAME" val="{&quot;height&quot;:84,&quot;left&quot;:79.5,&quot;top&quot;:222.55,&quot;width&quot;:838.1}"/>
</p:tagLst>
</file>

<file path=ppt/tags/tag131.xml><?xml version="1.0" encoding="utf-8"?>
<p:tagLst xmlns:p="http://schemas.openxmlformats.org/presentationml/2006/main">
  <p:tag name="KSO_WM_DIAGRAM_VIRTUALLY_FRAME" val="{&quot;height&quot;:84,&quot;left&quot;:79.5,&quot;top&quot;:222.55,&quot;width&quot;:838.1}"/>
</p:tagLst>
</file>

<file path=ppt/tags/tag132.xml><?xml version="1.0" encoding="utf-8"?>
<p:tagLst xmlns:p="http://schemas.openxmlformats.org/presentationml/2006/main">
  <p:tag name="KSO_WM_DIAGRAM_VIRTUALLY_FRAME" val="{&quot;height&quot;:84,&quot;left&quot;:79.5,&quot;top&quot;:222.55,&quot;width&quot;:838.1}"/>
</p:tagLst>
</file>

<file path=ppt/tags/tag133.xml><?xml version="1.0" encoding="utf-8"?>
<p:tagLst xmlns:p="http://schemas.openxmlformats.org/presentationml/2006/main">
  <p:tag name="KSO_WM_DIAGRAM_VIRTUALLY_FRAME" val="{&quot;height&quot;:84,&quot;left&quot;:79.5,&quot;top&quot;:222.55,&quot;width&quot;:838.1}"/>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91903</Words>
  <Application>WPS 演示</Application>
  <PresentationFormat/>
  <Paragraphs>3249</Paragraphs>
  <Slides>184</Slides>
  <Notes>0</Notes>
  <HiddenSlides>0</HiddenSlides>
  <MMClips>0</MMClips>
  <ScaleCrop>false</ScaleCrop>
  <HeadingPairs>
    <vt:vector size="6" baseType="variant">
      <vt:variant>
        <vt:lpstr>已用的字体</vt:lpstr>
      </vt:variant>
      <vt:variant>
        <vt:i4>31</vt:i4>
      </vt:variant>
      <vt:variant>
        <vt:lpstr>主题</vt:lpstr>
      </vt:variant>
      <vt:variant>
        <vt:i4>2</vt:i4>
      </vt:variant>
      <vt:variant>
        <vt:lpstr>幻灯片标题</vt:lpstr>
      </vt:variant>
      <vt:variant>
        <vt:i4>184</vt:i4>
      </vt:variant>
    </vt:vector>
  </HeadingPairs>
  <TitlesOfParts>
    <vt:vector size="217"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MiSans</vt:lpstr>
      <vt:lpstr>Arial Unicode MS</vt:lpstr>
      <vt:lpstr>BatangChe</vt:lpstr>
      <vt:lpstr>Google Sans Text</vt:lpstr>
      <vt:lpstr>等线</vt:lpstr>
      <vt:lpstr>Google Sans</vt:lpstr>
      <vt:lpstr>Ebrima</vt:lpstr>
      <vt:lpstr>黑体</vt:lpstr>
      <vt:lpstr>文泉驿微米黑</vt:lpstr>
      <vt:lpstr>Calibri</vt:lpstr>
      <vt:lpstr>Wingdings 3</vt:lpstr>
      <vt:lpstr>Courier New Regular</vt:lpstr>
      <vt:lpstr>Courier New</vt:lpstr>
      <vt:lpstr>Consolas</vt:lpstr>
      <vt:lpstr>Arial Black</vt:lpstr>
      <vt:lpstr>quote-cjk-patch</vt:lpstr>
      <vt:lpstr>Arial Bold</vt:lpstr>
      <vt:lpstr>Times New Roman Regular</vt:lpstr>
      <vt:lpstr>Times New Roman</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6</cp:revision>
  <dcterms:created xsi:type="dcterms:W3CDTF">2026-04-12T13:45:00Z</dcterms:created>
  <dcterms:modified xsi:type="dcterms:W3CDTF">2026-05-06T08:01:14Z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51CABADE6CC54961A8BEDA868F7447F0_12</vt:lpwstr>
  </property>
  <property fmtid="{D5CDD505-2E9C-101B-9397-08002B2CF9AE}" pid="3" name="KSOProductBuildVer">
    <vt:lpwstr>2052-12.1.0.21915</vt:lpwstr>
  </property>
</Properties>
</file>