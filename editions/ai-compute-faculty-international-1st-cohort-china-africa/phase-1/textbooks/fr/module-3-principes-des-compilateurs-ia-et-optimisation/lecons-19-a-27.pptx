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handoutMasterIdLst>
    <p:handoutMasterId r:id="rId159"/>
  </p:handoutMasterIdLst>
  <p:sldIdLst>
    <p:sldId id="256" r:id="rId4"/>
    <p:sldId id="454" r:id="rId6"/>
    <p:sldId id="455" r:id="rId7"/>
    <p:sldId id="456" r:id="rId8"/>
    <p:sldId id="457" r:id="rId9"/>
    <p:sldId id="458" r:id="rId10"/>
    <p:sldId id="459" r:id="rId11"/>
    <p:sldId id="460" r:id="rId12"/>
    <p:sldId id="461" r:id="rId13"/>
    <p:sldId id="462" r:id="rId14"/>
    <p:sldId id="463" r:id="rId15"/>
    <p:sldId id="464" r:id="rId16"/>
    <p:sldId id="465" r:id="rId17"/>
    <p:sldId id="466" r:id="rId18"/>
    <p:sldId id="467" r:id="rId19"/>
    <p:sldId id="468" r:id="rId20"/>
    <p:sldId id="469" r:id="rId21"/>
    <p:sldId id="470" r:id="rId22"/>
    <p:sldId id="471" r:id="rId23"/>
    <p:sldId id="472" r:id="rId24"/>
    <p:sldId id="473" r:id="rId25"/>
    <p:sldId id="480" r:id="rId26"/>
    <p:sldId id="481" r:id="rId27"/>
    <p:sldId id="482" r:id="rId28"/>
    <p:sldId id="483" r:id="rId29"/>
    <p:sldId id="484" r:id="rId30"/>
    <p:sldId id="485" r:id="rId31"/>
    <p:sldId id="486" r:id="rId32"/>
    <p:sldId id="487" r:id="rId33"/>
    <p:sldId id="488" r:id="rId34"/>
    <p:sldId id="489" r:id="rId35"/>
    <p:sldId id="490" r:id="rId36"/>
    <p:sldId id="491" r:id="rId37"/>
    <p:sldId id="492" r:id="rId38"/>
    <p:sldId id="493" r:id="rId39"/>
    <p:sldId id="494" r:id="rId40"/>
    <p:sldId id="495" r:id="rId41"/>
    <p:sldId id="496" r:id="rId42"/>
    <p:sldId id="497" r:id="rId43"/>
    <p:sldId id="502" r:id="rId44"/>
    <p:sldId id="503" r:id="rId45"/>
    <p:sldId id="504" r:id="rId46"/>
    <p:sldId id="505" r:id="rId47"/>
    <p:sldId id="506" r:id="rId48"/>
    <p:sldId id="507" r:id="rId49"/>
    <p:sldId id="508" r:id="rId50"/>
    <p:sldId id="509" r:id="rId51"/>
    <p:sldId id="510" r:id="rId52"/>
    <p:sldId id="511" r:id="rId53"/>
    <p:sldId id="512" r:id="rId54"/>
    <p:sldId id="513" r:id="rId55"/>
    <p:sldId id="514" r:id="rId56"/>
    <p:sldId id="515" r:id="rId57"/>
    <p:sldId id="516" r:id="rId58"/>
    <p:sldId id="517" r:id="rId59"/>
    <p:sldId id="518" r:id="rId60"/>
    <p:sldId id="519" r:id="rId61"/>
    <p:sldId id="520" r:id="rId62"/>
    <p:sldId id="525" r:id="rId63"/>
    <p:sldId id="526" r:id="rId64"/>
    <p:sldId id="527" r:id="rId65"/>
    <p:sldId id="528" r:id="rId66"/>
    <p:sldId id="529" r:id="rId67"/>
    <p:sldId id="530" r:id="rId68"/>
    <p:sldId id="531" r:id="rId69"/>
    <p:sldId id="532" r:id="rId70"/>
    <p:sldId id="533" r:id="rId71"/>
    <p:sldId id="534" r:id="rId72"/>
    <p:sldId id="535" r:id="rId73"/>
    <p:sldId id="536" r:id="rId74"/>
    <p:sldId id="541" r:id="rId75"/>
    <p:sldId id="542" r:id="rId76"/>
    <p:sldId id="543" r:id="rId77"/>
    <p:sldId id="544" r:id="rId78"/>
    <p:sldId id="545" r:id="rId79"/>
    <p:sldId id="546" r:id="rId80"/>
    <p:sldId id="547" r:id="rId81"/>
    <p:sldId id="548" r:id="rId82"/>
    <p:sldId id="549" r:id="rId83"/>
    <p:sldId id="550" r:id="rId84"/>
    <p:sldId id="551" r:id="rId85"/>
    <p:sldId id="552" r:id="rId86"/>
    <p:sldId id="553" r:id="rId87"/>
    <p:sldId id="554" r:id="rId88"/>
    <p:sldId id="555" r:id="rId89"/>
    <p:sldId id="556" r:id="rId90"/>
    <p:sldId id="557" r:id="rId91"/>
    <p:sldId id="558" r:id="rId92"/>
    <p:sldId id="564" r:id="rId93"/>
    <p:sldId id="565" r:id="rId94"/>
    <p:sldId id="566" r:id="rId95"/>
    <p:sldId id="567" r:id="rId96"/>
    <p:sldId id="568" r:id="rId97"/>
    <p:sldId id="569" r:id="rId98"/>
    <p:sldId id="570" r:id="rId99"/>
    <p:sldId id="571" r:id="rId100"/>
    <p:sldId id="572" r:id="rId101"/>
    <p:sldId id="573" r:id="rId102"/>
    <p:sldId id="574" r:id="rId103"/>
    <p:sldId id="575" r:id="rId104"/>
    <p:sldId id="576" r:id="rId105"/>
    <p:sldId id="577" r:id="rId106"/>
    <p:sldId id="578" r:id="rId107"/>
    <p:sldId id="579" r:id="rId108"/>
    <p:sldId id="580" r:id="rId109"/>
    <p:sldId id="581" r:id="rId110"/>
    <p:sldId id="855" r:id="rId111"/>
    <p:sldId id="856" r:id="rId112"/>
    <p:sldId id="857" r:id="rId113"/>
    <p:sldId id="858" r:id="rId114"/>
    <p:sldId id="859" r:id="rId115"/>
    <p:sldId id="860" r:id="rId116"/>
    <p:sldId id="861" r:id="rId117"/>
    <p:sldId id="862" r:id="rId118"/>
    <p:sldId id="863" r:id="rId119"/>
    <p:sldId id="864" r:id="rId120"/>
    <p:sldId id="865" r:id="rId121"/>
    <p:sldId id="866" r:id="rId122"/>
    <p:sldId id="867" r:id="rId123"/>
    <p:sldId id="868" r:id="rId124"/>
    <p:sldId id="869" r:id="rId125"/>
    <p:sldId id="870" r:id="rId126"/>
    <p:sldId id="871" r:id="rId127"/>
    <p:sldId id="872" r:id="rId128"/>
    <p:sldId id="873" r:id="rId129"/>
    <p:sldId id="874" r:id="rId130"/>
    <p:sldId id="875" r:id="rId131"/>
    <p:sldId id="876" r:id="rId132"/>
    <p:sldId id="877" r:id="rId133"/>
    <p:sldId id="878" r:id="rId134"/>
    <p:sldId id="879" r:id="rId135"/>
    <p:sldId id="880" r:id="rId136"/>
    <p:sldId id="881" r:id="rId137"/>
    <p:sldId id="882" r:id="rId138"/>
    <p:sldId id="883" r:id="rId139"/>
    <p:sldId id="884" r:id="rId140"/>
    <p:sldId id="885" r:id="rId141"/>
    <p:sldId id="886" r:id="rId142"/>
    <p:sldId id="887" r:id="rId143"/>
    <p:sldId id="888" r:id="rId144"/>
    <p:sldId id="889" r:id="rId145"/>
    <p:sldId id="890" r:id="rId146"/>
    <p:sldId id="891" r:id="rId147"/>
    <p:sldId id="892" r:id="rId148"/>
    <p:sldId id="893" r:id="rId149"/>
    <p:sldId id="894" r:id="rId150"/>
    <p:sldId id="895" r:id="rId151"/>
    <p:sldId id="896" r:id="rId152"/>
    <p:sldId id="897" r:id="rId153"/>
    <p:sldId id="898" r:id="rId154"/>
    <p:sldId id="899" r:id="rId155"/>
    <p:sldId id="583" r:id="rId156"/>
    <p:sldId id="584" r:id="rId157"/>
    <p:sldId id="585" r:id="rId15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04"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8" d="100"/>
          <a:sy n="88" d="100"/>
        </p:scale>
        <p:origin x="72" y="120"/>
      </p:cViewPr>
      <p:guideLst>
        <p:guide orient="horz" pos="160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handoutMaster" Target="handoutMasters/handoutMaster1.xml"/><Relationship Id="rId160" Type="http://schemas.openxmlformats.org/officeDocument/2006/relationships/presProps" Target="presProps.xml"/><Relationship Id="rId161" Type="http://schemas.openxmlformats.org/officeDocument/2006/relationships/viewProps" Target="viewProps.xml"/><Relationship Id="rId16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Le thème central de ce cours est la vue d'ensemble du compilateur AI. Nous allons comprendre systématiquement comment le compilateur AI établit un pont de performance efficace entre le matériel de calcul hétérogène sous-jacent et les frameworks d'apprentissage profond au niveau supérieur.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Nous allons d'abord aborder la première partie de notre exploration, en analysant pourquoi les systèmes d'apprentissage profond modernes ont un besoin urgent d'introduire la technologie de compilation AI. Actuellement, le développement des systèmes d'apprentissage profond fait face à trois crises fondamentales. La première est la crise du mur mémoire : la puissance de calcul matériel augmente de façon exponentielle mais la bande passante d'accès mémoire reste limitée. La deuxième est le problème de l'explosion des opérateurs : le nombre d'opérateurs optimisés manuellement par les fabricants de matériel dans les frameworks croît de façon exponentielle, difficile à maintenir. La troisième est le dilemme entre les graphes dynamiques traditionnels à coût élevé et les graphes statiques peu flexibles. Au cours des vingt dernières années, la puissance de calcul de pointe des serveurs a triplé tous les deux ans, mais la bande passante mémoire n'a augmenté que de 1,6 fois, créant une crise grave du mur mémoire. Lors du traitement des grands modèles de langage, en raison de l'intensité arithmétique extrêmement faible, les vastes cœurs tensoriels GPU se retrouvent souvent en état de famine et de sous-utilisation, attendant les données. La seule issue est l'ordonnancement au niveau du compilateur pour fusionner les lectures et écritures mémoire multiples.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r>
              <a:t>Outre le goulot d'étranglement de la mémoire, nous sommes également confrontés au défi de l'explosion des opérateurs. Prenant comme exemple les frameworks principaux, les opérateurs intégrés avec diverses surcharges atteignent des milliers de variantes, rendant l'optimisation manuelle extêmement difficile.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modes d'exécution traditionnels de l'apprentissage profond ont toujours eu du mal à trouver un équilibre entre flexibilité et performance. Le mode graphe dynamique est extrêmement flexible et pratique pour le débogage, mais chaque appel d'opérateur doit supporter la lourde surcharge de l'interpréteur Python, et le framework ne voit qu'un seul opérateur à la fois, perdant complètement la capacité d'optimisation globale du graphe. Le graphe statique, bien que performant, exige des utilisateurs de sacriger le flux de contrôle natif, et face aux formes dynamiques, il déclenche facilement des recompilations répétées, annulant sérieusement les gains des optimisations de bas 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Alors que les paramètres des grands modèles dépassent le niveau des billions, la contradiction centrale de l'informatique a évolué de la conception purement algorithmique vers l'immense fossé entre les limites physiques du matériel et l'abstraction des frameworks logiciels. Le mur mémoire, l'explosion des opérateurs et le dilemme des modes d'exécution s'entrelacent. Dans ce contexte, les compilateurs AI ont connu une montée en puissance, se transformant en une infrastructure centrale de bas niveau maîtrisant la capture du graphe de calcul, l'ordonnancement matériel et la génération de code machine.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Nous entrons maintenant dans la deuxième partie, où nous analysons en profondeur le compilateur AI très représentatif TensorFlow XLA. La philosophie de conception de XLA repose sur une abstraction de graphe de haut niveau pour atteindre des performances et une portabilité extrêmes. Son atout majeur est la technologie de fusion agressive d'opérateurs, capable de fusionner plusieurs instructions en un seul noyau GPU, permettant ainsi aux résultats intermédiaires de transiter uniquement via les registres ou la mémoire partagée, évitant ainsi complètement les lectures et écritures répétées de la mémoire vidéo. Avant d'approfondir XLA, nous revoyons brièvement l'architecture de base de TensorFlow. Il offre des interfaces multilingues, avec un runtime C++ sous-jacent contenant des optimiseurs de graphe, des exécuteurs et divers noyaux de calcul implémentés pour différents types de données et appareils. Ce système robuste jette les bases pour l'intégration ultérieure d'optimisations approfondies par des compilateurs de bas 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L'objectif central du compilateur XLA est de cibler diverses plates-formes matérielles d'accélération, en mettant en œuvre une fusion de graphe matériel de bas niveau de niveau extrême sur des graphes de calcul statiques à structure hautement régulière. Il vise à fournir un support backend haute performance unifié pour plusieurs frameworks frontend. Son objectif de conception fondamental est de s'affranchir des contraintes de la syntaxe frontend, tout en réalisant la fidélité sémantique mathématique et une optimisation approfondie globale.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XLA adopte une architecture de représentation intermédiaire multi-niveau classique, également appelée architecture IR multi-niveau. Le graphe de calcul descend progressivement de la couche de protocole multiplateforme vers la représentation interne de l'optimiseur de haut niveau, pour finalement générer le code machine de bas niveau. Durant ce processus, le compilateur effectue des simplifications algébriques, des éliminations de code mort et d'autres optimisations de haut niveau. Il utilise également un mécanisme de recalcul actif pour échanger du temps de calcul contre un précieux espace mémoire vidéo, réduisant ainsi considérablement la consommation de mémoire vidéo des grands modèles.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fusion d'opérateurs est le moyen d'optimisation clé de XLA pour franchir le mur mémoire. XLA peut regrouper et fusionner plusieurs instructions de haut niveau, et finalement ne compiler qu'un seul noyau GPU de bas niveau, réduisant considérablement les frais de lancement du noyau. Dans le corps de calcul fusionné, les tenseurs intermédiaires temporaires n'ont plus besoin d'être réécrits dans la mémoire à large bande passante hors puce. Les données ne complètent leur transfert que dans les registres extrêmement rapides à l'intérieur du GPU, contournant habilement et efficacement le goulot d'étranglement d'accès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L'analyse de fusion de XLA comprend plusieurs modes classiques. La fusion en boucle fusionne specifiquement en chaine les operations element par element dont les formes de sortie sont identiques. La fusion d'entree permet aux operateurs de reduction modifiant la forme des donnees de fusionner leurs entrees vers le haut. La fusion de sortie est specialement concue pour fusionner les multiplications matricielles a haute densite avec leurs operateurs suivants, maximisant l'utilisation du cache a haute vitesse. Dans la phase finale de generation de code, le compilateur selectionne les instructions cles ayant le plus grand impact sur les performances globales, alloue les ressources pour executer l'ordonnancement du pipeline et le deroulement de vectorisation, generant un code de bas niveau extremement optimise.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graphique montre le changement de la chaîne d'exécution après l'activation de XLA. Lorsque le graphe de calcul tensoriel original atteint certains nœuds spécifiques, au lieu d'appeler directement les noyaux d'opérateurs standard prédéfinis, cette partie du sous-graphe est emballée dans son ensemble et envoyée au compilateur XLA pour une compilation juste-à-temps, obtenant ainsi lors de l'exécution un fichier d'exécution matériel de bas niveau plus efficace après fusion.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Ceci est un exemple intuitif d'optimisation de graphe de calcul, montrant le processus d'optimisation lors de l'utilisation du compilateur XLA pour les modèles classiques sur GPU Volta. Nous pouvons clairement voir comment la simplification algébrique, le repliement de constantes et la fusion complexe d'opérateurs progressent couche par couche dans un réseau de nœuds complexe, simplifiant la logique de calcul.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Nous abordons maintenant la troisième partie, pour découvrir un autre système emblématique : Apache TVM et ses mécanismes d'optimisation de la pile complète et d'ordonnancement par apprentissage automatique. TVM adopte également une architecture IR multi-niveaux pour traiter l'optimisation de graphes de haut niveau et le mappage d'instructions de bas niveau. L'innovation majeure de TVM est d'avoir révolutionné l'ordonnancement automatisé, en utilisant des modèles de coût par apprentissage automatique pour rechercher automatiquement, dans un vaste espace de recherche hiérarchisé, les stratégies d'ordonnancement optimales pour un matériel spécifique. La mission centrale de TVM est de faire face à la fragmentation extrêmement sévère du matériel multiplateforme. Contrairement à XLA qui privilégie les grands clusters cloud, TVM s'efforce de gommer totalement les barrières architecturales entre les processeurs centraux et les diverses unités de traitement périphériques hétérogènes. Il fournit un compilateur frontal unifié, permettant d'écrire une fois et d'exécuter partout grâce à la génération de code machine spécialisé. Le problème central qu'il doit résoudre est le nombre quasi infini de combinaisons de tuilage de boucles et de stratégies parallèles au niveau inférieur, conduisant au défi computationnel NP-difficile.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l'architecture IR multi-niveaux de TVM, la représentation de haut niveau intègre les concepts de programmation fonctionnelle et gère l'optimisation des graphes de flux de contrôle à granularité grossière. La représentation de bas niveau abandonne le concept de couches graphiques, transformant les opérations en structures de boucles imbriquées microscopiques pour un contrôle fin du mappage des instructions. La nouvelle génération de l'architecture TVM introduit des formes symboliques, permettant la coexistence mixte de la dérivation de haut niveau et des primitives de bas niveau, atteignant ainsi une optimisation conjointe inter-niveaux extrêmement puissante.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L'ordonnancement automatisé précoce dépendait fortement des meilleurs experts matériels pour écrire manuellement des modèles d'ordonnancement, avec des coûts de développement extrêmement élevés face à des opérateurs nouveaux non définis. La nouvelle génération d'architecture d'ordonnancement automatisé a complètement abandonné les modèles manuels : elle génère automatiquement les architectures de boucles des opérateurs directement à partir des règles de dérivation d'expressions mathématiques de base, libérant considérablement les capacités de généralisation et d'adaptation du compilateur.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L'essence de la planification automatique réside dans la construction d'un espace de recherche hiérarchique. Le compilateur génère d'abord le squelette macroscopique du programme en parcourant inversement le graphe de calcul. Ensuite, il effectue un échantillonnage aléatoire sur la base de l'esquisse pour déterminer les configurations de bas niveau, telles que la taille de pavage et les limites de déroulage de boucle. Pour évaluer rapidement les performances, un modèle de coût basé sur l'apprentissage automatique est introduit pour prédire le débit matériel. Enfin, un algorithme de recherche évolutive est adopté pour effectuer des tests de vitesse sur le matériel réel et affiner le modèle en boucle fermée, approchant ainsi progressivement les limites de performance.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Dans cet exemple de code spécifique, nous pouvons voir intuitivement comment les expressions mathématiques sont transformées étape par étape par le compilateur en différentes versions de programmes échantillonnés. Grâce à des transformations de boucle multidimensionnelles et à des mappages de vectorisation, le compilateur génère un grand nombre de variantes de code avec des comportements bas niveau différents, fournissant des échantillons candidats extrêmement riches pour les tests de performance réels et le réglage intelligent ultérieurs.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cette dernière partie, nous allons présenter TorchDynamo, qui a récemment révolutionné le domaine. Contrairement aux solutions précédentes, il n'abandonne pas la syntaxe native Python, mais exploite habilement l'interface d'évaluation de trame sous-jacente pour intercepter et modifier dynamiquement le bytecode avant son exécution. Il extrait des graphes de calcul purs par suivi dynamique, insère des gardiens de sécurité, et revient élégamment à l'interpréteur natif lorsqu'il rencontre du code impossible à tracer, combinant parfaitement performance d'exécution et flexibilité de programmation. Le mécanisme de graphe dynamique initial de l'apprentissage profond était flexible et pratique mais ne permettait pas l'optimisation au niveau du graphe, tandis que les solutions statiques ultérieures échouaient souvent car elles ne prenaient pas en charge la sémantique Python complète. TorchDynamo est né pour briser cette impasse. En tant que compilateur JIT au niveau Python, son objectif ultime est de réaliser une extraction et une compilation efficaces de graphes de programmes sans sacrifier aucune flexibilité de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À travers cet exemple de code sur cette diapositive, nous pouvons clairement voir le fonctionnement remarquable de TorchDynamo. Des fonctions Python ordinaires, même contenant des branches conditionnelles, après traitement par le compilateur, peuvent précisément isoler les parties impliquant des opérations sur les tenseurs et les extraire parfaitement sous forme de structure de graphe de calcul standardisée, déchargeant ainsi la charge de calcul la plus lourde vers le moteur backend.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L'essence technique de TorchDynamo réside dans sa pénétration au plus profond de la machine virtuelle CPython, en utilisant l'interface d'évaluation de trame introduite par le point d'extension officiel. Au moment de créer une trame d'exécution, il remplace dynamiquement la boucle d'interpréteur par défaut et effectue une compilation et une analyse JIT sur le bytecode Python sur le point d'être exécuté, extrayant de manière très naturelle les séquences d'opérations sur les tenseurs en graphes de logique de calcul vraiment désirés par le compilateur backend.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est la vingtième séance, consacrée à la représentation intermédiaire, c'est-à-dire les fondamentaux de l'IR. Nous allons détailler comment elle fait le pont entre les frameworks supérieurs et le matériel sous-jacent.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Tout d'abord, nous entamons la première partie, en explorant en profondeur les objectifs de conception centraux de la représentation intermédiaire dans la pile système moderne. Veuillez regarder ce diagramme classique de l'architecture du compilateur LLVM. Les compilateurs traditionnels sont généralement divisés en frontend, optimiseur middle-end et backend. Le frontend est responsable de l'analyse lexicale et syntaxique, convertissant le code en IR unifié. Le middle-end exécute des optimisations générales indépendantes du matériel au niveau IR. Enfin, le backend procède à la sélection d'instructions et à l'allocation de registres, générant le code machine pour une architecture spécifique.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Voici une vue d'ensemble panoramique de l'infrastructure logicielle pour grands modèles. Du point de vue du cycle de vie du système, le cadre logicielle soutient fermement des scénarios commerciaux clés tels que les services, le développement, le pré-entraînement et le post-entraînement. Cela inclut non seulement les cadres de programmation fondamentaux bien connus comme PyTorch et TensorFlow, mais rassemble également de nombreuses innovations au niveau système pour l'entraînement et l'inférence des grands modèles. Par exemple, Megatron avec son optimisation extrême du parallélisme tensoriel et du parallélisme de pipeline, le mécanisme d'attention paginée et la technologie de cache de préfixe introduits par vLLM qui améliorent considérablement le débit des systèmes d'inférence, ainsi que OpenRLHF avec sa personnalisation et son optimisation approfondies du flux de données et du contrôleur lors de la phase de fine-tuning par apprentissage par renforcement. Ces cadres constituent ensemble une pile logicielle de système de grands modèles prospère et complexe.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mieux clarifier les enjeux, nous clarifions davantage les concepts clés de l'infrastructure logicielle pour grands modèles. Ce domaine de pointe couvre trois dimensions principales : l'architecture de calcul fondamentale, la conception d'algorithmes de niveau supérieur et l'ingénierie des systèmes. Dans la conception de systèmes, nous devons porter une grande attention à l'automatisation de la compilation, au niveau d'abstraction des interfaces et à la portabilité des modèles entre différents backends matériels. En ce qui concerne les modèles de programmation, l'industrie cherche constamment un équilibre optimal entre la facilité d'utilisation des graphes dynamiques et la performance extrême des graphes statiques. Parallèlement, toutes les optimisations système de bas niveau s'efforcent de franchir les trois grandes barrières physiques : le calcul, la mémoire et la communication réseau. Lors de la phase d'inférence des modèles, gérer la dynamique à l'exécution est essentiel pour l'optimisation du système. Quant au post-entraînement, les divers algorithmes d'alignement comme l'optimisation de politique proximale posent de nouveaux défis en termes de flexibilité et d'efficacité computationnelle pour les cadres logiciels.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Nous poursuivons notre exploration des facteurs de contrainte matérielle derrière les concepts clés. Ces graphiques de tendances classiques permettent de ressentir intuitivement l'évolution critique des goulots d'étranglement de performance du système. Les graphiques montrent clairement les tendances historiques de croissance de la capacité de calcul maximale du matériel et de la bande passante mémoire. Nous pouvons observer de manière extrêmement évidente que la vitesse de croissance de la capacité de traitement a laissé loin derrière la bande passante mémoire : c'est le problème bien connu du mur mémoire qui entrave gravement les performances des modèles d'apprentissage profond. En particulier avec l'augmentation explosive du nombre de paramètres des modèles Transformer et de la longueur des contextes, la pression sur la mémoire vidéo due au cache clé-valeur durant l'inférence devient extrêmement importante. Par conséquent, nous avons besoin d'exploiter en profondeur des techniques avancées d'optimisation de compilation comme la fusion d'opérateurs et la planification mémoire, afin d'atténuer la pression sur la bande passante mémoire et d'améliorer considérablement le taux d'utilisation réel du 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calcul en apprentissage profond est fondamentalement différent, piloté par le graphe de flux de données, ou DFG. Ici, nous avons complètement abandonné la contrainte d'ordre temporel des numéros de ligne de code. Les nœuds ne sont plus des blocs de base, mais des primitives d'opérations mathématiques pures. Les arêtes représentent les dépendances mathématiques pures et le cycle de vie des tenseurs multidimensionnels entre les nœuds d'opération. Dès que les données d'entrée en amont sont prêtes, le nœud est immédiatement déclenché, ce qui expose naturellement les opportunités maximales de parallélisation à granularité fine.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Resumeons les differences fondamentales entre les deux. Le CFG modelise principalement l'ordre d'execution du programme et les branches logiques, limitee par l'ordre strict d'execution des instructions, avec un potentiel de parallelisation tres faible, principalement utilise pour les logiciels generaux et les noyaux de systemes d'exploitation. En revanche, le DFG se concentre sur la transmission des valeurs de donnees et les dependances de calcul, avec pour condition de declenchement la disponibilite des donnees, exposant naturellement le potentiel maximal de parallelisation au niveau des operateurs voire des instructions, ce qui en fait le choix absolu pour l'apprentissage profond et le calcul tensoriel.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Apres avoir compris les structures de graphes, nous entrons dans la troisieme partie, explorant une technologie cle pour construire un IR avance, a savoir la forme d'assignation unique statique, ou SSA. Dans le code traditionnel, la reassignation repetitive des variables est la norme, ce qui rend difficile pour le compilateur de tracer la source reelle des variables. Pour resoudre ce probleme, la forme SSA impose que chaque variable du programme ne puisse etre assignee qu'une seule fois durant tout son cycle de vie. Si une variable est assignee plusieurs fois dans le code original, le compilateur genere automatiquement plusieurs nouvelles versions avec des indices croissants. Cela rend le code absolument clair et transparent sur le plan mathematique.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Mais que faire lorsqu'on rencontre une convergence de branches de contrôle conditionnel ? Pour résoudre le conflit logique de savoir quelle version de variable utiliser, SSA introduit habilement la fonction Phi. Le compilateur insère une instruction virtuelle au point de convergence. La fonction Phi agit comme un multiplexeur matériel. À l'exécution, elle sélectionne dynamiquement la variable source correcte en fonction du flux de contrôle réel, et assigne la valeur à une nouvelle version de variable, respectant ainsi la règle d'assignation unique.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plus grand avantage de l'introduction de SSA est d'avoir complètement clarifié les chaînes de définition et d'utilisation. En mode traditionnel, pour trouver toutes les sources possibles d'une variable, le compilateur doit exécuter une analyse complexe de vecteurs binaires, avec une complexité temporelle et spatiale atteignant N au carré. Alors que dans SSA, pour toute utilisation d'une variable, sa définition source correspondante est absolument unique et déterminée. Chaque point de définition peut directement maintenir une liste pointant vers tous les points d'utilisation, ramenant la complexité de l'analyse de flux de données à un N linéaire.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Grace à des chaînes de dépendance extrêmement claires, le compilateur peut facilement exécuter le repliement de constantes. Lorsqu'il découvre que certaines expressions peuvent être déterminées à la compilation, il calcule directement la constante. Ensuite, en suivant la chaîne de faible complexité fournie par SSA, le compilateur peut propager rapidement cette constante vers tous les nœuds du graphe global qui dépendent de cette variable et effectuer des remplacements. Cela non seulement réduit considérablement les calculs à l'exécution, mais peut aussi simplifier davantage le flux de contrôle.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L'elimination du code mort est egalement une technique efficace. Son objectif est d'eliminer les instructions redondantes dont les resultats de calcul n'ont jamais d'impact substantiel sur la sortie finale du programme. Dans une structure de graphe SSA, si le compilateur decouvre que la chaine d'utilisation d'une variable est vide, cela signifie que c'est du code mort, et il peut etre supprime directement. Plus impressionnant encore, la suppression de ce noeud entraine egalement la nullite de la chaine d'utilisation des variables en amont, et le marquage du code mort se propage instantanement a rebours le long du graphe, produisant un effet d'elimination en cascade extremement efficace.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Apres avoir maitrise les theories fondamentales, nous passerons a la partie experimentale et applicative pour voir comment exporter des graphes de calcul via des frameworks grand public et mettre en oeuvre des optimisations. Le prerequis fondamental de l'optimisation du graphe de calcul est de ne jamais modifier l'equivalence mathematique du modele. Sur cette base, notre objectif principal est d'ameliorer l'efficacite d'execution materielle, de reduire l'occupation de la memoire video et de diminuer les couts de lancement du noyau. Du point de vue de l'implementation technique, l'optimisation est generalement divisee en trois dimensions macroscopiques : l'optimisation au niveau noeud qui examine isolement chaque noeud individuel, l'optimisation au niveau bloc qui analyse les sequences adjacentes, et l'optimisation au niveau flux de donnees/graphe qui embrasse la topologie globale.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Vous pouvez observer attentivement cette vue d'ensemble. Elle illustre l'etat du graphe de calcul lors de l'execution du modele sous architecture GPU. Le graphique est densiment parseme de noeuds indiquant l'elimination des sous-expressions communes, la fusion d'operateurs et le repliement des constantes, montrant l'effet combine de plusieurs techniques d'optimisation du graphe dans des scenarios reels. C'est precisement la manifestation intuitive de la puissance du cours median des compilateurs AI.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Decomposons couche par couche. Les optimisations au niveau des noeuds comprennent principalement l'elimination des operations vides, c'est-a-dire la suppression des operations vides redondantes, ainsi que l'elimination securisee des calculs invalides sur les tenseurs de dimension zero. Dans les optimisations au niveau des blocs, la simplification algebrique est cruciale. Le compilateur utilise les regles mathematiques comme la commutativite, l'associativite et la distributivite pour remplacer les sequences de noeuds locales complexes par des formes equivalents a moindre cout de calcul, tout en nettoyant la structure du graphe grace au pliage des constantes.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Une autre technologie cle dans les optimisations au niveau des blocs est la fusion d'operateurs. Chaque petit operateur isole doit lire et ecrire independamment depuis la memoire globale, ce qui provoque un goulot d'etranglement serieux de la bande passante memoire et une latence de lancement du noyau. Nous pouvons utiliser la fusion verticale pour fusionner les operations ayant une dependance sequentielle en un seul noyau, permettant aux donnees de circuler directement dans les registres a grande vitesse. Simultanement, grace a la fusion horizontale, nous regroupons les operateurs paralleles independants pour execution, ameliorant ainsi considerablement le taux d'utilisation des unites de calcul materielles de bas niveau.</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la phase d'optimisation au niveau du graphe avec une perspective globale, l'accent est mis sur le remodelage de la structure du flux de donnees. Cela comprend l'elimination des sous-expressions communes, qui consiste a identifier les sous-structures identiques calculees plusieurs fois et a les remplacer par une reference a une sortie unique pour economiser la puissance de calcul. Il existe egalement l'elimination du code mort et la technique de descente d'operateur, qui retardent les operations de transformation de dimension comme la transposition le long du flux de donnees, afin de les fusionner avec les operations de transformation suivantes et d'eliminer les transferts de memoire sans signification.</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Dans cette page, nous nous concentrons sur les defis d'optimisation du materiel sous-jacent. Nous presenterons les backends de compilation pour des architectures materielles specifiques.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thème central de cette vingt-et-unième leçon est l'analyse approfondie de l'architecture MLIR. Dans les cours précédents, nous avons appris les mécanismes d'interaction entre les compilateurs IA et le matériel sous-jacent. Aujourd'hui, nous allons explorer en profondeur comment MLIR résout les limitations fondamentales des compilateurs traditionnels face aux charges de calcul IA complexes grâce à des représentations intermédiaires multi-niveaux.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Tout d'abord, passons à la première partie pour comprendre comment MLIR surpasse les limitations de l'architecture LLVM traditionnelle. Face aux frameworks d'apprentissage profond de haut niveau, le LLVM traditionnel, en réduisant directement les graphes de calcul au niveau du langage C avec opérations vectorielles, entraîne une perte totale de la sémantique des boucles de haut niveau et des tenseurs multidimensionnels, ce qui rend l'optimisation approfondie des graphes extrêmement difficile. La philosophie architecturale de MLIR consiste à définir un noyau extrêmement simplifié, comprenant des modules, des régions, des blocs de base, des opérations et des attributs. Tout le reste est personnalisable. Jetons un regard spécifique sur les limitations de la représentation intermédiaire LLVM. Du point de vue de la conception, son niveau sémantique est globalement équivalent au langage C avec opérations vectorielles. Son modèle de mémoire prédéfini est plat et linéaire, opérant principalement sur des scalaires, des pointeurs mémoire et des registres vectoriels unidimensionnels. Or, l'essence des graphes de calcul d'apprentissage profond est l'algèbre tensorielle multidimensionnelle de haute dimension et les boucles imbriquées profondes ; il existe un fossé sémantique considérable entre les deux. Lorsque les frameworks de haut niveau sont transposés directement vers la représentation intermédiaire LLVM, les tenseurs multidimensionnels sont forcés d'être aplatis en pointeurs mémoire unidimensionnels, et les structures d'arbres de boucles de haut niveau sont également détruites, forcées de se convertir en un graphe de flux de contrôle plat implicite et des sauts de branchement conditionnels.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resoudre ces problemes, MLIR a ete cree. Il s'agit de l'abreviation anglaise de Multi-Level Intermediate Representation, un cadre de compilation open source reutilisable et extensible. MLIR est principalement utilise pour traiter la fragmentation des piles logicielles, fournir un support solide pour la compilation ciblee vers le materiel heterogene, tout en reduisant les couts de developpement des compilateurs specialises par domaine, et permet de connecter de maniere transparente les differents compilateurs existants. Il peut resoudre les problemes car il realise une syntaxe unifiee et une reutilisation des composants, partage l'ecosysteme de compilation pour permettre une optimisation coordonnee entre les differents niveaux, et l'ecart d'abstraction entre les niveaux est reduit, facilitant l'implementation sur le materiel sous-jacent.</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Ensuite, nous decomposons les composants principaux de MLIR. D'abord le module, qui est le conteneur de niveau superieur encapsulant l'unite de compilation entiere, principalement utilise pour isoler la portee des variables externes. Ensuite la region, qui est la conception centrale depassant les limitations du graphe de flux de controle plat, permettant de traiter les boucles profondement imbriquees comme des citoyens de premiere classe preservees directement en structures imbriquees. Puis le bloc de base, ou MLIR introduit de maniere innovante les arguments de bloc de base, evitant les noeuds PHI traditionnels de LLVM aux couts de maintenance extremement eleves. Enfin, l'operation et l'attribut, ou MLIR fournit une API opaque hautement unifiee, ainsi qu'un dictionnaire d'attributs global unique pour representer les constantes.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Cette page presente le flux de compilation et d'execution d'un framework d'apprentissage profond base sur MLIR. Le modele est d'abord divise en code hote et code peripherique, generant ensuite des produits intermediaires comme des tampons de tuilage. Le code hote et peripherique genere finalement des programmes executables ou des bibliotheques, et est lie a la couche d'abstraction materielle. Le diagramme utilise le compilateur IREE en exemple, montrant clairement le chemin complet depuis l'importation des donnees tensorielles du framework frontal, en passant par l'analyse du graphe de flux et la distribution materielle, jusqu'a la generation de code cible pour differentes architectures de puces sous-jacentes par les compilateurs de differents niveaux.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Passons maintenant à la deuxième partie, où nous explorerons en profondeur le système de dialectes et les spécifications de définition d'opérations dans l'architecture MLIR. Le mécanisme de dialecte permet de mélanger parfaitement des représentations intermédiaires de différents niveaux d'abstraction dans un même pipeline de compilation. Les spécifications de définition d'opérations utilisent des outils génératifs pour définir de manière déclarative les opérateurs, ce qui permet de générer automatiquement une grande partie du code de base standardisé, tout en garantissant rigoureusement la vérification des types et des formes à la compilation. Qu'est-ce que le mécanisme de dialecte ? Un dialecte est essentiellement un espace de noms logique qui encapsule les opérateurs, types et attributs personnalisés pour un domaine de calcul spécifique. Dans un graphe de calcul complexe, des dialectes de frameworks de haut niveau, des dialectes tensoriels, des dialectes de boucles et des dialectes de code machine de bas niveau peuvent être mélangés. Grâce aux canaux de conversion entre différents dialectes, le compilateur peut effectuer les optimisations de graphe les plus appropriées au niveau d'abstraction le plus adapté. C'est là tout le charme de la conception d'abstraction multiniveau.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l'approche concrète des spécifications de définition d'opérations. Il s'agit d'une méthode de modélisation déclarative basée sur l'outil de génération de tables de LLVM. Son concept central est l'implémentation d'une source unique de vérité, ce qui signifie que les développeurs n'ont besoin de définir qu'une seule fois le nom, les opérandes, les attributs et les valeurs de retour d'un opérateur grâce à une syntaxe descriptive extrêmement concise. De plus, elle prend en charge des contraintes de type strictes, comme la possibilité de déclarer directement dans la spécification qu'un opérateur n'a pas d'effets de bord sur la mémoire, informant ainsi explicitement le compilateur que ce module permet des réorganisations d'instructions extrêmement agressives.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spécification de définition d'opérations simplifie non seulement les définitions de bas niveau, mais permet également la génération automatique de code au niveau du système. L'outil de génération associé analyse automatiquement les fichiers de spécification à la compilation et génère les déclarations et implémentations C++ standard. Le système génère automatiquement des fonctions d'accès et de modification fortement typées et sémantiquement claires, comme appeler directement la fonction de pas pour obtenir la valeur du pas. Plus important encore, la fonction de vérification de sécurité à la compilation : l'outil agrège automatiquement toutes les contraintes et génère un vérificateur qui intercepte automatiquement les types illégaux ou les incohérences de forme de tenseurs avant le lancement de l'optimisation de graphe.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Nous entrons maintenant dans la troisième partie, consacrée à la norme multiplateforme des opérations sur tenseurs, à savoir le dialecte TOSA. Son rôle est de fournir un ensemble standardisé d'opérations sur tenseurs totalement indépendant des cadres frontaux spécifiques et du matériel sous-jacent. Son principe de conception fondamental met l'accent sur le minimalisme, en évitant les opérateurs composites redondants et en les décomposant pour réduire la charge d'implémentation au niveau du matériel, tout en définissant explicitement la précision des données et les attributs de quantification au sein des opérateurs. Plus précisément, TOSA (Tensor Operator Set Architecture) est une spécification d'ensemble d'opérations sur tenseurs indépendante du matériel. Elle fournit un ensemble standardisé et universel d'opérations de calcul sur tenseurs, spécialement conçu pour représenter les nœuds de calcul dans les réseaux de neurones profonds. Dans toute la pile de compilation IA, TOSA sert de pont universel reliant les divers cadres et modèles de haut niveau aux accélérateurs matériels de bas 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objectifs de conception de TOSA reposent sur trois dimensions principales. Premièrement, une indépendance matérielle stricte : TOSA ne fait aucune hypothèse liée à une architecture matérielle spécifique, comme la taille des registres ou la structure du cache, et se concentre uniquement sur l'expression de la sémantique mathématique pure des réseaux de neurones. Deuxièmement, la stabilité et la standardisation : TOSA est soutenu par une documentation normative stricte, visant à devenir une couche contractuelle très stable, garantissant aux compilateurs en aval la validité du format d'entrée. Enfin, l'équilibre entre exhaustivité et concision : capable d'exprimer la grande majorité des opérateurs des modèles dominants, tout en évitant l'explosion catastrophique des opérateurs côté matériel par combinaison d'opérateurs de 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l'écosystème de compilation MLIR, TOSA joue un rôle clé au niveau du col du modèle en sablier. Vers le haut, il s'interface avec l'écosystème frontal, convertissant les modèles de cadres de haut niveau en dialectes de haut niveau, pour finalement être abaissé au format TOSA. Vers le bas, il s'interface avec les backends matériels, étant généralement abaissé vers le dialecte d'algèbre linéaire, puis converti en vecteurs de bas niveau ou flux de contrôle structuré, pour finalement devenir du code machine exécutable. Pour les fabricants disposant de matériel personnalisé, il est même possible d'extraire directement le graphe de calcul depuis la couche TOSA et de le mapper vers un jeu d'instructions d'accélérateur personnalisé.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la classification des opérateurs principaux de TOSA. Elle comprend principalement les opérations élément par élément, comme l'addition, la multiplication et diverses fonctions d'activation non linéaires. Ensuite, il y a les calculs principaux des réseaux de neurones, couvrant les convolutions bidimensionnelles, les convolutions en profondeur et les produits matriciels de couches entièrement connectées. Il y a également la manipulation des tenseurs, comme le remodelage, la transposition, le découpage et la concaténation. Enfin, les opérations de réduction et de pooling, comme la somme de réduction et le pooling maximal. Vous pouvez voir sur l'image à droite un exemple détaillé de la définition concrète des opérateurs de réduction et des spécifications d'inférence de forme.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Il convient de souligner que TOSA fournit dès sa conception un support de quantification système de premier ordre, ce qui est particulièrement important pour l'informatique en périphérie. Il prend non seulement en charge les types à virgule flottante couramment utilisés comme la simple précision ou la demi-précision, mais supporte aussi nativement plusieurs types d'entiers et de quantification de différentes largeurs de bits. Les paramètres clés de la quantification, comme le facteur d'échelle et le point zéro, sont directement intégrés dans la sémantique et les attributs des opérateurs, permettant ainsi d'assurer que la précision d'exécution du matériel IA sous-jacent reste strictement cohérente avec les résultats de la simulation logicielle du système supérieur.</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r>
              <a:t>Cette page présente le diagramme de flux du workflow de validation à la compilation basé sur la configuration TOSA. En partant de la représentation intermédiaire d'entrée, la chaîne d'outils obtient progressivement l'opérateur suivant à traiter et analyse ses besoins d'extension sous-jacents. En déterminant si les attributs d'extension requis par l'opérateur et le fichier de configuration correspondant sont activés, le système peut exécuter automatiquement la logique de vérification. Ce mécanisme rigoureux garantit que la représentation intermédiaire générée est entièrement conforme au sous-ensemble des capacités du jeu d'instructions du matériel avant d'être déployée sur une puce spécifique.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Passons maintenant à la quatrième partie, où nous allons analyser en profondeur le dialecte affine et le modèle de compilation polyédrique. Dans l'optimisation de la compilation pour l'apprentissage profond, l'un des défis les plus fondamentaux est de réorganiser de manière sûre et agressive les boucles imbriquées dans les opérations de convolution. Le dialecte affine utilise le modèle polyédrique pour abstraire l'espace d'itération des boucles profondes sous forme de mappings affines multidimensionnels et d'ensembles d'entiers. Grâce à des preuves de dépendances linéaires extrêmement rigoureuses, le compilateur peut exécuter en toute confiance des opérations comme le tuilage de boucles, le déroulement et la fusion, améliorant ainsi considérablement les taux de succès des différents niveaux de cache. Le dialecte affine est une représentation intermédiaire spécialisée pour exprimer et optimiser le flux de contrôle structuré et les accès mémoire multidimensionnels. Il est basé sur les solides fondations mathématiques du modèle polyédrique, avec des simplifications ingénieuses dans l'implémentation pratique. Son introduction poursuit principalement deux objectifs : permettre au socle du compilateur d'effectuer des analyses de dépendances de flux de données extrêmement précises, et réaliser une parallélisation automatique efficace au niveau système, une optimisation de la localité des données et diverses transformations géométriques de boucles complexes.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Vous vous demandez peut-être pourquoi on l'appelle "affine" ? C'est parce que, sous ses contraintes sémantiques, les limites de boucle et les indices d'accès mémoire sont strictement limités à des fonctions affines des variables d'induction de boucle et de symboles constants. Voici quelques concepts clés : les dimensions correspondent généralement aux variables d'induction à l'intérieur des boucles ; les symboles sont des paramètres de forme qui restent constants pendant toute l'exécution des boucles imbriquées ; l'application affine définit la transformation mathématique des dimensions et symboles vers les indices d'accès mémoire ; et l'ensemble d'entiers est souvent utilisé pour représenter les frontières des branches conditionnelles.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conception du dialecte affine repose sur une sémantique d'opération extrêmement stricte et contrainte. Au niveau du flux de contrôle, on trouve des opérateurs de boucle avec des limites clairement définies et un pas constant obligatoire, ainsi que des opérateurs de branche conditionnelle dont la condition doit être strictement évaluée par un ensemble d'entiers affines. Au niveau de l'accès mémoire, ce sont principalement des opérateurs de chargement et de stockage contraints. La contrainte centrale incontournable est que tous les indices d'accès doivent être des applications affines mathématiquement valides ; c'est seulement ainsi que le compilateur peut savoir à la compilation exactement quel bloc de mémoire physique sera accédé à chaque itération matérielle de boucle.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Grâce à l'analyse précise des dépendances de données en amont, le compilateur système peut résoudre des problèmes de programmation linéaire en nombres entiers pour déterminer avec précision à la compilation quelles instructions de bas niveau et itérations de boucle ont des dépendances de lecture/écriture. Sur cette base théorique, le système prend en charge plusieurs stratégies de transformation de boucles. Par exemple, la technique de découpage de boucle qui divise les grandes boucles en petits blocs, la technique de déroulage de boucle qui augmente le parallélisme au niveau instruction, les techniques de fusion et fission de boucles qui réduisent les coûts de transfert mémoire, et la technique de permutation de boucle utilisée pour optimiser le pas des accès mémoire contigus.</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la structure hierarchique de l'ecosysteme MLIR, le dialecte affine dispose d'un pipeline de descente extremement precis. En amont du niveau d'abstraction, les operateurs de calcul tensoriel ou d'algebre lineaire de haut niveau peuvent etre precisement abaisses en boucles affines imbriquees de bas niveau. Au niveau qui lui appartient, le systeme execute des transformations de boucle haute densite et des analyses de calcul de parallelisation. Une fois ces optimisations complexes entierement terminees, ces structures de controle sont ensuite descendues vers le SCF (Structured Control Flow) ou le dialecte standard de base, puis finalement converties en code intermediaire LLVM pour generer du code machine binaire executable sur le materiel.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est la vingt-deuxième leçon, dont le thème principal est la fusion d'opérateurs, également connue sous le nom de Fusion Pass dans les compilateurs IA. Il s'agit d'une étape clé pour améliorer les performances au niveau de l'exécution matérielle dans les frameworks d'apprentissage profond.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d'approfondir les détails techniques, précisons d'abord le premier objectif de ce cours, c'est-à-dire pourquoi effectuer la fusion d'opérateurs. Dans cette partie, nous poserons progressivement les questions et présenterons de manière synthétique les méthodes clés couramment utilisées : la correspondance de graphes, la reconnaissance de motifs et la réécriture de sous-graphes. Veuillez observer les deux courbes de tendance à l'écran, qui révèlent les problèmes fondamentaux des systèmes actuels. Comme les paramètres des modèles croissent de manière exponentielle, nous sommes confrontés à un phénomène sérieux de « mur mémoire ». Le goulot d'étranglement du calcul des modèles s'est totalement déplacé de la puissance de calcul des processeurs vers la bande passante mémoire et la latence du transfert de données. Dans un graphe de calcul non optimisé, chaque opérateur doit subir un cycle de vie complet : lecture des données depuis la mémoire principale, calcul, puis écriture des résultats dans la mémoire principale. Le coût de ces accès fréquents à la mémoire est extrêmement élevé. L'introduction de la fusion d'opérateurs vise à fusionner les noyaux de calcul pour conserver directement les résultats intermédiaires dans le cache à grande vitesse ou les registres, éliminant ainsi ce goulot d'étranglement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Alors, qu'est-ce que la fusion d'opérateurs ? Sa définition fondamentale consiste à fusionner plusieurs opérateurs indépendants adjacents dans le graphe de calcul, comme la combinaison classique de convolution, normalisation et fonction d'activation, en un seul noyau d'exécution unique et plus efficace. Cela apporte trois avantages significatifs : premièrement, éliminer directement la consommation de bande passante mémoire pour la lecture/écriture des cartes de caractéristiques intermédiaires ; deuxièmement, réduire considérablement les coûts système du lancement de noyau ; et enfin, réduire efficacement l'occupation mémoire maximale lors de la phase de déploiement d'inférence. La mise en œuvre de ce processus nécessite généralement trois phases principales : l'algorithme de correspondance de graphe pour rechercher des structures topologiques, la reconnaissance de motifs pour valider les contraintes sémantiques et physiques, et la réécriture de sous-graphe pour exécuter des transformations équivalentes. Le schéma à droite illustre les effets intuitifs d'un algorithme de fusion typique sur l'optimisation des accès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Analysons d'abord la première phase : l'algorithme de correspondance de graphe. Dans les compilateurs AI, la structure de données fondamentale des réseaux de neurones est le graphe orienté acyclique, où les nœuds représentent des opérateurs et les arêtes représentent les flux de données tensorielles. Le processus de correspondance résout essentiellement un problème d'isomorphisme de sous-graphe, où nous devons utiliser les règles de fusion prédéfinies comme graphe de motifs pour rechercher des structures correspondantes exactes dans le graphe de calcul hôte massif. La correspondance de graphe complet traditionnelle est un problème de calcul extrêmement complexe, mais heureusement, les graphes de calcul d'apprentissage profond ont de fortes caractéristiques de domaine, ce qui nous permet d'effectuer une optimisation par élagage significative. La figure à droite illustre les différentes morphologies de la correspondance complète à la correspondance partielle.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accélérer davantage le processus de correspondance de graphe, l'industrie a résumé plusieurs stratégies efficaces. La première est le filtrage par étiquetage de type fort, utilisant les valeurs de hachage des types d'opérateurs sous-jacents pour filtrer rapidement les nœuds fondamentalement incompatibles. La deuxième est basée sur le tri topologique et la chaîne utilisation-définition, effectuant un parcours en profondeur local selon ou à contre-courant du flux de données tensoriel, limitant ainsi significativement l'espace de recherche. De plus, certains compilateurs de pointe introduisent des réseaux de neurones sur graphes ou des propriétés de dégénérescence structurelle pour implémenter une correspondance approximative et dégénérée, réussissant à réduire la complexité temporelle de correspondance au niveau linéaire.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Apres avoir reussi a faire correspondre le sous-graphe cible, on entre dans la phase de reconnaissance de motifs. Cette phase doit effectuer des verifications extremement strictes. Premierement, l'analyse des contraintes de flux de donnees et de l'exclusivite, car la sortie d'un operateur peut etre consommee par plusieurs operateurs en aval, le compilateur doit verifier rigoureusement la duree de vie et les utilisateurs multiples lors d'une fusion verticale. Deuxiemement, les attributs d'operation et les contraintes de forme, la logique de correspondance doit verifier si les dimensions des tenseurs d'entree sont coherentes et si la disposition memoire repond aux exigences strictes des bibliotheques materielles sous-jacentes. Enfin, un point crucial est l'evaluation des benefices basee sur un modele de cout. La fusion n'est pas toujours la solution optimale, une fusion excessive peut entrainer une explosion des variables locales et provoquer un debordement de registres. Si le modele de cout conscient du materiel predit un benefice negatif apres fusion, le moteur de reconnaissance renoncera activement a cette fusion.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Apres que toutes les verifications sont passees, la reecriture de sous-graphe est formellement executee. Celle-ci est basee sur la theorie de transformation de graphe sementiquement equivalente. Comme le montre la formule, nous convertissons le graphe de motif cote gauche qui doit etre remplace en un graphe de remplacement efficace fusionne cote droit. L'architecture sous-jacente adopte generalement le cadre semantique double pushout, divisant rigoureusement le graphe hote en partie correspondante, contexte et l'arete de correctif reliant les deux. Le principe fondamental de cette phase est de garantir la coherence semantique: etant donnee la meme entree, la sortie de calcul avant et apres reecriture doit maintenir une precision absolument coherente.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Apres avoir maitrise la theorie fondamentale, nous examinons l'implementation au niveau de l'ingenierie. Dans les pages suivantes, je presenterai le moteur de reecriture de motifs dans MLIR, la chaine d'outils principale moderne. Nous expliquerons les mecanismes d'implementation specifiques, y compris l'ecriture imperative en C++, ainsi que les regles declaratives basees sur des pilotes et les langages dedies aux domaines plus modernes. Je decrirai egalement brievement comment le pilote de reecriture glouton recherche automatiquement des regles le long du flux de donnees et nettoie le code inutile. Le cadre MLIR, dans sa philosophie de conception, separe rigoureusement la definition de motifs de l'application de motifs. Le moyen le plus fondamental pour les developpeurs est l'ecriture imperative, qui necessite d'heriter d'une classe de base de reecriture specifique et d'implementer sa logique interne de correspondance et de reecriture. Comme le montre l'extrait de code a l'ecran, la plus grande caracteristique de cette methode est qu'elle donne aux developpeurs un degre de liberte eleve, leur permettant de manipuler directement la representation intermediaire sous-jacente et de traiter des logiques mathematiques extremement complexes. Son inconvenient est que le code boilerplate est trop volumineux, les developpeurs doivent traiter manuellement les conversions de type complexes et les verifications de securite, et la topologie du graphe apparait tres obscure dans 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surmonter le problème du code boilerplate excessif, MLIR a introduit des règles de réécriture déclaratives pilotées par table. Elle permet aux développeurs d'utiliser une syntaxe graphique minimaliste pour déclarer des règles, que le compilateur développe automatiquement à la compilation en code C++ sous-jacent, réduisant considérablement la barrière à l'entrée. En outre, il existe un langage plus moderne spécifiquement conçu pour le pattern matching. Il supporte nativement les opérations multi-résultats et les arguments variables, permet de déclarer directement au niveau du langage des contraintes et des expressions logiques mathématiques, et plus puissamment, il supporte simultanément la compilation statique et l'exécution interprétée dynamique à l'exécution, améliorant considérablement l'efficacité de développement et de débogage.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théorie seule reste insuffisante, nous allons donc passer à une expérimentation concrète de code. Ensuite, nous vous guiderons pour écrire manuellement un Pass de fusion convolution et normalisation par lots simple. L'ensemble du processus de développement se divise en trois grandes étapes : d'abord définir le motif et fixer un noeud racine approprié en C++, ensuite écrire la logique de traversée de graphe pour valider la sécurité des utilisateurs multiples, et enfin exécuter la réécriture de graphe, calculer les nouveaux tenseurs constants et compléter le remplacement du flux de données. Vous pouvez étudier attentivement la documentation officielle après le cours pour consolider ces connaissances. Voyons la première étape, la définition du motif et la sélection du noeud racine. Dans le code C++, nous créons d'abord une sous-classe héritant du template de réécriture d'opérateur de normalisation. L'opération la plus critique est de définir le point d'ancrage du déclenchement du pattern matching, c'est-à-dire le noeud racine, sur l'opérateur de normalisation en aval. Cette stratégie de retraçage inverse est très ingénieuse, car remonter du consommateur vers le producteur amont est déterministe et unique, ce qui réduit considérablement la complexité logique lors des recherches multi-chemins par le compilateur.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deuxième étape consiste à effectuer la traversée de graphe et la validation de sécurité extrêmement importante. Nous devons extraire l'entrée du noeud de normalisation via l'interface et remonter vers l'amont pour vérifier si cette entrée provient effectivement d'un opérateur de convolution. Ici, la ligne de défense de sécurité la plus importante est le mécanisme de blocage multi-utilisateurs. Nous devons appeler l'interface pour forcer la vérification que le résultat de sortie de l'opérateur de convolution n'est utilisé exclusivement que par ce seul noeud de normalisation. Dès qu'on découvre que d'autres noeuds en aval l'utilisent, le matching se termine immédiatement, empêchant ainsi notre logique de réécriture de contaminer les branches de dépendance externes, comme les connexions résiduelles courantes dans les réseaux.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dernière étape consiste à exécuter la réécriture et le basculement du flux de données. Une fois la vérification de sécurité passée, nous lisons les attributs statistiques globaux à la compilation et calculons en arrière-plan les nouveaux tenseurs denses de poids et de biais après fusion. Ensuite, nous appelons l'interface d'instanciation du réécrivain pour créer de nouveaux nœuds constants et le nouvel opérateur de convolution fusionné dans le graphe original. Enfin, nous devons basculer toutes les connexions qui pointaient vers les anciens nœuds vers ce nouveau nœud, et nettoyer complètement les anciens nœuds. Ainsi, nous avons accompli une fusion d'opérateurs au niveau du graphe.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à tous. Aujourd'hui, nous allons commencer une nouvelle séance, qui constitue également une étape très importante et classique de l'optimisation du backend du compilateur — l'optimisation des boucles. Le sujet sur lequel nous allons nous concentrer aujourd'hui est « l'extraction du code invariant de boucle », communément appelée LICM. Nous allons explorer en profondeur ses principes, ses algorithmes, ainsi que ses implémentations concrètes dans les stacks de compilation IA modernes comme Triton et MLIR.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Commençons par clarifier ce qu'est le code invariant de boucle et pourquoi nous devons l'extraire. Ce qu'on appelle « code invariant de boucle » désigne le code qui, à chaque itération de la boucle, calcule le même résultat, c'est-à-dire que son résultat de calcul est indépendant du nombre d'exécutions de la boucle. L'optimisation LICM consiste donc à « extraire » ce type de code de l'intérieur de la boucle et à le placer à l'extérieur, avant l'entrée de la boucle. L'avantage direct est de réduire considérablement le nombre d'exécutions du code, améliorant ainsi les performances du programme. Dans le processus de compilation, LICM est généralement placé aux étapes d'optimisation du frontend ou du middle-end. Nous pouvons utiliser une formule très simple pour quantifier l'amélioration des performances apportée par LICM. Supposons que la boucle doit s'exécuter N fois et que l'exécution du code invariant de boucle prend T à chaque fois. Avant optimisation, le temps total d'exécution de ce code est N multiplié par T. Après optimisation, ce code ne s'exécute qu'une seule fois avant la boucle, prenant un temps T, et ne s'exécute plus dans le corps de la boucle, avec un temps devenant 0. Donc, nous économisons au total un temps de (N-1) multiplié par T. Quand N est très grand, c'est-à-dire quand le nombre d'itérations de la boucle est très important, cette amélioration des performances est considérable.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Regardons un exemple de code concret. Ici, nous avons une simple boucle for qui parcourt le tableau arr. Dans le corps de la boucle, nous voyons les deux instructions x = a + b et y = x * c. Les variables a, b et c ne sont pas modifiées pendant toute la boucle, donc les valeurs de a+b et x*c sont fixes à chaque itération. Ce sont des "codes invariants de boucle". Quant à l'instruction arr[i] = y + i, comme elle dépend de la variable de boucle i qui change à chaque fois, elle est variable dans la boucle et ne peut pas être extraite. L'objectif de l'optimisation est de déplacer en toute sécurité les deux instructions x = a + b et y = x * c de l'intérieur de la boucle vers l'extérieur.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Alors, comment le compilateur effectue-t-il automatiquement cette optimisation ? Il doit suivre un processus rigoureux. D'abord, le compilateur doit calculer les "définitions atteignantes" pour analyser les relations de définition des variables. Deuxièmement, en se basant sur les informations de définitions atteignantes, identifier tous les "invariants de boucle" à l'intérieur de la boucle. Troisièmement, calculer les relations de "dominance", afin de vérifier ultérieurement la sécurité du déplacement du code. Quatrièmement, l'étape la plus critique, consiste à vérifier, selon les relations de dominance et les informations de définitions atteignantes, si l'extraction de chaque instruction invariante est "sûre". Enfin, pour toutes les instructions invariantes sûres, les déplacer vers le bloc de base "preheader" de la boucle.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comprendre les vérifications de sécurité de LICM, nous devons d'abord maîtriser deux concepts clés : la structure de boucle et les relations de dominance. Du point de vue de la structure de boucle, une boucle a un bloc de base "d'entrée" unique, que nous appelons "noeud d'en-tête", et il domine tous les autres noeuds dans la boucle. Dans le corps de la boucle, il y a une ou plusieurs "arêtes de retour" qui sautent d'un certain noeud à l'intérieur de la boucle vers le noeud d'en-tête, formant ainsi la boucle. Concernant la relation de "dominance", nous disons que le noeud A domine le noeud B, ce qui signifie que tous les chemins d'exécution de l'entrée du programme vers B doivent passer par A. Si A domine B et A n'est pas égal à B, nous disons que A domine strictement B. Les relations de dominance peuvent généralement être représentées par un arbre de dominance, dans lequel le noeud parent domine tous ses noeuds enfants. Dans LICM, les relations de dominance sont un outil important pour juger de la sécurité du déplacement du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L'algorithme classique utilisé par les compilateurs pour calculer les relations de domination a été proposé par Lengauer et Tarjan. Cet algorithme est basé sur la recherche en profondeur. Il effectue d'abord un DFS sur l'ensemble du graphe de flux de contrôle, générant un arbre DFS et attribuant un numéro DFS à chaque noeud. Ensuite, l'algorithme calcule une quantité intermédiaire appelée « semi-dominateur ». Enfin, par un traitement itératif, le semi-dominateur permet de déduire le « dominateur immédiat » de chaque noeud, c'est-à-dire l'idom dont nous avons finalement besoin. Cet algorithme est efficace et largement utilisé dans les compilateurs modernes.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Ensuite, nous examinons un autre outil d'analyse important : l'analyse des définitions atteignantes. Son objectif est de déterminer, à chaque point du programme, quelles définitions de variables sont « atteignables ». En termes simples, à l'entrée d'un bloc de base, on regroupe les informations de définition provenant de la sortie de tous ses blocs de base prédécesseurs. Et les définitions à la sortie d'un bloc de base sont égales à celles qu'il « génère » lui-même, plus celles qui entrent par l'entrée et qui n'ont pas été « tuées » par ce bloc. Dans LICM, les informations de définitions atteignantes servent principalement à déterminer où se trouve exactement le point de définition d'une variable : est-ce à l'extérieur de la boucle ou à l'intérieur ? Et si une variable a plusieurs points de définition différents à l'intérieur de la boucle.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Avec les informations sur les définitions atteignantes, nous pouvons maintenant détecter les invariants de boucle. L'algorithme se déroule en deux étapes : d'abord l'initialisation, où nous marquons toutes les instructions dont les opérandes sont définis en dehors de la boucle comme « invariants ». Ensuite, nous entrons dans un processus itératif jusqu'à ce qu'aucun nouvel invariant ne soit découvert. À chaque itération, nous examinons chaque instruction dans la boucle, par exemple x = y op z. Si l'une des deux conditions suivantes est satisfaite, nous la marquons comme invariante : premièrement, toutes les définitions atteignantes de y proviennent de l'extérieur de la boucle ; deuxièmement, y a exactement une définition atteignante, et cette définition elle-même a déjà été marquée comme invariante de boucle. L'opérande z suit le même principe. Ce processus itératif continue jusqu'à atteindre un point fixe, c'est-à-dire que toutes les instructions pouvant être marquées comme invariants le sont.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Utilisons toujours l'exemple precedent pour examiner le processus d'execution de cet algorithme. Lors de la phase d'initialisation, nous n'avons encore marque aucune instruction. Lors de la premiere iteration, examinons x = a + b. Comme les definitions de a et b sont toutes deux en dehors de la boucle, la condition 1 est satisfaite, donc nous marquons cette instruction pour x comme invariante. Lors de la deuxieme iteration, examinons y = x * c. La definition de c est en dehors de la boucle, et la valeur de x provient de l'instruction x = a+b que nous venons de marquer comme invariante a la tour precedent, et c'est la seule definition de x, donc la condition 2 est satisfaite et y est egalement marque comme invariante. Lors de la troisieme iteration, examinons z = y + i. Bien que la definition de y soit invariante, est-ce que la valeur atteignant i provient de l'exterieur de la boucle ? En realite, la definition et la mise a jour de la variable de boucle i sont toutes deux a l'interieur de la boucle, donc la condition n'est pas satisfaite et z ne peut pas etre marque. Les instructions suivantes sont similaires. Finalement, nous atteignons un point fixe, et notre ensemble d'invariants contient x = a+b et y = x*c.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Avant de considerer le deplacement de code, nous devons comprendre les relations de dependance entre les instructions. Voici les principaux types de dependances : d'abord la veritable « dependance de flux », aussi appelee dependance de donnees, c'est-a-dire qu'une instruction ecrit et l'instruction suivante lit. Ensuite, l'« anti-dependance », c'est-a-dire qu'une instruction lit et l'instruction suivante ecrit dans la meme variable. Il y a aussi la « dependance de sortie », c'est-a-dire que deux instructions ecrivent toutes les deux dans la meme variable. Ces relations de dependance limitent la reorganisation des instructions. Il est particulierement important de noter la « dependance portee par la boucle », comme le tableau a[i] qui depend de a[i-1] calcule lors de l'iteration precedente. Cette dependance est inter-iterations et elle empeche souvent l'application de nombreuses optimisations de boucle comme LICM, car le code ne peut pas etre simplement sorti de la boucle sans changer la semantique du programme.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Passons maintenant a la partie la plus essentielle : comment s'assurer que l'extraction de code est sure ? Le compilateur doit satisfaire simultanement trois conditions. Premierement, « domine toutes les sorties » : le bloc de base contenant l'instruction a deplacer doit dominer tous les blocs de sortie de la boucle. Cela garantit que quelle que soit la condition de sortie de la boucle, cette instruction sera necessairement executee a l'interieur de la boucle. Deuxiemement, « definition unique » : cette instruction doit etre l'unique definition de cette variable a l'interieur de la boucle, pour eviter les conflits avec d'autres definitions. Troisiemement, « domine toutes les utilisations » : cette instruction doit dominer tous les points d'utilisation de cette variable a l'interieur de la boucle, ou autrement dit, la valeur definie par cette instruction peut atteindre toutes ses utilisations et est la seule a pouvoir l'atteindre. Ce n'est que lorsque ces trois conditions sont toutes satisfaites que nous pouvons etre certains que deplacer l'instruction en dehors de la boucle ne changera pas le resultat de l'execution du programme. Sur le schema, le cote gauche satisfait les conditions et peut etre exterieurise ; le cote droit ne satisfait pas la condition de dominer toutes les utilisations, et le deplacement entrainerait certains points d'utilisation ne pouvant pas lire la valeur correcte, donc ce n'est pas faisable.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Une fois qu'une instruction a été identifiée comme pouvant être extraite, où sera-t-elle déplacée ? La réponse est le « preheader » de la boucle. Le preheader est un bloc de base spécial inséré par le compilateur avant le nœud d'entrée de la boucle. Il n'a qu'un seul successeur, qui est le nœud d'entrée de la boucle (header). Le preheader est l'emplacement idéal pour placer le code invariant de boucle, car le code ici ne sera exécuté qu'une seule fois avant chaque entrée dans la boucle, tout en garantissant que tous les points d'utilisation originaux à l'intérieur de la boucle sont dominés par lui. Nous pouvons résumer la logique centrale du LICM avec ce pseudocode. Tout d'abord, nous parcourons toutes les instructions déjà marquées comme invariants. Pour chaque instruction, nous vérifions les trois conditions de sécurité que nous avons mentionnées : domine-t-elle toutes les sorties, est-elle la seule définition, domine-t-elle toutes les utilisations. Si toutes les conditions sont remplies, nous l'ajoutons à la liste des candidats. Enfin, pour préserver les relations de dépendance originales entre les instructions (par exemple, y dépend de x), nous devons déplacer ces instructions candidates vers le preheader de la boucle dans l'ordre topologique.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le célèbre compilateur LLVM, LICM est implémenté comme un Pass d'optimisation standard dans le fichier lib/Transforms/Scalar/LICM.cpp. Sa fonctionnalité ne se limite pas à l'extraction de calculs, mais inclut également la promotion des accès mémoire en accès registres, ainsi que le « sinking » du code vers les sorties de boucle. Pour implémenter cela, il s'appuie sur plusieurs résultats d'analyse : LoopInfo fournit les informations de structure de boucle ; DominatorTree fournit l'analyse des relations de domination ; et AliasAnalysis, l'analyse d'alias, est cruciale pour le traitement des opérations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Pourquoi l'analyse d'alias est-elle si importante ? Parce que les opérations mémoire ont plus d'effets de bord et d'incertitudes que les opérations sur registres. Le compilateur doit déterminer si deux pointeurs différents peuvent pointer vers la même adresse mémoire. Si cela ne peut être déterminé, le compilateur doit adopter une approche conservatrice et ne peut pas déplacer les instructions librement. Un scénario d'optimisation classique est la « promotion scalaire ». Par exemple, dans le code à gauche, chaque itération de boucle effectue une lecture et une écriture sur la mémoire pointée par le pointeur p. Si l'analyse d'alias prouve que p et arr ne se chevauchent pas, nous pouvons promouvoir cette variable mémoire en un scalaire temporaire temp. Nous lisons une fois depuis la mémoire avant la boucle, utilisons le scalaire temp pour accumuler à l'intérieur de la boucle, puis écrivons le résultat en mémoire après la boucle. Ainsi, les opérations mémoire coûteuses sont transformées en opérations sur registres rapides.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Tournons-nous maintenant vers un domaine plus proche du calcul en IA, comme le langage Triton developpe par OpenAI. Le flux de compilation de Triton va du code Python vers Triton IR, puis vers TritonGPU IR, et enfin genere LLVM IR et PTX. Dans ce flux, l'optimisation de boucle joue egalement un role important, incluant le pipelining logiciel, le deroulement de boucle, etc. Le LICM, en tant qu'optimisation fondamentale, est generalement applique aux niveaux TTIR et TritonGPU IR. Comme Triton est construit sur le framework MLIR, il peut facilement reutiliser les various analyses et Pass de transformation fournis par MLIR, permettant l'optimisation des boucles a differents niveaux d'abstraction.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Prenons comme exemple un noyau de multiplication matricielle ecrit en Triton. Dans la boucle principale qui itere sur la dimension K, nous pouvons voir des opportunites potentielles de LICM. Par exemple, pour calculer les pointeurs vers les blocs des matrices A et B, l'expression A_ptr + k * stride_ak, bien que k varie, stride_ak et l'adresse de base A_ptr sont invariants tout au long de la boucle. Cependant, comme ils dependent de k qui varie, ils ne sont pas eux-memes invariants de boucle. Les invariants les plus courants sont les valeurs de stride stride_ak et stride_bk, qui sont generalement calculees avant la boucle et restent fixes. Le compilateur essaiera d'extraire ces calculs de stride, ou des parties plus complexes de calculs d'adresses independantes des iterations de boucle, vers l'exterieur de la boucle autant que possible.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Regardons maintenant comment le LICM est implemente dans le framework MLIR. Voici une version simplifiee de la fonction runOnOperation, qui cible une operation de boucle implementant LoopLikeOpInterface. D'abord, via getParentOfType, on recupere la boucle a laquelle appartient l'operation courante. Ensuite, on parcourt toutes les operations du corps de boucle, en appelant la fonction isLoopInvariant pour determiner si chaque operation est invariante de boucle. Si oui, on l'ajoute a la liste invariantOps. Enfin, on parcourt a nouveau cette liste et on deplace chaque operation invariante avant l'operation de boucle via moveBefore, c'est-a-dire a la position du preheader de la boucle. Ce code montre clairement les etapes cles du LICM dans MLIR: identification des operations invariantes et extraction. Cette conception basee sur des interfaces de MLIR permet au meme Pass de s'appliquer a differents types de boucles (comme affine.for, scf.for, etc.), offrant une bonne extensibilite.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Bien que le LICM soit une optimisation très efficace, il a aussi ses limites, ce qui a conduit à des techniques d'extension plus avancées. Les principales limites incluent : premièrement, la gestion des exceptions — si le code déplacé peut lancer une exception, son extraction pourrait changer la position et le moment où l'exception se produit, donc le compilateur ne déplace généralement pas ce type de code de manière conservatrice. Deuxièmement, l'exécution spéculative — si la boucle pourrait ne jamais s'exécuter, extraire le code entraînerait l'exécution supplémentaire de code qui n'aurait pas été exécuté, induisant des surcoûts inutiles. Troisièmement, les effets de bord sur la mémoire — comme mentionné précédemment, les relations d'alias mémoire complexes rendent difficile pour le compilateur de déterminer avec précision si le déplacement d'opérations mémoire est sûr.</a:t>
            </a:r>
            <a:br/>
            <a:br/>
            <a:r>
              <a:t>Pour surmonter ces limites, les chercheurs ont proposé plusieurs techniques d'extension. Par exemple, le "Loop Unswitching" permet de déplacer les conditions (comme les instructions if) à l'intérieur de la boucle vers l'extérieur, en créant différentes versions de la boucle pour éliminer les branches internes. Le "Loop Versioning" génère plusieurs versions de la boucle (par exemple, une version supposant que les pointeurs ne sont pas aliasées, permettant un LICM agressif ; une autre version étant la boucle originale conservatrice), puis sélectionne au moment de l'exécution la version à exécuter selon les conditions. Il y a aussi le "LICM Spéculatif" (Speculative LICM), où le compilateur peut risquer une extraction lorsqu'il peut prouver qu'un déplacement est sûr dans la grande majorité des cas et très bénéfique, en ajoutant du code de compensation pour gérer les situations inattendues.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à tous, bienvenue dans ce cours. Aujourd'hui, nous allons approfondir un sujet fondamental en programmation GPU et en optimisation de compilateurs : la disposition et la planification mémoire. La manière d'organiser efficacement le stockage des données en mémoire, ainsi que la planification de leur flux entre les différents niveaux de mémoire, déterminent directement notre capacité à exploiter pleinement la puissance de calcul du GPU. Dans cette leçon, nous partirons de la structure matérielle de la mémoire GPU pour comprendre progressivement les transactions mémoire, les conflits de bank de la mémoire partagée, les concepts de disposition tensorielle, et nous apprendrons comment les compilateurs modernes (comme Triton) effectuent automatiquement l'optimisation de la disposition, ainsi que les stratégies d'allocation mémoire de haut niveau.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Commençons par examiner la hiérarchie mémoire du GPU. Ce schéma montre clairement les relations entre bande passante et capacité aux différents niveaux de mémoire. De la mémoire globale (Global Memory) à la mémoire partagée (Shared Memory), puis aux registres (Register), la bande passante augmente progressivement de gauche à droite d'un facteur de 10 à 100, tandis que la capacité diminue de droite à gauche d'un facteur de 100 à 1000. L'objectif central de l'optimisation de disposition est de maximiser l'utilisation de la mémoire rapide située près des unités de calcul, afin de réduire les transferts massifs de données depuis la mémoire lente (en particulier la mémoire globale). C'est exactement l'idée centrale derrière la conception d'algorithmes haute performance comme FlashAttention : en concevant rationnellement les modes d'accès mémoire, on effectue le plus possible de calculs dans la mémoire rapide sur puce.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comprendre comment acceder efficacement a la memoire globale, nous devons d'abord comprendre le mecanisme des transactions memoire du GPU. Le GPU n'accede pas a la memoire globale octet par octet, mais via des "transactions" de taille fixe. Chaque transaction transfere generalement 32 ou 128 octets, et les transactions doivent etre alignees sur une frontiere correspondant a leur taille. Les requetes memoire d'un warp (contenant 32 threads) sont fusionnees par le materiel en un minimum de transactions. Par ailleurs, le nombre maximum de transactions concurrentes est limite par la profondeur de la file d'attente du controleur memoire. Le nombre de transactions multiplie par la latence de chaque transaction constitue le temps d'attente total. Par consequent, reduire le nombre de transactions est essentiel pour optimiser la latence des acces memoire. Lorsque les adresses auxquelles les 32 threads d'un warp accedent respectent certaines conditions, il est possible de realiser un "acces coalescent", fusionnant ainsi les requetes de plusieurs threads en un minimum de transactions. La condition la plus fondamentale est que toutes les adresses auxquelles les threads accedent se trouvent dans une ou plusieurs lignes de cache adjacentes, et que chaque thread accede a des elements consecutifs. Dans ce cas, une seule transaction memoire peut servir la requete de tout le warp, atteignant ainsi un taux d'utilisation de la bande passante maximal.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Voici deux exemples concrets. A gauche, nous avons un acces contigu : chaque thread accede sequentiellement aux elements consecutifs du tableau selon son propre ID de thread, soit idx = threadIdx.x. Dans ce cas, les 32 threads accedent a 32 elements consecutifs, qui se trouvent exactement dans une ou deux lignes de cache, il suffit donc d'une seule transaction memoire. A droite, nous avons un acces avec pas : les adresses auxquelles les threads accedent ont un pas de 2, soit idx = threadIdx.x * 2. Les adresses ne sont plus contigues mais espacees, ce qui peut necessiter 2 transactions. Plus le pas est grand, plus le nombre de transactions peut etre eleve.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pire cas est l'acces aleatoire. Lorsque chaque thread accede a une adresse completement aleatoire (par exemple via une table de recherche index_table), ces adresses peuvent etre disperses dans tous les coins de la memoire globale, rendant impossible toute fusion. Dans ce cas, chaque acces de thread peut necessiter une transaction separee, et dans le pire des cas, 32 transactions sont requises. La comparaison montre que l'acces contigu est le plus efficace, tandis que l'acces aleatoire est le moins efficace. Par consequent, lors de l'ecriture de programmes GPU, nous devons essayer de garantir que les threads d'un meme warp accedent a des adresses consecutives.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Cet exemple illustre l'impact du stockage par ligne ou par colonne sur les transactions mémoire lors de l'accès aux matrices. Supposons une matrice 32x32, où 32 threads d'un warp lisent chacun une ligne ou une colonne de la matrice. Si la matrice est stockée par ligne (mode par défaut en C/C++), lors de la lecture d'une ligne, les 32 éléments sont contigus en mémoire et les accès peuvent être fusionnés. En revanche, lors de la lecture d'une colonne, ces 32 éléments sont espacés de 32 éléments en mémoire (soit une ligne de la matrice), et sont dispersés dans différentes lignes de cache, ce qui empêche la fusion et nécessite plus de transactions. C'est pourquoi, en programmation GPU, nous devons généralement adapter le mode d'accès selon la disposition de stockage, ou effectuer une transposition de la matrice.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mémoire partagée est une mémoire sur puce du GPU, contrôlée explicitement par le programmeur, environ 100 fois plus rapide que la mémoire globale, mais aussi environ 1000 fois plus petite. Elle partage l'espace physique avec le cache L1, et leur proportion peut être configurée. La mémoire partagée est divisée en 32 Banks indépendants, chaque Bank pouvant servir simultanément une requête d'accès. Idéalement, si les 32 threads d'un warp accèdent simultanément à 32 Banks différents, toutes les requêtes peuvent être traitées en parallèle, atteignant une efficacité maximale. Par conséquent, concevoir la disposition des données en mémoire partagée pour éviter les conflits de Bank est au cœur de la planification mémoire.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Lorsque les accès de plusieurs threads sont mappés sur le même Bank, un conflit de Bank se produit, et ces accès doivent être sérialisés, ce qui réduit l'efficacité. Le diagramme montre un pire cas : tous les threads accèdent à la colonne 0 d'une même ligne, c'est-à-dire smem[row][0]. Comme l'adresse de début de chaque ligne est alignée sur le Bank 0, tous les accès tombent sur le Bank 0, entraînant un conflit à 32 voies. Un autre cas typique est l'accès avec un pas de 32 : par exemple, accéder aux indices threadIdx.x * 32 dans un tableau de mémoire partagée unidimensionnel. Comme le nombre de Banks est également 32, ces indices sont tous mappés sur le même Bank.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resoudre les conflits Bank, les techniques courantes sont le Padding (remplissage) et le Swizzling (entrelacement). Le Padding ajoute des elements supplementaires a la fin de chaque ligne, de sorte que la taille reelle de la ligne ne soit pas un multiple du nombre de Bank, ainsi la meme colonne de differentes lignes tombera sur different Bank. Le Swizzling modifie dynamiquement le mappage d'adresse via l'operation XOR, dispersant les addresses initialement en conflit vers different Bank. La figure donne un exemple: l'acces colonne original est entierement dans le Bank 0, apres Padding, la meme colonne de differentes lignes tombe sur different Bank. Ici on montre l'implementation concrete du Padding. La declaration originale de la memoire partagee est __shared__ float smem[32][32];, ou chaque ligne a 32 float occupant exactement 32 Bank. Lors de l'acces colonne, tous les elements de la colonne 0 de toutes les lignes sont dans le Bank 0. Si on change en __shared__ float smem[32][33];, chaque ligne a 33 float, alors la premiere ligne commence au Bank 0, la deuxieme ligne commence au Bank 1 (car l'element supplementaire a la fin de la ligne precedente occupe l'adresse suivante du Bank 0), la troisieme ligne commence au Bank 2, et ainsi de suite. Ainsi, quand un warp accede a la colonne 0, les Bank correspondant aux differentes lignes sont 0, 1, 2,..., realisant un acces sans conflit. Le Swizzling est une technique de remappage d'adresse plus flexible. Il combine le numero de ligne et le numero de colonne via l'operation XOR, de sorte que lors de l'acces a la meme colonne, l'index Bank de l'adresse reelle devient col XOR row. Exemple dans la figure: l'acces original smem[row][0], toutes les addresses tombent dans le Bank 0. Apres application du remappage XOR, l'adresse de row 0 reste dans le Bank 0, l'adresse de row 1 est mappee vers le Bank 1, row 2 vers le Bank 2,... Cela elimine ainsi le conflit. Le Swizzling est largement utilise dans des compilateurs comme Triton, qui genere automatiquement le code d'acces optimise.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compilateur Triton peut gerer automatiquement l'optimisation de la disposition de la memoire partagee. Il controle le comportement du Swizzling via certains parametres, par exemple vec represente le nombre d'elements accedes en continu (affectant la vectorisation), perPhase et maxPhase controlent la periode du Swizzle. Triton genere automatiquement du code d'acces sans conflit a la memoire partagee selon ces parametres. Cela soulage considerablement le programmeur de la charge d'optimisation manuelle de la disposition. Ceci est un extrait de code d'un noyau Triton, utilisant la memoire partagee. Triton selectionne automatiquement la disposition optimale lors de la compilation. Par exemple, tl.load est responsable du chargement des donnees depuis la memoire globale vers les registres. Si l'utilisation explicite de la memoire partagee est necessaire, comme lors d'une operation de transposition tl.trans, Triton applique automatiquement l'optimisation Swizzling, garantissant que l'acces a la memoire partagee apres transposition ne genere pas de conflit Bank. Le developpeur peut se concentrer uniquement sur la logique algorithmique, le compilateur gerant les details de la disposition sous-jacente.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disposition de tenseur decrit le mappage des elements du tenseur logique vers les emplacements de stockage physique, incluant l'ordre de disposition en memoire ainsi que la distribution des elements entre les unites materielles. Les types de disposition courants incluent: Row-major (par defaut en C/C++), Column-major (Fortran, MATLAB), stockage par blocs (Blocked, adapte au parallisme GPU), stockage avec pas (Strided, courant dans les operations de decoupage). La figure montre l'ordre de disposition en memoire pour un matrice 2x4 en row-major et column-major. Comprendre ces dispositions est essentiel pour ecrire des programmes GPU performants.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la représentation MLIR de Triton, la disposition est encodée à l'aide d'Attributs spécifiques. Par exemple, BlockedEncodingAttr décrit le motif d'accès à la mémoire globale ; SharedEncodingAttr décrit le motif d'accès à la mémoire partagée, incluant les paramètres Swizzle ; NvidiaMmaEncodingAttr et DotOperandEncodingAttr sont utilisés pour décrire la disposition requise pour les opérations de multiplication matricielle Tensor Core. Ces encodages représentent la disposition comme une mapping depuis la position matérielle (warp, thread, register) vers l'index logique, et utilisent des bits binaires et des opérations XOR pour réaliser un calcul d'adresse efficace.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disposition MMA est un mode d'arrangement des données spécialement conçu pour GPU Tensor Core. Tensor Core exécute l'opération D = A × B + C, traitant des fragments de taille fixe à chaque fois (par exemple 16x16 pour l'architecture Volta). Pour exploiter pleinement Tensor Core, les données doivent être distribuées selon un motif spécifique dans les registres de chaque thread au sein d'un warp. La figure montre un exemple : chaque thread détient 8 éléments, répartis de manière complexe, par exemple Thread 0 détient A[0,0:2], A[8,0:2], etc. Cette disposition est totalement différente de l'ordre ligne par ligne ou colonne par colonne classique, et nécessite des instructions dédiées pour la conversion de disposition. Cette figure illustre davantage le processus de conversion de la disposition Blocked vers MMA. On utilise généralement l'instruction ldmatrix pour charger un fragment matriciel 8x8 depuis la mémoire partagée, puis le redistribuer dans les registres de chaque thread du warp, formant finalement la disposition MMA requise par Tensor Core. Cette conversion est une étape clé avant le calcul principal de la multiplication matricielle.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Triton, la disposition MMA est également décrite par des attributs, par exemple #triton_gpu.nvidia_mma contient le numéro de version (comme Volta, Ampere, Hopper), la disposition de la grille warp, la forme de l'instruction (M×N×K), etc. Ces attributs indiquent au compilateur comment générer les instructions correctes de déplacement de données et de calcul pour Tensor Core. Triton fournit l'opération triton_gpu.convert_layout pour réaliser des conversions explicites entre différentes dispositions. Par exemple, convertir un tenseur de disposition blocked vers un tenseur de disposition mma. Le compilateur insère les instructions ldmatrix nécessaires et autres opérations de réordonnancement. La conversion de disposition est une étape importante du processus de compilation, et une stratégie de conversion raisonnable peut améliorer significativement les performances.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L'allocation mémoire peut être divisée en allocation statique et allocation dynamique. L'allocation statique est effectuée à la compilation, sans surcoût à l'exécution, avec une fragmentation prévisible, mais une faible flexibilité, nécessitant que toutes les tailles de tenseurs soient connues à la compilation. L'allocation dynamique est effectuée à l'exécution, avec un surcoût malloc, mais une flexibilité élevée. La stratégie courante des compilateurs d'apprentissage automatique est : d'abord effectuer une analyse à la compilation, déterminer le cycle de vie des tenseurs, puis calculer le plan d'allocation statique optimal et générer le code d'allocation. Pour les formes dynamiques, un pool mémoire peut être utilisé pour les supporter.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réutilisation de mémoire consiste à faire partager le même espace mémoire à des tenseurs dont les cycles de vie ne se chevauchent pas, réduisant ainsi le pic de mémoire. Dans la figure, A, B et C ont des cycles de vie qui ne se chevauchent pas et peuvent réutiliser le même bloc mémoire ; tandis que le cycle de vie de D se chevauche avec eux, donc il ne peut pas être réutilisé. Les algorithmes courants pour implémenter la réutilisation de mémoire incluent l'algorithme de coloration de graphe (construire le graphe d'interférence, minimiser le nombre de couleurs), l'algorithme glouton (trier par taille de tenseur, réutiliser autant que possible) et la méthode de programmation linéaire en nombres entiers (ILP) pour trouver la solution optimale. Les contraintes incluent un décalage non négatif, et des espaces d'adressage sans conflit pour les tenseurs qui ne se chevauchent pas.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t>Lorsque la mémoire GPU est insuffisante pour stocker tous les tenseurs intermédiaires, la technique de recalcul de tenseur (Rematerialization) peut être employée : rejeter sélectivement certains résultats intermédiaires et les recalculer lorsque nécessaire. Par exemple, lors de la rétropropagation, on peut ne pas stocker un certain tenseur intermédiaire A de la passe avant, ne conserver que B et C, et recalculer A pendant la rétropropagation. L'objectif d'optimisation est d'atteindre un équilibre entre le temps de calcul et le pic de mémoire, nécessitant généralement une décision dynamique à l'exécution ou la résolution d'un problème d'optimisation.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finir, nous resumeons quelques strategies d'optimisation de la disposition et de la planification memoire. Concernant les conversions de disposition, il faut repousser autant que possible les conversions, detecter et supprimer les conversions redondantes, fusionner les conversions adjacentes, et privilegier les dispositions favorables aux operations principales en considerant l'ensemble du graphe de calcul plutot qu'un operateur isole. Pour reduire les conversions, on peut utiliser uniformement la meme disposition, effectuer les conversions aux points intensifs en calcul, et combiner avec l'elimination du code mort. Concernant la reduction des allocations memoire, supprimer les variables mortes evite l'allocation d'espace, supprimer les operations inutiles reduit la duree de vie des tenseurs, permettant ainsi davantage d'opportunites de reutilisation.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Bonjour à tous. Bienvenue à la 25ème leçon, où nous allons explorer les problèmes d'adaptation multi-puces dans le support du backend du compilateur. Le thème de cette leçon est 'Support du backend multi-puces I (Codegen)', c'est-à-dire la partie génération de code. Avec la diversification des accélérateurs matériels pour l'IA, un même algorithme doit générer du code machine efficace pour différentes architectures de puces. Le backend du compilateur est responsable de la conversion de la représentation intermédiaire (IR) en code machine cible, un processus qui comprend des étapes clés telles que la sélection d'instructions, l'allocation de registres, l'ordonnancement d'instructions et l'émission de code. Aujourd'hui, en prenant le compilateur Triton comme exemple, nous analyserons en profondeur comment il permet, via des abstractions multicouches et l'infrastructure LLVM/MLIR, le support de multiples backends GPU tels que NVIDIA, AMD et Intel.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Commençons par une vue d'ensemble du flux de compilation multi-backend. Le frontend du compilateur convertit le code source en une représentation intermédiaire (IR) indépendante de la plateforme, puis le backend convertit l'IR en code machine pour différentes architectures cibles. Les tâches principales du backend incluent : l'adaptation aux différents jeux d'instructions, la génération de code cible efficace, et l'exploitation des caractéristiques matérielles (telles que les unités vectorielles, les accélérateurs matriciels). La figure montre le flux typique de l'IR vers le code cible : sélection d'instructions, allocation de registres, ordonnancement d'instructions, émission de code. Ces étapes sont interdépendantes et déterminent ensemble la performance du code final. Le flux de compilation Triton suit également ce modèle général. Le code Triton Python est d'abord analysé en Triton IR (TTIR), puis après une série d'optimisations et de transformations de disposition, devient TritonGPU IR (TTGIR), ensuite abaissé en LLVM IR, pour finalement générer du PTX (pour les GPU NVIDIA) ou d'autre code cible. Cette conception en couches permet à Triton de réutiliser le puissant backend de LLVM, tout en ajoutant des optimisations spécifiques aux GPU au niveau frontend et intermédiaire, comme l'analyse de disposition mémoire et l'ordonnancement de Warps. L'objectif de Triton est de supporter plusieurs puces d'accélération IA, incluant les GPU NVIDIA, AMD et Intel. Pour ce faire, Triton maintient au niveau IR une abstraction indépendante du matériel (telles que les opérations tensorielles, le parallélisme au niveau des blocs), puis via différents chemins de lowering backend, fait correspondre l'IR unifié aux instructions natives de chaque matériel. Par exemple, l'opération tt.dot dans le backend NVIDIA sera convertie en instructions mma.sync ou wgmma, en instructions v_mfma dans le backend AMD, et en instructions dpas dans le backend Intel. Cette conception améliore considérablement la portabilité du code. Le processus principal du backend du compilateur peut se résumer en quatre étapes : sélection d'instructions, allocation de registres, ordonnancement d'instructions, émission de code. La sélection d'instructions fait correspondre les nœuds IR aux instructions machine cibles ; l'allocation de registres fait correspondre les registres virtuels illimités aux registres physiques limités ; l'ordonnancement d'instructions réarrange l'ordre des instructions pour masquer la latence et améliorer le parallélisme ; l'émission de code produit le code assembleur ou binaire final. Chaque étape doit prendre en compte les caractéristiques de l'architecture cible et faire un compromis entre performance et temps de compilation.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sélection d'instructions est la première étape du backend, qui convertit la représentation intermédiaire (IR) en instructions machines cibles. Une IR peut correspondre à plusieurs combinaisons d'instructions machines, le compilateur doit sélectionner la séquence d'instructions optimale. Par exemple, une opération d'addition peut correspondre à une addition registre, une addition immédiate, ou fusionner avec une multiplication en instruction multiply-add. La sélection d'instructions est généralement basée sur un algorithme de couverture d'arbre : l'IR est représentée sous forme d'arbre, puis des modèles d'instructions cibles (patterns) sont utilisés pour couvrir cet arbre, en choisissant la couverture de coût minimal. L'algorithme de couverture d'arbre résout la couverture optimale par programmation dynamique. Calcule de bas en haut le coût minimal de chaque nœud : Cost(node) = min_{pattern correspondant} (pattern_cost + Σ Cost(parties non couvertes des enfants)). Lors du pattern matching, une instruction peut couvrir un sous-arbre. Cet algorithme garantit un coût minimal pour la séquence d'instructions globale, utilisant généralement une description machine (comme LLVM TableGen) pour générer automatiquement le code de matching. LLVM utilise SelectionDAG comme représentation intermédiaire pour la sélection d'instructions. Les nœuds DAG incluent l'opcode, le type de valeur, la chaîne d'opérandes, etc. Grâce aux patterns d'instructions cibles définis par TableGen, le compilateur génère automatiquement le code de matching, combinant les nœuds DAG en instructions cibles. Ce processus supporte également la fusion d'instructions complexe, comme fusionner multiplication et addition en une seule instruction multiply-add. La figure montre la correspondance entre l'arbre IR et les modèles d'instructions machines, illustrant l'idée du pattern matching.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L'allocation de registres mappe les registres virtuels infinis vers un nombre fini de registres physiques. Les variables actives simultanément ne peuvent pas partager le même registre physique, il faut donc construire un graphe de conflits : les nœuds sont les variables, les arêtes indiquent qu'elles sont actives en même temps (conflit). Le problème d'allocation de registres peut être transformé en un problème de coloration de graphe : colorier le graphe de conflits avec k couleurs (k registres physiques), les nœuds adjacents ayant des couleurs différentes. L'algorithme classique de Chaitin résout le problème en simplifiant itérativement le graphe et en gérant le déversement (spill des variables en mémoire). Pour la compilation JIT, l'algorithme de scan linéaire est souvent utilisé, de complexité moindre.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L'allocation de registres sur GPU a ses spécificités : le GPU possède un grand nombre de registres (chaque thread dispose de nombreux registres), donc le déversement est relativement rare. Mais l'utilisation des registres impacte directement l'Occupancy (nombre de warps actifs). Si chaque thread utilise trop de registres, l'Occupancy diminue, ce qui peut empêcher de masquer la latence. Triton contrôle indirectement la pression des registres via le paramètre num_warps : augmenter le nombre de warps réduit les registres disponibles par warp, augmentant ainsi l'Occupancy, mais peut entraîner un déversement des registres vers la Local Memory, réduisant les performances. Il faut donc trouver un équilibre : la figure montre les effets de différentes configurations : 64 registres/thread (Occupancy 50%) sans déversement, bonne performance ; 32 registres/thread (Occupancy 100%) mais déversement important, mauvaise performance ; 200 registres/thread (Occupancy 15%) sans déversement mais trop peu de warps, impossible de masquer la latence, mauvaise performance également.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L'ordonnancement des instructions vise a minimiser le temps d'execution en masquant la latence des instructions et en exploitant le parallelisme au niveau instruction (ILP). L'ordonnanceur base sur le graphe de dependances des instructions, emet en parallele a differents cycles les instructions independantes. La figure montre un exemple : deux instructions load (latence 300 cycles) sont independantes l'une de l'autre et peuvent etre emises en parallele ; l'instruction add suivante depend des resultats des load et doit s'executer apres 300 cycles. Le resultat de l'ordonnancement emet simultanement load1 et load2 au cycle 0, et add au cycle 300, masquant ainsi une partie de la latence.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pipeline logiciel est une technique d'optimisation de boucle qui ameliore l'utilisation en superposant l'execution des instructions de differentes iterations. La figure montre un pipeline a trois etages : Stage1 (chargement), Stage2 (calcul), Stage3 (stockage). A T=2, l'iteration 2 charge les donnees, l'iteration 1 calcule et l'iteration 0 stocke, les trois en parallele. Triton controle la profondeur du pipeline via le parametre num_stages et utilise la copie memoire asynchrone (cp.async) et le Hopper TMA (Tensor Memory Accelerator) pour implementer un pipeline efficace.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framework de generation de code LLVM se divise en plusieurs etapes : LLVM IR est d'abord converti en SelectionDAG, puis passe par la legalisation des types, la legalisation des operations, l'optimisation DAG, la selection d'instructions et l'ordonnancement pour produire Machine IR (MIR). MIR est une forme SSA d'instructions machine, suivie par l'allocation de registres, l'insertion du prologue/epilogue, l'optimisation finale, puis l'emission d'assemblage via la couche MC pour generer le fichier objet. Ce processus est hautement modulaire, facilitant le support de nouvelles architectures.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nœuds dans SelectionDAG contiennent un opcode (comme ADD, MUL), un type de valeur (comme i32, f32), une chaine d'operandes (utilisee pour maintenir les dependances memoire) ainsi que des informations de debogage. Ces nœuds forment un graphe oriente acyclique, et la selection d'instructions consiste a effectuer une correspondance de motifs sur ce graphe. La legalisation des types gere les types non pris en charge par la machine cible. Par exemple, si la machine cible ne prend pas en charge le type i128, le compilateur le divisera en plusieurs operations i64. La figure montre une addition i128 legalisee en deux additions i64 et un traitement de retenue. De meme, les types flottants peuvent necessiter une extension ou une reduction. La legalisation garantit que les etapes ulterieures ne traitent que les types nativement pris en charge par la cible.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phase Machine IR utilise toujours des registres virtuels, qui sont remplaces par des registres physiques apres l'allocation de registres. Parallelement, le compilateur ajoute le prologue/epilogue de fonction (comme la configuration du cadre de pile). La description de l'architecture cible est realisee via des fichiers TableGen (.td), incluant les definitions de registres, les classes de registres, les definitions d'instructions, etc. Par exemple, definir une instruction d'addition ADDrr, en specifiant les operandes d'entree/sortie, la chaine d'assemblage et le motif de correspondance. Ces descriptions sont utilisees pour generer le selecteur d'instructions et l'assembleur.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backend NVPTX de LLVM compile le LLVM IR en assembleur PTX pour les GPU NVIDIA. Il utilise des intrinseques (comme llvm.nvvm.read.ptx.sreg.tid.x) pour obtenir l'ID du fil, barrier0 pour la synchronisation, et les instructions shuffle pour supporter la communication warp. Mapping des espaces d'adresse : addrspace(1) correspond a la memoire globale, addrspace(3) correspond a la memoire partagee. Ce backend essaie egalement de faire correspondre les instructions Tensor Core, et produit finalement un fichier texte .ptx.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le debogage et l'optimisation, nous pouvons utiliser une serie d'outils pour visualiser les resultats intermediaires de la generation de code : triton-opt --dump-llir produit le LLVM IR ; llc -view-dag-combine1-dags visualise le SelectionDAG ; llc -print-after-all affiche le MIR a chaque etape ; triton-opt --dump-ptx produit le PTX final. Ces outils aident les developpeurs a comprendre le processus d'optimisation du compilateur et a localiser les problemes de performance. Dans Triton, nous pouvons obtenir les IR de chaque etape via le dictionnaire compiled.asm renvoye par triton.compile : 'ttir' (Triton IR), 'ttgir' (TritonGPU IR), 'llir' (LLVM IR), 'ptx' (PTX). Cela nous permet d'examiner en detail chaque etape de conversion du compilateur et de verifier si l'optimisation de la disposition et la generation de code sont correctes.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MLIR (Representation Intermediaire Multi-Niveaux) est un sous-projet du projet LLVM, visant a fournir une infrastructure IR extensible et multi-niveaux. Il permet de definir des dialectes (Dialect), chaque dialecte contenant un ensemble d'operations, de types et d'attributs. Les differents dialectes peuvent coexister et etre progressivement convertis vers des niveaux inferieurs via le Lowering. Par exemple, Triton utilise le dialecte triton pour representer les operations sur tenseurs, puis effectue un Lowering vers le dialecte tritongpu pour introduire les informations de parallelisme et de disposition, et finalement un Lowering vers le dialecte LLVM. Cette conception en couches permet a l'optimisation de se concentrer sur l'abstraction de chaque niveau, simplifiant ainsi le support de multiples cibles.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 coeur de MLIR est la conversion entre dialectes. Les developpeurs doivent seulement se concentrer sur l'optimisation et la logique de Lowering de la couche actuelle, les couches inferieures etant gerees par l'infrastructure MLIR. Par exemple, la conversion du dialecte triton au dialecte tritongpu necessite l'ajout d'attributs de disposition ; la conversion de tritongpu a LLVM necessite la generation de code specifique au niveau des threads. L'extensibilite de MLIR rend le support de nouveaux materiaux plus aise.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Dans MLIR, lors de la generation de code, il faut utiliser OpBuilder pour creer des operations. Toutes les operations sont creees via le Builder. MLIR gere certains types internes. Les types peuvent etre obtenus via builder.getXXXType ou XXXType::get. Le Builder doit definir le point d'insertion (InsertionPoint) pour determiner la position dans le Block. Cela garantit la correction et la coherence de l'IR.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Triton s'appuie entierement sur l'infrastructure MLIR et definit ses propres dialectes (triton et tritongpu pour la generation de code GPU). Le processus va de l'AST Python vers le dialecte triton, puis Lower vers tritongpu, LLVM, et enfin PTX. Le diagramme montre un exemple simple d'addition vectorielle avec le code Python, TTIR et PTX correspondants. On peut voir que Triton automatise le mapping des ID de threads, la generation de masques et les details de chargement/stockage.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TTIR est genere directement depuis l'AST Python, avec une representation au niveau bloc. Par exemple, tt.get_program_id obtient l'ID du programme, tt.make_range cree une plage d'indices, tt.load et tt.store effectuent les acces memoire. Ces operations sont independantes du materiel. TTIR peut reutiliser les dialectes existants de MLIR comme arith, math, etc. pour la compilation et l'optimisation.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TTGIR ajoute des informations de disposition sur la base de TTIR, comme #triton_gpu.blocked qui specifie combien delements chaque thread traite, la configuration warp, etc. Simultanement, les attributs du module specifient larchitecture cible comme cuda:80 pour Ampere et le nombre de warps. Ces informations guident la generation de code ulterieure, assurant que le PTX genere puisse utiliser efficacement les ressources materielles. PTX est le jeu dinstructions virtuel des GPU NVIDIA, compile en code machine reel par ptxas. La figure montre une instruction Tensor Core wmma.mma.sync, qui effectue une multiplication-addition matricielle 16x16x16, avec des operandes distribues dans plusieurs registres 32 bits. Le code PTX contient des declarations de registres, des calculs dID de thread, des calculs dadresses, des branchements conditionnels, etc., correspondant un a un au code machine SASS final.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Triton prend egalement en charge les GPU AMD et Intel. Pour AMD, Triton genere lassemblage GCN/CDNA via le backend LLVM AMDGPU, utilisant les instructions v_mfma pour implementer les calculs matriciels. Pour Intel, Triton passe par le dialecte SPIR-V de MLIR, utilisant finalement Intel Graphics Compiler (IGC) pour generer Gen ISA. Bien que les details de chaque backend different, Triton reste unifie au niveau IR, effectuant uniquement la mise en correspondance des instructions lors du lowering backend.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Les principaux defis pour prendre en charge plusieurs backends incluent: les differences de modele dexecution (taille warp NVIDIA de 32, wave AMD de 64, largeur SIMD Intel variable), les differences de hierarchie memoire (taille memoire partagee, nombre de banks differents), et les differences dunites dacceleration matricielle (NVIDIA Tensor Core, AMD Matrix Core, Intel XMX). Triton resout ces problemes par des couches dabstraction: introduction de parametres de largeur dexecution dans TTGIR, configuration de taille memoire partagee, et interface unifiee tt.dot, que le backend mappe aux instructions specifiques selon larchitecture cible. La figure montre une classe backend simplifiee, choisissant differentes strategies demission dinstructions selon la version de larchitecture.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L'optimisation de la génération de code comprend la vectorisation et le déroulage de boucle. La vectorisation combine des opérations scalaires en opérations vectorielles, réduisant le nombre d'instructions et utilisant les unités SIMD. Triton supporte nativement la vectorisation via des opérations tensorielles : tl.arange génère des indices vectoriels, tandis que les opérations de chargement/stockage sont automatiquement compilées en instructions vectorielles. Le déroulage de boucle réduit les coûts de contrôle de boucle en copiant le corps de la boucle, expose plus de parallélisme au niveau instruction et améliore le taux de réutilisation des registres. La vectorisation dans Triton est implicite. L'utilisateur utilise tl.arange(0, BLOCK) pour générer des indices continus, puis les passe à tl.load. Le compilateur sélectionne automatiquement la largeur de vecteur optimale en fonction du type de données et de la taille BLOCK, générant les instructions de chargement vectoriel correspondantes (comme ld.global.v4.f32). Cela simplifie considérablement la programmation tout en garantissant l'efficacité. Le déroulage de boucle est une autre optimisation importante. Le diagramme montre le déroulage d'une boucle K d'un pas de 16 à un pas de 64, exécutant 4 opérations dot en une seule itération. Cela réduit les coûts de contrôle de boucle et permet l'exécution parallèle de plusieurs instructions dot (si les ressources matérielles le permettent). Dans Triton, le déroulage de boucle peut être réalisé manuellement ou automatiquement par le compilateur, améliorant encore les performances.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Enfin, nous laissons un sujet de discussion de groupe : « Comment Triton supporte-t-il les différentes architectures NVIDIA ? » Veuillez réfléchir, en combinant le contenu d'aujourd'hui, à la façon dont Triton utilise les attributs cibles (comme triton_gpu.target) et les jugements de version pour sélectionner différentes instructions Tensor Core (comme mma de Volta, wgmma d'Ampere), et ajuster la profondeur du pipeline et les stratégies d'allocation des registres pour s'adapter aux caractéristiques des différentes architectures. Après la discussion, chaque groupe est invité à désigner un représentant pour partager ses points de vue. C'est la fin du contenu de ce cours, merci à tous.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cours est le vingt-sixième, le thème porte sur le support multi-puces, en se concentrant spécifiquement sur la conception du système au niveau de l'exécution, c'est-à-dire la couche Runtime, et l'intégration de l'écosystème 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Passons maintenant à la section centrale, explorant comment la couche Runtime permet un support unifié multi-backends matériels et résout le problème de la fragmentation de la puissance de calcul. Commençons par la nécessité d'introduire un Runtime unifié. Prenons PyTorch comme exemple, le framework natif contient plus de deux mille six cents opérateurs de bas niveau. Si un fabricant matériel souhaite intégrer sa propre carte d'accélération, l'approche traditionnelle nécessite d'écrire chaque implémentation backend en C++ et de modifier en profondeur le code central du framework. Cela entraîne non seulement une fragmentation grave de l'écosystème, mais rend également extrêmement élevé le coût de migration de la puissance de calcul. C'est pourquoi FlagTree et FlagGems proposent une nouvelle approche : découpler totalement la phase de compilation de la phase d'exécution via une couche Runtime unifiée.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Alors, de quoi le système Runtime est-il responsable ? D'un point de vue hiérarchique, il se situe entre le compilateur et le système d'exploitation. Ses limites de responsabilité principales incluent quatre points. Premièrement, la gestion des appareils, responsable de l'initialisation et de la maintenance du contexte matériel. Deuxièmement, l'ordonnancement mémoire, responsable de la gestion de l'allocation et de la libération de la mémoire vidéo. Troisièmement, le flux de données, traitant le transfert de données de l'hôte vers l'appareil et de l'appareil vers l'hôte. Enfin, la distribution des instructions, qui non seulement distribue les fichiers binaires de noyau compilés vers les appareils physiques et synchronise les flux d'exécution, mais fournit également une couche d'abstraction API élevée pour masquer les différences significatives entre les interfaces de pilotes de bas niveau des différents fabricants de 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ensuite le paradigme d'encapsulation API. En prenant l'exemple de l'interception transparente de FlagGems sur ATen, sa philosophie de conception est d'éviter absolument de modifier le code de modèle existant de l'utilisateur, en exposant une interface d'appel totalement cohérente à la couche supérieure. Pour réaliser cela, FlagGems utilise un mécanisme d'enregistrement out-of-tree pour effectuer des extensions hors-arbre. Son flux de travail est très clair : d'abord intercepter l'appel d'opérateur ATen natif, puis fournir une implémentation Triton spécifique au backend, et enfin remplacer de force le comportement natif. Grâce à ce mécanisme, nous pouvons réaliser une migration invisible de puissance de calcul pour les développeurs de modèles.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Lors de l'exécution réelle, les appels fréquents à l'interface Python et la compilation juste-à-temps entraînent des frais généraux d'exécution importants. Pour réduire ces frais généraux, nous introduisons l'encapsulation d'exécution LibEntry. Son principal avantage est d'éliminer complètement la contention du verrou d'interpréteur global Python. Nous déplaçons entièrement la logique d'empaquetage d'opérateurs, le mécanisme d'enregistrement et la gestion des flux d'exécution vers la couche C++, avec une intégration approfondie de CUDA et du flux de travail du pilote de bas niveau, améliorant ainsi considérablement l'efficacité d'exécution du système.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Maintenant que les goulots d'étranglement de performance sont résolus, voyons comment plusieurs dispositifs peuvent coexister. Le compilateur FlagTree et la bibliothèque d'opérateurs FlagGems sont désormais intégrés sur plus de dix plateformes matérielles, couvrant les principaux chips de calcul comme NVIDIA, Kunlunxin, Ascend de Huawei, etc. Pour gérer ces dispositifs, le système adopte un mécanisme de routage backend piloté par chargement à la demande et variables d'environnement. Le système priorise d'abord la détection automatique du matériel, et en cas d'échec, s'appuie sur les variables d'environnement pour le routage. Les utilisateurs peuvent également utiliser des variables d'environnement spécifiques pour forcer la cible de distribution, garantissant ainsi l'isolement strict des fichiers physiques multi-branches et réduisant significativement les risques de conflits de code dans le développement multiplateforme.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Bien que le code de descente du compilateur générique garantisse l'exactitude fonctionnelle, il n'atteint pas nécessairement les performances optimales du matériel spécifique. Par conséquent, FlagGems introduit un mécanisme de planification prioritaire de spécialisation matérielle. Avant la distribution des instructions, le système vérifie en priorité si une version optimisée manuellement par le fournisseur existe dans le répertoire d'opérateurs ou le répertoire de fusion correspondant. Si une version spécialisée existe, le système déclenche un mécanisme de court-circuit, contourne la logique multiplateforme générique et route directement la tâche vers le code spécialisé, exploitant ainsi au maximum la puissance de calcul du 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un cas d'étude réel, le support spécialisé de l'opérateur de fusion d'entropie croisée de Tsingmicro. L'entropie croisée est le calcul central de l'entraînement des modèles de langage. Du point de vue mathématique, elle comprend le calcul de projection de l'état latent, l'extraction par normalisation et l'évaluation de la log-vraisemblance négative. La taille du vocabulaire des grands modèles de langage modernes est extrêmement importante, généralement entre trente mille et cent vingt mille, ce qui entraîne une augmentation drastique du volume des matrices de variables intermédiaires. Si l'on adopte la stratégie d'exécution par défaut, en réécrivant toutes les variables intermédiaires vers la mémoire à haute bande passante et en les rechargeant lors du calcul suivant, les accès mémoire deviennent un goulot d'étranglement de performance majeur.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Pour résoudre le goulot d'étranglement du mur mémoire, TsingMicro a spécialisé l'implémentation du noyau d'entropie croisée linéaire fusionnée dans son plugin backend matériel. Cette implémentation adopte un algorithme en ligne de somme exponentielle logarithmique. Grâce à cet algorithme, nous évitons complètement la matérialisation des tenseurs intermédiaires, en exploitant pleinement la mémoire SRAM statique sur puce pour des calculs efficaces. De plus, cette implémentation combine les instructions de gestion de mémoire partagée spécifiques aux puces TsingMicro avec des stratégies de synchronisation des grappes de threads pour une optimisation approfondie, améliorant considérablement le débit de bout en bout de l'opérateur.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À travers le cas précédent, nous pouvons résumer la signification systémique de la priorité de spécialisation. Un mécanisme d'intégration Runtime avancé est essentiellement un routeur dynamique capable d'équilibrer intelligemment la généralité et la spécificité. Dans cette architecture, FlagTree, le compilateur unifié, est responsable de la descente et de la génération de code des graphes de calcul génériques, fournissant une capacité de généralisation puissante garantissant une disponibilité de base. Le dossier backend de FlagGems fournit quant à lui un chemin d'exécution court-circuit, permettant à des matériels spécifiques d'exécuter du code de spécialisation fortement optimisé.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Maintenant que la partie théorique est terminée, nous passons à la session expérimentale. L'objectif de cette expérience est d'apprendre à utiliser le mécanisme de plugin FlagGems pour ajouter un support backend Runtime à une nouvelle puce AI fictive appelée NeuroX. Nous simulerons le processus d'ingénierie d'un véritable fabricant de puces intégrant une infrastructure unifiée de grands modèles. L'exigence principale est de suivre strictement l'encapsulation d'interface unifiée et de réaliser une maintenance indépendante de la logique de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premiere phase experimentale consiste a assurer le support de compilation bas niveau et l'initialisation de l'environnement de construction. Nous devons confirmer que le compilateur bas niveau a ete integre dans la branche du processeur cible. Ensuite, en configurant les variables d'environnement de la machine hote, nous envoyons des instructions de routage au mecanisme de detection, en specifiant a la fois le backend et le fournisseur comme etant NeuroX. Enfin, en executant la commande d'installation sans isolation de construction dans le repertoire racine du code source, nous achevons la configuration de l'environnement de developpement de base.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deuxieme phase experimentale consiste a construire l'architecture du repertoire du plugin materiel. Nous devons creer strictement un espace de noms NeuroX independant dans le repertoire du backend systeme. La structure des repertoires doit etre clairement divisee, incluant le fichier d'initialisation pour l'enregistrement et la liaison, le fichier de peripherique pour la couche d'encapsulation du pilote, ainsi que les sous-repertoires dedies pour stocker les operateurs de base specialises et les operateurs composites optimises. L'objectif fondamental de cette etape est de realiser la separation des preoccupations au niveau du code physique.</a:t>
            </a: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troisième étape expérimentale est l'encapsulation de la couche d'abstraction matérielle. Nous devons écrire des fichiers de contrôle de périphérique, en suivant strictement le contrat d'interface backend défini par le système. Dans l'implémentation concrète, il faut obtenir via le code les primitives de bas niveau comme le flux d'exécution asynchrone du périphérique actuel, garantissant une relation de mappage précise entre la logique d'appel Python de haut niveau et l'interface de pilote privé NeuroX.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quatrième étape expérimentale est le développement d'opérateurs spécialisés et l'enregistrement du système de distribution. Nous devons développer dans le répertoire de fusion des opérateurs de normalisation de couche optimisés pour la hiérarchie de cache de la puce NeuroX. L'action principale consiste à utiliser le système d'enregistrement de bas niveau pour attacher la fonction enveloppe à la clé de distribution réservée aux extensions personnalisées. Une fois l'injection d'enregistrement déclenchée, le système intercepte de force la logique d'appel par défaut du framework natif. Lorsque le graphe de calcul exécute ce nœud, il abandonne la déduction générique et exécute le noyau haute vitesse que nous venons de charger.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La dernière étape expérimentale est les tests de référence automatisés. D'abord, la validation de précision basée sur le framework de test - nous devons contraindre les tenseurs de sortie des opérateurs spécialisés du nouveau matériel à maintenir l'erreur absolue avec l'implémentation de référence CPU respectant strictement la norme internationale pour les nombres à virgule flottante, dans les limites de tolérance prédéfinies. Après avoir confirmé l'exactitude des calculs, nous exécutons le script de test de performance pour l'analyse du débit et le feedback de performance, complétant ainsi la validation d'intégration du backend matériel.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Enfin, nous conclurons avec un résumé et des perspectives. Les technologies d'optimisation clés de FlagGems couvrent depuis l'interception transparente de la couche de connexion au framework, jusqu'à l'optimisation C++ de la couche de contrôle logique, en passant par le routage par variable d'environnement de la couche de distribution matérielle, et l'abstraction de périphérique unifiée de la couche d'adaptation de pilote. Ce mécanisme d'isolation de répertoires pluginisée et d'enregistrement cross-source délègue réellement le pouvoir de construction écologique, permettant aux fabricants de matériel de maintenir et d'optimiser de manière autonome, réalisant ainsi la vision d'écrire une fois le code et de l'exécuter sur plusieurs plateformes, réduisant considérablement les coûts de migration de calcul de l'industrie. C'est la fin de ce cours, merci à tous.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Aujourd'hui, c'est la vingt-septième leçon. Nous allons présenter et analyser en détail le projet final du troisième module, à savoir la tâche de contribution Pass basée sur le compilateur FlagTree. Dans les cours précédents, vous avez déjà appris les principes fondamentaux et les représentations intermédiaires des compilateurs d'IA ; aujourd'hui, nous allons transformer la théorie en véritable pratique d'ingénierie.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Tout d'abord, passons en revue l'ensemble du système de projets du cours. Notre volet pratique se divise en quatre phases principales. La cinquième séance sur la configuration de l'environnement et la chaîne d'outils est un travaux pratiques, qui exige de valider quatre étapes et de soumettre un rapport. La neuvième séance sur le développement du noyau Softmax constitue un projet individuel de mi-session, dont l'évaluation porte principalement sur l'exactitude logique (40 points) et une performance devant franchir le seuil de 70%. La dix-huitième séance est un projet final individuel sur la fusion RMSNorm et réseau résiduel, exigeant une performance atteignant 90% de la référence FlagGems. La vingt-septième séance, qui est notre sujet principal aujourd'hui, est l'évaluation finale de contribution FlagTree Pass : vous devrez choisir l'une des trois directions et la valider par test FileCheck. Enfin, à la trente-sixième séance, nous effectuerons un entraînement distribué multi-machines du modèle 7B, un projet de groupe de trois personnes nécessitant la comparaison de trois stratégies parallèles et l'analyse de l'accélération linéaire. Finalement, aux séances 46-47, nous tiendrons la soutenance de groupe du grand projet pour évaluer la faisabilité du plan et l'authenticité de l'avancement technique.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maintenant en détail le contexte et le déroulement de ce projet. Le Pass du compilateur est le mécanisme central de l'optimisation des compilateurs d'intelligence artificielle. FlagTree est construit sur un framework de représentation intermédiaire multicouche, le célèbre MLIR, qui convertit progressivement les représentations d'opérateurs de haut niveau vers le code machine cible à travers une série de Pass. Ce projet demande à chacun de choisir une direction pour contribuer un Pass d'optimisation ou une extension d'opérateur à FlagTree, afin de vivre l'expérience du développement réel de compilation. Le processus de développement dure trois semaines. La première semaine consiste à lire le code source de FlagTree, déterminer la direction et soumettre un document de conception d'une à deux pages. La deuxième semaine, vous devez compléter l'implémentation du code du Pass principal et soumettre un projet de demande de fusion dans le dépôt de code. La troisième semaine, vous devez écrire les tests unitaires FileCheck, compléter la vérification de la performance et de l'exactitude, et finalement soumettre le code.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Ce projet propose trois directions optionnelles, vous devez en choisir une. La direction A consiste à implémenter un nouveau Pass de fusion d'opérateurs. Vous devez implémenter une règle de fusion par correspondance de motifs dans MLIR. Par exemple, fusionner l'addition avec la normalisation de couche, ou fusionner la multiplication avec Softmax en Softmax à échelle. Cette direction exige d'identifier correctement et de réécrire le graphe de calcul, et finalement de générer l'appel du kernel Triton de l'opérateur fusionné. La direction B étend le support multi-puces des opérateurs existants. Vous pouvez ajouter le support backend pour le NPU Ascend ou le processeur graphique AMD GPU à des opérateurs existants comme GELU ou LayerNorm. Vous devez implémenter le chemin de génération de code correspondant, comme le code cible SPIR-V ou Ascend C, et utiliser l'interface Runtime pour compléter l'enregistrement de l'opérateur. La direction C consiste à implémenter un Pass d'optimisation de graphe. Elle exige d'implémenter l'extraction de code invariant de boucle ou l'élimination de sous-expressions communes. Vous devez identifier au niveau de l'Affine Dialect les calculs extractibles, et vérifier rigoureusement l'équivalence sémantique avant et après la transformation.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t>Examinons les spécifications de soumission détaillées et les critères d'évaluation. Pour le code, vous devez utiliser le standard C++17 et respecter strictement les normes de codage LLVM. Votre Pass doit passer au moins trois cas de test FileCheck, et vous devez également fournir un script de validation Python pour la vérificationbout-à-bout de la sortie de l'opérateur. Pour la documentation, vous devez soumettre une description de conception du Pass, décrivant clairement la logique de correspondance de motifs et les règles de transformation. Vous devez également avoir un rapport de test, quantifiant les effets d'optimisation, comme la réduction du nombre de kernels ou le raccourcissement du temps d'exécution. Le barème total est de cent points. L'exactitude du Pass compte pour quarante points, exigeant que tous les tests passent et que la validationbout-à-bout soit correcte. L'effet d'optimisation compte pour vingt-cinq points, nécessitant une quantification des améliorations de performance apportées par la fusion ou l'optimisation. La qualité du code compte pour vingt points, évaluant la conformité aux normes LLVM ainsi que la complétude des commentaires et la clarté de la structure. Enfin, le document de conception compte pour quinze points, évaluant la clarté des idées et l'expression logique.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t>Introduction a FlagOS, la stack logicielle AI unifiee et open source. FlagOS, une stack logicielle AI unifiee et open source multi-puces, a ete initiee et creee conjointement par plus d'une dizaine d'organisations nationales et internationales, dont des fabricants de puces, des integrates systeme, des unites liees aux algorithmes et logiciels, des organisations a but non lucratif et des institutions de recherche. Elle repond aux problemes centraux lies a l'utilisation de diverses puces AI et constitue un ecosysteme logiciel comprenant la bibliotheque d'operateurs generalistes hautes performances FlagGems, le compilateur unifie FlagTree, le cadre de formation et d'inference paralleles FlagScale, la bibliotheque de communication unifiee FlagCX, la plateforme de migration et de publication automatisee FlagRelease et l'outil d'evaluation multi-puces FlagPerf. FlagOS nous montre une possibilite de briser l'isolement ecosystemique entre les differentes stacks logicielles de puces, reduisant ainsi efficacement les couts de migration pour les developpeurs. Site officiel : https://flagos.io Portail interactif : https://wiki.flagos.io Documentation officielle : https://docs.flagos.io Presentation version 1.6 : https://mp.weixin.qq.com/s/eBgg6_5FJV-RuYk5fBQvOg Sincerement open source, bienvenue pour Star-Watch-Fork. 1. FlagGems : https://github.com/flagos-ai/FlagGems 2. FlagTree : https://github.com/flagos-ai/flagtree 3. FlagScale : https://github.com/flagos-ai/FlagScale 4. FlagCX : https://github.com/flagos-ai/FlagCX 5. FlagPerf : https://github.com/flagos-ai/flagperf 6. KernelGen : https://kernelgen.flagos.io 7. FlagRelease : https://modelscope.cn/organization/FlagRelease https://huggingface.co/FlagRelease/models https://www.wisemodel.cn/models/FlagRelease https://www.gpufree.cn https://www.aihuanxin.cn Sites miroirs : https://gitcode.com/flagos-ai https://gitee.com/flagos-ai Compte WeChat : Zhiyuan FlagOpen Compte video : Zhiyuan FlagOpen</a:t>
            </a: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a:p>
            <a:pPr indent="0" algn="l">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a:spLocks noGrp="1"/>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a:spLocks noGrp="1"/>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a:spLocks noGrp="1"/>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a:spLocks noGrp="1"/>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a:spLocks noGrp="1"/>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a:spLocks noGrp="1"/>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a:spLocks noGrp="1"/>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name="9_제목 슬라이드">
    <p:spTree>
      <p:nvGrpSpPr>
        <p:cNvPr id="1" name=""/>
        <p:cNvGrpSpPr/>
        <p:nvPr/>
      </p:nvGrpSpPr>
      <p:grpSpPr>
        <a:xfrm>
          <a:off x="0" y="0"/>
          <a:ext cx="0" cy="0"/>
          <a:chOff x="0" y="0"/>
          <a:chExt cx="0" cy="0"/>
        </a:xfrm>
      </p:grpSpPr>
      <p:sp>
        <p:nvSpPr>
          <p:cNvPr id="2" name="AutoShape 2"/>
          <p:cNvSpPr>
            <a:spLocks noGrp="1"/>
          </p:cNvSpPr>
          <p:nvPr>
            <p:ph type="pic" sz="quarter" idx="84"/>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85"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0"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2_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a:spLocks noGrp="1"/>
          </p:cNvSpPr>
          <p:nvPr>
            <p:ph type="body" sz="quarter" idx="64"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1" r="10429" b="29794"/>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1_上下">
    <p:spTree>
      <p:nvGrpSpPr>
        <p:cNvPr id="1" name=""/>
        <p:cNvGrpSpPr/>
        <p:nvPr/>
      </p:nvGrpSpPr>
      <p:grpSpPr>
        <a:xfrm>
          <a:off x="0" y="0"/>
          <a:ext cx="0" cy="0"/>
          <a:chOff x="0" y="0"/>
          <a:chExt cx="0" cy="0"/>
        </a:xfrm>
      </p:grpSpPr>
      <p:sp>
        <p:nvSpPr>
          <p:cNvPr id="2" name="AutoShape 2"/>
          <p:cNvSpPr>
            <a:spLocks noGrp="1"/>
          </p:cNvSpPr>
          <p:nvPr>
            <p:ph type="body" sz="quarter" idx="65" hasCustomPrompt="1"/>
          </p:nvPr>
        </p:nvSpPr>
        <p:spPr>
          <a:xfrm>
            <a:off x="741404" y="431629"/>
            <a:ext cx="9987507" cy="700925"/>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66"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a:spLocks noGrp="1"/>
          </p:cNvSpPr>
          <p:nvPr>
            <p:ph type="body" sz="quarter" idx="67"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a:spLocks noGrp="1"/>
          </p:cNvSpPr>
          <p:nvPr>
            <p:ph type="body" sz="quarter" idx="68"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10_제목 슬라이드">
    <p:spTree>
      <p:nvGrpSpPr>
        <p:cNvPr id="1" name=""/>
        <p:cNvGrpSpPr/>
        <p:nvPr/>
      </p:nvGrpSpPr>
      <p:grpSpPr>
        <a:xfrm>
          <a:off x="0" y="0"/>
          <a:ext cx="0" cy="0"/>
          <a:chOff x="0" y="0"/>
          <a:chExt cx="0" cy="0"/>
        </a:xfrm>
      </p:grpSpPr>
      <p:sp>
        <p:nvSpPr>
          <p:cNvPr id="2" name="AutoShape 2"/>
          <p:cNvSpPr>
            <a:spLocks noGrp="1"/>
          </p:cNvSpPr>
          <p:nvPr>
            <p:ph type="pic" sz="quarter" idx="86"/>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a:spLocks noGrp="1"/>
          </p:cNvSpPr>
          <p:nvPr>
            <p:ph type="body" sz="quarter" idx="87"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0"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1_大纲">
    <p:spTree>
      <p:nvGrpSpPr>
        <p:cNvPr id="1" name=""/>
        <p:cNvGrpSpPr/>
        <p:nvPr/>
      </p:nvGrpSpPr>
      <p:grpSpPr>
        <a:xfrm>
          <a:off x="0" y="0"/>
          <a:ext cx="0" cy="0"/>
          <a:chOff x="0" y="0"/>
          <a:chExt cx="0" cy="0"/>
        </a:xfrm>
      </p:grpSpPr>
      <p:sp>
        <p:nvSpPr>
          <p:cNvPr id="2" name="AutoShape 2"/>
          <p:cNvSpPr>
            <a:spLocks noGrp="1"/>
          </p:cNvSpPr>
          <p:nvPr>
            <p:ph type="body" sz="quarter" idx="78"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indent="0" algn="ctr">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grpSp>
      <p:sp>
        <p:nvSpPr>
          <p:cNvPr id="12" name="AutoShape 12"/>
          <p:cNvSpPr>
            <a:spLocks noGrp="1"/>
          </p:cNvSpPr>
          <p:nvPr>
            <p:ph type="body" sz="quarter" idx="79"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image" Target="../media/image2.png"/><Relationship Id="rId18" Type="http://schemas.openxmlformats.org/officeDocument/2006/relationships/image" Target="../media/image3.png"/><Relationship Id="rId19" Type="http://schemas.openxmlformats.org/officeDocument/2006/relationships/image" Target="../media/image4.png"/><Relationship Id="rId20" Type="http://schemas.openxmlformats.org/officeDocument/2006/relationships/image" Target="../media/image1.png"/><Relationship Id="rId21" Type="http://schemas.openxmlformats.org/officeDocument/2006/relationships/image" Target="../media/image5.png"/><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fld>
            <a:endParaRPr lang="zh-CN"/>
          </a:p>
        </p:txBody>
      </p:sp>
      <p:pic>
        <p:nvPicPr>
          <p:cNvPr id="2" name="Picture 1"/>
          <p:cNvPicPr>
            <a:picLocks noChangeAspect="1"/>
          </p:cNvPicPr>
          <p:nvPr/>
        </p:nvPicPr>
        <p:blipFill>
          <a:blip r:embed="rId12"/>
          <a:stretch>
            <a:fillRect/>
          </a:stretch>
        </p:blipFill>
        <p:spPr>
          <a:xfrm>
            <a:off x="9017000" y="5029200"/>
            <a:ext cx="2286000" cy="13716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Shape 5"/>
        <p:cNvGrpSpPr/>
        <p:nvPr/>
      </p:nvGrpSpPr>
      <p:grpSpPr>
        <a:xfrm>
          <a:off x="0" y="0"/>
          <a:ext cx="0" cy="0"/>
          <a:chOff x="0" y="0"/>
          <a:chExt cx="0" cy="0"/>
        </a:xfrm>
      </p:grpSpPr>
      <p:sp>
        <p:nvSpPr>
          <p:cNvPr id="5"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8"/>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9"/>
            <a:srcRect l="13229" t="29812" r="10430" b="29795"/>
            <a:stretch>
              <a:fillRect/>
            </a:stretch>
          </p:blipFill>
          <p:spPr>
            <a:xfrm>
              <a:off x="10527164" y="158476"/>
              <a:ext cx="1274701" cy="547850"/>
            </a:xfrm>
            <a:prstGeom prst="rect">
              <a:avLst/>
            </a:prstGeom>
            <a:ln w="12700">
              <a:noFill/>
              <a:prstDash val="solid"/>
            </a:ln>
          </p:spPr>
        </p:pic>
      </p:grpSp>
      <p:pic>
        <p:nvPicPr>
          <p:cNvPr id="6" name="Picture 6"/>
          <p:cNvPicPr>
            <a:picLocks noChangeAspect="1"/>
          </p:cNvPicPr>
          <p:nvPr userDrawn="1"/>
        </p:nvPicPr>
        <p:blipFill>
          <a:blip r:embed="rId20"/>
          <a:stretch>
            <a:fillRect/>
          </a:stretch>
        </p:blipFill>
        <p:spPr>
          <a:xfrm>
            <a:off x="9017000" y="5029200"/>
            <a:ext cx="2286000" cy="1371600"/>
          </a:xfrm>
          <a:prstGeom prst="rect">
            <a:avLst/>
          </a:prstGeom>
        </p:spPr>
      </p:pic>
      <p:pic>
        <p:nvPicPr>
          <p:cNvPr id="7" name="图片 6" descr="/Users/jieran/Library/Containers/com.kingsoft.wpsoffice.mac/Data/tmp/picturecompress_20260414165320/output_1.pngoutput_1"/>
          <p:cNvPicPr>
            <a:picLocks noChangeAspect="1"/>
          </p:cNvPicPr>
          <p:nvPr userDrawn="1"/>
        </p:nvPicPr>
        <p:blipFill>
          <a:blip r:embed="rId21"/>
          <a:stretch>
            <a:fillRect/>
          </a:stretch>
        </p:blipFill>
        <p:spPr>
          <a:xfrm>
            <a:off x="8084820" y="216535"/>
            <a:ext cx="927735" cy="3867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2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1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1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slideLayout" Target="../slideLayouts/slideLayout13.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5.png"/><Relationship Id="rId2" Type="http://schemas.openxmlformats.org/officeDocument/2006/relationships/image" Target="../media/image36.png"/><Relationship Id="rId3" Type="http://schemas.openxmlformats.org/officeDocument/2006/relationships/slideLayout" Target="../slideLayouts/slideLayout13.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slideLayout" Target="../slideLayouts/slideLayout13.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1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1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1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1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1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1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1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1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1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1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3.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1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1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3.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1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1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1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1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14.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14.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1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70.png"/><Relationship Id="rId2" Type="http://schemas.openxmlformats.org/officeDocument/2006/relationships/slideLayout" Target="../slideLayouts/slideLayout1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3.xml"/><Relationship Id="rId4"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1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slideLayout" Target="../slideLayouts/slideLayout14.xml"/><Relationship Id="rId4"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77.png"/><Relationship Id="rId3" Type="http://schemas.openxmlformats.org/officeDocument/2006/relationships/slideLayout" Target="../slideLayouts/slideLayout14.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78.png"/><Relationship Id="rId2" Type="http://schemas.openxmlformats.org/officeDocument/2006/relationships/slideLayout" Target="../slideLayouts/slideLayout14.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79.png"/><Relationship Id="rId2" Type="http://schemas.openxmlformats.org/officeDocument/2006/relationships/image" Target="../media/image80.png"/><Relationship Id="rId3" Type="http://schemas.openxmlformats.org/officeDocument/2006/relationships/slideLayout" Target="../slideLayouts/slideLayout14.xml"/><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82.png"/><Relationship Id="rId2" Type="http://schemas.openxmlformats.org/officeDocument/2006/relationships/slideLayout" Target="../slideLayouts/slideLayout1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83.png"/><Relationship Id="rId2" Type="http://schemas.openxmlformats.org/officeDocument/2006/relationships/image" Target="../media/image84.png"/><Relationship Id="rId3" Type="http://schemas.openxmlformats.org/officeDocument/2006/relationships/slideLayout" Target="../slideLayouts/slideLayout13.xml"/><Relationship Id="rId4"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4.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85.png"/><Relationship Id="rId2" Type="http://schemas.openxmlformats.org/officeDocument/2006/relationships/slideLayout" Target="../slideLayouts/slideLayout1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86.png"/><Relationship Id="rId2" Type="http://schemas.openxmlformats.org/officeDocument/2006/relationships/image" Target="../media/image87.png"/><Relationship Id="rId3" Type="http://schemas.openxmlformats.org/officeDocument/2006/relationships/slideLayout" Target="../slideLayouts/slideLayout13.xml"/><Relationship Id="rId4"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88.jpeg"/><Relationship Id="rId2" Type="http://schemas.openxmlformats.org/officeDocument/2006/relationships/slideLayout" Target="../slideLayouts/slideLayout1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89.png"/><Relationship Id="rId2" Type="http://schemas.openxmlformats.org/officeDocument/2006/relationships/slideLayout" Target="../slideLayouts/slideLayout1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90.png"/><Relationship Id="rId2" Type="http://schemas.openxmlformats.org/officeDocument/2006/relationships/slideLayout" Target="../slideLayouts/slideLayout14.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3.xml"/><Relationship Id="rId4"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93.png"/><Relationship Id="rId2" Type="http://schemas.openxmlformats.org/officeDocument/2006/relationships/slideLayout" Target="../slideLayouts/slideLayout1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1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95.png"/><Relationship Id="rId2" Type="http://schemas.openxmlformats.org/officeDocument/2006/relationships/slideLayout" Target="../slideLayouts/slideLayout1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96.png"/><Relationship Id="rId2" Type="http://schemas.openxmlformats.org/officeDocument/2006/relationships/slideLayout" Target="../slideLayouts/slideLayout1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image" Target="../media/image97.png"/><Relationship Id="rId2" Type="http://schemas.openxmlformats.org/officeDocument/2006/relationships/slideLayout" Target="../slideLayouts/slideLayout1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98.png"/><Relationship Id="rId2" Type="http://schemas.openxmlformats.org/officeDocument/2006/relationships/image" Target="../media/image99.png"/><Relationship Id="rId3" Type="http://schemas.openxmlformats.org/officeDocument/2006/relationships/slideLayout" Target="../slideLayouts/slideLayout13.xml"/><Relationship Id="rId4"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image" Target="../media/image100.png"/><Relationship Id="rId2" Type="http://schemas.openxmlformats.org/officeDocument/2006/relationships/slideLayout" Target="../slideLayouts/slideLayout1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3.xml"/></Relationships>
</file>

<file path=ppt/slides/_rels/slide145.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3.xml"/><Relationship Id="rId3" Type="http://schemas.openxmlformats.org/officeDocument/2006/relationships/notesSlide" Target="../notesSlides/notesSlide144.xml"/></Relationships>
</file>

<file path=ppt/slides/_rels/slide146.xml.rels><?xml version='1.0' encoding='UTF-8' standalone='yes'?>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13.xml"/><Relationship Id="rId3" Type="http://schemas.openxmlformats.org/officeDocument/2006/relationships/notesSlide" Target="../notesSlides/notesSlide14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6.xml"/></Relationships>
</file>

<file path=ppt/slides/_rels/slide148.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3.xml"/><Relationship Id="rId3" Type="http://schemas.openxmlformats.org/officeDocument/2006/relationships/notesSlide" Target="../notesSlides/notesSlide14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0.xml"/></Relationships>
</file>

<file path=ppt/slides/_rels/slide152.xml.rels><?xml version='1.0' encoding='UTF-8' standalone='yes'?>
<Relationships xmlns="http://schemas.openxmlformats.org/package/2006/relationships"><Relationship Id="rId1" Type="http://schemas.openxmlformats.org/officeDocument/2006/relationships/image" Target="../media/image102.png"/><Relationship Id="rId2" Type="http://schemas.openxmlformats.org/officeDocument/2006/relationships/slideLayout" Target="../slideLayouts/slideLayout13.xml"/><Relationship Id="rId3" Type="http://schemas.openxmlformats.org/officeDocument/2006/relationships/notesSlide" Target="../notesSlides/notesSlide151.xml"/></Relationships>
</file>

<file path=ppt/slides/_rels/slide153.xml.rels><?xml version='1.0' encoding='UTF-8' standalone='yes'?>
<Relationships xmlns="http://schemas.openxmlformats.org/package/2006/relationships"><Relationship Id="rId1" Type="http://schemas.openxmlformats.org/officeDocument/2006/relationships/image" Target="../media/image103.png"/><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hyperlink" Target="https://github.com/flagos-ai" TargetMode="External"/><Relationship Id="rId8" Type="http://schemas.openxmlformats.org/officeDocument/2006/relationships/hyperlink" Target="https://space.bilibili.com/3546791834290849" TargetMode="External"/><Relationship Id="rId9" Type="http://schemas.openxmlformats.org/officeDocument/2006/relationships/hyperlink" Target="https://www.zhihu.com/people/95-22-20-18/posts" TargetMode="External"/><Relationship Id="rId10" Type="http://schemas.openxmlformats.org/officeDocument/2006/relationships/hyperlink" Target="https://flagos.io/Home" TargetMode="External"/><Relationship Id="rId11" Type="http://schemas.openxmlformats.org/officeDocument/2006/relationships/image" Target="../media/image109.jpeg"/><Relationship Id="rId12" Type="http://schemas.openxmlformats.org/officeDocument/2006/relationships/image" Target="../media/image110.png"/><Relationship Id="rId13" Type="http://schemas.openxmlformats.org/officeDocument/2006/relationships/slideLayout" Target="../slideLayouts/slideLayout17.xml"/></Relationships>
</file>

<file path=ppt/slides/_rels/slide154.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a:spLocks noGrp="1"/>
          </p:cNvSpPr>
          <p:nvPr>
            <p:ph type="body" sz="quarter" idx="26" hasCustomPrompt="1"/>
          </p:nvPr>
        </p:nvSpPr>
        <p:spPr>
          <a:prstGeom prst="rect">
            <a:avLst/>
          </a:prstGeom>
        </p:spPr>
        <p:txBody>
          <a:bodyPr wrap="square" lIns="91440" tIns="45720" rIns="91440" bIns="45720" anchor="ctr">
            <a:noAutofit/>
          </a:bodyPr>
          <a:lstStyle>
            <a:lvl1pPr algn="l">
              <a:lnSpc>
                <a:spcPct val="92000"/>
              </a:lnSpc>
              <a:defRPr sz="4400" b="1" i="0" u="none" strike="noStrike" spc="0">
                <a:solidFill>
                  <a:srgbClr val="44546A">
                    <a:alpha val="100000"/>
                  </a:srgbClr>
                </a:solidFill>
                <a:latin typeface="微软雅黑" panose="020B0503020204020204" charset="-122"/>
              </a:defRPr>
            </a:lvl1pPr>
          </a:lstStyle>
          <a:p>
            <a:pPr indent="0" algn="l">
              <a:lnSpc>
                <a:spcPct val="92000"/>
              </a:lnSpc>
            </a:pPr>
            <a:r>
              <a:rPr sz="4400">
                <a:latin typeface="微软雅黑" panose="020B0503020204020204" charset="-122"/>
              </a:rPr>
              <a:t>Systèmes de Calcul Intelligent Fondements Logiciels et Matériels</a:t>
            </a:r>
            <a:endParaRPr lang="en-US" b="1"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8110855" y="296545"/>
            <a:ext cx="927735" cy="3867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19</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spcBef>
                <a:spcPts val="1500"/>
              </a:spcBef>
            </a:pP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du compilateur IA</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5917206"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18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Mur m</a:t>
            </a:r>
            <a:r>
              <a:rPr lang="en-US" altLang="en-US" sz="18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et gaspillage de puissance de calcul</a:t>
            </a:r>
            <a:endParaRPr lang="en-US" altLang="zh-CN" sz="18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75" b="0" i="0" u="none" strike="noStrike">
                <a:solidFill>
                  <a:srgbClr val="A5A5A5"/>
                </a:solidFill>
                <a:latin typeface="Calibri" panose="020F0502020204030204"/>
                <a:ea typeface="Garamond" panose="02020404030301010803"/>
                <a:cs typeface="Garamond" panose="02020404030301010803"/>
                <a:sym typeface="Garamond" panose="02020404030301010803"/>
              </a:rPr>
              <a:t>Gholami, A., Yao, Z., Kim, S., Hooper, C., Mahoney, M. W., &amp; Keutzer, K. (2024). Ai and memory wall. IEEE Micro, 44(3), 33-39.</a:t>
            </a:r>
            <a:endParaRPr lang="en-US" sz="127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038850" cy="4422140"/>
          </a:xfrm>
          <a:prstGeom prst="rect">
            <a:avLst/>
          </a:prstGeom>
        </p:spPr>
        <p:txBody>
          <a:bodyPr wrap="square" lIns="91440" tIns="45720" rIns="91440" bIns="45720" anchor="t">
            <a:normAutofit lnSpcReduction="10000"/>
          </a:bodyPr>
          <a:lstStyle>
            <a:lvl1pPr algn="l">
              <a:lnSpc>
                <a:spcPct val="117000"/>
              </a:lnSpc>
              <a:defRPr sz="2100" b="0" i="0" u="none" strike="noStrike" spc="0">
                <a:solidFill>
                  <a:srgbClr val="404040">
                    <a:alpha val="100000"/>
                  </a:srgbClr>
                </a:solidFill>
                <a:latin typeface="微软雅黑" panose="020B0503020204020204" charset="-122"/>
              </a:defRPr>
            </a:lvl1pPr>
          </a:lstStyle>
          <a:p>
            <a:pPr marL="266700" indent="-266700" algn="l">
              <a:lnSpc>
                <a:spcPct val="117000"/>
              </a:lnSpc>
              <a:spcBef>
                <a:spcPts val="1500"/>
              </a:spcBef>
              <a:buClr>
                <a:srgbClr val="404040"/>
              </a:buClr>
              <a:buChar char="•"/>
            </a:pPr>
            <a:r>
              <a:rPr 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Développement matériel déséquilibré :</a:t>
            </a:r>
            <a:endParaRPr 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17000"/>
              </a:lnSpc>
              <a:spcBef>
                <a:spcPts val="750"/>
              </a:spcBef>
              <a:buClr>
                <a:srgbClr val="404040"/>
              </a:buClr>
              <a:buChar char="•"/>
            </a:pP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 cours des 20 derni</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 ann</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la puissance de calcul de pointe des serveurs a </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multipli</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3,0 tous les deux ans, tandis que la bande passante m</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DRAM n'a </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multipli</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que par 1,6 sur la m</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p</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riode.</a:t>
            </a:r>
            <a:endPar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117000"/>
              </a:lnSpc>
              <a:spcBef>
                <a:spcPts val="1500"/>
              </a:spcBef>
              <a:buClr>
                <a:srgbClr val="404040"/>
              </a:buClr>
              <a:buChar char="•"/>
            </a:pPr>
            <a:r>
              <a:rPr lang="en-US" altLang="zh-CN"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Goulot d'</a:t>
            </a:r>
            <a:r>
              <a:rPr lang="en-US" alt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des performances des grands mod</a:t>
            </a:r>
            <a:r>
              <a:rPr lang="en-US" alt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de langage (LLM)</a:t>
            </a:r>
            <a:r>
              <a:rPr 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des op</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comme le d</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codage autor</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gressif, l'intensit</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arithm</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 est extr</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mement faible, et les vastes c</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urs tensoriels des GPU se retrouvent en </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de sous‑utilisation</a:t>
            </a:r>
            <a:r>
              <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117000"/>
              </a:lnSpc>
              <a:spcBef>
                <a:spcPts val="1500"/>
              </a:spcBef>
              <a:buClr>
                <a:srgbClr val="404040"/>
              </a:buClr>
              <a:buChar char="•"/>
            </a:pPr>
            <a:r>
              <a:rPr lang="en-US" sz="15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Seule issue :</a:t>
            </a:r>
            <a:r>
              <a:rPr lang="en-US" sz="15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Il est impossible de compter uniquement sur l'ex</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d'instructions arithm</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tiques. Il faut fusionner de multiples lectures et </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critures m</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via une orchestration au niveau du compilateur, r</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ainsi les acc</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HBM des tenseurs d'activation interm</a:t>
            </a:r>
            <a:r>
              <a:rPr lang="en-US" alt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a:t>
            </a:r>
            <a:r>
              <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658610" y="984250"/>
            <a:ext cx="5193665" cy="27876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664325" y="3601720"/>
            <a:ext cx="5196840" cy="275653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3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Explosion des opérateurs</a:t>
            </a:r>
            <a:r>
              <a:rPr lang="en-US" sz="2300" b="0" i="0" u="none" strike="noStrike">
                <a:solidFill>
                  <a:srgbClr val="262626"/>
                </a:solidFill>
                <a:latin typeface="Calibri" panose="020F0502020204030204"/>
                <a:ea typeface="Calibri" panose="020F0502020204030204"/>
                <a:cs typeface="Calibri" panose="020F0502020204030204"/>
                <a:sym typeface="Calibri" panose="020F0502020204030204"/>
              </a:rPr>
              <a:t> (Operator Explosion) </a:t>
            </a:r>
            <a:r>
              <a:rPr lang="en-US" sz="23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3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23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 crise des noyaux écrits à la main</a:t>
            </a:r>
            <a:endParaRPr lang="en-US" sz="23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170" b="0" i="0" u="none" strike="noStrike">
                <a:solidFill>
                  <a:srgbClr val="A5A5A5"/>
                </a:solidFill>
                <a:latin typeface="Calibri" panose="020F0502020204030204"/>
                <a:ea typeface="Garamond" panose="02020404030301010803"/>
                <a:cs typeface="Garamond" panose="02020404030301010803"/>
                <a:sym typeface="Garamond" panose="02020404030301010803"/>
              </a:rPr>
              <a:t>https://docs.google.com/spreadsheets/d/e/2PACX-1vQQFW0T_bucT5KZn0BHYTC1KYhkL6ZMG5ZxQWc6UmAkHUDYpqkpzXnsb59uv2TB0Jgc1Q6qO63bx6WQ/pubhtml#gid=1944851651</a:t>
            </a:r>
            <a:endParaRPr lang="en-US" sz="117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347460" cy="449580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Échelle massive des opérateurs :</a:t>
            </a:r>
            <a:endPar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PyTorch </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nombre d'opérateurs centraux dépasse</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1200 </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2020</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opérateurs intégrés avec diverses surcharges et variantes atteignent</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15" b="0" i="0" u="none" strike="noStrike">
                <a:solidFill>
                  <a:srgbClr val="404040"/>
                </a:solidFill>
                <a:latin typeface="Calibri" panose="020F0502020204030204"/>
                <a:ea typeface="Calibri" panose="020F0502020204030204"/>
                <a:cs typeface="Calibri" panose="020F0502020204030204"/>
                <a:sym typeface="Calibri" panose="020F0502020204030204"/>
              </a:rPr>
              <a:t>lus de 3500.</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matrice d'implémentation gigantesque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 d'un millier d'opérateurs</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plusieurs types </a:t>
            </a:r>
            <a:r>
              <a:rPr lang="en-US" altLang="zh-CN"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donn</a:t>
            </a:r>
            <a:r>
              <a:rPr lang="en-US" alt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numériques</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matériel cible fragmenté (</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GPU, TPU, NPU</a:t>
            </a: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9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L'optimisation manuelle est insoutenable :</a:t>
            </a:r>
            <a:r>
              <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Compter sur les ingénieurs système des fabricants de matériel pour écrire manuellement des noyaux</a:t>
            </a:r>
            <a:r>
              <a:rPr lang="en-US" sz="1615" b="0" i="0" u="none" strike="noStrike">
                <a:solidFill>
                  <a:srgbClr val="404040"/>
                </a:solidFill>
                <a:latin typeface="Calibri" panose="020F0502020204030204"/>
                <a:ea typeface="Calibri" panose="020F0502020204030204"/>
                <a:cs typeface="Calibri" panose="020F0502020204030204"/>
                <a:sym typeface="Calibri" panose="020F0502020204030204"/>
              </a:rPr>
              <a:t> CUDA C++ </a:t>
            </a:r>
            <a:r>
              <a:rPr lang="en-US" altLang="zh-CN"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couvrant toutes les combinaisons n'est pas r</a:t>
            </a:r>
            <a:r>
              <a:rPr lang="en-US" alt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aliste à une telle </a:t>
            </a:r>
            <a:r>
              <a:rPr lang="en-US" altLang="en-US"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a:t>
            </a:r>
            <a:endParaRPr lang="en-US" altLang="zh-CN" sz="16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6872605" y="1215390"/>
          <a:ext cx="5067300" cy="2225040"/>
        </p:xfrm>
        <a:graphic>
          <a:graphicData uri="http://schemas.openxmlformats.org/drawingml/2006/table">
            <a:tbl>
              <a:tblPr>
                <a:effectLst/>
              </a:tblPr>
              <a:tblGrid>
                <a:gridCol w="3225165"/>
                <a:gridCol w="1842135"/>
              </a:tblGrid>
              <a:tr h="370840">
                <a:tc>
                  <a:txBody>
                    <a:bodyPr/>
                    <a:lstStyle/>
                    <a:p>
                      <a:pPr indent="0" algn="ctr">
                        <a:lnSpc>
                          <a:spcPct val="100000"/>
                        </a:lnSpc>
                        <a:defRPr/>
                      </a:pP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Catégorie d'opérateurs</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8B0012">
                        <a:alpha val="100000"/>
                      </a:srgbClr>
                    </a:solidFill>
                  </a:tcPr>
                </a:tc>
                <a:tc>
                  <a:txBody>
                    <a:bodyPr/>
                    <a:lstStyle/>
                    <a:p>
                      <a:pPr indent="0" algn="ctr">
                        <a:lnSpc>
                          <a:spcPct val="100000"/>
                        </a:lnSpc>
                        <a:defRPr/>
                      </a:pPr>
                      <a:r>
                        <a:rPr lang="en-US" sz="12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Nombre d'opérateurs de base</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0" cap="flat" cmpd="sng" algn="ctr">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8B0012">
                        <a:alpha val="100000"/>
                      </a:srgbClr>
                    </a:solidFill>
                  </a:tcPr>
                </a:tc>
              </a:tr>
              <a:tr h="370840">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TensorIterator (pointwise et réduction)</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DADF">
                        <a:alpha val="100000"/>
                      </a:srgbClr>
                    </a:solidFill>
                  </a:tcPr>
                </a:tc>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505</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370840">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Fixed (calcul à dimensions fixes)</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DADF">
                        <a:alpha val="100000"/>
                      </a:srgbClr>
                    </a:solidFill>
                  </a:tcPr>
                </a:tc>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273</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370840">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Convolution (variantes de convolution)</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DADF">
                        <a:alpha val="100000"/>
                      </a:srgbClr>
                    </a:solidFill>
                  </a:tcPr>
                </a:tc>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67</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370840">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Pooling / Batch Norm</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DADF">
                        <a:alpha val="100000"/>
                      </a:srgbClr>
                    </a:solidFill>
                  </a:tcPr>
                </a:tc>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57</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370840">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Private / Foreach</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DADF">
                        <a:alpha val="100000"/>
                      </a:srgbClr>
                    </a:solidFill>
                  </a:tcPr>
                </a:tc>
                <a:tc>
                  <a:txBody>
                    <a:bodyPr/>
                    <a:lstStyle/>
                    <a:p>
                      <a:pPr indent="0" algn="ctr">
                        <a:lnSpc>
                          <a:spcPct val="100000"/>
                        </a:lnSpc>
                        <a:defRPr/>
                      </a:pPr>
                      <a:r>
                        <a:rPr lang="en-US" sz="1200" b="0" i="0" u="none" strike="noStrike">
                          <a:solidFill>
                            <a:srgbClr val="000000"/>
                          </a:solidFill>
                          <a:latin typeface="Calibri" panose="020F0502020204030204"/>
                          <a:ea typeface="Arial" panose="020B0604020202020204"/>
                          <a:cs typeface="Arial" panose="020B0604020202020204"/>
                          <a:sym typeface="Arial" panose="020B0604020202020204"/>
                        </a:rPr>
                        <a:t>233</a:t>
                      </a:r>
                      <a:endParaRPr lang="en-US" sz="1100"/>
                    </a:p>
                  </a:txBody>
                  <a:tcPr marL="152717" marR="152717" marT="101917" marB="101917">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pic>
        <p:nvPicPr>
          <p:cNvPr id="7" name="Picture 7"/>
          <p:cNvPicPr>
            <a:picLocks noChangeAspect="1"/>
          </p:cNvPicPr>
          <p:nvPr/>
        </p:nvPicPr>
        <p:blipFill>
          <a:blip r:embed="rId1"/>
          <a:srcRect/>
          <a:stretch>
            <a:fillRect/>
          </a:stretch>
        </p:blipFill>
        <p:spPr>
          <a:xfrm>
            <a:off x="7002145" y="3716020"/>
            <a:ext cx="4799330" cy="279273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 dilemme des frameworks traditionnels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https://docs.pytorch.org/assets/pytorch2-2.pdf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2705"/>
            <a:ext cx="7377430" cy="4854575"/>
          </a:xfrm>
          <a:prstGeom prst="rect">
            <a:avLst/>
          </a:prstGeom>
        </p:spPr>
        <p:txBody>
          <a:bodyPr wrap="square" lIns="91440" tIns="45720" rIns="91440" bIns="45720" anchor="t">
            <a:normAutofit/>
          </a:bodyPr>
          <a:lstStyle>
            <a:lvl1pPr algn="l">
              <a:lnSpc>
                <a:spcPct val="133000"/>
              </a:lnSpc>
              <a:defRPr sz="2400" b="0" i="0" u="none" strike="noStrike" spc="0">
                <a:solidFill>
                  <a:srgbClr val="404040">
                    <a:alpha val="100000"/>
                  </a:srgbClr>
                </a:solidFill>
                <a:latin typeface="微软雅黑" panose="020B0503020204020204" charset="-122"/>
              </a:defRPr>
            </a:lvl1pPr>
          </a:lstStyle>
          <a:p>
            <a:pPr marL="304800" indent="-304800" algn="l">
              <a:lnSpc>
                <a:spcPct val="133000"/>
              </a:lnSpc>
              <a:buClr>
                <a:srgbClr val="404040"/>
              </a:buClr>
              <a:buChar char="•"/>
            </a:pP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Graphe dynamique</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(Eager Mode)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goulot d'étranglement des performances :</a:t>
            </a:r>
            <a:endPar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33000"/>
              </a:lnSpc>
              <a:buClr>
                <a:srgbClr val="404040"/>
              </a:buClr>
              <a:buChar char="•"/>
            </a:pP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Extrêmement flexible et facile à déboguer, mais chaque appel d'opérateur doit traverser la surcharge importante de l'interpréteur</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 Python </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 framework ne voit qu'un seul opérateur à la fois, perdant la capacité d'optimisation globale du graphe de calcul (telle que la fusion d'opérateurs).</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33000"/>
              </a:lnSpc>
              <a:buClr>
                <a:srgbClr val="404040"/>
              </a:buClr>
              <a:buChar char="•"/>
            </a:pP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Graphe statique</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(Graph Mode) </a:t>
            </a: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manque de flexibilité :</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33000"/>
              </a:lnSpc>
              <a:buClr>
                <a:srgbClr val="404040"/>
              </a:buClr>
              <a:buChar char="•"/>
            </a:pP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éliminer la surcharge de l'interpréteur, il exige des utilisateurs de sacrifier le flux de contrôle natif</a:t>
            </a:r>
            <a:r>
              <a:rPr lang="en-US" sz="1535" b="0" i="0" u="none" strike="noStrike">
                <a:solidFill>
                  <a:srgbClr val="404040"/>
                </a:solidFill>
                <a:latin typeface="Calibri" panose="020F0502020204030204"/>
                <a:ea typeface="Calibri" panose="020F0502020204030204"/>
                <a:cs typeface="Calibri" panose="020F0502020204030204"/>
                <a:sym typeface="Calibri" panose="020F0502020204030204"/>
              </a:rPr>
              <a:t> Python</a:t>
            </a:r>
            <a:r>
              <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voire de réécrire le code.</a:t>
            </a:r>
            <a:endParaRPr 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33000"/>
              </a:lnSpc>
              <a:buClr>
                <a:srgbClr val="404040"/>
              </a:buClr>
              <a:buChar char="•"/>
            </a:pPr>
            <a:r>
              <a:rPr lang="en-US" sz="18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 de recompilation :</a:t>
            </a:r>
            <a:r>
              <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33000"/>
              </a:lnSpc>
              <a:buClr>
                <a:srgbClr val="404040"/>
              </a:buClr>
              <a:buChar char="•"/>
            </a:pP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syst</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mes de tra</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 statique anciens ou les tenseurs paresseux (Lazy Tensors) peuvent d</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clencher des recompilations r</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face à des formes dynamiques, annulant les gains d'optimisation au niveau bas.</a:t>
            </a:r>
            <a:endParaRPr lang="en-US" altLang="zh-CN" sz="15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901940" y="2232025"/>
            <a:ext cx="3899535" cy="312674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4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Crise syst</a:t>
            </a:r>
            <a:r>
              <a:rPr lang="en-US" altLang="en-US" sz="24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 sous‑jacente pour le d</a:t>
            </a:r>
            <a:r>
              <a:rPr lang="en-US" altLang="en-US" sz="24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veloppement des mod</a:t>
            </a:r>
            <a:r>
              <a:rPr lang="en-US" altLang="en-US" sz="24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4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les d’IA</a:t>
            </a:r>
            <a:endParaRPr lang="en-US" altLang="zh-CN" sz="24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133000"/>
              </a:lnSpc>
              <a:defRPr sz="2400" b="0" i="0" u="none" strike="noStrike" spc="0">
                <a:solidFill>
                  <a:srgbClr val="404040">
                    <a:alpha val="100000"/>
                  </a:srgbClr>
                </a:solidFill>
                <a:latin typeface="微软雅黑" panose="020B0503020204020204" charset="-122"/>
              </a:defRPr>
            </a:lvl1pPr>
          </a:lstStyle>
          <a:p>
            <a:pPr marL="304800" indent="-304800" algn="l">
              <a:lnSpc>
                <a:spcPct val="133000"/>
              </a:lnSpc>
              <a:spcBef>
                <a:spcPts val="1500"/>
              </a:spcBef>
              <a:buClr>
                <a:srgbClr val="404040"/>
              </a:buClr>
              <a:buChar char="•"/>
            </a:pPr>
            <a:r>
              <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Transition de la contradiction centrale </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science du calcul</a:t>
            </a:r>
            <a:r>
              <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33000"/>
              </a:lnSpc>
              <a:spcBef>
                <a:spcPts val="750"/>
              </a:spcBef>
              <a:buClr>
                <a:srgbClr val="404040"/>
              </a:buClr>
              <a:buChar char="•"/>
            </a:pPr>
            <a:r>
              <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Alors que les paramètres des grands modèles dépassent le niveau des billions, le goulot d'étranglement passe de la conception purement algorithmique au fossé entre les limites physiques du matériel et l'abstraction des frameworks logiciels.</a:t>
            </a:r>
            <a:endPar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33000"/>
              </a:lnSpc>
              <a:spcBef>
                <a:spcPts val="1500"/>
              </a:spcBef>
              <a:buClr>
                <a:srgbClr val="404040"/>
              </a:buClr>
              <a:buChar char="•"/>
            </a:pP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Trois crises syst</a:t>
            </a:r>
            <a:r>
              <a:rPr lang="en-US" alt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miques s'entrelacent</a:t>
            </a:r>
            <a:r>
              <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33000"/>
              </a:lnSpc>
              <a:spcBef>
                <a:spcPts val="750"/>
              </a:spcBef>
              <a:buClr>
                <a:srgbClr val="404040"/>
              </a:buClr>
              <a:buChar char="•"/>
            </a:pP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syst</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mes d'apprentissage profond sont actuellement confront</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au </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mur m</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l'</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explosion des op</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ainsi qu'au dilemme des modes d'ex</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traditionnels entre graphes dynamique et statique.</a:t>
            </a:r>
            <a:endPar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33000"/>
              </a:lnSpc>
              <a:spcBef>
                <a:spcPts val="1500"/>
              </a:spcBef>
              <a:buClr>
                <a:srgbClr val="404040"/>
              </a:buClr>
              <a:buChar char="•"/>
            </a:pP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L'essor des compilateurs IA</a:t>
            </a:r>
            <a:r>
              <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1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33000"/>
              </a:lnSpc>
              <a:spcBef>
                <a:spcPts val="750"/>
              </a:spcBef>
              <a:buClr>
                <a:srgbClr val="404040"/>
              </a:buClr>
              <a:buChar char="•"/>
            </a:pP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technologie des compilateurs IA est pass</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d'un simple outil auxiliaire d'optimisation de graphe à une infrastructure centrale de bas niveau qui assure la capture du graphe de calcul, l'ordonnancement mat</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et la g</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code machine.</a:t>
            </a:r>
            <a:endPar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Introduction à TensorFlow</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Référence : « Systèmes de calcul intelligent »</a:t>
            </a:r>
            <a:endPar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9" hasCustomPrompt="1"/>
          </p:nvPr>
        </p:nvSpPr>
        <p:spPr>
          <a:xfrm>
            <a:off x="523875" y="1323975"/>
            <a:ext cx="802767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Liaisons multilingues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Interface C/C++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Partie backend de TensorFlow</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Partie runtime, partie framework, partie graphe de calcul, partie optimisation de graphe, partie noyaux de calcul, partie nœuds de calcul</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Différents matériels </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sous‑jacents : les OpKernel ont</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implémentations différentes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CPU</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processeurs d'apprentissage profond</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552180" y="1049020"/>
            <a:ext cx="3249295" cy="522541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de TensorFlow XLA</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https://openxla.org/xla/architecture?hl=zh-cn</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873115" cy="4850765"/>
          </a:xfrm>
          <a:prstGeom prst="rect">
            <a:avLst/>
          </a:prstGeom>
        </p:spPr>
        <p:txBody>
          <a:bodyPr wrap="square" lIns="91440" tIns="45720" rIns="91440" bIns="45720" anchor="t">
            <a:normAutofit fontScale="92500"/>
          </a:bodyPr>
          <a:lstStyle>
            <a:lvl1pPr algn="l">
              <a:lnSpc>
                <a:spcPct val="133000"/>
              </a:lnSpc>
              <a:defRPr sz="2300" b="0" i="0" u="none" strike="noStrike" spc="0">
                <a:solidFill>
                  <a:srgbClr val="404040">
                    <a:alpha val="100000"/>
                  </a:srgbClr>
                </a:solidFill>
                <a:latin typeface="微软雅黑" panose="020B0503020204020204" charset="-122"/>
              </a:defRPr>
            </a:lvl1pPr>
          </a:lstStyle>
          <a:p>
            <a:pPr marL="292100" indent="-292100" algn="l">
              <a:lnSpc>
                <a:spcPct val="133000"/>
              </a:lnSpc>
              <a:spcBef>
                <a:spcPts val="1500"/>
              </a:spcBef>
              <a:buClr>
                <a:srgbClr val="404040"/>
              </a:buClr>
              <a:buChar char="•"/>
            </a:pPr>
            <a:r>
              <a:rPr lang="en-US" sz="18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central :</a:t>
            </a:r>
            <a:r>
              <a:rPr lang="en-US" sz="189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9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33000"/>
              </a:lnSpc>
              <a:spcBef>
                <a:spcPts val="750"/>
              </a:spcBef>
              <a:buClr>
                <a:srgbClr val="404040"/>
              </a:buClr>
              <a:buChar char="•"/>
            </a:pP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Destin</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aux plates-formes mat</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rielles TPU/GPU, impl</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menter une fusion de graphe mat</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de bas niveau extr</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sur des graphes de calcul statiques hautement r</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guliers.</a:t>
            </a:r>
            <a:endPar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33000"/>
              </a:lnSpc>
              <a:spcBef>
                <a:spcPts val="1500"/>
              </a:spcBef>
              <a:buClr>
                <a:srgbClr val="404040"/>
              </a:buClr>
              <a:buChar char="•"/>
            </a:pPr>
            <a:r>
              <a:rPr lang="en-US" sz="18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Unification de l'écosystème frontend et backend :</a:t>
            </a:r>
            <a:endParaRPr lang="en-US" sz="18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33000"/>
              </a:lnSpc>
              <a:spcBef>
                <a:spcPts val="750"/>
              </a:spcBef>
              <a:buClr>
                <a:srgbClr val="404040"/>
              </a:buClr>
              <a:buChar char="•"/>
            </a:pP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Visant à fournir pour PyTorch, JAX et TensorFlow un support backend haute performance unifi</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portable.</a:t>
            </a:r>
            <a:endPar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33000"/>
              </a:lnSpc>
              <a:spcBef>
                <a:spcPts val="1500"/>
              </a:spcBef>
              <a:buClr>
                <a:srgbClr val="404040"/>
              </a:buClr>
              <a:buChar char="•"/>
            </a:pPr>
            <a:r>
              <a:rPr lang="en-US" sz="18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de conception :</a:t>
            </a:r>
            <a:endParaRPr lang="en-US" sz="18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33000"/>
              </a:lnSpc>
              <a:spcBef>
                <a:spcPts val="750"/>
              </a:spcBef>
              <a:buClr>
                <a:srgbClr val="404040"/>
              </a:buClr>
              <a:buChar char="•"/>
            </a:pP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S'affranchir des contraintes syntaxiques des frameworks frontend, construire une abstraction de graphe de haut niveau, et r</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aliser une fid</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lit</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math</a:t>
            </a:r>
            <a:r>
              <a:rPr lang="en-US" alt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 avec une optimisation globale.</a:t>
            </a:r>
            <a:endParaRPr lang="en-US" sz="16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509385" y="3527425"/>
            <a:ext cx="5292090" cy="282892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421120" y="1377315"/>
            <a:ext cx="5381625" cy="215011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6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Architecture IR multi-niveaux et flux de transformation de graphe </a:t>
            </a:r>
            <a:endParaRPr lang="en-US" altLang="zh-CN" sz="26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https://hku-systems.github.io/events/iscas2021/1-2-Hongbin%20Zhang%20MLIR.pdf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746115" cy="5032375"/>
          </a:xfrm>
          <a:prstGeom prst="rect">
            <a:avLst/>
          </a:prstGeom>
        </p:spPr>
        <p:txBody>
          <a:bodyPr wrap="square" lIns="91440" tIns="45720" rIns="91440" bIns="45720" anchor="t">
            <a:normAutofit fontScale="90000"/>
          </a:bodyPr>
          <a:lstStyle>
            <a:lvl1pPr algn="l">
              <a:lnSpc>
                <a:spcPct val="150000"/>
              </a:lnSpc>
              <a:defRPr sz="2200" b="0" i="0" u="none" strike="noStrike" spc="0">
                <a:solidFill>
                  <a:srgbClr val="404040">
                    <a:alpha val="100000"/>
                  </a:srgbClr>
                </a:solidFill>
                <a:latin typeface="微软雅黑" panose="020B0503020204020204" charset="-122"/>
              </a:defRPr>
            </a:lvl1pPr>
          </a:lstStyle>
          <a:p>
            <a:pPr marL="279400" indent="-279400" algn="l">
              <a:lnSpc>
                <a:spcPct val="150000"/>
              </a:lnSpc>
              <a:spcBef>
                <a:spcPts val="1500"/>
              </a:spcBef>
              <a:buClr>
                <a:srgbClr val="404040"/>
              </a:buClr>
              <a:buChar char="•"/>
            </a:pPr>
            <a:r>
              <a:rPr lang="en-US" sz="17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 de descente hiérarchique :</a:t>
            </a:r>
            <a:r>
              <a:rPr lang="en-US" sz="17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sz="1410" b="0" i="0" u="none" strike="noStrike">
                <a:solidFill>
                  <a:srgbClr val="404040"/>
                </a:solidFill>
                <a:latin typeface="Calibri" panose="020F0502020204030204"/>
                <a:ea typeface="Calibri" panose="020F0502020204030204"/>
                <a:cs typeface="Calibri" panose="020F0502020204030204"/>
                <a:sym typeface="Calibri" panose="020F0502020204030204"/>
              </a:rPr>
              <a:t>StableHLO</a:t>
            </a:r>
            <a:r>
              <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de protocole multiplateforme du framework)</a:t>
            </a:r>
            <a:r>
              <a:rPr lang="en-US" sz="1410" b="0" i="0" u="none" strike="noStrike">
                <a:solidFill>
                  <a:srgbClr val="404040"/>
                </a:solidFill>
                <a:latin typeface="Calibri" panose="020F0502020204030204"/>
                <a:ea typeface="Calibri" panose="020F0502020204030204"/>
                <a:cs typeface="Calibri" panose="020F0502020204030204"/>
                <a:sym typeface="Calibri" panose="020F0502020204030204"/>
              </a:rPr>
              <a:t> -&gt; HLO (</a:t>
            </a:r>
            <a:r>
              <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représentation interne de l'optimiseur de haut niveau</a:t>
            </a:r>
            <a:r>
              <a:rPr lang="en-US" sz="1410" b="0" i="0" u="none" strike="noStrike">
                <a:solidFill>
                  <a:srgbClr val="404040"/>
                </a:solidFill>
                <a:latin typeface="Calibri" panose="020F0502020204030204"/>
                <a:ea typeface="Calibri" panose="020F0502020204030204"/>
                <a:cs typeface="Calibri" panose="020F0502020204030204"/>
                <a:sym typeface="Calibri" panose="020F0502020204030204"/>
              </a:rPr>
              <a:t>) -&gt; LLVM IR -&gt; </a:t>
            </a:r>
            <a:r>
              <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 machine de bas niveau.</a:t>
            </a:r>
            <a:endPar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50000"/>
              </a:lnSpc>
              <a:spcBef>
                <a:spcPts val="1500"/>
              </a:spcBef>
              <a:buClr>
                <a:srgbClr val="404040"/>
              </a:buClr>
              <a:buChar char="•"/>
            </a:pPr>
            <a:r>
              <a:rPr lang="en-US" sz="17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de graphe de haut niveau indépendante du matériel :</a:t>
            </a:r>
            <a:r>
              <a:rPr lang="en-US" sz="17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Simplification alg</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brique (Algebraic Simplifier, comme transformation d'une division en multiplication par l'inverse), </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de code mort (CSE), etc.</a:t>
            </a:r>
            <a:endPar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50000"/>
              </a:lnSpc>
              <a:spcBef>
                <a:spcPts val="1500"/>
              </a:spcBef>
              <a:buClr>
                <a:srgbClr val="404040"/>
              </a:buClr>
              <a:buChar char="•"/>
            </a:pPr>
            <a:r>
              <a:rPr lang="en-US" sz="1720" b="0" i="0" u="none" strike="noStrike">
                <a:solidFill>
                  <a:srgbClr val="404040"/>
                </a:solidFill>
                <a:latin typeface="Calibri" panose="020F0502020204030204"/>
                <a:ea typeface="Calibri" panose="020F0502020204030204"/>
                <a:cs typeface="Calibri" panose="020F0502020204030204"/>
                <a:sym typeface="Calibri" panose="020F0502020204030204"/>
              </a:rPr>
              <a:t>HloRematerialization</a:t>
            </a:r>
            <a:r>
              <a:rPr lang="en-US" sz="17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50000"/>
              </a:lnSpc>
              <a:spcBef>
                <a:spcPts val="750"/>
              </a:spcBef>
              <a:buClr>
                <a:srgbClr val="404040"/>
              </a:buClr>
              <a:buChar char="•"/>
            </a:pP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changer du temps de calcul contre de l'espace m</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vid</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 en abandonnant d</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lib</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les tenseurs interm</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 peu co</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teux et en les recalculant si n</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cessaire, pour r</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la consommation m</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vid</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 de pointe des grands mod</a:t>
            </a:r>
            <a:r>
              <a:rPr lang="en-US" alt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a:t>
            </a:r>
            <a:endParaRPr lang="en-US" sz="14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descr="E:/BAAI/COURSE/i18n/fr/Multi-level IR  Architecture and Graph Transformation.pngMulti-level IR  Architecture and Graph Transformation"/>
          <p:cNvPicPr>
            <a:picLocks noChangeAspect="1"/>
          </p:cNvPicPr>
          <p:nvPr/>
        </p:nvPicPr>
        <p:blipFill>
          <a:blip r:embed="rId1"/>
          <a:srcRect t="23" b="23"/>
          <a:stretch>
            <a:fillRect/>
          </a:stretch>
        </p:blipFill>
        <p:spPr>
          <a:xfrm>
            <a:off x="6270625" y="2221865"/>
            <a:ext cx="5628640" cy="321056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6289316"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240" b="0" i="0" u="none" strike="noStrike">
                <a:solidFill>
                  <a:srgbClr val="262626"/>
                </a:solidFill>
                <a:latin typeface="Calibri" panose="020F0502020204030204"/>
                <a:ea typeface="Calibri" panose="020F0502020204030204"/>
                <a:cs typeface="Calibri" panose="020F0502020204030204"/>
                <a:sym typeface="Calibri" panose="020F0502020204030204"/>
              </a:rPr>
              <a:t>Moyen d’optimisation cl</a:t>
            </a:r>
            <a:r>
              <a:rPr lang="en-US" altLang="en-US" sz="224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240" b="0" i="0" u="none" strike="noStrike">
                <a:solidFill>
                  <a:srgbClr val="262626"/>
                </a:solidFill>
                <a:latin typeface="Calibri" panose="020F0502020204030204"/>
                <a:ea typeface="Calibri" panose="020F0502020204030204"/>
                <a:cs typeface="Calibri" panose="020F0502020204030204"/>
                <a:sym typeface="Calibri" panose="020F0502020204030204"/>
              </a:rPr>
              <a:t> : fusion d’op</a:t>
            </a:r>
            <a:r>
              <a:rPr lang="en-US" altLang="en-US" sz="224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240" b="0" i="0" u="none" strike="noStrike">
                <a:solidFill>
                  <a:srgbClr val="262626"/>
                </a:solidFill>
                <a:latin typeface="Calibri" panose="020F0502020204030204"/>
                <a:ea typeface="Calibri" panose="020F0502020204030204"/>
                <a:cs typeface="Calibri" panose="020F0502020204030204"/>
                <a:sym typeface="Calibri" panose="020F0502020204030204"/>
              </a:rPr>
              <a:t>rateurs (Fusion) </a:t>
            </a:r>
            <a:endParaRPr lang="en-US" altLang="zh-CN" sz="224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https://openxla.org/xla/gpu_architecture?hl=zh-cn</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468110" cy="4987925"/>
          </a:xfrm>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Calibri" panose="020F0502020204030204"/>
              </a:defRPr>
            </a:lvl1pPr>
          </a:lstStyle>
          <a:p>
            <a:pPr marL="304800" indent="-304800" algn="l">
              <a:lnSpc>
                <a:spcPct val="15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XLA peut regrouper et fusionner plusieurs instructions HLO, et finalement ne compiler qu'un seul noyau GPU,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ainsi les co</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lancement du noyau.</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Fusion Computation, les tenseurs temporaires interm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 n'ont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pas besoin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crits dans la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HBM hors puce.</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donn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ne sont transmises et calcul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que dans les registres ou la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extr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mement rapides à l'int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 du GPU, contournant ainsi les limitations d'acc</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030720" y="1070610"/>
            <a:ext cx="4500880" cy="539496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Processus d'optimisation</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XLA</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fontScale="92500"/>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Analyse de fusion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HLO</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kLoop (fusion en boucle) : pour les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par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dont les formes de sortie sont parfaitement identiques,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en cha</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d'un mappage math</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 pur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par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et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mission vers une grille de threads parall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kInput (fusion d'entr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permet à la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qui modifie consid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rablement la forme des donn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de fusionner avec les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d'entr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niveau sup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 et exige que la sortie de cette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soit le point final du calcul.</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kOutput (fusion de sortie) : sp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cialement con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 pour fusionner les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de multiplication matricielle à haute densit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calcul avec leurs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suivants, maximisant l'utilisation du cache à haute vitesse.</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Mecanisme d'emetteur</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Hero Op</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compilateur recherche les instructions ayant le plus grand impact sur les performances globales et les exigences de planification les plus strictes comme Hero Op, dirigeant la strat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 de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code de l'ensemble du corps de fusion.</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fois le traitement de 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metteur termin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conversion en LLVM IR de bas niveau, et ex</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d'optimisations micro-architecturales selon le jeu d'instructions mat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sp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 incluant l'ordonnancement du pipeline d'instructions, le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roulement de la vectorisation, etc.,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rant finalement le code assembleur PTX ex</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cutable ou le code binaire SPIR-V.</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Acc</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l</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rer TensorFlow avec XLA</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XLA: TensorFlow, Compiled!, TensorFlow Dev Summit 2017.</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1"/>
          <a:srcRect/>
          <a:stretch>
            <a:fillRect/>
          </a:stretch>
        </p:blipFill>
        <p:spPr>
          <a:xfrm>
            <a:off x="0" y="1348105"/>
            <a:ext cx="7615555" cy="4347210"/>
          </a:xfrm>
          <a:prstGeom prst="rect">
            <a:avLst/>
          </a:prstGeom>
        </p:spPr>
      </p:pic>
      <p:pic>
        <p:nvPicPr>
          <p:cNvPr id="6" name="Picture 6"/>
          <p:cNvPicPr>
            <a:picLocks noChangeAspect="1"/>
          </p:cNvPicPr>
          <p:nvPr/>
        </p:nvPicPr>
        <p:blipFill>
          <a:blip r:embed="rId2"/>
          <a:srcRect/>
          <a:stretch>
            <a:fillRect/>
          </a:stretch>
        </p:blipFill>
        <p:spPr>
          <a:xfrm>
            <a:off x="7614920" y="2150745"/>
            <a:ext cx="4505325" cy="189865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200" b="0" i="0" u="none" strike="noStrike">
                <a:solidFill>
                  <a:srgbClr val="262626"/>
                </a:solidFill>
                <a:latin typeface="Calibri" panose="020F0502020204030204"/>
                <a:ea typeface="Calibri" panose="020F0502020204030204"/>
                <a:cs typeface="Calibri" panose="020F0502020204030204"/>
                <a:sym typeface="Calibri" panose="020F0502020204030204"/>
              </a:rPr>
              <a:t>Exemple d’optimisations utilisant TensorFlow XLA</a:t>
            </a:r>
            <a:r>
              <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rPr>
              <a:t> </a:t>
            </a:r>
            <a:endPar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Li, Mingzhen, et al. "The deep learning compiler: A comprehensive survey." IEEE Transactions on Parallel and Distributed Systems 32.3 (2020): 708-727.</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1"/>
          <a:srcRect/>
          <a:stretch>
            <a:fillRect/>
          </a:stretch>
        </p:blipFill>
        <p:spPr>
          <a:xfrm>
            <a:off x="1514236" y="1407198"/>
            <a:ext cx="9296878" cy="4686541"/>
          </a:xfrm>
          <a:prstGeom prst="rect">
            <a:avLst/>
          </a:prstGeom>
        </p:spPr>
      </p:pic>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d’Apache TVM</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920" b="0" i="0" u="none" strike="noStrike">
                <a:solidFill>
                  <a:srgbClr val="A5A5A5"/>
                </a:solidFill>
                <a:latin typeface="Calibri" panose="020F0502020204030204"/>
                <a:ea typeface="Garamond" panose="02020404030301010803"/>
                <a:cs typeface="Garamond" panose="02020404030301010803"/>
                <a:sym typeface="Garamond" panose="02020404030301010803"/>
              </a:rPr>
              <a:t>Chen, T., Moreau, T., Jiang, Z., Zheng, L., Yan, E., Shen, H., ... &amp; Krishnamurthy, A. (2018). {TVM}: An automated {End-to-End} optimizing compiler for deep learning. In 13th USENIX symposium on operating systems design and implementation (OSDI 18) (pp. 578-594).</a:t>
            </a:r>
            <a:endParaRPr lang="en-US" sz="92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736715" cy="4555490"/>
          </a:xfrm>
          <a:prstGeom prst="rect">
            <a:avLst/>
          </a:prstGeom>
        </p:spPr>
        <p:txBody>
          <a:bodyPr wrap="square" lIns="91440" tIns="45720" rIns="91440" bIns="45720" anchor="t">
            <a:normAutofit lnSpcReduction="10000"/>
          </a:bodyPr>
          <a:lstStyle>
            <a:lvl1pPr algn="l">
              <a:lnSpc>
                <a:spcPct val="133000"/>
              </a:lnSpc>
              <a:defRPr sz="2200" b="0" i="0" u="none" strike="noStrike" spc="0">
                <a:solidFill>
                  <a:srgbClr val="404040">
                    <a:alpha val="100000"/>
                  </a:srgbClr>
                </a:solidFill>
                <a:latin typeface="微软雅黑" panose="020B0503020204020204" charset="-122"/>
              </a:defRPr>
            </a:lvl1pPr>
          </a:lstStyle>
          <a:p>
            <a:pPr marL="279400" indent="-279400" algn="l">
              <a:lnSpc>
                <a:spcPct val="133000"/>
              </a:lnSpc>
              <a:spcBef>
                <a:spcPts val="1500"/>
              </a:spcBef>
              <a:buClr>
                <a:srgbClr val="404040"/>
              </a:buClr>
              <a:buChar char="•"/>
            </a:pP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Faire face à la fragmentation mat</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multiplateforme </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Contrairement à XLA orient</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les grands clusters cloud, TVM s'efforce de gommer les barri</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 architecturales entre CPU, ARM, GPU et m</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divers NPU h</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rog</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nes de p</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 (edge).</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33000"/>
              </a:lnSpc>
              <a:spcBef>
                <a:spcPts val="150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Write once, run anywhere</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Fournir un framework de compilateur frontal unifi</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du code machine sp</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le mat</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et r</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aliser un 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ploiement multiplateforme haute performance de mani</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transparente.</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33000"/>
              </a:lnSpc>
              <a:spcBef>
                <a:spcPts val="1500"/>
              </a:spcBef>
              <a:buClr>
                <a:srgbClr val="404040"/>
              </a:buClr>
              <a:buChar char="•"/>
            </a:pP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défi</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NP </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l'ordonnancement :</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33000"/>
              </a:lnSpc>
              <a:spcBef>
                <a:spcPts val="750"/>
              </a:spcBef>
              <a:buClr>
                <a:srgbClr val="404040"/>
              </a:buClr>
              <a:buChar char="•"/>
            </a:pP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Toute op</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tensorielle sur un mat</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sp</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 pr</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sente un nombre quasi infini de combinaisons de 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roulage de boucles et de strat</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gies de 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 en tuiles (tiling), rendant impossible l'</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num</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exhaustive de la solution optimale.</a:t>
            </a:r>
            <a:endParaRPr 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261860" y="1430020"/>
            <a:ext cx="4539615" cy="464375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Architecture IR multi-niveaux de TVM</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6087110" cy="470408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Relay IR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 haut niveau :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gre les concepts de programmation fonctionnelle,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du code mort à granularit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grossi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la fusion d'op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de haut niveau et l'optimisation des graphes de flux de contrôle complexes.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TIR (Tensor IR) de bas niveau</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Abandonne le concept de couche de graphe, traduit les 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en structures de boucles imbriqu</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microscopiques,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finement les registres et le mappage des instructions</a:t>
            </a:r>
            <a:endPar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Architecture TVM Unity et Relax</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nouvelle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du syst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introduit des formes symboliques, permettant la coexistence, dans un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module, du raisonnement sur le graphe de haut niveau et des primitives de boucles de bas niveau,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alisant ainsi une optimisation conjointe inter-niveaux.</a:t>
            </a:r>
            <a:endPar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610985" y="1930400"/>
            <a:ext cx="5316220" cy="362458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Ordonnancement automatis</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TVM</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090" b="0" i="0" u="none" strike="noStrike">
                <a:solidFill>
                  <a:srgbClr val="A5A5A5"/>
                </a:solidFill>
                <a:latin typeface="Calibri" panose="020F0502020204030204"/>
                <a:ea typeface="Garamond" panose="02020404030301010803"/>
                <a:cs typeface="Garamond" panose="02020404030301010803"/>
                <a:sym typeface="Garamond" panose="02020404030301010803"/>
              </a:rPr>
              <a:t>Zheng, Lianmin, et al. "Ansor: Generating {High-Performance} tensor programs for deep learning." 14th USENIX symposium on operating systems design and implementation (OSDI 20). 2020.</a:t>
            </a:r>
            <a:endParaRPr lang="en-US" sz="109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AutoTVM</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 fortement des meilleurs experts mat</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riels pour </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manuellement des mod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d'ordonnancement ; les co</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veloppement sont </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lev</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face à des op</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nouveaux et non 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finis.</a:t>
            </a:r>
            <a:endPar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Architecture </a:t>
            </a:r>
            <a:r>
              <a:rPr lang="en-US" sz="17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Ansor (AutoScheduler) :</a:t>
            </a: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Abandonne les mod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manuels, g</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automatiquement les architectures de boucles des op</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à partir des r</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gles de d</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d'expressions math</a:t>
            </a:r>
            <a:r>
              <a:rPr lang="en-US" altLang="en-US"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matiques de base.</a:t>
            </a:r>
            <a:endParaRPr lang="en-US" altLang="zh-CN" sz="14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123440" y="3273425"/>
            <a:ext cx="8296910" cy="315531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Construction de l’espace de recherche hi</a:t>
            </a:r>
            <a:r>
              <a:rPr lang="en-US" altLang="en-US"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rarchique d’Ansor</a:t>
            </a:r>
            <a:endParaRPr lang="en-US" altLang="zh-CN" sz="26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090" b="0" i="0" u="none" strike="noStrike">
                <a:solidFill>
                  <a:srgbClr val="A5A5A5"/>
                </a:solidFill>
                <a:latin typeface="Calibri" panose="020F0502020204030204"/>
                <a:ea typeface="Garamond" panose="02020404030301010803"/>
                <a:cs typeface="Garamond" panose="02020404030301010803"/>
                <a:sym typeface="Garamond" panose="02020404030301010803"/>
              </a:rPr>
              <a:t>Zheng, Lianmin, et al. "Ansor: Generating {High-Performance} tensor programs for deep learning." 14th USENIX symposium on operating systems design and implementation (OSDI 20). 2020.</a:t>
            </a:r>
            <a:endParaRPr lang="en-US" sz="109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261735" cy="4549775"/>
          </a:xfrm>
          <a:prstGeom prst="rect">
            <a:avLst/>
          </a:prstGeom>
        </p:spPr>
        <p:txBody>
          <a:bodyPr wrap="square" lIns="91440" tIns="45720" rIns="91440" bIns="45720" anchor="t">
            <a:normAutofit/>
          </a:bodyPr>
          <a:lstStyle>
            <a:lvl1pPr algn="l">
              <a:lnSpc>
                <a:spcPct val="100000"/>
              </a:lnSpc>
              <a:defRPr sz="2100" b="0" i="0" u="none" strike="noStrike" spc="0">
                <a:solidFill>
                  <a:srgbClr val="404040">
                    <a:alpha val="100000"/>
                  </a:srgbClr>
                </a:solidFill>
                <a:latin typeface="微软雅黑" panose="020B0503020204020204" charset="-122"/>
              </a:defRPr>
            </a:lvl1pPr>
          </a:lstStyle>
          <a:p>
            <a:pPr marL="266700" indent="-266700" algn="l">
              <a:lnSpc>
                <a:spcPct val="100000"/>
              </a:lnSpc>
              <a:spcBef>
                <a:spcPts val="1500"/>
              </a:spcBef>
              <a:buClr>
                <a:srgbClr val="404040"/>
              </a:buClr>
              <a:buChar char="•"/>
            </a:pP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d'esquisses (Sketches) : Ansor construit le squelette macroscopique du programme en parcourant le graphe de calcul en ordre topologique inverse et en appliquant r</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cursivement des r</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gles de d</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100000"/>
              </a:lnSpc>
              <a:spcBef>
                <a:spcPts val="1500"/>
              </a:spcBef>
              <a:buClr>
                <a:srgbClr val="404040"/>
              </a:buClr>
              <a:buChar char="•"/>
            </a:pP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chantillonnage d'annotations (Annotations, pour compl</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 les d</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tails de bas niveau) : Sur la base de l'esquisse, Ansor effectue un </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chantillonnage al</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atoire dans l'espace des annotations pour d</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terminer les configurations de bas niveau telles que la taille des tuiles (tiling), les limites de parall</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lisation et les limites de d</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roulage des boucles.</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100000"/>
              </a:lnSpc>
              <a:spcBef>
                <a:spcPts val="1500"/>
              </a:spcBef>
              <a:buClr>
                <a:srgbClr val="404040"/>
              </a:buClr>
              <a:buChar char="•"/>
            </a:pP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Introduction d'un mod</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GBDT (bas</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l'apprentissage automatique) pour pr</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 et </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valuer le d</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mat</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des strat</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gies d'ordonnancement en un court laps de temps.</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100000"/>
              </a:lnSpc>
              <a:spcBef>
                <a:spcPts val="1500"/>
              </a:spcBef>
              <a:buClr>
                <a:srgbClr val="404040"/>
              </a:buClr>
              <a:buChar char="•"/>
            </a:pP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Adoption d'un algorithme de recherche </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volutive : GBDT filtre les Top-K planifications et les envoie au mat</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cible pour des tests de vitesse r</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els. Les donn</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de test r</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elles sont ensuite utilis</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pour affiner le mod</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GBDT, l'adaptant progressivement au mat</a:t>
            </a:r>
            <a:r>
              <a:rPr lang="en-US" alt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cible.</a:t>
            </a:r>
            <a:endParaRPr lang="en-US" sz="15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802120" y="1620520"/>
            <a:ext cx="4895850" cy="424815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rPr>
              <a:t>Exemples d’esquisses g</a:t>
            </a:r>
            <a:r>
              <a:rPr lang="en-US" altLang="en-US"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rPr>
              <a:t>n</a:t>
            </a:r>
            <a:r>
              <a:rPr lang="en-US" altLang="en-US"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rPr>
              <a:t>r</a:t>
            </a:r>
            <a:r>
              <a:rPr lang="en-US" altLang="en-US"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rPr>
              <a:t>es et de programmes </a:t>
            </a:r>
            <a:r>
              <a:rPr lang="en-US" altLang="en-US"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rPr>
              <a:t>chantillonn</a:t>
            </a:r>
            <a:r>
              <a:rPr lang="en-US" altLang="en-US"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rPr>
              <a:t>s</a:t>
            </a:r>
            <a:endParaRPr lang="en-US" altLang="zh-CN"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Zheng, Lianmin, et al. "Ansor: Generating {High-Performance} tensor programs for deep learning." 14th USENIX symposium on operating systems design and implementation (OSDI 20). 2020.</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1"/>
          <a:srcRect/>
          <a:stretch>
            <a:fillRect/>
          </a:stretch>
        </p:blipFill>
        <p:spPr>
          <a:xfrm>
            <a:off x="2940353" y="1323975"/>
            <a:ext cx="6444643" cy="4852988"/>
          </a:xfrm>
          <a:prstGeom prst="rect">
            <a:avLst/>
          </a:prstGeom>
        </p:spPr>
      </p:pic>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de TorchDynamo</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920" b="0" i="0" u="none" strike="noStrike">
                <a:solidFill>
                  <a:srgbClr val="A5A5A5"/>
                </a:solidFill>
                <a:latin typeface="Calibri" panose="020F0502020204030204"/>
                <a:ea typeface="Garamond" panose="02020404030301010803"/>
                <a:cs typeface="Garamond" panose="02020404030301010803"/>
                <a:sym typeface="Garamond" panose="02020404030301010803"/>
              </a:rPr>
              <a:t>Ansel, Jason, et al. "Pytorch 2: Faster machine learning through dynamic python bytecode transformation and graph compilation." Proceedings of the 29th ACM international conference on architectural support for programming languages and operating systems, volume 2. 2024.</a:t>
            </a:r>
            <a:endParaRPr lang="en-US" sz="92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7563485" cy="485457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 et inconv</a:t>
            </a:r>
            <a:r>
              <a:rPr lang="en-US" alt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nients du mode Eager</a:t>
            </a:r>
            <a:r>
              <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PyTorch a un m</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define-by-run extr</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mement flexible, tr</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appr</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chercheurs. Cependant, le framework ne peut voir qu'un seul op</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à la fois, ce qui rend difficile l'optimisation au niveau du graphe à travers les fronti</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 des op</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(telles que la fusion d'op</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ou l'ordonnancement m</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Compromis des solutions précédentes :</a:t>
            </a:r>
            <a:endPar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T</a:t>
            </a:r>
            <a:r>
              <a:rPr lang="en-US" altLang="zh-CN" sz="1415" b="0" i="0" u="none" strike="noStrike">
                <a:solidFill>
                  <a:srgbClr val="404040"/>
                </a:solidFill>
                <a:latin typeface="Calibri" panose="020F0502020204030204"/>
                <a:ea typeface="Calibri" panose="020F0502020204030204"/>
                <a:cs typeface="Calibri" panose="020F0502020204030204"/>
                <a:sym typeface="Calibri" panose="020F0502020204030204"/>
              </a:rPr>
              <a:t>orchScript : tente d'analyser statiquement l'AST Python, confront</a:t>
            </a:r>
            <a:r>
              <a:rPr lang="en-US" alt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15" b="0" i="0" u="none" strike="noStrike">
                <a:solidFill>
                  <a:srgbClr val="404040"/>
                </a:solidFill>
                <a:latin typeface="Calibri" panose="020F0502020204030204"/>
                <a:ea typeface="Calibri" panose="020F0502020204030204"/>
                <a:cs typeface="Calibri" panose="020F0502020204030204"/>
                <a:sym typeface="Calibri" panose="020F0502020204030204"/>
              </a:rPr>
              <a:t> au dilemme </a:t>
            </a:r>
            <a:r>
              <a:rPr lang="en-US" alt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1415" b="0" i="0" u="none" strike="noStrike">
                <a:solidFill>
                  <a:srgbClr val="404040"/>
                </a:solidFill>
                <a:latin typeface="Calibri" panose="020F0502020204030204"/>
                <a:ea typeface="Calibri" panose="020F0502020204030204"/>
                <a:cs typeface="Calibri" panose="020F0502020204030204"/>
                <a:sym typeface="Calibri" panose="020F0502020204030204"/>
              </a:rPr>
              <a:t> tout ou rien </a:t>
            </a:r>
            <a:r>
              <a:rPr lang="en-US" alt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14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15" b="0" i="0" u="none" strike="noStrike">
                <a:solidFill>
                  <a:srgbClr val="404040"/>
                </a:solidFill>
                <a:latin typeface="Calibri" panose="020F0502020204030204"/>
                <a:ea typeface="Calibri" panose="020F0502020204030204"/>
                <a:cs typeface="Calibri" panose="020F0502020204030204"/>
                <a:sym typeface="Calibri" panose="020F0502020204030204"/>
              </a:rPr>
              <a:t>chouant souvent car il ne prend pas en charge la s</a:t>
            </a:r>
            <a:r>
              <a:rPr lang="en-US" alt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15" b="0" i="0" u="none" strike="noStrike">
                <a:solidFill>
                  <a:srgbClr val="404040"/>
                </a:solidFill>
                <a:latin typeface="Calibri" panose="020F0502020204030204"/>
                <a:ea typeface="Calibri" panose="020F0502020204030204"/>
                <a:cs typeface="Calibri" panose="020F0502020204030204"/>
                <a:sym typeface="Calibri" panose="020F0502020204030204"/>
              </a:rPr>
              <a:t>mantique compl</a:t>
            </a:r>
            <a:r>
              <a:rPr lang="en-US" alt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415" b="0" i="0" u="none" strike="noStrike">
                <a:solidFill>
                  <a:srgbClr val="404040"/>
                </a:solidFill>
                <a:latin typeface="Calibri" panose="020F0502020204030204"/>
                <a:ea typeface="Calibri" panose="020F0502020204030204"/>
                <a:cs typeface="Calibri" panose="020F0502020204030204"/>
                <a:sym typeface="Calibri" panose="020F0502020204030204"/>
              </a:rPr>
              <a:t>te de Python.</a:t>
            </a:r>
            <a:endPar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azy Tensors : surcharge d'ex</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importante, retarde le lancement des noyaux sous-jacents et entra</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des recompilations fr</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quentes.</a:t>
            </a:r>
            <a:endPar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Motivation centrale de TorchDynamo</a:t>
            </a:r>
            <a:r>
              <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tant que compilateur juste-à-temps (JIT) au niveau Python, l'objectif est de compiler les graphes des programmes PyTorch sans sacrifier aucune des flexibilit</a:t>
            </a:r>
            <a:r>
              <a:rPr lang="en-US" alt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de Python.</a:t>
            </a:r>
            <a:endPar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8087360" y="2263140"/>
            <a:ext cx="3735705" cy="297434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de TorchDynamo</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95" b="0" i="0" u="none" strike="noStrike">
                <a:solidFill>
                  <a:srgbClr val="A5A5A5"/>
                </a:solidFill>
                <a:latin typeface="Calibri" panose="020F0502020204030204"/>
                <a:ea typeface="Garamond" panose="02020404030301010803"/>
                <a:cs typeface="Garamond" panose="02020404030301010803"/>
                <a:sym typeface="Garamond" panose="02020404030301010803"/>
              </a:rPr>
              <a:t>https://chips-compilers-mlsys-22.github.io/assets/slides/PyTorch%20Compilers%20(Compiler%20&amp;%20Chips%20Symposium%202022).pdf</a:t>
            </a:r>
            <a:endParaRPr lang="en-US" sz="129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1"/>
          <a:srcRect/>
          <a:stretch>
            <a:fillRect/>
          </a:stretch>
        </p:blipFill>
        <p:spPr>
          <a:xfrm>
            <a:off x="1566459" y="1323975"/>
            <a:ext cx="9192432" cy="4852988"/>
          </a:xfrm>
          <a:prstGeom prst="rect">
            <a:avLst/>
          </a:prstGeom>
        </p:spPr>
      </p:pic>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6639201"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19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Transformation du bytecode bas</a:t>
            </a:r>
            <a:r>
              <a:rPr lang="en-US" altLang="en-US" sz="19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 sur l’</a:t>
            </a:r>
            <a:r>
              <a:rPr lang="en-US" altLang="en-US" sz="19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valuation des frames CPython</a:t>
            </a:r>
            <a:endParaRPr lang="en-US" altLang="zh-CN" sz="199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920" b="0" i="0" u="none" strike="noStrike">
                <a:solidFill>
                  <a:srgbClr val="A5A5A5"/>
                </a:solidFill>
                <a:latin typeface="Calibri" panose="020F0502020204030204"/>
                <a:ea typeface="Garamond" panose="02020404030301010803"/>
                <a:cs typeface="Garamond" panose="02020404030301010803"/>
                <a:sym typeface="Garamond" panose="02020404030301010803"/>
              </a:rPr>
              <a:t>Ansel, Jason, et al. "Pytorch 2: Faster machine learning through dynamic python bytecode transformation and graph compilation." Proceedings of the 29th ACM international conference on architectural support for programming languages and operating systems, volume 2. 2024.</a:t>
            </a:r>
            <a:endParaRPr lang="en-US" sz="92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788150" cy="5010150"/>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1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 d'extension PEP 523</a:t>
            </a:r>
            <a:r>
              <a:rPr lang="en-US" sz="21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1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TorchDynamo p</a:t>
            </a:r>
            <a:r>
              <a:rPr lang="en-US" alt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tre au plus profond de CPython et utilise l'API eval_frame d'</a:t>
            </a:r>
            <a:r>
              <a:rPr lang="en-US" alt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valuation de frame, introduite par la PEP 523.</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Interprétation et réécriture dynamiques :</a:t>
            </a:r>
            <a:endParaRPr lang="en-US" sz="21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 de la cr</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ation d'un PyFrameObject de CPython, TorchDynamo remplace la boucle d'interpr</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teur par d</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faut et effectue une compilation JIT du bytecode Python qui est sur le point d'</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ex</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Extraction du graphe FX</a:t>
            </a:r>
            <a:r>
              <a:rPr lang="en-US" sz="21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1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r</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crivant le bytecode, les s</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quences d'op</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PyTorch sont extraites comme entr</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pour le backend (FX Graph).</a:t>
            </a:r>
            <a:endPar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380605" y="1030605"/>
            <a:ext cx="4066540" cy="263715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380605" y="3667760"/>
            <a:ext cx="4065905" cy="256921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a:solidFill>
                  <a:srgbClr val="262626"/>
                </a:solidFill>
                <a:latin typeface="Calibri" panose="020F0502020204030204"/>
                <a:ea typeface="Calibri" panose="020F0502020204030204"/>
                <a:cs typeface="Calibri" panose="020F0502020204030204"/>
                <a:sym typeface="Calibri" panose="020F0502020204030204"/>
              </a:rPr>
              <a:t>Leçon</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 20</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Bases de la repr</a:t>
            </a:r>
            <a:r>
              <a:rPr lang="en-US" alt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sentation interm</a:t>
            </a:r>
            <a:r>
              <a:rPr lang="en-US" alt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diaire (IR) </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Framework de compilation d'apprentissage profond</a:t>
            </a:r>
            <a:endParaRPr lang="en-US" sz="29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LLVM, Chris Lattner, http://aosabook.org/en/llvm.html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568950" cy="430974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Frontend</a:t>
            </a:r>
            <a:endPar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lexicale et syntaxique, construction d'arbres de syntaxe abstraite, v</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 s</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conversion IR.</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Middle-end</a:t>
            </a: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Optimiseur</a:t>
            </a:r>
            <a:endPar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alisation de diverses optimisations au niveau IR.</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Backend</a:t>
            </a:r>
            <a:endParaRPr lang="en-US" sz="23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Sélection d'instructions, allocation de registres, génération de code</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093460" y="1950720"/>
            <a:ext cx="5708015" cy="340296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Objectifs de conception d’une IR</a:t>
            </a:r>
            <a:endParaRPr lang="en-US" altLang="zh-CN"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Li, Mingzhen, et al. "The deep learning compiler: A comprehensive survey." IEEE Transactions on Parallel and Distributed Systems 32.3 (2020): 708-727.</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209030" cy="4719955"/>
          </a:xfrm>
          <a:prstGeom prst="rect">
            <a:avLst/>
          </a:prstGeom>
        </p:spPr>
        <p:txBody>
          <a:bodyPr wrap="square" lIns="91440" tIns="45720" rIns="91440" bIns="45720" anchor="t">
            <a:noAutofit/>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pont abstrait reliant le langage source au code machine cible</a:t>
            </a:r>
            <a:endPar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Dissocier les contraintes mat</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rielles</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le d</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veloppement logiciel moderne, il existe un foss</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consid</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 entre les langages frontend et le mat</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sous-jacent.</a:t>
            </a:r>
            <a:endPar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rôle central de l'IR est de d</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coupler compl</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tement l'intention des frameworks de haut niveau des instructions du silicium sous-jacent.</a:t>
            </a:r>
            <a:endPar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R</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soudre le probl</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me catastrophique</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M x N </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Supposons qu'il existe M frameworks frontaux d'apprentissage profond, ainsi que N acc</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mat</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riels diff</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a:t>
            </a:r>
            <a:endPar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Sans un IR unifi</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l'industrie devrait d</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velopper M </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 compilateurs ind</a:t>
            </a:r>
            <a:r>
              <a:rPr lang="en-US" alt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pendants.</a:t>
            </a:r>
            <a:endParaRPr lang="en-US" altLang="zh-CN"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En introduisant un IR standard, il suffit de d</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velopper M traducteurs frontend et N g</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rateurs de code backend, r</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duisant la complexit</a:t>
            </a:r>
            <a:r>
              <a:rPr lang="en-US" alt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00" b="0" i="0" u="none" strike="noStrike">
                <a:solidFill>
                  <a:srgbClr val="404040"/>
                </a:solidFill>
                <a:latin typeface="Calibri" panose="020F0502020204030204"/>
                <a:ea typeface="Calibri" panose="020F0502020204030204"/>
                <a:cs typeface="Calibri" panose="020F0502020204030204"/>
                <a:sym typeface="Calibri" panose="020F0502020204030204"/>
              </a:rPr>
              <a:t> à</a:t>
            </a: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 M + N</a:t>
            </a:r>
            <a:r>
              <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719570" y="1833880"/>
            <a:ext cx="5219065" cy="354203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Objectifs de conception d’une IR </a:t>
            </a:r>
            <a:endParaRPr lang="en-US" altLang="zh-CN"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fontScale="9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server la 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de haut niveau, refuser la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gradation pr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matur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valeur des informations 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les compilateurs 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raux traditionnels (comme GCC/LLVM), une 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est 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en boucles scalaires de bas niveau et en calculs de pointeurs. Mais dans l'IR d'apprentissage profond, une convolution bidimensionnelle doit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serv</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comme un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atomique conv2d(input, weight).</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pierre angulaire de l'optimisation globale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l'on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grade 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matur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les 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du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 neuronal en de simples boucles for, le compilateur perdra la connaissance macroscopique qu'il s'agit d'une convolution, et ne pourra donc pas invoquer les biblioth</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 d'acc</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mat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sp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pour les convolutions.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macroscopique de graphe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s'appuyant sur cette structure de donn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IR 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servant la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de haut niveau, le compilateur peut ex</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à une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chelle globale la simplification alg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brique au niveau du graphe de calcul, la fusion d'op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ainsi que la planification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文本占位符 5"/>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530" b="0" i="0" u="none" strike="noStrike">
                <a:solidFill>
                  <a:srgbClr val="262626"/>
                </a:solidFill>
                <a:latin typeface="Calibri" panose="020F0502020204030204"/>
                <a:ea typeface="Calibri" panose="020F0502020204030204"/>
                <a:cs typeface="Calibri" panose="020F0502020204030204"/>
                <a:sym typeface="Calibri" panose="020F0502020204030204"/>
              </a:rPr>
              <a:t>D</a:t>
            </a:r>
            <a:r>
              <a:rPr lang="en-US" altLang="en-US" sz="253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530" b="0" i="0" u="none" strike="noStrike">
                <a:solidFill>
                  <a:srgbClr val="262626"/>
                </a:solidFill>
                <a:latin typeface="Calibri" panose="020F0502020204030204"/>
                <a:ea typeface="Calibri" panose="020F0502020204030204"/>
                <a:cs typeface="Calibri" panose="020F0502020204030204"/>
                <a:sym typeface="Calibri" panose="020F0502020204030204"/>
              </a:rPr>
              <a:t>construction du mod</a:t>
            </a:r>
            <a:r>
              <a:rPr lang="en-US" altLang="en-US" sz="2530"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2530" b="0" i="0" u="none" strike="noStrike">
                <a:solidFill>
                  <a:srgbClr val="262626"/>
                </a:solidFill>
                <a:latin typeface="Calibri" panose="020F0502020204030204"/>
                <a:ea typeface="Calibri" panose="020F0502020204030204"/>
                <a:cs typeface="Calibri" panose="020F0502020204030204"/>
                <a:sym typeface="Calibri" panose="020F0502020204030204"/>
              </a:rPr>
              <a:t>le d’ex</a:t>
            </a:r>
            <a:r>
              <a:rPr lang="en-US" altLang="en-US" sz="253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530" b="0" i="0" u="none" strike="noStrike">
                <a:solidFill>
                  <a:srgbClr val="262626"/>
                </a:solidFill>
                <a:latin typeface="Calibri" panose="020F0502020204030204"/>
                <a:ea typeface="Calibri" panose="020F0502020204030204"/>
                <a:cs typeface="Calibri" panose="020F0502020204030204"/>
                <a:sym typeface="Calibri" panose="020F0502020204030204"/>
              </a:rPr>
              <a:t>cution – graphe de flot de contrôle (CFG) </a:t>
            </a:r>
            <a:endParaRPr lang="en-US" altLang="zh-CN" sz="253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https://www.csl.cornell.edu/~zhiruz/5997/pdf/lecture04.pdf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922010" cy="4771390"/>
          </a:xfrm>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Logique traditionnelle bas</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sur le compteur de programme (PC)</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n</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sont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finis comme des blocs de base (Basic Blocks) : chaque n</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du graphe est une s</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quence "sans aucun branchement" d'instructions lin</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aires continues. Une fois entr</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le bloc, les instructions sont n</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cessairement ex</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du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but à la fin.</a:t>
            </a:r>
            <a:endPar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ar</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 du graphe repr</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sentent le flux de contrôle : les ar</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 orient</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du graphe repr</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sentent la logique temporelle d'ex</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du programme et les cibles de saut (correspondant aux instructions de contrôle if/else, while, for dans les langages de haut niveau)</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d'ex</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 fortement de l'architecture von Neumann, notamment du compteur de programme (PC),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central de l'architecture.</a:t>
            </a:r>
            <a:endPar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440170" y="1762760"/>
            <a:ext cx="5563870" cy="412305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460" b="0" i="0" u="none" strike="noStrike">
                <a:solidFill>
                  <a:srgbClr val="262626"/>
                </a:solidFill>
                <a:latin typeface="Calibri" panose="020F0502020204030204"/>
                <a:ea typeface="Calibri" panose="020F0502020204030204"/>
                <a:cs typeface="Calibri" panose="020F0502020204030204"/>
                <a:sym typeface="Calibri" panose="020F0502020204030204"/>
              </a:rPr>
              <a:t>D</a:t>
            </a:r>
            <a:r>
              <a:rPr lang="en-US" altLang="en-US" sz="246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460" b="0" i="0" u="none" strike="noStrike">
                <a:solidFill>
                  <a:srgbClr val="262626"/>
                </a:solidFill>
                <a:latin typeface="Calibri" panose="020F0502020204030204"/>
                <a:ea typeface="Calibri" panose="020F0502020204030204"/>
                <a:cs typeface="Calibri" panose="020F0502020204030204"/>
                <a:sym typeface="Calibri" panose="020F0502020204030204"/>
              </a:rPr>
              <a:t>construction du mod</a:t>
            </a:r>
            <a:r>
              <a:rPr lang="en-US" altLang="en-US" sz="2460"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2460" b="0" i="0" u="none" strike="noStrike">
                <a:solidFill>
                  <a:srgbClr val="262626"/>
                </a:solidFill>
                <a:latin typeface="Calibri" panose="020F0502020204030204"/>
                <a:ea typeface="Calibri" panose="020F0502020204030204"/>
                <a:cs typeface="Calibri" panose="020F0502020204030204"/>
                <a:sym typeface="Calibri" panose="020F0502020204030204"/>
              </a:rPr>
              <a:t>le d’ex</a:t>
            </a:r>
            <a:r>
              <a:rPr lang="en-US" altLang="en-US" sz="246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460" b="0" i="0" u="none" strike="noStrike">
                <a:solidFill>
                  <a:srgbClr val="262626"/>
                </a:solidFill>
                <a:latin typeface="Calibri" panose="020F0502020204030204"/>
                <a:ea typeface="Calibri" panose="020F0502020204030204"/>
                <a:cs typeface="Calibri" panose="020F0502020204030204"/>
                <a:sym typeface="Calibri" panose="020F0502020204030204"/>
              </a:rPr>
              <a:t>cution – graphe de flux de donn</a:t>
            </a:r>
            <a:r>
              <a:rPr lang="en-US" altLang="en-US" sz="246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460" b="0" i="0" u="none" strike="noStrike">
                <a:solidFill>
                  <a:srgbClr val="262626"/>
                </a:solidFill>
                <a:latin typeface="Calibri" panose="020F0502020204030204"/>
                <a:ea typeface="Calibri" panose="020F0502020204030204"/>
                <a:cs typeface="Calibri" panose="020F0502020204030204"/>
                <a:sym typeface="Calibri" panose="020F0502020204030204"/>
              </a:rPr>
              <a:t>es (DFG)</a:t>
            </a:r>
            <a:endParaRPr lang="en-US" altLang="zh-CN" sz="246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https://www.researchgate.net/figure/Data-flow-graph-example_fig2_224517165</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816600" cy="4853940"/>
          </a:xfrm>
          <a:prstGeom prst="rect">
            <a:avLst/>
          </a:prstGeom>
        </p:spPr>
        <p:txBody>
          <a:bodyPr wrap="square" lIns="91440" tIns="45720" rIns="91440" bIns="45720" anchor="t">
            <a:normAutofit/>
          </a:bodyPr>
          <a:lstStyle>
            <a:lvl1pPr algn="l">
              <a:lnSpc>
                <a:spcPct val="133000"/>
              </a:lnSpc>
              <a:defRPr sz="2400" b="0" i="0" u="none" strike="noStrike" spc="0">
                <a:solidFill>
                  <a:srgbClr val="404040">
                    <a:alpha val="100000"/>
                  </a:srgbClr>
                </a:solidFill>
                <a:latin typeface="微软雅黑" panose="020B0503020204020204" charset="-122"/>
              </a:defRPr>
            </a:lvl1pPr>
          </a:lstStyle>
          <a:p>
            <a:pPr marL="304800" indent="-304800" algn="l">
              <a:lnSpc>
                <a:spcPct val="133000"/>
              </a:lnSpc>
              <a:spcBef>
                <a:spcPts val="1500"/>
              </a:spcBef>
              <a:buClr>
                <a:srgbClr val="404040"/>
              </a:buClr>
              <a:buChar char="•"/>
            </a:pP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 piloté par les données, indépendant de l'ordre temporel</a:t>
            </a:r>
            <a:endPar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33000"/>
              </a:lnSpc>
              <a:spcBef>
                <a:spcPts val="750"/>
              </a:spcBef>
              <a:buClr>
                <a:srgbClr val="404040"/>
              </a:buClr>
              <a:buChar char="•"/>
            </a:pP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Nœuds définis comme des opérations mathématiques :</a:t>
            </a:r>
            <a:r>
              <a:rPr lang="en-US" sz="13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nœuds du graphe ne sont plus des blocs de base, mais représentent des opérations mathématiques spécifiques ou des primitives d'opération (comme la multiplication matricielle, l'addition de tenseurs, la convolution).</a:t>
            </a:r>
            <a:r>
              <a:rPr lang="en-US" sz="13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33000"/>
              </a:lnSpc>
              <a:spcBef>
                <a:spcPts val="750"/>
              </a:spcBef>
              <a:buClr>
                <a:srgbClr val="404040"/>
              </a:buClr>
              <a:buChar char="•"/>
            </a:pP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arêtes représentent le cycle de vie des données :</a:t>
            </a:r>
            <a:r>
              <a:rPr lang="en-US" sz="13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arêtes orientées représentent les dépendances mathématiques pures et les chemins de flux de données (dans l'apprentissage profond, ce sont des tenseurs multidimensionnels) entre les nœuds d'opération.</a:t>
            </a:r>
            <a:endPar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33000"/>
              </a:lnSpc>
              <a:spcBef>
                <a:spcPts val="750"/>
              </a:spcBef>
              <a:buClr>
                <a:srgbClr val="404040"/>
              </a:buClr>
              <a:buChar char="•"/>
            </a:pP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Mécanisme de déclenchement de l'exécution :</a:t>
            </a:r>
            <a:r>
              <a:rPr lang="en-US" sz="13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Abandon complet de la contrainte séquentielle des numéros de ligne de code. La condition unique pour déclencher l'exécution d'un nœud de calcul est que toutes les données d'entrée en amont nécessaires soient prêtes.</a:t>
            </a:r>
            <a:endParaRPr lang="en-US" sz="13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438900" y="2046605"/>
            <a:ext cx="5456555" cy="312991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CFG  v.s. DFG</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custDataLst>
              <p:tags r:id="rId1"/>
            </p:custDataLst>
          </p:nvPr>
        </p:nvGraphicFramePr>
        <p:xfrm>
          <a:off x="307340" y="1053465"/>
          <a:ext cx="11809095" cy="5731510"/>
        </p:xfrm>
        <a:graphic>
          <a:graphicData uri="http://schemas.openxmlformats.org/drawingml/2006/table">
            <a:tbl>
              <a:tblPr>
                <a:effectLst/>
              </a:tblPr>
              <a:tblGrid>
                <a:gridCol w="3199765"/>
                <a:gridCol w="4009390"/>
                <a:gridCol w="4599940"/>
              </a:tblGrid>
              <a:tr h="490855">
                <a:tc>
                  <a:txBody>
                    <a:bodyPr/>
                    <a:lstStyle/>
                    <a:p>
                      <a:pPr indent="0" algn="l">
                        <a:lnSpc>
                          <a:spcPct val="117000"/>
                        </a:lnSpc>
                        <a:defRPr/>
                      </a:pPr>
                      <a:r>
                        <a:rPr lang="en-US" sz="16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Dimensions caracteristiques</a:t>
                      </a:r>
                      <a:endParaRPr lang="en-US" sz="16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a:noFill/>
                    </a:lnL>
                    <a:lnR w="12700">
                      <a:solidFill>
                        <a:schemeClr val="tx1"/>
                      </a:solidFill>
                      <a:prstDash val="solid"/>
                    </a:lnR>
                    <a:lnT>
                      <a:noFill/>
                    </a:lnT>
                    <a:lnB w="12700">
                      <a:solidFill>
                        <a:schemeClr val="tx1"/>
                      </a:solidFill>
                      <a:prstDash val="solid"/>
                    </a:lnB>
                    <a:lnTlToBr>
                      <a:noFill/>
                    </a:lnTlToBr>
                    <a:lnBlToTr>
                      <a:noFill/>
                    </a:lnBlToTr>
                    <a:solidFill>
                      <a:srgbClr val="8B0012">
                        <a:alpha val="100000"/>
                      </a:srgbClr>
                    </a:solidFill>
                  </a:tcPr>
                </a:tc>
                <a:tc>
                  <a:txBody>
                    <a:bodyPr/>
                    <a:lstStyle/>
                    <a:p>
                      <a:pPr indent="0" algn="ctr">
                        <a:lnSpc>
                          <a:spcPct val="117000"/>
                        </a:lnSpc>
                        <a:defRPr/>
                      </a:pPr>
                      <a:r>
                        <a:rPr lang="en-US" sz="16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Graphe de flot de controle (CFG)</a:t>
                      </a:r>
                      <a:endParaRPr lang="en-US" sz="16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w="12700">
                      <a:solidFill>
                        <a:schemeClr val="tx1"/>
                      </a:solidFill>
                      <a:prstDash val="solid"/>
                    </a:lnR>
                    <a:lnT>
                      <a:noFill/>
                    </a:lnT>
                    <a:lnB w="12700">
                      <a:solidFill>
                        <a:schemeClr val="tx1"/>
                      </a:solidFill>
                      <a:prstDash val="solid"/>
                    </a:lnB>
                    <a:lnTlToBr>
                      <a:noFill/>
                    </a:lnTlToBr>
                    <a:lnBlToTr>
                      <a:noFill/>
                    </a:lnBlToTr>
                    <a:solidFill>
                      <a:srgbClr val="8B0012">
                        <a:alpha val="100000"/>
                      </a:srgbClr>
                    </a:solidFill>
                  </a:tcPr>
                </a:tc>
                <a:tc>
                  <a:txBody>
                    <a:bodyPr/>
                    <a:lstStyle/>
                    <a:p>
                      <a:pPr indent="0" algn="ctr">
                        <a:lnSpc>
                          <a:spcPct val="117000"/>
                        </a:lnSpc>
                        <a:defRPr/>
                      </a:pPr>
                      <a:r>
                        <a:rPr lang="en-US" sz="16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Graphe de flux de donnees (DFG)</a:t>
                      </a:r>
                      <a:endParaRPr lang="en-US" sz="16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a:noFill/>
                    </a:lnR>
                    <a:lnT>
                      <a:noFill/>
                    </a:lnT>
                    <a:lnB w="12700">
                      <a:solidFill>
                        <a:schemeClr val="tx1"/>
                      </a:solidFill>
                      <a:prstDash val="solid"/>
                    </a:lnB>
                    <a:lnTlToBr>
                      <a:noFill/>
                    </a:lnTlToBr>
                    <a:lnBlToTr>
                      <a:noFill/>
                    </a:lnBlToTr>
                    <a:solidFill>
                      <a:srgbClr val="8B0012">
                        <a:alpha val="100000"/>
                      </a:srgbClr>
                    </a:solidFill>
                  </a:tcPr>
                </a:tc>
              </a:tr>
              <a:tr h="964565">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Objet de modelisation principal</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L'ordre d'execution du programme et les chemins de branches logiques.</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Les chemins de transmission des valeurs de donnees et les dependances des operations mathematiques.</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r>
              <a:tr h="964565">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Representation des noeuds (Nodes)</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Blocs de base (une sequence continue d'instructions sans branchement).</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Operateurs d'operations mathematiques (comme la multiplication matricielle, la convolution).</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r>
              <a:tr h="715010">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Representation des aretes (Edges)</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Flux de controle, sauts de boucle, cibles de branchement conditionnel.</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La definition des donnees (sortie) vers l'utilisation des donnees (entree).</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r>
              <a:tr h="906780">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Condition de declenchement de l'execution</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Le compteur de programme (PC) pointe sequentiellement vers ce noeud.</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Toutes les donnees d'entree en amont necessaires ont ete calculees et sont pretes.</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r>
              <a:tr h="964565">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Potentiel de parallelisation</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a:noFill/>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Tres faible. Limitee par l'ordre strict d'execution des instructions et les branches difficiles a predire.</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Tres eleve. Expose naturellement les opportunites maximales de parallelisation au niveau des operateurs et des instructions.</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a:noFill/>
                    </a:lnR>
                    <a:lnT w="12700">
                      <a:solidFill>
                        <a:schemeClr val="tx1"/>
                      </a:solidFill>
                      <a:prstDash val="solid"/>
                    </a:lnT>
                    <a:lnB w="12700">
                      <a:solidFill>
                        <a:schemeClr val="tx1"/>
                      </a:solidFill>
                      <a:prstDash val="solid"/>
                    </a:lnB>
                    <a:lnTlToBr>
                      <a:noFill/>
                    </a:lnTlToBr>
                    <a:lnBlToTr>
                      <a:noFill/>
                    </a:lnBlToTr>
                    <a:solidFill>
                      <a:srgbClr val="FFFFFF">
                        <a:alpha val="100000"/>
                      </a:srgbClr>
                    </a:solidFill>
                  </a:tcPr>
                </a:tc>
              </a:tr>
              <a:tr h="715010">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Scenario d'application typiques</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a:noFill/>
                    </a:lnL>
                    <a:lnR w="12700">
                      <a:solidFill>
                        <a:schemeClr val="tx1"/>
                      </a:solidFill>
                      <a:prstDash val="solid"/>
                    </a:lnR>
                    <a:lnT w="12700">
                      <a:solidFill>
                        <a:schemeClr val="tx1"/>
                      </a:solidFill>
                      <a:prstDash val="solid"/>
                    </a:lnT>
                    <a:lnB>
                      <a:noFill/>
                    </a:lnB>
                    <a:lnTlToBr>
                      <a:noFill/>
                    </a:lnTlToBr>
                    <a:lnBlToTr>
                      <a:noFill/>
                    </a:lnBlToTr>
                    <a:solidFill>
                      <a:srgbClr val="FFB5BE">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Logiciels generaux, noyaux de systemes d'exploitation, controle de logique metier.</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w="12700">
                      <a:solidFill>
                        <a:schemeClr val="tx1"/>
                      </a:solidFill>
                      <a:prstDash val="solid"/>
                    </a:lnR>
                    <a:lnT w="12700">
                      <a:solidFill>
                        <a:schemeClr val="tx1"/>
                      </a:solidFill>
                      <a:prstDash val="solid"/>
                    </a:lnT>
                    <a:lnB>
                      <a:noFill/>
                    </a:lnB>
                    <a:lnTlToBr>
                      <a:noFill/>
                    </a:lnTlToBr>
                    <a:lnBlToTr>
                      <a:noFill/>
                    </a:lnBlToTr>
                    <a:solidFill>
                      <a:srgbClr val="FFFFFF">
                        <a:alpha val="100000"/>
                      </a:srgbClr>
                    </a:solidFill>
                  </a:tcPr>
                </a:tc>
                <a:tc>
                  <a:txBody>
                    <a:bodyPr/>
                    <a:lstStyle/>
                    <a:p>
                      <a:pPr indent="0" algn="l">
                        <a:lnSpc>
                          <a:spcPct val="117000"/>
                        </a:lnSpc>
                        <a:defRPr/>
                      </a:pPr>
                      <a:r>
                        <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Graphes de calcul tensoriel en apprentissage profond, traitement du signal numerique.</a:t>
                      </a:r>
                      <a:endParaRPr lang="en-US" sz="14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177800" marR="177800" marT="107950" marB="107950">
                    <a:lnL w="12700">
                      <a:solidFill>
                        <a:schemeClr val="tx1"/>
                      </a:solidFill>
                      <a:prstDash val="solid"/>
                    </a:lnL>
                    <a:lnR>
                      <a:noFill/>
                    </a:lnR>
                    <a:lnT w="12700">
                      <a:solidFill>
                        <a:schemeClr val="tx1"/>
                      </a:solidFill>
                      <a:prstDash val="solid"/>
                    </a:lnT>
                    <a:lnB>
                      <a:noFill/>
                    </a:lnB>
                    <a:lnTlToBr>
                      <a:noFill/>
                    </a:lnTlToBr>
                    <a:lnBlToTr>
                      <a:noFill/>
                    </a:lnBlToTr>
                    <a:solidFill>
                      <a:srgbClr val="FFFFFF">
                        <a:alpha val="100000"/>
                      </a:srgbClr>
                    </a:solidFill>
                  </a:tcPr>
                </a:tc>
              </a:tr>
            </a:tbl>
          </a:graphicData>
        </a:graphic>
      </p:graphicFrame>
      <p:sp>
        <p:nvSpPr>
          <p:cNvPr id="5" name="文本占位符 4"/>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6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Introduction de la forme statique à assignation unique (SSA) </a:t>
            </a:r>
            <a:endParaRPr lang="en-US" altLang="zh-CN" sz="26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https://en.wikipedia.org/wiki/Static_single-assignment_form</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379210" cy="503237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cauchemar du code traditionnel :</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variables peuvent </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r</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assign</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plusieurs fois (comme x = 1; x = x + 1), ce qui rend difficile pour le compilateur de tracer "ce x actuel a </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quelle ligne".</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Exigences de la SSA</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470" b="0" i="0" u="none" strike="noStrike">
                <a:solidFill>
                  <a:srgbClr val="404040"/>
                </a:solidFill>
                <a:latin typeface="Calibri" panose="020F0502020204030204"/>
                <a:ea typeface="Calibri" panose="020F0502020204030204"/>
                <a:cs typeface="Calibri" panose="020F0502020204030204"/>
                <a:sym typeface="Calibri" panose="020F0502020204030204"/>
              </a:rPr>
              <a:t>Dans l'IR sous forme SSA, chaque variable du programme ne peut </a:t>
            </a:r>
            <a:r>
              <a:rPr lang="en-US" alt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470" b="0" i="0" u="none" strike="noStrike">
                <a:solidFill>
                  <a:srgbClr val="404040"/>
                </a:solidFill>
                <a:latin typeface="Calibri" panose="020F0502020204030204"/>
                <a:ea typeface="Calibri" panose="020F0502020204030204"/>
                <a:cs typeface="Calibri" panose="020F0502020204030204"/>
                <a:sym typeface="Calibri" panose="020F0502020204030204"/>
              </a:rPr>
              <a:t>tre assign</a:t>
            </a:r>
            <a:r>
              <a:rPr lang="en-US" alt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70" b="0" i="0" u="none" strike="noStrike">
                <a:solidFill>
                  <a:srgbClr val="404040"/>
                </a:solidFill>
                <a:latin typeface="Calibri" panose="020F0502020204030204"/>
                <a:ea typeface="Calibri" panose="020F0502020204030204"/>
                <a:cs typeface="Calibri" panose="020F0502020204030204"/>
                <a:sym typeface="Calibri" panose="020F0502020204030204"/>
              </a:rPr>
              <a:t>e qu'une seule fois durant tout son cycle de vie.</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de versionnage</a:t>
            </a: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une variable est assign</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plusieurs fois dans le code original, le compilateur g</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automatiquement plusieurs nouvelles versions avec des indices croissants $x_1, x_2, x_3$.</a:t>
            </a:r>
            <a:endPar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Transparence fonctionnelle :</a:t>
            </a:r>
            <a:r>
              <a:rPr lang="en-US" sz="147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SSA, "nom de variable" </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quivaut à "l'unique instruction qui a produit cette variable", le code devient absolument clair sur le plan math</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a:t>
            </a:r>
            <a:endPar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904990" y="2413635"/>
            <a:ext cx="1905000" cy="27622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9201150" y="2413635"/>
            <a:ext cx="1905000" cy="276225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Φ (Phi)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fonction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https://en.wikipedia.org/wiki/Static_single-assignment_form</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8488045" cy="494157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Conflit logique :</a:t>
            </a:r>
            <a:r>
              <a:rPr lang="en-US" sz="204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4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 le flux d'ex</a:t>
            </a:r>
            <a:r>
              <a:rPr lang="en-US" alt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du code traverse if/else et converge vers un bloc de base, quelle version de la variable le code suivant devrait-il utiliser ? (Par exemple, if a produit x_1, else a produit x_2).</a:t>
            </a:r>
            <a:endParaRPr lang="en-US" altLang="zh-CN"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Fonction Φ (Phi-node)</a:t>
            </a:r>
            <a:r>
              <a:rPr lang="en-US" sz="20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4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4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Pour maintenir SSA avec sa r</a:t>
            </a:r>
            <a:r>
              <a:rPr lang="en-US" alt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gle d'assignation unique, le compilateur ins</a:t>
            </a:r>
            <a:r>
              <a:rPr lang="en-US" alt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re une instruction virtuelle au point de convergence, par exemple x_3 = Φ(x_1, x_2).</a:t>
            </a:r>
            <a:endPar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Routage dynamique à l'exécution :</a:t>
            </a:r>
            <a:r>
              <a:rPr lang="en-US" sz="204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4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La fonction Φ agit comme un multiplexeur. Lors de l'ex</a:t>
            </a:r>
            <a:r>
              <a:rPr lang="en-US" alt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cution r</a:t>
            </a:r>
            <a:r>
              <a:rPr lang="en-US" alt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elle du programme, elle s</a:t>
            </a:r>
            <a:r>
              <a:rPr lang="en-US" alt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lectionne la variable source correcte en fonction du flux de contrôle (x_1 ou x_2), et assigne la valeur à une toute nouvelle variable x_3.</a:t>
            </a:r>
            <a:endPar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9011920" y="2009775"/>
            <a:ext cx="1905000" cy="283845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Cha</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î</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nes def-use</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305" b="0" i="0" u="none" strike="noStrike">
                <a:solidFill>
                  <a:srgbClr val="A5A5A5"/>
                </a:solidFill>
                <a:latin typeface="Calibri" panose="020F0502020204030204"/>
                <a:ea typeface="Garamond" panose="02020404030301010803"/>
                <a:cs typeface="Garamond" panose="02020404030301010803"/>
                <a:sym typeface="Garamond" panose="02020404030301010803"/>
              </a:rPr>
              <a:t>https://www.researchgate.net/figure/Comparison-of-data-flow-representations-a-def-use-chains-b-SSA-and-c-Gated_fig4_2729044</a:t>
            </a:r>
            <a:endParaRPr lang="en-US" sz="130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189980" cy="483616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Explosion combinatoire traditionnelle sans</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SSA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Comme l'</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tat peut </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tre </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cras</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 pour trouver toutes les sources possibles d'une variable, le compilateur doit effectuer une analyse complexe de flux de donn</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es avec des vecteurs binaires. La complexit</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 temporelle et spatiale atteint O(N^2).</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Équation de transfert d'état :</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SSA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avec une complexité</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O(N) </a:t>
            </a:r>
            <a:r>
              <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our toute utilisation d'une variable (Use), sa d</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source correspondante unique dans le code (Definition) est absolument d</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point de d</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de variable peut maintenir clairement une liste qui pointe directement vers tous ses points d'utilisation dans le graphe global.</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871980" y="3149600"/>
            <a:ext cx="4330700" cy="5588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713855" y="2172335"/>
            <a:ext cx="5087620" cy="2903220"/>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Pliage et propagation de constantes en SSA</a:t>
            </a:r>
            <a:endParaRPr lang="en-US" altLang="zh-CN" sz="28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https://www.cs.utexas.edu/~pingali/CS380C/2013/lectures/ssa-slides.pdf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11120755" cy="192659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Concept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à l'avance lors de la compilation des expressions qui ne pourraient être évaluées qu'à l'exécution.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SSA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 le compilateur rencontre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y = x + 2</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il peut directement le replier en</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3</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Car</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SSA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garantit que la valeur de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x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sera jamais modifiée accidentellement en aval.</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Propagation de constantes (Constant Propagation) : En suivant la cha</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DU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finition-utilisation) de complexit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O(N) fournie par la SSA, le compilateur peut propager cette constante 3 vers tous les endroits du graphe global utilisant y et effectuer des remplacements,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consid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rablement les calculs et pouvant simplifier le flux de contrôle.</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444240" y="4064000"/>
            <a:ext cx="5659755" cy="195262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SSA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Elimination du code mort dans le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https://www.cs.utexas.edu/~pingali/CS380C/2013/lectures/ssa-slides.pdf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11209020" cy="255270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Concept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liminer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instructions redondantes dont les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calcul n'ont jamais d'impact substantiel sur la sortie finale du programme.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SSA,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terminer le code mort devient une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simple : si la liste SSA use-chain d'une variable est vide, alors c'est du code mort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liminable.</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Effet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en cascade : Apr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avoir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 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la cha</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d'utilisation de ses variables en amont devient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galement vide, le marquage du code mort se propage instantan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à rebours le long du graphe, produisant une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en cascade. Cela est crucial pour nettoyer la quantit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massive de 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redondants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par la diff</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renciation automatique (Autograd).</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335655" y="4072255"/>
            <a:ext cx="6355715" cy="183324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du graphe de calcul</a:t>
            </a:r>
            <a:endParaRPr lang="en-US" sz="3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principal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Sans modifier 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quivalence math</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 du mod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liorer l'efficacit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d'ex</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mat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l'occupation de la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vid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 et diminuer les co</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lancement du noyau (kernel).</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Classification des niveaux d'optimisation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au niveau du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(Node-level) : examen isol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d'un seul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de calcul.</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au niveau du bloc (Block-level) : analyse des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quences de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adjacents ou des blocs de calcul</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au niveau du flux de donn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es/graphe (Dataflow/Graph-level) : optimisation macroscopique de la topologie globale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du graphe de calcul</a:t>
            </a:r>
            <a:endParaRPr lang="en-US" sz="3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Grp="1" noChangeAspect="1"/>
          </p:cNvPicPr>
          <p:nvPr>
            <p:ph type="body" sz="quarter" idx="9"/>
          </p:nvPr>
        </p:nvPicPr>
        <p:blipFill>
          <a:blip r:embed="rId1"/>
          <a:srcRect/>
          <a:stretch>
            <a:fillRect/>
          </a:stretch>
        </p:blipFill>
        <p:spPr>
          <a:xfrm>
            <a:off x="1552338" y="1413549"/>
            <a:ext cx="9220674" cy="4673840"/>
          </a:xfrm>
          <a:prstGeom prst="rect">
            <a:avLst/>
          </a:prstGeom>
        </p:spPr>
      </p:pic>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de graphe de calcul</a:t>
            </a:r>
            <a:endPar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https://zhuanlan.zhihu.com/p/661774755</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433820" cy="5024755"/>
          </a:xfrm>
          <a:prstGeom prst="rect">
            <a:avLst/>
          </a:prstGeom>
        </p:spPr>
        <p:txBody>
          <a:bodyPr wrap="square" lIns="91440" tIns="45720" rIns="91440" bIns="45720" anchor="t">
            <a:normAutofit/>
          </a:bodyPr>
          <a:lstStyle>
            <a:lvl1pPr algn="l">
              <a:lnSpc>
                <a:spcPct val="117000"/>
              </a:lnSpc>
              <a:defRPr sz="2200" b="0" i="0" u="none" strike="noStrike" spc="0">
                <a:solidFill>
                  <a:srgbClr val="404040">
                    <a:alpha val="100000"/>
                  </a:srgbClr>
                </a:solidFill>
                <a:latin typeface="微软雅黑" panose="020B0503020204020204" charset="-122"/>
              </a:defRPr>
            </a:lvl1pPr>
          </a:lstStyle>
          <a:p>
            <a:pPr marL="279400" indent="-279400" algn="l">
              <a:lnSpc>
                <a:spcPct val="117000"/>
              </a:lnSpc>
              <a:spcBef>
                <a:spcPts val="150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Optimisations au niveau des </a:t>
            </a:r>
            <a:r>
              <a:rPr lang="en-US" altLang="zh-CN" sz="167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œ</a:t>
            </a:r>
            <a:r>
              <a:rPr lang="en-US" altLang="zh-CN" sz="1670" b="0" i="0" u="none" strike="noStrike">
                <a:solidFill>
                  <a:srgbClr val="404040"/>
                </a:solidFill>
                <a:latin typeface="Calibri" panose="020F0502020204030204"/>
                <a:ea typeface="Calibri" panose="020F0502020204030204"/>
                <a:cs typeface="Calibri" panose="020F0502020204030204"/>
                <a:sym typeface="Calibri" panose="020F0502020204030204"/>
              </a:rPr>
              <a:t>uds </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(Node-level Optimizations)</a:t>
            </a:r>
            <a:endPar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des op</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vides (Nop Elimination) : Supprimer les n</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redondants qui n'ont aucun effet substantiel sur le r</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a:t>
            </a:r>
            <a:endPar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17000"/>
              </a:lnSpc>
              <a:spcBef>
                <a:spcPts val="750"/>
              </a:spcBef>
              <a:buClr>
                <a:srgbClr val="404040"/>
              </a:buClr>
              <a:buChar char="•"/>
            </a:pP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des tenseurs de dimension z</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 (Zero-dim-tensor Elimination) : Supprimer en toute s</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curit</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les calculs sur les tenseurs de forme 0 (tels que shape=(0, 5, 3)).</a:t>
            </a:r>
            <a:endPar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17000"/>
              </a:lnSpc>
              <a:spcBef>
                <a:spcPts val="1500"/>
              </a:spcBef>
              <a:buClr>
                <a:srgbClr val="404040"/>
              </a:buClr>
              <a:buChar char="•"/>
            </a:pPr>
            <a:r>
              <a:rPr lang="en-US" altLang="zh-CN" sz="1670" b="0" i="0" u="none" strike="noStrike">
                <a:solidFill>
                  <a:srgbClr val="404040"/>
                </a:solidFill>
                <a:latin typeface="Calibri" panose="020F0502020204030204"/>
                <a:ea typeface="Calibri" panose="020F0502020204030204"/>
                <a:cs typeface="Calibri" panose="020F0502020204030204"/>
                <a:sym typeface="Calibri" panose="020F0502020204030204"/>
              </a:rPr>
              <a:t>Optimisations au niveau des blocs : simplification alg</a:t>
            </a:r>
            <a:r>
              <a:rPr lang="en-US" alt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70" b="0" i="0" u="none" strike="noStrike">
                <a:solidFill>
                  <a:srgbClr val="404040"/>
                </a:solidFill>
                <a:latin typeface="Calibri" panose="020F0502020204030204"/>
                <a:ea typeface="Calibri" panose="020F0502020204030204"/>
                <a:cs typeface="Calibri" panose="020F0502020204030204"/>
                <a:sym typeface="Calibri" panose="020F0502020204030204"/>
              </a:rPr>
              <a:t>brique (Algebraic Simplification)</a:t>
            </a:r>
            <a:endParaRPr lang="en-US" altLang="zh-CN" sz="16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Concept : Utiliser les r</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gles math</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matiques telles que la commutativit</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l'associativit</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la distributivit</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remplacer les s</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quences de n</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locales complexes par des formes </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quivalentes à moindre co</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calcul.</a:t>
            </a:r>
            <a:endPar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17000"/>
              </a:lnSpc>
              <a:spcBef>
                <a:spcPts val="750"/>
              </a:spcBef>
              <a:buClr>
                <a:srgbClr val="404040"/>
              </a:buClr>
              <a:buChar char="•"/>
            </a:pP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Pliage des constantes (Constant Folding) : Identifier toutes les expressions constantes d</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jà d</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à la compilation, calculer le r</a:t>
            </a:r>
            <a:r>
              <a:rPr lang="en-US" altLang="en-US"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à l'avance et les remplacer dans le graphe par une seule valeur constante.</a:t>
            </a:r>
            <a:endParaRPr lang="en-US" altLang="zh-CN" sz="13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958965" y="2322195"/>
            <a:ext cx="4842510" cy="239776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de graphe de calcul</a:t>
            </a:r>
            <a:endPar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https://zhuanlan.zhihu.com/p/661774755</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11401425" cy="3037205"/>
          </a:xfrm>
          <a:prstGeom prst="rect">
            <a:avLst/>
          </a:prstGeom>
        </p:spPr>
        <p:txBody>
          <a:bodyPr wrap="square" lIns="91440" tIns="45720" rIns="91440" bIns="45720" anchor="t">
            <a:normAutofit fontScale="90000" lnSpcReduction="1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Optimisations au niveau des blocs : fusion d'op</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rateurs (Operator Fusion)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 Chaque petit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doit lire et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les donn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depuis la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globale, ce qui entra</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un goulot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de la bande passante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et une latence de lancement du noyau GPU.</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verticale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(Vertical Fusion)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usionner les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ayant une relation de 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pendance s</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quentielle en un seul noyau (kernel), les donn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circulent directement dans les registres,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les acc</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à la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globale.</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horizontale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(Horizontal Fusion)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usionner les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adjacents pouvant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trait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en parall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en un seul noyau (kernel), afin d'am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liorer le taux d'utilisation des unit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de calcul mat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rielles de bas niveau.</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087245" y="4361180"/>
            <a:ext cx="7296150" cy="225488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de graphe de calcul</a:t>
            </a:r>
            <a:endParaRPr lang="en-US" sz="36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https://zhuanlan.zhihu.com/p/661774755</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11186795" cy="241617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Optimisations au niveau du graphe : remodelage de la structure du flux de donn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des sous-expressions communes (Common Subexpression Elimination, CSE) : Identifier les sous-structures compl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tement identiques calcul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plusieurs fois dans le graphe de calcul, les remplacer par une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à une sortie commune unique,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vitant ainsi le gaspillage des ressources de calcul.</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du code mort (Dead Code Elimination, DCE) : En s'appuyant sur l'analyse de cha</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Def-Use, supprimer les branches d'op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inutiles du graphe.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Descente d'op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(Operator Sinking) : Retarder l'ex</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de certaines 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de transformation de dimension (telles que Transpose) le long du flux de donn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du graphe, afin de fusionner les 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de transformation redondantes qui pourraient appara</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ensuite.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688080" y="3931285"/>
            <a:ext cx="5187315" cy="239141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des performances matérielles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190" b="0" i="0" u="none" strike="noStrike">
                <a:solidFill>
                  <a:srgbClr val="A5A5A5"/>
                </a:solidFill>
                <a:latin typeface="Calibri" panose="020F0502020204030204"/>
                <a:ea typeface="Garamond" panose="02020404030301010803"/>
                <a:cs typeface="Garamond" panose="02020404030301010803"/>
                <a:sym typeface="Garamond" panose="02020404030301010803"/>
              </a:rPr>
              <a:t>Li, Mingzhen, et al. "The deep learning compiler: A comprehensive survey." IEEE Transactions on Parallel and Distributed Systems 32.3 (2020): 708-727.</a:t>
            </a:r>
            <a:endParaRPr lang="en-US" sz="119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pic>
        <p:nvPicPr>
          <p:cNvPr id="5" name="Picture 5"/>
          <p:cNvPicPr>
            <a:picLocks noGrp="1" noChangeAspect="1"/>
          </p:cNvPicPr>
          <p:nvPr>
            <p:ph type="body" sz="quarter" idx="9"/>
          </p:nvPr>
        </p:nvPicPr>
        <p:blipFill>
          <a:blip r:embed="rId1"/>
          <a:srcRect/>
          <a:stretch>
            <a:fillRect/>
          </a:stretch>
        </p:blipFill>
        <p:spPr>
          <a:xfrm>
            <a:off x="2432487" y="1323975"/>
            <a:ext cx="7460376" cy="4852988"/>
          </a:xfrm>
          <a:prstGeom prst="rect">
            <a:avLst/>
          </a:prstGeom>
        </p:spPr>
      </p:pic>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lnSpcReduction="1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21</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spcBef>
                <a:spcPts val="1500"/>
              </a:spcBef>
            </a:pP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Analyse approfondie de l’architecture MLIR </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Limites de l’IR LLVM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https://en.wikipedia.org/wiki/LLVM</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Lattner, Chris, et al. "MLIR: A compiler infrastructure for the end of Moore's law." arXiv preprint arXiv:2002.11054 (2020).</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212215"/>
            <a:ext cx="5723255" cy="4681855"/>
          </a:xfrm>
          <a:prstGeom prst="rect">
            <a:avLst/>
          </a:prstGeom>
        </p:spPr>
        <p:txBody>
          <a:bodyPr wrap="square" lIns="91440" tIns="45720" rIns="91440" bIns="45720" anchor="t">
            <a:noAutofit/>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Vue d'ensemble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Conception :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LLVM IR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un niveau sémantique globalement équivalent à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langage C</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C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avec opérations vectorielles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 mod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plat et lin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aire pr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 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rant principalement sur des scalaires, des pointeurs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et des registres vectoriels unidimensionnels.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Graphes de calcul d'apprentissage profond</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Essentiellement de l'alg</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bre tensorielle multidimensionnelle de haute dimension et des boucles imbriqu</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profondes, un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cart s</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consid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 existe entre les deux.</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Aplatissement forc</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lorsque TensorFlow/PyTorch et autres frameworks de haut niveau sont traduits directement vers LLVM IR, les tenseurs multidimensionnels sont forc</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aplatis en pointeurs m</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unidimensionnels.</a:t>
            </a:r>
            <a:endPar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Destruction du flux de contrôle : les structures arborescentes des boucles de haut niveau sont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truites, converties en un CFG plat implicite et en sauts conditionnels (branchements).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388485" y="431800"/>
            <a:ext cx="1925320" cy="120650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919595" y="1275080"/>
            <a:ext cx="4881880" cy="2258060"/>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6494780" y="3676015"/>
            <a:ext cx="5102860" cy="1905000"/>
          </a:xfrm>
          <a:prstGeom prst="rect">
            <a:avLst/>
          </a:prstGeom>
          <a:ln w="12700">
            <a:noFill/>
            <a:prstDash val="solid"/>
          </a:ln>
        </p:spPr>
      </p:pic>
      <p:sp>
        <p:nvSpPr>
          <p:cNvPr id="10" name="文本占位符 9"/>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MLIR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Architecture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5255896"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1785" b="0" i="0" u="none" strike="noStrike">
                <a:solidFill>
                  <a:srgbClr val="404040"/>
                </a:solidFill>
                <a:latin typeface="Calibri" panose="020F0502020204030204"/>
                <a:ea typeface="Calibri" panose="020F0502020204030204"/>
                <a:cs typeface="Calibri" panose="020F0502020204030204"/>
                <a:sym typeface="Calibri" panose="020F0502020204030204"/>
              </a:rPr>
              <a:t>MLIR (Multi-Level Intermediate Representation)</a:t>
            </a:r>
            <a:endParaRPr lang="en-US" sz="17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cadre de compilation open source r</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utilisable et extensible</a:t>
            </a:r>
            <a:endPar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Traiter la fragmentation des logiciels</a:t>
            </a:r>
            <a:endParaRPr 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Fournir un support pour la compilation cibl</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vers le mat</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h</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rog</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a:t>
            </a:r>
            <a:endParaRPr 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les co</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d</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veloppement des compilateurs sp</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par domaine</a:t>
            </a:r>
            <a:endParaRPr 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Connecter les diff</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compilateurs existants</a:t>
            </a:r>
            <a:endParaRPr 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Pourquoi MLIR peut-il r</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soudre les probl</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mes?</a:t>
            </a:r>
            <a:endPar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Syntaxe unifi</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composants r</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utilisables</a:t>
            </a:r>
            <a:endParaRPr 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Partage de l'</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cosyst</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optimisation coordonn</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entre les diff</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niveaux</a:t>
            </a:r>
            <a:endParaRPr 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cart r</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entre les niveaux, impl</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facilit</a:t>
            </a:r>
            <a:r>
              <a:rPr lang="en-US" alt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14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779770" y="2518410"/>
            <a:ext cx="5757545" cy="251523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Composants de MLIR</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6063615" cy="4786630"/>
          </a:xfrm>
          <a:prstGeom prst="rect">
            <a:avLst/>
          </a:prstGeom>
        </p:spPr>
        <p:txBody>
          <a:bodyPr wrap="square" lIns="91440" tIns="45720" rIns="91440" bIns="45720" anchor="t">
            <a:normAutofit/>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Module</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(module) :</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conteneur de niveau sup</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 encapsulant l'unit</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compilation enti</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isolant la port</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des variables externes.</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Region</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(region) :</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central d</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passant les limitations du CFG plat, traitant les boucles comme des </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citoyens de premi</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classe </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conservant directement dans des structures imbriqu</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pr</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serv</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Block</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(bloc de base) :</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introduction de Block Arguments pour </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les n</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PHI, dont la maintenance est co</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teuse dans LLVM traditionnel.</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Operation </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 Attribute</a:t>
            </a:r>
            <a:r>
              <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Operation et Attribute : API opaque hautement unifi</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ainsi qu'un dictionnaire d'attributs globalement unique pour repr</a:t>
            </a:r>
            <a:r>
              <a:rPr lang="en-US" alt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senter les constantes.</a:t>
            </a:r>
            <a:endParaRPr lang="en-US" sz="14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587490" y="2320925"/>
            <a:ext cx="5307965" cy="2635885"/>
          </a:xfrm>
          <a:prstGeom prst="rect">
            <a:avLst/>
          </a:prstGeom>
          <a:ln w="12700">
            <a:noFill/>
            <a:prstDash val="solid"/>
          </a:ln>
        </p:spPr>
      </p:pic>
      <p:sp>
        <p:nvSpPr>
          <p:cNvPr id="7" name="文本框 6"/>
          <p:cNvSpPr txBox="1"/>
          <p:nvPr/>
        </p:nvSpPr>
        <p:spPr>
          <a:xfrm>
            <a:off x="350520" y="778510"/>
            <a:ext cx="4064000" cy="306705"/>
          </a:xfrm>
          <a:prstGeom prst="rect">
            <a:avLst/>
          </a:prstGeom>
          <a:noFill/>
        </p:spPr>
        <p:txBody>
          <a:bodyPr wrap="square" rtlCol="0">
            <a:spAutoFit/>
          </a:bodyPr>
          <a:lstStyle/>
          <a:p>
            <a:endParaRPr lang="zh-CN" altLang="en-US"/>
          </a:p>
        </p:txBody>
      </p:sp>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05" b="0" i="0" u="none" strike="noStrike">
                <a:solidFill>
                  <a:srgbClr val="262626"/>
                </a:solidFill>
                <a:latin typeface="Calibri" panose="020F0502020204030204"/>
                <a:ea typeface="Calibri" panose="020F0502020204030204"/>
                <a:cs typeface="Calibri" panose="020F0502020204030204"/>
                <a:sym typeface="Calibri" panose="020F0502020204030204"/>
              </a:rPr>
              <a:t>Framework d’apprentissage profond bas</a:t>
            </a:r>
            <a:r>
              <a:rPr lang="en-US" altLang="en-US" sz="290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905" b="0" i="0" u="none" strike="noStrike">
                <a:solidFill>
                  <a:srgbClr val="262626"/>
                </a:solidFill>
                <a:latin typeface="Calibri" panose="020F0502020204030204"/>
                <a:ea typeface="Calibri" panose="020F0502020204030204"/>
                <a:cs typeface="Calibri" panose="020F0502020204030204"/>
                <a:sym typeface="Calibri" panose="020F0502020204030204"/>
              </a:rPr>
              <a:t> sur MLIR</a:t>
            </a:r>
            <a:r>
              <a:rPr lang="en-US" sz="2905" b="0" i="0" u="none" strike="noStrike">
                <a:solidFill>
                  <a:srgbClr val="262626"/>
                </a:solidFill>
                <a:latin typeface="Calibri" panose="020F0502020204030204"/>
                <a:ea typeface="Calibri" panose="020F0502020204030204"/>
                <a:cs typeface="Calibri" panose="020F0502020204030204"/>
                <a:sym typeface="Calibri" panose="020F0502020204030204"/>
              </a:rPr>
              <a:t> </a:t>
            </a:r>
            <a:endParaRPr lang="en-US" sz="290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https://hku-systems.github.io/events/iscas2021/1-2-Hongbin%20Zhang%20MLIR.pdf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656070" cy="501015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Traduire le </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a:t>
            </a:r>
            <a:r>
              <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a:t>
            </a:r>
            <a:r>
              <a:rPr lang="en-US" sz="2295" b="0" i="0" u="none" strike="noStrike">
                <a:solidFill>
                  <a:srgbClr val="404040"/>
                </a:solidFill>
                <a:latin typeface="Calibri" panose="020F0502020204030204"/>
                <a:ea typeface="Calibri" panose="020F0502020204030204"/>
                <a:cs typeface="Calibri" panose="020F0502020204030204"/>
                <a:sym typeface="Calibri" panose="020F0502020204030204"/>
              </a:rPr>
              <a:t> MLIR </a:t>
            </a:r>
            <a:endParaRPr lang="en-US" sz="22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910" b="0" i="0" u="none" strike="noStrike">
                <a:solidFill>
                  <a:srgbClr val="404040"/>
                </a:solidFill>
                <a:latin typeface="Calibri" panose="020F0502020204030204"/>
                <a:ea typeface="Calibri" panose="020F0502020204030204"/>
                <a:cs typeface="Calibri" panose="020F0502020204030204"/>
                <a:sym typeface="Calibri" panose="020F0502020204030204"/>
              </a:rPr>
              <a:t>Diviser le programme en host et device, g</a:t>
            </a:r>
            <a:r>
              <a:rPr lang="en-US" alt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1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10" b="0" i="0" u="none" strike="noStrike">
                <a:solidFill>
                  <a:srgbClr val="404040"/>
                </a:solidFill>
                <a:latin typeface="Calibri" panose="020F0502020204030204"/>
                <a:ea typeface="Calibri" panose="020F0502020204030204"/>
                <a:cs typeface="Calibri" panose="020F0502020204030204"/>
                <a:sym typeface="Calibri" panose="020F0502020204030204"/>
              </a:rPr>
              <a:t>rer des produits interm</a:t>
            </a:r>
            <a:r>
              <a:rPr lang="en-US" alt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10" b="0" i="0" u="none" strike="noStrike">
                <a:solidFill>
                  <a:srgbClr val="404040"/>
                </a:solidFill>
                <a:latin typeface="Calibri" panose="020F0502020204030204"/>
                <a:ea typeface="Calibri" panose="020F0502020204030204"/>
                <a:cs typeface="Calibri" panose="020F0502020204030204"/>
                <a:sym typeface="Calibri" panose="020F0502020204030204"/>
              </a:rPr>
              <a:t>diaires (VM FlatBuffers, fichier C, etc.)</a:t>
            </a:r>
            <a:endPar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le code hôte et p</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en programmes ex</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cutables/biblioth</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 et les lier avec la couche d'abstraction mat</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IREE (HAL)</a:t>
            </a:r>
            <a:endPar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Machine virtuelle à bytecode IREE (Bytecode VM)</a:t>
            </a:r>
            <a:endPar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Interface de la couche d'abstraction mat</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(HAL API) et diverses abstractions mat</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rielles</a:t>
            </a:r>
            <a:endPar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Interfaces g</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riques et liaisons pour divers langages / frameworks</a:t>
            </a:r>
            <a:endPar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180580" y="1446530"/>
            <a:ext cx="4493895" cy="459613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Syst</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è</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me de dialectes</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https://mlir.llvm.org/docs/Dialects/Vector/</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132840"/>
            <a:ext cx="5329555" cy="522351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Définition du mécanisme de dialecte :</a:t>
            </a:r>
            <a:endPar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dialecte est un espace de noms logique qui encapsule les op</a:t>
            </a:r>
            <a:r>
              <a:rPr lang="en-US" alt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types et attributs adapt</a:t>
            </a:r>
            <a:r>
              <a:rPr lang="en-US" alt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à un domaine de calcul sp</a:t>
            </a:r>
            <a:r>
              <a:rPr lang="en-US" altLang="en-US"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a:t>
            </a:r>
            <a:endParaRPr lang="en-US" altLang="zh-CN" sz="16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un graphe de calcul, les dialectes de framework de haut niveau (torch), tensoriel (tensor), de boucles (affine) et de code machine (llvm) peuvent parfaitement coexister.</a:t>
            </a:r>
            <a:endPar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 aux passes de conversion entre dialectes, le compilateur peut effectuer </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l'optimisation de graphe la plus adapt</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 </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niveau d'abstraction le plus appropri</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5853430" y="1132840"/>
            <a:ext cx="6089015" cy="485394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765" b="0" i="0" u="none" strike="noStrike">
                <a:solidFill>
                  <a:srgbClr val="262626"/>
                </a:solidFill>
                <a:latin typeface="Calibri" panose="020F0502020204030204"/>
                <a:ea typeface="Calibri" panose="020F0502020204030204"/>
                <a:cs typeface="Calibri" panose="020F0502020204030204"/>
                <a:sym typeface="Calibri" panose="020F0502020204030204"/>
              </a:rPr>
              <a:t>Sp</a:t>
            </a:r>
            <a:r>
              <a:rPr lang="en-US" altLang="en-US" sz="276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765" b="0" i="0" u="none" strike="noStrike">
                <a:solidFill>
                  <a:srgbClr val="262626"/>
                </a:solidFill>
                <a:latin typeface="Calibri" panose="020F0502020204030204"/>
                <a:ea typeface="Calibri" panose="020F0502020204030204"/>
                <a:cs typeface="Calibri" panose="020F0502020204030204"/>
                <a:sym typeface="Calibri" panose="020F0502020204030204"/>
              </a:rPr>
              <a:t>cification de d</a:t>
            </a:r>
            <a:r>
              <a:rPr lang="en-US" altLang="en-US" sz="276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765" b="0" i="0" u="none" strike="noStrike">
                <a:solidFill>
                  <a:srgbClr val="262626"/>
                </a:solidFill>
                <a:latin typeface="Calibri" panose="020F0502020204030204"/>
                <a:ea typeface="Calibri" panose="020F0502020204030204"/>
                <a:cs typeface="Calibri" panose="020F0502020204030204"/>
                <a:sym typeface="Calibri" panose="020F0502020204030204"/>
              </a:rPr>
              <a:t>finition d’op</a:t>
            </a:r>
            <a:r>
              <a:rPr lang="en-US" altLang="en-US" sz="276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765" b="0" i="0" u="none" strike="noStrike">
                <a:solidFill>
                  <a:srgbClr val="262626"/>
                </a:solidFill>
                <a:latin typeface="Calibri" panose="020F0502020204030204"/>
                <a:ea typeface="Calibri" panose="020F0502020204030204"/>
                <a:cs typeface="Calibri" panose="020F0502020204030204"/>
                <a:sym typeface="Calibri" panose="020F0502020204030204"/>
              </a:rPr>
              <a:t>ration (ODS)</a:t>
            </a:r>
            <a:endParaRPr lang="en-US" altLang="zh-CN" sz="276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https://mlir.llvm.org/docs/DefiningDialects/Operations/</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260465" cy="537591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Modélisation déclarative :</a:t>
            </a:r>
            <a:endParaRPr 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LLVM TableGen (fichiers .td) pour construire un cadre de d</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d</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claratif des op</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30" b="0" i="0" u="none" strike="noStrike">
                <a:solidFill>
                  <a:srgbClr val="404040"/>
                </a:solidFill>
                <a:latin typeface="Calibri" panose="020F0502020204030204"/>
                <a:ea typeface="Calibri" panose="020F0502020204030204"/>
                <a:cs typeface="Calibri" panose="020F0502020204030204"/>
                <a:sym typeface="Calibri" panose="020F0502020204030204"/>
              </a:rPr>
              <a:t>Source unique de v</a:t>
            </a:r>
            <a:r>
              <a:rPr lang="en-US" altLang="en-US" sz="193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30" b="0" i="0" u="none" strike="noStrike">
                <a:solidFill>
                  <a:srgbClr val="404040"/>
                </a:solidFill>
                <a:latin typeface="Calibri" panose="020F0502020204030204"/>
                <a:ea typeface="Calibri" panose="020F0502020204030204"/>
                <a:cs typeface="Calibri" panose="020F0502020204030204"/>
                <a:sym typeface="Calibri" panose="020F0502020204030204"/>
              </a:rPr>
              <a:t>rit</a:t>
            </a:r>
            <a:r>
              <a:rPr lang="en-US" altLang="en-US" sz="193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30" b="0" i="0" u="none" strike="noStrike">
                <a:solidFill>
                  <a:srgbClr val="404040"/>
                </a:solidFill>
                <a:latin typeface="Calibri" panose="020F0502020204030204"/>
                <a:ea typeface="Calibri" panose="020F0502020204030204"/>
                <a:cs typeface="Calibri" panose="020F0502020204030204"/>
                <a:sym typeface="Calibri" panose="020F0502020204030204"/>
              </a:rPr>
              <a:t> (Single Source of Truth)</a:t>
            </a:r>
            <a:r>
              <a:rPr 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finir en une seule fois le nom, les op</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randes, les attributs et les valeurs de retour d'un op</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gr</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 à une syntaxe descriptive concise.</a:t>
            </a:r>
            <a:endParaRPr 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Contraintes de type :</a:t>
            </a:r>
            <a:endParaRPr lang="en-US" sz="19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clarer directement les traits de l'op</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dans la sp</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cification (Traits), par exemple d</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clarer NoMemoryEffect pour informer explicitement le compilateur que cet op</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n'a pas d'effets de bord sur la m</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permettant ainsi des r</a:t>
            </a:r>
            <a:r>
              <a:rPr lang="en-US" alt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organisations agressives.</a:t>
            </a:r>
            <a:endParaRPr lang="en-US" sz="16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785610" y="1584960"/>
            <a:ext cx="5246370" cy="435419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ration automatis</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 ODS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6031230" cy="489775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automatique de code C++</a:t>
            </a:r>
            <a:r>
              <a:rPr lang="en-US"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OpDefinitionsGen analyse automatiquement et g</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les d</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clarations et impl</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mentations C++ standard à la compilation.</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70" b="0" i="0" u="none" strike="noStrike">
                <a:solidFill>
                  <a:srgbClr val="404040"/>
                </a:solidFill>
                <a:latin typeface="Calibri" panose="020F0502020204030204"/>
                <a:ea typeface="Calibri" panose="020F0502020204030204"/>
                <a:cs typeface="Calibri" panose="020F0502020204030204"/>
                <a:sym typeface="Calibri" panose="020F0502020204030204"/>
              </a:rPr>
              <a:t>G</a:t>
            </a:r>
            <a:r>
              <a:rPr lang="en-US" altLang="en-US" sz="19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70"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19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70" b="0" i="0" u="none" strike="noStrike">
                <a:solidFill>
                  <a:srgbClr val="404040"/>
                </a:solidFill>
                <a:latin typeface="Calibri" panose="020F0502020204030204"/>
                <a:ea typeface="Calibri" panose="020F0502020204030204"/>
                <a:cs typeface="Calibri" panose="020F0502020204030204"/>
                <a:sym typeface="Calibri" panose="020F0502020204030204"/>
              </a:rPr>
              <a:t>ration automatique d'accesseurs (getters/setters) fortement typ</a:t>
            </a:r>
            <a:r>
              <a:rPr lang="en-US" altLang="en-US" sz="19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70" b="0" i="0" u="none" strike="noStrike">
                <a:solidFill>
                  <a:srgbClr val="404040"/>
                </a:solidFill>
                <a:latin typeface="Calibri" panose="020F0502020204030204"/>
                <a:ea typeface="Calibri" panose="020F0502020204030204"/>
                <a:cs typeface="Calibri" panose="020F0502020204030204"/>
                <a:sym typeface="Calibri" panose="020F0502020204030204"/>
              </a:rPr>
              <a:t>s et s</a:t>
            </a:r>
            <a:r>
              <a:rPr lang="en-US" altLang="en-US" sz="19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970" b="0" i="0" u="none" strike="noStrike">
                <a:solidFill>
                  <a:srgbClr val="404040"/>
                </a:solidFill>
                <a:latin typeface="Calibri" panose="020F0502020204030204"/>
                <a:ea typeface="Calibri" panose="020F0502020204030204"/>
                <a:cs typeface="Calibri" panose="020F0502020204030204"/>
                <a:sym typeface="Calibri" panose="020F0502020204030204"/>
              </a:rPr>
              <a:t>mantiquement clairs</a:t>
            </a:r>
            <a:endParaRPr lang="en-US" altLang="zh-CN" sz="19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 appeler directement</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 .stride() </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obtenir le pas.</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Vérification à la compilation :</a:t>
            </a:r>
            <a:endParaRPr lang="en-US" sz="19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ODS agr</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 automatiquement toutes les contraintes et g</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un v</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rificateur (verify()). Avant le lancement de l'optimisation du graphe, il intercepte automatiquement les types ill</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gaux ou les incoh</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rences de forme des tenseurs.</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555105" y="1409065"/>
            <a:ext cx="5246370" cy="435419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TOSA Dialect</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30" b="0" i="0" u="none" strike="noStrike">
                <a:solidFill>
                  <a:srgbClr val="A5A5A5"/>
                </a:solidFill>
                <a:latin typeface="Calibri" panose="020F0502020204030204"/>
                <a:ea typeface="Garamond" panose="02020404030301010803"/>
                <a:cs typeface="Garamond" panose="02020404030301010803"/>
                <a:sym typeface="Garamond" panose="02020404030301010803"/>
              </a:rPr>
              <a:t>https://community.arm.com/cfs-file/__key/communityserver-blogs-components-weblogfiles/00-00-00-37-98/Eric-Kunze-_2D00_-ODIW-2021-_2D00_.pdf</a:t>
            </a:r>
            <a:endParaRPr lang="en-US" sz="123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945" b="0" i="0" u="none" strike="noStrike">
                <a:solidFill>
                  <a:srgbClr val="404040"/>
                </a:solidFill>
                <a:latin typeface="Calibri" panose="020F0502020204030204"/>
                <a:ea typeface="Calibri" panose="020F0502020204030204"/>
                <a:cs typeface="Calibri" panose="020F0502020204030204"/>
                <a:sym typeface="Calibri" panose="020F0502020204030204"/>
              </a:rPr>
              <a:t>TOSA (Tensor Operator Set Architecture)</a:t>
            </a:r>
            <a:endParaRPr lang="en-US" sz="194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cification d'un ensemble d'op</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sur tenseurs ind</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du mat</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a:t>
            </a:r>
            <a:endPar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Fournit un ensemble standardisé et universel d'opérations sur tenseurs pour représenter les calculs dans les réseaux de neurones profonds</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Sert de pont universel reliant les diff</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frameworks de haut niveau aux compilateurs de bas niveau mat</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riels</a:t>
            </a:r>
            <a:endPar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2421890" y="2941955"/>
            <a:ext cx="7348220" cy="332930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Objectifs de conception de TOSA</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Indépendance matérielle</a:t>
            </a:r>
            <a:r>
              <a:rPr lang="en-US" sz="1960" b="0" i="0" u="none" strike="noStrike">
                <a:solidFill>
                  <a:srgbClr val="404040"/>
                </a:solidFill>
                <a:latin typeface="Calibri" panose="020F0502020204030204"/>
                <a:ea typeface="Calibri" panose="020F0502020204030204"/>
                <a:cs typeface="Calibri" panose="020F0502020204030204"/>
                <a:sym typeface="Calibri" panose="020F0502020204030204"/>
              </a:rPr>
              <a:t> (Hardware Agnostic)</a:t>
            </a: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Calibri" panose="020F0502020204030204"/>
                <a:cs typeface="Calibri" panose="020F0502020204030204"/>
                <a:sym typeface="Calibri" panose="020F0502020204030204"/>
              </a:rPr>
              <a:t>T</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OSA ne fait aucune hypoth</a:t>
            </a:r>
            <a:r>
              <a:rPr lang="en-US" alt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 li</a:t>
            </a:r>
            <a:r>
              <a:rPr lang="en-US" alt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à une architecture mat</a:t>
            </a:r>
            <a:r>
              <a:rPr lang="en-US" alt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sp</a:t>
            </a:r>
            <a:r>
              <a:rPr lang="en-US" alt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 (telle que la taille des registres ou la structure du cache).</a:t>
            </a:r>
            <a:endPar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 concentre sur l'expression de la sémantique mathématique des calculs des réseaux de neurones, plutôt que sur les détails d'exécution matérielle.</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Stabilité et standardisation</a:t>
            </a:r>
            <a:r>
              <a:rPr lang="en-US" sz="1960" b="0" i="0" u="none" strike="noStrike">
                <a:solidFill>
                  <a:srgbClr val="404040"/>
                </a:solidFill>
                <a:latin typeface="Calibri" panose="020F0502020204030204"/>
                <a:ea typeface="Calibri" panose="020F0502020204030204"/>
                <a:cs typeface="Calibri" panose="020F0502020204030204"/>
                <a:sym typeface="Calibri" panose="020F0502020204030204"/>
              </a:rPr>
              <a:t> (Stability &amp; Standardization)</a:t>
            </a: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TOSA est un dialecte soutenu par une sp</a:t>
            </a:r>
            <a:r>
              <a:rPr lang="en-US" alt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cification stricte, visant à devenir une couche contractuelle stable.</a:t>
            </a: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Garantit aux compilateurs en aval la validit</a:t>
            </a:r>
            <a:r>
              <a:rPr lang="en-US" alt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la coh</a:t>
            </a:r>
            <a:r>
              <a:rPr lang="en-US" alt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de l'IR IR en entr</a:t>
            </a:r>
            <a:r>
              <a:rPr lang="en-US" alt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Exhaustivité et concision</a:t>
            </a:r>
            <a:r>
              <a:rPr lang="en-US" sz="1960" b="0" i="0" u="none" strike="noStrike">
                <a:solidFill>
                  <a:srgbClr val="404040"/>
                </a:solidFill>
                <a:latin typeface="Calibri" panose="020F0502020204030204"/>
                <a:ea typeface="Calibri" panose="020F0502020204030204"/>
                <a:cs typeface="Calibri" panose="020F0502020204030204"/>
                <a:sym typeface="Calibri" panose="020F0502020204030204"/>
              </a:rPr>
              <a:t> (Completeness vs. Conciseness)</a:t>
            </a:r>
            <a:r>
              <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Contient suffisamment d'opérateurs pour exprimer la grande majorité des modèles d'apprentissage profond actuels.</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Évite l'explosion des opérateurs (</a:t>
            </a:r>
            <a:r>
              <a:rPr lang="en-US" sz="1635" b="0" i="0" u="none" strike="noStrike">
                <a:solidFill>
                  <a:srgbClr val="404040"/>
                </a:solidFill>
                <a:latin typeface="Calibri" panose="020F0502020204030204"/>
                <a:ea typeface="Calibri" panose="020F0502020204030204"/>
                <a:cs typeface="Calibri" panose="020F0502020204030204"/>
                <a:sym typeface="Calibri" panose="020F0502020204030204"/>
              </a:rPr>
              <a:t>Operator Explosion</a:t>
            </a: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exprime les opérateurs complexes par combinaison d'opérateurs de base, au lieu de créer un nouvel opérateur pour chaque variante mineure.</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Position de TOSA </a:t>
            </a:r>
            <a:endParaRPr lang="en-US" altLang="zh-CN" sz="30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30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dans l’</a:t>
            </a:r>
            <a:r>
              <a:rPr lang="en-US" altLang="en-US" sz="30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cosyst</a:t>
            </a:r>
            <a:r>
              <a:rPr lang="en-US" altLang="en-US" sz="30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0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me de compilation MLIR</a:t>
            </a:r>
            <a:endParaRPr lang="en-US" altLang="zh-CN" sz="30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165840"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intermédiaire</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(The Hourglass Neck)</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Interface avec les frontaux</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frameworks frontend</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mod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de frameworks de haut niveau (tels que TensorFlow Lite, PyTorch Export, ONNX) sont convertis en dialectes de haut niveau (tels que tf, torch ou mhlo).</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Ces dialectes de haut niveau peuvent </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tre descendus (lowered) directement ou indirectement vers le dialecte tosa.</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Interface avec les backends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(Backend Lowering)</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tosa est g</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ralement descendu vers le dialecte linalg (Linear Algebra), puis vers vector, scf, et finalement llvm pour ex</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cution sur CPU/GPU.</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Chemin matériel personnalisé :</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fabricants de matériel peuvent extraire directement le graphe de calcul depuis</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tosa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le mapper sur leur jeu d'instructions d'accélérateur personnalisé.</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394075" y="4212590"/>
            <a:ext cx="5537200" cy="250888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rations principales du dialecte TOSA</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5540375" cy="4749165"/>
          </a:xfrm>
          <a:prstGeom prst="rect">
            <a:avLst/>
          </a:prstGeom>
        </p:spPr>
        <p:txBody>
          <a:bodyPr wrap="square" lIns="91440" tIns="45720" rIns="91440" bIns="45720" anchor="t">
            <a:normAutofit lnSpcReduction="10000"/>
          </a:bodyPr>
          <a:lstStyle>
            <a:lvl1pPr algn="l">
              <a:lnSpc>
                <a:spcPct val="150000"/>
              </a:lnSpc>
              <a:defRPr sz="2200" b="0" i="0" u="none" strike="noStrike" spc="0">
                <a:solidFill>
                  <a:srgbClr val="404040">
                    <a:alpha val="100000"/>
                  </a:srgbClr>
                </a:solidFill>
                <a:latin typeface="微软雅黑" panose="020B0503020204020204" charset="-122"/>
              </a:defRPr>
            </a:lvl1pPr>
          </a:lstStyle>
          <a:p>
            <a:pPr marL="279400" indent="-279400" algn="l">
              <a:lnSpc>
                <a:spcPct val="150000"/>
              </a:lnSpc>
              <a:spcBef>
                <a:spcPts val="1500"/>
              </a:spcBef>
              <a:buClr>
                <a:srgbClr val="404040"/>
              </a:buClr>
              <a:buChar char="•"/>
            </a:pPr>
            <a:r>
              <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Classification des opérateurs principaux :</a:t>
            </a:r>
            <a:endPar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50000"/>
              </a:lnSpc>
              <a:spcBef>
                <a:spcPts val="750"/>
              </a:spcBef>
              <a:buClr>
                <a:srgbClr val="404040"/>
              </a:buClr>
              <a:buChar char="•"/>
            </a:pP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par </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(Element-wise) : tosa.add, tosa.mul, tosa.exp, tosa.sigmoid, etc.</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50000"/>
              </a:lnSpc>
              <a:spcBef>
                <a:spcPts val="750"/>
              </a:spcBef>
              <a:buClr>
                <a:srgbClr val="404040"/>
              </a:buClr>
              <a:buChar char="•"/>
            </a:pP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Calculs principaux des r</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seaux de neurones (Neural Network Ops) : tosa.conv2d, tosa.depthwise_conv2d, tosa.matmul, tosa.fully_connected, etc.</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50000"/>
              </a:lnSpc>
              <a:spcBef>
                <a:spcPts val="750"/>
              </a:spcBef>
              <a:buClr>
                <a:srgbClr val="404040"/>
              </a:buClr>
              <a:buChar char="•"/>
            </a:pP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Manipulation des tenseurs (Data Manipulation) : tosa.reshape, tosa.transpose, tosa.slice, tosa.concat, etc.</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150000"/>
              </a:lnSpc>
              <a:spcBef>
                <a:spcPts val="750"/>
              </a:spcBef>
              <a:buClr>
                <a:srgbClr val="404040"/>
              </a:buClr>
              <a:buChar char="•"/>
            </a:pP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et pooling (Reduction &amp; Pooling) : tosa.reduce_sum, tosa.max_pool2d, etc.</a:t>
            </a:r>
            <a:endParaRPr lang="en-US" altLang="zh-CN"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096000" y="1323975"/>
            <a:ext cx="5133340" cy="455422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Support de quantification de TOSA</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30" b="0" i="0" u="none" strike="noStrike">
                <a:solidFill>
                  <a:srgbClr val="A5A5A5"/>
                </a:solidFill>
                <a:latin typeface="Calibri" panose="020F0502020204030204"/>
                <a:ea typeface="Garamond" panose="02020404030301010803"/>
                <a:cs typeface="Garamond" panose="02020404030301010803"/>
                <a:sym typeface="Garamond" panose="02020404030301010803"/>
              </a:rPr>
              <a:t>https://community.arm.com/cfs-file/__key/communityserver-blogs-components-weblogfiles/00-00-00-37-98/Eric-Kunze-_2D00_-ODIW-2021-_2D00_.pdf</a:t>
            </a:r>
            <a:endParaRPr lang="en-US" sz="123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de quantification de première classe</a:t>
            </a: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 (First-class Quantization Support)</a:t>
            </a:r>
            <a:r>
              <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TOSA </a:t>
            </a:r>
            <a:r>
              <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 été conçu dès l'origine avec la quantification comme citoyen de première classe (en particulier pour l'informatique en périphérie).</a:t>
            </a:r>
            <a:endPar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Prend en charge les types à virgule flottante (</a:t>
            </a:r>
            <a:r>
              <a:rPr 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FP32, FP16, BF16</a:t>
            </a:r>
            <a:r>
              <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avec support natif pour les types entiers</a:t>
            </a:r>
            <a:r>
              <a:rPr 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quantifiés (</a:t>
            </a:r>
            <a:r>
              <a:rPr 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INT8, INT16, INT32, INT48</a:t>
            </a:r>
            <a:r>
              <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paramètres de quantification (comme</a:t>
            </a:r>
            <a:r>
              <a:rPr 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 scale </a:t>
            </a:r>
            <a:r>
              <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415" b="0" i="0" u="none" strike="noStrike">
                <a:solidFill>
                  <a:srgbClr val="404040"/>
                </a:solidFill>
                <a:latin typeface="Calibri" panose="020F0502020204030204"/>
                <a:ea typeface="Calibri" panose="020F0502020204030204"/>
                <a:cs typeface="Calibri" panose="020F0502020204030204"/>
                <a:sym typeface="Calibri" panose="020F0502020204030204"/>
              </a:rPr>
              <a:t> zero-point</a:t>
            </a:r>
            <a:r>
              <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sont directement intégrés dans la sémantique et les attributs des opérateurs, garantissant une précision d'exécution matérielle strictement cohérente avec la simulation logicielle.</a:t>
            </a:r>
            <a:endParaRPr lang="en-US" sz="14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958340" y="3270250"/>
            <a:ext cx="9039860" cy="308610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rPr>
              <a:t>Flux de validation des profils TOSA</a:t>
            </a:r>
            <a:endParaRPr lang="en-US" altLang="zh-CN"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Grp="1" noChangeAspect="1"/>
          </p:cNvPicPr>
          <p:nvPr>
            <p:ph type="body" sz="quarter" idx="9"/>
          </p:nvPr>
        </p:nvPicPr>
        <p:blipFill>
          <a:blip r:embed="rId1"/>
          <a:srcRect/>
          <a:stretch>
            <a:fillRect/>
          </a:stretch>
        </p:blipFill>
        <p:spPr>
          <a:xfrm>
            <a:off x="2696255" y="1323975"/>
            <a:ext cx="6932840" cy="4852988"/>
          </a:xfrm>
          <a:prstGeom prst="rect">
            <a:avLst/>
          </a:prstGeom>
        </p:spPr>
      </p:pic>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du dialecte Affine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https://web.eecs.umich.edu/~mahlke/courses/583w23/lectures/Apr12/Group16_slides.pdf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939155" cy="503999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50" b="0" i="0" u="none" strike="noStrike">
                <a:solidFill>
                  <a:srgbClr val="404040"/>
                </a:solidFill>
                <a:latin typeface="Calibri" panose="020F0502020204030204"/>
                <a:ea typeface="Calibri" panose="020F0502020204030204"/>
                <a:cs typeface="Calibri" panose="020F0502020204030204"/>
                <a:sym typeface="Calibri" panose="020F0502020204030204"/>
              </a:rPr>
              <a:t>Affine Dialect</a:t>
            </a:r>
            <a:endParaRPr lang="en-US" sz="20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10" b="0" i="0" u="none" strike="noStrike">
                <a:solidFill>
                  <a:srgbClr val="404040"/>
                </a:solidFill>
                <a:latin typeface="Calibri" panose="020F0502020204030204"/>
                <a:ea typeface="Calibri" panose="020F0502020204030204"/>
                <a:cs typeface="Calibri" panose="020F0502020204030204"/>
                <a:sym typeface="Calibri" panose="020F0502020204030204"/>
              </a:rPr>
              <a:t>Un IR sp</a:t>
            </a:r>
            <a:r>
              <a:rPr lang="en-US" altLang="en-US" sz="17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10" b="0" i="0" u="none" strike="noStrike">
                <a:solidFill>
                  <a:srgbClr val="404040"/>
                </a:solidFill>
                <a:latin typeface="Calibri" panose="020F0502020204030204"/>
                <a:ea typeface="Calibri" panose="020F0502020204030204"/>
                <a:cs typeface="Calibri" panose="020F0502020204030204"/>
                <a:sym typeface="Calibri" panose="020F0502020204030204"/>
              </a:rPr>
              <a:t>cialis</a:t>
            </a:r>
            <a:r>
              <a:rPr lang="en-US" altLang="en-US" sz="17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10" b="0" i="0" u="none" strike="noStrike">
                <a:solidFill>
                  <a:srgbClr val="404040"/>
                </a:solidFill>
                <a:latin typeface="Calibri" panose="020F0502020204030204"/>
                <a:ea typeface="Calibri" panose="020F0502020204030204"/>
                <a:cs typeface="Calibri" panose="020F0502020204030204"/>
                <a:sym typeface="Calibri" panose="020F0502020204030204"/>
              </a:rPr>
              <a:t> pour exprimer et optimiser le flux de contrôle structur</a:t>
            </a:r>
            <a:r>
              <a:rPr lang="en-US" altLang="en-US" sz="17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10" b="0" i="0" u="none" strike="noStrike">
                <a:solidFill>
                  <a:srgbClr val="404040"/>
                </a:solidFill>
                <a:latin typeface="Calibri" panose="020F0502020204030204"/>
                <a:ea typeface="Calibri" panose="020F0502020204030204"/>
                <a:cs typeface="Calibri" panose="020F0502020204030204"/>
                <a:sym typeface="Calibri" panose="020F0502020204030204"/>
              </a:rPr>
              <a:t> et les acc</a:t>
            </a:r>
            <a:r>
              <a:rPr lang="en-US" altLang="en-US" sz="171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710" b="0" i="0" u="none" strike="noStrike">
                <a:solidFill>
                  <a:srgbClr val="404040"/>
                </a:solidFill>
                <a:latin typeface="Calibri" panose="020F0502020204030204"/>
                <a:ea typeface="Calibri" panose="020F0502020204030204"/>
                <a:cs typeface="Calibri" panose="020F0502020204030204"/>
                <a:sym typeface="Calibri" panose="020F0502020204030204"/>
              </a:rPr>
              <a:t>s m</a:t>
            </a:r>
            <a:r>
              <a:rPr lang="en-US" altLang="en-US" sz="171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10" b="0" i="0" u="none" strike="noStrike">
                <a:solidFill>
                  <a:srgbClr val="404040"/>
                </a:solidFill>
                <a:latin typeface="Calibri" panose="020F0502020204030204"/>
                <a:ea typeface="Calibri" panose="020F0502020204030204"/>
                <a:cs typeface="Calibri" panose="020F0502020204030204"/>
                <a:sym typeface="Calibri" panose="020F0502020204030204"/>
              </a:rPr>
              <a:t>moire multidimensionnels.</a:t>
            </a:r>
            <a:endParaRPr lang="en-US" sz="17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 mod</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poly</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drique (Polyhedral Model), avec des simplifications d'ing</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nierie sur les bases math</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matiques.</a:t>
            </a:r>
            <a:endParaRPr 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principal :</a:t>
            </a:r>
            <a:endParaRPr lang="en-US" sz="20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ermettre au compilateur d'effectuer une analyse pr</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cise des d</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pendances de donn</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aliser une parall</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lisation automatique efficace, une optimisation de la localit</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des donn</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et des transformations de boucles complexes.</a:t>
            </a:r>
            <a:endPar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486525" y="1590675"/>
            <a:ext cx="5447030" cy="344932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u du dialecte Affine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45" b="0" i="0" u="none" strike="noStrike">
                <a:solidFill>
                  <a:srgbClr val="A5A5A5"/>
                </a:solidFill>
                <a:latin typeface="Calibri" panose="020F0502020204030204"/>
                <a:ea typeface="Garamond" panose="02020404030301010803"/>
                <a:cs typeface="Garamond" panose="02020404030301010803"/>
                <a:sym typeface="Garamond" panose="02020404030301010803"/>
              </a:rPr>
              <a:t>https://www.researchgate.net/figure/Dialects-available-in-MLIR-and-their-entry-points-PET-to-MLIR-enables-entering-in-the_fig2_347152973</a:t>
            </a:r>
            <a:endParaRPr lang="en-US" sz="124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515735" cy="507682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Pourquoi l'appelle-t-on</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affine (</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Affine</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8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limites de boucle (</a:t>
            </a:r>
            <a:r>
              <a:rPr 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Bounds</a:t>
            </a: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les indices d'accès mémoire (</a:t>
            </a:r>
            <a:r>
              <a:rPr 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Indices</a:t>
            </a:r>
            <a:r>
              <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sont strictement limités à des fonctions affines des variables d'induction de boucle et des symboles.</a:t>
            </a:r>
            <a:endPar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Concepts clés :</a:t>
            </a:r>
            <a:endParaRPr lang="en-US" sz="16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Dimensions : correspondent g</a:t>
            </a:r>
            <a:r>
              <a:rPr lang="en-US" alt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aux variables d'induction des boucles (Induction Variables, comme i, j, k).</a:t>
            </a:r>
            <a:endPar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Symbols (symboles) : param</a:t>
            </a:r>
            <a:r>
              <a:rPr lang="en-US" alt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 qui restent constants dans l'ensemble des boucles imbriqu</a:t>
            </a:r>
            <a:r>
              <a:rPr lang="en-US" alt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(comme les dimensions dynamiques des tenseurs N, M).</a:t>
            </a:r>
            <a:endPar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Affine Map (application affine) : d</a:t>
            </a:r>
            <a:r>
              <a:rPr lang="en-US" alt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 une transformation math</a:t>
            </a:r>
            <a:r>
              <a:rPr lang="en-US" alt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 des dimensions et symboles vers un ensemble de r</a:t>
            </a:r>
            <a:r>
              <a:rPr lang="en-US" alt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(souvent utilis</a:t>
            </a:r>
            <a:r>
              <a:rPr lang="en-US" alt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pour le calcul des indices de tableau).</a:t>
            </a:r>
            <a:endPar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05" b="0" i="0" u="none" strike="noStrike">
                <a:solidFill>
                  <a:srgbClr val="404040"/>
                </a:solidFill>
                <a:latin typeface="Calibri" panose="020F0502020204030204"/>
                <a:ea typeface="Calibri" panose="020F0502020204030204"/>
                <a:cs typeface="Calibri" panose="020F0502020204030204"/>
                <a:sym typeface="Calibri" panose="020F0502020204030204"/>
              </a:rPr>
              <a:t>Integer Set (ensemble d'entiers) : espace d'entiers d</a:t>
            </a:r>
            <a:r>
              <a:rPr lang="en-US" alt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05" b="0" i="0" u="none" strike="noStrike">
                <a:solidFill>
                  <a:srgbClr val="404040"/>
                </a:solidFill>
                <a:latin typeface="Calibri" panose="020F0502020204030204"/>
                <a:ea typeface="Calibri" panose="020F0502020204030204"/>
                <a:cs typeface="Calibri" panose="020F0502020204030204"/>
                <a:sym typeface="Calibri" panose="020F0502020204030204"/>
              </a:rPr>
              <a:t>fini par des contraintes affines, souvent utilis</a:t>
            </a:r>
            <a:r>
              <a:rPr lang="en-US" alt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05" b="0" i="0" u="none" strike="noStrike">
                <a:solidFill>
                  <a:srgbClr val="404040"/>
                </a:solidFill>
                <a:latin typeface="Calibri" panose="020F0502020204030204"/>
                <a:ea typeface="Calibri" panose="020F0502020204030204"/>
                <a:cs typeface="Calibri" panose="020F0502020204030204"/>
                <a:sym typeface="Calibri" panose="020F0502020204030204"/>
              </a:rPr>
              <a:t> pour repr</a:t>
            </a:r>
            <a:r>
              <a:rPr lang="en-US" altLang="en-US" sz="140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05" b="0" i="0" u="none" strike="noStrike">
                <a:solidFill>
                  <a:srgbClr val="404040"/>
                </a:solidFill>
                <a:latin typeface="Calibri" panose="020F0502020204030204"/>
                <a:ea typeface="Calibri" panose="020F0502020204030204"/>
                <a:cs typeface="Calibri" panose="020F0502020204030204"/>
                <a:sym typeface="Calibri" panose="020F0502020204030204"/>
              </a:rPr>
              <a:t>senter les limites des conditions if.</a:t>
            </a:r>
            <a:endParaRPr lang="en-US" sz="14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039610" y="1644650"/>
            <a:ext cx="4606925" cy="356870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 cl</a:t>
            </a:r>
            <a:r>
              <a:rPr lang="en-US" altLang="en-US"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et syntaxe du dialecte Affine</a:t>
            </a:r>
            <a:endParaRPr lang="en-US" altLang="zh-CN" sz="30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320" b="0" i="0" u="none" strike="noStrike">
                <a:solidFill>
                  <a:srgbClr val="A5A5A5"/>
                </a:solidFill>
                <a:latin typeface="Calibri" panose="020F0502020204030204"/>
                <a:ea typeface="Garamond" panose="02020404030301010803"/>
                <a:cs typeface="Garamond" panose="02020404030301010803"/>
                <a:sym typeface="Garamond" panose="02020404030301010803"/>
              </a:rPr>
              <a:t>https://code.ornl.gov/llvm-doe/llvm-project/-/blob/369891b6747e4ad4b5e4e6d06f3f7596f3ee3f02/mlir/docs/Dialects/Affine.md</a:t>
            </a:r>
            <a:endParaRPr lang="en-US" sz="132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862955" cy="5187950"/>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de flux de contrôle contraintes</a:t>
            </a: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affine.for</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 une boucle avec des limites connues, le pas doit </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une constante.</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affine.if</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 une branche conditionnelle, dont la condition doit </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strictement </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un ensemble d'entiers affines (Integer Set).</a:t>
            </a:r>
            <a:endPar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d'acc</a:t>
            </a:r>
            <a:r>
              <a:rPr lang="en-US" alt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m</a:t>
            </a:r>
            <a:r>
              <a:rPr lang="en-US" alt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contraintes</a:t>
            </a: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affine.load / affine.store</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lit depuis la m</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(type MemRef) / </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 des donn</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Contrainte centrale :</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indices d'acc</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doivent </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des applications affines (affine maps) valides. Le compilateur sait exactement quelle m</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sera acc</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à chaque it</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boucle.</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387465" y="2206625"/>
            <a:ext cx="5414010" cy="293878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6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automatique du dialecte Affine </a:t>
            </a:r>
            <a:endParaRPr lang="en-US" altLang="zh-CN" sz="266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précise des dépendances :</a:t>
            </a:r>
            <a:endPar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Comme tous les accès mémoire sont affines, le compilateur peut résoudre des problèmes de programmation linéaire en nombres entiers (</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ILP</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déterminer précisément à la compilation quelles instructions</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itérations de boucle ont des dépendances de données.</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Stratégies de transformation de boucles (</a:t>
            </a: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Loop Transformations</a:t>
            </a: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Découpage de boucle (</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Loop Tiling</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découpe les grandes boucles en petits blocs, améliorant considérablement le taux de réussite du</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 CPU/GPU L1/L2 Cache</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roulage de boucle (Loop Unrolling / Unroll-and-Jam) : augmente le parall</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au niveau des instructions (ILP), r</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les co</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branchement.</a:t>
            </a:r>
            <a:endPar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 et fission de boucles (</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Loop Fusion &amp; Fission</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fusionne les boucles adjacentes pour réduire les allers-retours mémoire, ou divise les boucles pour améliorer l'utilisation des registres.</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Permutation de boucles (</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Loop Permutation</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modifie l'ordre des boucles imbriquées, optimisant le pas des accès mémoire contigus (</a:t>
            </a:r>
            <a:r>
              <a:rPr lang="en-US" sz="1645" b="0" i="0" u="none" strike="noStrike">
                <a:solidFill>
                  <a:srgbClr val="404040"/>
                </a:solidFill>
                <a:latin typeface="Calibri" panose="020F0502020204030204"/>
                <a:ea typeface="Calibri" panose="020F0502020204030204"/>
                <a:cs typeface="Calibri" panose="020F0502020204030204"/>
                <a:sym typeface="Calibri" panose="020F0502020204030204"/>
              </a:rPr>
              <a:t>Stride</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Position du dialecte Affine dans MLIR</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6515735" cy="5039995"/>
          </a:xfrm>
          <a:prstGeom prst="rect">
            <a:avLst/>
          </a:prstGeom>
        </p:spPr>
        <p:txBody>
          <a:bodyPr wrap="square" lIns="91440" tIns="45720" rIns="91440" bIns="45720" anchor="t">
            <a:normAutofit fontScale="97500"/>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Chemin de descente typique (pipeline de lowering)</a:t>
            </a:r>
            <a:r>
              <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Connexion amont:</a:t>
            </a:r>
            <a:r>
              <a:rPr 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dialectes de calcul tensoriel de haut niveau (comme Linalg ou Tensor) peuvent </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abaiss</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(lowered) en nidifications de boucles Affine.</a:t>
            </a:r>
            <a:endPar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Auto-optimisation:</a:t>
            </a:r>
            <a:r>
              <a:rPr 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 niveau Affine, ex</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dense de transformations de boucles et d'analyses de parall</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lisation (comme l'extraction de boucles parall</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avec affine.parallel).</a:t>
            </a:r>
            <a:endPar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Sortie aval:</a:t>
            </a:r>
            <a:r>
              <a:rPr 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fois l'optimisation termin</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Affine est abaiss</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le dialecte SCF (Structured Control Flow) ou vers un dialecte standard, puis finalement converti en LLVM IR pour g</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du code machine</a:t>
            </a:r>
            <a:r>
              <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039610" y="1644650"/>
            <a:ext cx="4606925" cy="356870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lnSpcReduction="1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22</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spcBef>
                <a:spcPts val="1500"/>
              </a:spcBef>
            </a:pPr>
            <a:r>
              <a:rPr lang="en-US" altLang="zh-CN" sz="5100" b="0" i="0" u="none" strike="noStrike">
                <a:solidFill>
                  <a:srgbClr val="262626"/>
                </a:solidFill>
                <a:latin typeface="Calibri" panose="020F0502020204030204"/>
                <a:ea typeface="Calibri" panose="020F0502020204030204"/>
                <a:cs typeface="Calibri" panose="020F0502020204030204"/>
                <a:sym typeface="Calibri" panose="020F0502020204030204"/>
              </a:rPr>
              <a:t>Pass de fusion d’op</a:t>
            </a:r>
            <a:r>
              <a:rPr lang="en-US" alt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5100" b="0" i="0" u="none" strike="noStrike">
                <a:solidFill>
                  <a:srgbClr val="262626"/>
                </a:solidFill>
                <a:latin typeface="Calibri" panose="020F0502020204030204"/>
                <a:ea typeface="Calibri" panose="020F0502020204030204"/>
                <a:cs typeface="Calibri" panose="020F0502020204030204"/>
                <a:sym typeface="Calibri" panose="020F0502020204030204"/>
              </a:rPr>
              <a:t>rateurs</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(Fusion Pass)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ransition spd="slow">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404" y="431629"/>
            <a:ext cx="5821321" cy="70092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4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Pourquoi faire la fusion d’op</a:t>
            </a:r>
            <a:r>
              <a:rPr lang="en-US" altLang="en-US" sz="24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rateurs ?</a:t>
            </a:r>
            <a:endParaRPr lang="en-US" altLang="zh-CN" sz="24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275" b="0" i="0" u="none" strike="noStrike">
                <a:solidFill>
                  <a:srgbClr val="A5A5A5"/>
                </a:solidFill>
                <a:latin typeface="Calibri" panose="020F0502020204030204"/>
                <a:ea typeface="Garamond" panose="02020404030301010803"/>
                <a:cs typeface="Garamond" panose="02020404030301010803"/>
                <a:sym typeface="Garamond" panose="02020404030301010803"/>
              </a:rPr>
              <a:t>Gholami, A., Yao, Z., Kim, S., Hooper, C., Mahoney, M. W., &amp; Keutzer, K. (2024). Ai and memory wall. IEEE Micro, 44(3), 33-39.</a:t>
            </a:r>
            <a:endParaRPr lang="en-US" sz="127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014720" cy="471170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du mur m</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(Memory Wall) : le goulot d'</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du calcul des mod</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est pass</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 puissance de calcul des ALU à la bande passante m</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et à la latence du transfert des donn</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des acc</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fr</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quents à la m</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 dans un graphe de calcul non optimis</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chaque op</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doit subir le cycle complet </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lecture m</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principale </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calcul </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m</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principale </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ntroduction de la fusion d'op</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 en fusionnant les noyaux de calcul, les r</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interm</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 sont conserv</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dans les caches L1/L2 ou les registres, </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liminant ainsi le goulot d'</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tranglement m</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562725" y="984250"/>
            <a:ext cx="5289550" cy="27876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664325" y="3601720"/>
            <a:ext cx="5196840" cy="275653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Fusion d'opérateurs</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(Operator Fusion)</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135" b="0" i="0" u="none" strike="noStrike">
                <a:solidFill>
                  <a:srgbClr val="A5A5A5"/>
                </a:solidFill>
                <a:latin typeface="Calibri" panose="020F0502020204030204"/>
                <a:ea typeface="Garamond" panose="02020404030301010803"/>
                <a:cs typeface="Garamond" panose="02020404030301010803"/>
                <a:sym typeface="Garamond" panose="02020404030301010803"/>
              </a:rPr>
              <a:t>Dao, Tri, et al. "Flashattention: Fast and memory-efficient exact attention with io-awareness." Advances in neural information processing systems 35 (2022): 16344-16359.</a:t>
            </a:r>
            <a:endParaRPr lang="en-US" sz="1135"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388735" cy="4843780"/>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5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Définition fondamentale :</a:t>
            </a:r>
            <a:endParaRPr lang="en-US" sz="15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Fusionner plusieurs op</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ind</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pendants adjacents dans le graphe de calcul (tels que Conv + BN + ReLU) en un seul noyau d'ex</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plus efficace.</a:t>
            </a:r>
            <a:endPar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5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 principaux :</a:t>
            </a:r>
            <a:endParaRPr lang="en-US" sz="15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liminer la consommation de bande passante DRAM pour la lecture/</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des cartes de caract</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ristiques interm</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a:t>
            </a:r>
            <a:endPar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consid</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rablement les co</a:t>
            </a:r>
            <a:r>
              <a:rPr lang="en-US" alt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du lancement du noyau (kernel launch).</a:t>
            </a:r>
            <a:endPar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Réduire l'occupation mémoire maximale lors de la phase de déploiement d'inférence.</a:t>
            </a:r>
            <a:endPar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5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Trois phases principales :</a:t>
            </a:r>
            <a:endParaRPr lang="en-US" sz="15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de correspondance de graphe : rechercher des structures topologiques spécifiques dans le graphe de calcul.</a:t>
            </a:r>
            <a:endPar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Reconnaissance de motifs : valider la légitimité sémantique et les contraintes physiques.</a:t>
            </a:r>
            <a:endPar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Réécriture de sous-graphe : exécuter des transformations équivalentes du graphe.</a:t>
            </a:r>
            <a:endParaRPr lang="en-US" sz="13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913880" y="1250950"/>
            <a:ext cx="4887595" cy="498729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6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Algorithme de correspondance de graphe</a:t>
            </a:r>
            <a:r>
              <a:rPr lang="en-US" sz="2760" b="0" i="0" u="none" strike="noStrike">
                <a:solidFill>
                  <a:srgbClr val="262626"/>
                </a:solidFill>
                <a:latin typeface="Calibri" panose="020F0502020204030204"/>
                <a:ea typeface="Calibri" panose="020F0502020204030204"/>
                <a:cs typeface="Calibri" panose="020F0502020204030204"/>
                <a:sym typeface="Calibri" panose="020F0502020204030204"/>
              </a:rPr>
              <a:t> (Graph Matching)</a:t>
            </a:r>
            <a:endParaRPr lang="en-US" sz="276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https://thinklab.sjtu.edu.cn/project/GANN-GM/index.html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294120" cy="4674235"/>
          </a:xfrm>
          <a:prstGeom prst="rect">
            <a:avLst/>
          </a:prstGeom>
        </p:spPr>
        <p:txBody>
          <a:bodyPr wrap="square" lIns="91440" tIns="45720" rIns="91440" bIns="45720" anchor="t">
            <a:normAutofit fontScale="90000" lnSpcReduction="20000"/>
          </a:bodyPr>
          <a:lstStyle>
            <a:lvl1pPr algn="l">
              <a:lnSpc>
                <a:spcPct val="150000"/>
              </a:lnSpc>
              <a:defRPr sz="2200" b="0" i="0" u="none" strike="noStrike" spc="0">
                <a:solidFill>
                  <a:srgbClr val="404040">
                    <a:alpha val="100000"/>
                  </a:srgbClr>
                </a:solidFill>
                <a:latin typeface="微软雅黑" panose="020B0503020204020204" charset="-122"/>
              </a:defRPr>
            </a:lvl1pPr>
          </a:lstStyle>
          <a:p>
            <a:pPr marL="279400" indent="-279400" algn="l">
              <a:lnSpc>
                <a:spcPct val="150000"/>
              </a:lnSpc>
              <a:spcBef>
                <a:spcPts val="150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Graphe orienté acyclique</a:t>
            </a: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 (DAG)</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structure de données fondamentale des réseaux de neurones dans les compilateurs, où les nœuds représentent des opérateurs et les arêtes représentent les flux de données tensorielles.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50000"/>
              </a:lnSpc>
              <a:spcBef>
                <a:spcPts val="150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 d'isomorphisme de sous-graphe</a:t>
            </a: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 (Subgraph Isomorphism) </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Définir les règles de fusion comme un graphe de motifs</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(Pattern Graph)</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rechercher des correspondances exactes dans le graphe de calcul hôte</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(Host Graph) </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50000"/>
              </a:lnSpc>
              <a:spcBef>
                <a:spcPts val="150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 de calcul :</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15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correspondance complète traditionnelle est un problème</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NP </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-complet, mais les graphes de calcul d'apprentissage profond ont de fortes caractéristiques de domaine, permettant une optimisation par élagage significatif</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817995" y="2457450"/>
            <a:ext cx="4984115" cy="301117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Algorithme de correspondance de graphes </a:t>
            </a:r>
            <a:endParaRPr lang="en-US" altLang="zh-CN" sz="28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8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(Graph Matching)</a:t>
            </a:r>
            <a:endParaRPr lang="en-US" altLang="zh-CN" sz="28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Cutler, Joseph W., et al. "Pattern Matching in AI Compilers and its Formalization (Extended Version)." arXiv preprint arXiv:2412.13398 (2024).</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Liu, Xuanzhou, et al. "D2match: leveraging deep learning and degeneracy for subgraph matching." International Conference on Machine Learning. PMLR, 2023.</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5681980" cy="5010150"/>
          </a:xfrm>
          <a:prstGeom prst="rect">
            <a:avLst/>
          </a:prstGeom>
        </p:spPr>
        <p:txBody>
          <a:bodyPr wrap="square" lIns="91440" tIns="45720" rIns="91440" bIns="45720" anchor="t">
            <a:normAutofit/>
          </a:bodyPr>
          <a:lstStyle>
            <a:lvl1pPr algn="l">
              <a:lnSpc>
                <a:spcPct val="150000"/>
              </a:lnSpc>
              <a:defRPr sz="2200" b="0" i="0" u="none" strike="noStrike" spc="0">
                <a:solidFill>
                  <a:srgbClr val="404040">
                    <a:alpha val="100000"/>
                  </a:srgbClr>
                </a:solidFill>
                <a:latin typeface="微软雅黑" panose="020B0503020204020204" charset="-122"/>
              </a:defRPr>
            </a:lvl1pPr>
          </a:lstStyle>
          <a:p>
            <a:pPr marL="279400" indent="-279400" algn="l">
              <a:lnSpc>
                <a:spcPct val="150000"/>
              </a:lnSpc>
              <a:spcBef>
                <a:spcPts val="150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Filtrage par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tiquetage de type fort : bas</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 type d'op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(tel que Conv2D, BatchNorm) avec un hachage pour filtrer rapidement les 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incompatibles.</a:t>
            </a:r>
            <a:endPar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50000"/>
              </a:lnSpc>
              <a:spcBef>
                <a:spcPts val="150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 topologique et cha</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Use-Def : selon le sens (ou à contre-courant) du flux des tenseurs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utilisation-d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pour un parcours local en profondeur, limitant l'espace de recherche.</a:t>
            </a:r>
            <a:endPar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150000"/>
              </a:lnSpc>
              <a:spcBef>
                <a:spcPts val="150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Correspondance approximative et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certains compilateurs avanc</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utilisent des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seaux de neurones sur graphes ou des propri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de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rescence structurelle,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la complexit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temporelle de correspondance au niveau lin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aire.</a:t>
            </a:r>
            <a:endPar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774180" y="1132840"/>
            <a:ext cx="3954780" cy="222440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05855" y="3605530"/>
            <a:ext cx="5801995" cy="2070735"/>
          </a:xfrm>
          <a:prstGeom prst="rect">
            <a:avLst/>
          </a:prstGeom>
          <a:ln w="12700">
            <a:noFill/>
            <a:prstDash val="solid"/>
          </a:ln>
        </p:spPr>
      </p:pic>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Reconnaissance de motifs</a:t>
            </a:r>
            <a:r>
              <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rPr>
              <a:t> (Pattern Recognition)</a:t>
            </a:r>
            <a:endPar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des contraintes de flux de donn</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et de l'exclusivit</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un DAG, la sortie d'un op</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peut </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consomm</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plusieurs op</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en aval</a:t>
            </a:r>
            <a:r>
              <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 d'une fusion verticale, le compilateur doit effectuer une v</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 stricte de la dur</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vie (liveness) et des utilisateurs multiples (multi-use).</a:t>
            </a:r>
            <a:endPar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Attributs d'op</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et contraintes de forme</a:t>
            </a:r>
            <a:endParaRPr 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 des dimensions des tenseurs : la logique de correspondance doit v</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rifier si la forme et les dimensions des tenseurs d'entr</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r</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pondent aux exigences de fusion (telles que les contraintes d'alignement).</a:t>
            </a:r>
            <a:endPar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Disposition m</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(Layout) : les biblioth</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ques d'acc</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mat</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(telles que cuDNN) ont g</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des exigences strictes pour la disposition des donn</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en NCHW ou NHWC.</a:t>
            </a:r>
            <a:endPar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 des b</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fices bas</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sur un mod</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endParaRPr lang="en-US" sz="17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fusion n'est pas toujours optimale : une fusion excessive peut entra</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ner une explosion des variables locales et un d</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bordement de registres (register spilling)</a:t>
            </a:r>
            <a:r>
              <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conscient du mat</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 </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valuation automatique de l'</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quilibre entre le calcul, le d</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placement des donn</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et les co</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lancement</a:t>
            </a:r>
            <a:r>
              <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Contrainte de b</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fice : si le mod</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 co</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pr</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dit un b</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fice n</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gatif apr</a:t>
            </a:r>
            <a:r>
              <a:rPr lang="en-US" alt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fusion, le moteur de reconnaissance renoncera activement à cette fusion</a:t>
            </a:r>
            <a:r>
              <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criture </a:t>
            </a:r>
            <a:r>
              <a:rPr lang="en-US"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de sous-graphe</a:t>
            </a:r>
            <a:r>
              <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rPr>
              <a:t> (Subgraph Rewriting)</a:t>
            </a:r>
            <a:endPar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https://www.cas.mcmaster.ca/~kahl/CAS701/2007/P/DPO.pdf</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886575" cy="507047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Th</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orie </a:t>
            </a:r>
            <a:r>
              <a:rPr 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transformation de graphe sementiquement </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quivalente</a:t>
            </a:r>
            <a:endParaRPr 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 L --&gt; R </a:t>
            </a:r>
            <a:r>
              <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a:t>
            </a:r>
            <a:r>
              <a:rPr lang="en-US" alt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ù</a:t>
            </a: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 est appel</a:t>
            </a:r>
            <a:r>
              <a:rPr lang="en-US" alt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graphe de motif (Pattern Graph), repr</a:t>
            </a:r>
            <a:r>
              <a:rPr lang="en-US" alt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sentant la structure de sous-graphe à remplacer ; R est appel</a:t>
            </a:r>
            <a:r>
              <a:rPr lang="en-US" alt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graphe de remplacement (Replacement Graph), repr</a:t>
            </a:r>
            <a:r>
              <a:rPr lang="en-US" alt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sentant la structure efficace apr</a:t>
            </a:r>
            <a:r>
              <a:rPr lang="en-US" alt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fusion.</a:t>
            </a:r>
            <a:endParaRPr lang="en-US" sz="17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40" b="0" i="0" u="none" strike="noStrike">
                <a:solidFill>
                  <a:srgbClr val="404040"/>
                </a:solidFill>
                <a:latin typeface="Calibri" panose="020F0502020204030204"/>
                <a:ea typeface="Calibri" panose="020F0502020204030204"/>
                <a:cs typeface="Calibri" panose="020F0502020204030204"/>
                <a:sym typeface="Calibri" panose="020F0502020204030204"/>
              </a:rPr>
              <a:t>Cadre s</a:t>
            </a:r>
            <a:r>
              <a:rPr lang="en-US" altLang="en-US" sz="20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40" b="0" i="0" u="none" strike="noStrike">
                <a:solidFill>
                  <a:srgbClr val="404040"/>
                </a:solidFill>
                <a:latin typeface="Calibri" panose="020F0502020204030204"/>
                <a:ea typeface="Calibri" panose="020F0502020204030204"/>
                <a:cs typeface="Calibri" panose="020F0502020204030204"/>
                <a:sym typeface="Calibri" panose="020F0502020204030204"/>
              </a:rPr>
              <a:t>mantique Double-Pushout</a:t>
            </a:r>
            <a:r>
              <a:rPr lang="en-US" sz="2040" b="0" i="0" u="none" strike="noStrike">
                <a:solidFill>
                  <a:srgbClr val="404040"/>
                </a:solidFill>
                <a:latin typeface="Calibri" panose="020F0502020204030204"/>
                <a:ea typeface="Calibri" panose="020F0502020204030204"/>
                <a:cs typeface="Calibri" panose="020F0502020204030204"/>
                <a:sym typeface="Calibri" panose="020F0502020204030204"/>
              </a:rPr>
              <a:t>(Double-Pushout, DPO) </a:t>
            </a:r>
            <a:r>
              <a:rPr 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graphe hôte est divis</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 partie correspondante (Match), contexte (Context) et ar</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de correctif reliant les deux (Patch/Interface).</a:t>
            </a:r>
            <a:endParaRPr 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Principe fondamental: </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coh</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s</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doit </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garantie, c'est-à-dire qu'</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tant donn</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la m</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entr</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la sortie de calcul avant et apr</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r</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doit rester absolument coh</a:t>
            </a:r>
            <a:r>
              <a:rPr lang="en-US" alt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rente</a:t>
            </a:r>
            <a:r>
              <a:rPr 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419340" y="1938020"/>
            <a:ext cx="4382135" cy="274891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Moteur de r</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criture de motifs de MLIR</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https://mlir.llvm.org/docs/PatternRewriter/#matchandrewrite-implementation</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819265" cy="480123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Conception d</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coupl</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MLIR s</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pare strictement la d</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de motifs de l'application de motifs (tels que Greedy Pattern Rewrite Driver).</a:t>
            </a:r>
            <a:endParaRPr 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imp</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rative </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 RewritePattern : h</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riter de OpRewritePattern, r</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la fonction matchAndRewrite</a:t>
            </a:r>
            <a:endParaRPr 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Caract</a:t>
            </a:r>
            <a:r>
              <a:rPr lang="en-US" alt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ristiques </a:t>
            </a:r>
            <a:r>
              <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Poss</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la capacit</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manipuler directement la couche inf</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 IR et de calculer des logiques math</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matiques complexes</a:t>
            </a:r>
            <a:r>
              <a:rPr 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Inconv</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nients : beaucoup de code boilerplate, traitement manuel des conversions de type et v</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rifications de s</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curit</a:t>
            </a:r>
            <a:r>
              <a:rPr lang="en-US" alt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topologie de graphe peu intuitive</a:t>
            </a:r>
            <a:r>
              <a:rPr 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343140" y="2254250"/>
            <a:ext cx="4614545" cy="292354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MLIR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moteur de réécriture de motifs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https://mlir.llvm.org/docs/DeclarativeRewrites/</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https://mlir.llvm.org/docs/PDLL/</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DRR (Table-driven Declarative Rewrite Rule)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 la syntaxe DAG (Source DAG)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(Result DAG) pour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clarer des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gles,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ploy</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à la compilation en code C++,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consid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rablement le code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titif.</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Plus moderne, PDLL : langage de description de motifs con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 sp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cifiquement pour MLIR.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natif des 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multi-r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sultats, des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gions et des arguments variables.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 de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clarer directement dans le langage des contraintes et des expressions logiques math</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matiques.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Supporte la compilation AOT (Ahead-Of-Time) et l'ex</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JIT par interpr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tation du bytecode.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crire un pass de fusion Conv+BN dans MLIR</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04836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du motif et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lection du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racine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Héritage de la classe de base : dans</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C++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créer une classe héritant de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OpRewritePattern&lt;BatchNormOp&gt;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Ancrage du 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racine (Root Node) :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finir le point de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clenchement du pattern matching sur le BatchNormOp en aval.</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 du tra</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age inverse : remonter du consommateur (BN) vers le producteur amont (Conv2D) est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terministe et unique, ce qui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 consid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rablement la complexit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logique de la recherche multi-chemins</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063240" y="3429000"/>
            <a:ext cx="6233795" cy="2856865"/>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en-US" sz="3075">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a:solidFill>
                  <a:srgbClr val="262626"/>
                </a:solidFill>
                <a:latin typeface="Calibri" panose="020F0502020204030204"/>
                <a:ea typeface="Calibri" panose="020F0502020204030204"/>
                <a:cs typeface="Calibri" panose="020F0502020204030204"/>
                <a:sym typeface="Calibri" panose="020F0502020204030204"/>
              </a:rPr>
              <a:t>crire un pass de fusion Conv+BN dans MLIR</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Travers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graphe et validation de 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curit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(logique de correspondance)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Localisation de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 via getDefiningOp(), extraire le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d'entr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BN et v</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rifier s'il provient de Conv2DOp</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de blocage multi-utilisateurs : la ligne de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fense de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curit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 plus importante. V</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rifier si le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sultat du tenseur de sortie de la convolution n'est utilis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que par ce seul n</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 BN de mani</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exclusive</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Appel API : exiger que convOp.getResult().hasOneUse() retourne True, pour </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que la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criture des poids ne contamine les branches de 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pendance externes (comme les connexions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siduelles)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en-US" sz="2620">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620">
                <a:solidFill>
                  <a:srgbClr val="262626"/>
                </a:solidFill>
                <a:latin typeface="Calibri" panose="020F0502020204030204"/>
                <a:ea typeface="Calibri" panose="020F0502020204030204"/>
                <a:cs typeface="Calibri" panose="020F0502020204030204"/>
                <a:sym typeface="Calibri" panose="020F0502020204030204"/>
              </a:rPr>
              <a:t>crire un pass de fusion Conv+BN dans MLIR</a:t>
            </a:r>
            <a:endParaRPr lang="en-US" sz="262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6024880" cy="465963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Exécuter la réécriture et le basculement du flux de données</a:t>
            </a:r>
            <a:endParaRPr lang="en-US" sz="20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Lecture et calcul des constantes : lire les attributs statistiques</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BN </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globaux à la compilation, utiliser</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C++ </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calculer les nouveaux </a:t>
            </a:r>
            <a:r>
              <a:rPr lang="en-US" sz="1670">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tenseurs denses</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W</a:t>
            </a:r>
            <a:r>
              <a:rPr lang="en-US" sz="167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fold</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b</a:t>
            </a:r>
            <a:r>
              <a:rPr lang="en-US" sz="1670" b="0" i="0" u="none" strike="noStrike" baseline="-25000">
                <a:solidFill>
                  <a:srgbClr val="404040"/>
                </a:solidFill>
                <a:latin typeface="Calibri" panose="020F0502020204030204"/>
                <a:ea typeface="Calibri" panose="020F0502020204030204"/>
                <a:cs typeface="Calibri" panose="020F0502020204030204"/>
                <a:sym typeface="Calibri" panose="020F0502020204030204"/>
              </a:rPr>
              <a:t>fold</a:t>
            </a:r>
            <a:r>
              <a:rPr lang="en-US" sz="167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Concr</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tisation et basculement du graphe : appeler rewriter.create pour instancier de nouveaux n</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constants et le Conv2DOp fusionn</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Appeler rewriter.replaceOp(bnOp, fusedConvOp.getResult()) pour basculer toutes les connexions en aval vers le nouveau n</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Appeler rewriter.eraseOp(convOp) pour nettoyer les anciens n</a:t>
            </a:r>
            <a:r>
              <a:rPr lang="en-US" alt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a:t>
            </a:r>
            <a:r>
              <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548755" y="2111375"/>
            <a:ext cx="5007610" cy="2890520"/>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23</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Extraction de code invariant de boucle</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80" b="0" i="0" u="none" strike="noStrike">
                <a:solidFill>
                  <a:srgbClr val="262626"/>
                </a:solidFill>
                <a:latin typeface="Calibri" panose="020F0502020204030204"/>
                <a:ea typeface="Calibri" panose="020F0502020204030204"/>
                <a:cs typeface="Calibri" panose="020F0502020204030204"/>
                <a:sym typeface="Calibri" panose="020F0502020204030204"/>
              </a:rPr>
              <a:t>Code invariant de boucle</a:t>
            </a:r>
            <a:r>
              <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rPr>
              <a:t> (Loop Invariant Code)</a:t>
            </a:r>
            <a:endPar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fontScale="25000" lnSpcReduction="2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l'exécution de la boucle, le code dont le résultat de calcul ne change pas avec les itérations de la boucle.</a:t>
            </a: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6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Extraction du code invariant de boucle</a:t>
            </a:r>
            <a:r>
              <a:rPr lang="en-US" sz="66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6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6665" b="0" i="0" u="none" strike="noStrike">
                <a:solidFill>
                  <a:srgbClr val="404040"/>
                </a:solidFill>
                <a:latin typeface="Calibri" panose="020F0502020204030204"/>
                <a:ea typeface="Calibri" panose="020F0502020204030204"/>
                <a:cs typeface="Calibri" panose="020F0502020204030204"/>
                <a:sym typeface="Calibri" panose="020F0502020204030204"/>
              </a:rPr>
              <a:t> Loop Invariant Code Motion</a:t>
            </a:r>
            <a:r>
              <a:rPr lang="en-US" sz="6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6665" b="0" i="0" u="none" strike="noStrike">
                <a:solidFill>
                  <a:srgbClr val="404040"/>
                </a:solidFill>
                <a:latin typeface="Calibri" panose="020F0502020204030204"/>
                <a:ea typeface="Calibri" panose="020F0502020204030204"/>
                <a:cs typeface="Calibri" panose="020F0502020204030204"/>
                <a:sym typeface="Calibri" panose="020F0502020204030204"/>
              </a:rPr>
              <a:t>LICM</a:t>
            </a:r>
            <a:r>
              <a:rPr lang="en-US" sz="6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6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Extraire le code invariant de boucle hors de la boucle pour r</a:t>
            </a:r>
            <a:r>
              <a:rPr lang="en-US" altLang="en-US"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le nombre d'ex</a:t>
            </a:r>
            <a:r>
              <a:rPr lang="en-US" altLang="en-US"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cutions.</a:t>
            </a:r>
            <a:endParaRPr lang="en-US"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Situé dans une position relativement précoce du processus de compilation</a:t>
            </a:r>
            <a:endParaRPr lang="en-US"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6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Impact sur les performances</a:t>
            </a: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 optimisation </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de la boucle</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fois</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Temps de calcul invariant</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 N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T</a:t>
            </a:r>
            <a:endPar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Après optimisation </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1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T +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de la boucle</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N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fois</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0 = T</a:t>
            </a:r>
            <a:endPar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Gain </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(N-1) </a:t>
            </a:r>
            <a:r>
              <a:rPr lang="en-US" sz="5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rPr>
              <a:t> T</a:t>
            </a:r>
            <a:endParaRPr lang="en-US" sz="5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72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7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1171036" y="3268303"/>
            <a:ext cx="8888818" cy="1398181"/>
            <a:chOff x="2420081" y="2835233"/>
            <a:chExt cx="8888818" cy="1398181"/>
          </a:xfrm>
        </p:grpSpPr>
        <p:sp>
          <p:nvSpPr>
            <p:cNvPr id="7" name="AutoShape 7"/>
            <p:cNvSpPr/>
            <p:nvPr/>
          </p:nvSpPr>
          <p:spPr>
            <a:xfrm>
              <a:off x="2420081" y="3744316"/>
              <a:ext cx="1573618" cy="489098"/>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Code source</a:t>
              </a:r>
              <a:endParaRPr lang="en-US" sz="1100"/>
            </a:p>
          </p:txBody>
        </p:sp>
        <p:sp>
          <p:nvSpPr>
            <p:cNvPr id="8" name="AutoShape 8"/>
            <p:cNvSpPr/>
            <p:nvPr/>
          </p:nvSpPr>
          <p:spPr>
            <a:xfrm>
              <a:off x="4858481" y="3744316"/>
              <a:ext cx="1573618" cy="489098"/>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IR</a:t>
              </a:r>
              <a:endParaRPr lang="en-US" sz="1100"/>
            </a:p>
          </p:txBody>
        </p:sp>
        <p:sp>
          <p:nvSpPr>
            <p:cNvPr id="9" name="AutoShape 9"/>
            <p:cNvSpPr/>
            <p:nvPr/>
          </p:nvSpPr>
          <p:spPr>
            <a:xfrm>
              <a:off x="7296881" y="3744316"/>
              <a:ext cx="1573618" cy="489098"/>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6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Optimisation</a:t>
              </a:r>
              <a:r>
                <a:rPr lang="en-US" sz="1600" b="0" i="0" u="none" strike="noStrike">
                  <a:solidFill>
                    <a:srgbClr val="FFFFFF"/>
                  </a:solidFill>
                  <a:latin typeface="Calibri" panose="020F0502020204030204"/>
                  <a:ea typeface="Arial" panose="020B0604020202020204"/>
                  <a:cs typeface="Arial" panose="020B0604020202020204"/>
                  <a:sym typeface="Arial" panose="020B0604020202020204"/>
                </a:rPr>
                <a:t>Pass</a:t>
              </a:r>
              <a:endParaRPr lang="en-US" sz="1100"/>
            </a:p>
          </p:txBody>
        </p:sp>
        <p:sp>
          <p:nvSpPr>
            <p:cNvPr id="10" name="AutoShape 10"/>
            <p:cNvSpPr/>
            <p:nvPr/>
          </p:nvSpPr>
          <p:spPr>
            <a:xfrm>
              <a:off x="9735281" y="3744316"/>
              <a:ext cx="1573618" cy="489098"/>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Code cible</a:t>
              </a:r>
              <a:endParaRPr lang="en-US" sz="1100"/>
            </a:p>
          </p:txBody>
        </p:sp>
        <p:cxnSp>
          <p:nvCxnSpPr>
            <p:cNvPr id="11" name="Connector 11"/>
            <p:cNvCxnSpPr/>
            <p:nvPr/>
          </p:nvCxnSpPr>
          <p:spPr>
            <a:xfrm>
              <a:off x="3993699" y="3988865"/>
              <a:ext cx="864782"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id="12" name="Connector 12"/>
            <p:cNvCxnSpPr/>
            <p:nvPr/>
          </p:nvCxnSpPr>
          <p:spPr>
            <a:xfrm>
              <a:off x="6432099" y="3988865"/>
              <a:ext cx="864782"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id="13" name="Connector 13"/>
            <p:cNvCxnSpPr/>
            <p:nvPr/>
          </p:nvCxnSpPr>
          <p:spPr>
            <a:xfrm>
              <a:off x="8870499" y="3988865"/>
              <a:ext cx="864782" cy="0"/>
            </a:xfrm>
            <a:prstGeom prst="straightConnector1">
              <a:avLst/>
            </a:prstGeom>
            <a:noFill/>
            <a:ln w="12700" cap="flat">
              <a:solidFill>
                <a:srgbClr val="4472C4">
                  <a:alpha val="100000"/>
                </a:srgbClr>
              </a:solidFill>
              <a:prstDash val="solid"/>
              <a:headEnd type="none" w="med" len="med"/>
              <a:tailEnd type="triangle" w="med" len="med"/>
            </a:ln>
          </p:spPr>
        </p:cxnSp>
        <p:sp>
          <p:nvSpPr>
            <p:cNvPr id="14" name="AutoShape 14"/>
            <p:cNvSpPr/>
            <p:nvPr/>
          </p:nvSpPr>
          <p:spPr>
            <a:xfrm>
              <a:off x="4858481" y="2835233"/>
              <a:ext cx="1573618" cy="489098"/>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LICM</a:t>
              </a:r>
              <a:endParaRPr lang="en-US" sz="1100"/>
            </a:p>
          </p:txBody>
        </p:sp>
        <p:cxnSp>
          <p:nvCxnSpPr>
            <p:cNvPr id="15" name="Connector 15"/>
            <p:cNvCxnSpPr/>
            <p:nvPr/>
          </p:nvCxnSpPr>
          <p:spPr>
            <a:xfrm rot="10800000" flipV="1">
              <a:off x="4426091" y="3079781"/>
              <a:ext cx="432391" cy="909083"/>
            </a:xfrm>
            <a:prstGeom prst="bentConnector2">
              <a:avLst/>
            </a:prstGeom>
            <a:noFill/>
            <a:ln w="12700" cap="flat">
              <a:solidFill>
                <a:srgbClr val="4472C4">
                  <a:alpha val="100000"/>
                </a:srgbClr>
              </a:solidFill>
              <a:prstDash val="dash"/>
              <a:headEnd type="none" w="med" len="med"/>
              <a:tailEnd type="triangle" w="med" len="med"/>
            </a:ln>
          </p:spPr>
        </p:cxnSp>
        <p:cxnSp>
          <p:nvCxnSpPr>
            <p:cNvPr id="16" name="Connector 16"/>
            <p:cNvCxnSpPr/>
            <p:nvPr/>
          </p:nvCxnSpPr>
          <p:spPr>
            <a:xfrm>
              <a:off x="6432099" y="3079782"/>
              <a:ext cx="432391" cy="909082"/>
            </a:xfrm>
            <a:prstGeom prst="bentConnector2">
              <a:avLst/>
            </a:prstGeom>
            <a:noFill/>
            <a:ln w="12700" cap="flat">
              <a:solidFill>
                <a:srgbClr val="4472C4">
                  <a:alpha val="100000"/>
                </a:srgbClr>
              </a:solidFill>
              <a:prstDash val="dash"/>
              <a:headEnd type="none" w="med" len="med"/>
              <a:tailEnd type="triangle" w="med" len="med"/>
            </a:ln>
          </p:spPr>
        </p:cxnSp>
      </p:grpSp>
      <p:sp>
        <p:nvSpPr>
          <p:cNvPr id="18" name="文本占位符 1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Code invariant de boucle</a:t>
            </a:r>
            <a:r>
              <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rPr>
              <a:t> (Loop Invariant Code)</a:t>
            </a:r>
            <a:endParaRPr lang="en-US" sz="298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Exemple de code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 extraire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x</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y</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hors de la boucle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10775" y="1840675"/>
            <a:ext cx="6158160" cy="158832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2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n</a:t>
            </a: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x </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a </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b</a:t>
            </a: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20"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42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Invariant de boucle :</a:t>
            </a:r>
            <a:r>
              <a:rPr lang="en-US" sz="1420" b="0" i="1" u="none" strike="noStrike">
                <a:solidFill>
                  <a:srgbClr val="E4E4E4"/>
                </a:solidFill>
                <a:latin typeface="Menlo" panose="020B0609030804020204"/>
                <a:ea typeface="Menlo" panose="020B0609030804020204"/>
                <a:cs typeface="Menlo" panose="020B0609030804020204"/>
                <a:sym typeface="Menlo" panose="020B0609030804020204"/>
              </a:rPr>
              <a:t>a, b </a:t>
            </a:r>
            <a:r>
              <a:rPr lang="en-US" sz="142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inchangés dans la boucle</a:t>
            </a:r>
            <a:endParaRPr lang="en-US" sz="142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y </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x  c</a:t>
            </a: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20"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42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Invariant de boucle : dépend de l'invariant</a:t>
            </a:r>
            <a:r>
              <a:rPr lang="en-US" sz="1420" b="0" i="1" u="none" strike="noStrike">
                <a:solidFill>
                  <a:srgbClr val="E4E4E4"/>
                </a:solidFill>
                <a:latin typeface="Menlo" panose="020B0609030804020204"/>
                <a:ea typeface="Menlo" panose="020B0609030804020204"/>
                <a:cs typeface="Menlo" panose="020B0609030804020204"/>
                <a:sym typeface="Menlo" panose="020B0609030804020204"/>
              </a:rPr>
              <a:t> x</a:t>
            </a:r>
            <a:endParaRPr lang="en-US" sz="142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arr</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[i] </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y </a:t>
            </a:r>
            <a:r>
              <a:rPr lang="en-US" sz="142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2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20"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42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Non invariant : dépend de la variable de boucle</a:t>
            </a:r>
            <a:r>
              <a:rPr lang="en-US" sz="1420" b="0" i="1" u="none" strike="noStrike">
                <a:solidFill>
                  <a:srgbClr val="E4E4E4"/>
                </a:solidFill>
                <a:latin typeface="Menlo" panose="020B0609030804020204"/>
                <a:ea typeface="Menlo" panose="020B0609030804020204"/>
                <a:cs typeface="Menlo" panose="020B0609030804020204"/>
                <a:sym typeface="Menlo" panose="020B0609030804020204"/>
              </a:rPr>
              <a:t> i</a:t>
            </a:r>
            <a:endParaRPr lang="en-US" sz="142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2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2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610775" y="4181447"/>
            <a:ext cx="2500560" cy="158832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for ...</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x=a+b</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y=x*c</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use(y)</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5323300" y="4095006"/>
            <a:ext cx="2500560" cy="80950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x=a+b</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y=x*c</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5323300" y="5165763"/>
            <a:ext cx="2500560" cy="80950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for ... </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use(y)</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0" name="AutoShape 10"/>
          <p:cNvSpPr/>
          <p:nvPr/>
        </p:nvSpPr>
        <p:spPr>
          <a:xfrm>
            <a:off x="3198236" y="4963734"/>
            <a:ext cx="1971304" cy="172883"/>
          </a:xfrm>
          <a:prstGeom prst="right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2" name="文本占位符 11"/>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LICM</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Processus global</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les définitions atteignantes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les instructions invariantes de boucle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les relations de dominance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Filtrer les instructions déplaçables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Déplacer dans l'ordre de dépendance vers</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le preheader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3" y="4159304"/>
            <a:ext cx="7772400" cy="1061374"/>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Boucles et relations de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domination</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Structure de boucle</a:t>
            </a: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 d'entrée</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 (Header)</a:t>
            </a:r>
            <a:endPar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L'unique entr</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la boucle, elle domine tous les n</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dans la boucle.</a:t>
            </a:r>
            <a:endPar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Arête de retour</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 (Back Edge)</a:t>
            </a:r>
            <a:endPar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55" b="0" i="0" u="none" strike="noStrike">
                <a:solidFill>
                  <a:srgbClr val="404040"/>
                </a:solidFill>
                <a:latin typeface="Calibri" panose="020F0502020204030204"/>
                <a:ea typeface="Calibri" panose="020F0502020204030204"/>
                <a:cs typeface="Calibri" panose="020F0502020204030204"/>
                <a:sym typeface="Calibri" panose="020F0502020204030204"/>
              </a:rPr>
              <a:t>Ar</a:t>
            </a:r>
            <a:r>
              <a:rPr lang="en-US" alt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755" b="0" i="0" u="none" strike="noStrike">
                <a:solidFill>
                  <a:srgbClr val="404040"/>
                </a:solidFill>
                <a:latin typeface="Calibri" panose="020F0502020204030204"/>
                <a:ea typeface="Calibri" panose="020F0502020204030204"/>
                <a:cs typeface="Calibri" panose="020F0502020204030204"/>
                <a:sym typeface="Calibri" panose="020F0502020204030204"/>
              </a:rPr>
              <a:t>te sautant de l'int</a:t>
            </a:r>
            <a:r>
              <a:rPr lang="en-US" alt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55" b="0" i="0" u="none" strike="noStrike">
                <a:solidFill>
                  <a:srgbClr val="404040"/>
                </a:solidFill>
                <a:latin typeface="Calibri" panose="020F0502020204030204"/>
                <a:ea typeface="Calibri" panose="020F0502020204030204"/>
                <a:cs typeface="Calibri" panose="020F0502020204030204"/>
                <a:sym typeface="Calibri" panose="020F0502020204030204"/>
              </a:rPr>
              <a:t>rieur de la boucle vers le header.</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Corps de boucle</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 (Loop Body)</a:t>
            </a:r>
            <a:endPar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Tous les n</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uds entre le header et l'ar</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de retour</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Relations de domination</a:t>
            </a:r>
            <a:endParaRPr lang="en-US" altLang="zh-CN" sz="20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œ</a:t>
            </a:r>
            <a:r>
              <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rPr>
              <a:t>ud A domine le n</a:t>
            </a:r>
            <a:r>
              <a:rPr lang="en-US" alt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œ</a:t>
            </a:r>
            <a:r>
              <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rPr>
              <a:t>ud B : de l'entr</a:t>
            </a:r>
            <a:r>
              <a:rPr lang="en-US" alt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rPr>
              <a:t>e à B, tous les chemins doivent passer par A.</a:t>
            </a:r>
            <a:endPar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rPr>
              <a:t>N</a:t>
            </a:r>
            <a:r>
              <a:rPr lang="en-US" alt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œ</a:t>
            </a:r>
            <a:r>
              <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rPr>
              <a:t>ud A domine strictement le n</a:t>
            </a:r>
            <a:r>
              <a:rPr lang="en-US" alt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œ</a:t>
            </a:r>
            <a:r>
              <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rPr>
              <a:t>ud B : A domine B et A ≠ B.</a:t>
            </a:r>
            <a:endPar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altLang="zh-CN" sz="20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7" name="Group 7"/>
          <p:cNvGrpSpPr/>
          <p:nvPr/>
        </p:nvGrpSpPr>
        <p:grpSpPr>
          <a:xfrm>
            <a:off x="646430" y="5256369"/>
            <a:ext cx="5563771" cy="1099664"/>
            <a:chOff x="419100" y="4986494"/>
            <a:chExt cx="5563771" cy="1099664"/>
          </a:xfrm>
        </p:grpSpPr>
        <p:sp>
          <p:nvSpPr>
            <p:cNvPr id="8" name="AutoShape 8"/>
            <p:cNvSpPr/>
            <p:nvPr/>
          </p:nvSpPr>
          <p:spPr>
            <a:xfrm>
              <a:off x="419100" y="4986496"/>
              <a:ext cx="1053440" cy="48688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Entry</a:t>
              </a:r>
              <a:endParaRPr lang="en-US" sz="1100"/>
            </a:p>
          </p:txBody>
        </p:sp>
        <p:sp>
          <p:nvSpPr>
            <p:cNvPr id="9" name="AutoShape 9"/>
            <p:cNvSpPr/>
            <p:nvPr/>
          </p:nvSpPr>
          <p:spPr>
            <a:xfrm>
              <a:off x="1933512" y="4986496"/>
              <a:ext cx="1053440" cy="48688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header</a:t>
              </a:r>
              <a:endParaRPr lang="en-US" sz="1100"/>
            </a:p>
          </p:txBody>
        </p:sp>
        <p:sp>
          <p:nvSpPr>
            <p:cNvPr id="10" name="AutoShape 10"/>
            <p:cNvSpPr/>
            <p:nvPr/>
          </p:nvSpPr>
          <p:spPr>
            <a:xfrm>
              <a:off x="3447924" y="4986495"/>
              <a:ext cx="1053440" cy="48688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Body</a:t>
              </a:r>
              <a:endParaRPr lang="en-US" sz="1100"/>
            </a:p>
          </p:txBody>
        </p:sp>
        <p:sp>
          <p:nvSpPr>
            <p:cNvPr id="11" name="AutoShape 11"/>
            <p:cNvSpPr/>
            <p:nvPr/>
          </p:nvSpPr>
          <p:spPr>
            <a:xfrm>
              <a:off x="4929431" y="4986494"/>
              <a:ext cx="1053440" cy="48688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Exit</a:t>
              </a:r>
              <a:endParaRPr lang="en-US" sz="1100"/>
            </a:p>
          </p:txBody>
        </p:sp>
        <p:cxnSp>
          <p:nvCxnSpPr>
            <p:cNvPr id="12" name="Connector 12"/>
            <p:cNvCxnSpPr/>
            <p:nvPr/>
          </p:nvCxnSpPr>
          <p:spPr>
            <a:xfrm>
              <a:off x="1472540" y="5229941"/>
              <a:ext cx="460972"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id="13" name="Connector 13"/>
            <p:cNvCxnSpPr/>
            <p:nvPr/>
          </p:nvCxnSpPr>
          <p:spPr>
            <a:xfrm flipV="1">
              <a:off x="2986952" y="5229940"/>
              <a:ext cx="460972" cy="1"/>
            </a:xfrm>
            <a:prstGeom prst="straightConnector1">
              <a:avLst/>
            </a:prstGeom>
            <a:noFill/>
            <a:ln w="12700" cap="flat">
              <a:solidFill>
                <a:srgbClr val="4472C4">
                  <a:alpha val="100000"/>
                </a:srgbClr>
              </a:solidFill>
              <a:prstDash val="solid"/>
              <a:headEnd type="none" w="med" len="med"/>
              <a:tailEnd type="triangle" w="med" len="med"/>
            </a:ln>
          </p:spPr>
        </p:cxnSp>
        <p:cxnSp>
          <p:nvCxnSpPr>
            <p:cNvPr id="14" name="Connector 14"/>
            <p:cNvCxnSpPr/>
            <p:nvPr/>
          </p:nvCxnSpPr>
          <p:spPr>
            <a:xfrm flipV="1">
              <a:off x="4501364" y="5229939"/>
              <a:ext cx="428067" cy="1"/>
            </a:xfrm>
            <a:prstGeom prst="straightConnector1">
              <a:avLst/>
            </a:prstGeom>
            <a:noFill/>
            <a:ln w="12700" cap="flat">
              <a:solidFill>
                <a:srgbClr val="4472C4">
                  <a:alpha val="100000"/>
                </a:srgbClr>
              </a:solidFill>
              <a:prstDash val="solid"/>
              <a:headEnd type="none" w="med" len="med"/>
              <a:tailEnd type="triangle" w="med" len="med"/>
            </a:ln>
          </p:spPr>
        </p:cxnSp>
        <p:cxnSp>
          <p:nvCxnSpPr>
            <p:cNvPr id="15" name="Connector 15"/>
            <p:cNvCxnSpPr/>
            <p:nvPr/>
          </p:nvCxnSpPr>
          <p:spPr>
            <a:xfrm rot="5400000">
              <a:off x="3217438" y="4716178"/>
              <a:ext cx="1" cy="1514412"/>
            </a:xfrm>
            <a:prstGeom prst="bentConnector3">
              <a:avLst/>
            </a:prstGeom>
            <a:noFill/>
            <a:ln w="12700" cap="flat">
              <a:solidFill>
                <a:srgbClr val="4472C4">
                  <a:alpha val="100000"/>
                </a:srgbClr>
              </a:solidFill>
              <a:prstDash val="solid"/>
              <a:headEnd type="none" w="med" len="med"/>
              <a:tailEnd type="triangle" w="med" len="med"/>
            </a:ln>
          </p:spPr>
        </p:cxnSp>
        <p:sp>
          <p:nvSpPr>
            <p:cNvPr id="16" name="AutoShape 16"/>
            <p:cNvSpPr/>
            <p:nvPr/>
          </p:nvSpPr>
          <p:spPr>
            <a:xfrm>
              <a:off x="2567260" y="5716826"/>
              <a:ext cx="1300356"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Back Edge</a:t>
              </a:r>
              <a:endParaRPr lang="en-US" sz="1100"/>
            </a:p>
          </p:txBody>
        </p:sp>
      </p:grpSp>
      <p:pic>
        <p:nvPicPr>
          <p:cNvPr id="17" name="Picture 17"/>
          <p:cNvPicPr>
            <a:picLocks noChangeAspect="1"/>
          </p:cNvPicPr>
          <p:nvPr/>
        </p:nvPicPr>
        <p:blipFill>
          <a:blip r:embed="rId1"/>
          <a:srcRect/>
          <a:stretch>
            <a:fillRect/>
          </a:stretch>
        </p:blipFill>
        <p:spPr>
          <a:xfrm>
            <a:off x="7443470" y="3389630"/>
            <a:ext cx="3608705" cy="2981960"/>
          </a:xfrm>
          <a:prstGeom prst="rect">
            <a:avLst/>
          </a:prstGeom>
          <a:ln w="12700">
            <a:noFill/>
            <a:prstDash val="solid"/>
          </a:ln>
        </p:spPr>
      </p:pic>
      <p:sp>
        <p:nvSpPr>
          <p:cNvPr id="19" name="文本占位符 18"/>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Boucles et relations de domination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xfrm>
            <a:off x="523875" y="1323975"/>
            <a:ext cx="498665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Représentation arborescente des relations de domination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noeud parent domine tous les noeuds enfants</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LICM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 les relations de domination pour </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valuer </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la sécurité du déplacement du code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7" name="Picture 7"/>
          <p:cNvPicPr>
            <a:picLocks noChangeAspect="1"/>
          </p:cNvPicPr>
          <p:nvPr/>
        </p:nvPicPr>
        <p:blipFill>
          <a:blip r:embed="rId1"/>
          <a:srcRect/>
          <a:stretch>
            <a:fillRect/>
          </a:stretch>
        </p:blipFill>
        <p:spPr>
          <a:xfrm>
            <a:off x="1213328" y="3557400"/>
            <a:ext cx="3745439" cy="3112407"/>
          </a:xfrm>
          <a:prstGeom prst="rect">
            <a:avLst/>
          </a:prstGeom>
          <a:ln w="12700">
            <a:noFill/>
            <a:prstDash val="solid"/>
          </a:ln>
        </p:spPr>
      </p:pic>
      <p:sp>
        <p:nvSpPr>
          <p:cNvPr id="8" name="AutoShape 8"/>
          <p:cNvSpPr/>
          <p:nvPr/>
        </p:nvSpPr>
        <p:spPr>
          <a:xfrm>
            <a:off x="5547147" y="3046860"/>
            <a:ext cx="6254337" cy="3425537"/>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0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00" b="0" i="0" u="none" strike="noStrike">
                <a:solidFill>
                  <a:srgbClr val="EFB080"/>
                </a:solidFill>
                <a:latin typeface="Menlo" panose="020B0609030804020204"/>
                <a:ea typeface="Menlo" panose="020B0609030804020204"/>
                <a:cs typeface="Menlo" panose="020B0609030804020204"/>
                <a:sym typeface="Menlo" panose="020B0609030804020204"/>
              </a:rPr>
              <a:t>compute_dominators</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300" b="0" i="1" u="none" strike="noStrike">
                <a:solidFill>
                  <a:srgbClr val="F8C762"/>
                </a:solidFill>
                <a:latin typeface="Menlo" panose="020B0609030804020204"/>
                <a:ea typeface="Menlo" panose="020B0609030804020204"/>
                <a:cs typeface="Menlo" panose="020B0609030804020204"/>
                <a:sym typeface="Menlo" panose="020B0609030804020204"/>
              </a:rPr>
              <a:t>cfg</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endParaRPr lang="en-US" sz="1100"/>
          </a:p>
          <a:p>
            <a:pPr marL="457200" lvl="1" indent="0" algn="l">
              <a:lnSpc>
                <a:spcPct val="100000"/>
              </a:lnSpc>
            </a:pPr>
            <a:r>
              <a:rPr lang="en-US" sz="1300" b="0" i="1" u="none" strike="noStrike">
                <a:solidFill>
                  <a:srgbClr val="E4E4E4"/>
                </a:solidFill>
                <a:latin typeface="Menlo" panose="020B0609030804020204"/>
                <a:ea typeface="Menlo" panose="020B0609030804020204"/>
                <a:cs typeface="Menlo" panose="020B0609030804020204"/>
                <a:sym typeface="Menlo" panose="020B0609030804020204"/>
              </a:rPr>
              <a:t># 1. </a:t>
            </a:r>
            <a:r>
              <a:rPr lang="en-US" sz="13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Calculer</a:t>
            </a:r>
            <a:r>
              <a:rPr lang="en-US" sz="1300" b="0" i="1" u="none" strike="noStrike">
                <a:solidFill>
                  <a:srgbClr val="E4E4E4"/>
                </a:solidFill>
                <a:latin typeface="Menlo" panose="020B0609030804020204"/>
                <a:ea typeface="Menlo" panose="020B0609030804020204"/>
                <a:cs typeface="Menlo" panose="020B0609030804020204"/>
                <a:sym typeface="Menlo" panose="020B0609030804020204"/>
              </a:rPr>
              <a:t> DFS </a:t>
            </a:r>
            <a:r>
              <a:rPr lang="en-US" sz="13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l'arbre et</a:t>
            </a:r>
            <a:r>
              <a:rPr lang="en-US" sz="1300" b="0" i="1" u="none" strike="noStrike">
                <a:solidFill>
                  <a:srgbClr val="E4E4E4"/>
                </a:solidFill>
                <a:latin typeface="Menlo" panose="020B0609030804020204"/>
                <a:ea typeface="Menlo" panose="020B0609030804020204"/>
                <a:cs typeface="Menlo" panose="020B0609030804020204"/>
                <a:sym typeface="Menlo" panose="020B0609030804020204"/>
              </a:rPr>
              <a:t> DFS </a:t>
            </a:r>
            <a:r>
              <a:rPr lang="en-US" sz="13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les numéros</a:t>
            </a:r>
            <a:endParaRPr lang="en-US" sz="13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dfs_tree</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dfnum </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00" b="0" i="0" u="none" strike="noStrike">
                <a:solidFill>
                  <a:srgbClr val="AAA0FA"/>
                </a:solidFill>
                <a:latin typeface="Menlo" panose="020B0609030804020204"/>
                <a:ea typeface="Menlo" panose="020B0609030804020204"/>
                <a:cs typeface="Menlo" panose="020B0609030804020204"/>
                <a:sym typeface="Menlo" panose="020B0609030804020204"/>
              </a:rPr>
              <a:t>dfs</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cfg</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entry</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endParaRPr lang="en-US" sz="13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00" b="0" i="1" u="none" strike="noStrike">
                <a:solidFill>
                  <a:srgbClr val="E4E4E4"/>
                </a:solidFill>
                <a:latin typeface="Menlo" panose="020B0609030804020204"/>
                <a:ea typeface="Menlo" panose="020B0609030804020204"/>
                <a:cs typeface="Menlo" panose="020B0609030804020204"/>
                <a:sym typeface="Menlo" panose="020B0609030804020204"/>
              </a:rPr>
              <a:t># 2. </a:t>
            </a:r>
            <a:r>
              <a:rPr lang="en-US" sz="13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Calculer les semi-dominateurs</a:t>
            </a:r>
            <a:endParaRPr lang="en-US" sz="13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sdom </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3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v </a:t>
            </a:r>
            <a:r>
              <a:rPr lang="en-US" sz="13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reverse_dfs_order:</a:t>
            </a:r>
            <a:endParaRPr lang="en-US" sz="13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sdom</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v</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00" b="0" i="0" u="none" strike="noStrike">
                <a:solidFill>
                  <a:srgbClr val="EFB080"/>
                </a:solidFill>
                <a:latin typeface="Menlo" panose="020B0609030804020204"/>
                <a:ea typeface="Menlo" panose="020B0609030804020204"/>
                <a:cs typeface="Menlo" panose="020B0609030804020204"/>
                <a:sym typeface="Menlo" panose="020B0609030804020204"/>
              </a:rPr>
              <a:t>min</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dfnum</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u</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u </a:t>
            </a:r>
            <a:r>
              <a:rPr lang="en-US" sz="13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00" b="0" i="0" u="none" strike="noStrike">
                <a:solidFill>
                  <a:srgbClr val="AAA0FA"/>
                </a:solidFill>
                <a:latin typeface="Menlo" panose="020B0609030804020204"/>
                <a:ea typeface="Menlo" panose="020B0609030804020204"/>
                <a:cs typeface="Menlo" panose="020B0609030804020204"/>
                <a:sym typeface="Menlo" panose="020B0609030804020204"/>
              </a:rPr>
              <a:t>predecessors</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v</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endParaRPr lang="en-US" sz="13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00" b="0" i="1" u="none" strike="noStrike">
                <a:solidFill>
                  <a:srgbClr val="E4E4E4"/>
                </a:solidFill>
                <a:latin typeface="Menlo" panose="020B0609030804020204"/>
                <a:ea typeface="Menlo" panose="020B0609030804020204"/>
                <a:cs typeface="Menlo" panose="020B0609030804020204"/>
                <a:sym typeface="Menlo" panose="020B0609030804020204"/>
              </a:rPr>
              <a:t># 3. </a:t>
            </a:r>
            <a:r>
              <a:rPr lang="en-US" sz="13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Calculer les dominateurs via les semi-dominateurs</a:t>
            </a:r>
            <a:endParaRPr lang="en-US" sz="13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idom </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3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0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v </a:t>
            </a:r>
            <a:r>
              <a:rPr lang="en-US" sz="130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dfs_order:</a:t>
            </a:r>
            <a:endParaRPr lang="en-US" sz="13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idom</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v</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00" b="0" i="0" u="none" strike="noStrike">
                <a:solidFill>
                  <a:srgbClr val="AAA0FA"/>
                </a:solidFill>
                <a:latin typeface="Menlo" panose="020B0609030804020204"/>
                <a:ea typeface="Menlo" panose="020B0609030804020204"/>
                <a:cs typeface="Menlo" panose="020B0609030804020204"/>
                <a:sym typeface="Menlo" panose="020B0609030804020204"/>
              </a:rPr>
              <a:t>compute_idom</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v</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sdom</a:t>
            </a:r>
            <a:r>
              <a:rPr lang="en-US" sz="13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endParaRPr lang="en-US" sz="130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00" b="0" i="1" u="none" strike="noStrike">
                <a:solidFill>
                  <a:srgbClr val="82D2CE"/>
                </a:solidFill>
                <a:latin typeface="Menlo" panose="020B0609030804020204"/>
                <a:ea typeface="Menlo" panose="020B0609030804020204"/>
                <a:cs typeface="Menlo" panose="020B0609030804020204"/>
                <a:sym typeface="Menlo" panose="020B0609030804020204"/>
              </a:rPr>
              <a:t>return</a:t>
            </a:r>
            <a:r>
              <a:rPr lang="en-US" sz="1300" b="0" i="0" u="none" strike="noStrike">
                <a:solidFill>
                  <a:srgbClr val="E4E4E4"/>
                </a:solidFill>
                <a:latin typeface="Menlo" panose="020B0609030804020204"/>
                <a:ea typeface="Menlo" panose="020B0609030804020204"/>
                <a:cs typeface="Menlo" panose="020B0609030804020204"/>
                <a:sym typeface="Menlo" panose="020B0609030804020204"/>
              </a:rPr>
              <a:t> idom</a:t>
            </a:r>
            <a:endParaRPr lang="en-US" sz="13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5878091" y="1222248"/>
            <a:ext cx="5591177" cy="4852988"/>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altLang="zh-CN" sz="21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de Lengauer-Tarjan</a:t>
            </a:r>
            <a:endParaRPr lang="en-US" sz="1100"/>
          </a:p>
          <a:p>
            <a:pPr marL="596900" lvl="1" indent="-254000" algn="l">
              <a:lnSpc>
                <a:spcPct val="100000"/>
              </a:lnSpc>
              <a:spcBef>
                <a:spcPts val="750"/>
              </a:spcBef>
              <a:buClr>
                <a:srgbClr val="404040"/>
              </a:buClr>
              <a:buChar char="•"/>
            </a:pP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Basé sur l'arbre de recherche en profondeur</a:t>
            </a: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(DFS)</a:t>
            </a:r>
            <a:endPar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 le concept de semi‑dominateur (semidominator)</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680" b="0" i="0" u="none" strike="noStrike">
                <a:solidFill>
                  <a:srgbClr val="262626"/>
                </a:solidFill>
                <a:latin typeface="Calibri" panose="020F0502020204030204"/>
                <a:ea typeface="Calibri" panose="020F0502020204030204"/>
                <a:cs typeface="Calibri" panose="020F0502020204030204"/>
                <a:sym typeface="Calibri" panose="020F0502020204030204"/>
              </a:rPr>
              <a:t>Calcul des d</a:t>
            </a:r>
            <a:r>
              <a:rPr lang="en-US" altLang="en-US" sz="268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680" b="0" i="0" u="none" strike="noStrike">
                <a:solidFill>
                  <a:srgbClr val="262626"/>
                </a:solidFill>
                <a:latin typeface="Calibri" panose="020F0502020204030204"/>
                <a:ea typeface="Calibri" panose="020F0502020204030204"/>
                <a:cs typeface="Calibri" panose="020F0502020204030204"/>
                <a:sym typeface="Calibri" panose="020F0502020204030204"/>
              </a:rPr>
              <a:t>finitions atteignantes</a:t>
            </a:r>
            <a:r>
              <a:rPr lang="en-US" sz="2680" b="0" i="0" u="none" strike="noStrike">
                <a:solidFill>
                  <a:srgbClr val="262626"/>
                </a:solidFill>
                <a:latin typeface="Calibri" panose="020F0502020204030204"/>
                <a:ea typeface="Calibri" panose="020F0502020204030204"/>
                <a:cs typeface="Calibri" panose="020F0502020204030204"/>
                <a:sym typeface="Calibri" panose="020F0502020204030204"/>
              </a:rPr>
              <a:t> (Reaching Definitions)</a:t>
            </a:r>
            <a:endParaRPr lang="en-US" sz="268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4580718"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Analyser les d</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finitions de variables pouvant atteindre chaque point du programme.</a:t>
            </a:r>
            <a:endPar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30" b="0" i="0" u="none" strike="noStrike">
                <a:solidFill>
                  <a:srgbClr val="404040"/>
                </a:solidFill>
                <a:latin typeface="Calibri" panose="020F0502020204030204"/>
                <a:ea typeface="Calibri" panose="020F0502020204030204"/>
                <a:cs typeface="Calibri" panose="020F0502020204030204"/>
                <a:sym typeface="Calibri" panose="020F0502020204030204"/>
              </a:rPr>
              <a:t>IN[B] = ∪(OUT[P]) pour tous les pr</a:t>
            </a:r>
            <a:r>
              <a:rPr lang="en-US" alt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3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30" b="0" i="0" u="none" strike="noStrike">
                <a:solidFill>
                  <a:srgbClr val="404040"/>
                </a:solidFill>
                <a:latin typeface="Calibri" panose="020F0502020204030204"/>
                <a:ea typeface="Calibri" panose="020F0502020204030204"/>
                <a:cs typeface="Calibri" panose="020F0502020204030204"/>
                <a:sym typeface="Calibri" panose="020F0502020204030204"/>
              </a:rPr>
              <a:t>cesseurs P de B</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OUT[B] = GEN[B] ∪ (IN[B] - KILL[B])</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LICM : comment utiliser l'analyse des d</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finitions atteignantes</a:t>
            </a:r>
            <a:endPar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Déterminer l'emplacement de la définition des opérandes</a:t>
            </a:r>
            <a:endPar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t>
            </a:r>
            <a:r>
              <a:rPr lang="en-US" alt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rifier si la d</a:t>
            </a:r>
            <a:r>
              <a:rPr lang="en-US" alt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provient de l'ext</a:t>
            </a:r>
            <a:r>
              <a:rPr lang="en-US" alt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 de la boucle</a:t>
            </a:r>
            <a:endPar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tecter si une variable a plusieurs d</a:t>
            </a:r>
            <a:r>
              <a:rPr lang="en-US" alt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finitions</a:t>
            </a:r>
            <a:b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b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104592" y="2138515"/>
            <a:ext cx="5470001" cy="4118219"/>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Algorithme de détection des invariants de boucle</a:t>
            </a:r>
            <a:endParaRPr lang="en-US"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5817932"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Initialisation : marquer toutes les instructions dont les opérandes sont définies en dehors de la boucle comme</a:t>
            </a: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invariant</a:t>
            </a: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Itérer jusqu'au point fixe :</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chaque instruction </a:t>
            </a:r>
            <a:r>
              <a:rPr lang="en-US" sz="1560">
                <a:solidFill>
                  <a:srgbClr val="404040"/>
                </a:solidFill>
                <a:latin typeface="Calibri" panose="020F0502020204030204"/>
                <a:ea typeface="Calibri" panose="020F0502020204030204"/>
                <a:cs typeface="Calibri" panose="020F0502020204030204"/>
                <a:sym typeface="Calibri" panose="020F0502020204030204"/>
              </a:rPr>
              <a:t>I </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la boucle</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 : "x = y op z"</a:t>
            </a:r>
            <a:endPar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l'une des conditions suivantes est satisfaite, marquer comme </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invariant</a:t>
            </a: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1. </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toutes les d</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finitions atteignantes de y sont en dehors de la boucle, ou</a:t>
            </a:r>
            <a:endPar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 seule d</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atteignante, et cette d</a:t>
            </a:r>
            <a:r>
              <a:rPr lang="en-US" alt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est un invariant de boucle.</a:t>
            </a:r>
            <a:endPar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AND</a:t>
            </a:r>
            <a:endPar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60" b="0" i="0" u="none" strike="noStrike">
                <a:solidFill>
                  <a:srgbClr val="404040"/>
                </a:solidFill>
                <a:latin typeface="Calibri" panose="020F0502020204030204"/>
                <a:ea typeface="Calibri" panose="020F0502020204030204"/>
                <a:cs typeface="Calibri" panose="020F0502020204030204"/>
                <a:sym typeface="Calibri" panose="020F0502020204030204"/>
              </a:rPr>
              <a:t>z </a:t>
            </a:r>
            <a:r>
              <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satisfait la même condition (si elle existe).</a:t>
            </a:r>
            <a:endParaRPr lang="en-US" sz="15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341806" y="1759437"/>
            <a:ext cx="5850194" cy="2886306"/>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8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80" b="0" i="0" u="none" strike="noStrike">
                <a:solidFill>
                  <a:srgbClr val="EFB080"/>
                </a:solidFill>
                <a:latin typeface="Menlo" panose="020B0609030804020204"/>
                <a:ea typeface="Menlo" panose="020B0609030804020204"/>
                <a:cs typeface="Menlo" panose="020B0609030804020204"/>
                <a:sym typeface="Menlo" panose="020B0609030804020204"/>
              </a:rPr>
              <a:t>find_loop_invariants</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280" b="0" i="1" u="none" strike="noStrike">
                <a:solidFill>
                  <a:srgbClr val="F8C762"/>
                </a:solidFill>
                <a:latin typeface="Menlo" panose="020B0609030804020204"/>
                <a:ea typeface="Menlo" panose="020B0609030804020204"/>
                <a:cs typeface="Menlo" panose="020B0609030804020204"/>
                <a:sym typeface="Menlo" panose="020B0609030804020204"/>
              </a:rPr>
              <a:t>loop</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00"/>
          </a:p>
          <a:p>
            <a:pPr marL="457200" lvl="1" indent="0" algn="l">
              <a:lnSpc>
                <a:spcPct val="100000"/>
              </a:lnSpc>
            </a:pP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invariant </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80" b="0" i="0" u="none" strike="noStrike">
                <a:solidFill>
                  <a:srgbClr val="82D2CE"/>
                </a:solidFill>
                <a:latin typeface="Menlo" panose="020B0609030804020204"/>
                <a:ea typeface="Menlo" panose="020B0609030804020204"/>
                <a:cs typeface="Menlo" panose="020B0609030804020204"/>
                <a:sym typeface="Menlo" panose="020B0609030804020204"/>
              </a:rPr>
              <a:t>set</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8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changed </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True</a:t>
            </a:r>
            <a:endParaRPr lang="en-US" sz="12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80" b="0" i="1" u="none" strike="noStrike">
                <a:solidFill>
                  <a:srgbClr val="82D2CE"/>
                </a:solidFill>
                <a:latin typeface="Menlo" panose="020B0609030804020204"/>
                <a:ea typeface="Menlo" panose="020B0609030804020204"/>
                <a:cs typeface="Menlo" panose="020B0609030804020204"/>
                <a:sym typeface="Menlo" panose="020B0609030804020204"/>
              </a:rPr>
              <a:t>while</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changed:</a:t>
            </a:r>
            <a:endParaRPr lang="en-US" sz="12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changed </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False</a:t>
            </a:r>
            <a:endParaRPr lang="en-US" sz="12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8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instr </a:t>
            </a:r>
            <a:r>
              <a:rPr lang="en-US" sz="128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loop</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instructions:</a:t>
            </a:r>
            <a:endParaRPr lang="en-US" sz="12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1371600" lvl="3" indent="0" algn="l">
              <a:lnSpc>
                <a:spcPct val="100000"/>
              </a:lnSpc>
            </a:pPr>
            <a:r>
              <a:rPr lang="en-US" sz="1280" b="0" i="1" u="none" strike="noStrike">
                <a:solidFill>
                  <a:srgbClr val="82D2CE"/>
                </a:solidFill>
                <a:latin typeface="Menlo" panose="020B0609030804020204"/>
                <a:ea typeface="Menlo" panose="020B0609030804020204"/>
                <a:cs typeface="Menlo" panose="020B0609030804020204"/>
                <a:sym typeface="Menlo" panose="020B0609030804020204"/>
              </a:rPr>
              <a:t>if</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80" b="0" i="0" u="none" strike="noStrike">
                <a:solidFill>
                  <a:srgbClr val="AAA0FA"/>
                </a:solidFill>
                <a:latin typeface="Menlo" panose="020B0609030804020204"/>
                <a:ea typeface="Menlo" panose="020B0609030804020204"/>
                <a:cs typeface="Menlo" panose="020B0609030804020204"/>
                <a:sym typeface="Menlo" panose="020B0609030804020204"/>
              </a:rPr>
              <a:t>is_invariant</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invariant</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1828800" lvl="4" indent="0" algn="l">
              <a:lnSpc>
                <a:spcPct val="100000"/>
              </a:lnSpc>
            </a:pPr>
            <a:r>
              <a:rPr lang="en-US" sz="1280" b="0" i="1" u="none" strike="noStrike">
                <a:solidFill>
                  <a:srgbClr val="82D2CE"/>
                </a:solidFill>
                <a:latin typeface="Menlo" panose="020B0609030804020204"/>
                <a:ea typeface="Menlo" panose="020B0609030804020204"/>
                <a:cs typeface="Menlo" panose="020B0609030804020204"/>
                <a:sym typeface="Menlo" panose="020B0609030804020204"/>
              </a:rPr>
              <a:t>if</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instr </a:t>
            </a:r>
            <a:r>
              <a:rPr lang="en-US" sz="1280" b="0" i="0" u="none" strike="noStrike">
                <a:solidFill>
                  <a:srgbClr val="82D2CE"/>
                </a:solidFill>
                <a:latin typeface="Menlo" panose="020B0609030804020204"/>
                <a:ea typeface="Menlo" panose="020B0609030804020204"/>
                <a:cs typeface="Menlo" panose="020B0609030804020204"/>
                <a:sym typeface="Menlo" panose="020B0609030804020204"/>
              </a:rPr>
              <a:t>not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80" b="0" i="0"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invariant:</a:t>
            </a:r>
            <a:endParaRPr lang="en-US" sz="12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2286000" lvl="5" indent="0" algn="l">
              <a:lnSpc>
                <a:spcPct val="100000"/>
              </a:lnSpc>
            </a:pP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invariant</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AAA0FA"/>
                </a:solidFill>
                <a:latin typeface="Menlo" panose="020B0609030804020204"/>
                <a:ea typeface="Menlo" panose="020B0609030804020204"/>
                <a:cs typeface="Menlo" panose="020B0609030804020204"/>
                <a:sym typeface="Menlo" panose="020B0609030804020204"/>
              </a:rPr>
              <a:t>add</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8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2286000" lvl="5" indent="0" algn="l">
              <a:lnSpc>
                <a:spcPct val="100000"/>
              </a:lnSpc>
            </a:pP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changed </a:t>
            </a:r>
            <a:r>
              <a:rPr lang="en-US" sz="128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True</a:t>
            </a:r>
            <a:endParaRPr lang="en-US" sz="12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80" b="0" i="1" u="none" strike="noStrike">
                <a:solidFill>
                  <a:srgbClr val="82D2CE"/>
                </a:solidFill>
                <a:latin typeface="Menlo" panose="020B0609030804020204"/>
                <a:ea typeface="Menlo" panose="020B0609030804020204"/>
                <a:cs typeface="Menlo" panose="020B0609030804020204"/>
                <a:sym typeface="Menlo" panose="020B0609030804020204"/>
              </a:rPr>
              <a:t>return</a:t>
            </a:r>
            <a:r>
              <a:rPr lang="en-US" sz="1280" b="0" i="0" u="none" strike="noStrike">
                <a:solidFill>
                  <a:srgbClr val="E4E4E4"/>
                </a:solidFill>
                <a:latin typeface="Menlo" panose="020B0609030804020204"/>
                <a:ea typeface="Menlo" panose="020B0609030804020204"/>
                <a:cs typeface="Menlo" panose="020B0609030804020204"/>
                <a:sym typeface="Menlo" panose="020B0609030804020204"/>
              </a:rPr>
              <a:t> invariant</a:t>
            </a:r>
            <a:endParaRPr lang="en-US" sz="128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de d</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tection des invariants de boucle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Initialiser la liste des variables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rieures à la boucle.</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quentiellement</a:t>
            </a:r>
            <a:endPar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Tour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 {x = a+b} -&gt; INVARIANT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Tour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2: {y = x*c} -&gt; INVARIANT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Tour </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3: </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aucun nouvel invariant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-&gt;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Point fixe atteint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Ensemble final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invariants</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{x = a+b, y = x*c}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33093" y="2849921"/>
            <a:ext cx="5266400" cy="298255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 b, c </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definis en dehors de la boucle</a:t>
            </a:r>
            <a:endParaRPr lang="en-US" sz="1100"/>
          </a:p>
          <a:p>
            <a:pPr indent="0" algn="l">
              <a:lnSpc>
                <a:spcPct val="100000"/>
              </a:lnSpc>
            </a:pP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65"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n</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65"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x </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a </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b</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26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Tour</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1</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 : invariant </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(a, b </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proviennent de l'exterieur de la boucle</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6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y </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x  c</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26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Tour</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2</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 : invariant </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(x </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est un invariant</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c </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provient de l'exterieur de la boucle</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6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z </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y </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26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Non invariant </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depend de la variable de boucle</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i)</a:t>
            </a:r>
            <a:endParaRPr lang="en-US" sz="126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w </a:t>
            </a:r>
            <a:r>
              <a:rPr lang="en-US" sz="12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5" b="0" i="0" u="none" strike="noStrike">
                <a:solidFill>
                  <a:srgbClr val="E4E4E4"/>
                </a:solidFill>
                <a:latin typeface="Menlo" panose="020B0609030804020204"/>
                <a:ea typeface="Menlo" panose="020B0609030804020204"/>
                <a:cs typeface="Menlo" panose="020B0609030804020204"/>
                <a:sym typeface="Menlo" panose="020B0609030804020204"/>
              </a:rPr>
              <a:t> z  </a:t>
            </a:r>
            <a:r>
              <a:rPr lang="en-US" sz="1265" b="0" i="0" u="none" strike="noStrike">
                <a:solidFill>
                  <a:srgbClr val="EBC88D"/>
                </a:solidFill>
                <a:latin typeface="Menlo" panose="020B0609030804020204"/>
                <a:ea typeface="Menlo" panose="020B0609030804020204"/>
                <a:cs typeface="Menlo" panose="020B0609030804020204"/>
                <a:sym typeface="Menlo" panose="020B0609030804020204"/>
              </a:rPr>
              <a:t>2</a:t>
            </a: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26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Non invariant </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2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depend d'une variable non invariante</a:t>
            </a:r>
            <a:r>
              <a:rPr lang="en-US" sz="1265" b="0" i="1" u="none" strike="noStrike">
                <a:solidFill>
                  <a:srgbClr val="E4E4E4"/>
                </a:solidFill>
                <a:latin typeface="Menlo" panose="020B0609030804020204"/>
                <a:ea typeface="Menlo" panose="020B0609030804020204"/>
                <a:cs typeface="Menlo" panose="020B0609030804020204"/>
                <a:sym typeface="Menlo" panose="020B0609030804020204"/>
              </a:rPr>
              <a:t> z)</a:t>
            </a:r>
            <a:endParaRPr lang="en-US" sz="126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6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65"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9" name="文本占位符 8"/>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Types de d</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pendances circulaires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198120" y="1323975"/>
            <a:ext cx="1171384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Dependance </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vraie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(True/Flow Dependence)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Anti-</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pendance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(Anti Dependence)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pendance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sortie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(Output Dependence)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958645" y="1961535"/>
            <a:ext cx="4395019" cy="8259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S1: x = ...</a:t>
            </a:r>
            <a:endParaRPr lang="en-US" sz="1100"/>
          </a:p>
          <a:p>
            <a:pPr indent="0" algn="l">
              <a:lnSpc>
                <a:spcPct val="100000"/>
              </a:lnSpc>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S2: ... = x // S2 </a:t>
            </a:r>
            <a:r>
              <a:rPr lang="en-US" sz="18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depend de</a:t>
            </a: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 S1 </a:t>
            </a:r>
            <a:endParaRPr lang="en-US" sz="18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958644" y="3578941"/>
            <a:ext cx="4395020" cy="8259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40" b="0" i="0" u="none" strike="noStrike">
                <a:solidFill>
                  <a:srgbClr val="E4E4E4"/>
                </a:solidFill>
                <a:latin typeface="Menlo" panose="020B0609030804020204"/>
                <a:ea typeface="Menlo" panose="020B0609030804020204"/>
                <a:cs typeface="Menlo" panose="020B0609030804020204"/>
                <a:sym typeface="Menlo" panose="020B0609030804020204"/>
              </a:rPr>
              <a:t>S1: ... = x</a:t>
            </a:r>
            <a:endParaRPr lang="en-US" sz="1100"/>
          </a:p>
          <a:p>
            <a:pPr indent="0" algn="l">
              <a:lnSpc>
                <a:spcPct val="100000"/>
              </a:lnSpc>
            </a:pPr>
            <a:r>
              <a:rPr lang="en-US" sz="1640" b="0" i="0" u="none" strike="noStrike">
                <a:solidFill>
                  <a:srgbClr val="E4E4E4"/>
                </a:solidFill>
                <a:latin typeface="Menlo" panose="020B0609030804020204"/>
                <a:ea typeface="Menlo" panose="020B0609030804020204"/>
                <a:cs typeface="Menlo" panose="020B0609030804020204"/>
                <a:sym typeface="Menlo" panose="020B0609030804020204"/>
              </a:rPr>
              <a:t>S2: x = ... // S2 </a:t>
            </a:r>
            <a:r>
              <a:rPr lang="en-US" sz="164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doit s'executer apres</a:t>
            </a:r>
            <a:r>
              <a:rPr lang="en-US" sz="1640" b="0" i="0" u="none" strike="noStrike">
                <a:solidFill>
                  <a:srgbClr val="E4E4E4"/>
                </a:solidFill>
                <a:latin typeface="Menlo" panose="020B0609030804020204"/>
                <a:ea typeface="Menlo" panose="020B0609030804020204"/>
                <a:cs typeface="Menlo" panose="020B0609030804020204"/>
                <a:sym typeface="Menlo" panose="020B0609030804020204"/>
              </a:rPr>
              <a:t> S1  </a:t>
            </a:r>
            <a:endParaRPr lang="en-US" sz="164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958644" y="5196347"/>
            <a:ext cx="4395020" cy="825911"/>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550" b="0" i="0" u="none" strike="noStrike">
                <a:solidFill>
                  <a:srgbClr val="E4E4E4"/>
                </a:solidFill>
                <a:latin typeface="Menlo" panose="020B0609030804020204"/>
                <a:ea typeface="Menlo" panose="020B0609030804020204"/>
                <a:cs typeface="Menlo" panose="020B0609030804020204"/>
                <a:sym typeface="Menlo" panose="020B0609030804020204"/>
              </a:rPr>
              <a:t>S1: x = ...</a:t>
            </a:r>
            <a:endParaRPr lang="en-US" sz="1100"/>
          </a:p>
          <a:p>
            <a:pPr indent="0" algn="l">
              <a:lnSpc>
                <a:spcPct val="100000"/>
              </a:lnSpc>
            </a:pPr>
            <a:r>
              <a:rPr lang="en-US" sz="1550" b="0" i="0" u="none" strike="noStrike">
                <a:solidFill>
                  <a:srgbClr val="E4E4E4"/>
                </a:solidFill>
                <a:latin typeface="Menlo" panose="020B0609030804020204"/>
                <a:ea typeface="Menlo" panose="020B0609030804020204"/>
                <a:cs typeface="Menlo" panose="020B0609030804020204"/>
                <a:sym typeface="Menlo" panose="020B0609030804020204"/>
              </a:rPr>
              <a:t>S2: x = ... // </a:t>
            </a:r>
            <a:r>
              <a:rPr lang="en-US" sz="15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l'ordre d'ecriture doit etre maintenu</a:t>
            </a:r>
            <a:r>
              <a:rPr lang="en-US" sz="155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55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6597445" y="1311942"/>
            <a:ext cx="5204030" cy="4852988"/>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altLang="zh-CN"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pendance </a:t>
            </a:r>
            <a:r>
              <a:rPr lang="en-US" altLang="zh-CN" sz="2155" b="0" i="0" u="none" strike="noStrike">
                <a:solidFill>
                  <a:srgbClr val="404040"/>
                </a:solidFill>
                <a:latin typeface="Calibri" panose="020F0502020204030204"/>
                <a:ea typeface="Calibri" panose="020F0502020204030204"/>
                <a:cs typeface="Calibri" panose="020F0502020204030204"/>
                <a:sym typeface="Calibri" panose="020F0502020204030204"/>
              </a:rPr>
              <a:t>d’entr</a:t>
            </a:r>
            <a:r>
              <a:rPr lang="en-US" altLang="en-US" sz="215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155" b="0" i="0" u="none" strike="noStrike">
                <a:solidFill>
                  <a:srgbClr val="404040"/>
                </a:solidFill>
                <a:latin typeface="Calibri" panose="020F0502020204030204"/>
                <a:ea typeface="Calibri" panose="020F0502020204030204"/>
                <a:cs typeface="Calibri" panose="020F0502020204030204"/>
                <a:sym typeface="Calibri" panose="020F0502020204030204"/>
              </a:rPr>
              <a:t>e </a:t>
            </a:r>
            <a:r>
              <a:rPr lang="en-US" sz="2155" b="0" i="0" u="none" strike="noStrike">
                <a:solidFill>
                  <a:srgbClr val="404040"/>
                </a:solidFill>
                <a:latin typeface="Calibri" panose="020F0502020204030204"/>
                <a:ea typeface="Calibri" panose="020F0502020204030204"/>
                <a:cs typeface="Calibri" panose="020F0502020204030204"/>
                <a:sym typeface="Calibri" panose="020F0502020204030204"/>
              </a:rPr>
              <a:t>(Input Dependence)</a:t>
            </a:r>
            <a:endParaRPr lang="en-US" sz="1100"/>
          </a:p>
          <a:p>
            <a:pPr indent="0" algn="l">
              <a:lnSpc>
                <a:spcPct val="100000"/>
              </a:lnSpc>
              <a:spcBef>
                <a:spcPts val="1500"/>
              </a:spcBef>
            </a:pPr>
            <a:endParaRPr lang="en-US" sz="1100"/>
          </a:p>
          <a:p>
            <a:pPr indent="0" algn="l">
              <a:lnSpc>
                <a:spcPct val="100000"/>
              </a:lnSpc>
              <a:spcBef>
                <a:spcPts val="1500"/>
              </a:spcBef>
            </a:pPr>
            <a:endParaRPr lang="en-US" sz="1100"/>
          </a:p>
          <a:p>
            <a:pPr marL="304800" indent="-304800" algn="l">
              <a:lnSpc>
                <a:spcPct val="100000"/>
              </a:lnSpc>
              <a:spcBef>
                <a:spcPts val="1500"/>
              </a:spcBef>
              <a:buClr>
                <a:srgbClr val="404040"/>
              </a:buClr>
              <a:buChar char="•"/>
            </a:pPr>
            <a:r>
              <a:rPr lang="en-US" altLang="zh-CN"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pendance port</a:t>
            </a:r>
            <a:r>
              <a:rPr lang="en-US" altLang="en-US"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t>
            </a:r>
            <a:r>
              <a:rPr lang="en-US" sz="21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la boucle</a:t>
            </a:r>
            <a:r>
              <a:rPr lang="en-US" sz="2155" b="0" i="0" u="none" strike="noStrike">
                <a:solidFill>
                  <a:srgbClr val="404040"/>
                </a:solidFill>
                <a:latin typeface="Calibri" panose="020F0502020204030204"/>
                <a:ea typeface="Calibri" panose="020F0502020204030204"/>
                <a:cs typeface="Calibri" panose="020F0502020204030204"/>
                <a:sym typeface="Calibri" panose="020F0502020204030204"/>
              </a:rPr>
              <a:t> (Loop-Carried Dependence)</a:t>
            </a:r>
            <a:endParaRPr lang="en-US" sz="21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a:t>impossible à d</a:t>
            </a:r>
            <a:r>
              <a:rPr lang="en-US" altLang="en-US"/>
              <a:t>é</a:t>
            </a:r>
            <a:r>
              <a:rPr lang="en-US" altLang="zh-CN"/>
              <a:t>placer hors de la boucle</a:t>
            </a:r>
            <a:endParaRPr lang="en-US" altLang="zh-CN"/>
          </a:p>
          <a:p>
            <a:pPr indent="0" algn="l">
              <a:lnSpc>
                <a:spcPct val="100000"/>
              </a:lnSpc>
              <a:spcBef>
                <a:spcPts val="1500"/>
              </a:spcBef>
            </a:pPr>
            <a:r>
              <a:rPr lang="en-US" sz="21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5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10" name="AutoShape 10"/>
          <p:cNvSpPr/>
          <p:nvPr/>
        </p:nvSpPr>
        <p:spPr>
          <a:xfrm>
            <a:off x="7008925" y="2105045"/>
            <a:ext cx="4773560" cy="8259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85" b="0" i="0" u="none" strike="noStrike">
                <a:solidFill>
                  <a:srgbClr val="E4E4E4"/>
                </a:solidFill>
                <a:latin typeface="Menlo" panose="020B0609030804020204"/>
                <a:ea typeface="Menlo" panose="020B0609030804020204"/>
                <a:cs typeface="Menlo" panose="020B0609030804020204"/>
                <a:sym typeface="Menlo" panose="020B0609030804020204"/>
              </a:rPr>
              <a:t>S1: ... = x</a:t>
            </a:r>
            <a:endParaRPr lang="en-US" sz="1100"/>
          </a:p>
          <a:p>
            <a:pPr indent="0" algn="l">
              <a:lnSpc>
                <a:spcPct val="100000"/>
              </a:lnSpc>
            </a:pPr>
            <a:r>
              <a:rPr lang="en-US" sz="1685" b="0" i="0" u="none" strike="noStrike">
                <a:solidFill>
                  <a:srgbClr val="E4E4E4"/>
                </a:solidFill>
                <a:latin typeface="Menlo" panose="020B0609030804020204"/>
                <a:ea typeface="Menlo" panose="020B0609030804020204"/>
                <a:cs typeface="Menlo" panose="020B0609030804020204"/>
                <a:sym typeface="Menlo" panose="020B0609030804020204"/>
              </a:rPr>
              <a:t>S2: ... = x // </a:t>
            </a:r>
            <a:r>
              <a:rPr lang="en-US" sz="168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execution parallele possible</a:t>
            </a:r>
            <a:r>
              <a:rPr lang="en-US" sz="1685"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685"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1" name="AutoShape 11"/>
          <p:cNvSpPr/>
          <p:nvPr/>
        </p:nvSpPr>
        <p:spPr>
          <a:xfrm>
            <a:off x="7008924" y="4205870"/>
            <a:ext cx="4773561" cy="181745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90" b="0" i="0" u="none" strike="noStrike">
                <a:solidFill>
                  <a:srgbClr val="E4E4E4"/>
                </a:solidFill>
                <a:latin typeface="Menlo" panose="020B0609030804020204"/>
                <a:ea typeface="Menlo" panose="020B0609030804020204"/>
                <a:cs typeface="Menlo" panose="020B0609030804020204"/>
                <a:sym typeface="Menlo" panose="020B0609030804020204"/>
              </a:rPr>
              <a:t>for (i = 1; i &lt; n; i++) {</a:t>
            </a:r>
            <a:endParaRPr lang="en-US" sz="1100"/>
          </a:p>
          <a:p>
            <a:pPr marL="457200" lvl="1" indent="0" algn="l">
              <a:lnSpc>
                <a:spcPct val="100000"/>
              </a:lnSpc>
            </a:pPr>
            <a:r>
              <a:rPr lang="en-US" sz="1690" b="0" i="0" u="none" strike="noStrike">
                <a:solidFill>
                  <a:srgbClr val="E4E4E4"/>
                </a:solidFill>
                <a:latin typeface="Menlo" panose="020B0609030804020204"/>
                <a:ea typeface="Menlo" panose="020B0609030804020204"/>
                <a:cs typeface="Menlo" panose="020B0609030804020204"/>
                <a:sym typeface="Menlo" panose="020B0609030804020204"/>
              </a:rPr>
              <a:t>a[i] = a[i-1] + 1; </a:t>
            </a:r>
            <a:endParaRPr lang="en-US" sz="169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69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69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dependance portee par la boucle</a:t>
            </a:r>
            <a:r>
              <a:rPr lang="en-US" sz="1690" b="0" i="0" u="none" strike="noStrike">
                <a:solidFill>
                  <a:srgbClr val="E4E4E4"/>
                </a:solidFill>
                <a:latin typeface="Menlo" panose="020B0609030804020204"/>
                <a:ea typeface="Menlo" panose="020B0609030804020204"/>
                <a:cs typeface="Menlo" panose="020B0609030804020204"/>
                <a:sym typeface="Menlo" panose="020B0609030804020204"/>
              </a:rPr>
              <a:t>: a[i] &lt;- a[i-1]</a:t>
            </a:r>
            <a:endParaRPr lang="en-US" sz="169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9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69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3" name="文本占位符 12"/>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Conditions de s</a:t>
            </a:r>
            <a:r>
              <a:rPr lang="en-US" alt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ret</a:t>
            </a:r>
            <a:r>
              <a:rPr lang="en-US" alt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du d</a:t>
            </a:r>
            <a:r>
              <a:rPr lang="en-US" altLang="en-US"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placement de code</a:t>
            </a:r>
            <a:endParaRPr lang="en-US" altLang="zh-CN" sz="288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623355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Domine toutes les sorties</a:t>
            </a:r>
            <a:endPar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bloc de base contenant l'instruction doit dominer toutes les sorties de la boucle</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Garantit que l'instruction sera certainement executee</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a:t>
            </a: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unique</a:t>
            </a:r>
            <a:endPar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variable n'a qu'une seule definition dans la boucle</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 les conflits avec d'autres d</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finitions</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Domine toutes les utilisations</a:t>
            </a:r>
            <a:endParaRPr lang="en-US" sz="19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d</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domine toutes les utilisations de cette variable dans la boucle</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 : seule cette </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finition </a:t>
            </a:r>
            <a:r>
              <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atteint le point d'utilisation</a:t>
            </a:r>
            <a:endParaRPr lang="en-US" sz="16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57425" y="1804014"/>
            <a:ext cx="4635500" cy="2070100"/>
          </a:xfrm>
          <a:prstGeom prst="rect">
            <a:avLst/>
          </a:prstGeom>
          <a:ln w="12700">
            <a:noFill/>
            <a:prstDash val="solid"/>
          </a:ln>
        </p:spPr>
      </p:pic>
      <p:sp>
        <p:nvSpPr>
          <p:cNvPr id="7" name="AutoShape 7"/>
          <p:cNvSpPr/>
          <p:nvPr/>
        </p:nvSpPr>
        <p:spPr>
          <a:xfrm>
            <a:off x="6757425" y="4312211"/>
            <a:ext cx="1107996"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375"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Deplacable</a:t>
            </a:r>
            <a:endParaRPr lang="en-US" sz="1100"/>
          </a:p>
        </p:txBody>
      </p:sp>
      <p:sp>
        <p:nvSpPr>
          <p:cNvPr id="8" name="AutoShape 8"/>
          <p:cNvSpPr/>
          <p:nvPr/>
        </p:nvSpPr>
        <p:spPr>
          <a:xfrm>
            <a:off x="9279450" y="4312211"/>
            <a:ext cx="1107996"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19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Non deplacable</a:t>
            </a:r>
            <a:endParaRPr lang="en-US" sz="1100"/>
          </a:p>
        </p:txBody>
      </p:sp>
      <p:sp>
        <p:nvSpPr>
          <p:cNvPr id="10" name="文本占位符 9"/>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Preheader</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58165" y="1132840"/>
            <a:ext cx="6287135"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Bloc de base spécial avant l'entrée de boucle.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 seul successeur (à savoir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header</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Emplacement pour placer le code invariant de boucle.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Pseudo-code LICM</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97803" y="1132554"/>
            <a:ext cx="1716548" cy="3143678"/>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9873487" y="1132554"/>
            <a:ext cx="2200423" cy="3910704"/>
          </a:xfrm>
          <a:prstGeom prst="rect">
            <a:avLst/>
          </a:prstGeom>
          <a:ln w="12700">
            <a:noFill/>
            <a:prstDash val="solid"/>
          </a:ln>
        </p:spPr>
      </p:pic>
      <p:sp>
        <p:nvSpPr>
          <p:cNvPr id="8" name="AutoShape 8"/>
          <p:cNvSpPr/>
          <p:nvPr/>
        </p:nvSpPr>
        <p:spPr>
          <a:xfrm>
            <a:off x="8758344" y="2704393"/>
            <a:ext cx="1115143" cy="154387"/>
          </a:xfrm>
          <a:prstGeom prst="right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9" name="AutoShape 9"/>
          <p:cNvSpPr/>
          <p:nvPr/>
        </p:nvSpPr>
        <p:spPr>
          <a:xfrm>
            <a:off x="8900548" y="2369358"/>
            <a:ext cx="736099"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LICM</a:t>
            </a:r>
            <a:endParaRPr lang="en-US" sz="1100"/>
          </a:p>
        </p:txBody>
      </p:sp>
      <p:sp>
        <p:nvSpPr>
          <p:cNvPr id="10" name="AutoShape 10"/>
          <p:cNvSpPr/>
          <p:nvPr/>
        </p:nvSpPr>
        <p:spPr>
          <a:xfrm>
            <a:off x="853164" y="4090670"/>
            <a:ext cx="5497164" cy="2400199"/>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candidates </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245"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instr </a:t>
            </a:r>
            <a:r>
              <a:rPr lang="en-US" sz="1245"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invariants:</a:t>
            </a:r>
            <a:endParaRPr lang="en-US" sz="12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45" b="0" i="1" u="none" strike="noStrike">
                <a:solidFill>
                  <a:srgbClr val="82D2CE"/>
                </a:solidFill>
                <a:latin typeface="Menlo" panose="020B0609030804020204"/>
                <a:ea typeface="Menlo" panose="020B0609030804020204"/>
                <a:cs typeface="Menlo" panose="020B0609030804020204"/>
                <a:sym typeface="Menlo" panose="020B0609030804020204"/>
              </a:rPr>
              <a:t>if</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45" b="0" i="0" u="none" strike="noStrike">
                <a:solidFill>
                  <a:srgbClr val="AAA0FA"/>
                </a:solidFill>
                <a:latin typeface="Menlo" panose="020B0609030804020204"/>
                <a:ea typeface="Menlo" panose="020B0609030804020204"/>
                <a:cs typeface="Menlo" panose="020B0609030804020204"/>
                <a:sym typeface="Menlo" panose="020B0609030804020204"/>
              </a:rPr>
              <a:t>dominates_all_exits</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block</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exits</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45" b="0" i="0" u="none" strike="noStrike">
                <a:solidFill>
                  <a:srgbClr val="82D2CE"/>
                </a:solidFill>
                <a:latin typeface="Menlo" panose="020B0609030804020204"/>
                <a:ea typeface="Menlo" panose="020B0609030804020204"/>
                <a:cs typeface="Menlo" panose="020B0609030804020204"/>
                <a:sym typeface="Menlo" panose="020B0609030804020204"/>
              </a:rPr>
              <a:t>and</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245"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45" b="0" i="0" u="none" strike="noStrike">
                <a:solidFill>
                  <a:srgbClr val="AAA0FA"/>
                </a:solidFill>
                <a:latin typeface="Menlo" panose="020B0609030804020204"/>
                <a:ea typeface="Menlo" panose="020B0609030804020204"/>
                <a:cs typeface="Menlo" panose="020B0609030804020204"/>
                <a:sym typeface="Menlo" panose="020B0609030804020204"/>
              </a:rPr>
              <a:t>is_only_definition</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45" b="0" i="0" u="none" strike="noStrike">
                <a:solidFill>
                  <a:srgbClr val="82D2CE"/>
                </a:solidFill>
                <a:latin typeface="Menlo" panose="020B0609030804020204"/>
                <a:ea typeface="Menlo" panose="020B0609030804020204"/>
                <a:cs typeface="Menlo" panose="020B0609030804020204"/>
                <a:sym typeface="Menlo" panose="020B0609030804020204"/>
              </a:rPr>
              <a:t>and</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245"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45" b="0" i="0" u="none" strike="noStrike">
                <a:solidFill>
                  <a:srgbClr val="AAA0FA"/>
                </a:solidFill>
                <a:latin typeface="Menlo" panose="020B0609030804020204"/>
                <a:ea typeface="Menlo" panose="020B0609030804020204"/>
                <a:cs typeface="Menlo" panose="020B0609030804020204"/>
                <a:sym typeface="Menlo" panose="020B0609030804020204"/>
              </a:rPr>
              <a:t>dominates_all_uses</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candidates</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AAA0FA"/>
                </a:solidFill>
                <a:latin typeface="Menlo" panose="020B0609030804020204"/>
                <a:ea typeface="Menlo" panose="020B0609030804020204"/>
                <a:cs typeface="Menlo" panose="020B0609030804020204"/>
                <a:sym typeface="Menlo" panose="020B0609030804020204"/>
              </a:rPr>
              <a:t>append</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45"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endParaRPr lang="en-US" sz="1245"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45" b="0" i="1" u="none" strike="noStrike">
                <a:solidFill>
                  <a:srgbClr val="E4E4E4"/>
                </a:solidFill>
                <a:latin typeface="Menlo" panose="020B0609030804020204"/>
                <a:ea typeface="Menlo" panose="020B0609030804020204"/>
                <a:cs typeface="Menlo" panose="020B0609030804020204"/>
                <a:sym typeface="Menlo" panose="020B0609030804020204"/>
              </a:rPr>
              <a:t># 5. </a:t>
            </a:r>
            <a:r>
              <a:rPr lang="en-US" sz="124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Déplacer vers preheader selon l'ordre des dépendances</a:t>
            </a:r>
            <a:r>
              <a:rPr lang="en-US" sz="1245" b="0" i="1" u="none" strike="noStrike">
                <a:solidFill>
                  <a:srgbClr val="E4E4E4"/>
                </a:solidFill>
                <a:latin typeface="Menlo" panose="020B0609030804020204"/>
                <a:ea typeface="Menlo" panose="020B0609030804020204"/>
                <a:cs typeface="Menlo" panose="020B0609030804020204"/>
                <a:sym typeface="Menlo" panose="020B0609030804020204"/>
              </a:rPr>
              <a:t> preheader</a:t>
            </a:r>
            <a:endParaRPr lang="en-US" sz="124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45"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instr </a:t>
            </a:r>
            <a:r>
              <a:rPr lang="en-US" sz="1245"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45" b="0" i="0" u="none" strike="noStrike">
                <a:solidFill>
                  <a:srgbClr val="AAA0FA"/>
                </a:solidFill>
                <a:latin typeface="Menlo" panose="020B0609030804020204"/>
                <a:ea typeface="Menlo" panose="020B0609030804020204"/>
                <a:cs typeface="Menlo" panose="020B0609030804020204"/>
                <a:sym typeface="Menlo" panose="020B0609030804020204"/>
              </a:rPr>
              <a:t>topological_sort</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candidates</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245" b="0" i="0" u="none" strike="noStrike">
                <a:solidFill>
                  <a:srgbClr val="AAA0FA"/>
                </a:solidFill>
                <a:latin typeface="Menlo" panose="020B0609030804020204"/>
                <a:ea typeface="Menlo" panose="020B0609030804020204"/>
                <a:cs typeface="Menlo" panose="020B0609030804020204"/>
                <a:sym typeface="Menlo" panose="020B0609030804020204"/>
              </a:rPr>
              <a:t>	move_to_preheader</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instr</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 loop</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45" b="0" i="0" u="none" strike="noStrike">
                <a:solidFill>
                  <a:srgbClr val="E4E4E4"/>
                </a:solidFill>
                <a:latin typeface="Menlo" panose="020B0609030804020204"/>
                <a:ea typeface="Menlo" panose="020B0609030804020204"/>
                <a:cs typeface="Menlo" panose="020B0609030804020204"/>
                <a:sym typeface="Menlo" panose="020B0609030804020204"/>
              </a:rPr>
              <a:t>preheader</a:t>
            </a:r>
            <a:r>
              <a:rPr lang="en-US" sz="124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45"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12" name="文本占位符 11"/>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LLVM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implémentation de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LICM</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lib/Transforms/Scalar/LICM.cpp</a:t>
            </a: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Extraction du code invariant de boucle</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Promotion des accès mémoire vers des registres</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Déplacement du code vers les sorties de boucle</a:t>
            </a:r>
            <a:endParaRPr lang="en-US" sz="17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LoopInfo</a:t>
            </a:r>
            <a:endPar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LoopInfo &amp;LI = getAnalysis&lt;LoopInfoWrapperPass&gt;().getLoopInfo();</a:t>
            </a:r>
            <a:endPar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DominatorTree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l'analyse des relations de domination</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DominatorTree &amp;DT = getAnalysis&lt;DominatorTreeWrapperPass&gt;().getDomTree();</a:t>
            </a:r>
            <a:endPar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AliasAnalysis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l'analyse des opérations mémoire</a:t>
            </a:r>
            <a:endPar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AliasAnalysis &amp;AA = getAnalysis&lt;AAResultsWrapperPass&gt;().getAAResults();</a:t>
            </a:r>
            <a:endPar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7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Traitement spécial des opérations mémoire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sz="22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opérations mémoire peuvent avoir des effets de bord</a:t>
            </a:r>
            <a:endParaRPr lang="en-US" sz="22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de must-alias : identifier les pointeurs qui pointent certainement vers la m</a:t>
            </a:r>
            <a:r>
              <a:rPr lang="en-US" alt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m</a:t>
            </a:r>
            <a:r>
              <a:rPr lang="en-US" alt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850" b="0" i="0" u="none" strike="noStrike">
                <a:solidFill>
                  <a:srgbClr val="404040"/>
                </a:solidFill>
                <a:latin typeface="Calibri" panose="020F0502020204030204"/>
                <a:ea typeface="Calibri" panose="020F0502020204030204"/>
                <a:cs typeface="Calibri" panose="020F0502020204030204"/>
                <a:sym typeface="Calibri" panose="020F0502020204030204"/>
              </a:rPr>
              <a:t>Scalar Promotion: </a:t>
            </a:r>
            <a:r>
              <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promouvoir les opérations mémoire dans la boucle en opérations scalaires</a:t>
            </a: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8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22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Référence</a:t>
            </a:r>
            <a:r>
              <a:rPr lang="en-US" sz="2220" b="0" i="0" u="none" strike="noStrike">
                <a:solidFill>
                  <a:srgbClr val="404040"/>
                </a:solidFill>
                <a:latin typeface="Calibri" panose="020F0502020204030204"/>
                <a:ea typeface="Calibri" panose="020F0502020204030204"/>
                <a:cs typeface="Calibri" panose="020F0502020204030204"/>
                <a:sym typeface="Calibri" panose="020F0502020204030204"/>
              </a:rPr>
              <a:t>https://llvm.gnu.ac.cn/docs/AliasAnalysis.html</a:t>
            </a:r>
            <a:endParaRPr lang="en-US" sz="22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85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5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2669458"/>
            <a:ext cx="7679925" cy="91440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85"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8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85"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38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85"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38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385"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n</a:t>
            </a:r>
            <a:r>
              <a:rPr lang="en-US" sz="138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38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8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8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385" b="0" i="0" u="none" strike="noStrike">
                <a:solidFill>
                  <a:srgbClr val="82D2CE"/>
                </a:solidFill>
                <a:latin typeface="Menlo" panose="020B0609030804020204"/>
                <a:ea typeface="Menlo" panose="020B0609030804020204"/>
                <a:cs typeface="Menlo" panose="020B0609030804020204"/>
                <a:sym typeface="Menlo" panose="020B0609030804020204"/>
              </a:rPr>
              <a:t>	*</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p </a:t>
            </a:r>
            <a:r>
              <a:rPr lang="en-US" sz="138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p </a:t>
            </a:r>
            <a:r>
              <a:rPr lang="en-US" sz="138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85" b="0" i="0" u="none" strike="noStrike">
                <a:solidFill>
                  <a:srgbClr val="D6D6DD"/>
                </a:solidFill>
                <a:latin typeface="Menlo" panose="020B0609030804020204"/>
                <a:ea typeface="Menlo" panose="020B0609030804020204"/>
                <a:cs typeface="Menlo" panose="020B0609030804020204"/>
                <a:sym typeface="Menlo" panose="020B0609030804020204"/>
              </a:rPr>
              <a:t>arr</a:t>
            </a:r>
            <a:r>
              <a:rPr lang="en-US" sz="1385" b="0" i="0" u="none" strike="noStrike">
                <a:solidFill>
                  <a:srgbClr val="E4E4E4"/>
                </a:solidFill>
                <a:latin typeface="Menlo" panose="020B0609030804020204"/>
                <a:ea typeface="Menlo" panose="020B0609030804020204"/>
                <a:cs typeface="Menlo" panose="020B0609030804020204"/>
                <a:sym typeface="Menlo" panose="020B0609030804020204"/>
              </a:rPr>
              <a:t>[i]</a:t>
            </a:r>
            <a:r>
              <a:rPr lang="en-US" sz="138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85"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38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lecture et écriture de *p à chaque itération</a:t>
            </a:r>
            <a:r>
              <a:rPr lang="en-US" sz="1385" b="0" i="1" u="none" strike="noStrike">
                <a:solidFill>
                  <a:srgbClr val="E4E4E4"/>
                </a:solidFill>
                <a:latin typeface="Menlo" panose="020B0609030804020204"/>
                <a:ea typeface="Menlo" panose="020B0609030804020204"/>
                <a:cs typeface="Menlo" panose="020B0609030804020204"/>
                <a:sym typeface="Menlo" panose="020B0609030804020204"/>
              </a:rPr>
              <a:t> *p</a:t>
            </a:r>
            <a:endParaRPr lang="en-US" sz="1385"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38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85"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741404" y="3996815"/>
            <a:ext cx="7665177" cy="148818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temp </a:t>
            </a: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p</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10"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4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lecture hors de la boucle</a:t>
            </a:r>
            <a:endParaRPr lang="en-US" sz="1100"/>
          </a:p>
          <a:p>
            <a:pPr indent="0" algn="l">
              <a:lnSpc>
                <a:spcPct val="100000"/>
              </a:lnSpc>
            </a:pP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1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i </a:t>
            </a: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n</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i</a:t>
            </a: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10"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temp </a:t>
            </a: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temp </a:t>
            </a: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arr</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[i]</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10"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4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opération scalaire</a:t>
            </a:r>
            <a:endParaRPr lang="en-US" sz="14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10"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p </a:t>
            </a:r>
            <a:r>
              <a:rPr lang="en-US" sz="141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410" b="0" i="0" u="none" strike="noStrike">
                <a:solidFill>
                  <a:srgbClr val="E4E4E4"/>
                </a:solidFill>
                <a:latin typeface="Menlo" panose="020B0609030804020204"/>
                <a:ea typeface="Menlo" panose="020B0609030804020204"/>
                <a:cs typeface="Menlo" panose="020B0609030804020204"/>
                <a:sym typeface="Menlo" panose="020B0609030804020204"/>
              </a:rPr>
              <a:t> temp</a:t>
            </a:r>
            <a:r>
              <a:rPr lang="en-US" sz="14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10"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4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écriture hors de la boucle</a:t>
            </a:r>
            <a:endParaRPr lang="en-US" sz="14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4247534" y="3601015"/>
            <a:ext cx="235975" cy="378643"/>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0" name="文本占位符 9"/>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Optimisations de boucles dans le compilateur Triton</a:t>
            </a:r>
            <a:endParaRPr lang="en-US" altLang="zh-CN" sz="29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Flux de compilation Triton</a:t>
            </a:r>
            <a:endPar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Triton Python → Triton IR (TTIR) → TritonGPU IR → LLVM IR → PTX/CUBIN</a:t>
            </a:r>
            <a:endPar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Techniques d'optimisation de boucle courantes</a:t>
            </a:r>
            <a:endPar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Loop Pipelining: </a:t>
            </a:r>
            <a:r>
              <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pipelining logiciel, masquage de la latence </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Loop Unrolling: </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roulement de boucle, r</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des surco</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contrôle.</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t>
            </a:r>
            <a:r>
              <a:rPr lang="en-US" alt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l'optimisation LICM est effectu</a:t>
            </a:r>
            <a:r>
              <a:rPr lang="en-US" alt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dans le TTIR et l'IR TritonGPU.</a:t>
            </a:r>
            <a:endPar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 framework MLIR</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75" b="0" i="0" u="none" strike="noStrike">
                <a:solidFill>
                  <a:srgbClr val="404040"/>
                </a:solidFill>
                <a:latin typeface="Calibri" panose="020F0502020204030204"/>
                <a:ea typeface="Calibri" panose="020F0502020204030204"/>
                <a:cs typeface="Calibri" panose="020F0502020204030204"/>
                <a:sym typeface="Calibri" panose="020F0502020204030204"/>
              </a:rPr>
              <a:t>Utilise les passes d'analyse int</a:t>
            </a:r>
            <a:r>
              <a:rPr lang="en-US" alt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75" b="0" i="0" u="none" strike="noStrike">
                <a:solidFill>
                  <a:srgbClr val="404040"/>
                </a:solidFill>
                <a:latin typeface="Calibri" panose="020F0502020204030204"/>
                <a:ea typeface="Calibri" panose="020F0502020204030204"/>
                <a:cs typeface="Calibri" panose="020F0502020204030204"/>
                <a:sym typeface="Calibri" panose="020F0502020204030204"/>
              </a:rPr>
              <a:t>gr</a:t>
            </a:r>
            <a:r>
              <a:rPr lang="en-US" alt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75" b="0" i="0" u="none" strike="noStrike">
                <a:solidFill>
                  <a:srgbClr val="404040"/>
                </a:solidFill>
                <a:latin typeface="Calibri" panose="020F0502020204030204"/>
                <a:ea typeface="Calibri" panose="020F0502020204030204"/>
                <a:cs typeface="Calibri" panose="020F0502020204030204"/>
                <a:sym typeface="Calibri" panose="020F0502020204030204"/>
              </a:rPr>
              <a:t>es de MLIR</a:t>
            </a:r>
            <a:endPar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Optimisation possible à diff</a:t>
            </a:r>
            <a:r>
              <a:rPr lang="en-US" alt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niveaux d'abstraction</a:t>
            </a: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8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25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5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Exemple de boucle en Triton</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323975"/>
            <a:ext cx="11277600" cy="4961890"/>
          </a:xfrm>
          <a:prstGeom prst="rect">
            <a:avLst/>
          </a:prstGeom>
        </p:spPr>
        <p:txBody>
          <a:bodyPr wrap="square" lIns="91440" tIns="45720" rIns="91440" bIns="45720" anchor="t">
            <a:normAutofit fontScale="25000" lnSpcReduction="20000"/>
          </a:bodyPr>
          <a:lstStyle>
            <a:lvl1pPr algn="l">
              <a:lnSpc>
                <a:spcPct val="92000"/>
              </a:lnSpc>
              <a:defRPr sz="2200" b="0" i="0" u="none" strike="noStrike" spc="0">
                <a:solidFill>
                  <a:srgbClr val="404040">
                    <a:alpha val="100000"/>
                  </a:srgbClr>
                </a:solidFill>
                <a:latin typeface="微软雅黑" panose="020B0503020204020204" charset="-122"/>
              </a:defRPr>
            </a:lvl1pPr>
          </a:lstStyle>
          <a:p>
            <a:pPr marL="279400" indent="-279400" algn="l">
              <a:lnSpc>
                <a:spcPct val="92000"/>
              </a:lnSpc>
              <a:spcBef>
                <a:spcPts val="1500"/>
              </a:spcBef>
              <a:buClr>
                <a:srgbClr val="404040"/>
              </a:buClr>
              <a:buChar char="•"/>
            </a:pPr>
            <a:r>
              <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Multiplication matricielle simple</a:t>
            </a: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92000"/>
              </a:lnSpc>
              <a:spcBef>
                <a:spcPts val="1500"/>
              </a:spcBef>
              <a:buClr>
                <a:srgbClr val="404040"/>
              </a:buClr>
              <a:buChar char="•"/>
            </a:pP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92000"/>
              </a:lnSpc>
              <a:spcBef>
                <a:spcPts val="1500"/>
              </a:spcBef>
              <a:buClr>
                <a:srgbClr val="404040"/>
              </a:buClr>
              <a:buChar char="•"/>
            </a:pP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92000"/>
              </a:lnSpc>
              <a:spcBef>
                <a:spcPts val="1500"/>
              </a:spcBef>
              <a:buClr>
                <a:srgbClr val="404040"/>
              </a:buClr>
              <a:buChar char="•"/>
            </a:pP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92000"/>
              </a:lnSpc>
              <a:spcBef>
                <a:spcPts val="1500"/>
              </a:spcBef>
              <a:buClr>
                <a:srgbClr val="404040"/>
              </a:buClr>
              <a:buChar char="•"/>
            </a:pP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92000"/>
              </a:lnSpc>
              <a:spcBef>
                <a:spcPts val="1500"/>
              </a:spcBef>
              <a:buClr>
                <a:srgbClr val="404040"/>
              </a:buClr>
              <a:buChar char="•"/>
            </a:pPr>
            <a:endParaRPr lang="en-US" sz="22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92000"/>
              </a:lnSpc>
              <a:spcBef>
                <a:spcPts val="1500"/>
              </a:spcBef>
              <a:buClr>
                <a:srgbClr val="404040"/>
              </a:buClr>
              <a:buChar char="•"/>
            </a:pPr>
            <a:r>
              <a:rPr lang="en-US" altLang="zh-CN"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Opportunit</a:t>
            </a:r>
            <a:r>
              <a:rPr lang="en-US" alt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d'optimisation</a:t>
            </a:r>
            <a:endParaRPr lang="en-US" sz="8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altLang="zh-CN"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calcul de l'adresse de base du pointeur peut </a:t>
            </a:r>
            <a:r>
              <a:rPr lang="en-US" altLang="en-US"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invariant de boucle</a:t>
            </a:r>
            <a:endParaRPr lang="en-US"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altLang="zh-CN"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calcul du stride (pas) est g</a:t>
            </a:r>
            <a:r>
              <a:rPr lang="en-US" altLang="en-US"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ralement invariant de boucle</a:t>
            </a:r>
            <a:endParaRPr lang="en-US"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6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r>
              <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911379" y="1755140"/>
            <a:ext cx="7502944" cy="353961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40" b="0" i="0" u="none" strike="noStrike">
                <a:solidFill>
                  <a:srgbClr val="A8CC7C"/>
                </a:solidFill>
                <a:latin typeface="Menlo" panose="020B0609030804020204"/>
                <a:ea typeface="Menlo" panose="020B0609030804020204"/>
                <a:cs typeface="Menlo" panose="020B0609030804020204"/>
                <a:sym typeface="Menlo" panose="020B0609030804020204"/>
              </a:rPr>
              <a:t>@triton</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A8CC7C"/>
                </a:solidFill>
                <a:latin typeface="Menlo" panose="020B0609030804020204"/>
                <a:ea typeface="Menlo" panose="020B0609030804020204"/>
                <a:cs typeface="Menlo" panose="020B0609030804020204"/>
                <a:sym typeface="Menlo" panose="020B0609030804020204"/>
              </a:rPr>
              <a:t>jit</a:t>
            </a:r>
            <a:endParaRPr lang="en-US" sz="1100"/>
          </a:p>
          <a:p>
            <a:pPr indent="0" algn="l">
              <a:lnSpc>
                <a:spcPct val="100000"/>
              </a:lnSpc>
            </a:pPr>
            <a:r>
              <a:rPr lang="en-US" sz="134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0" u="none" strike="noStrike">
                <a:solidFill>
                  <a:srgbClr val="EFB080"/>
                </a:solidFill>
                <a:latin typeface="Menlo" panose="020B0609030804020204"/>
                <a:ea typeface="Menlo" panose="020B0609030804020204"/>
                <a:cs typeface="Menlo" panose="020B0609030804020204"/>
                <a:sym typeface="Menlo" panose="020B0609030804020204"/>
              </a:rPr>
              <a:t>matmul_kernel</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340" b="0" i="1" u="none" strike="noStrike">
                <a:solidFill>
                  <a:srgbClr val="F8C762"/>
                </a:solidFill>
                <a:latin typeface="Menlo" panose="020B0609030804020204"/>
                <a:ea typeface="Menlo" panose="020B0609030804020204"/>
                <a:cs typeface="Menlo" panose="020B0609030804020204"/>
                <a:sym typeface="Menlo" panose="020B0609030804020204"/>
              </a:rPr>
              <a:t>A</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F8C762"/>
                </a:solidFill>
                <a:latin typeface="Menlo" panose="020B0609030804020204"/>
                <a:ea typeface="Menlo" panose="020B0609030804020204"/>
                <a:cs typeface="Menlo" panose="020B0609030804020204"/>
                <a:sym typeface="Menlo" panose="020B0609030804020204"/>
              </a:rPr>
              <a:t>B</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F8C762"/>
                </a:solidFill>
                <a:latin typeface="Menlo" panose="020B0609030804020204"/>
                <a:ea typeface="Menlo" panose="020B0609030804020204"/>
                <a:cs typeface="Menlo" panose="020B0609030804020204"/>
                <a:sym typeface="Menlo" panose="020B0609030804020204"/>
              </a:rPr>
              <a:t>C</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F8C762"/>
                </a:solidFill>
                <a:latin typeface="Menlo" panose="020B0609030804020204"/>
                <a:ea typeface="Menlo" panose="020B0609030804020204"/>
                <a:cs typeface="Menlo" panose="020B0609030804020204"/>
                <a:sym typeface="Menlo" panose="020B0609030804020204"/>
              </a:rPr>
              <a:t>M</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F8C762"/>
                </a:solidFill>
                <a:latin typeface="Menlo" panose="020B0609030804020204"/>
                <a:ea typeface="Menlo" panose="020B0609030804020204"/>
                <a:cs typeface="Menlo" panose="020B0609030804020204"/>
                <a:sym typeface="Menlo" panose="020B0609030804020204"/>
              </a:rPr>
              <a:t>N</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F8C762"/>
                </a:solidFill>
                <a:latin typeface="Menlo" panose="020B0609030804020204"/>
                <a:ea typeface="Menlo" panose="020B0609030804020204"/>
                <a:cs typeface="Menlo" panose="020B0609030804020204"/>
                <a:sym typeface="Menlo" panose="020B0609030804020204"/>
              </a:rPr>
              <a:t>K</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34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4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Initialiser l'accumulateur</a:t>
            </a:r>
            <a:endPar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acc </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AAA0FA"/>
                </a:solidFill>
                <a:latin typeface="Menlo" panose="020B0609030804020204"/>
                <a:ea typeface="Menlo" panose="020B0609030804020204"/>
                <a:cs typeface="Menlo" panose="020B0609030804020204"/>
                <a:sym typeface="Menlo" panose="020B0609030804020204"/>
              </a:rPr>
              <a:t>zeros</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BLOCK_M</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BLOCK_N</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D6D6DD"/>
                </a:solidFill>
                <a:latin typeface="Menlo" panose="020B0609030804020204"/>
                <a:ea typeface="Menlo" panose="020B0609030804020204"/>
                <a:cs typeface="Menlo" panose="020B0609030804020204"/>
                <a:sym typeface="Menlo" panose="020B0609030804020204"/>
              </a:rPr>
              <a:t>dtype</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tl</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float32</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4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4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Boucle principale</a:t>
            </a:r>
            <a:r>
              <a:rPr lang="en-US" sz="1340" b="0" i="1" u="none" strike="noStrike">
                <a:solidFill>
                  <a:srgbClr val="E4E4E4"/>
                </a:solidFill>
                <a:latin typeface="Menlo" panose="020B0609030804020204"/>
                <a:ea typeface="Menlo" panose="020B0609030804020204"/>
                <a:cs typeface="Menlo" panose="020B0609030804020204"/>
                <a:sym typeface="Menlo" panose="020B0609030804020204"/>
              </a:rPr>
              <a:t> - K </a:t>
            </a:r>
            <a:r>
              <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iteration de dimension</a:t>
            </a:r>
            <a:endPar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40"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k </a:t>
            </a:r>
            <a:r>
              <a:rPr lang="en-US" sz="1340"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0" u="none" strike="noStrike">
                <a:solidFill>
                  <a:srgbClr val="EFB080"/>
                </a:solidFill>
                <a:latin typeface="Menlo" panose="020B0609030804020204"/>
                <a:ea typeface="Menlo" panose="020B0609030804020204"/>
                <a:cs typeface="Menlo" panose="020B0609030804020204"/>
                <a:sym typeface="Menlo" panose="020B0609030804020204"/>
              </a:rPr>
              <a:t>range</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K</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BLOCK_K</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34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34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Charger</a:t>
            </a:r>
            <a:r>
              <a:rPr lang="en-US" sz="1340" b="0" i="1" u="none" strike="noStrike">
                <a:solidFill>
                  <a:srgbClr val="E4E4E4"/>
                </a:solidFill>
                <a:latin typeface="Menlo" panose="020B0609030804020204"/>
                <a:ea typeface="Menlo" panose="020B0609030804020204"/>
                <a:cs typeface="Menlo" panose="020B0609030804020204"/>
                <a:sym typeface="Menlo" panose="020B0609030804020204"/>
              </a:rPr>
              <a:t> A, B </a:t>
            </a:r>
            <a:r>
              <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blocs</a:t>
            </a:r>
            <a:endPar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a </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A_ptr </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k  stride_ak</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calcul invariant potentiel</a:t>
            </a:r>
            <a:endPar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b </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B_ptr </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k  stride_bk</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4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34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Accumulation de multiplication matricielle</a:t>
            </a:r>
            <a:endPar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acc </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AAA0FA"/>
                </a:solidFill>
                <a:latin typeface="Menlo" panose="020B0609030804020204"/>
                <a:ea typeface="Menlo" panose="020B0609030804020204"/>
                <a:cs typeface="Menlo" panose="020B0609030804020204"/>
                <a:sym typeface="Menlo" panose="020B0609030804020204"/>
              </a:rPr>
              <a:t>dot</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a</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b</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4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4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Stocker le resultat</a:t>
            </a:r>
            <a:endParaRPr lang="en-US" sz="134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tl</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AAA0FA"/>
                </a:solidFill>
                <a:latin typeface="Menlo" panose="020B0609030804020204"/>
                <a:ea typeface="Menlo" panose="020B0609030804020204"/>
                <a:cs typeface="Menlo" panose="020B0609030804020204"/>
                <a:sym typeface="Menlo" panose="020B0609030804020204"/>
              </a:rPr>
              <a:t>store</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C_ptr</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0" b="0" i="0" u="none" strike="noStrike">
                <a:solidFill>
                  <a:srgbClr val="E4E4E4"/>
                </a:solidFill>
                <a:latin typeface="Menlo" panose="020B0609030804020204"/>
                <a:ea typeface="Menlo" panose="020B0609030804020204"/>
                <a:cs typeface="Menlo" panose="020B0609030804020204"/>
                <a:sym typeface="Menlo" panose="020B0609030804020204"/>
              </a:rPr>
              <a:t> acc</a:t>
            </a:r>
            <a:r>
              <a:rPr lang="en-US" sz="134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4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LICM int</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gr</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 à MLIR</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f</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rez-vous à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mlir/lib/Transforms/LoopInvariantCodeMotion.cpp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1798100"/>
            <a:ext cx="10231396" cy="4453809"/>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void</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520" b="0" i="0" u="none" strike="noStrike">
                <a:solidFill>
                  <a:srgbClr val="EFB080"/>
                </a:solidFill>
                <a:latin typeface="Menlo" panose="020B0609030804020204"/>
                <a:ea typeface="Menlo" panose="020B0609030804020204"/>
                <a:cs typeface="Menlo" panose="020B0609030804020204"/>
                <a:sym typeface="Menlo" panose="020B0609030804020204"/>
              </a:rPr>
              <a:t>LoopInvariantCodeMotion</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520" b="0" i="0" u="none" strike="noStrike">
                <a:solidFill>
                  <a:srgbClr val="EFB080"/>
                </a:solidFill>
                <a:latin typeface="Menlo" panose="020B0609030804020204"/>
                <a:ea typeface="Menlo" panose="020B0609030804020204"/>
                <a:cs typeface="Menlo" panose="020B0609030804020204"/>
                <a:sym typeface="Menlo" panose="020B0609030804020204"/>
              </a:rPr>
              <a:t>runOnOperation</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100"/>
          </a:p>
          <a:p>
            <a:pPr marL="457200" lvl="1" indent="0" algn="l">
              <a:lnSpc>
                <a:spcPct val="100000"/>
              </a:lnSpc>
            </a:pP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LoopLikeOpInterface loopOp </a:t>
            </a: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52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0" u="none" strike="noStrike">
                <a:solidFill>
                  <a:srgbClr val="EFB080"/>
                </a:solidFill>
                <a:latin typeface="Menlo" panose="020B0609030804020204"/>
                <a:ea typeface="Menlo" panose="020B0609030804020204"/>
                <a:cs typeface="Menlo" panose="020B0609030804020204"/>
                <a:sym typeface="Menlo" panose="020B0609030804020204"/>
              </a:rPr>
              <a:t>	getOperation</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()-&gt;</a:t>
            </a:r>
            <a:r>
              <a:rPr lang="en-US" sz="1520" b="0" i="0" u="none" strike="noStrike">
                <a:solidFill>
                  <a:srgbClr val="AAA0FA"/>
                </a:solidFill>
                <a:latin typeface="Menlo" panose="020B0609030804020204"/>
                <a:ea typeface="Menlo" panose="020B0609030804020204"/>
                <a:cs typeface="Menlo" panose="020B0609030804020204"/>
                <a:sym typeface="Menlo" panose="020B0609030804020204"/>
              </a:rPr>
              <a:t>getParentOfType</a:t>
            </a: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LoopLikeOpInterface</a:t>
            </a: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&gt;</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52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endParaRPr lang="en-US" sz="152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52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Collecter les operations invariantes</a:t>
            </a:r>
            <a:endParaRPr lang="en-US" sz="152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SmallVector</a:t>
            </a: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&lt;</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Operation</a:t>
            </a: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&gt;</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invariantOps;</a:t>
            </a:r>
            <a:endParaRPr lang="en-US" sz="152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(Operation </a:t>
            </a: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&amp;</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op : </a:t>
            </a: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loopOp</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520" b="0" i="0" u="none" strike="noStrike">
                <a:solidFill>
                  <a:srgbClr val="EFB080"/>
                </a:solidFill>
                <a:latin typeface="Menlo" panose="020B0609030804020204"/>
                <a:ea typeface="Menlo" panose="020B0609030804020204"/>
                <a:cs typeface="Menlo" panose="020B0609030804020204"/>
                <a:sym typeface="Menlo" panose="020B0609030804020204"/>
              </a:rPr>
              <a:t>getLoopBody</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520" b="0" i="0" u="none" strike="noStrike">
                <a:solidFill>
                  <a:srgbClr val="EFB080"/>
                </a:solidFill>
                <a:latin typeface="Menlo" panose="020B0609030804020204"/>
                <a:ea typeface="Menlo" panose="020B0609030804020204"/>
                <a:cs typeface="Menlo" panose="020B0609030804020204"/>
                <a:sym typeface="Menlo" panose="020B0609030804020204"/>
              </a:rPr>
              <a:t>getOps</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52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	if</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520" b="0" i="0" u="none" strike="noStrike">
                <a:solidFill>
                  <a:srgbClr val="EFB080"/>
                </a:solidFill>
                <a:latin typeface="Menlo" panose="020B0609030804020204"/>
                <a:ea typeface="Menlo" panose="020B0609030804020204"/>
                <a:cs typeface="Menlo" panose="020B0609030804020204"/>
                <a:sym typeface="Menlo" panose="020B0609030804020204"/>
              </a:rPr>
              <a:t>isLoopInvariant</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&amp;</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op</a:t>
            </a: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loopOp))</a:t>
            </a:r>
            <a:endParaRPr lang="en-US" sz="152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		invariantOps</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520" b="0" i="0" u="none" strike="noStrike">
                <a:solidFill>
                  <a:srgbClr val="EFB080"/>
                </a:solidFill>
                <a:latin typeface="Menlo" panose="020B0609030804020204"/>
                <a:ea typeface="Menlo" panose="020B0609030804020204"/>
                <a:cs typeface="Menlo" panose="020B0609030804020204"/>
                <a:sym typeface="Menlo" panose="020B0609030804020204"/>
              </a:rPr>
              <a:t>push_back</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&amp;</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op);</a:t>
            </a:r>
            <a:endParaRPr lang="en-US" sz="152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52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endParaRPr lang="en-US" sz="152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52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Deplacer vers</a:t>
            </a:r>
            <a:r>
              <a:rPr lang="en-US" sz="1520" b="0" i="1" u="none" strike="noStrike">
                <a:solidFill>
                  <a:srgbClr val="E4E4E4"/>
                </a:solidFill>
                <a:latin typeface="Menlo" panose="020B0609030804020204"/>
                <a:ea typeface="Menlo" panose="020B0609030804020204"/>
                <a:cs typeface="Menlo" panose="020B0609030804020204"/>
                <a:sym typeface="Menlo" panose="020B0609030804020204"/>
              </a:rPr>
              <a:t> preheader</a:t>
            </a:r>
            <a:endParaRPr lang="en-US" sz="152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0"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 (Operation op : invariantOps) </a:t>
            </a: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52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	op</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-&gt;</a:t>
            </a:r>
            <a:r>
              <a:rPr lang="en-US" sz="1520" b="0" i="0" u="none" strike="noStrike">
                <a:solidFill>
                  <a:srgbClr val="EFB080"/>
                </a:solidFill>
                <a:latin typeface="Menlo" panose="020B0609030804020204"/>
                <a:ea typeface="Menlo" panose="020B0609030804020204"/>
                <a:cs typeface="Menlo" panose="020B0609030804020204"/>
                <a:sym typeface="Menlo" panose="020B0609030804020204"/>
              </a:rPr>
              <a:t>moveBefore</a:t>
            </a: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(loopOp);</a:t>
            </a:r>
            <a:endParaRPr lang="en-US" sz="152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52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520" b="0" i="0" u="none" strike="noStrike">
              <a:solidFill>
                <a:srgbClr val="D6D6DD"/>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52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52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Limites et extensions de LICM</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Limites</a:t>
            </a:r>
            <a:endParaRPr lang="en-US" sz="21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Gestion des exceptions</a:t>
            </a: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Déplacer du code pouvant lancer des exceptions</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spéculative</a:t>
            </a: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la boucle pourrait ne pas s'exécuter, déplacer le code pourrait introduire des surcoûts supplémentaires</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Effets de bord sur la mémoire</a:t>
            </a: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relations d'alias mémoire complexes sont difficiles à analyser</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Techniques d'extension</a:t>
            </a:r>
            <a:r>
              <a:rPr lang="en-US" sz="21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Loop Unswitching :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Déplacer les conditions à l'intérieur de la boucle vers l'extérieur</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Loop Versioning :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Créer plusieurs versions de la boucle pour activer plus d'optimisations</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Speculative LICM : </a:t>
            </a: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Effectuer un déplacement spéculatif lorsque la sécurité est prouvable</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3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24</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Disposition et planification mémoire</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p:transition spd="slow">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Hi</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rarchie m</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GPU</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bande passante augmente de </a:t>
            </a:r>
            <a:r>
              <a:rPr lang="en-US" sz="2125">
                <a:solidFill>
                  <a:srgbClr val="404040"/>
                </a:solidFill>
                <a:latin typeface="Calibri" panose="020F0502020204030204"/>
                <a:ea typeface="Calibri" panose="020F0502020204030204"/>
                <a:cs typeface="Calibri" panose="020F0502020204030204"/>
                <a:sym typeface="Calibri" panose="020F0502020204030204"/>
              </a:rPr>
              <a:t>10-100x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gauche à droite</a:t>
            </a: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capacité diminue de </a:t>
            </a:r>
            <a:r>
              <a:rPr lang="en-US" sz="2125">
                <a:solidFill>
                  <a:srgbClr val="404040"/>
                </a:solidFill>
                <a:latin typeface="Calibri" panose="020F0502020204030204"/>
                <a:ea typeface="Calibri" panose="020F0502020204030204"/>
                <a:cs typeface="Calibri" panose="020F0502020204030204"/>
                <a:sym typeface="Calibri" panose="020F0502020204030204"/>
              </a:rPr>
              <a:t>100-1000x </a:t>
            </a: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droite à gauche</a:t>
            </a: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L'objectif central de l'optimisation de la disposition est de maximiser l'utilisation de la mémoire rapide</a:t>
            </a:r>
            <a:endParaRPr lang="en-US" sz="21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Concevoir rationnellement l'utilisation de la m</a:t>
            </a:r>
            <a:r>
              <a:rPr lang="en-US" alt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 le programme, r</a:t>
            </a:r>
            <a:r>
              <a:rPr lang="en-US" alt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les transferts de grandes quantit</a:t>
            </a:r>
            <a:r>
              <a:rPr lang="en-US" alt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de donn</a:t>
            </a:r>
            <a:r>
              <a:rPr lang="en-US" alt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endPar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FlashAttention</a:t>
            </a:r>
            <a:r>
              <a:rPr 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idée centrale de la conception</a:t>
            </a:r>
            <a:endParaRPr 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3" y="2497302"/>
            <a:ext cx="7772400" cy="1562436"/>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canisme des transactions de m</a:t>
            </a:r>
            <a:r>
              <a:rPr lang="en-US" alt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GPU</a:t>
            </a:r>
            <a:endPar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GPU acc</a:t>
            </a:r>
            <a:r>
              <a:rPr lang="en-US" altLang="en-US"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à la m</a:t>
            </a:r>
            <a:r>
              <a:rPr lang="en-US" altLang="en-US"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globale non pas octet par octet, mais via des "transactions" de taille fixe</a:t>
            </a:r>
            <a:r>
              <a:rPr lang="en-US"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transaction m</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transf</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32 octets ou 128 octets.</a:t>
            </a: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transactions doivent </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align</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sur une fronti</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de leur taille.</a:t>
            </a: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warp (32 threads) voit ses requ</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 m</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fusionn</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en un minimum de transactions.</a:t>
            </a: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nombre maximum de transactions concurrentes est limit</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 la profondeur de la file d'attente du contrôleur m</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 de transactions </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latence = temps d'attente total.</a:t>
            </a: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Acces </a:t>
            </a:r>
            <a:r>
              <a:rPr lang="en-US" altLang="zh-CN"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coalesc</a:t>
            </a:r>
            <a:r>
              <a:rPr lang="en-US" altLang="en-US"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altLang="en-US" sz="18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 les 32 threads d'un warp acc</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dent à des adresses respectant les conditions suivantes, elles peuvent </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fusionn</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en un minimum de transactions</a:t>
            </a:r>
            <a:r>
              <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adresses se trouvent dans une ou plusieurs lignes de cache adjacentes.</a:t>
            </a: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thread acc</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à des </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ments cons</a:t>
            </a:r>
            <a:r>
              <a:rPr lang="en-US" alt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cutifs.</a:t>
            </a: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5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54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4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GPU </a:t>
            </a: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Transactions memoire</a:t>
            </a:r>
            <a:r>
              <a:rPr lang="en-US" sz="2700" b="0" i="0" u="none" strike="noStrike">
                <a:solidFill>
                  <a:srgbClr val="262626"/>
                </a:solidFill>
                <a:latin typeface="Calibri" panose="020F0502020204030204"/>
                <a:ea typeface="Calibri" panose="020F0502020204030204"/>
                <a:cs typeface="Calibri" panose="020F0502020204030204"/>
                <a:sym typeface="Calibri" panose="020F0502020204030204"/>
              </a:rPr>
              <a:t> (Memory Transaction) </a:t>
            </a:r>
            <a:r>
              <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mecanisme</a:t>
            </a:r>
            <a:endPar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Acces contigu : </a:t>
            </a:r>
            <a:r>
              <a:rPr lang="en-US" sz="2280" b="0" i="0" u="none" strike="noStrike">
                <a:solidFill>
                  <a:srgbClr val="404040"/>
                </a:solidFill>
                <a:latin typeface="Calibri" panose="020F0502020204030204"/>
                <a:ea typeface="Calibri" panose="020F0502020204030204"/>
                <a:cs typeface="Calibri" panose="020F0502020204030204"/>
                <a:sym typeface="Calibri" panose="020F0502020204030204"/>
              </a:rPr>
              <a:t>1</a:t>
            </a:r>
            <a:r>
              <a:rPr 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transaction suffit</a:t>
            </a:r>
            <a:endParaRPr 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Acces avec pas :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2</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transactions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6210297" y="1814051"/>
            <a:ext cx="5761703" cy="634181"/>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7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 idx </a:t>
            </a:r>
            <a:r>
              <a:rPr lang="en-US" sz="137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 threadIdx.x  </a:t>
            </a:r>
            <a:r>
              <a:rPr lang="en-US" sz="1370" b="0" i="0" u="none" strike="noStrike">
                <a:solidFill>
                  <a:srgbClr val="EBC88D"/>
                </a:solidFill>
                <a:latin typeface="Menlo" panose="020B0609030804020204"/>
                <a:ea typeface="Menlo" panose="020B0609030804020204"/>
                <a:cs typeface="Menlo" panose="020B0609030804020204"/>
                <a:sym typeface="Menlo" panose="020B0609030804020204"/>
              </a:rPr>
              <a:t>2</a:t>
            </a:r>
            <a:r>
              <a:rPr lang="en-US" sz="13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70" b="0" i="1" u="none" strike="noStrike">
                <a:solidFill>
                  <a:srgbClr val="E4E4E4"/>
                </a:solidFill>
                <a:latin typeface="Menlo" panose="020B0609030804020204"/>
                <a:ea typeface="Menlo" panose="020B0609030804020204"/>
                <a:cs typeface="Menlo" panose="020B0609030804020204"/>
                <a:sym typeface="Menlo" panose="020B0609030804020204"/>
              </a:rPr>
              <a:t> // T0-&gt;0, T1-&gt;2, T2-&gt;4, ...</a:t>
            </a:r>
            <a:endParaRPr lang="en-US" sz="1100"/>
          </a:p>
          <a:p>
            <a:pPr indent="0" algn="l">
              <a:lnSpc>
                <a:spcPct val="100000"/>
              </a:lnSpc>
            </a:pPr>
            <a:r>
              <a:rPr lang="en-US" sz="137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37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70" b="0" i="0" u="none" strike="noStrike">
                <a:solidFill>
                  <a:srgbClr val="D6D6DD"/>
                </a:solidFill>
                <a:latin typeface="Menlo" panose="020B0609030804020204"/>
                <a:ea typeface="Menlo" panose="020B0609030804020204"/>
                <a:cs typeface="Menlo" panose="020B0609030804020204"/>
                <a:sym typeface="Menlo" panose="020B0609030804020204"/>
              </a:rPr>
              <a:t>data</a:t>
            </a: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[idx]</a:t>
            </a:r>
            <a:r>
              <a:rPr lang="en-US" sz="137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7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725736" y="1814051"/>
            <a:ext cx="5187449" cy="634181"/>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65"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idx </a:t>
            </a:r>
            <a:r>
              <a:rPr lang="en-US" sz="13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threadIdx.x</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 T0-&gt;0, T1-&gt;1, T2-&gt;2, ...</a:t>
            </a:r>
            <a:endParaRPr lang="en-US" sz="1100"/>
          </a:p>
          <a:p>
            <a:pPr indent="0" algn="l">
              <a:lnSpc>
                <a:spcPct val="100000"/>
              </a:lnSpc>
            </a:pPr>
            <a:r>
              <a:rPr lang="en-US" sz="1365"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36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data</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[idx]</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adresses contigues</a:t>
            </a:r>
            <a:endPar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9" name="Picture 9"/>
          <p:cNvPicPr>
            <a:picLocks noChangeAspect="1"/>
          </p:cNvPicPr>
          <p:nvPr/>
        </p:nvPicPr>
        <p:blipFill>
          <a:blip r:embed="rId1"/>
          <a:srcRect/>
          <a:stretch>
            <a:fillRect/>
          </a:stretch>
        </p:blipFill>
        <p:spPr>
          <a:xfrm>
            <a:off x="1092789" y="2624444"/>
            <a:ext cx="4453341" cy="2833944"/>
          </a:xfrm>
          <a:prstGeom prst="rect">
            <a:avLst/>
          </a:prstGeom>
          <a:ln w="12700">
            <a:noFill/>
            <a:prstDash val="solid"/>
          </a:ln>
        </p:spPr>
      </p:pic>
      <p:pic>
        <p:nvPicPr>
          <p:cNvPr id="10" name="Picture 10"/>
          <p:cNvPicPr>
            <a:picLocks noChangeAspect="1"/>
          </p:cNvPicPr>
          <p:nvPr/>
        </p:nvPicPr>
        <p:blipFill>
          <a:blip r:embed="rId2"/>
          <a:srcRect/>
          <a:stretch>
            <a:fillRect/>
          </a:stretch>
        </p:blipFill>
        <p:spPr>
          <a:xfrm>
            <a:off x="6199012" y="2532255"/>
            <a:ext cx="5613746" cy="3018321"/>
          </a:xfrm>
          <a:prstGeom prst="rect">
            <a:avLst/>
          </a:prstGeom>
          <a:ln w="12700">
            <a:noFill/>
            <a:prstDash val="solid"/>
          </a:ln>
        </p:spPr>
      </p:pic>
      <p:sp>
        <p:nvSpPr>
          <p:cNvPr id="12" name="文本占位符 11"/>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canisme des transactions m</a:t>
            </a:r>
            <a:r>
              <a:rPr lang="en-US" alt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GPU</a:t>
            </a:r>
            <a:endParaRPr lang="en-US" sz="27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Acces aleatoire : pire cas </a:t>
            </a:r>
            <a:r>
              <a:rPr lang="en-US" sz="2250" b="0" i="0" u="none" strike="noStrike">
                <a:solidFill>
                  <a:srgbClr val="404040"/>
                </a:solidFill>
                <a:latin typeface="Calibri" panose="020F0502020204030204"/>
                <a:ea typeface="Calibri" panose="020F0502020204030204"/>
                <a:cs typeface="Calibri" panose="020F0502020204030204"/>
                <a:sym typeface="Calibri" panose="020F0502020204030204"/>
              </a:rPr>
              <a:t>32</a:t>
            </a:r>
            <a:r>
              <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transactions</a:t>
            </a:r>
            <a:endPar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Comparaison d'efficacite</a:t>
            </a:r>
            <a:endParaRPr lang="en-US" sz="22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25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5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7" name="AutoShape 7"/>
          <p:cNvSpPr/>
          <p:nvPr/>
        </p:nvSpPr>
        <p:spPr>
          <a:xfrm>
            <a:off x="629587" y="1768840"/>
            <a:ext cx="5105570" cy="704537"/>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45"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idx </a:t>
            </a:r>
            <a:r>
              <a:rPr lang="en-US" sz="134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5" b="0" i="0" u="none" strike="noStrike">
                <a:solidFill>
                  <a:srgbClr val="D6D6DD"/>
                </a:solidFill>
                <a:latin typeface="Menlo" panose="020B0609030804020204"/>
                <a:ea typeface="Menlo" panose="020B0609030804020204"/>
                <a:cs typeface="Menlo" panose="020B0609030804020204"/>
                <a:sym typeface="Menlo" panose="020B0609030804020204"/>
              </a:rPr>
              <a:t>index_table</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345" b="0" i="0" u="none" strike="noStrike">
                <a:solidFill>
                  <a:srgbClr val="D6D6DD"/>
                </a:solidFill>
                <a:latin typeface="Menlo" panose="020B0609030804020204"/>
                <a:ea typeface="Menlo" panose="020B0609030804020204"/>
                <a:cs typeface="Menlo" panose="020B0609030804020204"/>
                <a:sym typeface="Menlo" panose="020B0609030804020204"/>
              </a:rPr>
              <a:t>threadIdx</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345" b="0" i="0" u="none" strike="noStrike">
                <a:solidFill>
                  <a:srgbClr val="D6D6DD"/>
                </a:solidFill>
                <a:latin typeface="Menlo" panose="020B0609030804020204"/>
                <a:ea typeface="Menlo" panose="020B0609030804020204"/>
                <a:cs typeface="Menlo" panose="020B0609030804020204"/>
                <a:sym typeface="Menlo" panose="020B0609030804020204"/>
              </a:rPr>
              <a:t>x</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34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45"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34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adresse aleatoire</a:t>
            </a:r>
            <a:endParaRPr lang="en-US" sz="1100"/>
          </a:p>
          <a:p>
            <a:pPr indent="0" algn="l">
              <a:lnSpc>
                <a:spcPct val="100000"/>
              </a:lnSpc>
            </a:pPr>
            <a:r>
              <a:rPr lang="en-US" sz="1345"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345"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45" b="0" i="0" u="none" strike="noStrike">
                <a:solidFill>
                  <a:srgbClr val="D6D6DD"/>
                </a:solidFill>
                <a:latin typeface="Menlo" panose="020B0609030804020204"/>
                <a:ea typeface="Menlo" panose="020B0609030804020204"/>
                <a:cs typeface="Menlo" panose="020B0609030804020204"/>
                <a:sym typeface="Menlo" panose="020B0609030804020204"/>
              </a:rPr>
              <a:t>data</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[idx]</a:t>
            </a:r>
            <a:r>
              <a:rPr lang="en-US" sz="134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45"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graphicFrame>
        <p:nvGraphicFramePr>
          <p:cNvPr id="8" name="Table 8"/>
          <p:cNvGraphicFramePr>
            <a:graphicFrameLocks noGrp="1"/>
          </p:cNvGraphicFramePr>
          <p:nvPr/>
        </p:nvGraphicFramePr>
        <p:xfrm>
          <a:off x="929942" y="3197446"/>
          <a:ext cx="3949704" cy="2225040"/>
        </p:xfrm>
        <a:graphic>
          <a:graphicData uri="http://schemas.openxmlformats.org/drawingml/2006/table">
            <a:tbl>
              <a:tblPr>
                <a:effectLst/>
              </a:tblPr>
              <a:tblGrid>
                <a:gridCol w="1316568"/>
                <a:gridCol w="1316568"/>
                <a:gridCol w="1316568"/>
              </a:tblGrid>
              <a:tr h="370840">
                <a:tc>
                  <a:txBody>
                    <a:bodyPr/>
                    <a:lstStyle/>
                    <a:p>
                      <a:pPr indent="0" algn="l">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Stride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18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Nombre de transactions</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a:lstStyle/>
                    <a:p>
                      <a:pPr indent="0" algn="l">
                        <a:lnSpc>
                          <a:spcPct val="100000"/>
                        </a:lnSpc>
                        <a:defRPr/>
                      </a:pPr>
                      <a:r>
                        <a:rPr lang="en-US" sz="18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Taux d'utilisation de la bande passante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370840">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100%</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50%</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840">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4</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4</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25%</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370840">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32</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32</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3.125%</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370840">
                <a:tc>
                  <a:txBody>
                    <a:bodyPr/>
                    <a:lstStyle/>
                    <a:p>
                      <a:pPr indent="0" algn="l">
                        <a:lnSpc>
                          <a:spcPct val="100000"/>
                        </a:lnSpc>
                        <a:defRPr/>
                      </a:pPr>
                      <a:r>
                        <a:rPr lang="en-US" sz="18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Aleatoire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jusqu'a 32</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a:lstStyle/>
                    <a:p>
                      <a:pPr indent="0" algn="l">
                        <a:lnSpc>
                          <a:spcPct val="100000"/>
                        </a:lnSpc>
                        <a:defRPr/>
                      </a:pPr>
                      <a:r>
                        <a:rPr lang="en-US" sz="18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~3.125%</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bl>
          </a:graphicData>
        </a:graphic>
      </p:graphicFrame>
      <p:sp>
        <p:nvSpPr>
          <p:cNvPr id="10" name="文本占位符 9"/>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Disposition m</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des matrices :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row-major vs column-major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warp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lit une ligne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warp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lit une colonne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523874" y="1757083"/>
            <a:ext cx="4980456" cy="555812"/>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col </a:t>
            </a: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threadIdx.x</a:t>
            </a:r>
            <a:r>
              <a:rPr lang="en-US" sz="11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170" b="0" i="1" u="none" strike="noStrike">
                <a:solidFill>
                  <a:srgbClr val="E4E4E4"/>
                </a:solidFill>
                <a:latin typeface="Menlo" panose="020B0609030804020204"/>
                <a:ea typeface="Menlo" panose="020B0609030804020204"/>
                <a:cs typeface="Menlo" panose="020B0609030804020204"/>
                <a:sym typeface="Menlo" panose="020B0609030804020204"/>
              </a:rPr>
              <a:t> // 0,1,2,...,31</a:t>
            </a:r>
            <a:endParaRPr lang="en-US" sz="1100"/>
          </a:p>
          <a:p>
            <a:pPr indent="0" algn="l">
              <a:lnSpc>
                <a:spcPct val="100000"/>
              </a:lnSpc>
            </a:pP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170" b="0" i="0" u="none" strike="noStrike">
                <a:solidFill>
                  <a:srgbClr val="D6D6DD"/>
                </a:solidFill>
                <a:latin typeface="Menlo" panose="020B0609030804020204"/>
                <a:ea typeface="Menlo" panose="020B0609030804020204"/>
                <a:cs typeface="Menlo" panose="020B0609030804020204"/>
                <a:sym typeface="Menlo" panose="020B0609030804020204"/>
              </a:rPr>
              <a:t>M</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[row  </a:t>
            </a:r>
            <a:r>
              <a:rPr lang="en-US" sz="1170" b="0" i="0" u="none" strike="noStrike">
                <a:solidFill>
                  <a:srgbClr val="EBC88D"/>
                </a:solidFill>
                <a:latin typeface="Menlo" panose="020B0609030804020204"/>
                <a:ea typeface="Menlo" panose="020B0609030804020204"/>
                <a:cs typeface="Menlo" panose="020B0609030804020204"/>
                <a:sym typeface="Menlo" panose="020B0609030804020204"/>
              </a:rPr>
              <a:t>32</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col]</a:t>
            </a:r>
            <a:r>
              <a:rPr lang="en-US" sz="117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7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6210297" y="1757082"/>
            <a:ext cx="4690785" cy="555813"/>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row </a:t>
            </a: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threadIdx.x</a:t>
            </a:r>
            <a:r>
              <a:rPr lang="en-US" sz="11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170" b="0" i="1" u="none" strike="noStrike">
                <a:solidFill>
                  <a:srgbClr val="E4E4E4"/>
                </a:solidFill>
                <a:latin typeface="Menlo" panose="020B0609030804020204"/>
                <a:ea typeface="Menlo" panose="020B0609030804020204"/>
                <a:cs typeface="Menlo" panose="020B0609030804020204"/>
                <a:sym typeface="Menlo" panose="020B0609030804020204"/>
              </a:rPr>
              <a:t> // 0,1,2,...,31</a:t>
            </a:r>
            <a:endParaRPr lang="en-US" sz="1100"/>
          </a:p>
          <a:p>
            <a:pPr indent="0" algn="l">
              <a:lnSpc>
                <a:spcPct val="100000"/>
              </a:lnSpc>
            </a:pP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170" b="0" i="0" u="none" strike="noStrike">
                <a:solidFill>
                  <a:srgbClr val="D6D6DD"/>
                </a:solidFill>
                <a:latin typeface="Menlo" panose="020B0609030804020204"/>
                <a:ea typeface="Menlo" panose="020B0609030804020204"/>
                <a:cs typeface="Menlo" panose="020B0609030804020204"/>
                <a:sym typeface="Menlo" panose="020B0609030804020204"/>
              </a:rPr>
              <a:t>M</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[row  </a:t>
            </a:r>
            <a:r>
              <a:rPr lang="en-US" sz="1170" b="0" i="0" u="none" strike="noStrike">
                <a:solidFill>
                  <a:srgbClr val="EBC88D"/>
                </a:solidFill>
                <a:latin typeface="Menlo" panose="020B0609030804020204"/>
                <a:ea typeface="Menlo" panose="020B0609030804020204"/>
                <a:cs typeface="Menlo" panose="020B0609030804020204"/>
                <a:sym typeface="Menlo" panose="020B0609030804020204"/>
              </a:rPr>
              <a:t>32</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17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170" b="0" i="0" u="none" strike="noStrike">
                <a:solidFill>
                  <a:srgbClr val="E4E4E4"/>
                </a:solidFill>
                <a:latin typeface="Menlo" panose="020B0609030804020204"/>
                <a:ea typeface="Menlo" panose="020B0609030804020204"/>
                <a:cs typeface="Menlo" panose="020B0609030804020204"/>
                <a:sym typeface="Menlo" panose="020B0609030804020204"/>
              </a:rPr>
              <a:t> col]</a:t>
            </a:r>
            <a:r>
              <a:rPr lang="en-US" sz="117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7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pic>
        <p:nvPicPr>
          <p:cNvPr id="9" name="Picture 9"/>
          <p:cNvPicPr>
            <a:picLocks noChangeAspect="1"/>
          </p:cNvPicPr>
          <p:nvPr/>
        </p:nvPicPr>
        <p:blipFill>
          <a:blip r:embed="rId1"/>
          <a:srcRect/>
          <a:stretch>
            <a:fillRect/>
          </a:stretch>
        </p:blipFill>
        <p:spPr>
          <a:xfrm>
            <a:off x="523872" y="2320535"/>
            <a:ext cx="4702614" cy="4105836"/>
          </a:xfrm>
          <a:prstGeom prst="rect">
            <a:avLst/>
          </a:prstGeom>
          <a:ln w="12700">
            <a:noFill/>
            <a:prstDash val="solid"/>
          </a:ln>
        </p:spPr>
      </p:pic>
      <p:pic>
        <p:nvPicPr>
          <p:cNvPr id="10" name="Picture 10"/>
          <p:cNvPicPr>
            <a:picLocks noChangeAspect="1"/>
          </p:cNvPicPr>
          <p:nvPr/>
        </p:nvPicPr>
        <p:blipFill>
          <a:blip r:embed="rId2"/>
          <a:srcRect/>
          <a:stretch>
            <a:fillRect/>
          </a:stretch>
        </p:blipFill>
        <p:spPr>
          <a:xfrm>
            <a:off x="6210297" y="2495205"/>
            <a:ext cx="4835958" cy="3931166"/>
          </a:xfrm>
          <a:prstGeom prst="rect">
            <a:avLst/>
          </a:prstGeom>
          <a:ln w="12700">
            <a:noFill/>
            <a:prstDash val="solid"/>
          </a:ln>
        </p:spPr>
      </p:pic>
      <p:sp>
        <p:nvSpPr>
          <p:cNvPr id="12" name="文本占位符 11"/>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GPU</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Mémoire partagée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Shared Memory</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75" b="0" i="0" u="none" strike="noStrike">
                <a:solidFill>
                  <a:srgbClr val="404040"/>
                </a:solidFill>
                <a:latin typeface="Calibri" panose="020F0502020204030204"/>
                <a:ea typeface="Calibri" panose="020F0502020204030204"/>
                <a:cs typeface="Calibri" panose="020F0502020204030204"/>
                <a:sym typeface="Calibri" panose="020F0502020204030204"/>
              </a:rPr>
              <a:t>Environ 100 fois plus rapide que la m</a:t>
            </a:r>
            <a:r>
              <a:rPr lang="en-US" alt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75" b="0" i="0" u="none" strike="noStrike">
                <a:solidFill>
                  <a:srgbClr val="404040"/>
                </a:solidFill>
                <a:latin typeface="Calibri" panose="020F0502020204030204"/>
                <a:ea typeface="Calibri" panose="020F0502020204030204"/>
                <a:cs typeface="Calibri" panose="020F0502020204030204"/>
                <a:sym typeface="Calibri" panose="020F0502020204030204"/>
              </a:rPr>
              <a:t>moire globale, mais environ 1000 fois plus petite.</a:t>
            </a:r>
            <a:endPar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programmeur peut contrôler explicitement le placement des données</a:t>
            </a:r>
            <a:endPar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Partage l'espace avec le cache L1, et la r</a:t>
            </a:r>
            <a:r>
              <a:rPr lang="en-US" alt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partition peut </a:t>
            </a:r>
            <a:r>
              <a:rPr lang="en-US" alt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configur</a:t>
            </a:r>
            <a:r>
              <a:rPr lang="en-US" alt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manuellement</a:t>
            </a:r>
            <a:endParaRPr lang="en-US" sz="15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La m</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e (Shared Memory) est divis</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e en 32 banques ind</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pendantes.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servir simultanément</a:t>
            </a:r>
            <a:r>
              <a:rPr lang="en-US" sz="1870" b="0" i="0" u="none" strike="noStrike">
                <a:solidFill>
                  <a:srgbClr val="404040"/>
                </a:solidFill>
                <a:latin typeface="Calibri" panose="020F0502020204030204"/>
                <a:ea typeface="Calibri" panose="020F0502020204030204"/>
                <a:cs typeface="Calibri" panose="020F0502020204030204"/>
                <a:sym typeface="Calibri" panose="020F0502020204030204"/>
              </a:rPr>
              <a:t> 32 </a:t>
            </a:r>
            <a:r>
              <a:rPr 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requêtes</a:t>
            </a:r>
            <a:endParaRPr 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70" b="0" i="0" u="none" strike="noStrike">
                <a:solidFill>
                  <a:srgbClr val="404040"/>
                </a:solidFill>
                <a:latin typeface="Calibri" panose="020F0502020204030204"/>
                <a:ea typeface="Calibri" panose="020F0502020204030204"/>
                <a:cs typeface="Calibri" panose="020F0502020204030204"/>
                <a:sym typeface="Calibri" panose="020F0502020204030204"/>
              </a:rPr>
              <a:t>Cas id</a:t>
            </a:r>
            <a:r>
              <a:rPr lang="en-US" altLang="en-US" sz="18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70" b="0" i="0" u="none" strike="noStrike">
                <a:solidFill>
                  <a:srgbClr val="404040"/>
                </a:solidFill>
                <a:latin typeface="Calibri" panose="020F0502020204030204"/>
                <a:ea typeface="Calibri" panose="020F0502020204030204"/>
                <a:cs typeface="Calibri" panose="020F0502020204030204"/>
                <a:sym typeface="Calibri" panose="020F0502020204030204"/>
              </a:rPr>
              <a:t>al : 32 threads acc</a:t>
            </a:r>
            <a:r>
              <a:rPr lang="en-US" altLang="en-US" sz="187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870" b="0" i="0" u="none" strike="noStrike">
                <a:solidFill>
                  <a:srgbClr val="404040"/>
                </a:solidFill>
                <a:latin typeface="Calibri" panose="020F0502020204030204"/>
                <a:ea typeface="Calibri" panose="020F0502020204030204"/>
                <a:cs typeface="Calibri" panose="020F0502020204030204"/>
                <a:sym typeface="Calibri" panose="020F0502020204030204"/>
              </a:rPr>
              <a:t>dent simultan</a:t>
            </a:r>
            <a:r>
              <a:rPr lang="en-US" altLang="en-US" sz="18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70" b="0" i="0" u="none" strike="noStrike">
                <a:solidFill>
                  <a:srgbClr val="404040"/>
                </a:solidFill>
                <a:latin typeface="Calibri" panose="020F0502020204030204"/>
                <a:ea typeface="Calibri" panose="020F0502020204030204"/>
                <a:cs typeface="Calibri" panose="020F0502020204030204"/>
                <a:sym typeface="Calibri" panose="020F0502020204030204"/>
              </a:rPr>
              <a:t>ment à 32 banques diff</a:t>
            </a:r>
            <a:r>
              <a:rPr lang="en-US" altLang="en-US" sz="187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70" b="0" i="0" u="none" strike="noStrike">
                <a:solidFill>
                  <a:srgbClr val="404040"/>
                </a:solidFill>
                <a:latin typeface="Calibri" panose="020F0502020204030204"/>
                <a:ea typeface="Calibri" panose="020F0502020204030204"/>
                <a:cs typeface="Calibri" panose="020F0502020204030204"/>
                <a:sym typeface="Calibri" panose="020F0502020204030204"/>
              </a:rPr>
              <a:t>rentes.</a:t>
            </a:r>
            <a:endParaRPr lang="en-US" sz="187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L'utilisation efficace de la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est au c</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ur de la planification de la disposition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Lorsque, dans un m</a:t>
            </a:r>
            <a:r>
              <a:rPr lang="en-US" alt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warp, les requ</a:t>
            </a:r>
            <a:r>
              <a:rPr lang="en-US" alt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tes de plusieurs threads sont mapp</a:t>
            </a:r>
            <a:r>
              <a:rPr lang="en-US" alt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sur une m</a:t>
            </a:r>
            <a:r>
              <a:rPr lang="en-US" alt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banque, l'acc</a:t>
            </a:r>
            <a:r>
              <a:rPr lang="en-US" alt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est s</a:t>
            </a:r>
            <a:r>
              <a:rPr lang="en-US" alt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rialis</a:t>
            </a:r>
            <a:r>
              <a:rPr lang="en-US" alt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18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24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4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1"/>
          <a:srcRect/>
          <a:stretch>
            <a:fillRect/>
          </a:stretch>
        </p:blipFill>
        <p:spPr>
          <a:xfrm>
            <a:off x="1020623" y="3142680"/>
            <a:ext cx="4836436" cy="3213989"/>
          </a:xfrm>
          <a:prstGeom prst="rect">
            <a:avLst/>
          </a:prstGeom>
          <a:ln w="12700">
            <a:noFill/>
            <a:prstDash val="solid"/>
          </a:ln>
        </p:spPr>
      </p:pic>
      <p:sp>
        <p:nvSpPr>
          <p:cNvPr id="9" name="文本占位符 8"/>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r="1311"/>
          <a:stretch>
            <a:fillRect/>
          </a:stretch>
        </p:blipFill>
        <p:spPr>
          <a:xfrm>
            <a:off x="329565" y="2073275"/>
            <a:ext cx="3004185" cy="3044825"/>
          </a:xfrm>
          <a:prstGeom prst="rect">
            <a:avLst/>
          </a:prstGeom>
          <a:ln w="12700">
            <a:noFill/>
            <a:prstDash val="solid"/>
          </a:ln>
        </p:spPr>
      </p:pic>
      <p:sp>
        <p:nvSpPr>
          <p:cNvPr id="3" name="AutoShape 3"/>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 GPU</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Cas idéal et pire cas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7" name="AutoShape 7"/>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Modèles d'accès</a:t>
            </a:r>
            <a:r>
              <a:rPr lang="en-US" sz="2320" b="0" i="0" u="none" strike="noStrike">
                <a:solidFill>
                  <a:srgbClr val="404040"/>
                </a:solidFill>
                <a:latin typeface="Calibri" panose="020F0502020204030204"/>
                <a:ea typeface="Calibri" panose="020F0502020204030204"/>
                <a:cs typeface="Calibri" panose="020F0502020204030204"/>
                <a:sym typeface="Calibri" panose="020F0502020204030204"/>
              </a:rPr>
              <a:t> Bank Conflict </a:t>
            </a:r>
            <a:r>
              <a:rPr lang="en-US" sz="23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causant</a:t>
            </a:r>
            <a:endParaRPr lang="en-US" sz="23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Accès avec un pas spécifique</a:t>
            </a:r>
            <a:endParaRPr lang="en-US" sz="19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9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9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9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Accès avec un pas spécifique (</a:t>
            </a:r>
            <a:r>
              <a:rPr lang="en-US" sz="1935" b="0" i="0" u="none" strike="noStrike">
                <a:solidFill>
                  <a:srgbClr val="404040"/>
                </a:solidFill>
                <a:latin typeface="Calibri" panose="020F0502020204030204"/>
                <a:ea typeface="Calibri" panose="020F0502020204030204"/>
                <a:cs typeface="Calibri" panose="020F0502020204030204"/>
                <a:sym typeface="Calibri" panose="020F0502020204030204"/>
              </a:rPr>
              <a:t>32</a:t>
            </a:r>
            <a:r>
              <a:rPr lang="en-US" sz="19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9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9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3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8" name="Picture 8"/>
          <p:cNvPicPr>
            <a:picLocks noChangeAspect="1"/>
          </p:cNvPicPr>
          <p:nvPr/>
        </p:nvPicPr>
        <p:blipFill>
          <a:blip r:embed="rId2"/>
          <a:srcRect l="1988"/>
          <a:stretch>
            <a:fillRect/>
          </a:stretch>
        </p:blipFill>
        <p:spPr>
          <a:xfrm>
            <a:off x="3333750" y="2033905"/>
            <a:ext cx="3081020" cy="3033395"/>
          </a:xfrm>
          <a:prstGeom prst="rect">
            <a:avLst/>
          </a:prstGeom>
          <a:ln w="12700">
            <a:noFill/>
            <a:prstDash val="solid"/>
          </a:ln>
        </p:spPr>
      </p:pic>
      <p:sp>
        <p:nvSpPr>
          <p:cNvPr id="9" name="AutoShape 9"/>
          <p:cNvSpPr/>
          <p:nvPr/>
        </p:nvSpPr>
        <p:spPr>
          <a:xfrm>
            <a:off x="6468412" y="2536220"/>
            <a:ext cx="5076216" cy="717746"/>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6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260" b="0" i="0" u="none" strike="noStrike">
                <a:solidFill>
                  <a:srgbClr val="E4E4E4"/>
                </a:solidFill>
                <a:latin typeface="Menlo" panose="020B0609030804020204"/>
                <a:ea typeface="Menlo" panose="020B0609030804020204"/>
                <a:cs typeface="Menlo" panose="020B0609030804020204"/>
                <a:sym typeface="Menlo" panose="020B0609030804020204"/>
              </a:rPr>
              <a:t> row </a:t>
            </a:r>
            <a:r>
              <a:rPr lang="en-US" sz="126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0" b="0" i="0" u="none" strike="noStrike">
                <a:solidFill>
                  <a:srgbClr val="E4E4E4"/>
                </a:solidFill>
                <a:latin typeface="Menlo" panose="020B0609030804020204"/>
                <a:ea typeface="Menlo" panose="020B0609030804020204"/>
                <a:cs typeface="Menlo" panose="020B0609030804020204"/>
                <a:sym typeface="Menlo" panose="020B0609030804020204"/>
              </a:rPr>
              <a:t> threadIdx.x</a:t>
            </a:r>
            <a:r>
              <a:rPr lang="en-US" sz="126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0" b="0" i="1" u="none" strike="noStrike">
                <a:solidFill>
                  <a:srgbClr val="E4E4E4"/>
                </a:solidFill>
                <a:latin typeface="Menlo" panose="020B0609030804020204"/>
                <a:ea typeface="Menlo" panose="020B0609030804020204"/>
                <a:cs typeface="Menlo" panose="020B0609030804020204"/>
                <a:sym typeface="Menlo" panose="020B0609030804020204"/>
              </a:rPr>
              <a:t> // 0 to 31</a:t>
            </a:r>
            <a:endParaRPr lang="en-US" sz="1100"/>
          </a:p>
          <a:p>
            <a:pPr indent="0" algn="l">
              <a:lnSpc>
                <a:spcPct val="100000"/>
              </a:lnSpc>
            </a:pPr>
            <a:r>
              <a:rPr lang="en-US" sz="126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26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26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26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60" b="0" i="0" u="none" strike="noStrike">
                <a:solidFill>
                  <a:srgbClr val="D6D6DD"/>
                </a:solidFill>
                <a:latin typeface="Menlo" panose="020B0609030804020204"/>
                <a:ea typeface="Menlo" panose="020B0609030804020204"/>
                <a:cs typeface="Menlo" panose="020B0609030804020204"/>
                <a:sym typeface="Menlo" panose="020B0609030804020204"/>
              </a:rPr>
              <a:t>smem</a:t>
            </a:r>
            <a:r>
              <a:rPr lang="en-US" sz="1260" b="0" i="0" u="none" strike="noStrike">
                <a:solidFill>
                  <a:srgbClr val="E4E4E4"/>
                </a:solidFill>
                <a:latin typeface="Menlo" panose="020B0609030804020204"/>
                <a:ea typeface="Menlo" panose="020B0609030804020204"/>
                <a:cs typeface="Menlo" panose="020B0609030804020204"/>
                <a:sym typeface="Menlo" panose="020B0609030804020204"/>
              </a:rPr>
              <a:t>[row][</a:t>
            </a:r>
            <a:r>
              <a:rPr lang="en-US" sz="126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26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26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60" b="0" i="1"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126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tous les threads accèdent à la colonne</a:t>
            </a:r>
            <a:r>
              <a:rPr lang="en-US" sz="1260" b="0" i="1" u="none" strike="noStrike">
                <a:solidFill>
                  <a:srgbClr val="E4E4E4"/>
                </a:solidFill>
                <a:latin typeface="Menlo" panose="020B0609030804020204"/>
                <a:ea typeface="Menlo" panose="020B0609030804020204"/>
                <a:cs typeface="Menlo" panose="020B0609030804020204"/>
                <a:sym typeface="Menlo" panose="020B0609030804020204"/>
              </a:rPr>
              <a:t>0</a:t>
            </a:r>
            <a:endParaRPr lang="en-US" sz="126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6469047" y="3989070"/>
            <a:ext cx="5076216" cy="82296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60" b="0" i="0" u="none" strike="noStrike">
                <a:solidFill>
                  <a:srgbClr val="82D2CE"/>
                </a:solidFill>
                <a:latin typeface="Menlo" panose="020B0609030804020204"/>
                <a:ea typeface="Menlo" panose="020B0609030804020204"/>
                <a:cs typeface="Menlo" panose="020B0609030804020204"/>
                <a:sym typeface="Menlo" panose="020B0609030804020204"/>
              </a:rPr>
              <a:t>int</a:t>
            </a:r>
            <a:r>
              <a:rPr lang="en-US" sz="1360" b="0" i="0" u="none" strike="noStrike">
                <a:solidFill>
                  <a:srgbClr val="E4E4E4"/>
                </a:solidFill>
                <a:latin typeface="Menlo" panose="020B0609030804020204"/>
                <a:ea typeface="Menlo" panose="020B0609030804020204"/>
                <a:cs typeface="Menlo" panose="020B0609030804020204"/>
                <a:sym typeface="Menlo" panose="020B0609030804020204"/>
              </a:rPr>
              <a:t> idx </a:t>
            </a:r>
            <a:r>
              <a:rPr lang="en-US" sz="136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60" b="0" i="0" u="none" strike="noStrike">
                <a:solidFill>
                  <a:srgbClr val="E4E4E4"/>
                </a:solidFill>
                <a:latin typeface="Menlo" panose="020B0609030804020204"/>
                <a:ea typeface="Menlo" panose="020B0609030804020204"/>
                <a:cs typeface="Menlo" panose="020B0609030804020204"/>
                <a:sym typeface="Menlo" panose="020B0609030804020204"/>
              </a:rPr>
              <a:t> threadIdx.x  </a:t>
            </a:r>
            <a:r>
              <a:rPr lang="en-US" sz="1360" b="0" i="0" u="none" strike="noStrike">
                <a:solidFill>
                  <a:srgbClr val="EBC88D"/>
                </a:solidFill>
                <a:latin typeface="Menlo" panose="020B0609030804020204"/>
                <a:ea typeface="Menlo" panose="020B0609030804020204"/>
                <a:cs typeface="Menlo" panose="020B0609030804020204"/>
                <a:sym typeface="Menlo" panose="020B0609030804020204"/>
              </a:rPr>
              <a:t>32</a:t>
            </a:r>
            <a:r>
              <a:rPr lang="en-US" sz="136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360" b="0" i="0" u="none" strike="noStrike">
                <a:solidFill>
                  <a:srgbClr val="82D2CE"/>
                </a:solidFill>
                <a:latin typeface="Menlo" panose="020B0609030804020204"/>
                <a:ea typeface="Menlo" panose="020B0609030804020204"/>
                <a:cs typeface="Menlo" panose="020B0609030804020204"/>
                <a:sym typeface="Menlo" panose="020B0609030804020204"/>
              </a:rPr>
              <a:t>float</a:t>
            </a:r>
            <a:r>
              <a:rPr lang="en-US" sz="1360" b="0" i="0" u="none" strike="noStrike">
                <a:solidFill>
                  <a:srgbClr val="E4E4E4"/>
                </a:solidFill>
                <a:latin typeface="Menlo" panose="020B0609030804020204"/>
                <a:ea typeface="Menlo" panose="020B0609030804020204"/>
                <a:cs typeface="Menlo" panose="020B0609030804020204"/>
                <a:sym typeface="Menlo" panose="020B0609030804020204"/>
              </a:rPr>
              <a:t> val </a:t>
            </a:r>
            <a:r>
              <a:rPr lang="en-US" sz="1360" b="0" i="0" u="none" strike="noStrike">
                <a:solidFill>
                  <a:srgbClr val="82D2CE"/>
                </a:solidFill>
                <a:latin typeface="Menlo" panose="020B0609030804020204"/>
                <a:ea typeface="Menlo" panose="020B0609030804020204"/>
                <a:cs typeface="Menlo" panose="020B0609030804020204"/>
                <a:sym typeface="Menlo" panose="020B0609030804020204"/>
              </a:rPr>
              <a:t>=</a:t>
            </a:r>
            <a:r>
              <a:rPr lang="en-US" sz="136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60" b="0" i="0" u="none" strike="noStrike">
                <a:solidFill>
                  <a:srgbClr val="D6D6DD"/>
                </a:solidFill>
                <a:latin typeface="Menlo" panose="020B0609030804020204"/>
                <a:ea typeface="Menlo" panose="020B0609030804020204"/>
                <a:cs typeface="Menlo" panose="020B0609030804020204"/>
                <a:sym typeface="Menlo" panose="020B0609030804020204"/>
              </a:rPr>
              <a:t>smem_1d</a:t>
            </a:r>
            <a:r>
              <a:rPr lang="en-US" sz="1360" b="0" i="0" u="none" strike="noStrike">
                <a:solidFill>
                  <a:srgbClr val="E4E4E4"/>
                </a:solidFill>
                <a:latin typeface="Menlo" panose="020B0609030804020204"/>
                <a:ea typeface="Menlo" panose="020B0609030804020204"/>
                <a:cs typeface="Menlo" panose="020B0609030804020204"/>
                <a:sym typeface="Menlo" panose="020B0609030804020204"/>
              </a:rPr>
              <a:t>[idx]</a:t>
            </a:r>
            <a:r>
              <a:rPr lang="en-US" sz="1360" b="0" i="0" u="none" strike="noStrike">
                <a:solidFill>
                  <a:srgbClr val="D6D6DD"/>
                </a:solidFill>
                <a:latin typeface="Menlo" panose="020B0609030804020204"/>
                <a:ea typeface="Menlo" panose="020B0609030804020204"/>
                <a:cs typeface="Menlo" panose="020B0609030804020204"/>
                <a:sym typeface="Menlo" panose="020B0609030804020204"/>
              </a:rPr>
              <a:t>;</a:t>
            </a:r>
            <a:b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br>
            <a:r>
              <a:rPr lang="en-US" sz="1360" b="0" i="1" u="none" strike="noStrike">
                <a:solidFill>
                  <a:srgbClr val="E4E4E4"/>
                </a:solidFill>
                <a:latin typeface="Menlo" panose="020B0609030804020204"/>
                <a:ea typeface="Menlo" panose="020B0609030804020204"/>
                <a:cs typeface="Menlo" panose="020B0609030804020204"/>
                <a:sym typeface="Menlo" panose="020B0609030804020204"/>
              </a:rPr>
              <a:t>// idx = 0, 32, 64, 96, ... </a:t>
            </a:r>
            <a:r>
              <a:rPr lang="en-US" sz="136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tous mappés sur</a:t>
            </a:r>
            <a:r>
              <a:rPr lang="en-US" sz="1360" b="0" i="1" u="none" strike="noStrike">
                <a:solidFill>
                  <a:srgbClr val="E4E4E4"/>
                </a:solidFill>
                <a:latin typeface="Menlo" panose="020B0609030804020204"/>
                <a:ea typeface="Menlo" panose="020B0609030804020204"/>
                <a:cs typeface="Menlo" panose="020B0609030804020204"/>
                <a:sym typeface="Menlo" panose="020B0609030804020204"/>
              </a:rPr>
              <a:t> Bank 0</a:t>
            </a:r>
            <a:endParaRPr lang="en-US" sz="1360" b="0" i="1"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2" name="文本占位符 11"/>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R</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soudre les bank conflicts</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Padding</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Augmenter la taille de stockage réelle de chaque ligne, </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afin de d</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caler les </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ments d’une colonne vers des banques diff</a:t>
            </a:r>
            <a:r>
              <a:rPr lang="en-US" alt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0" b="0" i="0" u="none" strike="noStrike">
                <a:solidFill>
                  <a:srgbClr val="404040"/>
                </a:solidFill>
                <a:latin typeface="Calibri" panose="020F0502020204030204"/>
                <a:ea typeface="Calibri" panose="020F0502020204030204"/>
                <a:cs typeface="Calibri" panose="020F0502020204030204"/>
                <a:sym typeface="Calibri" panose="020F0502020204030204"/>
              </a:rPr>
              <a:t>rentes.</a:t>
            </a:r>
            <a:endPar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Swizzling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65" b="0" i="0" u="none" strike="noStrike">
                <a:solidFill>
                  <a:srgbClr val="404040"/>
                </a:solidFill>
                <a:latin typeface="Calibri" panose="020F0502020204030204"/>
                <a:ea typeface="Calibri" panose="020F0502020204030204"/>
                <a:cs typeface="Calibri" panose="020F0502020204030204"/>
                <a:sym typeface="Calibri" panose="020F0502020204030204"/>
              </a:rPr>
              <a:t>Modifier dynamiquement le mappage d’adresse via XOR, afin que la m</a:t>
            </a:r>
            <a:r>
              <a:rPr lang="en-US" alt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1665" b="0" i="0" u="none" strike="noStrike">
                <a:solidFill>
                  <a:srgbClr val="404040"/>
                </a:solidFill>
                <a:latin typeface="Calibri" panose="020F0502020204030204"/>
                <a:ea typeface="Calibri" panose="020F0502020204030204"/>
                <a:cs typeface="Calibri" panose="020F0502020204030204"/>
                <a:sym typeface="Calibri" panose="020F0502020204030204"/>
              </a:rPr>
              <a:t>me colonne de diff</a:t>
            </a:r>
            <a:r>
              <a:rPr lang="en-US" alt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65" b="0" i="0" u="none" strike="noStrike">
                <a:solidFill>
                  <a:srgbClr val="404040"/>
                </a:solidFill>
                <a:latin typeface="Calibri" panose="020F0502020204030204"/>
                <a:ea typeface="Calibri" panose="020F0502020204030204"/>
                <a:cs typeface="Calibri" panose="020F0502020204030204"/>
                <a:sym typeface="Calibri" panose="020F0502020204030204"/>
              </a:rPr>
              <a:t>rentes lignes tombe sur des banques diff</a:t>
            </a:r>
            <a:r>
              <a:rPr lang="en-US" alt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665" b="0" i="0" u="none" strike="noStrike">
                <a:solidFill>
                  <a:srgbClr val="404040"/>
                </a:solidFill>
                <a:latin typeface="Calibri" panose="020F0502020204030204"/>
                <a:ea typeface="Calibri" panose="020F0502020204030204"/>
                <a:cs typeface="Calibri" panose="020F0502020204030204"/>
                <a:sym typeface="Calibri" panose="020F0502020204030204"/>
              </a:rPr>
              <a:t>rentes.</a:t>
            </a:r>
            <a:endPar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Original</a:t>
            </a: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Adresse</a:t>
            </a: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 row </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a:t>
            </a: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stride + col</a:t>
            </a:r>
            <a:endPar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Swizzle:	 </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Adresse</a:t>
            </a: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 row </a:t>
            </a:r>
            <a:r>
              <a:rPr lang="en-US" sz="16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x</a:t>
            </a: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stride + (col XOR row)</a:t>
            </a:r>
            <a:endPar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6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25947" y="2457450"/>
            <a:ext cx="5489102" cy="146304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150" b="0" i="0" u="none" strike="noStrike">
                <a:solidFill>
                  <a:srgbClr val="E4E4E4"/>
                </a:solidFill>
                <a:latin typeface="Menlo" panose="020B0609030804020204"/>
                <a:ea typeface="Menlo" panose="020B0609030804020204"/>
                <a:cs typeface="Menlo" panose="020B0609030804020204"/>
                <a:sym typeface="Menlo" panose="020B0609030804020204"/>
              </a:rPr>
              <a:t>__shared__ float smem[32][32];</a:t>
            </a:r>
            <a:b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Ligne</a:t>
            </a:r>
            <a:r>
              <a:rPr lang="en-US" sz="1150" b="0" i="0" u="none" strike="noStrike">
                <a:solidFill>
                  <a:srgbClr val="E4E4E4"/>
                </a:solidFill>
                <a:latin typeface="Menlo" panose="020B0609030804020204"/>
                <a:ea typeface="Menlo" panose="020B0609030804020204"/>
                <a:cs typeface="Menlo" panose="020B0609030804020204"/>
                <a:sym typeface="Menlo" panose="020B0609030804020204"/>
              </a:rPr>
              <a:t> 0: [B0 ][B1 ][B2 ]...[B31] &lt;- 128 </a:t>
            </a: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octets</a:t>
            </a:r>
            <a:endParaRPr lang="en-US" sz="1100"/>
          </a:p>
          <a:p>
            <a:pPr indent="0" algn="l">
              <a:lnSpc>
                <a:spcPct val="100000"/>
              </a:lnSpc>
            </a:pP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Ligne</a:t>
            </a:r>
            <a:r>
              <a:rPr lang="en-US" sz="1150" b="0" i="0" u="none" strike="noStrike">
                <a:solidFill>
                  <a:srgbClr val="E4E4E4"/>
                </a:solidFill>
                <a:latin typeface="Menlo" panose="020B0609030804020204"/>
                <a:ea typeface="Menlo" panose="020B0609030804020204"/>
                <a:cs typeface="Menlo" panose="020B0609030804020204"/>
                <a:sym typeface="Menlo" panose="020B0609030804020204"/>
              </a:rPr>
              <a:t> 1: [B0 ][B1 ][B2 ]...[B31] &lt;- 128 </a:t>
            </a: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octets</a:t>
            </a:r>
            <a:r>
              <a:rPr lang="en-US" sz="115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commence a</a:t>
            </a:r>
            <a:r>
              <a:rPr lang="en-US" sz="1150" b="0" i="0" u="none" strike="noStrike">
                <a:solidFill>
                  <a:srgbClr val="E4E4E4"/>
                </a:solidFill>
                <a:latin typeface="Menlo" panose="020B0609030804020204"/>
                <a:ea typeface="Menlo" panose="020B0609030804020204"/>
                <a:cs typeface="Menlo" panose="020B0609030804020204"/>
                <a:sym typeface="Menlo" panose="020B0609030804020204"/>
              </a:rPr>
              <a:t> Bank 0</a:t>
            </a:r>
            <a:endParaRPr lang="en-US" sz="115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Ligne</a:t>
            </a:r>
            <a:r>
              <a:rPr lang="en-US" sz="1150" b="0" i="0" u="none" strike="noStrike">
                <a:solidFill>
                  <a:srgbClr val="E4E4E4"/>
                </a:solidFill>
                <a:latin typeface="Menlo" panose="020B0609030804020204"/>
                <a:ea typeface="Menlo" panose="020B0609030804020204"/>
                <a:cs typeface="Menlo" panose="020B0609030804020204"/>
                <a:sym typeface="Menlo" panose="020B0609030804020204"/>
              </a:rPr>
              <a:t> 2: [B0 ][B1 ][B2 ]...[B31]</a:t>
            </a:r>
            <a:b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Access colonne</a:t>
            </a:r>
            <a:r>
              <a:rPr lang="en-US" sz="1150" b="0" i="0" u="none" strike="noStrike">
                <a:solidFill>
                  <a:srgbClr val="E4E4E4"/>
                </a:solidFill>
                <a:latin typeface="Menlo" panose="020B0609030804020204"/>
                <a:ea typeface="Menlo" panose="020B0609030804020204"/>
                <a:cs typeface="Menlo" panose="020B0609030804020204"/>
                <a:sym typeface="Menlo" panose="020B0609030804020204"/>
              </a:rPr>
              <a:t>: smem[0][0], smem[1][0], smem[2][0], ...</a:t>
            </a:r>
            <a:endParaRPr lang="en-US" sz="115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Tous dans</a:t>
            </a:r>
            <a:r>
              <a:rPr lang="en-US" sz="1150" b="0" i="0" u="none" strike="noStrike">
                <a:solidFill>
                  <a:srgbClr val="E4E4E4"/>
                </a:solidFill>
                <a:latin typeface="Menlo" panose="020B0609030804020204"/>
                <a:ea typeface="Menlo" panose="020B0609030804020204"/>
                <a:cs typeface="Menlo" panose="020B0609030804020204"/>
                <a:sym typeface="Menlo" panose="020B0609030804020204"/>
              </a:rPr>
              <a:t> Bank 0 -&gt; 32</a:t>
            </a:r>
            <a:r>
              <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conflits simultanes</a:t>
            </a:r>
            <a:endParaRPr lang="en-US" sz="115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625947" y="4457700"/>
            <a:ext cx="5489103" cy="1808958"/>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__shared__ float smem[32][33]; // </a:t>
            </a: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Chaque ligne a</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1</a:t>
            </a: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element supplementaire</a:t>
            </a:r>
            <a:br>
              <a:rPr lang="en-US" sz="1200" b="0" i="0" u="none" strike="noStrike">
                <a:solidFill>
                  <a:srgbClr val="E4E4E4"/>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Ligne</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0: [B0 ][B1 ][B2 ]...[B31][B0 ] &lt;- 132 </a:t>
            </a: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octets</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(33float)</a:t>
            </a:r>
            <a:endParaRPr lang="en-US" sz="1100"/>
          </a:p>
          <a:p>
            <a:pPr indent="0" algn="l">
              <a:lnSpc>
                <a:spcPct val="100000"/>
              </a:lnSpc>
            </a:pP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Ligne</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1: [B1 ][B2 ][B3 ]...[B0 ][B1 ] &lt;- </a:t>
            </a: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commence a</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Bank 1</a:t>
            </a:r>
            <a:endParaRPr lang="en-US" sz="112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Ligne</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2: [B2 ][B3 ][B4 ]...[B1 ][B2 ] &lt;- </a:t>
            </a: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commence a</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Bank 2</a:t>
            </a:r>
            <a:b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Access colonne</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smem[0][0] -&gt; Bank 0</a:t>
            </a:r>
            <a:endParaRPr lang="en-US" sz="112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smem[1][0] -&gt; Bank 1 &lt;- </a:t>
            </a: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Different</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Bank</a:t>
            </a:r>
            <a:endParaRPr lang="en-US" sz="112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smem[2][0] -&gt; Bank 2 &lt;- </a:t>
            </a: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Different</a:t>
            </a:r>
            <a:r>
              <a:rPr lang="en-US" sz="1125" b="0" i="0" u="none" strike="noStrike">
                <a:solidFill>
                  <a:srgbClr val="E4E4E4"/>
                </a:solidFill>
                <a:latin typeface="Menlo" panose="020B0609030804020204"/>
                <a:ea typeface="Menlo" panose="020B0609030804020204"/>
                <a:cs typeface="Menlo" panose="020B0609030804020204"/>
                <a:sym typeface="Menlo" panose="020B0609030804020204"/>
              </a:rPr>
              <a:t> Bank</a:t>
            </a:r>
            <a:endParaRPr lang="en-US" sz="112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Sans conflit</a:t>
            </a:r>
            <a:endParaRPr lang="en-US" sz="11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9" name="AutoShape 9"/>
          <p:cNvSpPr/>
          <p:nvPr/>
        </p:nvSpPr>
        <p:spPr>
          <a:xfrm>
            <a:off x="3241632" y="3969893"/>
            <a:ext cx="155657" cy="409767"/>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6536057" y="3263265"/>
            <a:ext cx="5132070" cy="13144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Acceder a la</a:t>
            </a: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0</a:t>
            </a:r>
            <a:r>
              <a:rPr lang="en-US" sz="10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eme colonne</a:t>
            </a: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100"/>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row 0, col 0 -&gt; addr 0 -&gt; Bank 0</a:t>
            </a:r>
            <a:endParaRPr lang="en-US" sz="103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row 1, col 0 -&gt; addr 128 -&gt; Bank 0</a:t>
            </a:r>
            <a:endParaRPr lang="en-US" sz="103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row 2, col 0 -&gt; addr 256 -&gt; Bank 0</a:t>
            </a:r>
            <a:endParaRPr lang="en-US" sz="103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row 3, col 0 -&gt; addr 384 -&gt; Bank 0 </a:t>
            </a:r>
            <a:endParaRPr lang="en-US" sz="103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32</a:t>
            </a:r>
            <a:r>
              <a:rPr lang="en-US" sz="10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conflits simultanes</a:t>
            </a:r>
            <a:endParaRPr lang="en-US" sz="10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11" name="AutoShape 11"/>
          <p:cNvSpPr/>
          <p:nvPr/>
        </p:nvSpPr>
        <p:spPr>
          <a:xfrm>
            <a:off x="6536057" y="4931603"/>
            <a:ext cx="5132070" cy="13144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Acceder a la</a:t>
            </a: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0</a:t>
            </a:r>
            <a:r>
              <a:rPr lang="en-US" sz="10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eme colonne</a:t>
            </a: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 (col XOR row):</a:t>
            </a:r>
            <a:endParaRPr lang="en-US" sz="1100"/>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row 0, col 0^0=0 -&gt; Bank 0</a:t>
            </a:r>
            <a:endParaRPr lang="en-US" sz="103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row 1, col 0^1=1 -&gt; Bank 1</a:t>
            </a:r>
            <a:endParaRPr lang="en-US" sz="103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row 2, col 0^2=2 -&gt; Bank 2</a:t>
            </a:r>
            <a:endParaRPr lang="en-US" sz="103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30" b="0" i="0" u="none" strike="noStrike">
                <a:solidFill>
                  <a:srgbClr val="E4E4E4"/>
                </a:solidFill>
                <a:latin typeface="Menlo" panose="020B0609030804020204"/>
                <a:ea typeface="Menlo" panose="020B0609030804020204"/>
                <a:cs typeface="Menlo" panose="020B0609030804020204"/>
                <a:sym typeface="Menlo" panose="020B0609030804020204"/>
              </a:rPr>
              <a:t>row 3, col 0^3=3 -&gt; Bank 3</a:t>
            </a:r>
            <a:endParaRPr lang="en-US" sz="103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0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Sans conflit</a:t>
            </a:r>
            <a:endParaRPr lang="en-US" sz="10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12" name="AutoShape 12"/>
          <p:cNvSpPr/>
          <p:nvPr/>
        </p:nvSpPr>
        <p:spPr>
          <a:xfrm>
            <a:off x="9014055" y="4651506"/>
            <a:ext cx="171450" cy="224948"/>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4" name="文本占位符 13"/>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741680" y="431800"/>
            <a:ext cx="9987280" cy="803275"/>
          </a:xfrm>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8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automatique de </a:t>
            </a:r>
            <a:endParaRPr lang="en-US" altLang="zh-CN" sz="28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altLang="zh-CN" sz="28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la disposition m</a:t>
            </a:r>
            <a:r>
              <a:rPr lang="en-US" altLang="en-US" sz="28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 dans Triton</a:t>
            </a:r>
            <a:endParaRPr lang="en-US" altLang="zh-CN" sz="28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compilateur g</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automatiquement du code d’acc</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swizzled </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en fonction de ces param</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tres.</a:t>
            </a:r>
            <a:endParaRPr 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vec: </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nombre d’</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ments acc</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de mani</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contigu</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ë</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influence la vectorisation.</a:t>
            </a:r>
            <a:endPar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perPhase</a:t>
            </a:r>
            <a:r>
              <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a:t>
            </a:r>
            <a:r>
              <a:rPr lang="en-US" sz="1900" b="0" i="0" u="none" strike="noStrike">
                <a:solidFill>
                  <a:srgbClr val="404040"/>
                </a:solidFill>
                <a:latin typeface="Calibri" panose="020F0502020204030204"/>
                <a:ea typeface="Calibri" panose="020F0502020204030204"/>
                <a:cs typeface="Calibri" panose="020F0502020204030204"/>
                <a:sym typeface="Calibri" panose="020F0502020204030204"/>
              </a:rPr>
              <a:t>maxPhase: </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contrôlent la p</a:t>
            </a:r>
            <a:r>
              <a:rPr lang="en-US" alt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riode du swizzle</a:t>
            </a: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1714500" lvl="5" indent="0" algn="l">
              <a:lnSpc>
                <a:spcPct val="100000"/>
              </a:lnSpc>
              <a:spcBef>
                <a:spcPts val="750"/>
              </a:spcBef>
            </a:pP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9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compilateur Triton g</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automatiquement l’optimisation de la disposition de la m</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(Shared Memory).</a:t>
            </a:r>
            <a:endParaRPr 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22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28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8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931269" y="3024505"/>
            <a:ext cx="5545095" cy="14516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#shared = #triton_gpu.shared&lt;{</a:t>
            </a:r>
            <a:endParaRPr lang="en-US" sz="1100"/>
          </a:p>
          <a:p>
            <a:pPr marL="457200" lvl="1" indent="0" algn="l">
              <a:lnSpc>
                <a:spcPct val="100000"/>
              </a:lnSpc>
            </a:pP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vec = 4, // </a:t>
            </a:r>
            <a:r>
              <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largeur de vectorisation</a:t>
            </a: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acces</a:t>
            </a: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4</a:t>
            </a:r>
            <a:r>
              <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elements a la fois</a:t>
            </a: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9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perPhase = 2, // </a:t>
            </a:r>
            <a:r>
              <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nombre de lignes par phase</a:t>
            </a:r>
            <a:endPar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maxPhase = 8, // </a:t>
            </a:r>
            <a:r>
              <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nombre maximal de phases</a:t>
            </a: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utilise pour</a:t>
            </a: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 swizzle)</a:t>
            </a:r>
            <a:endParaRPr lang="en-US" sz="98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order = [1, 0], // </a:t>
            </a:r>
            <a:r>
              <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ordre de parcours memoire</a:t>
            </a:r>
            <a:endParaRPr lang="en-US" sz="9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hasLeadingOffset = false</a:t>
            </a:r>
            <a:endParaRPr lang="en-US" sz="98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98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98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931269" y="5342558"/>
            <a:ext cx="5545096" cy="1630219"/>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970" b="0" i="0" u="none" strike="noStrike">
                <a:solidFill>
                  <a:srgbClr val="A8CC7C"/>
                </a:solidFill>
                <a:latin typeface="Menlo" panose="020B0609030804020204"/>
                <a:ea typeface="Menlo" panose="020B0609030804020204"/>
                <a:cs typeface="Menlo" panose="020B0609030804020204"/>
                <a:sym typeface="Menlo" panose="020B0609030804020204"/>
              </a:rPr>
              <a:t>@triton</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A8CC7C"/>
                </a:solidFill>
                <a:latin typeface="Menlo" panose="020B0609030804020204"/>
                <a:ea typeface="Menlo" panose="020B0609030804020204"/>
                <a:cs typeface="Menlo" panose="020B0609030804020204"/>
                <a:sym typeface="Menlo" panose="020B0609030804020204"/>
              </a:rPr>
              <a:t>jit</a:t>
            </a:r>
            <a:endParaRPr lang="en-US" sz="1100"/>
          </a:p>
          <a:p>
            <a:pPr indent="0" algn="l">
              <a:lnSpc>
                <a:spcPct val="100000"/>
              </a:lnSpc>
            </a:pPr>
            <a:r>
              <a:rPr lang="en-US" sz="97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970" b="0" i="0" u="none" strike="noStrike">
                <a:solidFill>
                  <a:srgbClr val="EFB080"/>
                </a:solidFill>
                <a:latin typeface="Menlo" panose="020B0609030804020204"/>
                <a:ea typeface="Menlo" panose="020B0609030804020204"/>
                <a:cs typeface="Menlo" panose="020B0609030804020204"/>
                <a:sym typeface="Menlo" panose="020B0609030804020204"/>
              </a:rPr>
              <a:t>kernel</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97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970" b="0" i="1" u="none" strike="noStrike">
                <a:solidFill>
                  <a:srgbClr val="E4E4E4"/>
                </a:solidFill>
                <a:latin typeface="Menlo" panose="020B0609030804020204"/>
                <a:ea typeface="Menlo" panose="020B0609030804020204"/>
                <a:cs typeface="Menlo" panose="020B0609030804020204"/>
                <a:sym typeface="Menlo" panose="020B0609030804020204"/>
              </a:rPr>
              <a:t># Triton </a:t>
            </a:r>
            <a:r>
              <a:rPr lang="en-US" sz="97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selectionne automatiquement la disposition optimale</a:t>
            </a:r>
            <a:endParaRPr lang="en-US" sz="97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a </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A_ptr </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 offs</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970" b="0" i="1" u="none" strike="noStrike">
                <a:solidFill>
                  <a:srgbClr val="E4E4E4"/>
                </a:solidFill>
                <a:latin typeface="Menlo" panose="020B0609030804020204"/>
                <a:ea typeface="Menlo" panose="020B0609030804020204"/>
                <a:cs typeface="Menlo" panose="020B0609030804020204"/>
                <a:sym typeface="Menlo" panose="020B0609030804020204"/>
              </a:rPr>
              <a:t># Global -&gt; Registre</a:t>
            </a:r>
            <a:endParaRPr lang="en-US" sz="97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97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97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Utilisation explicite de</a:t>
            </a:r>
            <a:r>
              <a:rPr lang="en-US" sz="970" b="0" i="1" u="none" strike="noStrike">
                <a:solidFill>
                  <a:srgbClr val="E4E4E4"/>
                </a:solidFill>
                <a:latin typeface="Menlo" panose="020B0609030804020204"/>
                <a:ea typeface="Menlo" panose="020B0609030804020204"/>
                <a:cs typeface="Menlo" panose="020B0609030804020204"/>
                <a:sym typeface="Menlo" panose="020B0609030804020204"/>
              </a:rPr>
              <a:t> shared memory</a:t>
            </a:r>
            <a:endParaRPr lang="en-US" sz="97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970" b="0" i="1" u="none" strike="noStrike">
                <a:solidFill>
                  <a:srgbClr val="E4E4E4"/>
                </a:solidFill>
                <a:latin typeface="Menlo" panose="020B0609030804020204"/>
                <a:ea typeface="Menlo" panose="020B0609030804020204"/>
                <a:cs typeface="Menlo" panose="020B0609030804020204"/>
                <a:sym typeface="Menlo" panose="020B0609030804020204"/>
              </a:rPr>
              <a:t># Triton </a:t>
            </a:r>
            <a:r>
              <a:rPr lang="en-US" sz="97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applique automatiquement</a:t>
            </a:r>
            <a:r>
              <a:rPr lang="en-US" sz="970" b="0" i="1" u="none" strike="noStrike">
                <a:solidFill>
                  <a:srgbClr val="E4E4E4"/>
                </a:solidFill>
                <a:latin typeface="Menlo" panose="020B0609030804020204"/>
                <a:ea typeface="Menlo" panose="020B0609030804020204"/>
                <a:cs typeface="Menlo" panose="020B0609030804020204"/>
                <a:sym typeface="Menlo" panose="020B0609030804020204"/>
              </a:rPr>
              <a:t> swizzling</a:t>
            </a:r>
            <a:endParaRPr lang="en-US" sz="970"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a_shared </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AAA0FA"/>
                </a:solidFill>
                <a:latin typeface="Menlo" panose="020B0609030804020204"/>
                <a:ea typeface="Menlo" panose="020B0609030804020204"/>
                <a:cs typeface="Menlo" panose="020B0609030804020204"/>
                <a:sym typeface="Menlo" panose="020B0609030804020204"/>
              </a:rPr>
              <a:t>trans</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a</a:t>
            </a:r>
            <a:r>
              <a:rPr lang="en-US" sz="9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9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97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97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optimisation automatique lors de la transposition</a:t>
            </a:r>
            <a:endParaRPr lang="en-US" sz="97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97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97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Disposition des tenseurs (Tensor Layout)</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4" y="1323975"/>
            <a:ext cx="6482716"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 le mappage des </a:t>
            </a:r>
            <a:r>
              <a:rPr lang="en-US" alt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ments du tenseur logique vers les emplacements de stockage physique</a:t>
            </a:r>
            <a:endParaRPr 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Ordre de disposition en </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Distribution </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ments entre les unit</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mat</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rielles</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Types de disposition courants</a:t>
            </a:r>
            <a:endParaRPr lang="en-US" sz="21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Row-major</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stockage continu par ligne</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C/C++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faut</a:t>
            </a:r>
            <a:endPar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Column-major</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stockage continu par colonne,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Fortran, MATLAB</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Blocked</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stockage par blocs</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GPU </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parall</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a:t>
            </a:r>
            <a:endPar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Strided</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stockage avec pas, </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de d</a:t>
            </a:r>
            <a:r>
              <a:rPr lang="en-US" alt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coupage</a:t>
            </a:r>
            <a:endPar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altLang="zh-CN"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006590" y="3017520"/>
            <a:ext cx="4434840" cy="176022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Matrice 2x4 : 		Row-major:</a:t>
            </a:r>
            <a:endParaRPr lang="en-US" sz="1100"/>
          </a:p>
          <a:p>
            <a:pPr indent="0" algn="l">
              <a:lnSpc>
                <a:spcPct val="100000"/>
              </a:lnSpc>
            </a:pP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    [0,1,2,3,4,5,6,7]</a:t>
            </a:r>
            <a:endParaRPr lang="en-US" sz="140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0</a:t>
            </a: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1</a:t>
            </a: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2</a:t>
            </a: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3</a:t>
            </a: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40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		Column-major </a:t>
            </a:r>
            <a:endParaRPr lang="en-US" sz="140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4</a:t>
            </a: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5</a:t>
            </a: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6</a:t>
            </a: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7</a:t>
            </a: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405" b="0" i="0" u="none" strike="noStrike">
                <a:solidFill>
                  <a:srgbClr val="E4E4E4"/>
                </a:solidFill>
                <a:latin typeface="Menlo" panose="020B0609030804020204"/>
                <a:ea typeface="Menlo" panose="020B0609030804020204"/>
                <a:cs typeface="Menlo" panose="020B0609030804020204"/>
                <a:sym typeface="Menlo" panose="020B0609030804020204"/>
              </a:rPr>
              <a:t>	   [0,4,1,5,2,6,3,7]</a:t>
            </a:r>
            <a:endParaRPr lang="en-US" sz="140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0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997309" y="1621949"/>
            <a:ext cx="6614160" cy="1290161"/>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#blocked = #triton_gpu.blocked&lt;{</a:t>
            </a:r>
            <a:endParaRPr lang="en-US" sz="1100"/>
          </a:p>
          <a:p>
            <a:pPr marL="457200" lvl="1" indent="0" algn="l">
              <a:lnSpc>
                <a:spcPct val="100000"/>
              </a:lnSpc>
            </a:pP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sizePerThread = [4], 	 // nombre d'éléments par thread</a:t>
            </a:r>
            <a:endParaRPr lang="en-US" sz="101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threadsPerWarp = [32], // </a:t>
            </a:r>
            <a:r>
              <a:rPr lang="en-US" sz="10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nombre de threads par</a:t>
            </a: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 warp </a:t>
            </a:r>
            <a:endParaRPr lang="en-US" sz="101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warpsPerCTA = [4], 	// </a:t>
            </a:r>
            <a:r>
              <a:rPr lang="en-US" sz="10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nombre de</a:t>
            </a: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 CTA </a:t>
            </a:r>
            <a:r>
              <a:rPr lang="en-US" sz="10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par</a:t>
            </a: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 warp </a:t>
            </a:r>
            <a:endParaRPr lang="en-US" sz="101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order = [0] 			// </a:t>
            </a:r>
            <a:r>
              <a:rPr lang="en-US" sz="10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ordre de parcours des dimensions</a:t>
            </a:r>
            <a:endParaRPr lang="en-US" sz="10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10" b="0" i="0" u="none" strike="noStrike">
                <a:solidFill>
                  <a:srgbClr val="E4E4E4"/>
                </a:solidFill>
                <a:latin typeface="Menlo" panose="020B0609030804020204"/>
                <a:ea typeface="Menlo" panose="020B0609030804020204"/>
                <a:cs typeface="Menlo" panose="020B0609030804020204"/>
                <a:sym typeface="Menlo" panose="020B0609030804020204"/>
              </a:rPr>
              <a:t>}&gt;</a:t>
            </a:r>
            <a:endParaRPr lang="en-US" sz="101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Encodage de layout dans Triton</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rmAutofit fontScale="77500" lnSpcReduction="20000"/>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Utilisation</a:t>
            </a: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 MLIR Attribute </a:t>
            </a: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représenter la disposition</a:t>
            </a: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BlockedEncodingAttr : GPU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motif d'accès à la mémoire globale</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SharedEncodingAttr :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motif d'accès à la mémoire partagée</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(swizzle)</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NvidiaMmaEncodingAttr : disposition des opérations Tensor Core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操作布局</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DotOperandEncodingAttr :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disposition des opérandes de multiplication matricielle</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Représentation unifiée de la disposition</a:t>
            </a:r>
            <a:endParaRPr lang="en-US" sz="21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Représenter la disposition comme une mapping depuis la position matérielle</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(warp, thread, register)</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vers l'index logique</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(m, n) </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 des bits binaires pour représenter le pas</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opération XOR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combiner</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r>
              <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0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Disposition MMA (Matrix Multiply-Accumulate)</a:t>
            </a:r>
            <a:endParaRPr lang="en-US" sz="30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2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Disposition des donn</a:t>
            </a:r>
            <a:r>
              <a:rPr lang="en-US" altLang="en-US" sz="22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con</a:t>
            </a:r>
            <a:r>
              <a:rPr lang="en-US" altLang="en-US" sz="22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ç</a:t>
            </a:r>
            <a:r>
              <a:rPr lang="en-US" altLang="zh-CN" sz="22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ue pour les Tensor Cores GPU</a:t>
            </a:r>
            <a:endParaRPr lang="en-US" sz="22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Tensor Core</a:t>
            </a: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calcule</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D = A </a:t>
            </a: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B + C</a:t>
            </a:r>
            <a:endPar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Taille de fragment fixe (par exemple architecture Volta 16</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16), conforme aux exigences mat</a:t>
            </a:r>
            <a:r>
              <a:rPr lang="en-US" alt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rielles du Tensor Core.</a:t>
            </a:r>
            <a:endPar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Chaque thread détient</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8 </a:t>
            </a: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éléments</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Thread 0: A[0,0:2], A[8,0:2], A[0,8:10], A[8,8:10]</a:t>
            </a: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Thread 1: A[0,2:4], A[8,2:4], A[0,10:12]</a:t>
            </a:r>
            <a:r>
              <a:rPr lang="en-US" sz="18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endParaRPr lang="en-US" sz="18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2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2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96315" y="3779520"/>
            <a:ext cx="6893560" cy="3078577"/>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Disposition MMA (Matrix Multiply-Accumulate) </a:t>
            </a:r>
            <a:endParaRPr lang="en-US" sz="30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 la disposition Blocked à la disposition MMA : conversion de disposition</a:t>
            </a: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l</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dmatrix : instruction chargeant depuis la m</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et r</a:t>
            </a:r>
            <a:r>
              <a:rPr lang="en-US" altLang="en-US"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organisant vers la disposition MMA.</a:t>
            </a:r>
            <a:endParaRPr lang="en-US" altLang="zh-CN" sz="17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85" b="0" i="0" u="none" strike="noStrike">
                <a:solidFill>
                  <a:srgbClr val="404040"/>
                </a:solidFill>
                <a:latin typeface="Calibri" panose="020F0502020204030204"/>
                <a:ea typeface="Calibri" panose="020F0502020204030204"/>
                <a:cs typeface="Calibri" panose="020F0502020204030204"/>
                <a:sym typeface="Calibri" panose="020F0502020204030204"/>
              </a:rPr>
              <a:t>Lire un fragment matriciel 8</a:t>
            </a:r>
            <a:r>
              <a:rPr lang="en-US" alt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1785" b="0" i="0" u="none" strike="noStrike">
                <a:solidFill>
                  <a:srgbClr val="404040"/>
                </a:solidFill>
                <a:latin typeface="Calibri" panose="020F0502020204030204"/>
                <a:ea typeface="Calibri" panose="020F0502020204030204"/>
                <a:cs typeface="Calibri" panose="020F0502020204030204"/>
                <a:sym typeface="Calibri" panose="020F0502020204030204"/>
              </a:rPr>
              <a:t>8 depuis la m</a:t>
            </a:r>
            <a:r>
              <a:rPr lang="en-US" alt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85"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85" b="0" i="0" u="none" strike="noStrike">
                <a:solidFill>
                  <a:srgbClr val="404040"/>
                </a:solidFill>
                <a:latin typeface="Calibri" panose="020F0502020204030204"/>
                <a:ea typeface="Calibri" panose="020F0502020204030204"/>
                <a:cs typeface="Calibri" panose="020F0502020204030204"/>
                <a:sym typeface="Calibri" panose="020F0502020204030204"/>
              </a:rPr>
              <a:t>e </a:t>
            </a:r>
            <a:r>
              <a:rPr lang="en-US" alt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1785" b="0" i="0" u="none" strike="noStrike">
                <a:solidFill>
                  <a:srgbClr val="404040"/>
                </a:solidFill>
                <a:latin typeface="Calibri" panose="020F0502020204030204"/>
                <a:ea typeface="Calibri" panose="020F0502020204030204"/>
                <a:cs typeface="Calibri" panose="020F0502020204030204"/>
                <a:sym typeface="Calibri" panose="020F0502020204030204"/>
              </a:rPr>
              <a:t> le distribuer dans les registres de chaque thread du warp </a:t>
            </a:r>
            <a:r>
              <a:rPr lang="en-US" alt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a:t>
            </a:r>
            <a:r>
              <a:rPr lang="en-US" altLang="zh-CN" sz="1785" b="0" i="0" u="none" strike="noStrike">
                <a:solidFill>
                  <a:srgbClr val="404040"/>
                </a:solidFill>
                <a:latin typeface="Calibri" panose="020F0502020204030204"/>
                <a:ea typeface="Calibri" panose="020F0502020204030204"/>
                <a:cs typeface="Calibri" panose="020F0502020204030204"/>
                <a:sym typeface="Calibri" panose="020F0502020204030204"/>
              </a:rPr>
              <a:t> le r</a:t>
            </a:r>
            <a:r>
              <a:rPr lang="en-US" alt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85" b="0" i="0" u="none" strike="noStrike">
                <a:solidFill>
                  <a:srgbClr val="404040"/>
                </a:solidFill>
                <a:latin typeface="Calibri" panose="020F0502020204030204"/>
                <a:ea typeface="Calibri" panose="020F0502020204030204"/>
                <a:cs typeface="Calibri" panose="020F0502020204030204"/>
                <a:sym typeface="Calibri" panose="020F0502020204030204"/>
              </a:rPr>
              <a:t>organiser en disposition MMA.</a:t>
            </a:r>
            <a:endParaRPr lang="en-US" sz="178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Attribut d'encodage MMA dans Triton</a:t>
            </a: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685800" lvl="2" indent="0" algn="l">
              <a:lnSpc>
                <a:spcPct val="100000"/>
              </a:lnSpc>
              <a:spcBef>
                <a:spcPts val="750"/>
              </a:spcBef>
            </a:pP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Conversion de disposition dans Triton</a:t>
            </a: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21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78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8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3200400"/>
            <a:ext cx="6973846" cy="13373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#mma = #triton_gpu.nvidia_mma&lt;{</a:t>
            </a:r>
            <a:endParaRPr lang="en-US" sz="1100"/>
          </a:p>
          <a:p>
            <a:pPr marL="457200" lvl="1" indent="0" algn="l">
              <a:lnSpc>
                <a:spcPct val="100000"/>
              </a:lnSpc>
            </a:pP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versionMajor = 2, // MMA </a:t>
            </a:r>
            <a:r>
              <a:rPr lang="en-US" sz="104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version</a:t>
            </a: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 (1=Volta, 2=Ampere, 3=Hopper)</a:t>
            </a:r>
            <a:endParaRPr lang="en-US" sz="1045"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versionMinor = 0,</a:t>
            </a:r>
            <a:endParaRPr lang="en-US" sz="1045"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warpsPerCTA = [2, 2], // disposition de la grille Warp</a:t>
            </a:r>
            <a:endParaRPr lang="en-US" sz="1045"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instrShape = [16, 8, 16] // M </a:t>
            </a:r>
            <a:r>
              <a:rPr lang="en-US" sz="104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 N </a:t>
            </a:r>
            <a:r>
              <a:rPr lang="en-US" sz="104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 K </a:t>
            </a:r>
            <a:r>
              <a:rPr lang="en-US" sz="104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forme de l'instruction</a:t>
            </a:r>
            <a:endParaRPr lang="en-US" sz="104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45" b="0" i="0" u="none" strike="noStrike">
                <a:solidFill>
                  <a:srgbClr val="E4E4E4"/>
                </a:solidFill>
                <a:latin typeface="Menlo" panose="020B0609030804020204"/>
                <a:ea typeface="Menlo" panose="020B0609030804020204"/>
                <a:cs typeface="Menlo" panose="020B0609030804020204"/>
                <a:sym typeface="Menlo" panose="020B0609030804020204"/>
              </a:rPr>
              <a:t>}&gt;</a:t>
            </a:r>
            <a:endParaRPr lang="en-US" sz="1045"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741404" y="4994910"/>
            <a:ext cx="6973846" cy="9715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blocked </a:t>
            </a:r>
            <a:r>
              <a:rPr lang="en-US" sz="14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convertir vers</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mma </a:t>
            </a:r>
            <a:r>
              <a:rPr lang="en-US" sz="14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disposition</a:t>
            </a:r>
            <a:endParaRPr lang="en-US" sz="1100"/>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%0 = triton_gpu.convert_layout %arg : </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tensor&lt;128x64xf16, #blocked&gt; -&gt; tensor&lt;128x64xf16, #mma&gt;</a:t>
            </a:r>
            <a:endParaRPr lang="en-US" sz="14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文本占位符 8"/>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Stratégies d'allocation mémoire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Allocation statique</a:t>
            </a:r>
            <a:endPar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Allocation à la compilation, z</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 surco</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à l'ex</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fragmentation pr</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visible, flexibilit</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faible.</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Toutes les tailles de tenseurs sont connues à la compilation.</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Allocation dynamique</a:t>
            </a:r>
            <a:endPar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Allocation à l'ex</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avec un surco</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 de malloc, flexibilit</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lev</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Stratégie des compilateurs d'apprentissage automatique</a:t>
            </a:r>
            <a:endParaRPr lang="en-US" sz="23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à la compilation </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terminer le cycle de vie des tenseurs </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calculer le plan d'allocation optimal </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g</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le code d'allocation.</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 un pool mémoire pour supporter les formes dynamiques</a:t>
            </a: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9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3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30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文本占位符 6"/>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Réutilisation de mémoire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a:spLocks noGrp="1"/>
          </p:cNvSpPr>
          <p:nvPr>
            <p:ph type="body" sz="quarter" idx="9" hasCustomPrompt="1"/>
          </p:nvPr>
        </p:nvSpPr>
        <p:spPr>
          <a:xfrm>
            <a:off x="523875" y="1132840"/>
            <a:ext cx="5793740" cy="504444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tenseurs dont les dur</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de vie ne se chevauchent pas peuvent partager la m</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ABC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peuvent être mutuellement réutilisés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D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ABC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peuvent pas être réutilisés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Algorithmes courants</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de coloration de graphe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construire le graphe d'interférence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minimiser le nombre de couleurs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glouton</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trier par taille de tenseur</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réutiliser autant que possible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thode ILP : programmation lin</a:t>
            </a:r>
            <a:r>
              <a:rPr lang="en-US" alt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aire en nombres entiers pour la solution optimale.</a:t>
            </a:r>
            <a:endParaRPr lang="en-US" sz="1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Minimiser : max(offset[i] + size[i]) pour tout i.</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Contraintes</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054100" lvl="2"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1. offset[i] &gt;= 0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décalage non négatif</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054100" lvl="2"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2. </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offset[i] + size[i] &lt;= offset[j] (si i et j ne se chevauchent pas et i pr</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c</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de j) ou offset[j] + size[j] &lt;= offset[i] (si j pr</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c</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de i).</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054100" lvl="2"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3. </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tenseurs dont les dur</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de vie se chevauchent doivent avoir des espaces d'adressage diff</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sz="1400"/>
          </a:p>
          <a:p>
            <a:pPr marL="342900" lvl="1" indent="0" algn="l">
              <a:lnSpc>
                <a:spcPct val="100000"/>
              </a:lnSpc>
              <a:spcBef>
                <a:spcPts val="750"/>
              </a:spcBef>
            </a:pP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4673598" y="1536700"/>
            <a:ext cx="5223510" cy="109728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Tensor A: </a:t>
            </a:r>
            <a:r>
              <a:rPr lang="en-US" sz="12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a:p>
            <a:pPr indent="0" algn="l">
              <a:lnSpc>
                <a:spcPct val="100000"/>
              </a:lnSpc>
            </a:pP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Tensor B: 			 </a:t>
            </a:r>
            <a:r>
              <a:rPr lang="en-US" sz="12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Tensor C: 						 </a:t>
            </a:r>
            <a:r>
              <a:rPr lang="en-US" sz="12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Tensor D: 		</a:t>
            </a:r>
            <a:r>
              <a:rPr lang="en-US" sz="12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2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Remat</a:t>
            </a:r>
            <a:r>
              <a:rPr lang="en-US" alt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rPr>
              <a:t>rialisation des tenseurs</a:t>
            </a:r>
            <a:endParaRPr lang="en-US" altLang="zh-CN"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Image Source: Capuchin: Tensor-based GPU Memory Management for Deep Learning</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a:p>
            <a:pPr indent="0" algn="l">
              <a:lnSpc>
                <a:spcPct val="100000"/>
              </a:lnSpc>
            </a:pPr>
            <a:r>
              <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rPr>
              <a:t> </a:t>
            </a:r>
            <a:endParaRPr lang="en-US" sz="7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a:spLocks noGrp="1"/>
          </p:cNvSpPr>
          <p:nvPr>
            <p:ph type="body" sz="quarter" idx="9" hasCustomPrompt="1"/>
          </p:nvPr>
        </p:nvSpPr>
        <p:spPr>
          <a:xfrm>
            <a:off x="523875" y="1323975"/>
            <a:ext cx="646176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GPU est insuffisante pour stocker tous les tenseurs interm</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Abandonner 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lectivement certains tenseurs et les recalculer</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Input-&gt;A-&gt;B-&gt;C-&gt;Output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 pas stocker A, mais conserver B et C pour la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tropropagation.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Recalculer A pendant la r</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tropropagation.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 d'optimisation : minimiser</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temps de calcul</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pic de mémoire</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Décision dynamique à l'exécution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Résolution du problème d'optimisation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endParaRPr sz="2000"/>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112058" y="4287022"/>
            <a:ext cx="4932237" cy="1546087"/>
          </a:xfrm>
          <a:prstGeom prst="rect">
            <a:avLst/>
          </a:prstGeom>
          <a:ln w="12700">
            <a:noFill/>
            <a:prstDash val="solid"/>
          </a:ln>
        </p:spPr>
      </p:pic>
      <p:sp>
        <p:nvSpPr>
          <p:cNvPr id="8" name="文本占位符 7"/>
          <p:cNvSpPr>
            <a:spLocks noGrp="1"/>
          </p:cNvSpPr>
          <p:nvPr>
            <p:ph type="body" sz="quarter" idx="8"/>
          </p:nvPr>
        </p:nvSpPr>
        <p:spPr/>
        <p:txBody>
          <a:bodyPr/>
          <a:lstStyle/>
          <a:p>
            <a:endParaRPr lang="zh-CN" altLang="en-US"/>
          </a:p>
        </p:txBody>
      </p:sp>
    </p:spTree>
  </p:cSld>
  <p:clrMapOvr>
    <a:masterClrMapping/>
  </p:clrMapOvr>
  <p:transition spd="slow">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Strat</a:t>
            </a:r>
            <a:r>
              <a:rPr lang="en-US" altLang="en-US"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gies d’optimisation de la disposition et de la planification m</a:t>
            </a:r>
            <a:r>
              <a:rPr lang="en-US" altLang="en-US"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altLang="zh-CN" sz="24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a:spLocks noGrp="1"/>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Conversion de disposition</a:t>
            </a:r>
            <a:endParaRPr 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Repousser autant que possible les conversions</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tecter </a:t>
            </a:r>
            <a:r>
              <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supprimer les conversions redondantes</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Fusionner les conversions adjacentes</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Privil</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gier les dispositions favorables aux op</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principales</a:t>
            </a:r>
            <a:endParaRPr 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Consid</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l'ensemble du graphe de calcul, pas seulement un op</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isol</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les conversions</a:t>
            </a:r>
            <a:endParaRPr lang="en-US" sz="194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 uniform</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 la m</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disposition</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Effectuer les conversions aux points intensifs en calcul</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94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4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a:spLocks noGrp="1"/>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SzTx/>
              <a:buChar char="•"/>
            </a:pP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Combin</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 avec l'</a:t>
            </a:r>
            <a:r>
              <a:rPr lang="en-US" altLang="en-US" sz="194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é</a:t>
            </a:r>
            <a:r>
              <a:rPr lang="en-US" altLang="zh-CN" sz="194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limination de code mort (Dead Code Elimination)</a:t>
            </a:r>
            <a:endParaRPr lang="en-US" sz="194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endParaRPr>
          </a:p>
          <a:p>
            <a:pPr marL="596900" lvl="1" indent="-254000" algn="l">
              <a:lnSpc>
                <a:spcPct val="100000"/>
              </a:lnSpc>
              <a:spcBef>
                <a:spcPts val="750"/>
              </a:spcBef>
              <a:buClr>
                <a:srgbClr val="404040"/>
              </a:buClr>
              <a:buSzTx/>
              <a:buChar char="•"/>
            </a:pP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les allocations m</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 supprimer les variables mortes </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aucune allocation d'espace n</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cessaire.</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SzTx/>
              <a:buChar char="•"/>
            </a:pP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duire la dur</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vie : supprimer les op</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inutiles </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lib</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anticip</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la m</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SzTx/>
              <a:buChar char="•"/>
            </a:pP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Permettre davantage de r</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utilisation : dur</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de vie r</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duite </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plus d'opportunit</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de r</a:t>
            </a:r>
            <a:r>
              <a:rPr lang="en-US" alt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utilisation.</a:t>
            </a: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endParaRPr lang="en-US" sz="16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8" name="文本占位符 7"/>
          <p:cNvSpPr>
            <a:spLocks noGrp="1"/>
          </p:cNvSpPr>
          <p:nvPr>
            <p:ph type="body" sz="quarter" idx="11"/>
          </p:nvPr>
        </p:nvSpPr>
        <p:spPr/>
        <p:txBody>
          <a:bodyPr/>
          <a:lstStyle/>
          <a:p>
            <a:endParaRPr lang="zh-CN" altLang="en-US"/>
          </a:p>
        </p:txBody>
      </p:sp>
    </p:spTree>
  </p:cSld>
  <p:clrMapOvr>
    <a:masterClrMapping/>
  </p:clrMapOvr>
  <p:transition spd="slow">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fontScale="9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25</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spcBef>
                <a:spcPts val="1500"/>
              </a:spcBef>
            </a:pPr>
            <a:r>
              <a:rPr lang="en-US" altLang="zh-CN">
                <a:solidFill>
                  <a:srgbClr val="262626"/>
                </a:solidFill>
                <a:latin typeface="Calibri" panose="020F0502020204030204"/>
                <a:ea typeface="Calibri" panose="020F0502020204030204"/>
                <a:cs typeface="Calibri" panose="020F0502020204030204"/>
                <a:sym typeface="Calibri" panose="020F0502020204030204"/>
              </a:rPr>
              <a:t>Support pour backends multi-puces I</a:t>
            </a:r>
            <a:b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Codegen</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21748" b="27784"/>
          <a:stretch>
            <a:fillRect/>
          </a:stretch>
        </p:blipFill>
        <p:spPr>
          <a:xfrm>
            <a:off x="523873" y="1863090"/>
            <a:ext cx="6134962" cy="1017270"/>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Processus de compilation multi-backend</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SzTx/>
              <a:buChar char="•"/>
              <a:defRPr/>
            </a:pP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Processus de compilation de Triton</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SzTx/>
              <a:buChar char="•"/>
              <a:defRPr/>
            </a:pPr>
            <a:endParaRPr lang="en-US" sz="1760">
              <a:solidFill>
                <a:srgbClr val="404040"/>
              </a:solidFill>
              <a:ea typeface="微软雅黑" panose="020B0503020204020204" charset="-122"/>
              <a:cs typeface="微软雅黑" panose="020B0503020204020204" charset="-122"/>
            </a:endParaRPr>
          </a:p>
          <a:p>
            <a:pPr indent="0" algn="l">
              <a:lnSpc>
                <a:spcPct val="100000"/>
              </a:lnSpc>
              <a:spcBef>
                <a:spcPts val="1500"/>
              </a:spcBef>
            </a:pPr>
          </a:p>
          <a:p>
            <a:pPr marL="304800" indent="-304800" algn="l">
              <a:lnSpc>
                <a:spcPct val="100000"/>
              </a:lnSpc>
              <a:spcBef>
                <a:spcPts val="1500"/>
              </a:spcBef>
              <a:buClr>
                <a:srgbClr val="404040"/>
              </a:buClr>
              <a:buSzTx/>
              <a:buChar char="•"/>
              <a:defRPr/>
            </a:pP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 multi-backend de Triton</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7" name="Picture 7"/>
          <p:cNvPicPr>
            <a:picLocks noChangeAspect="1"/>
          </p:cNvPicPr>
          <p:nvPr/>
        </p:nvPicPr>
        <p:blipFill>
          <a:blip r:embed="rId2"/>
          <a:srcRect/>
          <a:stretch>
            <a:fillRect/>
          </a:stretch>
        </p:blipFill>
        <p:spPr>
          <a:xfrm>
            <a:off x="741404" y="3488405"/>
            <a:ext cx="5499376" cy="2528953"/>
          </a:xfrm>
          <a:prstGeom prst="rect">
            <a:avLst/>
          </a:prstGeom>
          <a:ln w="12700">
            <a:noFill/>
            <a:prstDash val="solid"/>
          </a:ln>
        </p:spPr>
      </p:pic>
      <p:sp>
        <p:nvSpPr>
          <p:cNvPr id="8" name="AutoShape 8"/>
          <p:cNvSpPr/>
          <p:nvPr/>
        </p:nvSpPr>
        <p:spPr>
          <a:xfrm>
            <a:off x="6722110" y="1323975"/>
            <a:ext cx="5469890" cy="4855845"/>
          </a:xfrm>
          <a:prstGeom prst="rect">
            <a:avLst/>
          </a:prstGeom>
          <a:noFill/>
          <a:ln w="12700">
            <a:noFill/>
            <a:prstDash val="solid"/>
          </a:ln>
        </p:spPr>
        <p:txBody>
          <a:bodyPr wrap="square" lIns="91440" tIns="45720" rIns="91440" bIns="45720" rtlCol="0" anchor="t">
            <a:noAutofit/>
          </a:bodyPr>
          <a:lstStyle/>
          <a:p>
            <a:pPr marL="304800" indent="-304800" algn="l">
              <a:lnSpc>
                <a:spcPct val="100000"/>
              </a:lnSpc>
              <a:spcBef>
                <a:spcPts val="1500"/>
              </a:spcBef>
              <a:buClr>
                <a:srgbClr val="404040"/>
              </a:buClr>
              <a:buChar char="•"/>
              <a:defRP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Backend du compilateur :</a:t>
            </a: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IR→</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 machine</a:t>
            </a:r>
            <a:endParaRPr lang="en-US" sz="1100"/>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Adaptation aux différentes architectures cibles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Génération de code cible efficace</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Exploitation des caractéristiques matérielles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Processus principal</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Sélection d'instructions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Allocation de registres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Ordonnancement d'instructions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Émission de code</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Fragmentation du mat</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de calcul en IA</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même algorithme nécessite la génération de code différent pour différents matériels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p>
          <a:p>
            <a:pPr marL="342900" lvl="1" indent="0" algn="l">
              <a:lnSpc>
                <a:spcPct val="100000"/>
              </a:lnSpc>
              <a:spcBef>
                <a:spcPts val="750"/>
              </a:spcBef>
            </a:pP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Sélection d'instructions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processus de conversion de la représentation intermédiaire</a:t>
            </a:r>
            <a:r>
              <a:rPr lang="en-US" sz="1760" b="0" i="0" u="none" strike="noStrike">
                <a:solidFill>
                  <a:srgbClr val="404040"/>
                </a:solidFill>
                <a:latin typeface="Calibri" panose="020F0502020204030204"/>
                <a:ea typeface="Calibri" panose="020F0502020204030204"/>
                <a:cs typeface="Calibri" panose="020F0502020204030204"/>
                <a:sym typeface="Calibri" panose="020F0502020204030204"/>
              </a:rPr>
              <a:t> (IR) </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 i</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nstructions machine</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cibles</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Une</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IR </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correspondre à plusieurs combinaisons d'instructions machines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Sélectionner la séquence d'instructions optimale</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de couverture d'arbre</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Couvrir l'arbre entier avec le moins d'instructions possibles et les plus rapides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marL="342900" lvl="1" indent="0" algn="l">
              <a:lnSpc>
                <a:spcPct val="100000"/>
              </a:lnSpc>
              <a:spcBef>
                <a:spcPts val="750"/>
              </a:spcBef>
            </a:pP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SzTx/>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Résolution par programmation dynamique</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SzTx/>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Modèle de coût</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endParaRPr>
          </a:p>
          <a:p>
            <a:pPr marL="596900" lvl="1" indent="-254000" algn="l">
              <a:lnSpc>
                <a:spcPct val="100000"/>
              </a:lnSpc>
              <a:spcBef>
                <a:spcPts val="750"/>
              </a:spcBef>
              <a:buClr>
                <a:srgbClr val="404040"/>
              </a:buClr>
              <a:buSzTx/>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Cost(node) = min over all matching patterns {pattern_cost + Σ Cost(children not covered)}</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endParaRPr>
          </a:p>
          <a:p>
            <a:pPr marL="304800" indent="-304800" algn="l">
              <a:lnSpc>
                <a:spcPct val="100000"/>
              </a:lnSpc>
              <a:spcBef>
                <a:spcPts val="1500"/>
              </a:spcBef>
              <a:buClr>
                <a:srgbClr val="404040"/>
              </a:buClr>
              <a:buSzTx/>
              <a:buChar char="•"/>
            </a:pP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la couverture optimale de chaque </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ud</a:t>
            </a:r>
            <a:r>
              <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bas en haut</a:t>
            </a:r>
            <a:endParaRPr lang="en-US" sz="17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Appariement SelectionDAG de LLVM</a:t>
            </a:r>
            <a:endParaRPr lang="en-US" sz="20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SzTx/>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 TableGen </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définir les patterns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SzTx/>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Générer automatiquement le code de matching</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SzTx/>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Supporter la fusion d'instructions complexe</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r>
              <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3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523873" y="4171950"/>
            <a:ext cx="5572127" cy="2008189"/>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add </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 \ 		add r1, r2, r3 (</a:t>
            </a:r>
            <a:r>
              <a:rPr lang="en-US" sz="16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addition registre</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load mul 		add r1, r2, imm (</a:t>
            </a:r>
            <a:r>
              <a:rPr lang="en-US" sz="16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addition immédiate</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 | 	 / \ 		madd r1,r2,r3,r4 (</a:t>
            </a:r>
            <a:r>
              <a:rPr lang="en-US" sz="16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fusion multiply-add</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ptr a   b 		ld.add r1, [ptr], r2 (</a:t>
            </a:r>
            <a:r>
              <a:rPr lang="en-US" sz="16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load-add</a:t>
            </a: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Allocation de registres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SzTx/>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 virtuels infinis</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Calibri" panose="020F0502020204030204"/>
              </a:rPr>
              <a:t> →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 physiques finis</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SzTx/>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variables actives simultanément ne peuvent pas partager le même registre</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SzTx/>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Graphe de conflits</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a:t>
            </a:r>
            <a:r>
              <a:rPr lang="en-US" sz="169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Variable</a:t>
            </a:r>
            <a:endPar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Arête</a:t>
            </a:r>
            <a:r>
              <a:rPr lang="en-US" sz="1690" b="0" i="0" u="none" strike="noStrike">
                <a:solidFill>
                  <a:srgbClr val="404040"/>
                </a:solidFill>
                <a:latin typeface="Calibri" panose="020F0502020204030204"/>
                <a:ea typeface="Calibri" panose="020F0502020204030204"/>
                <a:cs typeface="Calibri" panose="020F0502020204030204"/>
                <a:sym typeface="Calibri" panose="020F0502020204030204"/>
              </a:rPr>
              <a:t> = </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Actif simultanément</a:t>
            </a:r>
            <a:r>
              <a:rPr lang="en-US" sz="169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69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Conflit</a:t>
            </a:r>
            <a:r>
              <a:rPr lang="en-US" sz="169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9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r>
              <a:rPr lang="en-US" sz="203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3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fontScale="90000" lnSpcReduction="10000"/>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Algorithme de coloration de graphe</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Entrée</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Graphe de conflits</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G, k </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 physiques</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Objectif</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k-</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coloration</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nœuds</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adjacents de couleurs différentes</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Algorithme de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Chaitin </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Retirer les nœuds de degré</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&lt; k </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 les mettre sur la pile</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tous les nœuds ont un degré</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&gt;= k, </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choisir un à déverser en mémoire</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Allouer les couleurs au moment du dépilement</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Insérer</a:t>
            </a:r>
            <a:r>
              <a:rPr lang="en-US" sz="1465" b="0" i="0" u="none" strike="noStrike">
                <a:solidFill>
                  <a:srgbClr val="404040"/>
                </a:solidFill>
                <a:latin typeface="Calibri" panose="020F0502020204030204"/>
                <a:ea typeface="Calibri" panose="020F0502020204030204"/>
                <a:cs typeface="Calibri" panose="020F0502020204030204"/>
                <a:sym typeface="Calibri" panose="020F0502020204030204"/>
              </a:rPr>
              <a:t> load/store </a:t>
            </a:r>
            <a:r>
              <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gérer le déversement</a:t>
            </a:r>
            <a:endParaRPr lang="en-US" sz="14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Scan linéaire</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O(n)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complexité</a:t>
            </a: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souvent utilisé pour la compilation JIT</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PBQP: </a:t>
            </a:r>
            <a:r>
              <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basé sur la programmation quadratique booléenne partitionnée</a:t>
            </a:r>
            <a:endParaRPr lang="en-US" sz="17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r>
              <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5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741404" y="4901566"/>
            <a:ext cx="3280410" cy="14516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a: </a:t>
            </a:r>
            <a:r>
              <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a:p>
            <a:pPr indent="0" algn="l">
              <a:lnSpc>
                <a:spcPct val="100000"/>
              </a:lnSpc>
            </a:pP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b: 		</a:t>
            </a:r>
            <a:r>
              <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c: 		   </a:t>
            </a:r>
            <a:r>
              <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d: 				 </a:t>
            </a:r>
            <a:r>
              <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370" b="0" i="0" u="none" strike="noStrike">
                <a:solidFill>
                  <a:srgbClr val="E4E4E4"/>
                </a:solidFill>
                <a:latin typeface="Menlo" panose="020B0609030804020204"/>
                <a:ea typeface="Menlo" panose="020B0609030804020204"/>
                <a:cs typeface="Menlo" panose="020B0609030804020204"/>
                <a:sym typeface="Menlo" panose="020B0609030804020204"/>
              </a:rPr>
              <a:t>e:					 </a:t>
            </a:r>
            <a:r>
              <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7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741404" y="3922727"/>
            <a:ext cx="2263140" cy="883128"/>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30" b="0" i="0" u="none" strike="noStrike">
                <a:solidFill>
                  <a:srgbClr val="E4E4E4"/>
                </a:solidFill>
                <a:latin typeface="Menlo" panose="020B0609030804020204"/>
                <a:ea typeface="Menlo" panose="020B0609030804020204"/>
                <a:cs typeface="Menlo" panose="020B0609030804020204"/>
                <a:sym typeface="Menlo" panose="020B0609030804020204"/>
              </a:rPr>
              <a:t>a </a:t>
            </a:r>
            <a:r>
              <a:rPr lang="en-US" sz="13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30" b="0" i="0" u="none" strike="noStrike">
                <a:solidFill>
                  <a:srgbClr val="E4E4E4"/>
                </a:solidFill>
                <a:latin typeface="Menlo" panose="020B0609030804020204"/>
                <a:ea typeface="Menlo" panose="020B0609030804020204"/>
                <a:cs typeface="Menlo" panose="020B0609030804020204"/>
                <a:sym typeface="Menlo" panose="020B0609030804020204"/>
              </a:rPr>
              <a:t> b </a:t>
            </a:r>
            <a:r>
              <a:rPr lang="en-US" sz="13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30" b="0" i="0" u="none" strike="noStrike">
                <a:solidFill>
                  <a:srgbClr val="E4E4E4"/>
                </a:solidFill>
                <a:latin typeface="Menlo" panose="020B0609030804020204"/>
                <a:ea typeface="Menlo" panose="020B0609030804020204"/>
                <a:cs typeface="Menlo" panose="020B0609030804020204"/>
                <a:sym typeface="Menlo" panose="020B0609030804020204"/>
              </a:rPr>
              <a:t> c</a:t>
            </a:r>
            <a:endParaRPr lang="en-US" sz="1100"/>
          </a:p>
          <a:p>
            <a:pPr indent="0" algn="l">
              <a:lnSpc>
                <a:spcPct val="100000"/>
              </a:lnSpc>
            </a:pPr>
            <a:r>
              <a:rPr lang="en-US" sz="133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3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3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330" b="0" i="0" u="none" strike="noStrike">
                <a:solidFill>
                  <a:srgbClr val="E4E4E4"/>
                </a:solidFill>
                <a:latin typeface="Menlo" panose="020B0609030804020204"/>
                <a:ea typeface="Menlo" panose="020B0609030804020204"/>
                <a:cs typeface="Menlo" panose="020B0609030804020204"/>
                <a:sym typeface="Menlo" panose="020B0609030804020204"/>
              </a:rPr>
              <a:t>	   d </a:t>
            </a:r>
            <a:r>
              <a:rPr lang="en-US" sz="133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330" b="0" i="0" u="none" strike="noStrike">
                <a:solidFill>
                  <a:srgbClr val="E4E4E4"/>
                </a:solidFill>
                <a:latin typeface="Menlo" panose="020B0609030804020204"/>
                <a:ea typeface="Menlo" panose="020B0609030804020204"/>
                <a:cs typeface="Menlo" panose="020B0609030804020204"/>
                <a:sym typeface="Menlo" panose="020B0609030804020204"/>
              </a:rPr>
              <a:t> e</a:t>
            </a:r>
            <a:endParaRPr lang="en-US" sz="133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7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Allocation de registres</a:t>
            </a:r>
            <a:r>
              <a:rPr lang="en-US" sz="2775" b="0" i="0" u="none" strike="noStrike">
                <a:solidFill>
                  <a:srgbClr val="262626"/>
                </a:solidFill>
                <a:latin typeface="Calibri" panose="020F0502020204030204"/>
                <a:ea typeface="Calibri" panose="020F0502020204030204"/>
                <a:cs typeface="Calibri" panose="020F0502020204030204"/>
                <a:sym typeface="Calibri" panose="020F0502020204030204"/>
              </a:rPr>
              <a:t> - </a:t>
            </a:r>
            <a:r>
              <a:rPr lang="en-US" altLang="zh-CN" sz="27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Particularit</a:t>
            </a:r>
            <a:r>
              <a:rPr lang="en-US" altLang="en-US" sz="27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GPU</a:t>
            </a:r>
            <a:endParaRPr lang="en-US" altLang="zh-CN" sz="27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Spécificités de l'allocation de registres sur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GPU</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04800" indent="-304800" algn="l">
              <a:lnSpc>
                <a:spcPct val="100000"/>
              </a:lnSpc>
              <a:spcBef>
                <a:spcPts val="1500"/>
              </a:spcBef>
              <a:buClr>
                <a:srgbClr val="404040"/>
              </a:buClr>
              <a:buSzTx/>
              <a:buChar char="•"/>
            </a:pPr>
            <a:endParaRPr lang="en-US" sz="1800" b="0" i="0" u="none" strike="noStrike">
              <a:solidFill>
                <a:srgbClr val="404040"/>
              </a:solidFill>
              <a:latin typeface="Calibri" panose="020F0502020204030204"/>
              <a:ea typeface="Calibri" panose="020F0502020204030204"/>
              <a:cs typeface="Calibri" panose="020F0502020204030204"/>
              <a:sym typeface="微软雅黑" panose="020B0503020204020204" charset="-122"/>
            </a:endParaRPr>
          </a:p>
          <a:p>
            <a:pPr marL="304800" indent="-304800" algn="l">
              <a:lnSpc>
                <a:spcPct val="100000"/>
              </a:lnSpc>
              <a:spcBef>
                <a:spcPts val="1500"/>
              </a:spcBef>
              <a:buClr>
                <a:srgbClr val="404040"/>
              </a:buClr>
              <a:buSzTx/>
              <a:buChar char="•"/>
            </a:pPr>
            <a:r>
              <a:rPr lang="en-US" sz="1800" b="0" i="0" u="none" strike="noStrike">
                <a:solidFill>
                  <a:srgbClr val="404040"/>
                </a:solidFill>
                <a:latin typeface="Calibri" panose="020F0502020204030204"/>
                <a:ea typeface="Calibri" panose="020F0502020204030204"/>
                <a:cs typeface="Calibri" panose="020F0502020204030204"/>
                <a:sym typeface="微软雅黑" panose="020B0503020204020204" charset="-122"/>
              </a:rPr>
              <a:t>Plus de registres (un peu </a:t>
            </a:r>
            <a:r>
              <a:rPr lang="en-US" sz="1800">
                <a:solidFill>
                  <a:srgbClr val="404040"/>
                </a:solidFill>
                <a:ea typeface="Calibri" panose="020F0502020204030204"/>
                <a:cs typeface="Calibri" panose="020F0502020204030204"/>
                <a:sym typeface="Calibri" panose="020F0502020204030204"/>
              </a:rPr>
              <a:t>warp</a:t>
            </a:r>
            <a:r>
              <a:rPr lang="en-US" sz="1800" b="0" i="0" u="none" strike="noStrike">
                <a:solidFill>
                  <a:srgbClr val="404040"/>
                </a:solidFill>
                <a:latin typeface="Calibri" panose="020F0502020204030204"/>
                <a:ea typeface="Calibri" panose="020F0502020204030204"/>
                <a:cs typeface="Calibri" panose="020F0502020204030204"/>
                <a:sym typeface="微软雅黑" panose="020B0503020204020204" charset="-122"/>
              </a:rPr>
              <a:t>)</a:t>
            </a:r>
            <a:endParaRPr lang="en-US" sz="1800" b="0" i="0" u="none" strike="noStrike">
              <a:solidFill>
                <a:srgbClr val="404040"/>
              </a:solidFill>
              <a:latin typeface="Calibri" panose="020F0502020204030204"/>
              <a:ea typeface="Calibri" panose="020F0502020204030204"/>
              <a:cs typeface="Calibri" panose="020F0502020204030204"/>
              <a:sym typeface="微软雅黑" panose="020B0503020204020204" charset="-122"/>
            </a:endParaRPr>
          </a:p>
          <a:p>
            <a:pPr marL="596900" lvl="1" indent="-254000" algn="l">
              <a:lnSpc>
                <a:spcPct val="100000"/>
              </a:lnSpc>
              <a:spcBef>
                <a:spcPts val="750"/>
              </a:spcBef>
              <a:buClr>
                <a:srgbClr val="404040"/>
              </a:buClr>
              <a:buChar char="•"/>
            </a:pP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Moins de déversement</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Peut réduire le parallélisme, toutes les données ont</a:t>
            </a:r>
            <a:r>
              <a:rPr lang="en-US" sz="1780" b="0" i="0" u="none" strike="noStrike">
                <a:solidFill>
                  <a:srgbClr val="404040"/>
                </a:solidFill>
                <a:latin typeface="Calibri" panose="020F0502020204030204"/>
                <a:ea typeface="Calibri" panose="020F0502020204030204"/>
                <a:cs typeface="Calibri" panose="020F0502020204030204"/>
                <a:sym typeface="Calibri" panose="020F0502020204030204"/>
              </a:rPr>
              <a:t> 0 </a:t>
            </a: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latence</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Latence impossible à masquer</a:t>
            </a:r>
            <a:endParaRPr lang="en-US" sz="178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indent="0" algn="l">
              <a:lnSpc>
                <a:spcPct val="100000"/>
              </a:lnSpc>
              <a:spcBef>
                <a:spcPts val="1500"/>
              </a:spcBef>
            </a:pPr>
          </a:p>
          <a:p>
            <a:pPr indent="0" algn="l">
              <a:lnSpc>
                <a:spcPct val="100000"/>
              </a:lnSpc>
              <a:spcBef>
                <a:spcPts val="1500"/>
              </a:spcBef>
            </a:pPr>
            <a:r>
              <a:rPr lang="en-US" sz="21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13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fontScale="90000" lnSpcReduction="20000"/>
          </a:bodyPr>
          <a:lstStyle>
            <a:lvl1pPr algn="l">
              <a:lnSpc>
                <a:spcPct val="92000"/>
              </a:lnSpc>
              <a:defRPr sz="22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SzTx/>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Allocation de registres </a:t>
            </a:r>
            <a:r>
              <a:rPr lang="en-US" sz="1800" b="0" i="0" u="none" strike="noStrike">
                <a:solidFill>
                  <a:srgbClr val="404040"/>
                </a:solidFill>
                <a:latin typeface="Calibri" panose="020F0502020204030204"/>
                <a:ea typeface="Calibri" panose="020F0502020204030204"/>
                <a:cs typeface="Calibri" panose="020F0502020204030204"/>
                <a:sym typeface="微软雅黑" panose="020B0503020204020204" charset="-122"/>
              </a:rPr>
              <a:t>Triton</a:t>
            </a:r>
            <a:endParaRPr lang="en-US" sz="1800" b="0" i="0" u="none" strike="noStrike">
              <a:solidFill>
                <a:srgbClr val="404040"/>
              </a:solidFill>
              <a:latin typeface="Calibri" panose="020F0502020204030204"/>
              <a:ea typeface="Calibri" panose="020F0502020204030204"/>
              <a:cs typeface="Calibri" panose="020F0502020204030204"/>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Contrôle indirectement la pression des registres via</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num_warps </a:t>
            </a:r>
            <a:endPar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p>
          <a:p>
            <a:pPr marL="279400" indent="-279400" algn="l">
              <a:lnSpc>
                <a:spcPct val="92000"/>
              </a:lnSpc>
              <a:spcBef>
                <a:spcPts val="1500"/>
              </a:spcBef>
              <a:buClr>
                <a:srgbClr val="404040"/>
              </a:buClr>
              <a:buChar char="•"/>
            </a:pPr>
            <a:r>
              <a:rPr lang="en-US" sz="16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Configuration</a:t>
            </a:r>
            <a:r>
              <a:rPr lang="en-US" sz="1660" b="0" i="0" u="none" strike="noStrike">
                <a:solidFill>
                  <a:srgbClr val="404040"/>
                </a:solidFill>
                <a:latin typeface="Calibri" panose="020F0502020204030204"/>
                <a:ea typeface="Calibri" panose="020F0502020204030204"/>
                <a:cs typeface="Calibri" panose="020F0502020204030204"/>
                <a:sym typeface="Calibri" panose="020F0502020204030204"/>
              </a:rPr>
              <a:t>Tradeoff	</a:t>
            </a:r>
            <a:endParaRPr lang="en-US" sz="16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84200" lvl="1" indent="-241300" algn="l">
              <a:lnSpc>
                <a:spcPct val="92000"/>
              </a:lnSpc>
              <a:spcBef>
                <a:spcPts val="750"/>
              </a:spcBef>
              <a:buClr>
                <a:srgbClr val="404040"/>
              </a:buClr>
              <a:buChar char="•"/>
            </a:pPr>
            <a:endPar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thread</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64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Occupancy 50%</a:t>
            </a:r>
            <a:endPar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76300" lvl="2" indent="-190500" algn="l">
              <a:lnSpc>
                <a:spcPct val="92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 de spill, suffisamment de warps pour masquer la latence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bonne performance.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thread</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32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Occupancy 100%</a:t>
            </a:r>
            <a:endPar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76300" lvl="2" indent="-190500" algn="l">
              <a:lnSpc>
                <a:spcPct val="92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Spill partiel vers la m</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locale. Bien que les warps soient nombreux, la p</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nalit</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due aux spills est importante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mauvaise performance.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84200" lvl="1" indent="-241300" algn="l">
              <a:lnSpc>
                <a:spcPct val="92000"/>
              </a:lnSpc>
              <a:spcBef>
                <a:spcPts val="750"/>
              </a:spcBef>
              <a:buClr>
                <a:srgbClr val="404040"/>
              </a:buClr>
              <a:buChar char="•"/>
            </a:pP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 thread</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200 </a:t>
            </a:r>
            <a:r>
              <a:rPr lang="en-US" sz="14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registres</a:t>
            </a: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Occupancy 15%</a:t>
            </a:r>
            <a:endPar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76300" lvl="2" indent="-190500" algn="l">
              <a:lnSpc>
                <a:spcPct val="92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Pas de spill, mais trop peu de warps pour masquer la latence m</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mauvaise performance.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r>
              <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3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7" name="Table 7"/>
          <p:cNvGraphicFramePr>
            <a:graphicFrameLocks noGrp="1"/>
          </p:cNvGraphicFramePr>
          <p:nvPr>
            <p:custDataLst>
              <p:tags r:id="rId1"/>
            </p:custDataLst>
          </p:nvPr>
        </p:nvGraphicFramePr>
        <p:xfrm>
          <a:off x="951865" y="1737360"/>
          <a:ext cx="4787265" cy="2651760"/>
        </p:xfrm>
        <a:graphic>
          <a:graphicData uri="http://schemas.openxmlformats.org/drawingml/2006/table">
            <a:tbl>
              <a:tblPr>
                <a:effectLst/>
              </a:tblPr>
              <a:tblGrid>
                <a:gridCol w="1595755"/>
                <a:gridCol w="1595755"/>
                <a:gridCol w="1595755"/>
              </a:tblGrid>
              <a:tr h="0">
                <a:tc>
                  <a:txBody>
                    <a:bodyPr rtlCol="0"/>
                    <a:lstStyle/>
                    <a:p>
                      <a:pPr indent="0" algn="l">
                        <a:lnSpc>
                          <a:spcPct val="100000"/>
                        </a:lnSpc>
                        <a:defRPr/>
                      </a:pPr>
                      <a:r>
                        <a:rPr lang="en-US" sz="16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Caractéristique</a:t>
                      </a:r>
                      <a:endParaRPr lang="en-US" sz="1600"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600" b="0" i="0" u="none" strike="noStrike">
                          <a:solidFill>
                            <a:srgbClr val="FFFFFF"/>
                          </a:solidFill>
                          <a:latin typeface="Calibri" panose="020F0502020204030204"/>
                          <a:ea typeface="Arial" panose="020B0604020202020204"/>
                          <a:cs typeface="Arial" panose="020B0604020202020204"/>
                          <a:sym typeface="Arial" panose="020B0604020202020204"/>
                        </a:rPr>
                        <a:t>CPU</a:t>
                      </a:r>
                      <a:endParaRPr lang="en-US" sz="1600" b="0" i="0" u="none" strike="noStrike">
                        <a:solidFill>
                          <a:srgbClr val="FFFFFF"/>
                        </a:solidFill>
                        <a:latin typeface="Calibri" panose="020F050202020403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c>
                  <a:txBody>
                    <a:bodyPr rtlCol="0"/>
                    <a:lstStyle/>
                    <a:p>
                      <a:pPr indent="0" algn="l">
                        <a:lnSpc>
                          <a:spcPct val="100000"/>
                        </a:lnSpc>
                        <a:defRPr/>
                      </a:pPr>
                      <a:r>
                        <a:rPr lang="en-US" sz="1600" b="0" i="0" u="none" strike="noStrike">
                          <a:solidFill>
                            <a:srgbClr val="FFFFFF"/>
                          </a:solidFill>
                          <a:latin typeface="Calibri" panose="020F0502020204030204"/>
                          <a:ea typeface="Arial" panose="020B0604020202020204"/>
                          <a:cs typeface="Arial" panose="020B0604020202020204"/>
                          <a:sym typeface="Arial" panose="020B0604020202020204"/>
                        </a:rPr>
                        <a:t>GPU</a:t>
                      </a:r>
                      <a:endParaRPr lang="en-US" sz="1600" b="0" i="0" u="none" strike="noStrike">
                        <a:solidFill>
                          <a:srgbClr val="FFFFFF"/>
                        </a:solidFill>
                        <a:latin typeface="Calibri" panose="020F050202020403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4472C4">
                        <a:alpha val="100000"/>
                      </a:srgbClr>
                    </a:solidFill>
                  </a:tcPr>
                </a:tc>
              </a:tr>
              <a:tr h="579120">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Nombre de registres</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600" b="0" i="0" u="none" strike="noStrike">
                          <a:solidFill>
                            <a:srgbClr val="000000"/>
                          </a:solidFill>
                          <a:latin typeface="Calibri" panose="020F0502020204030204"/>
                          <a:ea typeface="Arial" panose="020B0604020202020204"/>
                          <a:cs typeface="Arial" panose="020B0604020202020204"/>
                          <a:sym typeface="Arial" panose="020B0604020202020204"/>
                        </a:rPr>
                        <a:t>~16-32</a:t>
                      </a:r>
                      <a:endParaRPr lang="en-US" sz="16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~255 par thread</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579120">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Threads concurrents</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Peu</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Milliers</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r h="579120">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Coût de déversement</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Faible</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Très élevé</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D5EA">
                        <a:alpha val="100000"/>
                      </a:srgbClr>
                    </a:solidFill>
                  </a:tcPr>
                </a:tc>
              </a:tr>
              <a:tr h="579120">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Taux d'occupation</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Sans impact</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c>
                  <a:txBody>
                    <a:bodyPr rtlCol="0"/>
                    <a:lstStyle/>
                    <a:p>
                      <a:pPr indent="0" algn="l">
                        <a:lnSpc>
                          <a:spcPct val="100000"/>
                        </a:lnSpc>
                        <a:defRPr/>
                      </a:pPr>
                      <a:r>
                        <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Impact direct</a:t>
                      </a:r>
                      <a:endParaRPr lang="en-US" sz="1600" b="0" i="0" u="none" strike="noStrike">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anchor="t">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BF5">
                        <a:alpha val="100000"/>
                      </a:srgbClr>
                    </a:solidFill>
                  </a:tcPr>
                </a:tc>
              </a:tr>
            </a:tbl>
          </a:graphicData>
        </a:graphic>
      </p:graphicFrame>
      <p:sp>
        <p:nvSpPr>
          <p:cNvPr id="8" name="AutoShape 8"/>
          <p:cNvSpPr/>
          <p:nvPr/>
        </p:nvSpPr>
        <p:spPr>
          <a:xfrm>
            <a:off x="6336030" y="2012315"/>
            <a:ext cx="4392930" cy="88900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FB080"/>
                </a:solidFill>
                <a:latin typeface="Menlo" panose="020B0609030804020204"/>
                <a:ea typeface="Menlo" panose="020B0609030804020204"/>
                <a:cs typeface="Menlo" panose="020B0609030804020204"/>
                <a:sym typeface="Menlo" panose="020B0609030804020204"/>
              </a:rPr>
              <a:t>kernel</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a:t>
            </a:r>
            <a:b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Plus de</a:t>
            </a:r>
            <a:r>
              <a:rPr lang="en-US" sz="1000" b="0" i="1" u="none" strike="noStrike">
                <a:solidFill>
                  <a:srgbClr val="E4E4E4"/>
                </a:solidFill>
                <a:latin typeface="Menlo" panose="020B0609030804020204"/>
                <a:ea typeface="Menlo" panose="020B0609030804020204"/>
                <a:cs typeface="Menlo" panose="020B0609030804020204"/>
                <a:sym typeface="Menlo" panose="020B0609030804020204"/>
              </a:rPr>
              <a:t> warps → </a:t>
            </a:r>
            <a:r>
              <a:rPr lang="en-US" sz="10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chaque</a:t>
            </a:r>
            <a:r>
              <a:rPr lang="en-US" sz="1000" b="0" i="1" u="none" strike="noStrike">
                <a:solidFill>
                  <a:srgbClr val="E4E4E4"/>
                </a:solidFill>
                <a:latin typeface="Menlo" panose="020B0609030804020204"/>
                <a:ea typeface="Menlo" panose="020B0609030804020204"/>
                <a:cs typeface="Menlo" panose="020B0609030804020204"/>
                <a:sym typeface="Menlo" panose="020B0609030804020204"/>
              </a:rPr>
              <a:t> warp </a:t>
            </a:r>
            <a:r>
              <a:rPr lang="en-US" sz="10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 moins de registres</a:t>
            </a:r>
            <a:r>
              <a:rPr lang="en-US" sz="1000" b="0" i="1" u="none" strike="noStrike">
                <a:solidFill>
                  <a:srgbClr val="E4E4E4"/>
                </a:solidFill>
                <a:latin typeface="Menlo" panose="020B0609030804020204"/>
                <a:ea typeface="Menlo" panose="020B0609030804020204"/>
                <a:cs typeface="Menlo" panose="020B0609030804020204"/>
                <a:sym typeface="Menlo" panose="020B0609030804020204"/>
              </a:rPr>
              <a:t> → </a:t>
            </a:r>
            <a:endParaRPr lang="en-US" sz="1000"/>
          </a:p>
          <a:p>
            <a:pPr indent="0" algn="l">
              <a:lnSpc>
                <a:spcPct val="100000"/>
              </a:lnSpc>
            </a:pPr>
            <a:r>
              <a:rPr lang="en-US" sz="1000" b="0" i="1" u="none" strike="noStrike">
                <a:solidFill>
                  <a:srgbClr val="E4E4E4"/>
                </a:solidFill>
                <a:latin typeface="Menlo" panose="020B0609030804020204"/>
                <a:ea typeface="Menlo" panose="020B0609030804020204"/>
                <a:cs typeface="Menlo" panose="020B0609030804020204"/>
                <a:sym typeface="Menlo" panose="020B0609030804020204"/>
              </a:rPr>
              <a:t>	# Occupancy </a:t>
            </a:r>
            <a:r>
              <a:rPr lang="en-US" sz="10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élevée</a:t>
            </a:r>
            <a:endParaRPr lang="en-US" sz="10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kernel</a:t>
            </a:r>
            <a:r>
              <a:rPr lang="en-US" sz="10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grid</a:t>
            </a:r>
            <a:r>
              <a:rPr lang="en-US" sz="10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000" b="0" i="0" u="none" strike="noStrike">
                <a:solidFill>
                  <a:srgbClr val="CCCCCC"/>
                </a:solidFill>
                <a:latin typeface="Menlo" panose="020B0609030804020204"/>
                <a:ea typeface="Menlo" panose="020B0609030804020204"/>
                <a:cs typeface="Menlo" panose="020B0609030804020204"/>
                <a:sym typeface="Menlo" panose="020B0609030804020204"/>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1" u="none" strike="noStrike">
                <a:solidFill>
                  <a:srgbClr val="D6D6DD"/>
                </a:solidFill>
                <a:latin typeface="Menlo" panose="020B0609030804020204"/>
                <a:ea typeface="Menlo" panose="020B0609030804020204"/>
                <a:cs typeface="Menlo" panose="020B0609030804020204"/>
                <a:sym typeface="Menlo" panose="020B0609030804020204"/>
              </a:rPr>
              <a:t>num_warps</a:t>
            </a:r>
            <a:r>
              <a:rPr lang="en-US" sz="10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000" b="0" i="0" u="none" strike="noStrike">
                <a:solidFill>
                  <a:srgbClr val="EBC88D"/>
                </a:solidFill>
                <a:latin typeface="Menlo" panose="020B0609030804020204"/>
                <a:ea typeface="Menlo" panose="020B0609030804020204"/>
                <a:cs typeface="Menlo" panose="020B0609030804020204"/>
                <a:sym typeface="Menlo" panose="020B0609030804020204"/>
              </a:rPr>
              <a:t>8</a:t>
            </a:r>
            <a:r>
              <a:rPr lang="en-US" sz="10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05"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305"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Ordonnancement des instructions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Minimiser le temps d'execution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Masquer la latence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Exploiter le parallelisme au niveau instruction</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(ILP)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17220" y="2923382"/>
            <a:ext cx="3657600" cy="22288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56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Sequence d'instructions</a:t>
            </a: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1: r1 = load [ptr1] </a:t>
            </a:r>
            <a:r>
              <a:rPr lang="en-US" sz="156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latence</a:t>
            </a: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 300 cycles</a:t>
            </a:r>
            <a:endParaRPr lang="en-US" sz="156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2: r2 = load [ptr2] </a:t>
            </a:r>
            <a:r>
              <a:rPr lang="en-US" sz="156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latence</a:t>
            </a: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 300 cycles</a:t>
            </a:r>
            <a:endParaRPr lang="en-US" sz="156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3: r3 = r1 + r2 </a:t>
            </a:r>
            <a:r>
              <a:rPr lang="en-US" sz="156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dependance</a:t>
            </a: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 1, 2</a:t>
            </a:r>
            <a:endParaRPr lang="en-US" sz="156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4: r4 = r3 * 2 </a:t>
            </a:r>
            <a:r>
              <a:rPr lang="en-US" sz="156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dependance</a:t>
            </a: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 3</a:t>
            </a:r>
            <a:endParaRPr lang="en-US" sz="156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5: store [ptr3], r4 </a:t>
            </a:r>
            <a:r>
              <a:rPr lang="en-US" sz="156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dependance</a:t>
            </a:r>
            <a:r>
              <a:rPr lang="en-US" sz="1560" b="0" i="0" u="none" strike="noStrike">
                <a:solidFill>
                  <a:srgbClr val="E4E4E4"/>
                </a:solidFill>
                <a:latin typeface="Menlo" panose="020B0609030804020204"/>
                <a:ea typeface="Menlo" panose="020B0609030804020204"/>
                <a:cs typeface="Menlo" panose="020B0609030804020204"/>
                <a:sym typeface="Menlo" panose="020B0609030804020204"/>
              </a:rPr>
              <a:t> 4</a:t>
            </a:r>
            <a:endParaRPr lang="en-US" sz="156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7" name="AutoShape 7"/>
          <p:cNvSpPr/>
          <p:nvPr/>
        </p:nvSpPr>
        <p:spPr>
          <a:xfrm>
            <a:off x="4469130" y="2923382"/>
            <a:ext cx="3131820" cy="22288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4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Graphe de dependances</a:t>
            </a: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load1 (300) load2 (300)</a:t>
            </a:r>
            <a:endParaRPr lang="en-US" sz="13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 			/</a:t>
            </a:r>
            <a:endParaRPr lang="en-US" sz="13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add (4)</a:t>
            </a:r>
            <a:endParaRPr lang="en-US" sz="13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3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mul (4)</a:t>
            </a:r>
            <a:endParaRPr lang="en-US" sz="13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34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345" b="0" i="0" u="none" strike="noStrike">
                <a:solidFill>
                  <a:srgbClr val="E4E4E4"/>
                </a:solidFill>
                <a:latin typeface="Menlo" panose="020B0609030804020204"/>
                <a:ea typeface="Menlo" panose="020B0609030804020204"/>
                <a:cs typeface="Menlo" panose="020B0609030804020204"/>
                <a:sym typeface="Menlo" panose="020B0609030804020204"/>
              </a:rPr>
              <a:t>		 store</a:t>
            </a:r>
            <a:endParaRPr lang="en-US" sz="1345"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7772399" y="2923382"/>
            <a:ext cx="4122421" cy="22288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5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Resultat de l'ordonnancement</a:t>
            </a: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 (2-</a:t>
            </a:r>
            <a:r>
              <a:rPr lang="en-US" sz="15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emission</a:t>
            </a: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Cycle 0: load1, load2 (</a:t>
            </a:r>
            <a:r>
              <a:rPr lang="en-US" sz="15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emission parallele</a:t>
            </a: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51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Cycle 300: add (</a:t>
            </a:r>
            <a:r>
              <a:rPr lang="en-US" sz="15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attente</a:t>
            </a: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 load </a:t>
            </a:r>
            <a:r>
              <a:rPr lang="en-US" sz="151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termine</a:t>
            </a: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51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Cycle 304: mul</a:t>
            </a:r>
            <a:endParaRPr lang="en-US" sz="151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510" b="0" i="0" u="none" strike="noStrike">
                <a:solidFill>
                  <a:srgbClr val="E4E4E4"/>
                </a:solidFill>
                <a:latin typeface="Menlo" panose="020B0609030804020204"/>
                <a:ea typeface="Menlo" panose="020B0609030804020204"/>
                <a:cs typeface="Menlo" panose="020B0609030804020204"/>
                <a:sym typeface="Menlo" panose="020B0609030804020204"/>
              </a:rPr>
              <a:t>Cycle 308: store</a:t>
            </a:r>
            <a:endParaRPr lang="en-US" sz="151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Ordonnancement des instructions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Ordonnancement par liste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Priority Queue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ordonnancement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Calculer la priorite de chaque instruction</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longueur du chemin critique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Maintenir une file prete</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dependances satisfaites</a:t>
            </a:r>
            <a:r>
              <a:rPr lang="en-US"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À</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chaque cycle,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mettre l'instruction pr</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ê</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 avec la plus haute priorit</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Mettre à jour l'</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des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pendances</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Pipeline logiciel</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Superposer l'ex</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des instructions de diff</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rentes it</a:t>
            </a:r>
            <a:r>
              <a:rPr lang="en-US" alt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dans une boucle.</a:t>
            </a:r>
            <a:endParaRPr lang="en-US" sz="15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0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du pipeline sur GPU</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Triton utilise le param</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`num_stages` pour le contrôle.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Copie m</a:t>
            </a:r>
            <a:r>
              <a:rPr lang="en-US" altLang="en-US"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b="0" i="0" u="none" strike="noStrike">
                <a:solidFill>
                  <a:srgbClr val="404040"/>
                </a:solidFill>
                <a:latin typeface="Calibri" panose="020F0502020204030204"/>
                <a:ea typeface="Calibri" panose="020F0502020204030204"/>
                <a:cs typeface="Calibri" panose="020F0502020204030204"/>
                <a:sym typeface="Calibri" panose="020F0502020204030204"/>
              </a:rPr>
              <a:t>moire asynchrone (`cp.async`).</a:t>
            </a:r>
            <a:endParaRPr lang="en-US"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Hopper TMA prend en charge nativement le pipeline multi-niveaux.</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7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9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761200" y="4928405"/>
            <a:ext cx="4973957" cy="1566546"/>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100"/>
          </a:p>
          <a:p>
            <a:pPr indent="0" algn="l">
              <a:lnSpc>
                <a:spcPct val="100000"/>
              </a:lnSpc>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Iter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Stage1(Load)</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Stage2(Compute)</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Stage2(Compute)</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Stage3(Store)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T=0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load[0]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T=1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load[1]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compute[0]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T=2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load[2]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compute[1]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store[0]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T=3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load[3]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compute[2]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store[1]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825" b="0" i="0" u="none" strike="noStrike">
                <a:solidFill>
                  <a:srgbClr val="E4E4E4"/>
                </a:solidFill>
                <a:latin typeface="Menlo" panose="020B0609030804020204"/>
                <a:ea typeface="Menlo" panose="020B0609030804020204"/>
                <a:cs typeface="Menlo" panose="020B0609030804020204"/>
                <a:sym typeface="Menlo" panose="020B0609030804020204"/>
              </a:rPr>
              <a:t> ...          </a:t>
            </a: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825"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8" name="AutoShape 8"/>
          <p:cNvSpPr/>
          <p:nvPr/>
        </p:nvSpPr>
        <p:spPr>
          <a:xfrm>
            <a:off x="6352377" y="3786041"/>
            <a:ext cx="5211282" cy="270891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65" b="0" i="0" u="none" strike="noStrike">
                <a:solidFill>
                  <a:srgbClr val="A8CC7C"/>
                </a:solidFill>
                <a:latin typeface="Menlo" panose="020B0609030804020204"/>
                <a:ea typeface="Menlo" panose="020B0609030804020204"/>
                <a:cs typeface="Menlo" panose="020B0609030804020204"/>
                <a:sym typeface="Menlo" panose="020B0609030804020204"/>
              </a:rPr>
              <a:t>@triton</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A8CC7C"/>
                </a:solidFill>
                <a:latin typeface="Menlo" panose="020B0609030804020204"/>
                <a:ea typeface="Menlo" panose="020B0609030804020204"/>
                <a:cs typeface="Menlo" panose="020B0609030804020204"/>
                <a:sym typeface="Menlo" panose="020B0609030804020204"/>
              </a:rPr>
              <a:t>jit</a:t>
            </a:r>
            <a:endParaRPr lang="en-US" sz="1100"/>
          </a:p>
          <a:p>
            <a:pPr indent="0" algn="l">
              <a:lnSpc>
                <a:spcPct val="100000"/>
              </a:lnSpc>
            </a:pPr>
            <a:r>
              <a:rPr lang="en-US" sz="1365"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65" b="0" i="0" u="none" strike="noStrike">
                <a:solidFill>
                  <a:srgbClr val="EFB080"/>
                </a:solidFill>
                <a:latin typeface="Menlo" panose="020B0609030804020204"/>
                <a:ea typeface="Menlo" panose="020B0609030804020204"/>
                <a:cs typeface="Menlo" panose="020B0609030804020204"/>
                <a:sym typeface="Menlo" panose="020B0609030804020204"/>
              </a:rPr>
              <a:t>matmul_kernel</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36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p>
          <a:p>
            <a:pPr marL="457200" lvl="1" indent="0" algn="l">
              <a:lnSpc>
                <a:spcPct val="100000"/>
              </a:lnSpc>
            </a:pP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num_stages </a:t>
            </a:r>
            <a:r>
              <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 num_stages </a:t>
            </a:r>
            <a:endPar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65" b="0" i="1" u="none" strike="noStrike">
                <a:solidFill>
                  <a:srgbClr val="82D2CE"/>
                </a:solidFill>
                <a:latin typeface="Menlo" panose="020B0609030804020204"/>
                <a:ea typeface="Menlo" panose="020B0609030804020204"/>
                <a:cs typeface="Menlo" panose="020B0609030804020204"/>
                <a:sym typeface="Menlo" panose="020B0609030804020204"/>
              </a:rPr>
              <a:t>for</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k </a:t>
            </a:r>
            <a:r>
              <a:rPr lang="en-US" sz="1365" b="0" i="1" u="none" strike="noStrike">
                <a:solidFill>
                  <a:srgbClr val="82D2CE"/>
                </a:solidFill>
                <a:latin typeface="Menlo" panose="020B0609030804020204"/>
                <a:ea typeface="Menlo" panose="020B0609030804020204"/>
                <a:cs typeface="Menlo" panose="020B0609030804020204"/>
                <a:sym typeface="Menlo" panose="020B0609030804020204"/>
              </a:rPr>
              <a:t>in</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65" b="0" i="0" u="none" strike="noStrike">
                <a:solidFill>
                  <a:srgbClr val="EFB080"/>
                </a:solidFill>
                <a:latin typeface="Menlo" panose="020B0609030804020204"/>
                <a:ea typeface="Menlo" panose="020B0609030804020204"/>
                <a:cs typeface="Menlo" panose="020B0609030804020204"/>
                <a:sym typeface="Menlo" panose="020B0609030804020204"/>
              </a:rPr>
              <a:t>range</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K</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BLOCK_K</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365"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p>
          <a:p>
            <a:pPr marL="914400" lvl="2" indent="0" algn="l">
              <a:lnSpc>
                <a:spcPct val="100000"/>
              </a:lnSpc>
            </a:pP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Stage 1: Prefetch next tile</a:t>
            </a:r>
            <a:endParaRPr lang="en-US" sz="1365"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tl</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A_ptr_next</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65" b="0" i="0" u="none" strike="noStrike">
                <a:solidFill>
                  <a:srgbClr val="CCCCCC"/>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asynchrone</a:t>
            </a:r>
            <a:endPar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p>
          <a:p>
            <a:pPr marL="914400" lvl="2" indent="0" algn="l">
              <a:lnSpc>
                <a:spcPct val="100000"/>
              </a:lnSpc>
            </a:pP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Stage 2: Compute current tile</a:t>
            </a:r>
            <a:endParaRPr lang="en-US" sz="1365" b="0" i="1"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acc </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AAA0FA"/>
                </a:solidFill>
                <a:latin typeface="Menlo" panose="020B0609030804020204"/>
                <a:ea typeface="Menlo" panose="020B0609030804020204"/>
                <a:cs typeface="Menlo" panose="020B0609030804020204"/>
                <a:sym typeface="Menlo" panose="020B0609030804020204"/>
              </a:rPr>
              <a:t>dot</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a</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b</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65" b="0" i="0" u="none" strike="noStrike">
                <a:solidFill>
                  <a:srgbClr val="E4E4E4"/>
                </a:solidFill>
                <a:latin typeface="Menlo" panose="020B0609030804020204"/>
                <a:ea typeface="Menlo" panose="020B0609030804020204"/>
                <a:cs typeface="Menlo" panose="020B0609030804020204"/>
                <a:sym typeface="Menlo" panose="020B0609030804020204"/>
              </a:rPr>
              <a:t> acc</a:t>
            </a:r>
            <a:r>
              <a:rPr lang="en-US" sz="1365"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365"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pipeline implicite</a:t>
            </a: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load </a:t>
            </a:r>
            <a:r>
              <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1365" b="0" i="1" u="none" strike="noStrike">
                <a:solidFill>
                  <a:srgbClr val="E4E4E4"/>
                </a:solidFill>
                <a:latin typeface="Menlo" panose="020B0609030804020204"/>
                <a:ea typeface="Menlo" panose="020B0609030804020204"/>
                <a:cs typeface="Menlo" panose="020B0609030804020204"/>
                <a:sym typeface="Menlo" panose="020B0609030804020204"/>
              </a:rPr>
              <a:t> compute </a:t>
            </a:r>
            <a:r>
              <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superposes</a:t>
            </a:r>
            <a:endParaRPr lang="en-US" sz="1365"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Framework de g</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ration de code LLVM</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LLVM IR -&gt; SelectionDAG -&gt; Machine IR (MIR) -&gt; MC Layer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1953491"/>
            <a:ext cx="768741" cy="3990109"/>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LLVM</a:t>
            </a:r>
            <a:endParaRPr lang="en-US" sz="1100"/>
          </a:p>
          <a:p>
            <a:pPr indent="0" algn="ctr">
              <a:lnSpc>
                <a:spcPct val="100000"/>
              </a:lnSpc>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IR</a:t>
            </a:r>
            <a:endParaRPr lang="en-US" sz="1800" b="0" i="0" u="none" strike="noStrike">
              <a:solidFill>
                <a:srgbClr val="FFFFFF"/>
              </a:solidFill>
              <a:latin typeface="Calibri" panose="020F0502020204030204"/>
              <a:ea typeface="Arial" panose="020B0604020202020204"/>
              <a:cs typeface="Arial" panose="020B0604020202020204"/>
              <a:sym typeface="Arial" panose="020B0604020202020204"/>
            </a:endParaRPr>
          </a:p>
        </p:txBody>
      </p:sp>
      <p:sp>
        <p:nvSpPr>
          <p:cNvPr id="7" name="AutoShape 7"/>
          <p:cNvSpPr/>
          <p:nvPr/>
        </p:nvSpPr>
        <p:spPr>
          <a:xfrm>
            <a:off x="1932894" y="1953491"/>
            <a:ext cx="4163105" cy="3990109"/>
          </a:xfrm>
          <a:prstGeom prst="rect">
            <a:avLst/>
          </a:prstGeom>
          <a:solidFill>
            <a:srgbClr val="ED7D31">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l">
              <a:lnSpc>
                <a:spcPct val="100000"/>
              </a:lnSpc>
              <a:defRPr/>
            </a:pP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SelectionDAG</a:t>
            </a:r>
            <a:endParaRPr lang="en-US" sz="1100"/>
          </a:p>
          <a:p>
            <a:pPr indent="0" algn="l">
              <a:lnSpc>
                <a:spcPct val="100000"/>
              </a:lnSpc>
            </a:pPr>
          </a:p>
          <a:p>
            <a:pPr indent="0" algn="l">
              <a:lnSpc>
                <a:spcPct val="100000"/>
              </a:lnSpc>
            </a:pP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1. DAG </a:t>
            </a:r>
            <a:r>
              <a:rPr lang="en-US" sz="162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construction</a:t>
            </a: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 (Build DAG)</a:t>
            </a:r>
            <a:endParaRPr lang="en-US" sz="1625" b="0" i="0" u="none" strike="noStrike">
              <a:solidFill>
                <a:srgbClr val="FFFFFF"/>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2. </a:t>
            </a:r>
            <a:r>
              <a:rPr lang="en-US" sz="162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legalisation des types</a:t>
            </a: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 (Type Legalization) </a:t>
            </a:r>
            <a:endParaRPr lang="en-US" sz="1625" b="0" i="0" u="none" strike="noStrike">
              <a:solidFill>
                <a:srgbClr val="FFFFFF"/>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3. </a:t>
            </a:r>
            <a:r>
              <a:rPr lang="en-US" sz="162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legalisation des operations</a:t>
            </a: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 (Operation Legalization)</a:t>
            </a:r>
            <a:endParaRPr lang="en-US" sz="1625" b="0" i="0" u="none" strike="noStrike">
              <a:solidFill>
                <a:srgbClr val="FFFFFF"/>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4. DAG </a:t>
            </a:r>
            <a:r>
              <a:rPr lang="en-US" sz="162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optimisation</a:t>
            </a: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 (DAG Combine) </a:t>
            </a:r>
            <a:endParaRPr lang="en-US" sz="1625" b="0" i="0" u="none" strike="noStrike">
              <a:solidFill>
                <a:srgbClr val="FFFFFF"/>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5. </a:t>
            </a:r>
            <a:r>
              <a:rPr lang="en-US" sz="162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selection d'instructions</a:t>
            </a: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 (Instruction Selection) </a:t>
            </a:r>
            <a:endParaRPr lang="en-US" sz="1625" b="0" i="0" u="none" strike="noStrike">
              <a:solidFill>
                <a:srgbClr val="FFFFFF"/>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6. </a:t>
            </a:r>
            <a:r>
              <a:rPr lang="en-US" sz="162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ordonnancement</a:t>
            </a:r>
            <a:r>
              <a:rPr lang="en-US" sz="1625" b="0" i="0" u="none" strike="noStrike">
                <a:solidFill>
                  <a:srgbClr val="FFFFFF"/>
                </a:solidFill>
                <a:latin typeface="Calibri" panose="020F0502020204030204"/>
                <a:ea typeface="Arial" panose="020B0604020202020204"/>
                <a:cs typeface="Arial" panose="020B0604020202020204"/>
                <a:sym typeface="Arial" panose="020B0604020202020204"/>
              </a:rPr>
              <a:t> (Scheduling) </a:t>
            </a:r>
            <a:endParaRPr lang="en-US" sz="1625" b="0" i="0" u="none" strike="noStrike">
              <a:solidFill>
                <a:srgbClr val="FFFFFF"/>
              </a:solidFill>
              <a:latin typeface="Calibri" panose="020F0502020204030204"/>
              <a:ea typeface="Arial" panose="020B0604020202020204"/>
              <a:cs typeface="Arial" panose="020B0604020202020204"/>
              <a:sym typeface="Arial" panose="020B0604020202020204"/>
            </a:endParaRPr>
          </a:p>
          <a:p>
            <a:pPr indent="0" algn="ctr">
              <a:lnSpc>
                <a:spcPct val="100000"/>
              </a:lnSpc>
            </a:pPr>
            <a:r>
              <a:rPr lang="en-US" sz="1625"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625"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8" name="AutoShape 8"/>
          <p:cNvSpPr/>
          <p:nvPr/>
        </p:nvSpPr>
        <p:spPr>
          <a:xfrm>
            <a:off x="6518748" y="1953490"/>
            <a:ext cx="2999325" cy="3990109"/>
          </a:xfrm>
          <a:prstGeom prst="rect">
            <a:avLst/>
          </a:prstGeom>
          <a:solidFill>
            <a:srgbClr val="70AD47">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l">
              <a:lnSpc>
                <a:spcPct val="100000"/>
              </a:lnSpc>
              <a:defRPr/>
            </a:pPr>
            <a:r>
              <a:rPr lang="en-US" sz="1565" b="0" i="0" u="none" strike="noStrike">
                <a:solidFill>
                  <a:srgbClr val="FFFFFF"/>
                </a:solidFill>
                <a:latin typeface="Calibri" panose="020F0502020204030204"/>
                <a:ea typeface="Arial" panose="020B0604020202020204"/>
                <a:cs typeface="Arial" panose="020B0604020202020204"/>
                <a:sym typeface="Arial" panose="020B0604020202020204"/>
              </a:rPr>
              <a:t>Machine IR (MIR) </a:t>
            </a:r>
            <a:endParaRPr lang="en-US" sz="1100"/>
          </a:p>
          <a:p>
            <a:pPr marL="228600" indent="-228600" algn="l">
              <a:lnSpc>
                <a:spcPct val="100000"/>
              </a:lnSpc>
              <a:buClr>
                <a:srgbClr val="FFFFFF"/>
              </a:buClr>
              <a:buFont typeface="+mj-lt"/>
              <a:buAutoNum type="arabicPeriod"/>
            </a:pPr>
            <a:r>
              <a:rPr lang="en-US" sz="1565" b="0" i="0" u="none" strike="noStrike">
                <a:solidFill>
                  <a:srgbClr val="FFFFFF"/>
                </a:solidFill>
                <a:latin typeface="Calibri" panose="020F0502020204030204"/>
                <a:ea typeface="Arial" panose="020B0604020202020204"/>
                <a:cs typeface="Arial" panose="020B0604020202020204"/>
                <a:sym typeface="Arial" panose="020B0604020202020204"/>
              </a:rPr>
              <a:t>SSA </a:t>
            </a:r>
            <a:r>
              <a:rPr lang="en-US" sz="156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forme d'instructions machine</a:t>
            </a:r>
            <a:endParaRPr lang="en-US" sz="156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565" b="0" i="0" u="none" strike="noStrike">
                <a:solidFill>
                  <a:srgbClr val="FFFFFF"/>
                </a:solidFill>
                <a:latin typeface="Calibri" panose="020F0502020204030204"/>
                <a:ea typeface="Arial" panose="020B0604020202020204"/>
                <a:cs typeface="Arial" panose="020B0604020202020204"/>
                <a:sym typeface="Arial" panose="020B0604020202020204"/>
              </a:rPr>
              <a:t>2. </a:t>
            </a:r>
            <a:r>
              <a:rPr lang="en-US" sz="156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allocation de registres</a:t>
            </a:r>
            <a:endParaRPr lang="en-US" sz="156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565" b="0" i="0" u="none" strike="noStrike">
                <a:solidFill>
                  <a:srgbClr val="FFFFFF"/>
                </a:solidFill>
                <a:latin typeface="Calibri" panose="020F0502020204030204"/>
                <a:ea typeface="Arial" panose="020B0604020202020204"/>
                <a:cs typeface="Arial" panose="020B0604020202020204"/>
                <a:sym typeface="Arial" panose="020B0604020202020204"/>
              </a:rPr>
              <a:t>3. Prologue/Epilogue </a:t>
            </a:r>
            <a:r>
              <a:rPr lang="en-US" sz="156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insertion</a:t>
            </a:r>
            <a:endParaRPr lang="en-US" sz="156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pPr>
            <a:r>
              <a:rPr lang="en-US" sz="1565" b="0" i="0" u="none" strike="noStrike">
                <a:solidFill>
                  <a:srgbClr val="FFFFFF"/>
                </a:solidFill>
                <a:latin typeface="Calibri" panose="020F0502020204030204"/>
                <a:ea typeface="Arial" panose="020B0604020202020204"/>
                <a:cs typeface="Arial" panose="020B0604020202020204"/>
                <a:sym typeface="Arial" panose="020B0604020202020204"/>
              </a:rPr>
              <a:t>4. </a:t>
            </a:r>
            <a:r>
              <a:rPr lang="en-US" sz="156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optimisation du code machine finale</a:t>
            </a:r>
            <a:r>
              <a:rPr lang="en-US" sz="1565"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565" b="0" i="0" u="none" strike="noStrike">
              <a:solidFill>
                <a:srgbClr val="FFFFFF"/>
              </a:solidFill>
              <a:latin typeface="Calibri" panose="020F0502020204030204"/>
              <a:ea typeface="Arial" panose="020B0604020202020204"/>
              <a:cs typeface="Arial" panose="020B0604020202020204"/>
              <a:sym typeface="Arial" panose="020B0604020202020204"/>
            </a:endParaRPr>
          </a:p>
        </p:txBody>
      </p:sp>
      <p:sp>
        <p:nvSpPr>
          <p:cNvPr id="9" name="AutoShape 9"/>
          <p:cNvSpPr/>
          <p:nvPr/>
        </p:nvSpPr>
        <p:spPr>
          <a:xfrm>
            <a:off x="9940823" y="1953490"/>
            <a:ext cx="1860652" cy="3990109"/>
          </a:xfrm>
          <a:prstGeom prst="rect">
            <a:avLst/>
          </a:prstGeom>
          <a:solidFill>
            <a:srgbClr val="FFC000">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37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Emission d'assemblage</a:t>
            </a:r>
            <a:endParaRPr lang="en-US" sz="1100"/>
          </a:p>
          <a:p>
            <a:pPr indent="0" algn="ctr">
              <a:lnSpc>
                <a:spcPct val="100000"/>
              </a:lnSpc>
            </a:pPr>
            <a:r>
              <a:rPr lang="en-US" sz="137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rPr>
              <a:t>Generation de fichier objet</a:t>
            </a:r>
            <a:endParaRPr lang="en-US" sz="1375" b="0" i="0" u="none" strike="noStrike">
              <a:solidFill>
                <a:srgbClr val="FFFFFF"/>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cxnSp>
        <p:nvCxnSpPr>
          <p:cNvPr id="10" name="Connector 10"/>
          <p:cNvCxnSpPr/>
          <p:nvPr/>
        </p:nvCxnSpPr>
        <p:spPr>
          <a:xfrm>
            <a:off x="1510145" y="3948546"/>
            <a:ext cx="422749" cy="0"/>
          </a:xfrm>
          <a:prstGeom prst="straightConnector1">
            <a:avLst/>
          </a:prstGeom>
          <a:noFill/>
          <a:ln w="63500" cap="flat">
            <a:solidFill>
              <a:srgbClr val="4472C4">
                <a:alpha val="100000"/>
              </a:srgbClr>
            </a:solidFill>
            <a:prstDash val="solid"/>
            <a:headEnd type="none" w="med" len="med"/>
            <a:tailEnd type="triangle" w="med" len="med"/>
          </a:ln>
        </p:spPr>
      </p:cxnSp>
      <p:cxnSp>
        <p:nvCxnSpPr>
          <p:cNvPr id="11" name="Connector 11"/>
          <p:cNvCxnSpPr/>
          <p:nvPr/>
        </p:nvCxnSpPr>
        <p:spPr>
          <a:xfrm flipV="1">
            <a:off x="6095999" y="3948545"/>
            <a:ext cx="422749" cy="1"/>
          </a:xfrm>
          <a:prstGeom prst="straightConnector1">
            <a:avLst/>
          </a:prstGeom>
          <a:noFill/>
          <a:ln w="63500" cap="flat">
            <a:solidFill>
              <a:srgbClr val="4472C4">
                <a:alpha val="100000"/>
              </a:srgbClr>
            </a:solidFill>
            <a:prstDash val="solid"/>
            <a:headEnd type="none" w="med" len="med"/>
            <a:tailEnd type="triangle" w="med" len="med"/>
          </a:ln>
        </p:spPr>
      </p:cxnSp>
      <p:cxnSp>
        <p:nvCxnSpPr>
          <p:cNvPr id="12" name="Connector 12"/>
          <p:cNvCxnSpPr/>
          <p:nvPr/>
        </p:nvCxnSpPr>
        <p:spPr>
          <a:xfrm>
            <a:off x="9518073" y="3948545"/>
            <a:ext cx="422750" cy="0"/>
          </a:xfrm>
          <a:prstGeom prst="straightConnector1">
            <a:avLst/>
          </a:prstGeom>
          <a:noFill/>
          <a:ln w="63500" cap="flat">
            <a:solidFill>
              <a:srgbClr val="4472C4">
                <a:alpha val="100000"/>
              </a:srgbClr>
            </a:solidFill>
            <a:prstDash val="solid"/>
            <a:headEnd type="none" w="med" len="med"/>
            <a:tailEnd type="triangle"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SelectionDAG</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6573504" cy="4852988"/>
          </a:xfrm>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微软雅黑" panose="020B0503020204020204" charset="-122"/>
              </a:defRPr>
            </a:lvl1pPr>
          </a:lstStyle>
          <a:p>
            <a:pPr marL="304800" indent="-304800" algn="l">
              <a:lnSpc>
                <a:spcPct val="92000"/>
              </a:lnSpc>
              <a:spcBef>
                <a:spcPts val="1500"/>
              </a:spcBef>
              <a:buClr>
                <a:srgbClr val="404040"/>
              </a:buClr>
              <a:buChar char="•"/>
            </a:pPr>
            <a:r>
              <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Types de nœuds</a:t>
            </a:r>
            <a:endPar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Opcode</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(Opcode) : ADD, MUL, LOAD, STORE, ...</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Type de valeur</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(Value Type) : i32, f32, v4f32, ...</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Chaine d'operandes</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(Operand Chain) : </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dependances</a:t>
            </a:r>
            <a:endPar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altLang="zh-CN"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Informations de d</a:t>
            </a:r>
            <a:r>
              <a:rPr lang="en-US" alt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bogage</a:t>
            </a:r>
            <a:endPar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galisation des types (lorsque la machine cible ne prend pas en charge certains types)</a:t>
            </a:r>
            <a:endPar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Original</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 add i128 %a, %b</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Legalise</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4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divise en deux</a:t>
            </a: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i64) :</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%lo = add i64 %a.lo, %b.lo</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%carry = ...</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%hi = add i64 %a.hi, %b.hi</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%hi = add i64 %hi, %carry</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p>
          <a:p>
            <a:pPr marL="342900" lvl="1" indent="0" algn="l">
              <a:lnSpc>
                <a:spcPct val="92000"/>
              </a:lnSpc>
              <a:spcBef>
                <a:spcPts val="750"/>
              </a:spcBef>
            </a:pPr>
            <a:r>
              <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43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097378" y="1325131"/>
            <a:ext cx="2114163" cy="242533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Machine IR </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et description de la cible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915" b="0" i="0" u="none" strike="noStrike">
                <a:solidFill>
                  <a:srgbClr val="404040"/>
                </a:solidFill>
                <a:latin typeface="Calibri" panose="020F0502020204030204"/>
                <a:ea typeface="Calibri" panose="020F0502020204030204"/>
                <a:cs typeface="Calibri" panose="020F0502020204030204"/>
                <a:sym typeface="Calibri" panose="020F0502020204030204"/>
              </a:rPr>
              <a:t>Phase MIR </a:t>
            </a:r>
            <a:endParaRPr lang="en-US" sz="19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95" b="0" i="0" u="none" strike="noStrike">
                <a:solidFill>
                  <a:srgbClr val="404040"/>
                </a:solidFill>
                <a:latin typeface="Calibri" panose="020F0502020204030204"/>
                <a:ea typeface="Calibri" panose="020F0502020204030204"/>
                <a:cs typeface="Calibri" panose="020F0502020204030204"/>
                <a:sym typeface="Calibri" panose="020F0502020204030204"/>
              </a:rPr>
              <a:t>Utilise encore des registres virtuels (%vreg0, %vreg1, ...)</a:t>
            </a:r>
            <a:endPar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Apr</a:t>
            </a:r>
            <a:r>
              <a:rPr lang="en-US" alt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l’allocation des registres, ceux-ci deviennent des registres physique</a:t>
            </a:r>
            <a:r>
              <a:rPr lang="en-US" sz="15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rPr>
              <a:t> (%eax, %r0, ...)</a:t>
            </a:r>
            <a:endPar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95" b="0" i="0" u="none" strike="noStrike">
                <a:solidFill>
                  <a:srgbClr val="404040"/>
                </a:solidFill>
                <a:latin typeface="Calibri" panose="020F0502020204030204"/>
                <a:ea typeface="Calibri" panose="020F0502020204030204"/>
                <a:cs typeface="Calibri" panose="020F0502020204030204"/>
                <a:sym typeface="Calibri" panose="020F0502020204030204"/>
              </a:rPr>
              <a:t>Ajout du prologue / </a:t>
            </a:r>
            <a:r>
              <a:rPr lang="en-US" altLang="en-US" sz="159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95" b="0" i="0" u="none" strike="noStrike">
                <a:solidFill>
                  <a:srgbClr val="404040"/>
                </a:solidFill>
                <a:latin typeface="Calibri" panose="020F0502020204030204"/>
                <a:ea typeface="Calibri" panose="020F0502020204030204"/>
                <a:cs typeface="Calibri" panose="020F0502020204030204"/>
                <a:sym typeface="Calibri" panose="020F0502020204030204"/>
              </a:rPr>
              <a:t>pilogue de la fonction (mise en place de la pile).</a:t>
            </a:r>
            <a:endPar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9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rmAutofit lnSpcReduction="10000"/>
          </a:bodyPr>
          <a:lstStyle>
            <a:lvl1pPr algn="l">
              <a:lnSpc>
                <a:spcPct val="92000"/>
              </a:lnSpc>
              <a:defRPr sz="2200" b="0" i="0" u="none" strike="noStrike" spc="0">
                <a:solidFill>
                  <a:srgbClr val="404040">
                    <a:alpha val="100000"/>
                  </a:srgbClr>
                </a:solidFill>
                <a:latin typeface="Calibri" panose="020F0502020204030204"/>
              </a:defRPr>
            </a:lvl1pPr>
          </a:lstStyle>
          <a:p>
            <a:pPr marL="279400" indent="-279400" algn="l">
              <a:lnSpc>
                <a:spcPct val="92000"/>
              </a:lnSpc>
              <a:spcBef>
                <a:spcPts val="1500"/>
              </a:spcBef>
              <a:buClr>
                <a:srgbClr val="404040"/>
              </a:buClr>
              <a:buChar char="•"/>
            </a:pPr>
            <a:r>
              <a:rPr lang="en-US" sz="1795" b="0" i="0" u="none" strike="noStrike">
                <a:solidFill>
                  <a:srgbClr val="404040"/>
                </a:solidFill>
                <a:latin typeface="Calibri" panose="020F0502020204030204"/>
                <a:ea typeface="Calibri" panose="020F0502020204030204"/>
                <a:cs typeface="Calibri" panose="020F0502020204030204"/>
                <a:sym typeface="Calibri" panose="020F0502020204030204"/>
              </a:rPr>
              <a:t>Target.td - </a:t>
            </a: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Description de l'architecture cible</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79400" indent="-279400" algn="l">
              <a:lnSpc>
                <a:spcPct val="92000"/>
              </a:lnSpc>
              <a:spcBef>
                <a:spcPts val="1500"/>
              </a:spcBef>
              <a:buClr>
                <a:srgbClr val="404040"/>
              </a:buClr>
              <a:buChar char="•"/>
            </a:pP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Definition des registres</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def R0 : Register&lt;"r0"&gt;;</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def R1 : Register&lt;"r1"&gt;; </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def GPR : RegisterClass&lt;"GPR", [i32], 32, (add R0, R1, R2, ...)&gt;;</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79400" indent="-279400" algn="l">
              <a:lnSpc>
                <a:spcPct val="92000"/>
              </a:lnSpc>
              <a:spcBef>
                <a:spcPts val="1500"/>
              </a:spcBef>
              <a:buClr>
                <a:srgbClr val="404040"/>
              </a:buClr>
              <a:buChar char="•"/>
            </a:pPr>
            <a:r>
              <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Definition des instructions</a:t>
            </a:r>
            <a:endParaRPr lang="en-US" sz="17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def ADDrr : Instruction {</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	let OutOperandList = (outs GPR:$dst);</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	let InOperandList = (ins GPR:$src1, GPR:$src2);</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	let AsmString = "add $dst, $src1, $src2";</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	let Pattern = [(set GPR:$dst, (add GPR:$src1, GPR:$src2))];}</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92000"/>
              </a:lnSpc>
              <a:spcBef>
                <a:spcPts val="750"/>
              </a:spcBef>
            </a:pPr>
          </a:p>
          <a:p>
            <a:pPr marL="342900" lvl="1" indent="0" algn="l">
              <a:lnSpc>
                <a:spcPct val="92000"/>
              </a:lnSpc>
              <a:spcBef>
                <a:spcPts val="750"/>
              </a:spcBef>
            </a:pPr>
            <a:r>
              <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5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900545" y="3429000"/>
            <a:ext cx="4156364" cy="464127"/>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%1 = add i32 %a, %b</a:t>
            </a:r>
            <a:endParaRPr lang="en-US" sz="1100"/>
          </a:p>
        </p:txBody>
      </p:sp>
      <p:sp>
        <p:nvSpPr>
          <p:cNvPr id="8" name="AutoShape 8"/>
          <p:cNvSpPr/>
          <p:nvPr/>
        </p:nvSpPr>
        <p:spPr>
          <a:xfrm>
            <a:off x="900545" y="4570918"/>
            <a:ext cx="4156364" cy="464127"/>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800" b="0" i="0" u="none" strike="noStrike">
                <a:solidFill>
                  <a:srgbClr val="E4E4E4"/>
                </a:solidFill>
                <a:latin typeface="Menlo" panose="020B0609030804020204"/>
                <a:ea typeface="Menlo" panose="020B0609030804020204"/>
                <a:cs typeface="Menlo" panose="020B0609030804020204"/>
                <a:sym typeface="Menlo" panose="020B0609030804020204"/>
              </a:rPr>
              <a:t>ADD32rr %vreg1, %vreg2</a:t>
            </a:r>
            <a:endParaRPr lang="en-US" sz="1100"/>
          </a:p>
        </p:txBody>
      </p:sp>
      <p:sp>
        <p:nvSpPr>
          <p:cNvPr id="9" name="AutoShape 9"/>
          <p:cNvSpPr/>
          <p:nvPr/>
        </p:nvSpPr>
        <p:spPr>
          <a:xfrm>
            <a:off x="2867891" y="3948545"/>
            <a:ext cx="221672" cy="566954"/>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Architecture du backend LLVM NVPTX </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Cha</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î</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ne de compilation de l’IR LLVM vers le GPU NVIDIA</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6" name="AutoShape 6"/>
          <p:cNvSpPr/>
          <p:nvPr/>
        </p:nvSpPr>
        <p:spPr>
          <a:xfrm>
            <a:off x="2400393" y="1995060"/>
            <a:ext cx="7391214" cy="1025237"/>
          </a:xfrm>
          <a:prstGeom prst="rect">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180" b="0" i="0" u="none" strike="noStrike">
                <a:solidFill>
                  <a:srgbClr val="E4E4E4"/>
                </a:solidFill>
                <a:latin typeface="Calibri" panose="020F0502020204030204"/>
                <a:ea typeface="Arial" panose="020B0604020202020204"/>
                <a:cs typeface="Arial" panose="020B0604020202020204"/>
                <a:sym typeface="Arial" panose="020B0604020202020204"/>
              </a:rPr>
              <a:t>LLVM IR       </a:t>
            </a: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Intrinseques speciales</a:t>
            </a:r>
            <a:r>
              <a:rPr lang="en-US" sz="1180" b="0" i="0" u="none" strike="noStrike">
                <a:solidFill>
                  <a:srgbClr val="E4E4E4"/>
                </a:solidFill>
                <a:latin typeface="Calibri" panose="020F0502020204030204"/>
                <a:ea typeface="Arial" panose="020B0604020202020204"/>
                <a:cs typeface="Arial" panose="020B0604020202020204"/>
                <a:sym typeface="Arial" panose="020B0604020202020204"/>
              </a:rPr>
              <a:t>:</a:t>
            </a:r>
            <a:endParaRPr lang="en-US" sz="1100"/>
          </a:p>
          <a:p>
            <a:pPr indent="0" algn="ctr">
              <a:lnSpc>
                <a:spcPct val="100000"/>
              </a:lnSpc>
            </a:pPr>
            <a:r>
              <a:rPr lang="en-US" sz="1180" b="0" i="0" u="none" strike="noStrike">
                <a:solidFill>
                  <a:srgbClr val="E4E4E4"/>
                </a:solidFill>
                <a:latin typeface="Calibri" panose="020F0502020204030204"/>
                <a:ea typeface="Arial" panose="020B0604020202020204"/>
                <a:cs typeface="Arial" panose="020B0604020202020204"/>
                <a:sym typeface="Arial" panose="020B0604020202020204"/>
              </a:rPr>
              <a:t>llvm.nvvm.read.ptx.sreg.tid.x (</a:t>
            </a: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ID de fil</a:t>
            </a:r>
            <a:r>
              <a:rPr lang="en-US" sz="1180" b="0" i="0" u="none" strike="noStrike">
                <a:solidFill>
                  <a:srgbClr val="E4E4E4"/>
                </a:solidFill>
                <a:latin typeface="Calibri" panose="020F0502020204030204"/>
                <a:ea typeface="Arial" panose="020B0604020202020204"/>
                <a:cs typeface="Arial" panose="020B0604020202020204"/>
                <a:sym typeface="Arial" panose="020B0604020202020204"/>
              </a:rPr>
              <a:t>)</a:t>
            </a:r>
            <a:endParaRPr lang="en-US" sz="1180" b="0" i="0" u="none" strike="noStrike">
              <a:solidFill>
                <a:srgbClr val="E4E4E4"/>
              </a:solidFill>
              <a:latin typeface="Calibri" panose="020F0502020204030204"/>
              <a:ea typeface="Arial" panose="020B0604020202020204"/>
              <a:cs typeface="Arial" panose="020B0604020202020204"/>
              <a:sym typeface="Arial" panose="020B0604020202020204"/>
            </a:endParaRPr>
          </a:p>
          <a:p>
            <a:pPr indent="0" algn="ctr">
              <a:lnSpc>
                <a:spcPct val="100000"/>
              </a:lnSpc>
            </a:pPr>
            <a:r>
              <a:rPr lang="en-US" sz="1180" b="0" i="0" u="none" strike="noStrike">
                <a:solidFill>
                  <a:srgbClr val="E4E4E4"/>
                </a:solidFill>
                <a:latin typeface="Calibri" panose="020F0502020204030204"/>
                <a:ea typeface="Arial" panose="020B0604020202020204"/>
                <a:cs typeface="Arial" panose="020B0604020202020204"/>
                <a:sym typeface="Arial" panose="020B0604020202020204"/>
              </a:rPr>
              <a:t>llvm.nvvm.barrier0 (</a:t>
            </a: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synchronisation</a:t>
            </a:r>
            <a:r>
              <a:rPr lang="en-US" sz="1180" b="0" i="0" u="none" strike="noStrike">
                <a:solidFill>
                  <a:srgbClr val="E4E4E4"/>
                </a:solidFill>
                <a:latin typeface="Calibri" panose="020F0502020204030204"/>
                <a:ea typeface="Arial" panose="020B0604020202020204"/>
                <a:cs typeface="Arial" panose="020B0604020202020204"/>
                <a:sym typeface="Arial" panose="020B0604020202020204"/>
              </a:rPr>
              <a:t>)</a:t>
            </a:r>
            <a:endParaRPr lang="en-US" sz="1180" b="0" i="0" u="none" strike="noStrike">
              <a:solidFill>
                <a:srgbClr val="E4E4E4"/>
              </a:solidFill>
              <a:latin typeface="Calibri" panose="020F0502020204030204"/>
              <a:ea typeface="Arial" panose="020B0604020202020204"/>
              <a:cs typeface="Arial" panose="020B0604020202020204"/>
              <a:sym typeface="Arial" panose="020B0604020202020204"/>
            </a:endParaRPr>
          </a:p>
          <a:p>
            <a:pPr indent="0" algn="ctr">
              <a:lnSpc>
                <a:spcPct val="100000"/>
              </a:lnSpc>
            </a:pPr>
            <a:r>
              <a:rPr lang="en-US" sz="1180" b="0" i="0" u="none" strike="noStrike">
                <a:solidFill>
                  <a:srgbClr val="E4E4E4"/>
                </a:solidFill>
                <a:latin typeface="Calibri" panose="020F0502020204030204"/>
                <a:ea typeface="Arial" panose="020B0604020202020204"/>
                <a:cs typeface="Arial" panose="020B0604020202020204"/>
                <a:sym typeface="Arial" panose="020B0604020202020204"/>
              </a:rPr>
              <a:t>llvm.nvvm.shfl.* (warp shuffle) </a:t>
            </a:r>
            <a:endParaRPr lang="en-US" sz="1180" b="0" i="0" u="none" strike="noStrike">
              <a:solidFill>
                <a:srgbClr val="E4E4E4"/>
              </a:solidFill>
              <a:latin typeface="Calibri" panose="020F0502020204030204"/>
              <a:ea typeface="Arial" panose="020B0604020202020204"/>
              <a:cs typeface="Arial" panose="020B0604020202020204"/>
              <a:sym typeface="Arial" panose="020B0604020202020204"/>
            </a:endParaRPr>
          </a:p>
        </p:txBody>
      </p:sp>
      <p:sp>
        <p:nvSpPr>
          <p:cNvPr id="7" name="AutoShape 7"/>
          <p:cNvSpPr/>
          <p:nvPr/>
        </p:nvSpPr>
        <p:spPr>
          <a:xfrm>
            <a:off x="2400393" y="3445674"/>
            <a:ext cx="7391214" cy="1025237"/>
          </a:xfrm>
          <a:prstGeom prst="rect">
            <a:avLst/>
          </a:prstGeom>
          <a:solidFill>
            <a:srgbClr val="ED7D31">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180" b="0" i="0" u="none" strike="noStrike">
                <a:solidFill>
                  <a:srgbClr val="E4E4E4"/>
                </a:solidFill>
                <a:latin typeface="Menlo" panose="020B0609030804020204"/>
                <a:ea typeface="Menlo" panose="020B0609030804020204"/>
                <a:cs typeface="Menlo" panose="020B0609030804020204"/>
                <a:sym typeface="Menlo" panose="020B0609030804020204"/>
              </a:rPr>
              <a:t>Selection d'instructions NVPTX </a:t>
            </a:r>
            <a:endParaRPr lang="en-US" sz="1100"/>
          </a:p>
          <a:p>
            <a:pPr indent="0" algn="ctr">
              <a:lnSpc>
                <a:spcPct val="100000"/>
              </a:lnSpc>
            </a:pP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Mapping des espaces d'adresse</a:t>
            </a:r>
            <a:r>
              <a:rPr lang="en-US" sz="1180" b="0" i="0" u="none" strike="noStrike">
                <a:solidFill>
                  <a:srgbClr val="E4E4E4"/>
                </a:solidFill>
                <a:latin typeface="Menlo" panose="020B0609030804020204"/>
                <a:ea typeface="Menlo" panose="020B0609030804020204"/>
                <a:cs typeface="Menlo" panose="020B0609030804020204"/>
                <a:sym typeface="Menlo" panose="020B0609030804020204"/>
              </a:rPr>
              <a:t>: addrspace(1)=global, addrspace(3)=shared</a:t>
            </a:r>
            <a:endParaRPr lang="en-US" sz="118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ctr">
              <a:lnSpc>
                <a:spcPct val="100000"/>
              </a:lnSpc>
            </a:pPr>
            <a:r>
              <a:rPr lang="en-US" sz="1180" b="0" i="0" u="none" strike="noStrike">
                <a:solidFill>
                  <a:srgbClr val="E4E4E4"/>
                </a:solidFill>
                <a:latin typeface="Menlo" panose="020B0609030804020204"/>
                <a:ea typeface="Menlo" panose="020B0609030804020204"/>
                <a:cs typeface="Menlo" panose="020B0609030804020204"/>
                <a:sym typeface="Menlo" panose="020B0609030804020204"/>
              </a:rPr>
              <a:t>Correspondance des instructions Tensor Core </a:t>
            </a:r>
            <a:endParaRPr lang="en-US" sz="118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ctr">
              <a:lnSpc>
                <a:spcPct val="100000"/>
              </a:lnSpc>
            </a:pP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Traitement des appels de fonctions speciales</a:t>
            </a:r>
            <a:r>
              <a:rPr lang="en-US" sz="118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18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2400393" y="4896288"/>
            <a:ext cx="7391214" cy="1025237"/>
          </a:xfrm>
          <a:prstGeom prst="rect">
            <a:avLst/>
          </a:prstGeom>
          <a:solidFill>
            <a:srgbClr val="70AD47">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180" b="0" i="0" u="none" strike="noStrike">
                <a:solidFill>
                  <a:srgbClr val="E4E4E4"/>
                </a:solidFill>
                <a:latin typeface="Menlo" panose="020B0609030804020204"/>
                <a:ea typeface="Menlo" panose="020B0609030804020204"/>
                <a:cs typeface="Menlo" panose="020B0609030804020204"/>
                <a:sym typeface="Menlo" panose="020B0609030804020204"/>
              </a:rPr>
              <a:t>Emission de l'assembleur PTX </a:t>
            </a:r>
            <a:endParaRPr lang="en-US" sz="1100"/>
          </a:p>
          <a:p>
            <a:pPr indent="0" algn="ctr">
              <a:lnSpc>
                <a:spcPct val="100000"/>
              </a:lnSpc>
            </a:pP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Registres avec prefixes</a:t>
            </a:r>
            <a:r>
              <a:rPr lang="en-US" sz="1180" b="0" i="0" u="none" strike="noStrike">
                <a:solidFill>
                  <a:srgbClr val="E4E4E4"/>
                </a:solidFill>
                <a:latin typeface="Menlo" panose="020B0609030804020204"/>
                <a:ea typeface="Menlo" panose="020B0609030804020204"/>
                <a:cs typeface="Menlo" panose="020B0609030804020204"/>
                <a:sym typeface="Menlo" panose="020B0609030804020204"/>
              </a:rPr>
              <a:t> %r, %f, %p </a:t>
            </a: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 etc.</a:t>
            </a:r>
            <a:endPar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pP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Operations memoire avec qualificateurs d'espace d'adresse</a:t>
            </a:r>
            <a:endPar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pP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Sortie</a:t>
            </a:r>
            <a:r>
              <a:rPr lang="en-US" sz="1180" b="0" i="0" u="none" strike="noStrike">
                <a:solidFill>
                  <a:srgbClr val="E4E4E4"/>
                </a:solidFill>
                <a:latin typeface="Menlo" panose="020B0609030804020204"/>
                <a:ea typeface="Menlo" panose="020B0609030804020204"/>
                <a:cs typeface="Menlo" panose="020B0609030804020204"/>
                <a:sym typeface="Menlo" panose="020B0609030804020204"/>
              </a:rPr>
              <a:t> .ptx </a:t>
            </a:r>
            <a:r>
              <a:rPr lang="en-US" sz="118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fichier texte</a:t>
            </a:r>
            <a:r>
              <a:rPr lang="en-US" sz="118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18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cxnSp>
        <p:nvCxnSpPr>
          <p:cNvPr id="9" name="Connector 9"/>
          <p:cNvCxnSpPr/>
          <p:nvPr/>
        </p:nvCxnSpPr>
        <p:spPr>
          <a:xfrm>
            <a:off x="6096000" y="3020297"/>
            <a:ext cx="0" cy="425377"/>
          </a:xfrm>
          <a:prstGeom prst="straightConnector1">
            <a:avLst/>
          </a:prstGeom>
          <a:noFill/>
          <a:ln w="63500" cap="flat">
            <a:solidFill>
              <a:srgbClr val="4472C4">
                <a:alpha val="100000"/>
              </a:srgbClr>
            </a:solidFill>
            <a:prstDash val="solid"/>
            <a:headEnd type="none" w="med" len="med"/>
            <a:tailEnd type="triangle" w="med" len="med"/>
          </a:ln>
        </p:spPr>
      </p:cxnSp>
      <p:cxnSp>
        <p:nvCxnSpPr>
          <p:cNvPr id="10" name="Connector 10"/>
          <p:cNvCxnSpPr/>
          <p:nvPr/>
        </p:nvCxnSpPr>
        <p:spPr>
          <a:xfrm>
            <a:off x="6096000" y="4470911"/>
            <a:ext cx="0" cy="425377"/>
          </a:xfrm>
          <a:prstGeom prst="straightConnector1">
            <a:avLst/>
          </a:prstGeom>
          <a:noFill/>
          <a:ln w="63500" cap="flat">
            <a:solidFill>
              <a:srgbClr val="4472C4">
                <a:alpha val="100000"/>
              </a:srgbClr>
            </a:solidFill>
            <a:prstDash val="solid"/>
            <a:headEnd type="none" w="med" len="med"/>
            <a:tailEnd type="triangle"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Outil de visualisation de g</a:t>
            </a:r>
            <a:r>
              <a:rPr lang="en-US" altLang="en-US" sz="29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9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ration de code</a:t>
            </a:r>
            <a:endParaRPr lang="en-US" sz="29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Visualiser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LLVM IR</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triton-opt --dump-llir kernel.py &gt; kernel.ll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Visualiser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SelectionDAG</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llc -view-dag-combine1-dags kernel.ll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Visualiser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MIR</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llc -print-after-all kernel.ll 2&gt;&amp;1 | less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Visualiser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PTX</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triton-opt --dump-ptx kernel.py &gt; kernel.ptx</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Consulter les produits de compilation Triton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404" y="4003964"/>
            <a:ext cx="7931541" cy="2050472"/>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compiled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triton</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AAA0FA"/>
                </a:solidFill>
                <a:latin typeface="Menlo" panose="020B0609030804020204"/>
                <a:ea typeface="Menlo" panose="020B0609030804020204"/>
                <a:cs typeface="Menlo" panose="020B0609030804020204"/>
                <a:sym typeface="Menlo" panose="020B0609030804020204"/>
              </a:rPr>
              <a:t>compile</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add_kernel</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D6D6DD"/>
                </a:solidFill>
                <a:latin typeface="Menlo" panose="020B0609030804020204"/>
                <a:ea typeface="Menlo" panose="020B0609030804020204"/>
                <a:cs typeface="Menlo" panose="020B0609030804020204"/>
                <a:sym typeface="Menlo" panose="020B0609030804020204"/>
              </a:rPr>
              <a:t>signature</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"*fp32,*fp32,*fp32,i32"</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100"/>
          </a:p>
          <a:p>
            <a:pPr indent="0" algn="l">
              <a:lnSpc>
                <a:spcPct val="100000"/>
              </a:lnSpc>
            </a:pPr>
            <a:r>
              <a:rPr lang="en-US" sz="1400" b="0" i="1" u="none" strike="noStrike">
                <a:solidFill>
                  <a:srgbClr val="D6D6DD"/>
                </a:solidFill>
                <a:latin typeface="Menlo" panose="020B0609030804020204"/>
                <a:ea typeface="Menlo" panose="020B0609030804020204"/>
                <a:cs typeface="Menlo" panose="020B0609030804020204"/>
                <a:sym typeface="Menlo" panose="020B0609030804020204"/>
              </a:rPr>
              <a:t>constants</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"BLOCK"</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0" u="none" strike="noStrike">
                <a:solidFill>
                  <a:srgbClr val="EBC88D"/>
                </a:solidFill>
                <a:latin typeface="Menlo" panose="020B0609030804020204"/>
                <a:ea typeface="Menlo" panose="020B0609030804020204"/>
                <a:cs typeface="Menlo" panose="020B0609030804020204"/>
                <a:sym typeface="Menlo" panose="020B0609030804020204"/>
              </a:rPr>
              <a:t>1024</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b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b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Obtenir les IR de chaque etape</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IR</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ttir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compiled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asm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'ttir'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Triton IR</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ttgir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compiled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asm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'ttgir'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TritonGPU IR </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llir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compiled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asm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'llir'</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400" b="0" i="1" u="none" strike="noStrike">
                <a:solidFill>
                  <a:srgbClr val="E4E4E4"/>
                </a:solidFill>
                <a:latin typeface="Menlo" panose="020B0609030804020204"/>
                <a:ea typeface="Menlo" panose="020B0609030804020204"/>
                <a:cs typeface="Menlo" panose="020B0609030804020204"/>
                <a:sym typeface="Menlo" panose="020B0609030804020204"/>
              </a:rPr>
              <a:t># LLVM IR</a:t>
            </a:r>
            <a:endParaRPr lang="en-US" sz="1400" b="0" i="1"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ptx </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 compiled</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4E4E4"/>
                </a:solidFill>
                <a:latin typeface="Menlo" panose="020B0609030804020204"/>
                <a:ea typeface="Menlo" panose="020B0609030804020204"/>
                <a:cs typeface="Menlo" panose="020B0609030804020204"/>
                <a:sym typeface="Menlo" panose="020B0609030804020204"/>
              </a:rPr>
              <a:t>asm</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E394DC"/>
                </a:solidFill>
                <a:latin typeface="Menlo" panose="020B0609030804020204"/>
                <a:ea typeface="Menlo" panose="020B0609030804020204"/>
                <a:cs typeface="Menlo" panose="020B0609030804020204"/>
                <a:sym typeface="Menlo" panose="020B0609030804020204"/>
              </a:rPr>
              <a:t>'ptx'</a:t>
            </a:r>
            <a:r>
              <a:rPr lang="en-US" sz="140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40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2975" b="0" i="0" u="none" strike="noStrike">
                <a:solidFill>
                  <a:srgbClr val="262626"/>
                </a:solidFill>
                <a:latin typeface="Calibri" panose="020F0502020204030204"/>
                <a:ea typeface="Calibri" panose="020F0502020204030204"/>
                <a:cs typeface="Calibri" panose="020F0502020204030204"/>
                <a:sym typeface="Calibri" panose="020F0502020204030204"/>
              </a:rPr>
              <a:t>MLIR: Multi-Level Intermediate Representation</a:t>
            </a:r>
            <a:endParaRPr lang="en-US" sz="29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4" y="1323975"/>
            <a:ext cx="8585152"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Prend en charge une IR multi-niveaux et extensible, adapt</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aux DSL et à la compilation pour acc</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dialectes sont au c</a:t>
            </a:r>
            <a:r>
              <a:rPr lang="en-US" alt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œ</a:t>
            </a:r>
            <a:r>
              <a:rPr lang="en-US" altLang="zh-CN"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ur de la conception.</a:t>
            </a:r>
            <a:endParaRPr lang="en-US" sz="18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ensemble d'operations connexes</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(Operations)</a:t>
            </a:r>
            <a:endPar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Types</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(Types)</a:t>
            </a:r>
            <a:endPar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Attributs</a:t>
            </a:r>
            <a:r>
              <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rPr>
              <a:t> (Attributes)</a:t>
            </a:r>
            <a:endParaRPr lang="en-US" sz="152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 impl</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mentations de descente (lowering)</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Dialectes MLIR courants : arith (op</a:t>
            </a:r>
            <a:r>
              <a:rPr lang="en-US" alt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rations arithm</a:t>
            </a:r>
            <a:r>
              <a:rPr lang="en-US" alt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tiques), scf (flux de contrôle structur</a:t>
            </a:r>
            <a:r>
              <a:rPr lang="en-US" alt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 triton.</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Dialecte utilis</a:t>
            </a:r>
            <a:r>
              <a:rPr lang="en-US" alt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25" b="0" i="0" u="none" strike="noStrike">
                <a:solidFill>
                  <a:srgbClr val="404040"/>
                </a:solidFill>
                <a:latin typeface="Calibri" panose="020F0502020204030204"/>
                <a:ea typeface="Calibri" panose="020F0502020204030204"/>
                <a:cs typeface="Calibri" panose="020F0502020204030204"/>
                <a:sym typeface="Calibri" panose="020F0502020204030204"/>
              </a:rPr>
              <a:t> par le compilateur Triton :</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Triton : op</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sur tenseurs, abstraction au niveau bloc </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TritonGPU (parall</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GPU, disposition, hi</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rarchie m</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LLVM (op</a:t>
            </a:r>
            <a:r>
              <a:rPr lang="en-US" alt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de bas niveau, proche du code machine).</a:t>
            </a:r>
            <a:endParaRPr lang="en-US" sz="15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indent="0" algn="l">
              <a:lnSpc>
                <a:spcPct val="100000"/>
              </a:lnSpc>
              <a:spcBef>
                <a:spcPts val="1500"/>
              </a:spcBef>
            </a:pPr>
          </a:p>
          <a:p>
            <a:pPr indent="0" algn="l">
              <a:lnSpc>
                <a:spcPct val="100000"/>
              </a:lnSpc>
              <a:spcBef>
                <a:spcPts val="1500"/>
              </a:spcBef>
            </a:pPr>
            <a:r>
              <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277051" y="1929130"/>
            <a:ext cx="2597785" cy="256540"/>
          </a:xfrm>
          <a:prstGeom prst="rect">
            <a:avLst/>
          </a:prstGeom>
          <a:ln w="12700">
            <a:noFill/>
            <a:prstDash val="solid"/>
          </a:ln>
        </p:spPr>
      </p:pic>
      <p:sp>
        <p:nvSpPr>
          <p:cNvPr id="7" name="AutoShape 7"/>
          <p:cNvSpPr/>
          <p:nvPr/>
        </p:nvSpPr>
        <p:spPr>
          <a:xfrm>
            <a:off x="9109026" y="1918335"/>
            <a:ext cx="685800" cy="267335"/>
          </a:xfrm>
          <a:prstGeom prst="rect">
            <a:avLst/>
          </a:prstGeom>
          <a:no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8" name="AutoShape 8"/>
          <p:cNvSpPr/>
          <p:nvPr/>
        </p:nvSpPr>
        <p:spPr>
          <a:xfrm>
            <a:off x="8993456" y="2410460"/>
            <a:ext cx="91757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40" b="0" i="0" u="none" strike="noStrike">
                <a:solidFill>
                  <a:srgbClr val="000000"/>
                </a:solidFill>
                <a:latin typeface="Calibri" panose="020F0502020204030204"/>
                <a:ea typeface="Arial" panose="020B0604020202020204"/>
                <a:cs typeface="Arial" panose="020B0604020202020204"/>
                <a:sym typeface="Arial" panose="020B0604020202020204"/>
              </a:rPr>
              <a:t>attribute</a:t>
            </a:r>
            <a:endParaRPr lang="en-US" sz="1100"/>
          </a:p>
        </p:txBody>
      </p:sp>
      <p:sp>
        <p:nvSpPr>
          <p:cNvPr id="9" name="AutoShape 9"/>
          <p:cNvSpPr/>
          <p:nvPr/>
        </p:nvSpPr>
        <p:spPr>
          <a:xfrm>
            <a:off x="7277051" y="1929130"/>
            <a:ext cx="396875" cy="267335"/>
          </a:xfrm>
          <a:prstGeom prst="rect">
            <a:avLst/>
          </a:prstGeom>
          <a:no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7135446" y="2360295"/>
            <a:ext cx="68008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40" b="0" i="0" u="none" strike="noStrike">
                <a:solidFill>
                  <a:srgbClr val="000000"/>
                </a:solidFill>
                <a:latin typeface="Calibri" panose="020F0502020204030204"/>
                <a:ea typeface="Arial" panose="020B0604020202020204"/>
                <a:cs typeface="Arial" panose="020B0604020202020204"/>
                <a:sym typeface="Arial" panose="020B0604020202020204"/>
              </a:rPr>
              <a:t>result</a:t>
            </a:r>
            <a:endParaRPr lang="en-US" sz="1100"/>
          </a:p>
        </p:txBody>
      </p:sp>
      <p:pic>
        <p:nvPicPr>
          <p:cNvPr id="11" name="Picture 11"/>
          <p:cNvPicPr>
            <a:picLocks noChangeAspect="1"/>
          </p:cNvPicPr>
          <p:nvPr/>
        </p:nvPicPr>
        <p:blipFill>
          <a:blip r:embed="rId2"/>
          <a:srcRect/>
          <a:stretch>
            <a:fillRect/>
          </a:stretch>
        </p:blipFill>
        <p:spPr>
          <a:xfrm>
            <a:off x="6969076" y="3077845"/>
            <a:ext cx="3759835" cy="889000"/>
          </a:xfrm>
          <a:prstGeom prst="rect">
            <a:avLst/>
          </a:prstGeom>
          <a:ln w="12700">
            <a:noFill/>
            <a:prstDash val="solid"/>
          </a:ln>
        </p:spPr>
      </p:pic>
      <p:sp>
        <p:nvSpPr>
          <p:cNvPr id="12" name="AutoShape 12"/>
          <p:cNvSpPr/>
          <p:nvPr/>
        </p:nvSpPr>
        <p:spPr>
          <a:xfrm>
            <a:off x="8307656" y="3027045"/>
            <a:ext cx="2179955" cy="267335"/>
          </a:xfrm>
          <a:prstGeom prst="rect">
            <a:avLst/>
          </a:prstGeom>
          <a:no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cxnSp>
        <p:nvCxnSpPr>
          <p:cNvPr id="13" name="Connector 13"/>
          <p:cNvCxnSpPr/>
          <p:nvPr/>
        </p:nvCxnSpPr>
        <p:spPr>
          <a:xfrm rot="10800000">
            <a:off x="9451926" y="2185670"/>
            <a:ext cx="635" cy="224790"/>
          </a:xfrm>
          <a:prstGeom prst="line">
            <a:avLst/>
          </a:prstGeom>
          <a:noFill/>
          <a:ln w="12700" cap="flat">
            <a:solidFill>
              <a:srgbClr val="4472C4">
                <a:alpha val="100000"/>
              </a:srgbClr>
            </a:solidFill>
            <a:prstDash val="solid"/>
            <a:headEnd type="none" w="med" len="med"/>
            <a:tailEnd type="none" w="med" len="med"/>
          </a:ln>
        </p:spPr>
      </p:cxnSp>
      <p:cxnSp>
        <p:nvCxnSpPr>
          <p:cNvPr id="14" name="Connector 14"/>
          <p:cNvCxnSpPr/>
          <p:nvPr/>
        </p:nvCxnSpPr>
        <p:spPr>
          <a:xfrm flipV="1">
            <a:off x="9397951" y="2747645"/>
            <a:ext cx="54610" cy="279400"/>
          </a:xfrm>
          <a:prstGeom prst="line">
            <a:avLst/>
          </a:prstGeom>
          <a:noFill/>
          <a:ln w="12700" cap="flat">
            <a:solidFill>
              <a:srgbClr val="4472C4">
                <a:alpha val="100000"/>
              </a:srgbClr>
            </a:solidFill>
            <a:prstDash val="solid"/>
            <a:headEnd type="none" w="med" len="med"/>
            <a:tailEnd type="none" w="med" len="med"/>
          </a:ln>
        </p:spPr>
      </p:cxnSp>
      <p:cxnSp>
        <p:nvCxnSpPr>
          <p:cNvPr id="15" name="Connector 15"/>
          <p:cNvCxnSpPr/>
          <p:nvPr/>
        </p:nvCxnSpPr>
        <p:spPr>
          <a:xfrm flipV="1">
            <a:off x="7475806" y="2196465"/>
            <a:ext cx="0" cy="163830"/>
          </a:xfrm>
          <a:prstGeom prst="line">
            <a:avLst/>
          </a:prstGeom>
          <a:noFill/>
          <a:ln w="12700" cap="flat">
            <a:solidFill>
              <a:srgbClr val="4472C4">
                <a:alpha val="100000"/>
              </a:srgbClr>
            </a:solidFill>
            <a:prstDash val="solid"/>
            <a:headEnd type="none" w="med" len="med"/>
            <a:tailEnd type="none" w="med" len="med"/>
          </a:ln>
        </p:spPr>
      </p:cxnSp>
      <p:sp>
        <p:nvSpPr>
          <p:cNvPr id="16" name="AutoShape 16"/>
          <p:cNvSpPr/>
          <p:nvPr/>
        </p:nvSpPr>
        <p:spPr>
          <a:xfrm>
            <a:off x="9109026" y="3952875"/>
            <a:ext cx="929005" cy="337185"/>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240" b="0" i="0" u="none" strike="noStrike">
                <a:solidFill>
                  <a:srgbClr val="000000"/>
                </a:solidFill>
                <a:latin typeface="Calibri" panose="020F0502020204030204"/>
                <a:ea typeface="Arial" panose="020B0604020202020204"/>
                <a:cs typeface="Arial" panose="020B0604020202020204"/>
                <a:sym typeface="Arial" panose="020B0604020202020204"/>
              </a:rPr>
              <a:t>operand</a:t>
            </a:r>
            <a:endParaRPr lang="en-US" sz="1100"/>
          </a:p>
        </p:txBody>
      </p:sp>
      <p:sp>
        <p:nvSpPr>
          <p:cNvPr id="17" name="AutoShape 17"/>
          <p:cNvSpPr/>
          <p:nvPr/>
        </p:nvSpPr>
        <p:spPr>
          <a:xfrm>
            <a:off x="8483551" y="3294380"/>
            <a:ext cx="1249045" cy="246380"/>
          </a:xfrm>
          <a:prstGeom prst="rect">
            <a:avLst/>
          </a:prstGeom>
          <a:noFill/>
          <a:ln w="12700" cap="flat">
            <a:solidFill>
              <a:srgbClr val="4472C4">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000000"/>
                </a:solidFill>
                <a:latin typeface="Calibri" panose="020F0502020204030204"/>
                <a:ea typeface="Arial" panose="020B0604020202020204"/>
                <a:cs typeface="Arial" panose="020B0604020202020204"/>
                <a:sym typeface="Arial" panose="020B0604020202020204"/>
              </a:rPr>
              <a:t> </a:t>
            </a:r>
            <a:endParaRPr lang="en-US" sz="1100"/>
          </a:p>
        </p:txBody>
      </p:sp>
      <p:cxnSp>
        <p:nvCxnSpPr>
          <p:cNvPr id="18" name="Connector 18"/>
          <p:cNvCxnSpPr/>
          <p:nvPr/>
        </p:nvCxnSpPr>
        <p:spPr>
          <a:xfrm rot="10800000">
            <a:off x="9108391" y="3540760"/>
            <a:ext cx="465455" cy="412115"/>
          </a:xfrm>
          <a:prstGeom prst="line">
            <a:avLst/>
          </a:prstGeom>
          <a:noFill/>
          <a:ln w="12700" cap="flat">
            <a:solidFill>
              <a:srgbClr val="4472C4">
                <a:alpha val="100000"/>
              </a:srgbClr>
            </a:solidFill>
            <a:prstDash val="solid"/>
            <a:headEnd type="none" w="med" len="med"/>
            <a:tailEnd type="none" w="med" len="med"/>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timing>
    <p:tnLst>
      <p:par>
        <p:cTn id="1" dur="indefinite" restart="never" nodeType="tmRoot">
          <p:childTnLst>
            <p:seq concurrent="0"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975" b="0" i="0" u="none" strike="noStrike">
                <a:solidFill>
                  <a:srgbClr val="262626"/>
                </a:solidFill>
                <a:latin typeface="Calibri" panose="020F0502020204030204"/>
                <a:ea typeface="Calibri" panose="020F0502020204030204"/>
                <a:cs typeface="Calibri" panose="020F0502020204030204"/>
                <a:sym typeface="Calibri" panose="020F0502020204030204"/>
              </a:rPr>
              <a:t>MLIR : repr</a:t>
            </a:r>
            <a:r>
              <a:rPr lang="en-US" altLang="en-US" sz="29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975" b="0" i="0" u="none" strike="noStrike">
                <a:solidFill>
                  <a:srgbClr val="262626"/>
                </a:solidFill>
                <a:latin typeface="Calibri" panose="020F0502020204030204"/>
                <a:ea typeface="Calibri" panose="020F0502020204030204"/>
                <a:cs typeface="Calibri" panose="020F0502020204030204"/>
                <a:sym typeface="Calibri" panose="020F0502020204030204"/>
              </a:rPr>
              <a:t>sentation interm</a:t>
            </a:r>
            <a:r>
              <a:rPr lang="en-US" altLang="en-US" sz="2975"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975" b="0" i="0" u="none" strike="noStrike">
                <a:solidFill>
                  <a:srgbClr val="262626"/>
                </a:solidFill>
                <a:latin typeface="Calibri" panose="020F0502020204030204"/>
                <a:ea typeface="Calibri" panose="020F0502020204030204"/>
                <a:cs typeface="Calibri" panose="020F0502020204030204"/>
                <a:sym typeface="Calibri" panose="020F0502020204030204"/>
              </a:rPr>
              <a:t>diaire multi-niveaux</a:t>
            </a:r>
            <a:endParaRPr lang="en-US" sz="29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5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Supporte la conversion entre dialectes ; l’utilisateur se concentre uniquement sur l’optimisation et le lowering de la couche courante.</a:t>
            </a:r>
            <a:endParaRPr lang="en-US" sz="157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918845" y="1919605"/>
            <a:ext cx="6732270" cy="45072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MLIR: CodeGen</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167630" cy="4853305"/>
          </a:xfrm>
          <a:prstGeom prst="rect">
            <a:avLst/>
          </a:prstGeom>
        </p:spPr>
        <p:txBody>
          <a:bodyPr wrap="square" lIns="91440" tIns="45720" rIns="91440" bIns="45720" anchor="t">
            <a:normAutofit lnSpcReduction="20000"/>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Cr</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er un OpBuilder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Toutes les op</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rations (Op) ne peuvent </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ê</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tre cr</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es que par le Builder.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MLIR g</a:t>
            </a:r>
            <a:r>
              <a:rPr lang="en-US" alt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re certains types internes.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Construire le Type avec builder.getXXXType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Ou XXXType::get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D</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finir le point d’insertion (InsertionPoint) dans le builder.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Pour remplir le bloc (Block).</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735157" y="350362"/>
            <a:ext cx="6301105" cy="591629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Triton et MLIR</a:t>
            </a:r>
            <a:endPar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xfrm>
            <a:off x="523875" y="1323975"/>
            <a:ext cx="551307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SzTx/>
              <a:buChar char="•"/>
            </a:pP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Dialect-&gt;Triton IR-&gt;LLVM IR-&gt;PTX</a:t>
            </a:r>
            <a:endParaRPr lang="en-US" sz="1860" b="0" i="0" u="none" strike="noStrike">
              <a:solidFill>
                <a:srgbClr val="404040"/>
              </a:solidFill>
              <a:latin typeface="Calibri" panose="020F0502020204030204"/>
              <a:ea typeface="Calibri" panose="020F0502020204030204"/>
              <a:cs typeface="Calibri" panose="020F0502020204030204"/>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1860" b="0" i="0" u="none" strike="noStrike">
                <a:solidFill>
                  <a:srgbClr val="404040"/>
                </a:solidFill>
                <a:latin typeface="Calibri" panose="020F0502020204030204"/>
                <a:ea typeface="Calibri" panose="020F0502020204030204"/>
                <a:cs typeface="Calibri" panose="020F0502020204030204"/>
                <a:sym typeface="Calibri" panose="020F0502020204030204"/>
              </a:rPr>
              <a:t>Triton g</a:t>
            </a:r>
            <a:r>
              <a:rPr lang="en-US" alt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è</a:t>
            </a:r>
            <a:r>
              <a:rPr lang="en-US" altLang="zh-CN" sz="1860" b="0" i="0" u="none" strike="noStrike">
                <a:solidFill>
                  <a:srgbClr val="404040"/>
                </a:solidFill>
                <a:latin typeface="Calibri" panose="020F0502020204030204"/>
                <a:ea typeface="Calibri" panose="020F0502020204030204"/>
                <a:cs typeface="Calibri" panose="020F0502020204030204"/>
                <a:sym typeface="Calibri" panose="020F0502020204030204"/>
              </a:rPr>
              <a:t>re le parall</a:t>
            </a:r>
            <a:r>
              <a:rPr lang="en-US" alt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60" b="0" i="0" u="none" strike="noStrike">
                <a:solidFill>
                  <a:srgbClr val="404040"/>
                </a:solidFill>
                <a:latin typeface="Calibri" panose="020F0502020204030204"/>
                <a:ea typeface="Calibri" panose="020F0502020204030204"/>
                <a:cs typeface="Calibri" panose="020F0502020204030204"/>
                <a:sym typeface="Calibri" panose="020F0502020204030204"/>
              </a:rPr>
              <a:t>lisme automatiquement au niveau SM et instance. </a:t>
            </a:r>
            <a:endPar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289093" y="1735345"/>
            <a:ext cx="2080527" cy="1114204"/>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@jit</a:t>
            </a:r>
            <a:endParaRPr lang="en-US" sz="1100"/>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def add(X, Y, Z, N):</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pid = program_id(0)</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idx= pid * 512 + arange(512)</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mask = idx &lt; N</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x = load(X + idx, mask=mask)</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y = load(Y + idx, mask=mask)</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store(Z + idx, x + y, mask=mask)</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8" name="AutoShape 8"/>
          <p:cNvSpPr/>
          <p:nvPr/>
        </p:nvSpPr>
        <p:spPr>
          <a:xfrm>
            <a:off x="289093" y="2958569"/>
            <a:ext cx="2961798" cy="3394607"/>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def void add(i32* X .aligned(16) , i32* Y .aligned(16) , i32* Z .aligned(16) , i32 N .multipleof(2) ) {</a:t>
            </a:r>
            <a:endParaRPr lang="en-US" sz="1100"/>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entry:</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%0 = get_program_id[0] i32;</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%1 = mul i32 %0, 512;</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%3 = make_range[0 : 512] i32&lt;512&gt;;</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%4 = splat i32&lt;512&gt; %1;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%6 = add i32&lt;512&gt; %4, %3;</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%9 = splat i32&lt;512&gt; N;</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%11 = icmp_slt i1&lt;512&gt; %6, %9;</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%14 = splat i32*&lt;512&gt; X;</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%16 = getelementptr i32*&lt;512&gt; %14, %6;</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%19 = broadcast i1&lt;512&gt; %11;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%21 = splat i32&lt;512&gt; undef;</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%22 = masked_load i32&lt;512&gt; %16, %19, %21;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%26 = splat i32*&lt;512&gt; Y;</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%28 = getelementptr i32*&lt;512&gt; %26, %6;</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%31 = broadcast i1&lt;512&gt; %11;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%33 = splat i32&lt;512&gt; undef;</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%34 = masked_load i32&lt;512&gt; %28, %31, %33;</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%38 = splat i32*&lt;512&gt; Z;</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%40 = getelementptr i32*&lt;512&gt; %38, %6;</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%43 = add i32&lt;512&gt; %22, %34;</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%46 = broadcast i32&lt;512&gt; %43;</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%48 = broadcast i1&lt;512&gt; %11;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masked_store void %40, %46, %48;</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ret void;}</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9" name="AutoShape 9"/>
          <p:cNvSpPr/>
          <p:nvPr/>
        </p:nvSpPr>
        <p:spPr>
          <a:xfrm>
            <a:off x="3114419" y="1735328"/>
            <a:ext cx="3207101" cy="4423619"/>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visible .entry add(</a:t>
            </a:r>
            <a:endParaRPr lang="en-US" sz="1100"/>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.param .u64 add_param_0, .param .u64 add_param_1,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.param .u64 add_param_2, .param .u32 add_param_3</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.maxntid 128, 1, 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.reg .pred     %p&lt;4&gt;;</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.reg .b32     %r&lt;18&gt;;</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.reg .b64     %rd&lt;8&gt;;</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ld.param.u64     %rd4, [add_param_0];</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ld.param.u64     %rd5, [add_param_1];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mov.u32     %r13, %tid.x;</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ld.param.u32     %r14, [add_param_3];</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shl.b32     %r15, %r13, 2;</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mov.u32     %r16, %ctaid.x;</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mad.lo.s32     %r17, %r16, 512, %r15;</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setp.ge.s32     %p3, %r17, %r14;</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setp.lt.s32     %p1, %r17, %r14;</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mul.wide.s32     %rd7, %r17, 4;</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add.s64     %rd2, %rd4, %rd7;</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@%p1 ld.global.cg.v4.b32 {%r5,%r6,%r7,%r8}, [ %rd2 + 0];</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add.s64     %rd3, %rd5, %rd7;</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@%p1 ld.global.cg.v4.b32 {%r9,%r10,%r11,%r12}, [ %rd3 + 0];</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@%p3 bra     LBB0_2;</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ld.param.u64     %rd6, [add_param_2];</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add.s64     %rd1, %rd6, %rd7;</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add.s32     %r1, %r5, %r9;</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add.s32     %r2, %r6, %r10;</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add.s32     %r3, %r7, %r11;</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add.s32     %r4, %r8, %r12;</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st.global.v4.u32     [%rd1], {%r1, %r2, %r3, %r4};</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LBB0_2:</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    ret;</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a:p>
            <a:pPr indent="0" algn="l">
              <a:lnSpc>
                <a:spcPct val="100000"/>
              </a:lnSpc>
            </a:pPr>
            <a:r>
              <a:rPr lang="en-US" sz="700" b="0" i="0" u="none" strike="noStrike">
                <a:solidFill>
                  <a:srgbClr val="000000"/>
                </a:solidFill>
                <a:latin typeface="Calibri" panose="020F0502020204030204"/>
                <a:ea typeface="Arial" panose="020B0604020202020204"/>
                <a:cs typeface="Arial" panose="020B0604020202020204"/>
                <a:sym typeface="Arial" panose="020B0604020202020204"/>
              </a:rPr>
              <a:t>}</a:t>
            </a:r>
            <a:endParaRPr lang="en-US" sz="700" b="0" i="0" u="none" strike="noStrike">
              <a:solidFill>
                <a:srgbClr val="000000"/>
              </a:solidFill>
              <a:latin typeface="Calibri" panose="020F0502020204030204"/>
              <a:ea typeface="Arial" panose="020B0604020202020204"/>
              <a:cs typeface="Arial" panose="020B0604020202020204"/>
              <a:sym typeface="Arial" panose="020B0604020202020204"/>
            </a:endParaRPr>
          </a:p>
        </p:txBody>
      </p:sp>
      <p:sp>
        <p:nvSpPr>
          <p:cNvPr id="10" name="AutoShape 10"/>
          <p:cNvSpPr/>
          <p:nvPr/>
        </p:nvSpPr>
        <p:spPr>
          <a:xfrm>
            <a:off x="1601086" y="2789237"/>
            <a:ext cx="105116" cy="169332"/>
          </a:xfrm>
          <a:prstGeom prst="downArrow">
            <a:avLst>
              <a:gd name="adj1" fmla="val 50000"/>
              <a:gd name="adj2" fmla="val 50000"/>
            </a:avLst>
          </a:prstGeom>
          <a:solidFill>
            <a:srgbClr val="4472C4">
              <a:alpha val="100000"/>
            </a:srgbClr>
          </a:solidFill>
          <a:ln w="12700" cap="flat" cmpd="sng">
            <a:solidFill>
              <a:srgbClr val="FFFFFF">
                <a:alpha val="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
        <p:nvSpPr>
          <p:cNvPr id="11" name="AutoShape 11"/>
          <p:cNvSpPr/>
          <p:nvPr/>
        </p:nvSpPr>
        <p:spPr>
          <a:xfrm rot="-5400000">
            <a:off x="3032074" y="4442563"/>
            <a:ext cx="105116" cy="169332"/>
          </a:xfrm>
          <a:prstGeom prst="downArrow">
            <a:avLst>
              <a:gd name="adj1" fmla="val 50000"/>
              <a:gd name="adj2" fmla="val 50000"/>
            </a:avLst>
          </a:prstGeom>
          <a:solidFill>
            <a:srgbClr val="4472C4">
              <a:alpha val="100000"/>
            </a:srgbClr>
          </a:solidFill>
          <a:ln w="12700" cap="flat" cmpd="sng">
            <a:solidFill>
              <a:srgbClr val="FFFFFF">
                <a:alpha val="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pic>
        <p:nvPicPr>
          <p:cNvPr id="12" name="Picture 12"/>
          <p:cNvPicPr>
            <a:picLocks noChangeAspect="1"/>
          </p:cNvPicPr>
          <p:nvPr/>
        </p:nvPicPr>
        <p:blipFill>
          <a:blip r:embed="rId1"/>
          <a:srcRect/>
          <a:stretch>
            <a:fillRect/>
          </a:stretch>
        </p:blipFill>
        <p:spPr>
          <a:xfrm>
            <a:off x="6215297" y="2155362"/>
            <a:ext cx="5592486" cy="31902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Dialecte Triton</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xfrm>
            <a:off x="523875" y="1132840"/>
            <a:ext cx="5370195" cy="504444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Avantages : Triton h</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rite directement des dialectes MLIR existants</a:t>
            </a:r>
            <a:endPar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Arith: addf, addi, constant, cmpf, cmpi,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Math: exp, sin, cos, log, absi, absf, sqrt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StructuredControlFlow: for, if, while, yield, condition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Reduire l'effort vers LLVM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Lowering vers LLVM, puis utilisation de l'optimiseur LLVM pour g</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des optimisations de type nvcc</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xfrm>
            <a:off x="6210300" y="1132840"/>
            <a:ext cx="5591175" cy="504698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TTIR : d</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riv</a:t>
            </a:r>
            <a:r>
              <a:rPr lang="en-US" alt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l’analyse de l’AST Python</a:t>
            </a:r>
            <a:endParaRPr lang="en-US" sz="22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Abstraction des op</a:t>
            </a:r>
            <a:r>
              <a:rPr lang="en-US" alt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rations tensorielles</a:t>
            </a:r>
            <a:endPar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a:t>
            </a:r>
            <a:r>
              <a:rPr lang="en-US" alt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sentation du parall</a:t>
            </a:r>
            <a:r>
              <a:rPr lang="en-US" alt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au niveau des blocs</a:t>
            </a:r>
            <a:endPar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210300" y="2957830"/>
            <a:ext cx="5591175" cy="339852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module {</a:t>
            </a:r>
            <a:endParaRPr lang="en-US" sz="1100"/>
          </a:p>
          <a:p>
            <a:pPr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tt.func @add_kernel(%arg0: !tt.ptr&lt;f32&gt;,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%arg1: !tt.ptr&lt;f32&gt;,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%arg2: !tt.ptr&lt;f32&gt;,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%arg3: i32) {</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%c1024 = arith.constant 1024 : i32</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%pid = tt.get_program_id x : i32</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%offset = arith.muli %pid, %c1024 : i32</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%range = tt.make_range {end = 1024, start = 0} : tensor&lt;1024xi32&gt;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%offsets = arith.addi %offset_splat, %range : tensor&lt;1024xi32&gt;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chargement</a:t>
            </a:r>
            <a:endParaRPr lang="en-US" sz="10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%x = tt.load %ptr_x : tensor&lt;1024x!tt.ptr&lt;f32&gt;&gt;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%y = tt.load %ptr_y : tensor&lt;1024x!tt.ptr&lt;f32&gt;&gt;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calcul</a:t>
            </a:r>
            <a:endParaRPr lang="en-US" sz="10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%z = arith.addf %x, %y : tensor&lt;1024xf32&gt;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0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stockage</a:t>
            </a:r>
            <a:endParaRPr lang="en-US" sz="100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tt.store %ptr_z, %z : tensor&lt;1024x!tt.ptr&lt;f32&gt;&gt;</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000" b="0" i="0" u="none" strike="noStrike">
                <a:solidFill>
                  <a:srgbClr val="E4E4E4"/>
                </a:solidFill>
                <a:latin typeface="Menlo" panose="020B0609030804020204"/>
                <a:ea typeface="Menlo" panose="020B0609030804020204"/>
                <a:cs typeface="Menlo" panose="020B0609030804020204"/>
                <a:sym typeface="Menlo" panose="020B0609030804020204"/>
              </a:rPr>
              <a:t>tt.return}}</a:t>
            </a:r>
            <a:endParaRPr lang="en-US" sz="10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a:solidFill>
                  <a:srgbClr val="262626"/>
                </a:solidFill>
                <a:ea typeface="微软雅黑" panose="020B0503020204020204" charset="-122"/>
                <a:cs typeface="微软雅黑" panose="020B0503020204020204" charset="-122"/>
                <a:sym typeface="微软雅黑" panose="020B0503020204020204" charset="-122"/>
              </a:rPr>
              <a:t>Dialecte Triton</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130" b="0" i="0" u="none" strike="noStrike">
                <a:solidFill>
                  <a:srgbClr val="404040"/>
                </a:solidFill>
                <a:latin typeface="Calibri" panose="020F0502020204030204"/>
                <a:ea typeface="Calibri" panose="020F0502020204030204"/>
                <a:cs typeface="Calibri" panose="020F0502020204030204"/>
                <a:sym typeface="Calibri" panose="020F0502020204030204"/>
              </a:rPr>
              <a:t>TritonGPU IR </a:t>
            </a:r>
            <a:r>
              <a:rPr lang="en-US"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2130" b="0" i="0" u="none" strike="noStrike">
                <a:solidFill>
                  <a:srgbClr val="404040"/>
                </a:solidFill>
                <a:latin typeface="Calibri" panose="020F0502020204030204"/>
                <a:ea typeface="Calibri" panose="020F0502020204030204"/>
                <a:cs typeface="Calibri" panose="020F0502020204030204"/>
                <a:sym typeface="Calibri" panose="020F0502020204030204"/>
              </a:rPr>
              <a:t>TTGIR</a:t>
            </a:r>
            <a:r>
              <a:rPr lang="en-US"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Ajouter les informations de disposition.</a:t>
            </a:r>
            <a:endPar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Ajouter la cible mat</a:t>
            </a:r>
            <a:r>
              <a:rPr lang="en-US" alt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 et la configuration des warps.</a:t>
            </a:r>
            <a:endParaRPr 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115" b="0" i="0" u="none" strike="noStrike">
                <a:solidFill>
                  <a:srgbClr val="404040"/>
                </a:solidFill>
                <a:latin typeface="Calibri" panose="020F0502020204030204"/>
                <a:ea typeface="Calibri" panose="020F0502020204030204"/>
                <a:cs typeface="Calibri" panose="020F0502020204030204"/>
                <a:sym typeface="Calibri" panose="020F0502020204030204"/>
              </a:rPr>
              <a:t>NVIDIA PTX</a:t>
            </a:r>
            <a:endParaRPr lang="en-US" sz="21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Jeu d'instructions virtuel pour GPU NVIDIA</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Repr</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sentation interm</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diaire ind</a:t>
            </a:r>
            <a:r>
              <a:rPr lang="en-US" alt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pendante de la plateforme</a:t>
            </a:r>
            <a:endParaRPr lang="en-US" sz="17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Compil</a:t>
            </a:r>
            <a:r>
              <a:rPr lang="en-US" alt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 par ptxas en code machine r</a:t>
            </a:r>
            <a:r>
              <a:rPr lang="en-US" altLang="en-US" sz="176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65" b="0" i="0" u="none" strike="noStrike">
                <a:solidFill>
                  <a:srgbClr val="404040"/>
                </a:solidFill>
                <a:latin typeface="Calibri" panose="020F0502020204030204"/>
                <a:ea typeface="Calibri" panose="020F0502020204030204"/>
                <a:cs typeface="Calibri" panose="020F0502020204030204"/>
                <a:sym typeface="Calibri" panose="020F0502020204030204"/>
              </a:rPr>
              <a:t>el (Streaming Assembler)</a:t>
            </a:r>
            <a:endParaRPr lang="en-US" sz="176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PTX : exemple d'instruction</a:t>
            </a:r>
            <a:endParaRPr lang="en-US" altLang="zh-CN" sz="21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7" name="AutoShape 7"/>
          <p:cNvSpPr/>
          <p:nvPr/>
        </p:nvSpPr>
        <p:spPr>
          <a:xfrm>
            <a:off x="390525" y="2759075"/>
            <a:ext cx="5705475" cy="3420745"/>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#blocked = #triton_gpu.blocked&lt;{</a:t>
            </a:r>
            <a:endParaRPr lang="en-US" sz="1100"/>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	sizePerThread = [4], </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	threadsPerWarp = [32], </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	warpsPerCTA = [4], </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	order = [0]</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}&gt;</a:t>
            </a:r>
            <a:br>
              <a:rPr lang="en-US" sz="1200" b="0" i="0" u="none" strike="noStrike">
                <a:solidFill>
                  <a:srgbClr val="E4E4E4"/>
                </a:solidFill>
                <a:latin typeface="Menlo" panose="020B0609030804020204"/>
                <a:ea typeface="Menlo" panose="020B0609030804020204"/>
                <a:cs typeface="Menlo" panose="020B0609030804020204"/>
                <a:sym typeface="Menlo" panose="020B0609030804020204"/>
              </a:rPr>
            </a:b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module attributes {</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"triton_gpu.num-warps" = 4 : i32,</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triton_gpu.target = "cuda:80" // Ampere</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 {</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tt.func @add_kernel(...) {</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14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Les tenseurs ont maintenant des attributs de disposition</a:t>
            </a:r>
            <a:endParaRPr lang="en-US" sz="1140" b="0" i="0"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%x = tt.load %ptr : tensor&lt;1024x!tt.ptr&lt;f32&gt;, #blocked&gt;</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%y = tt.load %ptr : tensor&lt;1024x!tt.ptr&lt;f32&gt;, #blocked&gt;%z = arith.addf %x, %y : tensor&lt;1024xf32, #blocked&gt;</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114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4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6248398" y="3892378"/>
            <a:ext cx="5419729" cy="939114"/>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855" b="0" i="0" u="none" strike="noStrike">
                <a:solidFill>
                  <a:srgbClr val="E4E4E4"/>
                </a:solidFill>
                <a:latin typeface="Menlo" panose="020B0609030804020204"/>
                <a:ea typeface="Menlo" panose="020B0609030804020204"/>
                <a:cs typeface="Menlo" panose="020B0609030804020204"/>
                <a:sym typeface="Menlo" panose="020B0609030804020204"/>
              </a:rPr>
              <a:t>wmma.mma.sync.aligned.m16n16k16.row.col.f32.f32</a:t>
            </a:r>
            <a:endParaRPr lang="en-US" sz="1100"/>
          </a:p>
          <a:p>
            <a:pPr indent="0" algn="l">
              <a:lnSpc>
                <a:spcPct val="100000"/>
              </a:lnSpc>
            </a:pPr>
            <a:r>
              <a:rPr lang="en-US" sz="855" b="0" i="0" u="none" strike="noStrike">
                <a:solidFill>
                  <a:srgbClr val="E4E4E4"/>
                </a:solidFill>
                <a:latin typeface="Menlo" panose="020B0609030804020204"/>
                <a:ea typeface="Menlo" panose="020B0609030804020204"/>
                <a:cs typeface="Menlo" panose="020B0609030804020204"/>
                <a:sym typeface="Menlo" panose="020B0609030804020204"/>
              </a:rPr>
              <a:t>{%d0, %d1, %d2, %d3, %d4, %d5, %d6, %d7},</a:t>
            </a:r>
            <a:endParaRPr lang="en-US" sz="85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855" b="0" i="0" u="none" strike="noStrike">
                <a:solidFill>
                  <a:srgbClr val="E4E4E4"/>
                </a:solidFill>
                <a:latin typeface="Menlo" panose="020B0609030804020204"/>
                <a:ea typeface="Menlo" panose="020B0609030804020204"/>
                <a:cs typeface="Menlo" panose="020B0609030804020204"/>
                <a:sym typeface="Menlo" panose="020B0609030804020204"/>
              </a:rPr>
              <a:t>{%a0, %a1, %a2, %a3, %a4, %a5, %a6, %a7},</a:t>
            </a:r>
            <a:endParaRPr lang="en-US" sz="85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855" b="0" i="0" u="none" strike="noStrike">
                <a:solidFill>
                  <a:srgbClr val="E4E4E4"/>
                </a:solidFill>
                <a:latin typeface="Menlo" panose="020B0609030804020204"/>
                <a:ea typeface="Menlo" panose="020B0609030804020204"/>
                <a:cs typeface="Menlo" panose="020B0609030804020204"/>
                <a:sym typeface="Menlo" panose="020B0609030804020204"/>
              </a:rPr>
              <a:t>{%b0, %b1, %b2, %b3, %b4, %b5, %b6, %b7},</a:t>
            </a:r>
            <a:endParaRPr lang="en-US" sz="855" b="0" i="0" u="none" strike="noStrike">
              <a:solidFill>
                <a:srgbClr val="E4E4E4"/>
              </a:solidFill>
              <a:latin typeface="Menlo" panose="020B0609030804020204"/>
              <a:ea typeface="Menlo" panose="020B0609030804020204"/>
              <a:cs typeface="Menlo" panose="020B0609030804020204"/>
              <a:sym typeface="Menlo" panose="020B0609030804020204"/>
            </a:endParaRPr>
          </a:p>
          <a:p>
            <a:pPr indent="0" algn="l">
              <a:lnSpc>
                <a:spcPct val="100000"/>
              </a:lnSpc>
            </a:pPr>
            <a:r>
              <a:rPr lang="en-US" sz="855" b="0" i="0" u="none" strike="noStrike">
                <a:solidFill>
                  <a:srgbClr val="E4E4E4"/>
                </a:solidFill>
                <a:latin typeface="Menlo" panose="020B0609030804020204"/>
                <a:ea typeface="Menlo" panose="020B0609030804020204"/>
                <a:cs typeface="Menlo" panose="020B0609030804020204"/>
                <a:sym typeface="Menlo" panose="020B0609030804020204"/>
              </a:rPr>
              <a:t>{%c0, %c1, %c2, %c3, %c4, %c5, %c6, %c7};</a:t>
            </a:r>
            <a:endParaRPr lang="en-US" sz="855"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Autres backends GPU </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rmAutofit fontScale="90000" lnSpcReduction="2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rPr>
              <a:t>AMD</a:t>
            </a:r>
            <a:endPar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rPr>
              <a:t>LLVM IR</a:t>
            </a:r>
            <a:endPar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AMDGPUISelDAGToDAG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selection dinstructions</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SIInstrInfo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informations dinstruction</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GCNRegisterInfo (</a:t>
            </a:r>
            <a:r>
              <a:rPr lang="en-US" sz="16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registre</a:t>
            </a: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rPr>
              <a:t>GCN/CDNA Assembly</a:t>
            </a:r>
            <a:endPar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llvm-mc/ROCM</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rPr>
              <a:t>AMD GPU Binary (ELF)</a:t>
            </a:r>
            <a:endParaRPr lang="en-US" sz="195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AMD Matrix Core impl</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mente la fonctionnalit</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Tensor Core</a:t>
            </a:r>
            <a:endPar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92000"/>
              </a:lnSpc>
              <a:spcBef>
                <a:spcPts val="1500"/>
              </a:spcBef>
              <a:buClr>
                <a:srgbClr val="404040"/>
              </a:buClr>
              <a:buChar char="•"/>
            </a:pP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Triton IR : pas de diff</a:t>
            </a:r>
            <a:r>
              <a:rPr lang="en-US" alt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significative au niveau de l'IR</a:t>
            </a:r>
            <a:endParaRPr lang="en-US" sz="195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92000"/>
              </a:lnSpc>
              <a:spcBef>
                <a:spcPts val="1500"/>
              </a:spcBef>
            </a:pPr>
          </a:p>
          <a:p>
            <a:pPr marL="342900" lvl="1" indent="0" algn="l">
              <a:lnSpc>
                <a:spcPct val="92000"/>
              </a:lnSpc>
              <a:spcBef>
                <a:spcPts val="750"/>
              </a:spcBef>
            </a:pPr>
          </a:p>
          <a:p>
            <a:pPr marL="342900" lvl="1" indent="0" algn="l">
              <a:lnSpc>
                <a:spcPct val="92000"/>
              </a:lnSpc>
              <a:spcBef>
                <a:spcPts val="750"/>
              </a:spcBef>
            </a:pPr>
            <a:r>
              <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3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Dialecte SPIR-V de MLIR</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spirv.Load, spirv.Store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spirv.GroupOperation (SIMD)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spirv.CooperativeMatrix (XMX)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Binaire SPIR-V</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2000" b="0" i="0" u="none" strike="noStrike">
                <a:solidFill>
                  <a:srgbClr val="404040"/>
                </a:solidFill>
                <a:latin typeface="Calibri" panose="020F0502020204030204"/>
                <a:ea typeface="Calibri" panose="020F0502020204030204"/>
                <a:cs typeface="Calibri" panose="020F0502020204030204"/>
                <a:sym typeface="Calibri" panose="020F0502020204030204"/>
              </a:rPr>
              <a:t>Compilateur graphique Intel – IGC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Binaire Gen ISA (ELF)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Certaines extensions SPIR-V sp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cifiques</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fis de la g</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ration de code multi-backend</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Diff</a:t>
            </a:r>
            <a:r>
              <a:rPr lang="en-US" alt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rences de mod</a:t>
            </a:r>
            <a:r>
              <a:rPr lang="en-US" alt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d'ex</a:t>
            </a:r>
            <a:r>
              <a:rPr lang="en-US" alt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NVIDIA : warp = 32 threads, ex</a:t>
            </a:r>
            <a:r>
              <a:rPr lang="en-US" alt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lockste</a:t>
            </a:r>
            <a:endPar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AMD: Wave = 64 threads (CDNA), </a:t>
            </a:r>
            <a:r>
              <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ou</a:t>
            </a: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 32 (RDNA)</a:t>
            </a:r>
            <a:endPar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25" b="0" i="0" u="none" strike="noStrike">
                <a:solidFill>
                  <a:srgbClr val="404040"/>
                </a:solidFill>
                <a:latin typeface="Calibri" panose="020F0502020204030204"/>
                <a:ea typeface="Calibri" panose="020F0502020204030204"/>
                <a:cs typeface="Calibri" panose="020F0502020204030204"/>
                <a:sym typeface="Calibri" panose="020F0502020204030204"/>
              </a:rPr>
              <a:t>Intel : largeur SIMD variable (8/16/32)</a:t>
            </a:r>
            <a:endPar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la couche TritonGPU IR, ces diff</a:t>
            </a:r>
            <a:r>
              <a:rPr lang="en-US" alt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rences sont abstraites en un param</a:t>
            </a:r>
            <a:r>
              <a:rPr lang="en-US" alt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tre de “largeur d'ex</a:t>
            </a:r>
            <a:r>
              <a:rPr lang="en-US" alt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a:t>
            </a:r>
            <a:endPar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Hierarchie memoire differente</a:t>
            </a:r>
            <a:endParaRPr lang="en-US" sz="18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NVIDIA: </a:t>
            </a:r>
            <a:r>
              <a:rPr lang="en-US" altLang="zh-CN" sz="1525" b="0" i="0" u="none" strike="noStrike">
                <a:solidFill>
                  <a:srgbClr val="404040"/>
                </a:solidFill>
                <a:latin typeface="Calibri" panose="020F0502020204030204"/>
                <a:ea typeface="Calibri" panose="020F0502020204030204"/>
                <a:cs typeface="Calibri" panose="020F0502020204030204"/>
                <a:sym typeface="Calibri" panose="020F0502020204030204"/>
              </a:rPr>
              <a:t>m</a:t>
            </a:r>
            <a:r>
              <a:rPr lang="en-US" alt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5" b="0" i="0" u="none" strike="noStrike">
                <a:solidFill>
                  <a:srgbClr val="404040"/>
                </a:solidFill>
                <a:latin typeface="Calibri" panose="020F0502020204030204"/>
                <a:ea typeface="Calibri" panose="020F0502020204030204"/>
                <a:cs typeface="Calibri" panose="020F0502020204030204"/>
                <a:sym typeface="Calibri" panose="020F0502020204030204"/>
              </a:rPr>
              <a:t>moire partag</a:t>
            </a:r>
            <a:r>
              <a:rPr lang="en-US" alt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5" b="0" i="0" u="none" strike="noStrike">
                <a:solidFill>
                  <a:srgbClr val="404040"/>
                </a:solidFill>
                <a:latin typeface="Calibri" panose="020F0502020204030204"/>
                <a:ea typeface="Calibri" panose="020F0502020204030204"/>
                <a:cs typeface="Calibri" panose="020F0502020204030204"/>
                <a:sym typeface="Calibri" panose="020F0502020204030204"/>
              </a:rPr>
              <a:t>e (Shared Memory, gestion explicite)</a:t>
            </a:r>
            <a:endPar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AMD: </a:t>
            </a:r>
            <a:r>
              <a:rPr lang="en-US" altLang="zh-CN" sz="1525" b="0" i="0" u="none" strike="noStrike">
                <a:solidFill>
                  <a:srgbClr val="404040"/>
                </a:solidFill>
                <a:latin typeface="Calibri" panose="020F0502020204030204"/>
                <a:ea typeface="Calibri" panose="020F0502020204030204"/>
                <a:cs typeface="Calibri" panose="020F0502020204030204"/>
                <a:sym typeface="Calibri" panose="020F0502020204030204"/>
              </a:rPr>
              <a:t>LDS (similaire, mais taille / nombre de banques diff</a:t>
            </a:r>
            <a:r>
              <a:rPr lang="en-US" alt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525" b="0" i="0" u="none" strike="noStrike">
                <a:solidFill>
                  <a:srgbClr val="404040"/>
                </a:solidFill>
                <a:latin typeface="Calibri" panose="020F0502020204030204"/>
                <a:ea typeface="Calibri" panose="020F0502020204030204"/>
                <a:cs typeface="Calibri" panose="020F0502020204030204"/>
                <a:sym typeface="Calibri" panose="020F0502020204030204"/>
              </a:rPr>
              <a:t>rent)</a:t>
            </a:r>
            <a:endPar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Intel: </a:t>
            </a:r>
            <a:r>
              <a:rPr lang="en-US" altLang="zh-CN" sz="1525" b="0" i="0" u="none" strike="noStrike">
                <a:solidFill>
                  <a:srgbClr val="404040"/>
                </a:solidFill>
                <a:latin typeface="Calibri" panose="020F0502020204030204"/>
                <a:ea typeface="Calibri" panose="020F0502020204030204"/>
                <a:cs typeface="Calibri" panose="020F0502020204030204"/>
                <a:sym typeface="Calibri" panose="020F0502020204030204"/>
              </a:rPr>
              <a:t>SLM (Shared Local Memory, plus petite)</a:t>
            </a:r>
            <a:endPar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Abstraction de la m</a:t>
            </a:r>
            <a:r>
              <a:rPr lang="en-US" alt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configuration de taille sp</a:t>
            </a:r>
            <a:r>
              <a:rPr lang="en-US" alt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 au backend</a:t>
            </a:r>
            <a:endParaRPr lang="en-US" sz="152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p>
          <a:p>
            <a:pPr marL="342900" lvl="1" indent="0" algn="l">
              <a:lnSpc>
                <a:spcPct val="100000"/>
              </a:lnSpc>
              <a:spcBef>
                <a:spcPts val="750"/>
              </a:spcBef>
            </a:pPr>
            <a:r>
              <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52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Unit</a:t>
            </a:r>
            <a:r>
              <a:rPr lang="en-US" altLang="en-US"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d'acc</a:t>
            </a:r>
            <a:r>
              <a:rPr lang="en-US" altLang="en-US"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matricielle diff</a:t>
            </a:r>
            <a:r>
              <a:rPr lang="en-US" altLang="en-US"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rentes</a:t>
            </a:r>
            <a:endParaRPr lang="en-US" sz="213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NVIDIA: Tensor Core (mma.sync, wgmma)</a:t>
            </a:r>
            <a:endPar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AMD: Matrix Core (v_mfma_*)</a:t>
            </a:r>
            <a:endPar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Intel: XMX (dpas, joint_matrix)</a:t>
            </a:r>
            <a:endPar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tt.dot </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interface unifi</a:t>
            </a:r>
            <a:r>
              <a:rPr lang="en-US" alt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mapp</a:t>
            </a:r>
            <a:r>
              <a:rPr lang="en-US" alt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le backend vers des instructions sp</a:t>
            </a:r>
            <a:r>
              <a:rPr lang="en-US" alt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cifiques.</a:t>
            </a:r>
            <a:endParaRPr lang="en-US" sz="177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7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6660292" y="3964354"/>
            <a:ext cx="4893276" cy="1853514"/>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270" b="0" i="0" u="none" strike="noStrike">
                <a:solidFill>
                  <a:srgbClr val="82D2CE"/>
                </a:solidFill>
                <a:latin typeface="Menlo" panose="020B0609030804020204"/>
                <a:ea typeface="Menlo" panose="020B0609030804020204"/>
                <a:cs typeface="Menlo" panose="020B0609030804020204"/>
                <a:sym typeface="Menlo" panose="020B0609030804020204"/>
              </a:rPr>
              <a:t>class</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0" u="none" strike="noStrike">
                <a:solidFill>
                  <a:srgbClr val="87C3FF"/>
                </a:solidFill>
                <a:latin typeface="Menlo" panose="020B0609030804020204"/>
                <a:ea typeface="Menlo" panose="020B0609030804020204"/>
                <a:cs typeface="Menlo" panose="020B0609030804020204"/>
                <a:sym typeface="Menlo" panose="020B0609030804020204"/>
              </a:rPr>
              <a:t>NVIDIABackend</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270" b="0" i="0" u="none" strike="noStrike">
                <a:solidFill>
                  <a:srgbClr val="EFB080"/>
                </a:solidFill>
                <a:latin typeface="Menlo" panose="020B0609030804020204"/>
                <a:ea typeface="Menlo" panose="020B0609030804020204"/>
                <a:cs typeface="Menlo" panose="020B0609030804020204"/>
                <a:sym typeface="Menlo" panose="020B0609030804020204"/>
              </a:rPr>
              <a:t>Backend</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100"/>
          </a:p>
          <a:p>
            <a:pPr indent="0" algn="l">
              <a:lnSpc>
                <a:spcPct val="100000"/>
              </a:lnSpc>
            </a:pPr>
            <a:r>
              <a:rPr lang="en-US" sz="1270" b="0" i="0" u="none" strike="noStrike">
                <a:solidFill>
                  <a:srgbClr val="82D2CE"/>
                </a:solidFill>
                <a:latin typeface="Menlo" panose="020B0609030804020204"/>
                <a:ea typeface="Menlo" panose="020B0609030804020204"/>
                <a:cs typeface="Menlo" panose="020B0609030804020204"/>
                <a:sym typeface="Menlo" panose="020B0609030804020204"/>
              </a:rPr>
              <a:t>	def</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0" u="none" strike="noStrike">
                <a:solidFill>
                  <a:srgbClr val="EFB080"/>
                </a:solidFill>
                <a:latin typeface="Menlo" panose="020B0609030804020204"/>
                <a:ea typeface="Menlo" panose="020B0609030804020204"/>
                <a:cs typeface="Menlo" panose="020B0609030804020204"/>
                <a:sym typeface="Menlo" panose="020B0609030804020204"/>
              </a:rPr>
              <a:t>get_wave_size</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270" b="0" i="1" u="none" strike="noStrike">
                <a:solidFill>
                  <a:srgbClr val="EFB080"/>
                </a:solidFill>
                <a:latin typeface="Menlo" panose="020B0609030804020204"/>
                <a:ea typeface="Menlo" panose="020B0609030804020204"/>
                <a:cs typeface="Menlo" panose="020B0609030804020204"/>
                <a:sym typeface="Menlo" panose="020B0609030804020204"/>
              </a:rPr>
              <a:t>self</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1" u="none" strike="noStrike">
                <a:solidFill>
                  <a:srgbClr val="82D2CE"/>
                </a:solidFill>
                <a:latin typeface="Menlo" panose="020B0609030804020204"/>
                <a:ea typeface="Menlo" panose="020B0609030804020204"/>
                <a:cs typeface="Menlo" panose="020B0609030804020204"/>
                <a:sym typeface="Menlo" panose="020B0609030804020204"/>
              </a:rPr>
              <a:t>return</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0" u="none" strike="noStrike">
                <a:solidFill>
                  <a:srgbClr val="EBC88D"/>
                </a:solidFill>
                <a:latin typeface="Menlo" panose="020B0609030804020204"/>
                <a:ea typeface="Menlo" panose="020B0609030804020204"/>
                <a:cs typeface="Menlo" panose="020B0609030804020204"/>
                <a:sym typeface="Menlo" panose="020B0609030804020204"/>
              </a:rPr>
              <a:t>32</a:t>
            </a:r>
            <a:endParaRPr lang="en-US" sz="1270" b="0" i="0" u="none" strike="noStrike">
              <a:solidFill>
                <a:srgbClr val="EBC88D"/>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27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0" u="none" strike="noStrike">
                <a:solidFill>
                  <a:srgbClr val="EFB080"/>
                </a:solidFill>
                <a:latin typeface="Menlo" panose="020B0609030804020204"/>
                <a:ea typeface="Menlo" panose="020B0609030804020204"/>
                <a:cs typeface="Menlo" panose="020B0609030804020204"/>
                <a:sym typeface="Menlo" panose="020B0609030804020204"/>
              </a:rPr>
              <a:t>lower_dot</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270" b="0" i="1" u="none" strike="noStrike">
                <a:solidFill>
                  <a:srgbClr val="EFB080"/>
                </a:solidFill>
                <a:latin typeface="Menlo" panose="020B0609030804020204"/>
                <a:ea typeface="Menlo" panose="020B0609030804020204"/>
                <a:cs typeface="Menlo" panose="020B0609030804020204"/>
                <a:sym typeface="Menlo" panose="020B0609030804020204"/>
              </a:rPr>
              <a:t>self</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1" u="none" strike="noStrike">
                <a:solidFill>
                  <a:srgbClr val="F8C762"/>
                </a:solidFill>
                <a:latin typeface="Menlo" panose="020B0609030804020204"/>
                <a:ea typeface="Menlo" panose="020B0609030804020204"/>
                <a:cs typeface="Menlo" panose="020B0609030804020204"/>
                <a:sym typeface="Menlo" panose="020B0609030804020204"/>
              </a:rPr>
              <a:t>op</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7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70" b="0" i="1" u="none" strike="noStrike">
                <a:solidFill>
                  <a:srgbClr val="82D2CE"/>
                </a:solidFill>
                <a:latin typeface="Menlo" panose="020B0609030804020204"/>
                <a:ea typeface="Menlo" panose="020B0609030804020204"/>
                <a:cs typeface="Menlo" panose="020B0609030804020204"/>
                <a:sym typeface="Menlo" panose="020B0609030804020204"/>
              </a:rPr>
              <a:t>if</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0" u="none" strike="noStrike">
                <a:solidFill>
                  <a:srgbClr val="CC7C8A"/>
                </a:solidFill>
                <a:latin typeface="Menlo" panose="020B0609030804020204"/>
                <a:ea typeface="Menlo" panose="020B0609030804020204"/>
                <a:cs typeface="Menlo" panose="020B0609030804020204"/>
                <a:sym typeface="Menlo" panose="020B0609030804020204"/>
              </a:rPr>
              <a:t>self</a:t>
            </a:r>
            <a:r>
              <a:rPr lang="en-US" sz="12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capability </a:t>
            </a:r>
            <a:r>
              <a:rPr lang="en-US" sz="1270" b="0" i="0" u="none" strike="noStrike">
                <a:solidFill>
                  <a:srgbClr val="D6D6DD"/>
                </a:solidFill>
                <a:latin typeface="Menlo" panose="020B0609030804020204"/>
                <a:ea typeface="Menlo" panose="020B0609030804020204"/>
                <a:cs typeface="Menlo" panose="020B0609030804020204"/>
                <a:sym typeface="Menlo" panose="020B0609030804020204"/>
              </a:rPr>
              <a:t>&gt;=</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0" u="none" strike="noStrike">
                <a:solidFill>
                  <a:srgbClr val="EBC88D"/>
                </a:solidFill>
                <a:latin typeface="Menlo" panose="020B0609030804020204"/>
                <a:ea typeface="Menlo" panose="020B0609030804020204"/>
                <a:cs typeface="Menlo" panose="020B0609030804020204"/>
                <a:sym typeface="Menlo" panose="020B0609030804020204"/>
              </a:rPr>
              <a:t>90</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7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70" b="0" i="1" u="none" strike="noStrike">
                <a:solidFill>
                  <a:srgbClr val="82D2CE"/>
                </a:solidFill>
                <a:latin typeface="Menlo" panose="020B0609030804020204"/>
                <a:ea typeface="Menlo" panose="020B0609030804020204"/>
                <a:cs typeface="Menlo" panose="020B0609030804020204"/>
                <a:sym typeface="Menlo" panose="020B0609030804020204"/>
              </a:rPr>
              <a:t>	return</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0" u="none" strike="noStrike">
                <a:solidFill>
                  <a:srgbClr val="AAA0FA"/>
                </a:solidFill>
                <a:latin typeface="Menlo" panose="020B0609030804020204"/>
                <a:ea typeface="Menlo" panose="020B0609030804020204"/>
                <a:cs typeface="Menlo" panose="020B0609030804020204"/>
                <a:sym typeface="Menlo" panose="020B0609030804020204"/>
              </a:rPr>
              <a:t>emit_wgmma</a:t>
            </a:r>
            <a:r>
              <a:rPr lang="en-US" sz="12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op</a:t>
            </a:r>
            <a:r>
              <a:rPr lang="en-US" sz="127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70" b="0" i="0" u="none" strike="noStrike">
              <a:solidFill>
                <a:srgbClr val="D6D6DD"/>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70" b="0" i="1" u="none" strike="noStrike">
                <a:solidFill>
                  <a:srgbClr val="82D2CE"/>
                </a:solidFill>
                <a:latin typeface="Menlo" panose="020B0609030804020204"/>
                <a:ea typeface="Menlo" panose="020B0609030804020204"/>
                <a:cs typeface="Menlo" panose="020B0609030804020204"/>
                <a:sym typeface="Menlo" panose="020B0609030804020204"/>
              </a:rPr>
              <a:t>else</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a:t>
            </a:r>
            <a:endParaRPr lang="en-US" sz="127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914400" lvl="2" indent="0" algn="l">
              <a:lnSpc>
                <a:spcPct val="100000"/>
              </a:lnSpc>
            </a:pPr>
            <a:r>
              <a:rPr lang="en-US" sz="1270" b="0" i="1" u="none" strike="noStrike">
                <a:solidFill>
                  <a:srgbClr val="82D2CE"/>
                </a:solidFill>
                <a:latin typeface="Menlo" panose="020B0609030804020204"/>
                <a:ea typeface="Menlo" panose="020B0609030804020204"/>
                <a:cs typeface="Menlo" panose="020B0609030804020204"/>
                <a:sym typeface="Menlo" panose="020B0609030804020204"/>
              </a:rPr>
              <a:t>	return</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270" b="0" i="0" u="none" strike="noStrike">
                <a:solidFill>
                  <a:srgbClr val="AAA0FA"/>
                </a:solidFill>
                <a:latin typeface="Menlo" panose="020B0609030804020204"/>
                <a:ea typeface="Menlo" panose="020B0609030804020204"/>
                <a:cs typeface="Menlo" panose="020B0609030804020204"/>
                <a:sym typeface="Menlo" panose="020B0609030804020204"/>
              </a:rPr>
              <a:t>emit_mma</a:t>
            </a:r>
            <a:r>
              <a:rPr lang="en-US" sz="127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270" b="0" i="0" u="none" strike="noStrike">
                <a:solidFill>
                  <a:srgbClr val="E4E4E4"/>
                </a:solidFill>
                <a:latin typeface="Menlo" panose="020B0609030804020204"/>
                <a:ea typeface="Menlo" panose="020B0609030804020204"/>
                <a:cs typeface="Menlo" panose="020B0609030804020204"/>
                <a:sym typeface="Menlo" panose="020B0609030804020204"/>
              </a:rPr>
              <a:t>op</a:t>
            </a:r>
            <a:r>
              <a:rPr lang="en-US" sz="1270" b="0" i="0" u="none" strike="noStrike">
                <a:solidFill>
                  <a:srgbClr val="D6D6DD"/>
                </a:solidFill>
                <a:latin typeface="Menlo" panose="020B0609030804020204"/>
                <a:ea typeface="Menlo" panose="020B0609030804020204"/>
                <a:cs typeface="Menlo" panose="020B0609030804020204"/>
                <a:sym typeface="Menlo" panose="020B0609030804020204"/>
              </a:rPr>
              <a:t>)</a:t>
            </a:r>
            <a:endParaRPr lang="en-US" sz="1270" b="0" i="0" u="none" strike="noStrike">
              <a:solidFill>
                <a:srgbClr val="D6D6DD"/>
              </a:solidFill>
              <a:latin typeface="Menlo" panose="020B0609030804020204"/>
              <a:ea typeface="Menlo" panose="020B0609030804020204"/>
              <a:cs typeface="Menlo" panose="020B0609030804020204"/>
              <a:sym typeface="Menlo" panose="020B060903080402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Optimisation de la génération de code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Vectorisation</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 scalaire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Code vectorisé</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p>
          <a:p>
            <a:pPr marL="342900" lvl="1" indent="0" algn="l">
              <a:lnSpc>
                <a:spcPct val="100000"/>
              </a:lnSpc>
              <a:spcBef>
                <a:spcPts val="750"/>
              </a:spcBef>
            </a:p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Vectorisation avec Triton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roulement de boucle (Loop Unrolling)</a:t>
            </a:r>
            <a:endParaRPr lang="en-US" sz="20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Réduction des coûts de boucle</a:t>
            </a:r>
            <a:r>
              <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branchement</a:t>
            </a:r>
            <a:r>
              <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compteur</a:t>
            </a:r>
            <a:r>
              <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a:t>
            </a:r>
            <a:endPar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Augmentation du parall</a:t>
            </a:r>
            <a:r>
              <a:rPr lang="en-US" alt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lisme au niveau des instructions</a:t>
            </a:r>
            <a:endParaRPr lang="en-US" altLang="zh-CN"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Meilleure réutilisation des registres</a:t>
            </a:r>
            <a:endParaRPr lang="en-US" sz="171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42900" lvl="1" indent="0" algn="l">
              <a:lnSpc>
                <a:spcPct val="100000"/>
              </a:lnSpc>
              <a:spcBef>
                <a:spcPts val="750"/>
              </a:spcBef>
            </a:pPr>
            <a:r>
              <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715"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1017270" y="2160270"/>
            <a:ext cx="5097780" cy="70866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555" b="0" i="0" u="none" strike="noStrike">
                <a:solidFill>
                  <a:srgbClr val="E4E4E4"/>
                </a:solidFill>
                <a:latin typeface="Menlo" panose="020B0609030804020204"/>
                <a:ea typeface="Menlo" panose="020B0609030804020204"/>
                <a:cs typeface="Menlo" panose="020B0609030804020204"/>
                <a:sym typeface="Menlo" panose="020B0609030804020204"/>
              </a:rPr>
              <a:t>for i in range(N):</a:t>
            </a:r>
            <a:endParaRPr lang="en-US" sz="1100"/>
          </a:p>
          <a:p>
            <a:pPr indent="0" algn="l">
              <a:lnSpc>
                <a:spcPct val="100000"/>
              </a:lnSpc>
            </a:pPr>
            <a:r>
              <a:rPr lang="en-US" sz="1555" b="0" i="0" u="none" strike="noStrike">
                <a:solidFill>
                  <a:srgbClr val="E4E4E4"/>
                </a:solidFill>
                <a:latin typeface="Menlo" panose="020B0609030804020204"/>
                <a:ea typeface="Menlo" panose="020B0609030804020204"/>
                <a:cs typeface="Menlo" panose="020B0609030804020204"/>
                <a:sym typeface="Menlo" panose="020B0609030804020204"/>
              </a:rPr>
              <a:t>	c[i] = a[i] + b[i]</a:t>
            </a:r>
            <a:endParaRPr lang="en-US" sz="1555"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8" name="AutoShape 8"/>
          <p:cNvSpPr/>
          <p:nvPr/>
        </p:nvSpPr>
        <p:spPr>
          <a:xfrm>
            <a:off x="1017270" y="3263265"/>
            <a:ext cx="5078730" cy="70866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555" b="0" i="0" u="none" strike="noStrike">
                <a:solidFill>
                  <a:srgbClr val="E4E4E4"/>
                </a:solidFill>
                <a:latin typeface="Menlo" panose="020B0609030804020204"/>
                <a:ea typeface="Menlo" panose="020B0609030804020204"/>
                <a:cs typeface="Menlo" panose="020B0609030804020204"/>
                <a:sym typeface="Menlo" panose="020B0609030804020204"/>
              </a:rPr>
              <a:t>for i in range(0, N, 4):</a:t>
            </a:r>
            <a:endParaRPr lang="en-US" sz="1100"/>
          </a:p>
          <a:p>
            <a:pPr indent="0" algn="l">
              <a:lnSpc>
                <a:spcPct val="100000"/>
              </a:lnSpc>
            </a:pPr>
            <a:r>
              <a:rPr lang="en-US" sz="1555" b="0" i="0" u="none" strike="noStrike">
                <a:solidFill>
                  <a:srgbClr val="E4E4E4"/>
                </a:solidFill>
                <a:latin typeface="Menlo" panose="020B0609030804020204"/>
                <a:ea typeface="Menlo" panose="020B0609030804020204"/>
                <a:cs typeface="Menlo" panose="020B0609030804020204"/>
                <a:sym typeface="Menlo" panose="020B0609030804020204"/>
              </a:rPr>
              <a:t>	c[i:i+4] = a[i:i+4] + b[i:i+4]</a:t>
            </a:r>
            <a:endParaRPr lang="en-US" sz="1555"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523873" y="4712970"/>
            <a:ext cx="5591177" cy="1655416"/>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310" b="0" i="0" u="none" strike="noStrike">
                <a:solidFill>
                  <a:srgbClr val="A8CC7C"/>
                </a:solidFill>
                <a:latin typeface="Menlo" panose="020B0609030804020204"/>
                <a:ea typeface="Menlo" panose="020B0609030804020204"/>
                <a:cs typeface="Menlo" panose="020B0609030804020204"/>
                <a:sym typeface="Menlo" panose="020B0609030804020204"/>
              </a:rPr>
              <a:t>@triton</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A8CC7C"/>
                </a:solidFill>
                <a:latin typeface="Menlo" panose="020B0609030804020204"/>
                <a:ea typeface="Menlo" panose="020B0609030804020204"/>
                <a:cs typeface="Menlo" panose="020B0609030804020204"/>
                <a:sym typeface="Menlo" panose="020B0609030804020204"/>
              </a:rPr>
              <a:t>jit</a:t>
            </a:r>
            <a:endParaRPr lang="en-US" sz="1100"/>
          </a:p>
          <a:p>
            <a:pPr marL="457200" lvl="1" indent="0" algn="l">
              <a:lnSpc>
                <a:spcPct val="100000"/>
              </a:lnSpc>
            </a:pPr>
            <a:r>
              <a:rPr lang="en-US" sz="1310" b="0" i="0" u="none" strike="noStrike">
                <a:solidFill>
                  <a:srgbClr val="82D2CE"/>
                </a:solidFill>
                <a:latin typeface="Menlo" panose="020B0609030804020204"/>
                <a:ea typeface="Menlo" panose="020B0609030804020204"/>
                <a:cs typeface="Menlo" panose="020B0609030804020204"/>
                <a:sym typeface="Menlo" panose="020B0609030804020204"/>
              </a:rPr>
              <a:t>def</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10" b="0" i="0" u="none" strike="noStrike">
                <a:solidFill>
                  <a:srgbClr val="EFB080"/>
                </a:solidFill>
                <a:latin typeface="Menlo" panose="020B0609030804020204"/>
                <a:ea typeface="Menlo" panose="020B0609030804020204"/>
                <a:cs typeface="Menlo" panose="020B0609030804020204"/>
                <a:sym typeface="Menlo" panose="020B0609030804020204"/>
              </a:rPr>
              <a:t>kernel</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a:t>
            </a:r>
            <a:r>
              <a:rPr lang="en-US" sz="1310" b="0" i="1" u="none" strike="noStrike">
                <a:solidFill>
                  <a:srgbClr val="F8C762"/>
                </a:solidFill>
                <a:latin typeface="Menlo" panose="020B0609030804020204"/>
                <a:ea typeface="Menlo" panose="020B0609030804020204"/>
                <a:cs typeface="Menlo" panose="020B0609030804020204"/>
                <a:sym typeface="Menlo" panose="020B0609030804020204"/>
              </a:rPr>
              <a:t>ptr</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10" b="0" i="1" u="none" strike="noStrike">
                <a:solidFill>
                  <a:srgbClr val="F8C762"/>
                </a:solidFill>
                <a:latin typeface="Menlo" panose="020B0609030804020204"/>
                <a:ea typeface="Menlo" panose="020B0609030804020204"/>
                <a:cs typeface="Menlo" panose="020B0609030804020204"/>
                <a:sym typeface="Menlo" panose="020B0609030804020204"/>
              </a:rPr>
              <a:t>N</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10" b="0" i="1" u="none" strike="noStrike">
                <a:solidFill>
                  <a:srgbClr val="F8C762"/>
                </a:solidFill>
                <a:latin typeface="Menlo" panose="020B0609030804020204"/>
                <a:ea typeface="Menlo" panose="020B0609030804020204"/>
                <a:cs typeface="Menlo" panose="020B0609030804020204"/>
                <a:sym typeface="Menlo" panose="020B0609030804020204"/>
              </a:rPr>
              <a:t>BLOCK</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constexpr):</a:t>
            </a:r>
            <a:endParaRPr lang="en-US" sz="131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offs </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AAA0FA"/>
                </a:solidFill>
                <a:latin typeface="Menlo" panose="020B0609030804020204"/>
                <a:ea typeface="Menlo" panose="020B0609030804020204"/>
                <a:cs typeface="Menlo" panose="020B0609030804020204"/>
                <a:sym typeface="Menlo" panose="020B0609030804020204"/>
              </a:rPr>
              <a:t>arange</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BC88D"/>
                </a:solidFill>
                <a:latin typeface="Menlo" panose="020B0609030804020204"/>
                <a:ea typeface="Menlo" panose="020B0609030804020204"/>
                <a:cs typeface="Menlo" panose="020B0609030804020204"/>
                <a:sym typeface="Menlo" panose="020B0609030804020204"/>
              </a:rPr>
              <a:t>0</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BLOCK</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1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génère un index vectoriel</a:t>
            </a:r>
            <a:endPar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10" b="0" i="1" u="none" strike="noStrike">
                <a:solidFill>
                  <a:srgbClr val="E4E4E4"/>
                </a:solidFill>
                <a:latin typeface="Menlo" panose="020B0609030804020204"/>
                <a:ea typeface="Menlo" panose="020B0609030804020204"/>
                <a:cs typeface="Menlo" panose="020B0609030804020204"/>
                <a:sym typeface="Menlo" panose="020B0609030804020204"/>
              </a:rPr>
              <a:t># Triton </a:t>
            </a:r>
            <a:r>
              <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sélectionne automatiquement la largeur du vecteur</a:t>
            </a:r>
            <a:endPar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1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selon</a:t>
            </a:r>
            <a:r>
              <a:rPr lang="en-US" sz="1310" b="0" i="1" u="none" strike="noStrike">
                <a:solidFill>
                  <a:srgbClr val="E4E4E4"/>
                </a:solidFill>
                <a:latin typeface="Menlo" panose="020B0609030804020204"/>
                <a:ea typeface="Menlo" panose="020B0609030804020204"/>
                <a:cs typeface="Menlo" panose="020B0609030804020204"/>
                <a:sym typeface="Menlo" panose="020B0609030804020204"/>
              </a:rPr>
              <a:t> BLOCK </a:t>
            </a:r>
            <a:r>
              <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taille et type de données</a:t>
            </a:r>
            <a:endPar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a:p>
            <a:pPr marL="457200" lvl="1" indent="0" algn="l">
              <a:lnSpc>
                <a:spcPct val="100000"/>
              </a:lnSpc>
            </a:pP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x </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tl</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AAA0FA"/>
                </a:solidFill>
                <a:latin typeface="Menlo" panose="020B0609030804020204"/>
                <a:ea typeface="Menlo" panose="020B0609030804020204"/>
                <a:cs typeface="Menlo" panose="020B0609030804020204"/>
                <a:sym typeface="Menlo" panose="020B0609030804020204"/>
              </a:rPr>
              <a:t>load</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ptr </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offs</a:t>
            </a:r>
            <a:r>
              <a:rPr lang="en-US" sz="1310" b="0" i="0" u="none" strike="noStrike">
                <a:solidFill>
                  <a:srgbClr val="D6D6DD"/>
                </a:solidFill>
                <a:latin typeface="Menlo" panose="020B0609030804020204"/>
                <a:ea typeface="Menlo" panose="020B0609030804020204"/>
                <a:cs typeface="Menlo" panose="020B0609030804020204"/>
                <a:sym typeface="Menlo" panose="020B0609030804020204"/>
              </a:rPr>
              <a:t>)</a:t>
            </a:r>
            <a:r>
              <a:rPr lang="en-US" sz="1310" b="0" i="0"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10" b="0" i="1" u="none" strike="noStrike">
                <a:solidFill>
                  <a:srgbClr val="E4E4E4"/>
                </a:solidFill>
                <a:latin typeface="Menlo" panose="020B0609030804020204"/>
                <a:ea typeface="Menlo" panose="020B0609030804020204"/>
                <a:cs typeface="Menlo" panose="020B0609030804020204"/>
                <a:sym typeface="Menlo" panose="020B0609030804020204"/>
              </a:rPr>
              <a:t># </a:t>
            </a:r>
            <a:r>
              <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rPr>
              <a:t>compilé en chargement vectoriel</a:t>
            </a:r>
            <a:endParaRPr lang="en-US" sz="1310" b="0" i="1" u="none" strike="noStrike">
              <a:solidFill>
                <a:srgbClr val="E4E4E4"/>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10" name="AutoShape 10"/>
          <p:cNvSpPr/>
          <p:nvPr/>
        </p:nvSpPr>
        <p:spPr>
          <a:xfrm>
            <a:off x="6290306" y="3041810"/>
            <a:ext cx="5791202" cy="70866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555" b="0" i="0" u="none" strike="noStrike">
                <a:solidFill>
                  <a:srgbClr val="E4E4E4"/>
                </a:solidFill>
                <a:latin typeface="Menlo" panose="020B0609030804020204"/>
                <a:ea typeface="Menlo" panose="020B0609030804020204"/>
                <a:cs typeface="Menlo" panose="020B0609030804020204"/>
                <a:sym typeface="Menlo" panose="020B0609030804020204"/>
              </a:rPr>
              <a:t>for k in range(0, K, 16):</a:t>
            </a:r>
            <a:endParaRPr lang="en-US" sz="1100"/>
          </a:p>
          <a:p>
            <a:pPr indent="0" algn="l">
              <a:lnSpc>
                <a:spcPct val="100000"/>
              </a:lnSpc>
            </a:pPr>
            <a:r>
              <a:rPr lang="en-US" sz="1555" b="0" i="0" u="none" strike="noStrike">
                <a:solidFill>
                  <a:srgbClr val="E4E4E4"/>
                </a:solidFill>
                <a:latin typeface="Menlo" panose="020B0609030804020204"/>
                <a:ea typeface="Menlo" panose="020B0609030804020204"/>
                <a:cs typeface="Menlo" panose="020B0609030804020204"/>
                <a:sym typeface="Menlo" panose="020B0609030804020204"/>
              </a:rPr>
              <a:t>	acc = dot(a[k:k+16], b[k:k+16], acc)</a:t>
            </a:r>
            <a:endParaRPr lang="en-US" sz="1555"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1" name="AutoShape 11"/>
          <p:cNvSpPr/>
          <p:nvPr/>
        </p:nvSpPr>
        <p:spPr>
          <a:xfrm>
            <a:off x="6290306" y="4279901"/>
            <a:ext cx="5791202" cy="2076450"/>
          </a:xfrm>
          <a:prstGeom prst="rect">
            <a:avLst/>
          </a:prstGeom>
          <a:solidFill>
            <a:srgbClr val="000000">
              <a:alpha val="100000"/>
            </a:srgbClr>
          </a:solidFill>
          <a:ln w="12700" cap="flat">
            <a:solidFill>
              <a:srgbClr val="000000">
                <a:alpha val="100000"/>
              </a:srgbClr>
            </a:solidFill>
            <a:prstDash val="solid"/>
          </a:ln>
        </p:spPr>
        <p:txBody>
          <a:bodyPr wrap="square" lIns="91440" tIns="45720" rIns="91440" bIns="45720" rtlCol="0" anchor="ctr">
            <a:noAutofit/>
          </a:bodyPr>
          <a:lstStyle/>
          <a:p>
            <a:pPr indent="0" algn="l">
              <a:lnSpc>
                <a:spcPct val="100000"/>
              </a:lnSpc>
              <a:defRPr/>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for k in range(0, K, 64):</a:t>
            </a:r>
            <a:endParaRPr lang="en-US" sz="1100"/>
          </a:p>
          <a:p>
            <a:pPr marL="457200" lvl="1"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acc = dot(a[k:k+16], b[k:k+16], acc)</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acc = dot(a[k+16:k+32], b[k+16:k+32], acc)</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acc = dot(a[k+32:k+48], b[k+32:k+48], acc)</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a:p>
            <a:pPr marL="457200" lvl="1" indent="0" algn="l">
              <a:lnSpc>
                <a:spcPct val="100000"/>
              </a:lnSpc>
            </a:pPr>
            <a:r>
              <a:rPr lang="en-US" sz="1600" b="0" i="0" u="none" strike="noStrike">
                <a:solidFill>
                  <a:srgbClr val="E4E4E4"/>
                </a:solidFill>
                <a:latin typeface="Menlo" panose="020B0609030804020204"/>
                <a:ea typeface="Menlo" panose="020B0609030804020204"/>
                <a:cs typeface="Menlo" panose="020B0609030804020204"/>
                <a:sym typeface="Menlo" panose="020B0609030804020204"/>
              </a:rPr>
              <a:t>acc = dot(a[k+48:k+64], b[k+48:k+64], acc)</a:t>
            </a:r>
            <a:endParaRPr lang="en-US" sz="1600" b="0" i="0" u="none" strike="noStrike">
              <a:solidFill>
                <a:srgbClr val="E4E4E4"/>
              </a:solidFill>
              <a:latin typeface="Menlo" panose="020B0609030804020204"/>
              <a:ea typeface="Menlo" panose="020B0609030804020204"/>
              <a:cs typeface="Menlo" panose="020B0609030804020204"/>
              <a:sym typeface="Menlo" panose="020B0609030804020204"/>
            </a:endParaRPr>
          </a:p>
        </p:txBody>
      </p:sp>
      <p:sp>
        <p:nvSpPr>
          <p:cNvPr id="12" name="AutoShape 12"/>
          <p:cNvSpPr/>
          <p:nvPr/>
        </p:nvSpPr>
        <p:spPr>
          <a:xfrm>
            <a:off x="9045890" y="3783330"/>
            <a:ext cx="140017" cy="445770"/>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2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Discussion en groupe : </a:t>
            </a:r>
            <a:r>
              <a:rPr lang="en-US" altLang="zh-CN" sz="2200" b="0" i="0" u="none" strike="noStrike">
                <a:solidFill>
                  <a:srgbClr val="262626"/>
                </a:solidFill>
                <a:latin typeface="Calibri" panose="020F0502020204030204"/>
                <a:ea typeface="Calibri" panose="020F0502020204030204"/>
                <a:cs typeface="Calibri" panose="020F0502020204030204"/>
                <a:sym typeface="Calibri" panose="020F0502020204030204"/>
              </a:rPr>
              <a:t>comment Triton prend-il en charge les diff</a:t>
            </a:r>
            <a:r>
              <a:rPr lang="en-US" altLang="en-US" sz="2200" b="0" i="0" u="none" strike="noStrike">
                <a:solidFill>
                  <a:srgbClr val="262626"/>
                </a:solidFill>
                <a:latin typeface="Calibri" panose="020F0502020204030204"/>
                <a:ea typeface="Calibri" panose="020F0502020204030204"/>
                <a:cs typeface="Calibri" panose="020F0502020204030204"/>
                <a:sym typeface="Calibri" panose="020F0502020204030204"/>
              </a:rPr>
              <a:t>é</a:t>
            </a:r>
            <a:r>
              <a:rPr lang="en-US" altLang="zh-CN" sz="2200" b="0" i="0" u="none" strike="noStrike">
                <a:solidFill>
                  <a:srgbClr val="262626"/>
                </a:solidFill>
                <a:latin typeface="Calibri" panose="020F0502020204030204"/>
                <a:ea typeface="Calibri" panose="020F0502020204030204"/>
                <a:cs typeface="Calibri" panose="020F0502020204030204"/>
                <a:sym typeface="Calibri" panose="020F0502020204030204"/>
              </a:rPr>
              <a:t>rentes architectures NVIDIA</a:t>
            </a:r>
            <a:r>
              <a:rPr lang="en-US" sz="2200"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sz="22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2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4" name="AutoShape 4"/>
          <p:cNvSpPr/>
          <p:nvPr>
            <p:ph type="body" sz="quarter" idx="12"/>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26</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Support des backends multi-puces II (Runtime)</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Support multi-backend dans la couche runtime</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https://github.com/flagos-ai/KernelGen/blob/main/AtenOperator.md, visualized by Claucd Sonnet 4.6 Extended.</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370955" cy="5032375"/>
          </a:xfrm>
          <a:prstGeom prst="rect">
            <a:avLst/>
          </a:prstGeom>
        </p:spPr>
        <p:txBody>
          <a:bodyPr wrap="square" lIns="91440" tIns="45720" rIns="91440" bIns="45720" anchor="t">
            <a:normAutofit lnSpcReduction="20000"/>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Nécessité</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Prenons PyTorch comme exemple : le framework natif contient plus de 2600 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de bas niveau.</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un fabricant de mat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souhaite s’int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grer, l’approche traditionnelle 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une impl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C++ pour chaque backend et de modifier le code central du framework.</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 fragmentation de l'écosystème est grave et le coût de migration de la puissance de calcul est extrêmement élevé.</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apport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par FlagTree/FlagGems</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coupler la phase de compilation de la phase d’ex</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via un runtime unifi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6" name="Group 6"/>
          <p:cNvGrpSpPr/>
          <p:nvPr/>
        </p:nvGrpSpPr>
        <p:grpSpPr>
          <a:xfrm>
            <a:off x="6904355" y="1457960"/>
            <a:ext cx="4897755" cy="4396105"/>
            <a:chOff x="6904355" y="1457960"/>
            <a:chExt cx="4897755" cy="4396105"/>
          </a:xfrm>
        </p:grpSpPr>
        <p:pic>
          <p:nvPicPr>
            <p:cNvPr id="7" name="Picture 7"/>
            <p:cNvPicPr>
              <a:picLocks noChangeAspect="1"/>
            </p:cNvPicPr>
            <p:nvPr/>
          </p:nvPicPr>
          <p:blipFill>
            <a:blip r:embed="rId1"/>
            <a:srcRect/>
            <a:stretch>
              <a:fillRect/>
            </a:stretch>
          </p:blipFill>
          <p:spPr>
            <a:xfrm>
              <a:off x="6904355" y="1457960"/>
              <a:ext cx="4896485" cy="3451225"/>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04355" y="4909185"/>
              <a:ext cx="4897755" cy="944880"/>
            </a:xfrm>
            <a:prstGeom prst="rect">
              <a:avLst/>
            </a:prstGeom>
            <a:ln w="12700">
              <a:noFill/>
              <a:prstDash val="solid"/>
            </a:ln>
          </p:spPr>
        </p:pic>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Limites des responsabilit</a:t>
            </a:r>
            <a:r>
              <a:rPr lang="en-US" altLang="en-US" sz="30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du runtime</a:t>
            </a:r>
            <a:endParaRPr lang="en-US" sz="302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https://www.techtarget.com/searchsoftwarequality/definition/runtime</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915785" cy="478599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Gestion des appareils : </a:t>
            </a:r>
            <a:r>
              <a:rPr lang="en-US" sz="203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Initialisation et maintenance du contexte matériel.</a:t>
            </a:r>
            <a:endParaRPr 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Ordonnancement mémoire : </a:t>
            </a:r>
            <a:r>
              <a:rPr lang="en-US" sz="2035"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Gestion de l'allocation et de la libération de la mémoire vidéo.</a:t>
            </a:r>
            <a:endParaRPr 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Transfert de donn</a:t>
            </a:r>
            <a:r>
              <a:rPr lang="en-US" alt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 : de l'hôte vers le p</a:t>
            </a:r>
            <a:r>
              <a:rPr lang="en-US" alt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(H2D) et du p</a:t>
            </a:r>
            <a:r>
              <a:rPr lang="en-US" alt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vers l'hôte (D2H).</a:t>
            </a:r>
            <a:endParaRPr 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0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Distribution des instructions : </a:t>
            </a:r>
            <a:r>
              <a:rPr lang="en-US" sz="2035"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3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istribuer les binaires des noyaux compil</a:t>
            </a:r>
            <a:r>
              <a:rPr lang="en-US" alt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vers les p</a:t>
            </a:r>
            <a:r>
              <a:rPr lang="en-US" alt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riques physiques appropri</a:t>
            </a:r>
            <a:r>
              <a:rPr lang="en-US" alt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et synchroniser les flux d'ex</a:t>
            </a:r>
            <a:r>
              <a:rPr lang="en-US" alt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a:t>
            </a:r>
            <a:endParaRPr 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Fournir une couche d'abstraction de haut niveau via une API pour masquer les diff</a:t>
            </a:r>
            <a:r>
              <a:rPr lang="en-US" alt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rences significatives entre les pilotes de bas niveau des diff</a:t>
            </a:r>
            <a:r>
              <a:rPr lang="en-US" alt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rents fabricants de mat</a:t>
            </a:r>
            <a:r>
              <a:rPr lang="en-US" alt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a:t>
            </a:r>
            <a:endParaRPr lang="en-US" sz="169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l="10167" t="22724" r="10191" b="12148"/>
          <a:stretch>
            <a:fillRect/>
          </a:stretch>
        </p:blipFill>
        <p:spPr>
          <a:xfrm>
            <a:off x="7439660" y="1630045"/>
            <a:ext cx="4361815" cy="35979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Mod</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le d’encapsulation d’API</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https://github.com/pytorch/pytorch/issues/139602</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479540" cy="5062220"/>
          </a:xfrm>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Étude de cas : </a:t>
            </a:r>
            <a:r>
              <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FlagGems</a:t>
            </a:r>
            <a:r>
              <a:rPr lang="en-US" sz="191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l'interception transparente de </a:t>
            </a:r>
            <a:r>
              <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rPr>
              <a:t>ATen </a:t>
            </a:r>
            <a:endParaRPr lang="en-US" sz="191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Philosophie de conception :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viter de modifier le code de mod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existant de l'utilisateur, en exposant une API totalement coh</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rente à la couche sup</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d'enregistrement out-of-tree : FlagGems utilise torch.Library et d'autres API de bas niveau pour effectuer des extensions hors-arbre (out-of-tree)</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Flux de travail d'interception : intercepter l'appel d'op</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ATen natif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fournir une impl</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Triton sp</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 au backend </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remplacer de force le comportement natif</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Permettre une migration invisible de puissance de calcul pour les 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veloppeurs de mod</a:t>
            </a:r>
            <a:r>
              <a:rPr lang="en-US" alt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sans modification du code existant</a:t>
            </a:r>
            <a:r>
              <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035800" y="803275"/>
            <a:ext cx="4662170" cy="55530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8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8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duction des surco</a:t>
            </a:r>
            <a:r>
              <a:rPr lang="en-US" altLang="en-US" sz="28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28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ts : optimisation du runtime </a:t>
            </a:r>
            <a:endParaRPr lang="en-US" altLang="zh-CN" sz="289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393180" cy="4779645"/>
          </a:xfrm>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Problème :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appels fr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quents à l'API Python et la compilation juste-à-temps (JIT) entra</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î</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nent des surco</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d'ex</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importants.</a:t>
            </a:r>
            <a:endPar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Solution :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I</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ntroduction de l'encapsulation d'ex</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LibEntry.</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Avantage : </a:t>
            </a: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liminer la contention du GIL Python.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placer enti</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rement la logique d'encapsulation des op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le m</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d'enregistrement et la gestion des flux d'ex</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vers la couche C++, avec une int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gration approfondie de CUDA / du flux de travail du pilote de bas niveau.</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917055" y="1624330"/>
            <a:ext cx="4820285" cy="39630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8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Routage backend via variables d’environnement</a:t>
            </a:r>
            <a:endParaRPr lang="en-US" altLang="zh-CN" sz="284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https://github.com/flagos-ai/FlagGems/blob/master/docs/how_to_use_flaggems.md</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FlagTree (compilateur) et FlagGems (biblioth</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que d'op</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sont int</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sur plus de 10 plateformes mat</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a:t>
            </a:r>
            <a:r>
              <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a:t>
            </a:r>
            <a:endPar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NVIDIA GPU</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Kunlunxin (</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Kunlunxin</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Iluvatar (</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Iluvatar</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MetaX (</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MetaX</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MThreads (</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MThreads</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Ascend (</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Ascend</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Tsingmicro (</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Tsingmicro</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etc.</a:t>
            </a:r>
            <a:endPar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Chargement paresseux (Lazy Loading) du support backend</a:t>
            </a:r>
            <a:r>
              <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L'interface utilisateur unifiée est</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6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rPr>
              <a:t>import flag_gems; flag_gems.enable()</a:t>
            </a:r>
            <a:r>
              <a:rPr lang="en-US" sz="186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tection automatique et intervention manuelle : le syst</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tente d'identifier automatiquement le mat</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et en cas d'</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chec, s'appuie sur les variables d'environnement.</a:t>
            </a:r>
            <a:endPar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Commutateur de routage : utiliser `export GEMS_VENDOR=&lt;vendor_name&gt;` pour forcer la cible de distribution (par exemple nvidia, tsingmicro)</a:t>
            </a:r>
            <a:r>
              <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Cela assure l'isolement strict des fichiers physiques multi-branches, r</a:t>
            </a:r>
            <a:r>
              <a:rPr lang="en-US" alt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ainsi les conflits de code</a:t>
            </a:r>
            <a:r>
              <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2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altLang="zh-CN"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Priorit</a:t>
            </a:r>
            <a:r>
              <a:rPr lang="en-US" altLang="en-US"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mat</a:t>
            </a:r>
            <a:r>
              <a:rPr lang="en-US" altLang="en-US"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rielle dans FlagGems pour la sp</a:t>
            </a:r>
            <a:r>
              <a:rPr lang="en-US" altLang="en-US"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cialisation mat</a:t>
            </a:r>
            <a:r>
              <a:rPr lang="en-US" altLang="en-US"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rielle</a:t>
            </a:r>
            <a:endParaRPr lang="en-US" altLang="zh-CN" sz="25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33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https://github.com/flagos-ai/FlagGems/blob/master/src/flag_gems/runtime/backend/_tsingmicro/heuristics_config_utils.py</a:t>
            </a:r>
            <a:endParaRPr lang="en-US" sz="133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884670" cy="5039995"/>
          </a:xfrm>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code de descente MLIR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est fonctionnellement correct, mais n'atteint pas 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cessairement les performances optimales pour un mat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sp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Logique de planification sp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avant la distribution, le syst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v</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rifie en priorit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backend/&lt;vendor&gt;/ops/ ou fused/ s'il existe une version optimis</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manuellement par le fournisseur.</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50000"/>
              </a:lnSpc>
              <a:spcBef>
                <a:spcPts val="150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 une version sp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existe, le syst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court-circuite la logique multiplateforme g</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et route directement vers le code sp</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408545" y="1323975"/>
            <a:ext cx="4300855" cy="45262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Analyse de cas : support sp</a:t>
            </a:r>
            <a:r>
              <a:rPr lang="en-US" altLang="en-US"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pour l’op</a:t>
            </a:r>
            <a:r>
              <a:rPr lang="en-US" altLang="en-US"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rateur fusionn</a:t>
            </a:r>
            <a:r>
              <a:rPr lang="en-US" altLang="en-US"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de cross-entropy sur Tsingmicro</a:t>
            </a:r>
            <a:endParaRPr lang="en-US" altLang="zh-CN" sz="22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https://docs.pytorch.org/docs/stable/generated/torch.nn.CrossEntropyLoss.html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6717665" cy="4765040"/>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L'entropie croisée (</a:t>
            </a: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Cross Entropy Loss</a:t>
            </a: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au cœur de l'entraînement des modèles de langage.</a:t>
            </a:r>
            <a:endPar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Développement mathématique : calcul de projection de l'état latent</a:t>
            </a: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 Logits -&gt; Softmax </a:t>
            </a: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extraction par normalisation</a:t>
            </a: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 -&gt; </a:t>
            </a: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évaluation de la log-vraisemblance négative.</a:t>
            </a:r>
            <a:endPar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a:t>
            </a: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 LLM </a:t>
            </a: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modernes ont une taille de vocabulaire importante (</a:t>
            </a:r>
            <a:r>
              <a:rPr lang="en-US" sz="1965" b="0" i="0" u="none" strike="noStrike">
                <a:solidFill>
                  <a:srgbClr val="404040"/>
                </a:solidFill>
                <a:latin typeface="Calibri" panose="020F0502020204030204"/>
                <a:ea typeface="Calibri" panose="020F0502020204030204"/>
                <a:cs typeface="Calibri" panose="020F0502020204030204"/>
                <a:sym typeface="Calibri" panose="020F0502020204030204"/>
              </a:rPr>
              <a:t>32K-128K</a:t>
            </a:r>
            <a:r>
              <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ce qui augmente le volume des matrices de variables intermédiaires.</a:t>
            </a:r>
            <a:endParaRPr lang="en-US" sz="196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Exécution par défaut : réécriture complète des matrices de variables intermédiaires vers</a:t>
            </a:r>
            <a:r>
              <a:rPr lang="en-US" sz="1635" b="0" i="0" u="none" strike="noStrike">
                <a:solidFill>
                  <a:srgbClr val="404040"/>
                </a:solidFill>
                <a:latin typeface="Calibri" panose="020F0502020204030204"/>
                <a:ea typeface="Calibri" panose="020F0502020204030204"/>
                <a:cs typeface="Calibri" panose="020F0502020204030204"/>
                <a:sym typeface="Calibri" panose="020F0502020204030204"/>
              </a:rPr>
              <a:t> HBM</a:t>
            </a: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puis rechargement lors du calcul suivant.</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accès mémoire deviennent le goulot d'étranglement, gaspillant considérablement les ressources de calcul.</a:t>
            </a:r>
            <a:endParaRPr lang="en-US" sz="163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241540" y="1627505"/>
            <a:ext cx="4402455" cy="427799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2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Étude de cas : Support spécialisé pour l'opérateur de fusion d'entropie croisée TsingMicro</a:t>
            </a:r>
            <a:endParaRPr lang="en-US" sz="22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微软雅黑" panose="020B0503020204020204" charset="-122"/>
              </a:defRPr>
            </a:lvl1pPr>
          </a:lstStyle>
          <a:p>
            <a:pPr indent="0" algn="l">
              <a:lnSpc>
                <a:spcPct val="100000"/>
              </a:lnSpc>
            </a:pPr>
            <a:r>
              <a:rPr lang="en-US" sz="1400" b="0" i="0" u="none" strike="noStrike">
                <a:solidFill>
                  <a:srgbClr val="A5A5A5"/>
                </a:solidFill>
                <a:latin typeface="Calibri" panose="020F0502020204030204"/>
                <a:ea typeface="微软雅黑" panose="020B0503020204020204" charset="-122"/>
                <a:cs typeface="微软雅黑" panose="020B0503020204020204" charset="-122"/>
                <a:sym typeface="微软雅黑" panose="020B0503020204020204" charset="-122"/>
              </a:rPr>
              <a:t>Emplacement du code :</a:t>
            </a: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src/flag_gems/runtime/backend/_tsingmicro/fused/cross_entropy_loss.py</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730" b="0" i="0" u="none" strike="noStrike">
                <a:solidFill>
                  <a:srgbClr val="404040"/>
                </a:solidFill>
                <a:latin typeface="Calibri" panose="020F0502020204030204"/>
                <a:ea typeface="Calibri" panose="020F0502020204030204"/>
                <a:cs typeface="Calibri" panose="020F0502020204030204"/>
                <a:sym typeface="Calibri" panose="020F0502020204030204"/>
              </a:rPr>
              <a:t>Algorithme Online Log-Sum-Exp</a:t>
            </a:r>
            <a:endParaRPr lang="en-US" sz="173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TsingMicro a sp</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cialis</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 l'impl</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mentation du noyau Triton pour l'entropie crois</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e lin</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aire fusionn</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e dans son plugin backend mat</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riel.</a:t>
            </a:r>
            <a:endParaRPr lang="en-US" sz="14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vite la mat</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rialisation des tenseurs interm</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diaires de logits et utilise la SRAM pour ex</a:t>
            </a:r>
            <a:r>
              <a:rPr lang="en-US" altLang="en-US" sz="144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440" b="0" i="0" u="none" strike="noStrike">
                <a:solidFill>
                  <a:srgbClr val="404040"/>
                </a:solidFill>
                <a:latin typeface="Calibri" panose="020F0502020204030204"/>
                <a:ea typeface="Calibri" panose="020F0502020204030204"/>
                <a:cs typeface="Calibri" panose="020F0502020204030204"/>
                <a:sym typeface="Calibri" panose="020F0502020204030204"/>
              </a:rPr>
              <a:t>cuter efficacement l'Online LSE.</a:t>
            </a:r>
            <a:endParaRPr lang="en-US" sz="144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Combine les instructions de gestion de m</a:t>
            </a:r>
            <a:r>
              <a:rPr lang="en-US" altLang="en-US"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moire partag</a:t>
            </a:r>
            <a:r>
              <a:rPr lang="en-US" altLang="en-US"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sp</a:t>
            </a:r>
            <a:r>
              <a:rPr lang="en-US" altLang="en-US"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cifiques aux puces TsingMicro avec les strat</a:t>
            </a:r>
            <a:r>
              <a:rPr lang="en-US" altLang="en-US"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gies de synchronisation des warps pour l'optimisation.</a:t>
            </a:r>
            <a:endParaRPr lang="en-US" sz="144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1465580" y="3037205"/>
            <a:ext cx="3423285" cy="31400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278755" y="3186430"/>
            <a:ext cx="5876290" cy="31394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2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Étude de cas : Support spécialisé pour l'opérateur de fusion d'entropie croisée TsingMicro</a:t>
            </a:r>
            <a:endParaRPr lang="en-US" sz="221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https://docs.flagos.io/en/latest/overview.html</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323975"/>
            <a:ext cx="1083564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Signification systémique de la priorité de spécialisation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m</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d'int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gration de runtime avanc</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est essentiellement un routeur capable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quilibrer intelligemment la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la sp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cificit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FlagTree est responsable de la descente et de la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code des graphes de calcul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riques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 backend de FlagGems fournit un court-circuit (sp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cificit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3199765" y="3369945"/>
            <a:ext cx="6294755" cy="3246755"/>
          </a:xfrm>
          <a:prstGeom prst="rect">
            <a:avLst/>
          </a:prstGeom>
          <a:ln w="12700">
            <a:noFill/>
            <a:prstDash val="solid"/>
          </a:ln>
        </p:spPr>
      </p:pic>
      <p:sp>
        <p:nvSpPr>
          <p:cNvPr id="7" name="AutoShape 7"/>
          <p:cNvSpPr/>
          <p:nvPr/>
        </p:nvSpPr>
        <p:spPr>
          <a:xfrm>
            <a:off x="3181985" y="4946650"/>
            <a:ext cx="1993265" cy="1699260"/>
          </a:xfrm>
          <a:prstGeom prst="rect">
            <a:avLst/>
          </a:prstGeom>
          <a:noFill/>
          <a:ln w="381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Calibri" panose="020F0502020204030204"/>
                <a:ea typeface="Arial" panose="020B0604020202020204"/>
                <a:cs typeface="Arial" panose="020B0604020202020204"/>
                <a:sym typeface="Arial" panose="020B0604020202020204"/>
              </a:rPr>
              <a:t> </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3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Atelier : ajouter un nouveau backend mat</a:t>
            </a:r>
            <a:r>
              <a:rPr lang="en-US" altLang="en-US" sz="23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3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riel à FlagTree</a:t>
            </a:r>
            <a:endParaRPr lang="en-US" altLang="zh-CN" sz="235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https://github.com/flagos-ai/FlagTree</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5" y="1132840"/>
            <a:ext cx="6034405" cy="5382895"/>
          </a:xfrm>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微软雅黑" panose="020B0503020204020204" charset="-122"/>
              </a:defRPr>
            </a:lvl1pPr>
          </a:lstStyle>
          <a:p>
            <a:pPr marL="304800" indent="-304800" algn="l">
              <a:lnSpc>
                <a:spcPct val="150000"/>
              </a:lnSpc>
              <a:spcBef>
                <a:spcPts val="1500"/>
              </a:spcBef>
              <a:buClr>
                <a:srgbClr val="404040"/>
              </a:buClr>
              <a:buChar char="•"/>
            </a:pP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Consignes pratiques : plan d’int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gration de la nouvelle puce NeuroX</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Objectif : apprendre à utiliser le m</a:t>
            </a:r>
            <a:r>
              <a:rPr lang="en-US" alt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800" b="0" i="0" u="none" strike="noStrike">
                <a:solidFill>
                  <a:srgbClr val="404040"/>
                </a:solidFill>
                <a:latin typeface="Calibri" panose="020F0502020204030204"/>
                <a:ea typeface="Calibri" panose="020F0502020204030204"/>
                <a:cs typeface="Calibri" panose="020F0502020204030204"/>
                <a:sym typeface="Calibri" panose="020F0502020204030204"/>
              </a:rPr>
              <a:t>canisme de plugiciel de FlagGems pour ajouter un support backend (runtime) à une puce IA fictive, NeuroX.</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 d’application : simuler le processus industriel r</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 d’int</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gration d’un fabricant de puces dans une infrastructure unifi</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pour les grands mod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50000"/>
              </a:lnSpc>
              <a:spcBef>
                <a:spcPts val="750"/>
              </a:spcBef>
              <a:buClr>
                <a:srgbClr val="404040"/>
              </a:buClr>
              <a:buChar char="•"/>
            </a:pP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 cl</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respecter une encapsulation API unifi</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et permettre une maintenance ind</a:t>
            </a:r>
            <a:r>
              <a:rPr lang="en-US" alt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pendante</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6558280" y="1132840"/>
            <a:ext cx="5633720" cy="48247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Phase 1 de l’exp</a:t>
            </a:r>
            <a:r>
              <a:rPr lang="en-US" altLang="en-US" sz="2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rience : support de compilation bas niveau et initialisation de l’environnement de construction</a:t>
            </a:r>
            <a:endParaRPr lang="en-US" altLang="zh-CN" sz="202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Confirmer que le compilateur FlagTree bas niveau a </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int</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dans la branche de la puce cible.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Configurer les variables d'environnement de la machine hôte pour envoyer des instructions de routage au m</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de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tection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rPr>
              <a:t>export FLAGTREE_BACKEND=neurox</a:t>
            </a:r>
            <a:endParaRPr lang="en-US" sz="20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rPr>
              <a:t>export GEMS_VENDOR=neurox </a:t>
            </a:r>
            <a:endParaRPr lang="en-US" sz="20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dans le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pertoire racine du code source :</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ourier New Regular" panose="02070609020205020404"/>
                <a:ea typeface="Courier New Regular" panose="02070609020205020404"/>
                <a:cs typeface="Courier New Regular" panose="02070609020205020404"/>
                <a:sym typeface="Courier New Regular" panose="02070609020205020404"/>
              </a:rPr>
              <a:t>pip install --no-build-isolation -e.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2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Phase 2 de l’exp</a:t>
            </a:r>
            <a:r>
              <a:rPr lang="en-US" altLang="en-US" sz="22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rience : construction de l’architecture du r</a:t>
            </a:r>
            <a:r>
              <a:rPr lang="en-US" altLang="en-US" sz="22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pertoire des plugiciels mat</a:t>
            </a:r>
            <a:r>
              <a:rPr lang="en-US" altLang="en-US" sz="22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2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riels </a:t>
            </a:r>
            <a:endParaRPr lang="en-US" altLang="zh-CN" sz="225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er strictement un espace de noms ind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pendant _neurox sous src/flag_gems/runtime/backend/</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Structure des 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pertoires</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__init__.py</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couche d’enregistrement et de liaison</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device.py</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couche d'encapsulation du pilote.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ops/ </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fused/</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de base sp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et 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composites optimis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a:t>
            </a: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aliser la s</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paration des pr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occupations au niveau du code physique</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Phase 3 de l’exp</a:t>
            </a:r>
            <a:r>
              <a:rPr lang="en-US" altLang="en-US" sz="2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rience : encapsulation de la couche d’abstraction mat</a:t>
            </a:r>
            <a:r>
              <a:rPr lang="en-US" altLang="en-US" sz="2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rielle (Device API)</a:t>
            </a:r>
            <a:endParaRPr lang="en-US" altLang="zh-CN" sz="21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Ecrire le fichier</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_neurox/device.py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Respecter le contrat d'abstraction de l'interface</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Backend </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defini par le systeme.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menter les primitives de bas niveau, telles que l’obtention du flux d’ex</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 asynchrone (Stream) du 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riph</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actuel</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Garantir un mappage pr</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cis entre les appels Python de la couche sup</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rieure et l’API du pilote propri</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taire NeuroX de bas niveau.</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20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Étape expérimentale 4 : Développement d'opérateurs spécialisés et enregistrement du système de distribution</a:t>
            </a:r>
            <a:endParaRPr lang="en-US" sz="204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le r</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pertoire fused/, d</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velopper des op</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optimis</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pour NeuroX (comme layer_norm.py).</a:t>
            </a:r>
            <a:r>
              <a:rPr 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Action principale : Utiliser torch.Library pour attacher la fonction à la cl</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de distribution PrivateUse1 r</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serv</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aux extensions personnalis</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es</a:t>
            </a:r>
            <a:r>
              <a:rPr 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 __init__.py, d</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clencher l'injection d'enregistrement, intercepter de force la logique d'appel d'op</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par d</a:t>
            </a:r>
            <a:r>
              <a:rPr lang="en-US" alt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faut du framework</a:t>
            </a:r>
            <a:r>
              <a:rPr 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218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Importer la fonction layer_norm </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crite en Triton et optimis</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pour la hi</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rarchie de cache de la puce NeuroX</a:t>
            </a:r>
            <a:r>
              <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er une fonction enveloppe avec une signature correspondant à aten::native_layer_norm.</a:t>
            </a:r>
            <a:endPar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la logique d'injection d'enregistrement, informer le syst</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PyTorch : lorsqu'un graphe de calcul ex</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 une normalisation de couche dans ce contexte mat</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abandonner l'impl</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C++ g</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rique, et ex</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cuter le noyau Triton haute vitesse nouvellement charg</a:t>
            </a:r>
            <a:r>
              <a:rPr lang="en-US" alt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82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Phase 5 de l’exp</a:t>
            </a:r>
            <a:r>
              <a:rPr lang="en-US" altLang="en-US"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rience : tests de performance automatis</a:t>
            </a:r>
            <a:r>
              <a:rPr lang="en-US" altLang="en-US"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 </a:t>
            </a:r>
            <a:endParaRPr lang="en-US" altLang="zh-CN" sz="278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1084072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Validation de la pr</a:t>
            </a:r>
            <a:r>
              <a:rPr lang="en-US" alt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2400" b="0" i="0" u="none" strike="noStrike">
                <a:solidFill>
                  <a:srgbClr val="404040"/>
                </a:solidFill>
                <a:latin typeface="Calibri" panose="020F0502020204030204"/>
                <a:ea typeface="Calibri" panose="020F0502020204030204"/>
                <a:cs typeface="Calibri" panose="020F0502020204030204"/>
                <a:sym typeface="Calibri" panose="020F0502020204030204"/>
              </a:rPr>
              <a:t>cision avec Pytest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ontraindre l’erreur absolue entre la sortie de l’op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sp</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le nouveau mat</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et l’impl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mentation de 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rence CPU (strictement conforme à la norme IEEE 754) à rester dans la tol</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rance pr</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finie.</a:t>
            </a:r>
            <a:endParaRPr lang="en-US" sz="20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Analyse du d</a:t>
            </a:r>
            <a:r>
              <a:rPr lang="en-US" alt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bit et retour de performanc</a:t>
            </a:r>
            <a:r>
              <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 : exécuter le script de test de performance</a:t>
            </a:r>
            <a:endParaRPr lang="en-US" sz="24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Conclusion et perspectives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rPr>
              <a:t>Generated by Gemini 3.1 Pro.</a:t>
            </a:r>
            <a:endParaRPr lang="en-US" sz="1400" b="0" i="0" u="none" strike="noStrike">
              <a:solidFill>
                <a:srgbClr val="A5A5A5"/>
              </a:solidFill>
              <a:latin typeface="Calibri" panose="020F0502020204030204"/>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419099" y="1081405"/>
            <a:ext cx="11277601" cy="4852988"/>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FlagGems </a:t>
            </a:r>
            <a:r>
              <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Techniques clés d'optimisation</a:t>
            </a:r>
            <a:endParaRPr lang="en-US" sz="18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custDataLst>
              <p:tags r:id="rId1"/>
            </p:custDataLst>
          </p:nvPr>
        </p:nvGraphicFramePr>
        <p:xfrm>
          <a:off x="311785" y="1409700"/>
          <a:ext cx="10417175" cy="4837430"/>
        </p:xfrm>
        <a:graphic>
          <a:graphicData uri="http://schemas.openxmlformats.org/drawingml/2006/table">
            <a:tbl>
              <a:tblPr>
                <a:effectLst/>
              </a:tblPr>
              <a:tblGrid>
                <a:gridCol w="2088515"/>
                <a:gridCol w="1678305"/>
                <a:gridCol w="6650355"/>
              </a:tblGrid>
              <a:tr h="288000">
                <a:tc>
                  <a:txBody>
                    <a:bodyPr rtlCol="0"/>
                    <a:lstStyle/>
                    <a:p>
                      <a:pPr indent="0" algn="ctr">
                        <a:lnSpc>
                          <a:spcPct val="117000"/>
                        </a:lnSpc>
                        <a:defRPr/>
                      </a:pPr>
                      <a:r>
                        <a:rPr lang="en-US" sz="14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Niveau d'encapsulation</a:t>
                      </a:r>
                      <a:endParaRPr lang="en-US" sz="14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4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Composant principal</a:t>
                      </a:r>
                      <a:endParaRPr lang="en-US" sz="14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4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Mécanisme technique et objectif d'implémentation</a:t>
                      </a:r>
                      <a:endParaRPr lang="en-US" sz="1400" b="1"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B0012">
                        <a:alpha val="100000"/>
                      </a:srgbClr>
                    </a:solidFill>
                  </a:tcPr>
                </a:tc>
              </a:tr>
              <a:tr h="288000">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Couche d'interface framework</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ATen Dispatcher Hook</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254000" marR="254000" marT="177800" marB="17780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Utiliser le registre torch.Library pour remplacer les opérateurs natifs, permettant une interception transparente sans modification du code utilisateur  1 .</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288000">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Couche de contrôle logique</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C++ LibEntry Wrapper</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254000" marR="254000" marT="177800" marB="17780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Éliminer le goulot d'étranglement Python GIL, effectuer au niveau C++ la validation de forme de tenseur, la vérification de continuité et l'extraction de pointeur mémoire  2 .</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288000">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Couche de distribution matérielle</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Mécanisme de routage GEMS_VENDOR</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254000" marR="254000" marT="177800" marB="17780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Analyser les variables d'environnement, mapper dynamiquement les appels d'opérateurs unifiés vers les modules d'exécution backend exclusifs de chaque fabricant matériel  3 .</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288000">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Couche d'adaptation pilote</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rPr>
                        <a:t>Interface Backend Device</a:t>
                      </a:r>
                      <a:endParaRPr lang="en-US" sz="1200" b="0" i="0" u="none" strike="noStrike" spc="120">
                        <a:solidFill>
                          <a:srgbClr val="000000"/>
                        </a:solidFill>
                        <a:latin typeface="Calibri" panose="020F0502020204030204"/>
                        <a:ea typeface="Arial" panose="020B0604020202020204"/>
                        <a:cs typeface="Arial" panose="020B0604020202020204"/>
                        <a:sym typeface="Arial" panose="020B0604020202020204"/>
                      </a:endParaRPr>
                    </a:p>
                  </a:txBody>
                  <a:tcPr marL="254000" marR="254000" marT="177800" marB="17780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Abstraction unifiée du contexte de périphérique, transformant le flux d'exécution logique (Stream) en appels de file de commandes matérielle spécifique (Command Queue)  4 .</a:t>
                      </a:r>
                      <a:endParaRPr lang="en-US" sz="12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endParaRPr>
                    </a:p>
                  </a:txBody>
                  <a:tcPr marL="254000" marR="254000" marT="177800" marB="17780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Conclusion et Perspectives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246505"/>
            <a:ext cx="6511925" cy="4794250"/>
          </a:xfrm>
          <a:prstGeom prst="rect">
            <a:avLst/>
          </a:prstGeom>
        </p:spPr>
        <p:txBody>
          <a:bodyPr wrap="square" lIns="91440" tIns="45720" rIns="91440" bIns="45720" anchor="t">
            <a:normAutofit/>
          </a:bodyPr>
          <a:lstStyle>
            <a:lvl1pPr algn="l">
              <a:lnSpc>
                <a:spcPct val="150000"/>
              </a:lnSpc>
              <a:defRPr sz="2300" b="0" i="0" u="none" strike="noStrike" spc="0">
                <a:solidFill>
                  <a:srgbClr val="404040">
                    <a:alpha val="100000"/>
                  </a:srgbClr>
                </a:solidFill>
                <a:latin typeface="微软雅黑" panose="020B0503020204020204" charset="-122"/>
              </a:defRPr>
            </a:lvl1pPr>
          </a:lstStyle>
          <a:p>
            <a:pPr marL="292100" indent="-292100" algn="l">
              <a:lnSpc>
                <a:spcPct val="150000"/>
              </a:lnSpc>
              <a:spcBef>
                <a:spcPts val="150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une fois, ex</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partout.</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50000"/>
              </a:lnSpc>
              <a:spcBef>
                <a:spcPts val="150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Un runtime hautement robuste 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cessite "g</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ralit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et "sp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cificit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(priorit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à la sp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cialisation mat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rielle).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50000"/>
              </a:lnSpc>
              <a:spcBef>
                <a:spcPts val="150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L'isolation des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pertoires par plugins et l'enregistrement hors arbre (out-of-tree) d'ATen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guent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ellement la construction de l'</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cosyst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 aux fabricants de mat</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qui peuvent ainsi maintenir et optimiser leurs propres solutions de mani</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 autonome.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92100" indent="-292100" algn="l">
              <a:lnSpc>
                <a:spcPct val="150000"/>
              </a:lnSpc>
              <a:spcBef>
                <a:spcPts val="150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FlagTree/FlagGems remod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lent l'infrastructure de calcul des grands mod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(LLM) gr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â</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ce à cette architecture,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duisant ainsi les co</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û</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ts de R&amp;D et de migration pour l'industrie.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pic>
        <p:nvPicPr>
          <p:cNvPr id="6" name="Picture 6"/>
          <p:cNvPicPr>
            <a:picLocks noChangeAspect="1"/>
          </p:cNvPicPr>
          <p:nvPr/>
        </p:nvPicPr>
        <p:blipFill>
          <a:blip r:embed="rId1"/>
          <a:srcRect/>
          <a:stretch>
            <a:fillRect/>
          </a:stretch>
        </p:blipFill>
        <p:spPr>
          <a:xfrm>
            <a:off x="7035800" y="803275"/>
            <a:ext cx="4662170" cy="555307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lnSpcReduction="20000"/>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Leçon 27</a:t>
            </a:r>
            <a:r>
              <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 </a:t>
            </a:r>
            <a:endParaRPr lang="en-US"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a:p>
            <a:pPr indent="0" algn="ctr">
              <a:lnSpc>
                <a:spcPct val="100000"/>
              </a:lnSpc>
              <a:spcBef>
                <a:spcPts val="1500"/>
              </a:spcBef>
            </a:pPr>
            <a:r>
              <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Module III – Projet final : contribution à un pass FlagTree</a:t>
            </a:r>
            <a:endParaRPr lang="en-US" altLang="zh-CN" sz="5100"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Aperçu des projets du cours</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aphicFrame>
        <p:nvGraphicFramePr>
          <p:cNvPr id="6" name="Table 6"/>
          <p:cNvGraphicFramePr>
            <a:graphicFrameLocks noGrp="1"/>
          </p:cNvGraphicFramePr>
          <p:nvPr>
            <p:custDataLst>
              <p:tags r:id="rId1"/>
            </p:custDataLst>
          </p:nvPr>
        </p:nvGraphicFramePr>
        <p:xfrm>
          <a:off x="513080" y="1107440"/>
          <a:ext cx="11192510" cy="5391785"/>
        </p:xfrm>
        <a:graphic>
          <a:graphicData uri="http://schemas.openxmlformats.org/drawingml/2006/table">
            <a:tbl>
              <a:tblPr>
                <a:effectLst/>
              </a:tblPr>
              <a:tblGrid>
                <a:gridCol w="1270635"/>
                <a:gridCol w="3357880"/>
                <a:gridCol w="1784985"/>
                <a:gridCol w="4779010"/>
              </a:tblGrid>
              <a:tr h="559435">
                <a:tc>
                  <a:txBody>
                    <a:bodyPr rtlCol="0"/>
                    <a:lstStyle/>
                    <a:p>
                      <a:pPr indent="0" algn="ctr">
                        <a:lnSpc>
                          <a:spcPct val="117000"/>
                        </a:lnSpc>
                        <a:defRPr/>
                      </a:pPr>
                      <a:r>
                        <a:rPr lang="en-US" sz="1700" b="0"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Séance</a:t>
                      </a:r>
                      <a:endParaRPr lang="en-US" sz="1100"/>
                    </a:p>
                  </a:txBody>
                  <a:tcPr marL="177800" marR="177800" marT="107950" marB="10795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8B001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700" b="0"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Nom du projet</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8B001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700" b="0"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Type</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rgbClr val="8B001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700" b="0" i="0" u="none" strike="noStrike" spc="13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Points d'évaluation clés</a:t>
                      </a:r>
                      <a:endParaRPr lang="en-US" sz="1100"/>
                    </a:p>
                  </a:txBody>
                  <a:tcPr marL="177800" marR="177800" marT="107950" marB="10795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1017905">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Configuration de l'environnement et chaîne d'outils</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Travaux pratiques</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Validation en quatre étapes + rapport de TP</a:t>
                      </a:r>
                      <a:endParaRPr lang="en-US" sz="1100"/>
                    </a:p>
                  </a:txBody>
                  <a:tcPr marL="177800" marR="177800" marT="107950" marB="10795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75057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Softmax Kernel (mi-session)</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Projet individuel</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Exactitude 40 pts + seuil de performance 70%</a:t>
                      </a:r>
                      <a:endParaRPr lang="en-US" sz="1100"/>
                    </a:p>
                  </a:txBody>
                  <a:tcPr marL="177800" marR="177800" marT="107950" marB="10795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75057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Fusion RMSNorm+Residual (final)</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Projet individuel</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Performance à atteindre 90% de la référence FlagGems</a:t>
                      </a:r>
                      <a:endParaRPr lang="en-US" sz="1100"/>
                    </a:p>
                  </a:txBody>
                  <a:tcPr marL="177800" marR="177800" marT="107950" marB="10795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812165">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Contribution FlagTree Pass (final)</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Projet individuel</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Choix parmi trois directions, vérification par test FileCheck</a:t>
                      </a:r>
                      <a:endParaRPr lang="en-US" sz="1100"/>
                    </a:p>
                  </a:txBody>
                  <a:tcPr marL="177800" marR="177800" marT="107950" marB="10795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75057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Entraînement distribué multi-machines 7B (final)</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Groupe de 3 personnes</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Comparaison de trois stratégies parallèles + accélération linéaire</a:t>
                      </a:r>
                      <a:endParaRPr lang="en-US" sz="1100"/>
                    </a:p>
                  </a:txBody>
                  <a:tcPr marL="177800" marR="177800" marT="107950" marB="10795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alpha val="100000"/>
                      </a:srgbClr>
                    </a:solidFill>
                  </a:tcPr>
                </a:tc>
              </a:tr>
              <a:tr h="750570">
                <a:tc>
                  <a:txBody>
                    <a:bodyPr rtlCol="0"/>
                    <a:lstStyle/>
                    <a:p>
                      <a:pPr indent="0" algn="ctr">
                        <a:lnSpc>
                          <a:spcPct val="117000"/>
                        </a:lnSpc>
                        <a:defRPr/>
                      </a:pPr>
                      <a:r>
                        <a:rPr lang="en-US" sz="1500" b="0" i="0" u="none" strike="noStrike" spc="120">
                          <a:solidFill>
                            <a:srgbClr val="000000"/>
                          </a:solidFill>
                          <a:latin typeface="Calibri" panose="020F050202020403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Soutenance du grand projet</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Soutenance de groupe</a:t>
                      </a:r>
                      <a:endParaRPr lang="en-US" sz="1100"/>
                    </a:p>
                  </a:txBody>
                  <a:tcPr marL="177800" marR="177800" marT="107950" marB="107950" ancho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500" b="0" i="0" u="none" strike="noStrike" spc="120">
                          <a:solidFill>
                            <a:srgbClr val="000000"/>
                          </a:solidFill>
                          <a:latin typeface="Calibri" panose="020F0502020204030204"/>
                          <a:ea typeface="微软雅黑" panose="020B0503020204020204" charset="-122"/>
                          <a:cs typeface="微软雅黑" panose="020B0503020204020204" charset="-122"/>
                          <a:sym typeface="微软雅黑" panose="020B0503020204020204" charset="-122"/>
                        </a:rPr>
                        <a:t>Faisabilité du plan + authenticité de l'avancement</a:t>
                      </a:r>
                      <a:endParaRPr lang="en-US" sz="1100"/>
                    </a:p>
                  </a:txBody>
                  <a:tcPr marL="177800" marR="177800" marT="107950" marB="107950" anchor="t">
                    <a:lnL w="12700" cap="flat" cmpd="sng" algn="ctr">
                      <a:solidFill>
                        <a:schemeClr val="tx1"/>
                      </a:solidFill>
                      <a:prstDash val="solid"/>
                      <a:round/>
                      <a:headEnd type="none" w="med" len="med"/>
                      <a:tailEnd type="none" w="med" len="med"/>
                    </a:lnL>
                    <a:lnR w="0" cap="flat" cmpd="sng" algn="ctr">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Aperçu du projet</a:t>
            </a:r>
            <a:endPar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Contexte du projet</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Les passes de compilateur IA sont le m</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canisme central de l'optimisation des compilateurs IA. FlagTree est bas</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sur MLIR, et à travers une s</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 de passes, il abaisse progressivement (lower) les repr</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sentations d'op</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rateurs de haut niveau vers le code mat</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riel cible. Ce projet demande aux </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tudiants de choisir l'une des directions suivantes, afin de contribuer à FlagTree avec une passe d'optimisation ou une extension d'op</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pour vivre l'exp</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rience r</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elle du d</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veloppement de compilateur IA.</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Exigences du processus de d</a:t>
            </a:r>
            <a:r>
              <a:rPr lang="en-US" alt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veloppement</a:t>
            </a:r>
            <a:endParaRPr lang="en-US" sz="21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Week 1</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lire le code source de FlagTree, d</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terminer la direction, soumettre un document de conception (1–2 pages).</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Week 2</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750" b="0" i="0" u="none" strike="noStrike">
                <a:solidFill>
                  <a:srgbClr val="404040"/>
                </a:solidFill>
                <a:latin typeface="Calibri" panose="020F0502020204030204"/>
                <a:ea typeface="Calibri" panose="020F0502020204030204"/>
                <a:cs typeface="Calibri" panose="020F0502020204030204"/>
                <a:sym typeface="Calibri" panose="020F0502020204030204"/>
              </a:rPr>
              <a:t>compl</a:t>
            </a:r>
            <a:r>
              <a:rPr lang="en-US" alt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50" b="0" i="0" u="none" strike="noStrike">
                <a:solidFill>
                  <a:srgbClr val="404040"/>
                </a:solidFill>
                <a:latin typeface="Calibri" panose="020F0502020204030204"/>
                <a:ea typeface="Calibri" panose="020F0502020204030204"/>
                <a:cs typeface="Calibri" panose="020F0502020204030204"/>
                <a:sym typeface="Calibri" panose="020F0502020204030204"/>
              </a:rPr>
              <a:t>ter l'impl</a:t>
            </a:r>
            <a:r>
              <a:rPr lang="en-US" alt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50" b="0" i="0" u="none" strike="noStrike">
                <a:solidFill>
                  <a:srgbClr val="404040"/>
                </a:solidFill>
                <a:latin typeface="Calibri" panose="020F0502020204030204"/>
                <a:ea typeface="Calibri" panose="020F0502020204030204"/>
                <a:cs typeface="Calibri" panose="020F0502020204030204"/>
                <a:sym typeface="Calibri" panose="020F0502020204030204"/>
              </a:rPr>
              <a:t>mentation principale de la passe, soumettre le code (brouillon de PR).</a:t>
            </a:r>
            <a:endPar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750" b="0" i="0" u="none" strike="noStrike">
                <a:solidFill>
                  <a:srgbClr val="404040"/>
                </a:solidFill>
                <a:latin typeface="Calibri" panose="020F0502020204030204"/>
                <a:ea typeface="Calibri" panose="020F0502020204030204"/>
                <a:cs typeface="Calibri" panose="020F0502020204030204"/>
                <a:sym typeface="Calibri" panose="020F0502020204030204"/>
              </a:rPr>
              <a:t>Week 3</a:t>
            </a:r>
            <a:r>
              <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les tests unitaires FileCheck, compl</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 la v</a:t>
            </a:r>
            <a:r>
              <a:rPr lang="en-US" alt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rification des performances et de l'exactitude, puis soumettre la version finale.</a:t>
            </a:r>
            <a:endParaRPr lang="en-US" sz="175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Directions possibles (à choisir parmi trois)</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100" b="0" i="0" u="none" strike="noStrike" spc="0">
                <a:solidFill>
                  <a:srgbClr val="404040">
                    <a:alpha val="100000"/>
                  </a:srgbClr>
                </a:solidFill>
                <a:latin typeface="微软雅黑" panose="020B0503020204020204" charset="-122"/>
              </a:defRPr>
            </a:lvl1pPr>
          </a:lstStyle>
          <a:p>
            <a:pPr marL="266700" indent="-266700" algn="l">
              <a:lnSpc>
                <a:spcPct val="92000"/>
              </a:lnSpc>
              <a:spcBef>
                <a:spcPts val="1500"/>
              </a:spcBef>
              <a:buClr>
                <a:srgbClr val="404040"/>
              </a:buClr>
              <a:buChar char="•"/>
            </a:pPr>
            <a:r>
              <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Direction</a:t>
            </a:r>
            <a:r>
              <a:rPr 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 A</a:t>
            </a:r>
            <a:r>
              <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impl</a:t>
            </a:r>
            <a:r>
              <a:rPr lang="en-US" alt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menter un nouveau pass de fusion</a:t>
            </a:r>
            <a:endPar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Dans</a:t>
            </a:r>
            <a:r>
              <a:rPr lang="en-US" sz="1460" b="0" i="0" u="none" strike="noStrike">
                <a:solidFill>
                  <a:srgbClr val="404040"/>
                </a:solidFill>
                <a:latin typeface="Calibri" panose="020F0502020204030204"/>
                <a:ea typeface="Calibri" panose="020F0502020204030204"/>
                <a:cs typeface="Calibri" panose="020F0502020204030204"/>
                <a:sym typeface="Calibri" panose="020F0502020204030204"/>
              </a:rPr>
              <a:t> MLIR </a:t>
            </a: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implémenter une règle de fusion par correspondance de motifs, par exemple :</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sz="1460" b="0" i="0" u="none" strike="noStrike">
                <a:solidFill>
                  <a:srgbClr val="404040"/>
                </a:solidFill>
                <a:latin typeface="Calibri" panose="020F0502020204030204"/>
                <a:ea typeface="Calibri" panose="020F0502020204030204"/>
                <a:cs typeface="Calibri" panose="020F0502020204030204"/>
                <a:sym typeface="Calibri" panose="020F0502020204030204"/>
              </a:rPr>
              <a:t>Add + LayerNorm → FusedAddLayerNorm</a:t>
            </a:r>
            <a:endParaRPr lang="en-US" sz="14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sz="1460" b="0" i="0" u="none" strike="noStrike">
                <a:solidFill>
                  <a:srgbClr val="404040"/>
                </a:solidFill>
                <a:latin typeface="Calibri" panose="020F0502020204030204"/>
                <a:ea typeface="Calibri" panose="020F0502020204030204"/>
                <a:cs typeface="Calibri" panose="020F0502020204030204"/>
                <a:sym typeface="Calibri" panose="020F0502020204030204"/>
              </a:rPr>
              <a:t>Mul + Softmax → ScaledSoftmax</a:t>
            </a:r>
            <a:endParaRPr lang="en-US" sz="146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 : le pass doit identifier correctement et r</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le graphe de calcul, et g</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rer l'appel du noyau Triton pour l'op</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fusionn</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92000"/>
              </a:lnSpc>
              <a:spcBef>
                <a:spcPts val="1500"/>
              </a:spcBef>
              <a:buClr>
                <a:srgbClr val="404040"/>
              </a:buClr>
              <a:buChar char="•"/>
            </a:pPr>
            <a:r>
              <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Direction</a:t>
            </a:r>
            <a:r>
              <a:rPr 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 B</a:t>
            </a:r>
            <a:r>
              <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étendre le support multi-puces des opérateurs existants</a:t>
            </a:r>
            <a:endPar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Pour un op</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 existant dans FlagTree (comme GELU ou LayerNorm), ajouter le support backend pour NPU Ascend ou GPU AMD </a:t>
            </a:r>
            <a:r>
              <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menter le chemin de g</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n</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ration de code correspondant (SPIR-V ou code cible Ascend C).</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Via l'interface Runtime de FlagTree, compl</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ter l'enregistrement de l'op</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266700" indent="-266700" algn="l">
              <a:lnSpc>
                <a:spcPct val="92000"/>
              </a:lnSpc>
              <a:spcBef>
                <a:spcPts val="1500"/>
              </a:spcBef>
              <a:buClr>
                <a:srgbClr val="404040"/>
              </a:buClr>
              <a:buChar char="•"/>
            </a:pPr>
            <a:r>
              <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Direction</a:t>
            </a:r>
            <a:r>
              <a:rPr 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 C</a:t>
            </a:r>
            <a:r>
              <a:rPr lang="en-US" sz="1705"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 : i</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mpl</a:t>
            </a:r>
            <a:r>
              <a:rPr lang="en-US" altLang="en-US" sz="1705" b="0" i="0" u="none" strike="noStrike">
                <a:solidFill>
                  <a:srgbClr val="404040"/>
                </a:solidFill>
                <a:latin typeface="Calibri" panose="020F0502020204030204"/>
                <a:ea typeface="Calibri" panose="020F0502020204030204"/>
                <a:cs typeface="Calibri" panose="020F0502020204030204"/>
                <a:sym typeface="Calibri" panose="020F0502020204030204"/>
              </a:rPr>
              <a:t>é</a:t>
            </a:r>
            <a:r>
              <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rPr>
              <a:t>menter un pass d'optimisation</a:t>
            </a:r>
            <a:endParaRPr lang="en-US" altLang="zh-CN" sz="1705"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92000"/>
              </a:lnSpc>
              <a:spcBef>
                <a:spcPts val="750"/>
              </a:spcBef>
              <a:buClr>
                <a:srgbClr val="404040"/>
              </a:buClr>
              <a:buChar char="•"/>
            </a:pP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Impl</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menter un pass d'extraction de code invariant de boucle (LICM) ou d'</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limination de sous-expressions communes (CSE) :</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Au niveau du dialecte Affine, identifier les calculs extractibles.</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71500" lvl="1" indent="-228600" algn="l">
              <a:lnSpc>
                <a:spcPct val="92000"/>
              </a:lnSpc>
              <a:spcBef>
                <a:spcPts val="750"/>
              </a:spcBef>
              <a:buClr>
                <a:srgbClr val="404040"/>
              </a:buClr>
              <a:buChar char="•"/>
            </a:pP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V</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rifier l'</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quivalence s</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mantique avant/apr</a:t>
            </a:r>
            <a:r>
              <a:rPr lang="en-US" alt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s transformation (avec les tests FileCheck de MLIR).</a:t>
            </a:r>
            <a:endParaRPr lang="en-US" sz="146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altLang="zh-CN"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Exigences de soumission et crit</a:t>
            </a:r>
            <a:r>
              <a:rPr lang="en-US" altLang="en-US"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res d’</a:t>
            </a:r>
            <a:r>
              <a:rPr lang="en-US" altLang="en-US"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valuation</a:t>
            </a:r>
            <a:endParaRPr lang="en-US" altLang="zh-CN" sz="293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75309" y="1002665"/>
            <a:ext cx="11277601" cy="4852988"/>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Exigences de code</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Utiliser C++17, conforme aux normes de codage LLVM.</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P</a:t>
            </a:r>
            <a:r>
              <a:rPr lang="en-US" altLang="zh-CN" sz="1600" b="0" i="0" u="none" strike="noStrike">
                <a:solidFill>
                  <a:srgbClr val="404040"/>
                </a:solidFill>
                <a:latin typeface="Calibri" panose="020F0502020204030204"/>
                <a:ea typeface="Calibri" panose="020F0502020204030204"/>
                <a:cs typeface="Calibri" panose="020F0502020204030204"/>
                <a:sym typeface="Calibri" panose="020F0502020204030204"/>
              </a:rPr>
              <a:t>Le pass doit passer au moins 3 cas de test FileCheck.</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Fournir un script de validation Python, pour une validation bout-à-bout de la sortie de l'op</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rateur.</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Exigences de documentation</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Description de conception du pass :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crire la logique de correspondance des motifs (patterns) et les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è</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gles de transformation</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Rapport de test : d</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montrer l'effet d'optimisation (r</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duction du nombre de noyaux, comparaison du temps d'ex</a:t>
            </a:r>
            <a:r>
              <a:rPr lang="en-US" alt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cution).</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a:p>
            <a:pPr marL="304800" indent="-304800" algn="l">
              <a:lnSpc>
                <a:spcPct val="100000"/>
              </a:lnSpc>
              <a:spcBef>
                <a:spcPts val="1500"/>
              </a:spcBef>
              <a:buClr>
                <a:srgbClr val="404040"/>
              </a:buClr>
              <a:buChar char="•"/>
            </a:pPr>
            <a:r>
              <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rPr>
              <a:t>Critères d'évaluation</a:t>
            </a:r>
            <a:endParaRPr lang="en-US" sz="1600" b="0" i="0" u="none" strike="noStrike">
              <a:solidFill>
                <a:srgbClr val="404040"/>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aphicFrame>
        <p:nvGraphicFramePr>
          <p:cNvPr id="6" name="Table 6"/>
          <p:cNvGraphicFramePr>
            <a:graphicFrameLocks noGrp="1"/>
          </p:cNvGraphicFramePr>
          <p:nvPr/>
        </p:nvGraphicFramePr>
        <p:xfrm>
          <a:off x="1504950" y="4381500"/>
          <a:ext cx="9315450" cy="1732915"/>
        </p:xfrm>
        <a:graphic>
          <a:graphicData uri="http://schemas.openxmlformats.org/drawingml/2006/table">
            <a:tbl>
              <a:tblPr>
                <a:effectLst/>
              </a:tblPr>
              <a:tblGrid>
                <a:gridCol w="2985770"/>
                <a:gridCol w="1791335"/>
                <a:gridCol w="4538345"/>
              </a:tblGrid>
              <a:tr h="363220">
                <a:tc>
                  <a:txBody>
                    <a:bodyPr rtlCol="0"/>
                    <a:lstStyle/>
                    <a:p>
                      <a:pPr indent="0" algn="ctr">
                        <a:lnSpc>
                          <a:spcPct val="100000"/>
                        </a:lnSpc>
                        <a:defRPr/>
                      </a:pPr>
                      <a:r>
                        <a:rPr lang="en-US" sz="1400" b="1" i="0" u="none" strike="noStrike">
                          <a:solidFill>
                            <a:srgbClr val="FFFFFF"/>
                          </a:solidFill>
                          <a:latin typeface="Calibri" panose="020F0502020204030204"/>
                          <a:ea typeface="Arial" panose="020B0604020202020204"/>
                          <a:cs typeface="Arial" panose="020B0604020202020204"/>
                          <a:sym typeface="Arial" panose="020B0604020202020204"/>
                        </a:rPr>
                        <a:t>Dimension d'évaluation</a:t>
                      </a:r>
                      <a:endParaRPr lang="en-US" sz="1400" b="1" i="0" u="none" strike="noStrike">
                        <a:solidFill>
                          <a:srgbClr val="FFFFFF"/>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400" b="1" i="0" u="none" strike="noStrike">
                          <a:solidFill>
                            <a:srgbClr val="FFFFFF"/>
                          </a:solidFill>
                          <a:latin typeface="Calibri" panose="020F0502020204030204"/>
                          <a:ea typeface="Arial" panose="020B0604020202020204"/>
                          <a:cs typeface="Arial" panose="020B0604020202020204"/>
                          <a:sym typeface="Arial" panose="020B0604020202020204"/>
                        </a:rPr>
                        <a:t>Points</a:t>
                      </a:r>
                      <a:endParaRPr lang="en-US" sz="1400" b="1" i="0" u="none" strike="noStrike">
                        <a:solidFill>
                          <a:srgbClr val="FFFFFF"/>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400" b="1" i="0" u="none" strike="noStrike">
                          <a:solidFill>
                            <a:srgbClr val="FFFFFF"/>
                          </a:solidFill>
                          <a:latin typeface="Calibri" panose="020F0502020204030204"/>
                          <a:ea typeface="Arial" panose="020B0604020202020204"/>
                          <a:cs typeface="Arial" panose="020B0604020202020204"/>
                          <a:sym typeface="Arial" panose="020B0604020202020204"/>
                        </a:rPr>
                        <a:t>Critères d'évaluation</a:t>
                      </a:r>
                      <a:endParaRPr lang="en-US" sz="1400" b="1" i="0" u="none" strike="noStrike">
                        <a:solidFill>
                          <a:srgbClr val="FFFFFF"/>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342265">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Exactitude du Pass</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40 points</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Tests FileCheck tous passés, validationbout-à-bout correcte</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42265">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Effet d'optimisation</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25 points</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Quantifier les améliorations de performance apportées par la fusion/optimisation</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342900">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Qualité du code</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20 points</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Conforme aux normes LLVM, commentaires complets, structure claire</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342265">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Document de conception</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15 points</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just">
                        <a:lnSpc>
                          <a:spcPct val="100000"/>
                        </a:lnSpc>
                        <a:defRPr/>
                      </a:pPr>
                      <a:r>
                        <a:rPr lang="en-US" sz="1400" b="0" i="0" u="none" strike="noStrike">
                          <a:solidFill>
                            <a:srgbClr val="000000"/>
                          </a:solidFill>
                          <a:latin typeface="Calibri" panose="020F0502020204030204"/>
                          <a:ea typeface="Arial" panose="020B0604020202020204"/>
                          <a:cs typeface="Arial" panose="020B0604020202020204"/>
                          <a:sym typeface="Arial" panose="020B0604020202020204"/>
                        </a:rPr>
                        <a:t>Idées claires, description de la logique de correspondance Pattern</a:t>
                      </a:r>
                      <a:endParaRPr lang="en-US" sz="1400" b="0" i="0" u="none" strike="noStrike">
                        <a:solidFill>
                          <a:srgbClr val="000000"/>
                        </a:solidFill>
                        <a:latin typeface="Calibri" panose="020F0502020204030204"/>
                        <a:ea typeface="Arial" panose="020B0604020202020204"/>
                        <a:cs typeface="Arial" panose="020B0604020202020204"/>
                        <a:sym typeface="Arial" panose="020B0604020202020204"/>
                      </a:endParaRPr>
                    </a:p>
                  </a:txBody>
                  <a:tcPr marL="76200" marR="50800" marT="50800" marB="5080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Solution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FlagOS</a:t>
            </a:r>
            <a:r>
              <a:rPr 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 </a:t>
            </a:r>
            <a:r>
              <a:rPr lang="en-US" sz="3075" b="0" i="0" u="none" strike="noStrike">
                <a:solidFill>
                  <a:srgbClr val="262626"/>
                </a:solidFill>
                <a:latin typeface="Calibri" panose="020F0502020204030204"/>
                <a:ea typeface="Calibri" panose="020F0502020204030204"/>
                <a:cs typeface="Calibri" panose="020F0502020204030204"/>
                <a:sym typeface="Calibri" panose="020F0502020204030204"/>
              </a:rPr>
              <a:t> </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Pile logicielle IA unifi</a:t>
            </a:r>
            <a:r>
              <a:rPr lang="en-US" altLang="en-US"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é</a:t>
            </a:r>
            <a:r>
              <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rPr>
              <a:t>e</a:t>
            </a:r>
            <a:endParaRPr lang="en-US" altLang="zh-CN" sz="3075" b="0" i="0" u="none" strike="noStrike">
              <a:solidFill>
                <a:srgbClr val="262626"/>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sp>
        <p:nvSpPr>
          <p:cNvPr id="3" name="AutoShape 3"/>
          <p:cNvSpPr>
            <a:spLocks noGrp="1"/>
          </p:cNvSpPr>
          <p:nvPr>
            <p:ph type="body" sz="quarter" idx="7"/>
          </p:nvPr>
        </p:nvSpPr>
        <p:spPr>
          <a:xfrm>
            <a:off x="724535" y="6356350"/>
            <a:ext cx="11076940" cy="365125"/>
          </a:xfrm>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4" name="Picture 3" descr="image.png"/>
          <p:cNvPicPr>
            <a:picLocks noChangeAspect="1"/>
          </p:cNvPicPr>
          <p:nvPr/>
        </p:nvPicPr>
        <p:blipFill>
          <a:blip r:embed="rId1"/>
          <a:stretch>
            <a:fillRect/>
          </a:stretch>
        </p:blipFill>
        <p:spPr>
          <a:xfrm>
            <a:off x="741493" y="1256030"/>
            <a:ext cx="9408534" cy="4852988"/>
          </a:xfrm>
          <a:prstGeom prst="rect">
            <a:avLst/>
          </a:prstGeom>
        </p:spPr>
      </p:pic>
    </p:spTree>
  </p:cSld>
  <p:clrMapOvr>
    <a:masterClrMapping/>
  </p:clrMapOvr>
  <p:transition spd="slow">
    <p:fade/>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p:transition spd="slow">
    <p:fade/>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Grp="1"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a:spLocks noGrp="1"/>
          </p:cNvSpPr>
          <p:nvPr>
            <p:ph type="body" sz="quarter" idx="28" hasCustomPrompt="1"/>
          </p:nvPr>
        </p:nvSpPr>
        <p:spPr>
          <a:xfrm>
            <a:off x="6069661" y="2424583"/>
            <a:ext cx="4670511" cy="2664541"/>
          </a:xfrm>
          <a:prstGeom prst="rect">
            <a:avLst/>
          </a:prstGeom>
        </p:spPr>
        <p:txBody>
          <a:bodyPr wrap="square" lIns="91440" tIns="45720" rIns="91440" bIns="45720" anchor="ctr">
            <a:noAutofit/>
          </a:bodyPr>
          <a:lstStyle>
            <a:lvl1pPr algn="ctr">
              <a:lnSpc>
                <a:spcPct val="92000"/>
              </a:lnSpc>
              <a:defRPr sz="4400" b="0" i="0" u="none" strike="noStrike" spc="0">
                <a:solidFill>
                  <a:srgbClr val="44546A">
                    <a:alpha val="100000"/>
                  </a:srgbClr>
                </a:solidFill>
                <a:latin typeface="微软雅黑" panose="020B0503020204020204" charset="-122"/>
              </a:defRPr>
            </a:lvl1pPr>
          </a:lstStyle>
          <a:p>
            <a:pPr indent="0" algn="ctr">
              <a:lnSpc>
                <a:spcPct val="92000"/>
              </a:lnSpc>
            </a:pPr>
            <a:r>
              <a:rPr lang="en-US" sz="3230" b="0"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rPr>
              <a:t>Merci pour votre attention !</a:t>
            </a:r>
            <a:endParaRPr lang="en-US" sz="3230" b="0" i="0" u="none" strike="noStrike">
              <a:solidFill>
                <a:srgbClr val="44546A"/>
              </a:solidFill>
              <a:latin typeface="Calibri" panose="020F0502020204030204"/>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5320/output_1.pngoutput_1"/>
          <p:cNvPicPr>
            <a:picLocks noChangeAspect="1"/>
          </p:cNvPicPr>
          <p:nvPr/>
        </p:nvPicPr>
        <p:blipFill>
          <a:blip r:embed="rId4"/>
          <a:stretch>
            <a:fillRect/>
          </a:stretch>
        </p:blipFill>
        <p:spPr>
          <a:xfrm>
            <a:off x="8110855" y="306705"/>
            <a:ext cx="927735" cy="386715"/>
          </a:xfrm>
          <a:prstGeom prst="rect">
            <a:avLst/>
          </a:prstGeom>
        </p:spPr>
      </p:pic>
    </p:spTree>
  </p:cSld>
  <p:clrMapOvr>
    <a:masterClrMapping/>
  </p:clrMapOvr>
</p:sld>
</file>

<file path=ppt/tags/tag1.xml><?xml version="1.0" encoding="utf-8"?>
<p:tagLst xmlns:p="http://schemas.openxmlformats.org/presentationml/2006/main">
  <p:tag name="TABLE_ENDDRAG_ORIGIN_RECT" val="929*449"/>
  <p:tag name="TABLE_ENDDRAG_RECT" val="7*89*929*449"/>
</p:tagLst>
</file>

<file path=ppt/tags/tag2.xml><?xml version="1.0" encoding="utf-8"?>
<p:tagLst xmlns:p="http://schemas.openxmlformats.org/presentationml/2006/main">
  <p:tag name="TABLE_ENDDRAG_ORIGIN_RECT" val="376*187"/>
  <p:tag name="TABLE_ENDDRAG_RECT" val="74*171*376*187"/>
</p:tagLst>
</file>

<file path=ppt/tags/tag3.xml><?xml version="1.0" encoding="utf-8"?>
<p:tagLst xmlns:p="http://schemas.openxmlformats.org/presentationml/2006/main">
  <p:tag name="TABLE_ENDDRAG_ORIGIN_RECT" val="847*418"/>
  <p:tag name="TABLE_ENDDRAG_RECT" val="24*111*847*418"/>
</p:tagLst>
</file>

<file path=ppt/tags/tag4.xml><?xml version="1.0" encoding="utf-8"?>
<p:tagLst xmlns:p="http://schemas.openxmlformats.org/presentationml/2006/main">
  <p:tag name="TABLE_ENDDRAG_ORIGIN_RECT" val="881*411"/>
  <p:tag name="TABLE_ENDDRAG_RECT" val="5*89*881*411"/>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100256</Words>
  <Application>WPS 演示</Application>
  <PresentationFormat>宽屏</PresentationFormat>
  <Paragraphs>2520</Paragraphs>
  <Slides>154</Slides>
  <Notes>300</Notes>
  <HiddenSlides>0</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154</vt:i4>
      </vt:variant>
    </vt:vector>
  </HeadingPairs>
  <TitlesOfParts>
    <vt:vector size="179"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Chinese Quote</vt:lpstr>
      <vt:lpstr>Helvetica Neue</vt:lpstr>
      <vt:lpstr>Arial Unicode MS</vt:lpstr>
      <vt:lpstr>BatangChe</vt:lpstr>
      <vt:lpstr>Bahnschrift</vt:lpstr>
      <vt:lpstr>DejaVu Math TeX Gyre</vt:lpstr>
      <vt:lpstr>Ebrima</vt:lpstr>
      <vt:lpstr>Courier New</vt:lpstr>
      <vt:lpstr>Menlo</vt:lpstr>
      <vt:lpstr>Courier New Regular</vt:lpstr>
      <vt:lpstr>Courier New</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14</cp:revision>
  <dcterms:created xsi:type="dcterms:W3CDTF">2026-04-11T07:50:00Z</dcterms:created>
  <dcterms:modified xsi:type="dcterms:W3CDTF">2026-04-24T02:02:25Z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CD33028D399240FC9BFF97FE7D78F163_12</vt:lpwstr>
  </property>
  <property fmtid="{D5CDD505-2E9C-101B-9397-08002B2CF9AE}" pid="3" name="KSOProductBuildVer">
    <vt:lpwstr>2052-12.1.0.19302</vt:lpwstr>
  </property>
</Properties>
</file>