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handoutMasterIdLst>
    <p:handoutMasterId r:id="rId165"/>
  </p:handoutMasterIdLst>
  <p:sldIdLst>
    <p:sldId id="256" r:id="rId4"/>
    <p:sldId id="305" r:id="rId5"/>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0" r:id="rId61"/>
    <p:sldId id="361" r:id="rId62"/>
    <p:sldId id="362" r:id="rId63"/>
    <p:sldId id="363" r:id="rId64"/>
    <p:sldId id="367"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382" r:id="rId80"/>
    <p:sldId id="383" r:id="rId81"/>
    <p:sldId id="384" r:id="rId82"/>
    <p:sldId id="385" r:id="rId83"/>
    <p:sldId id="386" r:id="rId84"/>
    <p:sldId id="387" r:id="rId85"/>
    <p:sldId id="388" r:id="rId86"/>
    <p:sldId id="389" r:id="rId87"/>
    <p:sldId id="390" r:id="rId88"/>
    <p:sldId id="391" r:id="rId89"/>
    <p:sldId id="392" r:id="rId90"/>
    <p:sldId id="393" r:id="rId91"/>
    <p:sldId id="394" r:id="rId92"/>
    <p:sldId id="395" r:id="rId93"/>
    <p:sldId id="396" r:id="rId94"/>
    <p:sldId id="397" r:id="rId95"/>
    <p:sldId id="398" r:id="rId96"/>
    <p:sldId id="399" r:id="rId97"/>
    <p:sldId id="400" r:id="rId98"/>
    <p:sldId id="401" r:id="rId99"/>
    <p:sldId id="402" r:id="rId100"/>
    <p:sldId id="403" r:id="rId101"/>
    <p:sldId id="404" r:id="rId102"/>
    <p:sldId id="405" r:id="rId103"/>
    <p:sldId id="406" r:id="rId104"/>
    <p:sldId id="407" r:id="rId105"/>
    <p:sldId id="408" r:id="rId106"/>
    <p:sldId id="409" r:id="rId107"/>
    <p:sldId id="410" r:id="rId108"/>
    <p:sldId id="411" r:id="rId109"/>
    <p:sldId id="412" r:id="rId110"/>
    <p:sldId id="413" r:id="rId111"/>
    <p:sldId id="414" r:id="rId112"/>
    <p:sldId id="415" r:id="rId113"/>
    <p:sldId id="416" r:id="rId114"/>
    <p:sldId id="417" r:id="rId115"/>
    <p:sldId id="418" r:id="rId116"/>
    <p:sldId id="419" r:id="rId117"/>
    <p:sldId id="420" r:id="rId118"/>
    <p:sldId id="421" r:id="rId119"/>
    <p:sldId id="422" r:id="rId120"/>
    <p:sldId id="423" r:id="rId121"/>
    <p:sldId id="424" r:id="rId122"/>
    <p:sldId id="425" r:id="rId123"/>
    <p:sldId id="426" r:id="rId124"/>
    <p:sldId id="427" r:id="rId125"/>
    <p:sldId id="428" r:id="rId126"/>
    <p:sldId id="429" r:id="rId127"/>
    <p:sldId id="430" r:id="rId128"/>
    <p:sldId id="431" r:id="rId129"/>
    <p:sldId id="432" r:id="rId130"/>
    <p:sldId id="433" r:id="rId131"/>
    <p:sldId id="434" r:id="rId132"/>
    <p:sldId id="435" r:id="rId133"/>
    <p:sldId id="436" r:id="rId134"/>
    <p:sldId id="437" r:id="rId135"/>
    <p:sldId id="438" r:id="rId136"/>
    <p:sldId id="439" r:id="rId137"/>
    <p:sldId id="440" r:id="rId138"/>
    <p:sldId id="441" r:id="rId139"/>
    <p:sldId id="442" r:id="rId140"/>
    <p:sldId id="443" r:id="rId141"/>
    <p:sldId id="444" r:id="rId142"/>
    <p:sldId id="445" r:id="rId143"/>
    <p:sldId id="446" r:id="rId144"/>
    <p:sldId id="447" r:id="rId145"/>
    <p:sldId id="448" r:id="rId146"/>
    <p:sldId id="449" r:id="rId147"/>
    <p:sldId id="450" r:id="rId148"/>
    <p:sldId id="451" r:id="rId149"/>
    <p:sldId id="452" r:id="rId150"/>
    <p:sldId id="453" r:id="rId151"/>
    <p:sldId id="454" r:id="rId152"/>
    <p:sldId id="455" r:id="rId153"/>
    <p:sldId id="456" r:id="rId154"/>
    <p:sldId id="457" r:id="rId155"/>
    <p:sldId id="458" r:id="rId156"/>
    <p:sldId id="459" r:id="rId157"/>
    <p:sldId id="460" r:id="rId158"/>
    <p:sldId id="461" r:id="rId159"/>
    <p:sldId id="462" r:id="rId160"/>
    <p:sldId id="463" r:id="rId161"/>
    <p:sldId id="279" r:id="rId162"/>
    <p:sldId id="280" r:id="rId163"/>
    <p:sldId id="281" r:id="rId16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47"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47"/>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handoutMaster" Target="handoutMasters/handoutMaster1.xml"/><Relationship Id="rId166" Type="http://schemas.openxmlformats.org/officeDocument/2006/relationships/presProps" Target="presProps.xml"/><Relationship Id="rId167" Type="http://schemas.openxmlformats.org/officeDocument/2006/relationships/viewProps" Target="viewProps.xml"/><Relationship Id="rId16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séance est notre vingt-huitième cours, dont le thème central est le parallélisme de données. C'est la stratégie système la plus fondamentale et la plus largement utilisée dans l'entraînement distribué. Une compréhension approfondie est cruciale pour maîtriser par la suite des architectures de parallélisme hybride plus complexes.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cours d'aujourd'hui se divise en trois parties. Tout d'abord, nous présenterons les concepts fondamentaux du parallélisme de données ainsi que son implémentation standard dans les frameworks d'apprentissage profond. Ensuite, nous analyserons en détail la série de techniques d'optimisation ZeRO et le mécanisme FSDP, nés pour surmonter les limitations de la mémoire vidéo. Enfin, nous effectuerons une comparaison quantitative de l'occupation mémoire et des coûts de communication sous différentes stratégies de parallélisme.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d'aborder les aspects techniques spécifiques, précisons la réalité computationnelle de l'entraînement des grands modèles de langage. Contrairement à la phase d'inférence où la mémoire est principalement occupée par les poids et le cache de valeurs clés, la phase d'entraînement nécessite de sauvegarder le graphe de calcul complet et de maintenir l'état de l'optimiseur en haute précision, ce qui introduit une surcharge mémoire considérable. Actuellement, un seul accélérateur matériel ne peut plus répondre aux besoins, nous devons donc étendre le calcul et la mémoire horizontalement via des interconnexions réseau à haute vitesse. Les trois paradigmes de parallélisme essentiels dans l'industrie sont actuellement le parallélisme des données, le parallélisme des tenseurs et le parallélisme de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le parallélisme des données. En tant que stratégie distribuée la plus fondamentale, il fonctionne selon le paradigme SPMD (un programme, multiples données). Lors de l'entraînement, l'ensemble de données complet est divisé en mini-lots ne se chevauchant pas. Chaque GPU du cluster conserve une copie complète et identique des poids du modèle et de l'état de l'optimiseur. À chaque itération, chaque accélérateur calcule indépendamment la propagation avant et arrière sur son propre fragment de données. Dans le framework PyTorch, ce processus est principalement réalisé via le module DistributedDataParallel.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Cependant, un problème crucial se pose. Puisque chaque GPU traite des données différentes, les gradients qu'ils calculent sont naturellement différents. Sans synchronisation, le modèle présenterait des écarts après la mise à jour, entraînant une incohérence de l'état du modèle entre les nœuds. Par conséquent, après avoir calculé les gradients lors de la rétropropagation, une agrégation et une moyenne doivent être effectuées. Le système sous-jacent implémente généralement cela via la primitive de communication All-Reduce, qui additionne efficacement les gradients de tous les nœuds et les diffuse vers chaque nœud, garantissant ainsi que toutes les cartes accélératrices matérielles exécutent exactement la même logique de mise à jour des poids.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Apres</a:t>
            </a:r>
            <a:r>
              <a:rPr dirty="0"/>
              <a:t> </a:t>
            </a:r>
            <a:r>
              <a:rPr dirty="0" err="1"/>
              <a:t>avoir</a:t>
            </a:r>
            <a:r>
              <a:rPr dirty="0"/>
              <a:t> </a:t>
            </a:r>
            <a:r>
              <a:rPr dirty="0" err="1"/>
              <a:t>reussi</a:t>
            </a:r>
            <a:r>
              <a:rPr dirty="0"/>
              <a:t> a faire </a:t>
            </a:r>
            <a:r>
              <a:rPr dirty="0" err="1"/>
              <a:t>correspondre</a:t>
            </a:r>
            <a:r>
              <a:rPr dirty="0"/>
              <a:t> le sous-</a:t>
            </a:r>
            <a:r>
              <a:rPr dirty="0" err="1"/>
              <a:t>graphe</a:t>
            </a:r>
            <a:r>
              <a:rPr dirty="0"/>
              <a:t> </a:t>
            </a:r>
            <a:r>
              <a:rPr dirty="0" err="1"/>
              <a:t>cible</a:t>
            </a:r>
            <a:r>
              <a:rPr dirty="0"/>
              <a:t>, on entre dans la phase de reconnaissance de motifs. Cette phase doit </a:t>
            </a:r>
            <a:r>
              <a:rPr dirty="0" err="1"/>
              <a:t>effectuer</a:t>
            </a:r>
            <a:r>
              <a:rPr dirty="0"/>
              <a:t> des verifications </a:t>
            </a:r>
            <a:r>
              <a:rPr dirty="0" err="1"/>
              <a:t>extremement</a:t>
            </a:r>
            <a:r>
              <a:rPr dirty="0"/>
              <a:t> </a:t>
            </a:r>
            <a:r>
              <a:rPr dirty="0" err="1"/>
              <a:t>strictes</a:t>
            </a:r>
            <a:r>
              <a:rPr dirty="0"/>
              <a:t>. </a:t>
            </a:r>
            <a:r>
              <a:rPr dirty="0" err="1"/>
              <a:t>Premierement</a:t>
            </a:r>
            <a:r>
              <a:rPr dirty="0"/>
              <a:t>, </a:t>
            </a:r>
            <a:r>
              <a:rPr dirty="0" err="1"/>
              <a:t>l'analyse</a:t>
            </a:r>
            <a:r>
              <a:rPr dirty="0"/>
              <a:t> des </a:t>
            </a:r>
            <a:r>
              <a:rPr dirty="0" err="1"/>
              <a:t>contraintes</a:t>
            </a:r>
            <a:r>
              <a:rPr dirty="0"/>
              <a:t> de flux de </a:t>
            </a:r>
            <a:r>
              <a:rPr lang="en-US" dirty="0"/>
              <a:t>données</a:t>
            </a:r>
            <a:r>
              <a:rPr dirty="0"/>
              <a:t> et de </a:t>
            </a:r>
            <a:r>
              <a:rPr dirty="0" err="1"/>
              <a:t>l'exclusivite</a:t>
            </a:r>
            <a:r>
              <a:rPr dirty="0"/>
              <a:t>, car la sortie d'un </a:t>
            </a:r>
            <a:r>
              <a:rPr dirty="0" err="1"/>
              <a:t>operateur</a:t>
            </a:r>
            <a:r>
              <a:rPr dirty="0"/>
              <a:t> </a:t>
            </a:r>
            <a:r>
              <a:rPr dirty="0" err="1"/>
              <a:t>peut</a:t>
            </a:r>
            <a:r>
              <a:rPr dirty="0"/>
              <a:t> </a:t>
            </a:r>
            <a:r>
              <a:rPr dirty="0" err="1"/>
              <a:t>etre</a:t>
            </a:r>
            <a:r>
              <a:rPr dirty="0"/>
              <a:t> </a:t>
            </a:r>
            <a:r>
              <a:rPr dirty="0" err="1"/>
              <a:t>consommee</a:t>
            </a:r>
            <a:r>
              <a:rPr dirty="0"/>
              <a:t> par </a:t>
            </a:r>
            <a:r>
              <a:rPr dirty="0" err="1"/>
              <a:t>plusieurs</a:t>
            </a:r>
            <a:r>
              <a:rPr dirty="0"/>
              <a:t> </a:t>
            </a:r>
            <a:r>
              <a:rPr dirty="0" err="1"/>
              <a:t>operateurs</a:t>
            </a:r>
            <a:r>
              <a:rPr dirty="0"/>
              <a:t> </a:t>
            </a:r>
            <a:r>
              <a:rPr dirty="0" err="1"/>
              <a:t>en</a:t>
            </a:r>
            <a:r>
              <a:rPr dirty="0"/>
              <a:t> aval, le </a:t>
            </a:r>
            <a:r>
              <a:rPr dirty="0" err="1"/>
              <a:t>compilateur</a:t>
            </a:r>
            <a:r>
              <a:rPr dirty="0"/>
              <a:t> doit verifier </a:t>
            </a:r>
            <a:r>
              <a:rPr dirty="0" err="1"/>
              <a:t>rigoureusement</a:t>
            </a:r>
            <a:r>
              <a:rPr dirty="0"/>
              <a:t> la </a:t>
            </a:r>
            <a:r>
              <a:rPr dirty="0" err="1"/>
              <a:t>duree</a:t>
            </a:r>
            <a:r>
              <a:rPr dirty="0"/>
              <a:t> de vie et les </a:t>
            </a:r>
            <a:r>
              <a:rPr dirty="0" err="1"/>
              <a:t>utilisateurs</a:t>
            </a:r>
            <a:r>
              <a:rPr dirty="0"/>
              <a:t> multiples </a:t>
            </a:r>
            <a:r>
              <a:rPr dirty="0" err="1"/>
              <a:t>lors</a:t>
            </a:r>
            <a:r>
              <a:rPr dirty="0"/>
              <a:t> </a:t>
            </a:r>
            <a:r>
              <a:rPr dirty="0" err="1"/>
              <a:t>d'une</a:t>
            </a:r>
            <a:r>
              <a:rPr dirty="0"/>
              <a:t> fusion </a:t>
            </a:r>
            <a:r>
              <a:rPr dirty="0" err="1"/>
              <a:t>verticale</a:t>
            </a:r>
            <a:r>
              <a:rPr dirty="0"/>
              <a:t>. </a:t>
            </a:r>
            <a:r>
              <a:rPr dirty="0" err="1"/>
              <a:t>Deuxiemement</a:t>
            </a:r>
            <a:r>
              <a:rPr dirty="0"/>
              <a:t>, les </a:t>
            </a:r>
            <a:r>
              <a:rPr dirty="0" err="1"/>
              <a:t>attributs</a:t>
            </a:r>
            <a:r>
              <a:rPr dirty="0"/>
              <a:t> </a:t>
            </a:r>
            <a:r>
              <a:rPr dirty="0" err="1"/>
              <a:t>d'operation</a:t>
            </a:r>
            <a:r>
              <a:rPr dirty="0"/>
              <a:t> et les </a:t>
            </a:r>
            <a:r>
              <a:rPr dirty="0" err="1"/>
              <a:t>contraintes</a:t>
            </a:r>
            <a:r>
              <a:rPr dirty="0"/>
              <a:t> de </a:t>
            </a:r>
            <a:r>
              <a:rPr dirty="0" err="1"/>
              <a:t>forme</a:t>
            </a:r>
            <a:r>
              <a:rPr dirty="0"/>
              <a:t>, la </a:t>
            </a:r>
            <a:r>
              <a:rPr dirty="0" err="1"/>
              <a:t>logique</a:t>
            </a:r>
            <a:r>
              <a:rPr dirty="0"/>
              <a:t> de </a:t>
            </a:r>
            <a:r>
              <a:rPr dirty="0" err="1"/>
              <a:t>correspondance</a:t>
            </a:r>
            <a:r>
              <a:rPr dirty="0"/>
              <a:t> doit verifier </a:t>
            </a:r>
            <a:r>
              <a:rPr dirty="0" err="1"/>
              <a:t>si</a:t>
            </a:r>
            <a:r>
              <a:rPr dirty="0"/>
              <a:t> les dimensions des </a:t>
            </a:r>
            <a:r>
              <a:rPr dirty="0" err="1"/>
              <a:t>tenseurs</a:t>
            </a:r>
            <a:r>
              <a:rPr dirty="0"/>
              <a:t> </a:t>
            </a:r>
            <a:r>
              <a:rPr dirty="0" err="1"/>
              <a:t>d'entree</a:t>
            </a:r>
            <a:r>
              <a:rPr dirty="0"/>
              <a:t> </a:t>
            </a:r>
            <a:r>
              <a:rPr dirty="0" err="1"/>
              <a:t>sont</a:t>
            </a:r>
            <a:r>
              <a:rPr dirty="0"/>
              <a:t> </a:t>
            </a:r>
            <a:r>
              <a:rPr dirty="0" err="1"/>
              <a:t>coherentes</a:t>
            </a:r>
            <a:r>
              <a:rPr dirty="0"/>
              <a:t> et </a:t>
            </a:r>
            <a:r>
              <a:rPr dirty="0" err="1"/>
              <a:t>si</a:t>
            </a:r>
            <a:r>
              <a:rPr dirty="0"/>
              <a:t> la disposition memoire </a:t>
            </a:r>
            <a:r>
              <a:rPr dirty="0" err="1"/>
              <a:t>repond</a:t>
            </a:r>
            <a:r>
              <a:rPr dirty="0"/>
              <a:t> aux exigences </a:t>
            </a:r>
            <a:r>
              <a:rPr dirty="0" err="1"/>
              <a:t>strictes</a:t>
            </a:r>
            <a:r>
              <a:rPr dirty="0"/>
              <a:t> des </a:t>
            </a:r>
            <a:r>
              <a:rPr dirty="0" err="1"/>
              <a:t>bibliotheques</a:t>
            </a:r>
            <a:r>
              <a:rPr dirty="0"/>
              <a:t> </a:t>
            </a:r>
            <a:r>
              <a:rPr dirty="0" err="1"/>
              <a:t>materielles</a:t>
            </a:r>
            <a:r>
              <a:rPr dirty="0"/>
              <a:t> sous-</a:t>
            </a:r>
            <a:r>
              <a:rPr dirty="0" err="1"/>
              <a:t>jacentes</a:t>
            </a:r>
            <a:r>
              <a:rPr dirty="0"/>
              <a:t>. </a:t>
            </a:r>
            <a:r>
              <a:rPr dirty="0" err="1"/>
              <a:t>Enfin</a:t>
            </a:r>
            <a:r>
              <a:rPr dirty="0"/>
              <a:t>, un point crucial est </a:t>
            </a:r>
            <a:r>
              <a:rPr dirty="0" err="1"/>
              <a:t>l'evaluation</a:t>
            </a:r>
            <a:r>
              <a:rPr dirty="0"/>
              <a:t> des benefices </a:t>
            </a:r>
            <a:r>
              <a:rPr dirty="0" err="1"/>
              <a:t>basee</a:t>
            </a:r>
            <a:r>
              <a:rPr dirty="0"/>
              <a:t> sur un </a:t>
            </a:r>
            <a:r>
              <a:rPr dirty="0" err="1"/>
              <a:t>modele</a:t>
            </a:r>
            <a:r>
              <a:rPr dirty="0"/>
              <a:t> de </a:t>
            </a:r>
            <a:r>
              <a:rPr lang="en-US" dirty="0"/>
              <a:t>Coût</a:t>
            </a:r>
            <a:r>
              <a:rPr dirty="0"/>
              <a:t>. La fusion </a:t>
            </a:r>
            <a:r>
              <a:rPr dirty="0" err="1"/>
              <a:t>n'est</a:t>
            </a:r>
            <a:r>
              <a:rPr dirty="0"/>
              <a:t> pas </a:t>
            </a:r>
            <a:r>
              <a:rPr dirty="0" err="1"/>
              <a:t>toujours</a:t>
            </a:r>
            <a:r>
              <a:rPr dirty="0"/>
              <a:t> la solution </a:t>
            </a:r>
            <a:r>
              <a:rPr dirty="0" err="1"/>
              <a:t>optimale</a:t>
            </a:r>
            <a:r>
              <a:rPr dirty="0"/>
              <a:t>, </a:t>
            </a:r>
            <a:r>
              <a:rPr dirty="0" err="1"/>
              <a:t>une</a:t>
            </a:r>
            <a:r>
              <a:rPr dirty="0"/>
              <a:t> fusion excessive </a:t>
            </a:r>
            <a:r>
              <a:rPr dirty="0" err="1"/>
              <a:t>peut</a:t>
            </a:r>
            <a:r>
              <a:rPr dirty="0"/>
              <a:t> entrainer </a:t>
            </a:r>
            <a:r>
              <a:rPr dirty="0" err="1"/>
              <a:t>une</a:t>
            </a:r>
            <a:r>
              <a:rPr dirty="0"/>
              <a:t> explosion des variables locales et </a:t>
            </a:r>
            <a:r>
              <a:rPr dirty="0" err="1"/>
              <a:t>provoquer</a:t>
            </a:r>
            <a:r>
              <a:rPr dirty="0"/>
              <a:t> un </a:t>
            </a:r>
            <a:r>
              <a:rPr dirty="0" err="1"/>
              <a:t>debordement</a:t>
            </a:r>
            <a:r>
              <a:rPr dirty="0"/>
              <a:t> de </a:t>
            </a:r>
            <a:r>
              <a:rPr dirty="0" err="1"/>
              <a:t>registres</a:t>
            </a:r>
            <a:r>
              <a:rPr dirty="0"/>
              <a:t>. Si le </a:t>
            </a:r>
            <a:r>
              <a:rPr dirty="0" err="1"/>
              <a:t>modele</a:t>
            </a:r>
            <a:r>
              <a:rPr dirty="0"/>
              <a:t> de </a:t>
            </a:r>
            <a:r>
              <a:rPr lang="en-US" dirty="0"/>
              <a:t>Coût</a:t>
            </a:r>
            <a:r>
              <a:rPr dirty="0"/>
              <a:t> conscient du materiel </a:t>
            </a:r>
            <a:r>
              <a:rPr dirty="0" err="1"/>
              <a:t>predit</a:t>
            </a:r>
            <a:r>
              <a:rPr dirty="0"/>
              <a:t> un benefice </a:t>
            </a:r>
            <a:r>
              <a:rPr dirty="0" err="1"/>
              <a:t>negatif</a:t>
            </a:r>
            <a:r>
              <a:rPr dirty="0"/>
              <a:t> </a:t>
            </a:r>
            <a:r>
              <a:rPr dirty="0" err="1"/>
              <a:t>apres</a:t>
            </a:r>
            <a:r>
              <a:rPr dirty="0"/>
              <a:t> fusion, le </a:t>
            </a:r>
            <a:r>
              <a:rPr dirty="0" err="1"/>
              <a:t>moteur</a:t>
            </a:r>
            <a:r>
              <a:rPr dirty="0"/>
              <a:t> de reconnaissance </a:t>
            </a:r>
            <a:r>
              <a:rPr dirty="0" err="1"/>
              <a:t>renoncera</a:t>
            </a:r>
            <a:r>
              <a:rPr dirty="0"/>
              <a:t> </a:t>
            </a:r>
            <a:r>
              <a:rPr dirty="0" err="1"/>
              <a:t>activement</a:t>
            </a:r>
            <a:r>
              <a:rPr dirty="0"/>
              <a:t> a </a:t>
            </a:r>
            <a:r>
              <a:rPr dirty="0" err="1"/>
              <a:t>cette</a:t>
            </a:r>
            <a:r>
              <a:rPr dirty="0"/>
              <a:t> fusion.</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Apres</a:t>
            </a:r>
            <a:r>
              <a:rPr dirty="0"/>
              <a:t> </a:t>
            </a:r>
            <a:r>
              <a:rPr dirty="0" err="1"/>
              <a:t>que</a:t>
            </a:r>
            <a:r>
              <a:rPr dirty="0"/>
              <a:t> </a:t>
            </a:r>
            <a:r>
              <a:rPr dirty="0" err="1"/>
              <a:t>toutes</a:t>
            </a:r>
            <a:r>
              <a:rPr dirty="0"/>
              <a:t> les verifications </a:t>
            </a:r>
            <a:r>
              <a:rPr dirty="0" err="1"/>
              <a:t>sont</a:t>
            </a:r>
            <a:r>
              <a:rPr dirty="0"/>
              <a:t> </a:t>
            </a:r>
            <a:r>
              <a:rPr dirty="0" err="1"/>
              <a:t>passees</a:t>
            </a:r>
            <a:r>
              <a:rPr dirty="0"/>
              <a:t>, la </a:t>
            </a:r>
            <a:r>
              <a:rPr dirty="0" err="1"/>
              <a:t>reecriture</a:t>
            </a:r>
            <a:r>
              <a:rPr dirty="0"/>
              <a:t> de sous-</a:t>
            </a:r>
            <a:r>
              <a:rPr dirty="0" err="1"/>
              <a:t>graphe</a:t>
            </a:r>
            <a:r>
              <a:rPr dirty="0"/>
              <a:t> est </a:t>
            </a:r>
            <a:r>
              <a:rPr dirty="0" err="1"/>
              <a:t>formellement</a:t>
            </a:r>
            <a:r>
              <a:rPr dirty="0"/>
              <a:t> </a:t>
            </a:r>
            <a:r>
              <a:rPr dirty="0" err="1"/>
              <a:t>executee</a:t>
            </a:r>
            <a:r>
              <a:rPr dirty="0"/>
              <a:t>. Celle-ci est </a:t>
            </a:r>
            <a:r>
              <a:rPr dirty="0" err="1"/>
              <a:t>basee</a:t>
            </a:r>
            <a:r>
              <a:rPr dirty="0"/>
              <a:t> sur la </a:t>
            </a:r>
            <a:r>
              <a:rPr dirty="0" err="1"/>
              <a:t>theorie</a:t>
            </a:r>
            <a:r>
              <a:rPr dirty="0"/>
              <a:t> de transformation de </a:t>
            </a:r>
            <a:r>
              <a:rPr dirty="0" err="1"/>
              <a:t>graphe</a:t>
            </a:r>
            <a:r>
              <a:rPr dirty="0"/>
              <a:t> </a:t>
            </a:r>
            <a:r>
              <a:rPr dirty="0" err="1"/>
              <a:t>sementiquement</a:t>
            </a:r>
            <a:r>
              <a:rPr dirty="0"/>
              <a:t> </a:t>
            </a:r>
            <a:r>
              <a:rPr dirty="0" err="1"/>
              <a:t>equivalente</a:t>
            </a:r>
            <a:r>
              <a:rPr dirty="0"/>
              <a:t>. Comme le montre la </a:t>
            </a:r>
            <a:r>
              <a:rPr dirty="0" err="1"/>
              <a:t>formule</a:t>
            </a:r>
            <a:r>
              <a:rPr dirty="0"/>
              <a:t>, nous </a:t>
            </a:r>
            <a:r>
              <a:rPr dirty="0" err="1"/>
              <a:t>convertissons</a:t>
            </a:r>
            <a:r>
              <a:rPr dirty="0"/>
              <a:t> le </a:t>
            </a:r>
            <a:r>
              <a:rPr dirty="0" err="1"/>
              <a:t>graphe</a:t>
            </a:r>
            <a:r>
              <a:rPr dirty="0"/>
              <a:t> de motif cote gauche qui doit </a:t>
            </a:r>
            <a:r>
              <a:rPr dirty="0" err="1"/>
              <a:t>etre</a:t>
            </a:r>
            <a:r>
              <a:rPr dirty="0"/>
              <a:t> </a:t>
            </a:r>
            <a:r>
              <a:rPr dirty="0" err="1"/>
              <a:t>remplace</a:t>
            </a:r>
            <a:r>
              <a:rPr dirty="0"/>
              <a:t> </a:t>
            </a:r>
            <a:r>
              <a:rPr dirty="0" err="1"/>
              <a:t>en</a:t>
            </a:r>
            <a:r>
              <a:rPr dirty="0"/>
              <a:t> un </a:t>
            </a:r>
            <a:r>
              <a:rPr dirty="0" err="1"/>
              <a:t>graphe</a:t>
            </a:r>
            <a:r>
              <a:rPr dirty="0"/>
              <a:t> de </a:t>
            </a:r>
            <a:r>
              <a:rPr dirty="0" err="1"/>
              <a:t>remplacement</a:t>
            </a:r>
            <a:r>
              <a:rPr dirty="0"/>
              <a:t> </a:t>
            </a:r>
            <a:r>
              <a:rPr dirty="0" err="1"/>
              <a:t>efficace</a:t>
            </a:r>
            <a:r>
              <a:rPr dirty="0"/>
              <a:t> </a:t>
            </a:r>
            <a:r>
              <a:rPr dirty="0" err="1"/>
              <a:t>fusionne</a:t>
            </a:r>
            <a:r>
              <a:rPr dirty="0"/>
              <a:t> cote droit. </a:t>
            </a:r>
            <a:r>
              <a:rPr dirty="0" err="1"/>
              <a:t>L'architecture</a:t>
            </a:r>
            <a:r>
              <a:rPr dirty="0"/>
              <a:t> sous-</a:t>
            </a:r>
            <a:r>
              <a:rPr dirty="0" err="1"/>
              <a:t>jacente</a:t>
            </a:r>
            <a:r>
              <a:rPr dirty="0"/>
              <a:t> </a:t>
            </a:r>
            <a:r>
              <a:rPr dirty="0" err="1"/>
              <a:t>adopte</a:t>
            </a:r>
            <a:r>
              <a:rPr dirty="0"/>
              <a:t> </a:t>
            </a:r>
            <a:r>
              <a:rPr lang="en-US" dirty="0"/>
              <a:t>généralement</a:t>
            </a:r>
            <a:r>
              <a:rPr dirty="0"/>
              <a:t> le cadre </a:t>
            </a:r>
            <a:r>
              <a:rPr dirty="0" err="1"/>
              <a:t>semantique</a:t>
            </a:r>
            <a:r>
              <a:rPr dirty="0"/>
              <a:t> double pushout, </a:t>
            </a:r>
            <a:r>
              <a:rPr dirty="0" err="1"/>
              <a:t>divisant</a:t>
            </a:r>
            <a:r>
              <a:rPr dirty="0"/>
              <a:t> </a:t>
            </a:r>
            <a:r>
              <a:rPr dirty="0" err="1"/>
              <a:t>rigoureusement</a:t>
            </a:r>
            <a:r>
              <a:rPr dirty="0"/>
              <a:t> le </a:t>
            </a:r>
            <a:r>
              <a:rPr dirty="0" err="1"/>
              <a:t>graphe</a:t>
            </a:r>
            <a:r>
              <a:rPr dirty="0"/>
              <a:t> </a:t>
            </a:r>
            <a:r>
              <a:rPr dirty="0" err="1"/>
              <a:t>hote</a:t>
            </a:r>
            <a:r>
              <a:rPr dirty="0"/>
              <a:t> </a:t>
            </a:r>
            <a:r>
              <a:rPr dirty="0" err="1"/>
              <a:t>en</a:t>
            </a:r>
            <a:r>
              <a:rPr dirty="0"/>
              <a:t> </a:t>
            </a:r>
            <a:r>
              <a:rPr dirty="0" err="1"/>
              <a:t>partie</a:t>
            </a:r>
            <a:r>
              <a:rPr dirty="0"/>
              <a:t> </a:t>
            </a:r>
            <a:r>
              <a:rPr dirty="0" err="1"/>
              <a:t>correspondante</a:t>
            </a:r>
            <a:r>
              <a:rPr dirty="0"/>
              <a:t>, </a:t>
            </a:r>
            <a:r>
              <a:rPr dirty="0" err="1"/>
              <a:t>contexte</a:t>
            </a:r>
            <a:r>
              <a:rPr dirty="0"/>
              <a:t> et </a:t>
            </a:r>
            <a:r>
              <a:rPr dirty="0" err="1"/>
              <a:t>l'arete</a:t>
            </a:r>
            <a:r>
              <a:rPr dirty="0"/>
              <a:t> de </a:t>
            </a:r>
            <a:r>
              <a:rPr dirty="0" err="1"/>
              <a:t>correctif</a:t>
            </a:r>
            <a:r>
              <a:rPr dirty="0"/>
              <a:t> reliant les deux. Le </a:t>
            </a:r>
            <a:r>
              <a:rPr dirty="0" err="1"/>
              <a:t>principe</a:t>
            </a:r>
            <a:r>
              <a:rPr dirty="0"/>
              <a:t> </a:t>
            </a:r>
            <a:r>
              <a:rPr dirty="0" err="1"/>
              <a:t>fondamental</a:t>
            </a:r>
            <a:r>
              <a:rPr dirty="0"/>
              <a:t> de </a:t>
            </a:r>
            <a:r>
              <a:rPr dirty="0" err="1"/>
              <a:t>cette</a:t>
            </a:r>
            <a:r>
              <a:rPr dirty="0"/>
              <a:t> phase est de </a:t>
            </a:r>
            <a:r>
              <a:rPr dirty="0" err="1"/>
              <a:t>garantir</a:t>
            </a:r>
            <a:r>
              <a:rPr dirty="0"/>
              <a:t> la coherence </a:t>
            </a:r>
            <a:r>
              <a:rPr dirty="0" err="1"/>
              <a:t>semantique</a:t>
            </a:r>
            <a:r>
              <a:rPr dirty="0"/>
              <a:t>: </a:t>
            </a:r>
            <a:r>
              <a:rPr dirty="0" err="1"/>
              <a:t>etant</a:t>
            </a:r>
            <a:r>
              <a:rPr dirty="0"/>
              <a:t> </a:t>
            </a:r>
            <a:r>
              <a:rPr dirty="0" err="1"/>
              <a:t>donnee</a:t>
            </a:r>
            <a:r>
              <a:rPr dirty="0"/>
              <a:t> la meme entree, la sortie de </a:t>
            </a:r>
            <a:r>
              <a:rPr dirty="0" err="1"/>
              <a:t>calcul</a:t>
            </a:r>
            <a:r>
              <a:rPr dirty="0"/>
              <a:t> avant et </a:t>
            </a:r>
            <a:r>
              <a:rPr dirty="0" err="1"/>
              <a:t>apres</a:t>
            </a:r>
            <a:r>
              <a:rPr dirty="0"/>
              <a:t> </a:t>
            </a:r>
            <a:r>
              <a:rPr dirty="0" err="1"/>
              <a:t>reecriture</a:t>
            </a:r>
            <a:r>
              <a:rPr dirty="0"/>
              <a:t> doit </a:t>
            </a:r>
            <a:r>
              <a:rPr dirty="0" err="1"/>
              <a:t>maintenir</a:t>
            </a:r>
            <a:r>
              <a:rPr dirty="0"/>
              <a:t> </a:t>
            </a:r>
            <a:r>
              <a:rPr dirty="0" err="1"/>
              <a:t>une</a:t>
            </a:r>
            <a:r>
              <a:rPr dirty="0"/>
              <a:t> precision </a:t>
            </a:r>
            <a:r>
              <a:rPr dirty="0" err="1"/>
              <a:t>absolument</a:t>
            </a:r>
            <a:r>
              <a:rPr dirty="0"/>
              <a:t> </a:t>
            </a:r>
            <a:r>
              <a:rPr dirty="0" err="1"/>
              <a:t>coherente</a:t>
            </a:r>
            <a:r>
              <a:rPr dirty="0"/>
              <a:t>.</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Apres</a:t>
            </a:r>
            <a:r>
              <a:rPr dirty="0"/>
              <a:t> </a:t>
            </a:r>
            <a:r>
              <a:rPr dirty="0" err="1"/>
              <a:t>avoir</a:t>
            </a:r>
            <a:r>
              <a:rPr dirty="0"/>
              <a:t> </a:t>
            </a:r>
            <a:r>
              <a:rPr dirty="0" err="1"/>
              <a:t>maitrise</a:t>
            </a:r>
            <a:r>
              <a:rPr dirty="0"/>
              <a:t> la </a:t>
            </a:r>
            <a:r>
              <a:rPr dirty="0" err="1"/>
              <a:t>theorie</a:t>
            </a:r>
            <a:r>
              <a:rPr dirty="0"/>
              <a:t> </a:t>
            </a:r>
            <a:r>
              <a:rPr dirty="0" err="1"/>
              <a:t>fondamentale</a:t>
            </a:r>
            <a:r>
              <a:rPr dirty="0"/>
              <a:t>, nous </a:t>
            </a:r>
            <a:r>
              <a:rPr dirty="0" err="1"/>
              <a:t>examinons</a:t>
            </a:r>
            <a:r>
              <a:rPr dirty="0"/>
              <a:t> </a:t>
            </a:r>
            <a:r>
              <a:rPr dirty="0" err="1"/>
              <a:t>l'implementation</a:t>
            </a:r>
            <a:r>
              <a:rPr dirty="0"/>
              <a:t> au </a:t>
            </a:r>
            <a:r>
              <a:rPr dirty="0" err="1"/>
              <a:t>niveau</a:t>
            </a:r>
            <a:r>
              <a:rPr dirty="0"/>
              <a:t> de </a:t>
            </a:r>
            <a:r>
              <a:rPr dirty="0" err="1"/>
              <a:t>l'ingenierie</a:t>
            </a:r>
            <a:r>
              <a:rPr dirty="0"/>
              <a:t>. Dans les pages </a:t>
            </a:r>
            <a:r>
              <a:rPr dirty="0" err="1"/>
              <a:t>suivantes</a:t>
            </a:r>
            <a:r>
              <a:rPr dirty="0"/>
              <a:t>, je </a:t>
            </a:r>
            <a:r>
              <a:rPr dirty="0" err="1"/>
              <a:t>presenterai</a:t>
            </a:r>
            <a:r>
              <a:rPr dirty="0"/>
              <a:t> le </a:t>
            </a:r>
            <a:r>
              <a:rPr dirty="0" err="1"/>
              <a:t>moteur</a:t>
            </a:r>
            <a:r>
              <a:rPr dirty="0"/>
              <a:t> de </a:t>
            </a:r>
            <a:r>
              <a:rPr dirty="0" err="1"/>
              <a:t>reecriture</a:t>
            </a:r>
            <a:r>
              <a:rPr dirty="0"/>
              <a:t> de motifs dans MLIR, la </a:t>
            </a:r>
            <a:r>
              <a:rPr dirty="0" err="1"/>
              <a:t>chaine</a:t>
            </a:r>
            <a:r>
              <a:rPr dirty="0"/>
              <a:t> </a:t>
            </a:r>
            <a:r>
              <a:rPr dirty="0" err="1"/>
              <a:t>d'outils</a:t>
            </a:r>
            <a:r>
              <a:rPr dirty="0"/>
              <a:t> </a:t>
            </a:r>
            <a:r>
              <a:rPr dirty="0" err="1"/>
              <a:t>principale</a:t>
            </a:r>
            <a:r>
              <a:rPr dirty="0"/>
              <a:t> </a:t>
            </a:r>
            <a:r>
              <a:rPr dirty="0" err="1"/>
              <a:t>moderne</a:t>
            </a:r>
            <a:r>
              <a:rPr dirty="0"/>
              <a:t>. Nous </a:t>
            </a:r>
            <a:r>
              <a:rPr dirty="0" err="1"/>
              <a:t>expliquerons</a:t>
            </a:r>
            <a:r>
              <a:rPr dirty="0"/>
              <a:t> les </a:t>
            </a:r>
            <a:r>
              <a:rPr dirty="0" err="1"/>
              <a:t>mecanismes</a:t>
            </a:r>
            <a:r>
              <a:rPr dirty="0"/>
              <a:t> </a:t>
            </a:r>
            <a:r>
              <a:rPr dirty="0" err="1"/>
              <a:t>d'implementation</a:t>
            </a:r>
            <a:r>
              <a:rPr dirty="0"/>
              <a:t> </a:t>
            </a:r>
            <a:r>
              <a:rPr dirty="0" err="1"/>
              <a:t>specifiques</a:t>
            </a:r>
            <a:r>
              <a:rPr dirty="0"/>
              <a:t>, y </a:t>
            </a:r>
            <a:r>
              <a:rPr dirty="0" err="1"/>
              <a:t>compris</a:t>
            </a:r>
            <a:r>
              <a:rPr dirty="0"/>
              <a:t> </a:t>
            </a:r>
            <a:r>
              <a:rPr dirty="0" err="1"/>
              <a:t>l'ecriture</a:t>
            </a:r>
            <a:r>
              <a:rPr dirty="0"/>
              <a:t> imperative </a:t>
            </a:r>
            <a:r>
              <a:rPr dirty="0" err="1"/>
              <a:t>en</a:t>
            </a:r>
            <a:r>
              <a:rPr dirty="0"/>
              <a:t> C++, </a:t>
            </a:r>
            <a:r>
              <a:rPr dirty="0" err="1"/>
              <a:t>ainsi</a:t>
            </a:r>
            <a:r>
              <a:rPr dirty="0"/>
              <a:t> </a:t>
            </a:r>
            <a:r>
              <a:rPr dirty="0" err="1"/>
              <a:t>que</a:t>
            </a:r>
            <a:r>
              <a:rPr dirty="0"/>
              <a:t> les </a:t>
            </a:r>
            <a:r>
              <a:rPr dirty="0" err="1"/>
              <a:t>regles</a:t>
            </a:r>
            <a:r>
              <a:rPr dirty="0"/>
              <a:t> declaratives </a:t>
            </a:r>
            <a:r>
              <a:rPr dirty="0" err="1"/>
              <a:t>basees</a:t>
            </a:r>
            <a:r>
              <a:rPr dirty="0"/>
              <a:t> sur des </a:t>
            </a:r>
            <a:r>
              <a:rPr dirty="0" err="1"/>
              <a:t>pilotes</a:t>
            </a:r>
            <a:r>
              <a:rPr dirty="0"/>
              <a:t> et les </a:t>
            </a:r>
            <a:r>
              <a:rPr dirty="0" err="1"/>
              <a:t>langages</a:t>
            </a:r>
            <a:r>
              <a:rPr dirty="0"/>
              <a:t> </a:t>
            </a:r>
            <a:r>
              <a:rPr dirty="0" err="1"/>
              <a:t>dedies</a:t>
            </a:r>
            <a:r>
              <a:rPr dirty="0"/>
              <a:t> aux </a:t>
            </a:r>
            <a:r>
              <a:rPr dirty="0" err="1"/>
              <a:t>domaines</a:t>
            </a:r>
            <a:r>
              <a:rPr dirty="0"/>
              <a:t> plus </a:t>
            </a:r>
            <a:r>
              <a:rPr dirty="0" err="1"/>
              <a:t>modernes</a:t>
            </a:r>
            <a:r>
              <a:rPr dirty="0"/>
              <a:t>. Je </a:t>
            </a:r>
            <a:r>
              <a:rPr dirty="0" err="1"/>
              <a:t>decrirai</a:t>
            </a:r>
            <a:r>
              <a:rPr dirty="0"/>
              <a:t> </a:t>
            </a:r>
            <a:r>
              <a:rPr dirty="0" err="1"/>
              <a:t>egalement</a:t>
            </a:r>
            <a:r>
              <a:rPr dirty="0"/>
              <a:t> </a:t>
            </a:r>
            <a:r>
              <a:rPr dirty="0" err="1"/>
              <a:t>brievement</a:t>
            </a:r>
            <a:r>
              <a:rPr dirty="0"/>
              <a:t> comment le </a:t>
            </a:r>
            <a:r>
              <a:rPr dirty="0" err="1"/>
              <a:t>pilote</a:t>
            </a:r>
            <a:r>
              <a:rPr dirty="0"/>
              <a:t> de </a:t>
            </a:r>
            <a:r>
              <a:rPr dirty="0" err="1"/>
              <a:t>reecriture</a:t>
            </a:r>
            <a:r>
              <a:rPr dirty="0"/>
              <a:t> </a:t>
            </a:r>
            <a:r>
              <a:rPr dirty="0" err="1"/>
              <a:t>glouton</a:t>
            </a:r>
            <a:r>
              <a:rPr dirty="0"/>
              <a:t> recherche </a:t>
            </a:r>
            <a:r>
              <a:rPr dirty="0" err="1"/>
              <a:t>automatiquement</a:t>
            </a:r>
            <a:r>
              <a:rPr dirty="0"/>
              <a:t> des </a:t>
            </a:r>
            <a:r>
              <a:rPr dirty="0" err="1"/>
              <a:t>regles</a:t>
            </a:r>
            <a:r>
              <a:rPr dirty="0"/>
              <a:t> le long du flux de </a:t>
            </a:r>
            <a:r>
              <a:rPr lang="en-US" dirty="0"/>
              <a:t>données</a:t>
            </a:r>
            <a:r>
              <a:rPr dirty="0"/>
              <a:t> et </a:t>
            </a:r>
            <a:r>
              <a:rPr dirty="0" err="1"/>
              <a:t>nettoie</a:t>
            </a:r>
            <a:r>
              <a:rPr dirty="0"/>
              <a:t> le code inutile. Le cadre MLIR, dans </a:t>
            </a:r>
            <a:r>
              <a:rPr dirty="0" err="1"/>
              <a:t>sa</a:t>
            </a:r>
            <a:r>
              <a:rPr dirty="0"/>
              <a:t> </a:t>
            </a:r>
            <a:r>
              <a:rPr dirty="0" err="1"/>
              <a:t>philosophie</a:t>
            </a:r>
            <a:r>
              <a:rPr dirty="0"/>
              <a:t> de conception, </a:t>
            </a:r>
            <a:r>
              <a:rPr dirty="0" err="1"/>
              <a:t>separe</a:t>
            </a:r>
            <a:r>
              <a:rPr dirty="0"/>
              <a:t> </a:t>
            </a:r>
            <a:r>
              <a:rPr dirty="0" err="1"/>
              <a:t>rigoureusement</a:t>
            </a:r>
            <a:r>
              <a:rPr dirty="0"/>
              <a:t> la definition de motifs de </a:t>
            </a:r>
            <a:r>
              <a:rPr dirty="0" err="1"/>
              <a:t>l'application</a:t>
            </a:r>
            <a:r>
              <a:rPr dirty="0"/>
              <a:t> de motifs. Le moyen le plus </a:t>
            </a:r>
            <a:r>
              <a:rPr dirty="0" err="1"/>
              <a:t>fondamental</a:t>
            </a:r>
            <a:r>
              <a:rPr dirty="0"/>
              <a:t> pour les </a:t>
            </a:r>
            <a:r>
              <a:rPr dirty="0" err="1"/>
              <a:t>developpeurs</a:t>
            </a:r>
            <a:r>
              <a:rPr dirty="0"/>
              <a:t> est </a:t>
            </a:r>
            <a:r>
              <a:rPr dirty="0" err="1"/>
              <a:t>l'ecriture</a:t>
            </a:r>
            <a:r>
              <a:rPr dirty="0"/>
              <a:t> imperative, qui </a:t>
            </a:r>
            <a:r>
              <a:rPr dirty="0" err="1"/>
              <a:t>necessite</a:t>
            </a:r>
            <a:r>
              <a:rPr dirty="0"/>
              <a:t> </a:t>
            </a:r>
            <a:r>
              <a:rPr dirty="0" err="1"/>
              <a:t>d'heriter</a:t>
            </a:r>
            <a:r>
              <a:rPr dirty="0"/>
              <a:t> </a:t>
            </a:r>
            <a:r>
              <a:rPr dirty="0" err="1"/>
              <a:t>d'une</a:t>
            </a:r>
            <a:r>
              <a:rPr dirty="0"/>
              <a:t> </a:t>
            </a:r>
            <a:r>
              <a:rPr dirty="0" err="1"/>
              <a:t>classe</a:t>
            </a:r>
            <a:r>
              <a:rPr dirty="0"/>
              <a:t> de base de </a:t>
            </a:r>
            <a:r>
              <a:rPr dirty="0" err="1"/>
              <a:t>reecriture</a:t>
            </a:r>
            <a:r>
              <a:rPr dirty="0"/>
              <a:t> </a:t>
            </a:r>
            <a:r>
              <a:rPr dirty="0" err="1"/>
              <a:t>specifique</a:t>
            </a:r>
            <a:r>
              <a:rPr dirty="0"/>
              <a:t> et </a:t>
            </a:r>
            <a:r>
              <a:rPr dirty="0" err="1"/>
              <a:t>d'implementer</a:t>
            </a:r>
            <a:r>
              <a:rPr dirty="0"/>
              <a:t> </a:t>
            </a:r>
            <a:r>
              <a:rPr dirty="0" err="1"/>
              <a:t>sa</a:t>
            </a:r>
            <a:r>
              <a:rPr dirty="0"/>
              <a:t> </a:t>
            </a:r>
            <a:r>
              <a:rPr dirty="0" err="1"/>
              <a:t>logique</a:t>
            </a:r>
            <a:r>
              <a:rPr dirty="0"/>
              <a:t> interne de </a:t>
            </a:r>
            <a:r>
              <a:rPr dirty="0" err="1"/>
              <a:t>correspondance</a:t>
            </a:r>
            <a:r>
              <a:rPr dirty="0"/>
              <a:t> et de </a:t>
            </a:r>
            <a:r>
              <a:rPr dirty="0" err="1"/>
              <a:t>reecriture</a:t>
            </a:r>
            <a:r>
              <a:rPr dirty="0"/>
              <a:t>. Comme le montre </a:t>
            </a:r>
            <a:r>
              <a:rPr dirty="0" err="1"/>
              <a:t>l'extrait</a:t>
            </a:r>
            <a:r>
              <a:rPr dirty="0"/>
              <a:t> de code a </a:t>
            </a:r>
            <a:r>
              <a:rPr dirty="0" err="1"/>
              <a:t>l'ecran</a:t>
            </a:r>
            <a:r>
              <a:rPr dirty="0"/>
              <a:t>, la plus grande </a:t>
            </a:r>
            <a:r>
              <a:rPr dirty="0" err="1"/>
              <a:t>caracteristique</a:t>
            </a:r>
            <a:r>
              <a:rPr dirty="0"/>
              <a:t> de </a:t>
            </a:r>
            <a:r>
              <a:rPr dirty="0" err="1"/>
              <a:t>cette</a:t>
            </a:r>
            <a:r>
              <a:rPr dirty="0"/>
              <a:t> </a:t>
            </a:r>
            <a:r>
              <a:rPr dirty="0" err="1"/>
              <a:t>methode</a:t>
            </a:r>
            <a:r>
              <a:rPr dirty="0"/>
              <a:t> est </a:t>
            </a:r>
            <a:r>
              <a:rPr dirty="0" err="1"/>
              <a:t>qu'elle</a:t>
            </a:r>
            <a:r>
              <a:rPr dirty="0"/>
              <a:t> </a:t>
            </a:r>
            <a:r>
              <a:rPr dirty="0" err="1"/>
              <a:t>donne</a:t>
            </a:r>
            <a:r>
              <a:rPr dirty="0"/>
              <a:t> aux </a:t>
            </a:r>
            <a:r>
              <a:rPr dirty="0" err="1"/>
              <a:t>developpeurs</a:t>
            </a:r>
            <a:r>
              <a:rPr dirty="0"/>
              <a:t> un </a:t>
            </a:r>
            <a:r>
              <a:rPr dirty="0" err="1"/>
              <a:t>degre</a:t>
            </a:r>
            <a:r>
              <a:rPr dirty="0"/>
              <a:t> de </a:t>
            </a:r>
            <a:r>
              <a:rPr dirty="0" err="1"/>
              <a:t>liberte</a:t>
            </a:r>
            <a:r>
              <a:rPr dirty="0"/>
              <a:t> </a:t>
            </a:r>
            <a:r>
              <a:rPr dirty="0" err="1"/>
              <a:t>eleve</a:t>
            </a:r>
            <a:r>
              <a:rPr dirty="0"/>
              <a:t>, </a:t>
            </a:r>
            <a:r>
              <a:rPr dirty="0" err="1"/>
              <a:t>leur</a:t>
            </a:r>
            <a:r>
              <a:rPr dirty="0"/>
              <a:t> </a:t>
            </a:r>
            <a:r>
              <a:rPr dirty="0" err="1"/>
              <a:t>permettant</a:t>
            </a:r>
            <a:r>
              <a:rPr dirty="0"/>
              <a:t> de </a:t>
            </a:r>
            <a:r>
              <a:rPr dirty="0" err="1"/>
              <a:t>manipuler</a:t>
            </a:r>
            <a:r>
              <a:rPr dirty="0"/>
              <a:t> </a:t>
            </a:r>
            <a:r>
              <a:rPr dirty="0" err="1"/>
              <a:t>directement</a:t>
            </a:r>
            <a:r>
              <a:rPr dirty="0"/>
              <a:t> la representation </a:t>
            </a:r>
            <a:r>
              <a:rPr dirty="0" err="1"/>
              <a:t>intermediaire</a:t>
            </a:r>
            <a:r>
              <a:rPr dirty="0"/>
              <a:t> sous-</a:t>
            </a:r>
            <a:r>
              <a:rPr dirty="0" err="1"/>
              <a:t>jacente</a:t>
            </a:r>
            <a:r>
              <a:rPr dirty="0"/>
              <a:t> et de </a:t>
            </a:r>
            <a:r>
              <a:rPr dirty="0" err="1"/>
              <a:t>traiter</a:t>
            </a:r>
            <a:r>
              <a:rPr dirty="0"/>
              <a:t> des </a:t>
            </a:r>
            <a:r>
              <a:rPr dirty="0" err="1"/>
              <a:t>logiques</a:t>
            </a:r>
            <a:r>
              <a:rPr dirty="0"/>
              <a:t> </a:t>
            </a:r>
            <a:r>
              <a:rPr dirty="0" err="1"/>
              <a:t>mathematiques</a:t>
            </a:r>
            <a:r>
              <a:rPr dirty="0"/>
              <a:t> </a:t>
            </a:r>
            <a:r>
              <a:rPr dirty="0" err="1"/>
              <a:t>extremement</a:t>
            </a:r>
            <a:r>
              <a:rPr dirty="0"/>
              <a:t> complexes. Son inconvenient est </a:t>
            </a:r>
            <a:r>
              <a:rPr dirty="0" err="1"/>
              <a:t>que</a:t>
            </a:r>
            <a:r>
              <a:rPr dirty="0"/>
              <a:t> le code boilerplate est trop </a:t>
            </a:r>
            <a:r>
              <a:rPr dirty="0" err="1"/>
              <a:t>volumineux</a:t>
            </a:r>
            <a:r>
              <a:rPr dirty="0"/>
              <a:t>, les </a:t>
            </a:r>
            <a:r>
              <a:rPr dirty="0" err="1"/>
              <a:t>developpeurs</a:t>
            </a:r>
            <a:r>
              <a:rPr dirty="0"/>
              <a:t> </a:t>
            </a:r>
            <a:r>
              <a:rPr dirty="0" err="1"/>
              <a:t>doivent</a:t>
            </a:r>
            <a:r>
              <a:rPr dirty="0"/>
              <a:t> </a:t>
            </a:r>
            <a:r>
              <a:rPr dirty="0" err="1"/>
              <a:t>traiter</a:t>
            </a:r>
            <a:r>
              <a:rPr dirty="0"/>
              <a:t> </a:t>
            </a:r>
            <a:r>
              <a:rPr dirty="0" err="1"/>
              <a:t>manuellement</a:t>
            </a:r>
            <a:r>
              <a:rPr dirty="0"/>
              <a:t> les conversions de type complexes et les verifications de </a:t>
            </a:r>
            <a:r>
              <a:rPr dirty="0" err="1"/>
              <a:t>securite</a:t>
            </a:r>
            <a:r>
              <a:rPr dirty="0"/>
              <a:t>, et la </a:t>
            </a:r>
            <a:r>
              <a:rPr dirty="0" err="1"/>
              <a:t>topologie</a:t>
            </a:r>
            <a:r>
              <a:rPr dirty="0"/>
              <a:t> du </a:t>
            </a:r>
            <a:r>
              <a:rPr dirty="0" err="1"/>
              <a:t>graphe</a:t>
            </a:r>
            <a:r>
              <a:rPr dirty="0"/>
              <a:t> </a:t>
            </a:r>
            <a:r>
              <a:rPr dirty="0" err="1"/>
              <a:t>apparait</a:t>
            </a:r>
            <a:r>
              <a:rPr dirty="0"/>
              <a:t> </a:t>
            </a:r>
            <a:r>
              <a:rPr dirty="0" err="1"/>
              <a:t>tres</a:t>
            </a:r>
            <a:r>
              <a:rPr dirty="0"/>
              <a:t> obscure dans le code.</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problème de distribution de la mémoire vidéo mentionné précédemment met en évidence le grave problème de redondance mémoire au niveau système du DDP standard. Supposons que nous menions un entraînement sur huit GPU, l'ensemble du cluster maintient en fait huit copies complètement identiques des poids du modèle, des gradients et de vastes copies d'états d'optimiseur en simple précision. Ces réplications de données hautement redondantes occupent une mémoire vidéo à haute bande passante extrêmement précieuse, sans fournir aucun bénéfice de puissance de calcul supplémentaire au cluster. Ce mécanisme inefficace limite strictement la taille maximale des modèles entraînables à la capacité de mémoire vidéo physique d'un seul GPU, devenant un obstacle physique infranchissable pour l'entraînement des grands modèles de langage.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briser cette barrière de mémoire vidéo, l'industrie a proposé l'optimiseur à redondance nulle, également connu sous le nom de technologie ZeRO. Son idée architecturale centrale est très directe : puisque les données sauvegardées sur chaque GPU sont identiques, nous pouvons découper ces états d'entraînement occupant énormément de mémoire vidéo et les disperser sur différentes barres de mémoire vidéo GPU. Grâce à l'opération de réduction-dispersion équivalente mathématiquement, nous pouvons échanger la bande passante de communication inter-nœuds contre de l'espace mémoire vidéo par carte, éliminant ainsi complètement la redondance spatiale dans le parallélisme de données.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technologie ZeRO est divisée en trois étapes selon le degré d'optimisation du système. Commençons par la première étape, soit la segmentation des états d'optimiseur. Dans cette étape, les états d'optimiseur les plus volumineux - moments d'ordre 1 et d'ordre 2 - sont uniformément découpés et dispersés sur chaque nœud GPU. Bien que chaque nœud de travail possède toujours les paramètres complets du modèle et calcule indépendamment les gradients, lors de la phase de mise à jour des paramètres, il ne doit mettre à jour que les poids des paramètres correspondant à son propre fragment de données.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Examinons</a:t>
            </a:r>
            <a:r>
              <a:rPr dirty="0"/>
              <a:t> </a:t>
            </a:r>
            <a:r>
              <a:rPr dirty="0" err="1"/>
              <a:t>en</a:t>
            </a:r>
            <a:r>
              <a:rPr dirty="0"/>
              <a:t> detail le flux de </a:t>
            </a:r>
            <a:r>
              <a:rPr lang="en-US" dirty="0"/>
              <a:t>données</a:t>
            </a:r>
            <a:r>
              <a:rPr dirty="0"/>
              <a:t> sous-jacent de l'</a:t>
            </a:r>
            <a:r>
              <a:rPr lang="en-US" dirty="0"/>
              <a:t>étape</a:t>
            </a:r>
            <a:r>
              <a:rPr dirty="0"/>
              <a:t> </a:t>
            </a:r>
            <a:r>
              <a:rPr dirty="0" err="1"/>
              <a:t>une</a:t>
            </a:r>
            <a:r>
              <a:rPr dirty="0"/>
              <a:t>. </a:t>
            </a:r>
            <a:r>
              <a:rPr dirty="0" err="1"/>
              <a:t>Chaque</a:t>
            </a:r>
            <a:r>
              <a:rPr dirty="0"/>
              <a:t> </a:t>
            </a:r>
            <a:r>
              <a:rPr lang="en-US" dirty="0"/>
              <a:t>nœud</a:t>
            </a:r>
            <a:r>
              <a:rPr dirty="0"/>
              <a:t> de </a:t>
            </a:r>
            <a:r>
              <a:rPr dirty="0" err="1"/>
              <a:t>calcul</a:t>
            </a:r>
            <a:r>
              <a:rPr dirty="0"/>
              <a:t> </a:t>
            </a:r>
            <a:r>
              <a:rPr dirty="0" err="1"/>
              <a:t>calcule</a:t>
            </a:r>
            <a:r>
              <a:rPr dirty="0"/>
              <a:t> le </a:t>
            </a:r>
            <a:r>
              <a:rPr dirty="0" err="1"/>
              <a:t>vecteur</a:t>
            </a:r>
            <a:r>
              <a:rPr dirty="0"/>
              <a:t> de gradient </a:t>
            </a:r>
            <a:r>
              <a:rPr dirty="0" err="1"/>
              <a:t>complet</a:t>
            </a:r>
            <a:r>
              <a:rPr dirty="0"/>
              <a:t> a </a:t>
            </a:r>
            <a:r>
              <a:rPr dirty="0" err="1"/>
              <a:t>partir</a:t>
            </a:r>
            <a:r>
              <a:rPr dirty="0"/>
              <a:t> de </a:t>
            </a:r>
            <a:r>
              <a:rPr dirty="0" err="1"/>
              <a:t>sa</a:t>
            </a:r>
            <a:r>
              <a:rPr dirty="0"/>
              <a:t> propre partition de </a:t>
            </a:r>
            <a:r>
              <a:rPr lang="en-US" dirty="0"/>
              <a:t>données</a:t>
            </a:r>
            <a:r>
              <a:rPr dirty="0"/>
              <a:t>. Ensuite, le </a:t>
            </a:r>
            <a:r>
              <a:rPr dirty="0" err="1"/>
              <a:t>systeme</a:t>
            </a:r>
            <a:r>
              <a:rPr dirty="0"/>
              <a:t> execute </a:t>
            </a:r>
            <a:r>
              <a:rPr dirty="0" err="1"/>
              <a:t>une</a:t>
            </a:r>
            <a:r>
              <a:rPr dirty="0"/>
              <a:t> reduction-dispersion via le reseau, </a:t>
            </a:r>
            <a:r>
              <a:rPr dirty="0" err="1"/>
              <a:t>permettant</a:t>
            </a:r>
            <a:r>
              <a:rPr dirty="0"/>
              <a:t> a </a:t>
            </a:r>
            <a:r>
              <a:rPr dirty="0" err="1"/>
              <a:t>chaque</a:t>
            </a:r>
            <a:r>
              <a:rPr dirty="0"/>
              <a:t> </a:t>
            </a:r>
            <a:r>
              <a:rPr lang="en-US" dirty="0"/>
              <a:t>nœud</a:t>
            </a:r>
            <a:r>
              <a:rPr dirty="0"/>
              <a:t> de </a:t>
            </a:r>
            <a:r>
              <a:rPr dirty="0" err="1"/>
              <a:t>calcul</a:t>
            </a:r>
            <a:r>
              <a:rPr dirty="0"/>
              <a:t> de </a:t>
            </a:r>
            <a:r>
              <a:rPr dirty="0" err="1"/>
              <a:t>n'obtenir</a:t>
            </a:r>
            <a:r>
              <a:rPr dirty="0"/>
              <a:t> </a:t>
            </a:r>
            <a:r>
              <a:rPr dirty="0" err="1"/>
              <a:t>que</a:t>
            </a:r>
            <a:r>
              <a:rPr dirty="0"/>
              <a:t> le gradient </a:t>
            </a:r>
            <a:r>
              <a:rPr dirty="0" err="1"/>
              <a:t>cumule</a:t>
            </a:r>
            <a:r>
              <a:rPr dirty="0"/>
              <a:t> </a:t>
            </a:r>
            <a:r>
              <a:rPr dirty="0" err="1"/>
              <a:t>correspondant</a:t>
            </a:r>
            <a:r>
              <a:rPr dirty="0"/>
              <a:t> a la partition de </a:t>
            </a:r>
            <a:r>
              <a:rPr lang="en-US" dirty="0"/>
              <a:t>paramètres</a:t>
            </a:r>
            <a:r>
              <a:rPr dirty="0"/>
              <a:t> </a:t>
            </a:r>
            <a:r>
              <a:rPr dirty="0" err="1"/>
              <a:t>dont</a:t>
            </a:r>
            <a:r>
              <a:rPr dirty="0"/>
              <a:t> il est </a:t>
            </a:r>
            <a:r>
              <a:rPr dirty="0" err="1"/>
              <a:t>responsable</a:t>
            </a:r>
            <a:r>
              <a:rPr dirty="0"/>
              <a:t>. Une </a:t>
            </a:r>
            <a:r>
              <a:rPr dirty="0" err="1"/>
              <a:t>fois</a:t>
            </a:r>
            <a:r>
              <a:rPr dirty="0"/>
              <a:t> </a:t>
            </a:r>
            <a:r>
              <a:rPr dirty="0" err="1"/>
              <a:t>en</a:t>
            </a:r>
            <a:r>
              <a:rPr dirty="0"/>
              <a:t> possession de </a:t>
            </a:r>
            <a:r>
              <a:rPr dirty="0" err="1"/>
              <a:t>sa</a:t>
            </a:r>
            <a:r>
              <a:rPr dirty="0"/>
              <a:t> partition de gradient </a:t>
            </a:r>
            <a:r>
              <a:rPr dirty="0" err="1"/>
              <a:t>dediee</a:t>
            </a:r>
            <a:r>
              <a:rPr dirty="0"/>
              <a:t>, le </a:t>
            </a:r>
            <a:r>
              <a:rPr lang="en-US" dirty="0"/>
              <a:t>nœud</a:t>
            </a:r>
            <a:r>
              <a:rPr dirty="0"/>
              <a:t> combine </a:t>
            </a:r>
            <a:r>
              <a:rPr lang="en-US" dirty="0"/>
              <a:t>l'état</a:t>
            </a:r>
            <a:r>
              <a:rPr dirty="0"/>
              <a:t> de </a:t>
            </a:r>
            <a:r>
              <a:rPr dirty="0" err="1"/>
              <a:t>l'optimiseur</a:t>
            </a:r>
            <a:r>
              <a:rPr dirty="0"/>
              <a:t> </a:t>
            </a:r>
            <a:r>
              <a:rPr dirty="0" err="1"/>
              <a:t>sauvegarde</a:t>
            </a:r>
            <a:r>
              <a:rPr dirty="0"/>
              <a:t> </a:t>
            </a:r>
            <a:r>
              <a:rPr dirty="0" err="1"/>
              <a:t>localement</a:t>
            </a:r>
            <a:r>
              <a:rPr dirty="0"/>
              <a:t> pour completer la mise a jour finale des </a:t>
            </a:r>
            <a:r>
              <a:rPr lang="en-US" dirty="0"/>
              <a:t>paramètres</a:t>
            </a:r>
            <a:r>
              <a:rPr dirty="0"/>
              <a:t>. </a:t>
            </a:r>
            <a:r>
              <a:rPr dirty="0" err="1"/>
              <a:t>Enfin</a:t>
            </a:r>
            <a:r>
              <a:rPr dirty="0"/>
              <a:t>, le </a:t>
            </a:r>
            <a:r>
              <a:rPr dirty="0" err="1"/>
              <a:t>systeme</a:t>
            </a:r>
            <a:r>
              <a:rPr dirty="0"/>
              <a:t> execute </a:t>
            </a:r>
            <a:r>
              <a:rPr dirty="0" err="1"/>
              <a:t>une</a:t>
            </a:r>
            <a:r>
              <a:rPr dirty="0"/>
              <a:t> operation de </a:t>
            </a:r>
            <a:r>
              <a:rPr dirty="0" err="1"/>
              <a:t>collecte</a:t>
            </a:r>
            <a:r>
              <a:rPr dirty="0"/>
              <a:t> complete, </a:t>
            </a:r>
            <a:r>
              <a:rPr dirty="0" err="1"/>
              <a:t>synchronisant</a:t>
            </a:r>
            <a:r>
              <a:rPr dirty="0"/>
              <a:t> les partitions de </a:t>
            </a:r>
            <a:r>
              <a:rPr lang="en-US" dirty="0"/>
              <a:t>paramètres</a:t>
            </a:r>
            <a:r>
              <a:rPr dirty="0"/>
              <a:t> mises a jour vers </a:t>
            </a:r>
            <a:r>
              <a:rPr dirty="0" err="1"/>
              <a:t>tous</a:t>
            </a:r>
            <a:r>
              <a:rPr dirty="0"/>
              <a:t> les </a:t>
            </a:r>
            <a:r>
              <a:rPr lang="en-US" dirty="0"/>
              <a:t>nœud</a:t>
            </a:r>
            <a:r>
              <a:rPr dirty="0"/>
              <a:t>s de </a:t>
            </a:r>
            <a:r>
              <a:rPr dirty="0" err="1"/>
              <a:t>calcul</a:t>
            </a:r>
            <a:r>
              <a:rPr dirty="0"/>
              <a:t>, restaurant </a:t>
            </a:r>
            <a:r>
              <a:rPr dirty="0" err="1"/>
              <a:t>ainsi</a:t>
            </a:r>
            <a:r>
              <a:rPr dirty="0"/>
              <a:t> la </a:t>
            </a:r>
            <a:r>
              <a:rPr dirty="0" err="1"/>
              <a:t>matrice</a:t>
            </a:r>
            <a:r>
              <a:rPr dirty="0"/>
              <a:t> complete des </a:t>
            </a:r>
            <a:r>
              <a:rPr dirty="0" err="1"/>
              <a:t>poids</a:t>
            </a:r>
            <a:r>
              <a:rPr dirty="0"/>
              <a:t> du </a:t>
            </a:r>
            <a:r>
              <a:rPr dirty="0" err="1"/>
              <a:t>modele</a:t>
            </a:r>
            <a:r>
              <a:rPr dirty="0"/>
              <a:t>, </a:t>
            </a:r>
            <a:r>
              <a:rPr dirty="0" err="1"/>
              <a:t>en</a:t>
            </a:r>
            <a:r>
              <a:rPr dirty="0"/>
              <a:t> preparation de la </a:t>
            </a:r>
            <a:r>
              <a:rPr dirty="0" err="1"/>
              <a:t>prochaine</a:t>
            </a:r>
            <a:r>
              <a:rPr dirty="0"/>
              <a:t> propagation avant.</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a:t>Si nous </a:t>
            </a:r>
            <a:r>
              <a:rPr dirty="0" err="1"/>
              <a:t>comparons</a:t>
            </a:r>
            <a:r>
              <a:rPr dirty="0"/>
              <a:t> </a:t>
            </a:r>
            <a:r>
              <a:rPr dirty="0" err="1"/>
              <a:t>quantitativement</a:t>
            </a:r>
            <a:r>
              <a:rPr dirty="0"/>
              <a:t> le DDP naif avec l'</a:t>
            </a:r>
            <a:r>
              <a:rPr lang="en-US" dirty="0"/>
              <a:t>étape</a:t>
            </a:r>
            <a:r>
              <a:rPr dirty="0"/>
              <a:t> un de </a:t>
            </a:r>
            <a:r>
              <a:rPr dirty="0" err="1"/>
              <a:t>ZeRO</a:t>
            </a:r>
            <a:r>
              <a:rPr dirty="0"/>
              <a:t>, nous </a:t>
            </a:r>
            <a:r>
              <a:rPr dirty="0" err="1"/>
              <a:t>pouvons</a:t>
            </a:r>
            <a:r>
              <a:rPr dirty="0"/>
              <a:t> </a:t>
            </a:r>
            <a:r>
              <a:rPr dirty="0" err="1"/>
              <a:t>constater</a:t>
            </a:r>
            <a:r>
              <a:rPr dirty="0"/>
              <a:t> </a:t>
            </a:r>
            <a:r>
              <a:rPr dirty="0" err="1"/>
              <a:t>que</a:t>
            </a:r>
            <a:r>
              <a:rPr dirty="0"/>
              <a:t> </a:t>
            </a:r>
            <a:r>
              <a:rPr dirty="0" err="1"/>
              <a:t>l'optimisation</a:t>
            </a:r>
            <a:r>
              <a:rPr dirty="0"/>
              <a:t> de l'</a:t>
            </a:r>
            <a:r>
              <a:rPr lang="en-US" dirty="0"/>
              <a:t>étape</a:t>
            </a:r>
            <a:r>
              <a:rPr dirty="0"/>
              <a:t> un est </a:t>
            </a:r>
            <a:r>
              <a:rPr dirty="0" err="1"/>
              <a:t>presque</a:t>
            </a:r>
            <a:r>
              <a:rPr dirty="0"/>
              <a:t> </a:t>
            </a:r>
            <a:r>
              <a:rPr dirty="0" err="1"/>
              <a:t>gratuite</a:t>
            </a:r>
            <a:r>
              <a:rPr dirty="0"/>
              <a:t>. En </a:t>
            </a:r>
            <a:r>
              <a:rPr dirty="0" err="1"/>
              <a:t>termes</a:t>
            </a:r>
            <a:r>
              <a:rPr dirty="0"/>
              <a:t> de </a:t>
            </a:r>
            <a:r>
              <a:rPr lang="en-US" dirty="0"/>
              <a:t>Coût</a:t>
            </a:r>
            <a:r>
              <a:rPr dirty="0"/>
              <a:t> de communication, le DDP naif execute </a:t>
            </a:r>
            <a:r>
              <a:rPr dirty="0" err="1"/>
              <a:t>une</a:t>
            </a:r>
            <a:r>
              <a:rPr dirty="0"/>
              <a:t> reduction complete du gradient, </a:t>
            </a:r>
            <a:r>
              <a:rPr dirty="0" err="1"/>
              <a:t>tandis</a:t>
            </a:r>
            <a:r>
              <a:rPr dirty="0"/>
              <a:t> </a:t>
            </a:r>
            <a:r>
              <a:rPr dirty="0" err="1"/>
              <a:t>que</a:t>
            </a:r>
            <a:r>
              <a:rPr dirty="0"/>
              <a:t> l'</a:t>
            </a:r>
            <a:r>
              <a:rPr lang="en-US" dirty="0"/>
              <a:t>étape</a:t>
            </a:r>
            <a:r>
              <a:rPr dirty="0"/>
              <a:t> un la decompose </a:t>
            </a:r>
            <a:r>
              <a:rPr dirty="0" err="1"/>
              <a:t>en</a:t>
            </a:r>
            <a:r>
              <a:rPr dirty="0"/>
              <a:t> </a:t>
            </a:r>
            <a:r>
              <a:rPr dirty="0" err="1"/>
              <a:t>une</a:t>
            </a:r>
            <a:r>
              <a:rPr dirty="0"/>
              <a:t> reduction-dispersion plus </a:t>
            </a:r>
            <a:r>
              <a:rPr dirty="0" err="1"/>
              <a:t>une</a:t>
            </a:r>
            <a:r>
              <a:rPr dirty="0"/>
              <a:t> </a:t>
            </a:r>
            <a:r>
              <a:rPr dirty="0" err="1"/>
              <a:t>collecte</a:t>
            </a:r>
            <a:r>
              <a:rPr dirty="0"/>
              <a:t> complete. La </a:t>
            </a:r>
            <a:r>
              <a:rPr dirty="0" err="1"/>
              <a:t>quantite</a:t>
            </a:r>
            <a:r>
              <a:rPr dirty="0"/>
              <a:t> </a:t>
            </a:r>
            <a:r>
              <a:rPr dirty="0" err="1"/>
              <a:t>totale</a:t>
            </a:r>
            <a:r>
              <a:rPr dirty="0"/>
              <a:t> de </a:t>
            </a:r>
            <a:r>
              <a:rPr lang="en-US" dirty="0"/>
              <a:t>données</a:t>
            </a:r>
            <a:r>
              <a:rPr dirty="0"/>
              <a:t> </a:t>
            </a:r>
            <a:r>
              <a:rPr dirty="0" err="1"/>
              <a:t>transmise</a:t>
            </a:r>
            <a:r>
              <a:rPr dirty="0"/>
              <a:t> via le reseau est </a:t>
            </a:r>
            <a:r>
              <a:rPr dirty="0" err="1"/>
              <a:t>identique</a:t>
            </a:r>
            <a:r>
              <a:rPr dirty="0"/>
              <a:t> pour les deux, soit deux </a:t>
            </a:r>
            <a:r>
              <a:rPr dirty="0" err="1"/>
              <a:t>fois</a:t>
            </a:r>
            <a:r>
              <a:rPr dirty="0"/>
              <a:t> la taille des </a:t>
            </a:r>
            <a:r>
              <a:rPr lang="en-US" dirty="0"/>
              <a:t>paramètres</a:t>
            </a:r>
            <a:r>
              <a:rPr dirty="0"/>
              <a:t> du </a:t>
            </a:r>
            <a:r>
              <a:rPr dirty="0" err="1"/>
              <a:t>modele</a:t>
            </a:r>
            <a:r>
              <a:rPr dirty="0"/>
              <a:t>. </a:t>
            </a:r>
            <a:r>
              <a:rPr dirty="0" err="1"/>
              <a:t>Cependant</a:t>
            </a:r>
            <a:r>
              <a:rPr dirty="0"/>
              <a:t>, du cote du gain memoire, l'</a:t>
            </a:r>
            <a:r>
              <a:rPr lang="en-US" dirty="0"/>
              <a:t>étape</a:t>
            </a:r>
            <a:r>
              <a:rPr dirty="0"/>
              <a:t> un de </a:t>
            </a:r>
            <a:r>
              <a:rPr dirty="0" err="1"/>
              <a:t>ZeRO</a:t>
            </a:r>
            <a:r>
              <a:rPr dirty="0"/>
              <a:t> a </a:t>
            </a:r>
            <a:r>
              <a:rPr dirty="0" err="1"/>
              <a:t>reussi</a:t>
            </a:r>
            <a:r>
              <a:rPr dirty="0"/>
              <a:t> a </a:t>
            </a:r>
            <a:r>
              <a:rPr dirty="0" err="1"/>
              <a:t>partitionner</a:t>
            </a:r>
            <a:r>
              <a:rPr dirty="0"/>
              <a:t> </a:t>
            </a:r>
            <a:r>
              <a:rPr lang="en-US" dirty="0"/>
              <a:t>l'état</a:t>
            </a:r>
            <a:r>
              <a:rPr dirty="0"/>
              <a:t> de </a:t>
            </a:r>
            <a:r>
              <a:rPr dirty="0" err="1"/>
              <a:t>l'optimiseur</a:t>
            </a:r>
            <a:r>
              <a:rPr dirty="0"/>
              <a:t>, qui </a:t>
            </a:r>
            <a:r>
              <a:rPr dirty="0" err="1"/>
              <a:t>occupe</a:t>
            </a:r>
            <a:r>
              <a:rPr dirty="0"/>
              <a:t> le plus </a:t>
            </a:r>
            <a:r>
              <a:rPr dirty="0" err="1"/>
              <a:t>d'espace</a:t>
            </a:r>
            <a:r>
              <a:rPr dirty="0"/>
              <a:t>, </a:t>
            </a:r>
            <a:r>
              <a:rPr dirty="0" err="1"/>
              <a:t>proportionnellement</a:t>
            </a:r>
            <a:r>
              <a:rPr dirty="0"/>
              <a:t> au </a:t>
            </a:r>
            <a:r>
              <a:rPr dirty="0" err="1"/>
              <a:t>nombre</a:t>
            </a:r>
            <a:r>
              <a:rPr dirty="0"/>
              <a:t> de GPUs, </a:t>
            </a:r>
            <a:r>
              <a:rPr dirty="0" err="1"/>
              <a:t>liberant</a:t>
            </a:r>
            <a:r>
              <a:rPr dirty="0"/>
              <a:t> </a:t>
            </a:r>
            <a:r>
              <a:rPr dirty="0" err="1"/>
              <a:t>ainsi</a:t>
            </a:r>
            <a:r>
              <a:rPr dirty="0"/>
              <a:t> </a:t>
            </a:r>
            <a:r>
              <a:rPr dirty="0" err="1"/>
              <a:t>considerablement</a:t>
            </a:r>
            <a:r>
              <a:rPr dirty="0"/>
              <a:t> </a:t>
            </a:r>
            <a:r>
              <a:rPr dirty="0" err="1"/>
              <a:t>l'espace</a:t>
            </a:r>
            <a:r>
              <a:rPr dirty="0"/>
              <a:t> de memoire video physique de </a:t>
            </a:r>
            <a:r>
              <a:rPr dirty="0" err="1"/>
              <a:t>chaque</a:t>
            </a:r>
            <a:r>
              <a:rPr dirty="0"/>
              <a:t> carte.</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a:t>Si la memoire </a:t>
            </a:r>
            <a:r>
              <a:rPr dirty="0" err="1"/>
              <a:t>liberee</a:t>
            </a:r>
            <a:r>
              <a:rPr dirty="0"/>
              <a:t> par l'</a:t>
            </a:r>
            <a:r>
              <a:rPr lang="en-US" dirty="0"/>
              <a:t>étape</a:t>
            </a:r>
            <a:r>
              <a:rPr dirty="0"/>
              <a:t> un est </a:t>
            </a:r>
            <a:r>
              <a:rPr dirty="0" err="1"/>
              <a:t>toujours</a:t>
            </a:r>
            <a:r>
              <a:rPr dirty="0"/>
              <a:t> </a:t>
            </a:r>
            <a:r>
              <a:rPr dirty="0" err="1"/>
              <a:t>insuffisante</a:t>
            </a:r>
            <a:r>
              <a:rPr dirty="0"/>
              <a:t> pour charger </a:t>
            </a:r>
            <a:r>
              <a:rPr dirty="0" err="1"/>
              <a:t>l'ensemble</a:t>
            </a:r>
            <a:r>
              <a:rPr dirty="0"/>
              <a:t> du grand </a:t>
            </a:r>
            <a:r>
              <a:rPr dirty="0" err="1"/>
              <a:t>modele</a:t>
            </a:r>
            <a:r>
              <a:rPr dirty="0"/>
              <a:t>, nous devons passer a l'</a:t>
            </a:r>
            <a:r>
              <a:rPr lang="en-US" dirty="0"/>
              <a:t>étape</a:t>
            </a:r>
            <a:r>
              <a:rPr dirty="0"/>
              <a:t> deux de </a:t>
            </a:r>
            <a:r>
              <a:rPr dirty="0" err="1"/>
              <a:t>ZeRO</a:t>
            </a:r>
            <a:r>
              <a:rPr dirty="0"/>
              <a:t>. Son </a:t>
            </a:r>
            <a:r>
              <a:rPr dirty="0" err="1"/>
              <a:t>approche</a:t>
            </a:r>
            <a:r>
              <a:rPr dirty="0"/>
              <a:t> </a:t>
            </a:r>
            <a:r>
              <a:rPr dirty="0" err="1"/>
              <a:t>systeme</a:t>
            </a:r>
            <a:r>
              <a:rPr dirty="0"/>
              <a:t> de haut </a:t>
            </a:r>
            <a:r>
              <a:rPr dirty="0" err="1"/>
              <a:t>niveau</a:t>
            </a:r>
            <a:r>
              <a:rPr dirty="0"/>
              <a:t> </a:t>
            </a:r>
            <a:r>
              <a:rPr dirty="0" err="1"/>
              <a:t>consiste</a:t>
            </a:r>
            <a:r>
              <a:rPr dirty="0"/>
              <a:t> a stocker </a:t>
            </a:r>
            <a:r>
              <a:rPr dirty="0" err="1"/>
              <a:t>egalement</a:t>
            </a:r>
            <a:r>
              <a:rPr dirty="0"/>
              <a:t> les </a:t>
            </a:r>
            <a:r>
              <a:rPr dirty="0" err="1"/>
              <a:t>tenseurs</a:t>
            </a:r>
            <a:r>
              <a:rPr dirty="0"/>
              <a:t> de gradients de </a:t>
            </a:r>
            <a:r>
              <a:rPr dirty="0" err="1"/>
              <a:t>maniere</a:t>
            </a:r>
            <a:r>
              <a:rPr dirty="0"/>
              <a:t> </a:t>
            </a:r>
            <a:r>
              <a:rPr dirty="0" err="1"/>
              <a:t>distribuee</a:t>
            </a:r>
            <a:r>
              <a:rPr dirty="0"/>
              <a:t> </a:t>
            </a:r>
            <a:r>
              <a:rPr dirty="0" err="1"/>
              <a:t>partitionnee</a:t>
            </a:r>
            <a:r>
              <a:rPr dirty="0"/>
              <a:t>. La </a:t>
            </a:r>
            <a:r>
              <a:rPr dirty="0" err="1"/>
              <a:t>difficulte</a:t>
            </a:r>
            <a:r>
              <a:rPr dirty="0"/>
              <a:t> technique </a:t>
            </a:r>
            <a:r>
              <a:rPr dirty="0" err="1"/>
              <a:t>ici</a:t>
            </a:r>
            <a:r>
              <a:rPr dirty="0"/>
              <a:t> </a:t>
            </a:r>
            <a:r>
              <a:rPr lang="en-US" dirty="0"/>
              <a:t>réside</a:t>
            </a:r>
            <a:r>
              <a:rPr dirty="0"/>
              <a:t> dans le fait </a:t>
            </a:r>
            <a:r>
              <a:rPr dirty="0" err="1"/>
              <a:t>que</a:t>
            </a:r>
            <a:r>
              <a:rPr dirty="0"/>
              <a:t>, </a:t>
            </a:r>
            <a:r>
              <a:rPr dirty="0" err="1"/>
              <a:t>comme</a:t>
            </a:r>
            <a:r>
              <a:rPr dirty="0"/>
              <a:t> </a:t>
            </a:r>
            <a:r>
              <a:rPr dirty="0" err="1"/>
              <a:t>l'architecture</a:t>
            </a:r>
            <a:r>
              <a:rPr dirty="0"/>
              <a:t> </a:t>
            </a:r>
            <a:r>
              <a:rPr dirty="0" err="1"/>
              <a:t>reste</a:t>
            </a:r>
            <a:r>
              <a:rPr dirty="0"/>
              <a:t> </a:t>
            </a:r>
            <a:r>
              <a:rPr dirty="0" err="1"/>
              <a:t>fondamentalement</a:t>
            </a:r>
            <a:r>
              <a:rPr dirty="0"/>
              <a:t> un </a:t>
            </a:r>
            <a:r>
              <a:rPr dirty="0" err="1"/>
              <a:t>parallelisme</a:t>
            </a:r>
            <a:r>
              <a:rPr dirty="0"/>
              <a:t> des </a:t>
            </a:r>
            <a:r>
              <a:rPr lang="en-US" dirty="0"/>
              <a:t>données</a:t>
            </a:r>
            <a:r>
              <a:rPr dirty="0"/>
              <a:t>, </a:t>
            </a:r>
            <a:r>
              <a:rPr dirty="0" err="1"/>
              <a:t>chaque</a:t>
            </a:r>
            <a:r>
              <a:rPr dirty="0"/>
              <a:t> </a:t>
            </a:r>
            <a:r>
              <a:rPr lang="en-US" dirty="0"/>
              <a:t>nœud</a:t>
            </a:r>
            <a:r>
              <a:rPr dirty="0"/>
              <a:t> doit </a:t>
            </a:r>
            <a:r>
              <a:rPr lang="en-US" dirty="0"/>
              <a:t>Exécuter</a:t>
            </a:r>
            <a:r>
              <a:rPr dirty="0"/>
              <a:t> les </a:t>
            </a:r>
            <a:r>
              <a:rPr dirty="0" err="1"/>
              <a:t>calculs</a:t>
            </a:r>
            <a:r>
              <a:rPr dirty="0"/>
              <a:t> </a:t>
            </a:r>
            <a:r>
              <a:rPr dirty="0" err="1"/>
              <a:t>complets</a:t>
            </a:r>
            <a:r>
              <a:rPr dirty="0"/>
              <a:t> des </a:t>
            </a:r>
            <a:r>
              <a:rPr dirty="0" err="1"/>
              <a:t>operateurs</a:t>
            </a:r>
            <a:r>
              <a:rPr dirty="0"/>
              <a:t> de propagation avant et </a:t>
            </a:r>
            <a:r>
              <a:rPr dirty="0" err="1"/>
              <a:t>arriere</a:t>
            </a:r>
            <a:r>
              <a:rPr dirty="0"/>
              <a:t>. Cela </a:t>
            </a:r>
            <a:r>
              <a:rPr dirty="0" err="1"/>
              <a:t>signifie</a:t>
            </a:r>
            <a:r>
              <a:rPr dirty="0"/>
              <a:t> </a:t>
            </a:r>
            <a:r>
              <a:rPr dirty="0" err="1"/>
              <a:t>que</a:t>
            </a:r>
            <a:r>
              <a:rPr dirty="0"/>
              <a:t> </a:t>
            </a:r>
            <a:r>
              <a:rPr dirty="0" err="1"/>
              <a:t>durant</a:t>
            </a:r>
            <a:r>
              <a:rPr dirty="0"/>
              <a:t> la propagation </a:t>
            </a:r>
            <a:r>
              <a:rPr dirty="0" err="1"/>
              <a:t>arriere</a:t>
            </a:r>
            <a:r>
              <a:rPr dirty="0"/>
              <a:t>, le </a:t>
            </a:r>
            <a:r>
              <a:rPr dirty="0" err="1"/>
              <a:t>vecteur</a:t>
            </a:r>
            <a:r>
              <a:rPr dirty="0"/>
              <a:t> de gradient </a:t>
            </a:r>
            <a:r>
              <a:rPr dirty="0" err="1"/>
              <a:t>complet</a:t>
            </a:r>
            <a:r>
              <a:rPr dirty="0"/>
              <a:t> sera </a:t>
            </a:r>
            <a:r>
              <a:rPr dirty="0" err="1"/>
              <a:t>inevitablement</a:t>
            </a:r>
            <a:r>
              <a:rPr dirty="0"/>
              <a:t> </a:t>
            </a:r>
            <a:r>
              <a:rPr dirty="0" err="1"/>
              <a:t>produit</a:t>
            </a:r>
            <a:r>
              <a:rPr dirty="0"/>
              <a:t>. Nous devons </a:t>
            </a:r>
            <a:r>
              <a:rPr dirty="0" err="1"/>
              <a:t>concevoir</a:t>
            </a:r>
            <a:r>
              <a:rPr dirty="0"/>
              <a:t> un </a:t>
            </a:r>
            <a:r>
              <a:rPr dirty="0" err="1"/>
              <a:t>mecanisme</a:t>
            </a:r>
            <a:r>
              <a:rPr dirty="0"/>
              <a:t> </a:t>
            </a:r>
            <a:r>
              <a:rPr dirty="0" err="1"/>
              <a:t>systeme</a:t>
            </a:r>
            <a:r>
              <a:rPr dirty="0"/>
              <a:t> qui </a:t>
            </a:r>
            <a:r>
              <a:rPr dirty="0" err="1"/>
              <a:t>permette</a:t>
            </a:r>
            <a:r>
              <a:rPr dirty="0"/>
              <a:t> de completer la reduction </a:t>
            </a:r>
            <a:r>
              <a:rPr dirty="0" err="1"/>
              <a:t>distribuee</a:t>
            </a:r>
            <a:r>
              <a:rPr dirty="0"/>
              <a:t> des gradients sans augmenter le </a:t>
            </a:r>
            <a:r>
              <a:rPr dirty="0" err="1"/>
              <a:t>seuil</a:t>
            </a:r>
            <a:r>
              <a:rPr dirty="0"/>
              <a:t> de pics de memoire video.</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étapes d'exécution spécifiques de la deuxième étape sont très ingénieuses. Tous les nœuds exécutent progressivement l'opération de propagation inverse sur le graphe de calcul. Lorsque le gradient local complet d'une couche est calculé, le système déclenche immédiatement une opération de réduction, envoyant le gradient de cette couche au nœud de travail responsable de la mise à jour correspondante. Une fois l'envoi inter-nœuds terminé, le tenseur de gradient complet dans la mémoire vidéo locale est immédiatement libéré pour récupérer la mémoire. Ensuite, chaque machine utilise uniquement les partitions de gradient et les partitions d'état maintenues localement de manière persistante pour mettre à jour certains paramètres, et enfin synchronise les paramètres globaux via la primitive all-gather.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Lorsque le nombre de paramètres du modèle atteint des centaines de milliards, et que même l'espace mémoire pour conserver une matrice complète de poids du modèle n'est pas disponible, nous devons introduire l'étape 3 de ZeRO, également connue dans les frameworks d'apprentissage profond comme le mécanisme de parallélisme de données entièrement partitionné (FSDP). Son approche architecturale de haut niveau consiste à tout partitionner, y compris les paramètres du modèle eux-mêmes, qui sont découpés et distribués sur les différents nœuds du cluster. Cela nous oblige à adopter l'idée de communication et de calcul incrémentaux lors du parcours du graphe de calcul du système, en demandant les paramètres via le réseau à la demande avant l'exécution des 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 diagramme d'exécution de bas niveau de FSDP, nous pouvons voir que la gestion du cycle de vie des paramètres devient extrêmement fine et dynamique. Les paramètres de chaque couche de réseau neuronal ne sont récupérés et assemblés sous forme complète à partir d'autres nœuds hétérogènes via l'opération all-gather que lorsqu'ils sont sur le point d'effectuer un calcul d'opérateur avant ou arrière. Une fois l'instruction de calcul de cette couche terminée, les tenseurs de poids complets assemblés sont immédiatement effacés de la mémoire vidéo, et la mémoire du nœud ne conserve à nouveau que sa très petite partie de partitions de paramètres. Le coût de ce mécanisme est que chaque itération nécessite deux all-gather de paramètres et un reduce-scatter de gradients.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a:t>Dans </a:t>
            </a:r>
            <a:r>
              <a:rPr dirty="0" err="1"/>
              <a:t>limplementation</a:t>
            </a:r>
            <a:r>
              <a:rPr dirty="0"/>
              <a:t> </a:t>
            </a:r>
            <a:r>
              <a:rPr dirty="0" err="1"/>
              <a:t>systeme</a:t>
            </a:r>
            <a:r>
              <a:rPr dirty="0"/>
              <a:t> </a:t>
            </a:r>
            <a:r>
              <a:rPr dirty="0" err="1"/>
              <a:t>ingenierique</a:t>
            </a:r>
            <a:r>
              <a:rPr dirty="0"/>
              <a:t> </a:t>
            </a:r>
            <a:r>
              <a:rPr dirty="0" err="1"/>
              <a:t>reelle</a:t>
            </a:r>
            <a:r>
              <a:rPr dirty="0"/>
              <a:t> de FSDP, </a:t>
            </a:r>
            <a:r>
              <a:rPr dirty="0" err="1"/>
              <a:t>lextraction</a:t>
            </a:r>
            <a:r>
              <a:rPr dirty="0"/>
              <a:t> et la liberation </a:t>
            </a:r>
            <a:r>
              <a:rPr dirty="0" err="1"/>
              <a:t>dynamiques</a:t>
            </a:r>
            <a:r>
              <a:rPr dirty="0"/>
              <a:t> </a:t>
            </a:r>
            <a:r>
              <a:rPr dirty="0" err="1"/>
              <a:t>extremement</a:t>
            </a:r>
            <a:r>
              <a:rPr dirty="0"/>
              <a:t> </a:t>
            </a:r>
            <a:r>
              <a:rPr dirty="0" err="1"/>
              <a:t>granulaires</a:t>
            </a:r>
            <a:r>
              <a:rPr dirty="0"/>
              <a:t> des </a:t>
            </a:r>
            <a:r>
              <a:rPr lang="en-US" dirty="0"/>
              <a:t>paramètres</a:t>
            </a:r>
            <a:r>
              <a:rPr dirty="0"/>
              <a:t> </a:t>
            </a:r>
            <a:r>
              <a:rPr dirty="0" err="1"/>
              <a:t>entrainent</a:t>
            </a:r>
            <a:r>
              <a:rPr dirty="0"/>
              <a:t> un </a:t>
            </a:r>
            <a:r>
              <a:rPr dirty="0" err="1"/>
              <a:t>trafic</a:t>
            </a:r>
            <a:r>
              <a:rPr dirty="0"/>
              <a:t> de communication reseau </a:t>
            </a:r>
            <a:r>
              <a:rPr dirty="0" err="1"/>
              <a:t>extremement</a:t>
            </a:r>
            <a:r>
              <a:rPr dirty="0"/>
              <a:t> </a:t>
            </a:r>
            <a:r>
              <a:rPr dirty="0" err="1"/>
              <a:t>fragmente</a:t>
            </a:r>
            <a:r>
              <a:rPr dirty="0"/>
              <a:t>. Afin de </a:t>
            </a:r>
            <a:r>
              <a:rPr dirty="0" err="1"/>
              <a:t>garantir</a:t>
            </a:r>
            <a:r>
              <a:rPr dirty="0"/>
              <a:t> le debit </a:t>
            </a:r>
            <a:r>
              <a:rPr dirty="0" err="1"/>
              <a:t>dentrainement</a:t>
            </a:r>
            <a:r>
              <a:rPr dirty="0"/>
              <a:t> de bout </a:t>
            </a:r>
            <a:r>
              <a:rPr dirty="0" err="1"/>
              <a:t>en</a:t>
            </a:r>
            <a:r>
              <a:rPr dirty="0"/>
              <a:t> bout, le </a:t>
            </a:r>
            <a:r>
              <a:rPr dirty="0" err="1"/>
              <a:t>systeme</a:t>
            </a:r>
            <a:r>
              <a:rPr dirty="0"/>
              <a:t> doit implementer au </a:t>
            </a:r>
            <a:r>
              <a:rPr dirty="0" err="1"/>
              <a:t>niveau</a:t>
            </a:r>
            <a:r>
              <a:rPr dirty="0"/>
              <a:t> </a:t>
            </a:r>
            <a:r>
              <a:rPr dirty="0" err="1"/>
              <a:t>inferieur</a:t>
            </a:r>
            <a:r>
              <a:rPr dirty="0"/>
              <a:t> un </a:t>
            </a:r>
            <a:r>
              <a:rPr dirty="0" err="1"/>
              <a:t>chevauchement</a:t>
            </a:r>
            <a:r>
              <a:rPr dirty="0"/>
              <a:t> </a:t>
            </a:r>
            <a:r>
              <a:rPr dirty="0" err="1"/>
              <a:t>extrem</a:t>
            </a:r>
            <a:r>
              <a:rPr dirty="0"/>
              <a:t> entre communication et </a:t>
            </a:r>
            <a:r>
              <a:rPr dirty="0" err="1"/>
              <a:t>calcul</a:t>
            </a:r>
            <a:r>
              <a:rPr dirty="0"/>
              <a:t>. Comme le montre le pipeline </a:t>
            </a:r>
            <a:r>
              <a:rPr dirty="0" err="1"/>
              <a:t>dexecution</a:t>
            </a:r>
            <a:r>
              <a:rPr dirty="0"/>
              <a:t> materiel sur la figure, </a:t>
            </a:r>
            <a:r>
              <a:rPr dirty="0" err="1"/>
              <a:t>lordonnanceur</a:t>
            </a:r>
            <a:r>
              <a:rPr dirty="0"/>
              <a:t> du </a:t>
            </a:r>
            <a:r>
              <a:rPr dirty="0" err="1"/>
              <a:t>systeme</a:t>
            </a:r>
            <a:r>
              <a:rPr dirty="0"/>
              <a:t> pre-fetch les </a:t>
            </a:r>
            <a:r>
              <a:rPr lang="en-US" dirty="0"/>
              <a:t>paramètres</a:t>
            </a:r>
            <a:r>
              <a:rPr dirty="0"/>
              <a:t> necessaires pour la couche </a:t>
            </a:r>
            <a:r>
              <a:rPr dirty="0" err="1"/>
              <a:t>suivante</a:t>
            </a:r>
            <a:r>
              <a:rPr dirty="0"/>
              <a:t> ; </a:t>
            </a:r>
            <a:r>
              <a:rPr dirty="0" err="1"/>
              <a:t>lorsque</a:t>
            </a:r>
            <a:r>
              <a:rPr dirty="0"/>
              <a:t> les </a:t>
            </a:r>
            <a:r>
              <a:rPr dirty="0" err="1"/>
              <a:t>noyaux</a:t>
            </a:r>
            <a:r>
              <a:rPr dirty="0"/>
              <a:t> GPU </a:t>
            </a:r>
            <a:r>
              <a:rPr dirty="0" err="1"/>
              <a:t>executent</a:t>
            </a:r>
            <a:r>
              <a:rPr dirty="0"/>
              <a:t> a </a:t>
            </a:r>
            <a:r>
              <a:rPr dirty="0" err="1"/>
              <a:t>pleine</a:t>
            </a:r>
            <a:r>
              <a:rPr dirty="0"/>
              <a:t> </a:t>
            </a:r>
            <a:r>
              <a:rPr dirty="0" err="1"/>
              <a:t>vitesse</a:t>
            </a:r>
            <a:r>
              <a:rPr dirty="0"/>
              <a:t> le </a:t>
            </a:r>
            <a:r>
              <a:rPr dirty="0" err="1"/>
              <a:t>calcul</a:t>
            </a:r>
            <a:r>
              <a:rPr dirty="0"/>
              <a:t> </a:t>
            </a:r>
            <a:r>
              <a:rPr dirty="0" err="1"/>
              <a:t>matriciel</a:t>
            </a:r>
            <a:r>
              <a:rPr dirty="0"/>
              <a:t> de la couche courante, le reseau </a:t>
            </a:r>
            <a:r>
              <a:rPr dirty="0" err="1"/>
              <a:t>dinterconnexion</a:t>
            </a:r>
            <a:r>
              <a:rPr dirty="0"/>
              <a:t> a grande </a:t>
            </a:r>
            <a:r>
              <a:rPr dirty="0" err="1"/>
              <a:t>vitesse</a:t>
            </a:r>
            <a:r>
              <a:rPr dirty="0"/>
              <a:t> du </a:t>
            </a:r>
            <a:r>
              <a:rPr dirty="0" err="1"/>
              <a:t>niveau</a:t>
            </a:r>
            <a:r>
              <a:rPr dirty="0"/>
              <a:t> </a:t>
            </a:r>
            <a:r>
              <a:rPr dirty="0" err="1"/>
              <a:t>inferieur</a:t>
            </a:r>
            <a:r>
              <a:rPr dirty="0"/>
              <a:t> execute </a:t>
            </a:r>
            <a:r>
              <a:rPr dirty="0" err="1"/>
              <a:t>simultanement</a:t>
            </a:r>
            <a:r>
              <a:rPr dirty="0"/>
              <a:t> </a:t>
            </a:r>
            <a:r>
              <a:rPr dirty="0" err="1"/>
              <a:t>loperation</a:t>
            </a:r>
            <a:r>
              <a:rPr dirty="0"/>
              <a:t> de communication all-gather pour les </a:t>
            </a:r>
            <a:r>
              <a:rPr lang="en-US" dirty="0"/>
              <a:t>paramètres</a:t>
            </a:r>
            <a:r>
              <a:rPr dirty="0"/>
              <a:t> de la couche </a:t>
            </a:r>
            <a:r>
              <a:rPr dirty="0" err="1"/>
              <a:t>suivante</a:t>
            </a:r>
            <a:r>
              <a:rPr dirty="0"/>
              <a:t>. </a:t>
            </a:r>
            <a:r>
              <a:rPr dirty="0" err="1"/>
              <a:t>Cest</a:t>
            </a:r>
            <a:r>
              <a:rPr dirty="0"/>
              <a:t> </a:t>
            </a:r>
            <a:r>
              <a:rPr dirty="0" err="1"/>
              <a:t>uniquement</a:t>
            </a:r>
            <a:r>
              <a:rPr dirty="0"/>
              <a:t> grace a </a:t>
            </a:r>
            <a:r>
              <a:rPr dirty="0" err="1"/>
              <a:t>ce</a:t>
            </a:r>
            <a:r>
              <a:rPr dirty="0"/>
              <a:t> </a:t>
            </a:r>
            <a:r>
              <a:rPr dirty="0" err="1"/>
              <a:t>masquage</a:t>
            </a:r>
            <a:r>
              <a:rPr dirty="0"/>
              <a:t> pipeline parfait </a:t>
            </a:r>
            <a:r>
              <a:rPr dirty="0" err="1"/>
              <a:t>realise</a:t>
            </a:r>
            <a:r>
              <a:rPr dirty="0"/>
              <a:t> par cooperation </a:t>
            </a:r>
            <a:r>
              <a:rPr dirty="0" err="1"/>
              <a:t>logiciel</a:t>
            </a:r>
            <a:r>
              <a:rPr dirty="0"/>
              <a:t>-materiel </a:t>
            </a:r>
            <a:r>
              <a:rPr dirty="0" err="1"/>
              <a:t>que</a:t>
            </a:r>
            <a:r>
              <a:rPr dirty="0"/>
              <a:t> </a:t>
            </a:r>
            <a:r>
              <a:rPr dirty="0" err="1"/>
              <a:t>lon</a:t>
            </a:r>
            <a:r>
              <a:rPr dirty="0"/>
              <a:t> </a:t>
            </a:r>
            <a:r>
              <a:rPr dirty="0" err="1"/>
              <a:t>peut</a:t>
            </a:r>
            <a:r>
              <a:rPr dirty="0"/>
              <a:t> </a:t>
            </a:r>
            <a:r>
              <a:rPr dirty="0" err="1"/>
              <a:t>minimiser</a:t>
            </a:r>
            <a:r>
              <a:rPr dirty="0"/>
              <a:t> </a:t>
            </a:r>
            <a:r>
              <a:rPr dirty="0" err="1"/>
              <a:t>limpact</a:t>
            </a:r>
            <a:r>
              <a:rPr dirty="0"/>
              <a:t> du </a:t>
            </a:r>
            <a:r>
              <a:rPr lang="en-US" dirty="0"/>
              <a:t>Coût</a:t>
            </a:r>
            <a:r>
              <a:rPr dirty="0"/>
              <a:t> reseau </a:t>
            </a:r>
            <a:r>
              <a:rPr dirty="0" err="1"/>
              <a:t>induit</a:t>
            </a:r>
            <a:r>
              <a:rPr dirty="0"/>
              <a:t> par le </a:t>
            </a:r>
            <a:r>
              <a:rPr dirty="0" err="1"/>
              <a:t>partitionnement</a:t>
            </a:r>
            <a:r>
              <a:rPr dirty="0"/>
              <a:t> extreme.</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Resumeons</a:t>
            </a:r>
            <a:r>
              <a:rPr dirty="0"/>
              <a:t> </a:t>
            </a:r>
            <a:r>
              <a:rPr dirty="0" err="1"/>
              <a:t>maintenant</a:t>
            </a:r>
            <a:r>
              <a:rPr dirty="0"/>
              <a:t> de </a:t>
            </a:r>
            <a:r>
              <a:rPr dirty="0" err="1"/>
              <a:t>maniere</a:t>
            </a:r>
            <a:r>
              <a:rPr dirty="0"/>
              <a:t> </a:t>
            </a:r>
            <a:r>
              <a:rPr dirty="0" err="1"/>
              <a:t>systematique</a:t>
            </a:r>
            <a:r>
              <a:rPr dirty="0"/>
              <a:t> les </a:t>
            </a:r>
            <a:r>
              <a:rPr dirty="0" err="1"/>
              <a:t>valeurs</a:t>
            </a:r>
            <a:r>
              <a:rPr dirty="0"/>
              <a:t> </a:t>
            </a:r>
            <a:r>
              <a:rPr dirty="0" err="1"/>
              <a:t>theoriques</a:t>
            </a:r>
            <a:r>
              <a:rPr dirty="0"/>
              <a:t> du </a:t>
            </a:r>
            <a:r>
              <a:rPr lang="en-US" dirty="0"/>
              <a:t>Coût</a:t>
            </a:r>
            <a:r>
              <a:rPr dirty="0"/>
              <a:t> de communication de </a:t>
            </a:r>
            <a:r>
              <a:rPr dirty="0" err="1"/>
              <a:t>ces</a:t>
            </a:r>
            <a:r>
              <a:rPr dirty="0"/>
              <a:t> strategies de </a:t>
            </a:r>
            <a:r>
              <a:rPr dirty="0" err="1"/>
              <a:t>parallelisme</a:t>
            </a:r>
            <a:r>
              <a:rPr dirty="0"/>
              <a:t> de </a:t>
            </a:r>
            <a:r>
              <a:rPr lang="en-US" dirty="0"/>
              <a:t>données</a:t>
            </a:r>
            <a:r>
              <a:rPr dirty="0"/>
              <a:t>. Le DDP </a:t>
            </a:r>
            <a:r>
              <a:rPr dirty="0" err="1"/>
              <a:t>traditionnel</a:t>
            </a:r>
            <a:r>
              <a:rPr dirty="0"/>
              <a:t> </a:t>
            </a:r>
            <a:r>
              <a:rPr dirty="0" err="1"/>
              <a:t>ainsi</a:t>
            </a:r>
            <a:r>
              <a:rPr dirty="0"/>
              <a:t> </a:t>
            </a:r>
            <a:r>
              <a:rPr dirty="0" err="1"/>
              <a:t>que</a:t>
            </a:r>
            <a:r>
              <a:rPr dirty="0"/>
              <a:t> les </a:t>
            </a:r>
            <a:r>
              <a:rPr lang="en-US" dirty="0"/>
              <a:t>étape</a:t>
            </a:r>
            <a:r>
              <a:rPr dirty="0"/>
              <a:t>s 1 et 2 de </a:t>
            </a:r>
            <a:r>
              <a:rPr dirty="0" err="1"/>
              <a:t>ZeRO</a:t>
            </a:r>
            <a:r>
              <a:rPr dirty="0"/>
              <a:t> </a:t>
            </a:r>
            <a:r>
              <a:rPr dirty="0" err="1"/>
              <a:t>ont</a:t>
            </a:r>
            <a:r>
              <a:rPr dirty="0"/>
              <a:t> un volume total de communication reseau </a:t>
            </a:r>
            <a:r>
              <a:rPr dirty="0" err="1"/>
              <a:t>identique</a:t>
            </a:r>
            <a:r>
              <a:rPr dirty="0"/>
              <a:t> par iteration, soit deux </a:t>
            </a:r>
            <a:r>
              <a:rPr dirty="0" err="1"/>
              <a:t>fois</a:t>
            </a:r>
            <a:r>
              <a:rPr dirty="0"/>
              <a:t> la taille des </a:t>
            </a:r>
            <a:r>
              <a:rPr lang="en-US" dirty="0"/>
              <a:t>paramètres</a:t>
            </a:r>
            <a:r>
              <a:rPr dirty="0"/>
              <a:t> du </a:t>
            </a:r>
            <a:r>
              <a:rPr dirty="0" err="1"/>
              <a:t>modele</a:t>
            </a:r>
            <a:r>
              <a:rPr dirty="0"/>
              <a:t>. En </a:t>
            </a:r>
            <a:r>
              <a:rPr dirty="0" err="1"/>
              <a:t>dautres</a:t>
            </a:r>
            <a:r>
              <a:rPr dirty="0"/>
              <a:t> </a:t>
            </a:r>
            <a:r>
              <a:rPr dirty="0" err="1"/>
              <a:t>termes</a:t>
            </a:r>
            <a:r>
              <a:rPr dirty="0"/>
              <a:t>, les deux premieres </a:t>
            </a:r>
            <a:r>
              <a:rPr lang="en-US" dirty="0"/>
              <a:t>étape</a:t>
            </a:r>
            <a:r>
              <a:rPr dirty="0"/>
              <a:t>s </a:t>
            </a:r>
            <a:r>
              <a:rPr dirty="0" err="1"/>
              <a:t>permettent</a:t>
            </a:r>
            <a:r>
              <a:rPr dirty="0"/>
              <a:t> </a:t>
            </a:r>
            <a:r>
              <a:rPr dirty="0" err="1"/>
              <a:t>dobtenir</a:t>
            </a:r>
            <a:r>
              <a:rPr dirty="0"/>
              <a:t> </a:t>
            </a:r>
            <a:r>
              <a:rPr dirty="0" err="1"/>
              <a:t>presque</a:t>
            </a:r>
            <a:r>
              <a:rPr dirty="0"/>
              <a:t> </a:t>
            </a:r>
            <a:r>
              <a:rPr dirty="0" err="1"/>
              <a:t>gratuitement</a:t>
            </a:r>
            <a:r>
              <a:rPr dirty="0"/>
              <a:t> </a:t>
            </a:r>
            <a:r>
              <a:rPr dirty="0" err="1"/>
              <a:t>dimportantes</a:t>
            </a:r>
            <a:r>
              <a:rPr dirty="0"/>
              <a:t> economies de memoire video sans </a:t>
            </a:r>
            <a:r>
              <a:rPr dirty="0" err="1"/>
              <a:t>sacrifier</a:t>
            </a:r>
            <a:r>
              <a:rPr dirty="0"/>
              <a:t> les performances du reseau </a:t>
            </a:r>
            <a:r>
              <a:rPr dirty="0" err="1"/>
              <a:t>dinterconnexion</a:t>
            </a:r>
            <a:r>
              <a:rPr dirty="0"/>
              <a:t>. Quant a l</a:t>
            </a:r>
            <a:r>
              <a:rPr lang="en-US" dirty="0"/>
              <a:t>étape</a:t>
            </a:r>
            <a:r>
              <a:rPr dirty="0"/>
              <a:t> 3 de </a:t>
            </a:r>
            <a:r>
              <a:rPr dirty="0" err="1"/>
              <a:t>ZeRO</a:t>
            </a:r>
            <a:r>
              <a:rPr dirty="0"/>
              <a:t>, </a:t>
            </a:r>
            <a:r>
              <a:rPr dirty="0" err="1"/>
              <a:t>en</a:t>
            </a:r>
            <a:r>
              <a:rPr dirty="0"/>
              <a:t> raison de </a:t>
            </a:r>
            <a:r>
              <a:rPr dirty="0" err="1"/>
              <a:t>lassemblage</a:t>
            </a:r>
            <a:r>
              <a:rPr dirty="0"/>
              <a:t> et de la liberation </a:t>
            </a:r>
            <a:r>
              <a:rPr dirty="0" err="1"/>
              <a:t>dynamiques</a:t>
            </a:r>
            <a:r>
              <a:rPr dirty="0"/>
              <a:t> et frequents des </a:t>
            </a:r>
            <a:r>
              <a:rPr lang="en-US" dirty="0"/>
              <a:t>paramètres</a:t>
            </a:r>
            <a:r>
              <a:rPr dirty="0"/>
              <a:t>, le volume total de communication </a:t>
            </a:r>
            <a:r>
              <a:rPr dirty="0" err="1"/>
              <a:t>augmente</a:t>
            </a:r>
            <a:r>
              <a:rPr dirty="0"/>
              <a:t> a trois </a:t>
            </a:r>
            <a:r>
              <a:rPr dirty="0" err="1"/>
              <a:t>fois</a:t>
            </a:r>
            <a:r>
              <a:rPr dirty="0"/>
              <a:t> la taille des </a:t>
            </a:r>
            <a:r>
              <a:rPr lang="en-US" dirty="0"/>
              <a:t>paramètres</a:t>
            </a:r>
            <a:r>
              <a:rPr dirty="0"/>
              <a:t> du </a:t>
            </a:r>
            <a:r>
              <a:rPr dirty="0" err="1"/>
              <a:t>modele</a:t>
            </a:r>
            <a:r>
              <a:rPr dirty="0"/>
              <a:t>, </a:t>
            </a:r>
            <a:r>
              <a:rPr dirty="0" err="1"/>
              <a:t>ce</a:t>
            </a:r>
            <a:r>
              <a:rPr dirty="0"/>
              <a:t> qui </a:t>
            </a:r>
            <a:r>
              <a:rPr lang="en-US" dirty="0"/>
              <a:t>représente</a:t>
            </a:r>
            <a:r>
              <a:rPr dirty="0"/>
              <a:t> </a:t>
            </a:r>
            <a:r>
              <a:rPr dirty="0" err="1"/>
              <a:t>une</a:t>
            </a:r>
            <a:r>
              <a:rPr dirty="0"/>
              <a:t> </a:t>
            </a:r>
            <a:r>
              <a:rPr dirty="0" err="1"/>
              <a:t>strategie</a:t>
            </a:r>
            <a:r>
              <a:rPr dirty="0"/>
              <a:t> </a:t>
            </a:r>
            <a:r>
              <a:rPr dirty="0" err="1"/>
              <a:t>extremement</a:t>
            </a:r>
            <a:r>
              <a:rPr dirty="0"/>
              <a:t> </a:t>
            </a:r>
            <a:r>
              <a:rPr dirty="0" err="1"/>
              <a:t>exigeante</a:t>
            </a:r>
            <a:r>
              <a:rPr dirty="0"/>
              <a:t> pour la </a:t>
            </a:r>
            <a:r>
              <a:rPr dirty="0" err="1"/>
              <a:t>bande</a:t>
            </a:r>
            <a:r>
              <a:rPr dirty="0"/>
              <a:t> </a:t>
            </a:r>
            <a:r>
              <a:rPr dirty="0" err="1"/>
              <a:t>passante</a:t>
            </a:r>
            <a:r>
              <a:rPr dirty="0"/>
              <a:t> physique du reseau du cluster.</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a:t>Arrive a </a:t>
            </a:r>
            <a:r>
              <a:rPr dirty="0" err="1"/>
              <a:t>ce</a:t>
            </a:r>
            <a:r>
              <a:rPr dirty="0"/>
              <a:t> point, nous devons </a:t>
            </a:r>
            <a:r>
              <a:rPr dirty="0" err="1"/>
              <a:t>reexaminer</a:t>
            </a:r>
            <a:r>
              <a:rPr dirty="0"/>
              <a:t> la </a:t>
            </a:r>
            <a:r>
              <a:rPr dirty="0" err="1"/>
              <a:t>formule</a:t>
            </a:r>
            <a:r>
              <a:rPr dirty="0"/>
              <a:t> de composition de la </a:t>
            </a:r>
            <a:r>
              <a:rPr dirty="0" err="1"/>
              <a:t>consommation</a:t>
            </a:r>
            <a:r>
              <a:rPr dirty="0"/>
              <a:t> de memoire physique du GPU sous </a:t>
            </a:r>
            <a:r>
              <a:rPr dirty="0" err="1"/>
              <a:t>langle</a:t>
            </a:r>
            <a:r>
              <a:rPr dirty="0"/>
              <a:t> de </a:t>
            </a:r>
            <a:r>
              <a:rPr dirty="0" err="1"/>
              <a:t>larchitecture</a:t>
            </a:r>
            <a:r>
              <a:rPr dirty="0"/>
              <a:t> </a:t>
            </a:r>
            <a:r>
              <a:rPr dirty="0" err="1"/>
              <a:t>systeme</a:t>
            </a:r>
            <a:r>
              <a:rPr dirty="0"/>
              <a:t>. Outre les </a:t>
            </a:r>
            <a:r>
              <a:rPr lang="en-US" dirty="0"/>
              <a:t>paramètres</a:t>
            </a:r>
            <a:r>
              <a:rPr dirty="0"/>
              <a:t> du </a:t>
            </a:r>
            <a:r>
              <a:rPr dirty="0" err="1"/>
              <a:t>modele</a:t>
            </a:r>
            <a:r>
              <a:rPr dirty="0"/>
              <a:t>, les gradients, la </a:t>
            </a:r>
            <a:r>
              <a:rPr dirty="0" err="1"/>
              <a:t>copie</a:t>
            </a:r>
            <a:r>
              <a:rPr dirty="0"/>
              <a:t> des </a:t>
            </a:r>
            <a:r>
              <a:rPr lang="en-US" dirty="0"/>
              <a:t>Poids maîtres</a:t>
            </a:r>
            <a:r>
              <a:rPr dirty="0"/>
              <a:t> </a:t>
            </a:r>
            <a:r>
              <a:rPr dirty="0" err="1"/>
              <a:t>ainsi</a:t>
            </a:r>
            <a:r>
              <a:rPr dirty="0"/>
              <a:t> </a:t>
            </a:r>
            <a:r>
              <a:rPr dirty="0" err="1"/>
              <a:t>que</a:t>
            </a:r>
            <a:r>
              <a:rPr dirty="0"/>
              <a:t> les </a:t>
            </a:r>
            <a:r>
              <a:rPr lang="en-US" dirty="0"/>
              <a:t>états</a:t>
            </a:r>
            <a:r>
              <a:rPr dirty="0"/>
              <a:t> de momentum et de variance de </a:t>
            </a:r>
            <a:r>
              <a:rPr dirty="0" err="1"/>
              <a:t>loptimiseur</a:t>
            </a:r>
            <a:r>
              <a:rPr dirty="0"/>
              <a:t> </a:t>
            </a:r>
            <a:r>
              <a:rPr dirty="0" err="1"/>
              <a:t>que</a:t>
            </a:r>
            <a:r>
              <a:rPr dirty="0"/>
              <a:t> nous </a:t>
            </a:r>
            <a:r>
              <a:rPr dirty="0" err="1"/>
              <a:t>venons</a:t>
            </a:r>
            <a:r>
              <a:rPr dirty="0"/>
              <a:t> </a:t>
            </a:r>
            <a:r>
              <a:rPr dirty="0" err="1"/>
              <a:t>doptimiser</a:t>
            </a:r>
            <a:r>
              <a:rPr dirty="0"/>
              <a:t> </a:t>
            </a:r>
            <a:r>
              <a:rPr dirty="0" err="1"/>
              <a:t>en</a:t>
            </a:r>
            <a:r>
              <a:rPr dirty="0"/>
              <a:t> </a:t>
            </a:r>
            <a:r>
              <a:rPr dirty="0" err="1"/>
              <a:t>priorite</a:t>
            </a:r>
            <a:r>
              <a:rPr dirty="0"/>
              <a:t>, il </a:t>
            </a:r>
            <a:r>
              <a:rPr dirty="0" err="1"/>
              <a:t>existe</a:t>
            </a:r>
            <a:r>
              <a:rPr dirty="0"/>
              <a:t> dans le </a:t>
            </a:r>
            <a:r>
              <a:rPr dirty="0" err="1"/>
              <a:t>graphe</a:t>
            </a:r>
            <a:r>
              <a:rPr dirty="0"/>
              <a:t> de </a:t>
            </a:r>
            <a:r>
              <a:rPr dirty="0" err="1"/>
              <a:t>calcul</a:t>
            </a:r>
            <a:r>
              <a:rPr dirty="0"/>
              <a:t> reel de </a:t>
            </a:r>
            <a:r>
              <a:rPr dirty="0" err="1"/>
              <a:t>lentrainement</a:t>
            </a:r>
            <a:r>
              <a:rPr dirty="0"/>
              <a:t> </a:t>
            </a:r>
            <a:r>
              <a:rPr dirty="0" err="1"/>
              <a:t>une</a:t>
            </a:r>
            <a:r>
              <a:rPr dirty="0"/>
              <a:t> </a:t>
            </a:r>
            <a:r>
              <a:rPr dirty="0" err="1"/>
              <a:t>autre</a:t>
            </a:r>
            <a:r>
              <a:rPr dirty="0"/>
              <a:t> </a:t>
            </a:r>
            <a:r>
              <a:rPr dirty="0" err="1"/>
              <a:t>tres</a:t>
            </a:r>
            <a:r>
              <a:rPr dirty="0"/>
              <a:t> </a:t>
            </a:r>
            <a:r>
              <a:rPr dirty="0" err="1"/>
              <a:t>importante</a:t>
            </a:r>
            <a:r>
              <a:rPr dirty="0"/>
              <a:t> source de </a:t>
            </a:r>
            <a:r>
              <a:rPr dirty="0" err="1"/>
              <a:t>consommation</a:t>
            </a:r>
            <a:r>
              <a:rPr dirty="0"/>
              <a:t> de memoire video </a:t>
            </a:r>
            <a:r>
              <a:rPr dirty="0" err="1"/>
              <a:t>provenant</a:t>
            </a:r>
            <a:r>
              <a:rPr dirty="0"/>
              <a:t> des </a:t>
            </a:r>
            <a:r>
              <a:rPr lang="en-US" dirty="0"/>
              <a:t>Valeurs d'activation</a:t>
            </a:r>
            <a:r>
              <a:rPr dirty="0"/>
              <a:t> </a:t>
            </a:r>
            <a:r>
              <a:rPr dirty="0" err="1"/>
              <a:t>intermediaires</a:t>
            </a:r>
            <a:r>
              <a:rPr dirty="0"/>
              <a:t> des </a:t>
            </a:r>
            <a:r>
              <a:rPr dirty="0" err="1"/>
              <a:t>operateurs</a:t>
            </a:r>
            <a:r>
              <a:rPr dirty="0"/>
              <a:t> du </a:t>
            </a:r>
            <a:r>
              <a:rPr dirty="0" err="1"/>
              <a:t>modele</a:t>
            </a:r>
            <a:r>
              <a:rPr dirty="0"/>
              <a:t>. </a:t>
            </a:r>
            <a:r>
              <a:rPr dirty="0" err="1"/>
              <a:t>Loccupation</a:t>
            </a:r>
            <a:r>
              <a:rPr dirty="0"/>
              <a:t> memoire des </a:t>
            </a:r>
            <a:r>
              <a:rPr lang="en-US" dirty="0"/>
              <a:t>Valeurs d'activation</a:t>
            </a:r>
            <a:r>
              <a:rPr dirty="0"/>
              <a:t> </a:t>
            </a:r>
            <a:r>
              <a:rPr dirty="0" err="1"/>
              <a:t>croit</a:t>
            </a:r>
            <a:r>
              <a:rPr dirty="0"/>
              <a:t> de </a:t>
            </a:r>
            <a:r>
              <a:rPr dirty="0" err="1"/>
              <a:t>maniere</a:t>
            </a:r>
            <a:r>
              <a:rPr dirty="0"/>
              <a:t> </a:t>
            </a:r>
            <a:r>
              <a:rPr dirty="0" err="1"/>
              <a:t>lineaire</a:t>
            </a:r>
            <a:r>
              <a:rPr dirty="0"/>
              <a:t> avec la taille du batch </a:t>
            </a:r>
            <a:r>
              <a:rPr dirty="0" err="1"/>
              <a:t>definie</a:t>
            </a:r>
            <a:r>
              <a:rPr dirty="0"/>
              <a:t> par le </a:t>
            </a:r>
            <a:r>
              <a:rPr dirty="0" err="1"/>
              <a:t>systeme</a:t>
            </a:r>
            <a:r>
              <a:rPr dirty="0"/>
              <a:t>, </a:t>
            </a:r>
            <a:r>
              <a:rPr dirty="0" err="1"/>
              <a:t>ce</a:t>
            </a:r>
            <a:r>
              <a:rPr dirty="0"/>
              <a:t> qui </a:t>
            </a:r>
            <a:r>
              <a:rPr dirty="0" err="1"/>
              <a:t>explique</a:t>
            </a:r>
            <a:r>
              <a:rPr dirty="0"/>
              <a:t> </a:t>
            </a:r>
            <a:r>
              <a:rPr dirty="0" err="1"/>
              <a:t>pourquoi</a:t>
            </a:r>
            <a:r>
              <a:rPr dirty="0"/>
              <a:t> </a:t>
            </a:r>
            <a:r>
              <a:rPr dirty="0" err="1"/>
              <a:t>loptimisation</a:t>
            </a:r>
            <a:r>
              <a:rPr dirty="0"/>
              <a:t> de la memoire video </a:t>
            </a:r>
            <a:r>
              <a:rPr dirty="0" err="1"/>
              <a:t>reste</a:t>
            </a:r>
            <a:r>
              <a:rPr dirty="0"/>
              <a:t> </a:t>
            </a:r>
            <a:r>
              <a:rPr dirty="0" err="1"/>
              <a:t>toujours</a:t>
            </a:r>
            <a:r>
              <a:rPr dirty="0"/>
              <a:t> un </a:t>
            </a:r>
            <a:r>
              <a:rPr dirty="0" err="1"/>
              <a:t>probleme</a:t>
            </a:r>
            <a:r>
              <a:rPr dirty="0"/>
              <a:t> global </a:t>
            </a:r>
            <a:r>
              <a:rPr dirty="0" err="1"/>
              <a:t>complexe</a:t>
            </a:r>
            <a:r>
              <a:rPr dirty="0"/>
              <a:t> dans la pile </a:t>
            </a:r>
            <a:r>
              <a:rPr dirty="0" err="1"/>
              <a:t>logicielle</a:t>
            </a:r>
            <a:r>
              <a:rPr dirty="0"/>
              <a:t> du </a:t>
            </a:r>
            <a:r>
              <a:rPr dirty="0" err="1"/>
              <a:t>systeme</a:t>
            </a:r>
            <a:r>
              <a:rPr dirty="0"/>
              <a:t>.</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err="1"/>
              <a:t>Résumons</a:t>
            </a:r>
            <a:r>
              <a:rPr dirty="0"/>
              <a:t> le </a:t>
            </a:r>
            <a:r>
              <a:rPr dirty="0" err="1"/>
              <a:t>contenu</a:t>
            </a:r>
            <a:r>
              <a:rPr dirty="0"/>
              <a:t> </a:t>
            </a:r>
            <a:r>
              <a:rPr dirty="0" err="1"/>
              <a:t>essentiel</a:t>
            </a:r>
            <a:r>
              <a:rPr dirty="0"/>
              <a:t> du </a:t>
            </a:r>
            <a:r>
              <a:rPr dirty="0" err="1"/>
              <a:t>cours</a:t>
            </a:r>
            <a:r>
              <a:rPr dirty="0"/>
              <a:t> </a:t>
            </a:r>
            <a:r>
              <a:rPr dirty="0" err="1"/>
              <a:t>d'aujourd'hui</a:t>
            </a:r>
            <a:r>
              <a:rPr dirty="0"/>
              <a:t>. </a:t>
            </a:r>
            <a:r>
              <a:rPr dirty="0" err="1"/>
              <a:t>L'entraînement</a:t>
            </a:r>
            <a:r>
              <a:rPr dirty="0"/>
              <a:t> de grands </a:t>
            </a:r>
            <a:r>
              <a:rPr dirty="0" err="1"/>
              <a:t>modèles</a:t>
            </a:r>
            <a:r>
              <a:rPr dirty="0"/>
              <a:t> </a:t>
            </a:r>
            <a:r>
              <a:rPr dirty="0" err="1"/>
              <a:t>intelligents</a:t>
            </a:r>
            <a:r>
              <a:rPr dirty="0"/>
              <a:t> doit </a:t>
            </a:r>
            <a:r>
              <a:rPr dirty="0" err="1"/>
              <a:t>surmonter</a:t>
            </a:r>
            <a:r>
              <a:rPr dirty="0"/>
              <a:t> la </a:t>
            </a:r>
            <a:r>
              <a:rPr dirty="0" err="1"/>
              <a:t>limite</a:t>
            </a:r>
            <a:r>
              <a:rPr dirty="0"/>
              <a:t> physique de la </a:t>
            </a:r>
            <a:r>
              <a:rPr dirty="0" err="1"/>
              <a:t>mémoire</a:t>
            </a:r>
            <a:r>
              <a:rPr dirty="0"/>
              <a:t> </a:t>
            </a:r>
            <a:r>
              <a:rPr dirty="0" err="1"/>
              <a:t>vidéo</a:t>
            </a:r>
            <a:r>
              <a:rPr dirty="0"/>
              <a:t> d'un seul GPU grâce au </a:t>
            </a:r>
            <a:r>
              <a:rPr dirty="0" err="1"/>
              <a:t>partitionnement</a:t>
            </a:r>
            <a:r>
              <a:rPr dirty="0"/>
              <a:t> des états au </a:t>
            </a:r>
            <a:r>
              <a:rPr dirty="0" err="1"/>
              <a:t>niveau</a:t>
            </a:r>
            <a:r>
              <a:rPr dirty="0"/>
              <a:t> </a:t>
            </a:r>
            <a:r>
              <a:rPr dirty="0" err="1"/>
              <a:t>inférieur</a:t>
            </a:r>
            <a:r>
              <a:rPr dirty="0"/>
              <a:t>. La famille </a:t>
            </a:r>
            <a:r>
              <a:rPr dirty="0" err="1"/>
              <a:t>d'algorithmes</a:t>
            </a:r>
            <a:r>
              <a:rPr dirty="0"/>
              <a:t> </a:t>
            </a:r>
            <a:r>
              <a:rPr dirty="0" err="1"/>
              <a:t>ZeRO</a:t>
            </a:r>
            <a:r>
              <a:rPr dirty="0"/>
              <a:t> et le </a:t>
            </a:r>
            <a:r>
              <a:rPr dirty="0" err="1"/>
              <a:t>mécanisme</a:t>
            </a:r>
            <a:r>
              <a:rPr dirty="0"/>
              <a:t> FSDP, grâce à </a:t>
            </a:r>
            <a:r>
              <a:rPr dirty="0" err="1"/>
              <a:t>une</a:t>
            </a:r>
            <a:r>
              <a:rPr dirty="0"/>
              <a:t> </a:t>
            </a:r>
            <a:r>
              <a:rPr dirty="0" err="1"/>
              <a:t>stratégie</a:t>
            </a:r>
            <a:r>
              <a:rPr dirty="0"/>
              <a:t> élégante de </a:t>
            </a:r>
            <a:r>
              <a:rPr dirty="0" err="1"/>
              <a:t>partitionnement</a:t>
            </a:r>
            <a:r>
              <a:rPr dirty="0"/>
              <a:t> </a:t>
            </a:r>
            <a:r>
              <a:rPr dirty="0" err="1"/>
              <a:t>mémoire</a:t>
            </a:r>
            <a:r>
              <a:rPr dirty="0"/>
              <a:t>, </a:t>
            </a:r>
            <a:r>
              <a:rPr dirty="0" err="1"/>
              <a:t>résolvent</a:t>
            </a:r>
            <a:r>
              <a:rPr dirty="0"/>
              <a:t> de manière </a:t>
            </a:r>
            <a:r>
              <a:rPr dirty="0" err="1"/>
              <a:t>remarquable</a:t>
            </a:r>
            <a:r>
              <a:rPr dirty="0"/>
              <a:t> les </a:t>
            </a:r>
            <a:r>
              <a:rPr dirty="0" err="1"/>
              <a:t>problèmes</a:t>
            </a:r>
            <a:r>
              <a:rPr dirty="0"/>
              <a:t> </a:t>
            </a:r>
            <a:r>
              <a:rPr dirty="0" err="1"/>
              <a:t>systémiques</a:t>
            </a:r>
            <a:r>
              <a:rPr dirty="0"/>
              <a:t> de </a:t>
            </a:r>
            <a:r>
              <a:rPr dirty="0" err="1"/>
              <a:t>capacité</a:t>
            </a:r>
            <a:r>
              <a:rPr dirty="0"/>
              <a:t> des </a:t>
            </a:r>
            <a:r>
              <a:rPr dirty="0" err="1"/>
              <a:t>modèles</a:t>
            </a:r>
            <a:r>
              <a:rPr dirty="0"/>
              <a:t> tout </a:t>
            </a:r>
            <a:r>
              <a:rPr dirty="0" err="1"/>
              <a:t>en</a:t>
            </a:r>
            <a:r>
              <a:rPr dirty="0"/>
              <a:t> </a:t>
            </a:r>
            <a:r>
              <a:rPr dirty="0" err="1"/>
              <a:t>préservant</a:t>
            </a:r>
            <a:r>
              <a:rPr dirty="0"/>
              <a:t> la </a:t>
            </a:r>
            <a:r>
              <a:rPr dirty="0" err="1"/>
              <a:t>simplicité</a:t>
            </a:r>
            <a:r>
              <a:rPr dirty="0"/>
              <a:t> </a:t>
            </a:r>
            <a:r>
              <a:rPr dirty="0" err="1"/>
              <a:t>d'utilisation</a:t>
            </a:r>
            <a:r>
              <a:rPr dirty="0"/>
              <a:t> du </a:t>
            </a:r>
            <a:r>
              <a:rPr dirty="0" err="1"/>
              <a:t>parallélisme</a:t>
            </a:r>
            <a:r>
              <a:rPr dirty="0"/>
              <a:t> des données. </a:t>
            </a:r>
            <a:r>
              <a:rPr dirty="0" err="1"/>
              <a:t>Cependant</a:t>
            </a:r>
            <a:r>
              <a:rPr dirty="0"/>
              <a:t>, face à des </a:t>
            </a:r>
            <a:r>
              <a:rPr dirty="0" err="1"/>
              <a:t>modèles</a:t>
            </a:r>
            <a:r>
              <a:rPr dirty="0"/>
              <a:t> ultra-grands de </a:t>
            </a:r>
            <a:r>
              <a:rPr dirty="0" err="1"/>
              <a:t>centaines</a:t>
            </a:r>
            <a:r>
              <a:rPr dirty="0"/>
              <a:t> de milliards de </a:t>
            </a:r>
            <a:r>
              <a:rPr dirty="0" err="1"/>
              <a:t>paramètres</a:t>
            </a:r>
            <a:r>
              <a:rPr dirty="0"/>
              <a:t>, </a:t>
            </a:r>
            <a:r>
              <a:rPr dirty="0" err="1"/>
              <a:t>même</a:t>
            </a:r>
            <a:r>
              <a:rPr dirty="0"/>
              <a:t> la communication au </a:t>
            </a:r>
            <a:r>
              <a:rPr dirty="0" err="1"/>
              <a:t>niveau</a:t>
            </a:r>
            <a:r>
              <a:rPr dirty="0"/>
              <a:t> pipeline de FSDP </a:t>
            </a:r>
            <a:r>
              <a:rPr dirty="0" err="1"/>
              <a:t>sature</a:t>
            </a:r>
            <a:r>
              <a:rPr dirty="0"/>
              <a:t> </a:t>
            </a:r>
            <a:r>
              <a:rPr dirty="0" err="1"/>
              <a:t>complètement</a:t>
            </a:r>
            <a:r>
              <a:rPr dirty="0"/>
              <a:t> la </a:t>
            </a:r>
            <a:r>
              <a:rPr dirty="0" err="1"/>
              <a:t>bande</a:t>
            </a:r>
            <a:r>
              <a:rPr dirty="0"/>
              <a:t> </a:t>
            </a:r>
            <a:r>
              <a:rPr dirty="0" err="1"/>
              <a:t>passante</a:t>
            </a:r>
            <a:r>
              <a:rPr dirty="0"/>
              <a:t> réseau du cluster. Cela nous oblige à </a:t>
            </a:r>
            <a:r>
              <a:rPr dirty="0" err="1"/>
              <a:t>effectuer</a:t>
            </a:r>
            <a:r>
              <a:rPr dirty="0"/>
              <a:t> un </a:t>
            </a:r>
            <a:r>
              <a:rPr dirty="0" err="1"/>
              <a:t>partitionnement</a:t>
            </a:r>
            <a:r>
              <a:rPr dirty="0"/>
              <a:t> physique des </a:t>
            </a:r>
            <a:r>
              <a:rPr dirty="0" err="1"/>
              <a:t>opérations</a:t>
            </a:r>
            <a:r>
              <a:rPr dirty="0"/>
              <a:t> </a:t>
            </a:r>
            <a:r>
              <a:rPr dirty="0" err="1"/>
              <a:t>matricielles</a:t>
            </a:r>
            <a:r>
              <a:rPr dirty="0"/>
              <a:t> au </a:t>
            </a:r>
            <a:r>
              <a:rPr dirty="0" err="1"/>
              <a:t>niveau</a:t>
            </a:r>
            <a:r>
              <a:rPr dirty="0"/>
              <a:t> des </a:t>
            </a:r>
            <a:r>
              <a:rPr dirty="0" err="1"/>
              <a:t>opérateurs</a:t>
            </a:r>
            <a:r>
              <a:rPr dirty="0"/>
              <a:t> - </a:t>
            </a:r>
            <a:r>
              <a:rPr dirty="0" err="1"/>
              <a:t>c'est</a:t>
            </a:r>
            <a:r>
              <a:rPr dirty="0"/>
              <a:t> </a:t>
            </a:r>
            <a:r>
              <a:rPr dirty="0" err="1"/>
              <a:t>l'architecture</a:t>
            </a:r>
            <a:r>
              <a:rPr dirty="0"/>
              <a:t> de </a:t>
            </a:r>
            <a:r>
              <a:rPr dirty="0" err="1"/>
              <a:t>parallélisme</a:t>
            </a:r>
            <a:r>
              <a:rPr dirty="0"/>
              <a:t> </a:t>
            </a:r>
            <a:r>
              <a:rPr dirty="0" err="1"/>
              <a:t>tensoriel</a:t>
            </a:r>
            <a:r>
              <a:rPr dirty="0"/>
              <a:t> </a:t>
            </a:r>
            <a:r>
              <a:rPr dirty="0" err="1"/>
              <a:t>que</a:t>
            </a:r>
            <a:r>
              <a:rPr dirty="0"/>
              <a:t> nous </a:t>
            </a:r>
            <a:r>
              <a:rPr dirty="0" err="1"/>
              <a:t>explorerons</a:t>
            </a:r>
            <a:r>
              <a:rPr dirty="0"/>
              <a:t> </a:t>
            </a:r>
            <a:r>
              <a:rPr dirty="0" err="1"/>
              <a:t>en</a:t>
            </a:r>
            <a:r>
              <a:rPr dirty="0"/>
              <a:t> </a:t>
            </a:r>
            <a:r>
              <a:rPr dirty="0" err="1"/>
              <a:t>profondeur</a:t>
            </a:r>
            <a:r>
              <a:rPr dirty="0"/>
              <a:t> au prochain </a:t>
            </a:r>
            <a:r>
              <a:rPr dirty="0" err="1"/>
              <a:t>cours</a:t>
            </a:r>
            <a:r>
              <a:rPr dirty="0"/>
              <a:t>.</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Cliquez ici pour ajouter du texte. Ce cours est la vingt-neuvième séance, consacrée à la première partie du parallélisme de modèle. Nous discuterons et décomposerons en détail la technique du parallélisme tensoriel, également connue sous le nom de TP dans la pratique de l'ingénierie.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Ce cours se divise principalement en trois parties. Tout d'abord, nous reviendrons sur les limites du parallélisme de données, pour comprendre pourquoi il est nécessaire d'introduire une nouvelle dimension de parallélisme. Ensuite, nous détaillerons les principes mathématiques fondamentaux et les mécanismes de communication de bas niveau du parallélisme tensoriel. Enfin, nous introduirons la technique du parallélisme de séquence, née pour remédier aux limites du parallélisme tensoriel.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Revenons sur l'architecture du parallélisme de données que nous avons apprise précédemment. Dans le parallélisme de données, lorsque le nombre de machines approche ou dépasse la taille de lot, les coûts de communication réseau inter-nœuds augmentent considérablement. Comme le montre la courbe de vitesse d'entraînement prévue sur le graphique, les gains de débit système obtenus en augmentant simplement la taille de lot sont soumis à une loi des rendements décroissants sérieuse. Cela soulève le problème laissé en suspens par le mode de parallélisme de données pur, à savoir le goulot d'étranglement de l'extension du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Outre la faible efficacité de l'extension du calcul, le parallélisme de données fait face à un problème fatal : l'impossibilité de charger le modèle dans la mémoire d'une seule carte. Bien que ZeRO-1 et ZeRO-2 existent, ils segmentent principalement les états de l'optimiseur et les gradients, incapable d'étendre la mémoire pour charger des paramètres de modèle plus importants. ZeRO-3, bien que résolvant théoriquement la segmentation globale des paramètres, peut ralentir l'entraînement en raison de communications fréquentes de collecte de paramètres, et ne peut toujours pas réduire l'énorme occupation mémoire d'activation lors de la propagation avant. Il faut savoir que la taille de la mémoire d'activation est proportionnelle à la longueur de séquence multipliée par la dimension de couche cachée multipliée par le nombre de couches multiplié par la taille de lot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Lorsque la mémoire est complètement insuffisante, le système d'entraînement subit directement un dépassement de mémoire et un crash. Cela nous oblige à chercher au niveau système de meilleures méthodes de segmentation de modèle. Comme le montre la figure, nous devons sortir de la segmentation pure selon la dimension des échantillons de données et commencer à essayer des segmentations de parallélisme de modèle selon différents axes tensoriels.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d'approfondir l'implémentation du système de parallélisme tensoriel, nous devons clarifier où se trouve la grande majorité des paramètres des grands modèles de langage. En analysant l'architecture Transformer, nous savons que la plupart des paramètres sont situés dans les couches de projection linéaire, comme les matrices de requête, clé et valeur dans la couche d'auto-attention ainsi que les matrices de projection de sortie, ainsi que les matrices de projection ascendantes et descendantes dans les couches de perceptron multicouche. Ces opérations de projection de haute dimension, au niveau des opérateurs matériels basiques, sont essentiellement des multiplications matricielles denses et généralisées, communément appelées opérateurs GEMM.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Puisque la charge de calcul est fortement concentrée dans les multiplications matricielles, il existe deux approches fondamentales pour distribuer l'opérateur GEMM sur différents matériels GPU pour une exécution collaborative. La première est le découpage par colonnes, où nous coupons horizontalement la matrice de poids et la distribuons à deux cartes pour un calcul parallèle. Après avoir obtenu les tranches de sortie partielles, nous devons finalement assembler les résultats via une primitive de collecte globale, c'est-à-dire AllGather. La seconde est le découpage par lignes, où les caractéristiques d'entrée sont découpées par colonnes et la matrice de poids par lignes. Chaque carte calcule une somme partielle, et finalement, nous devons appeler une primitive de communication de réduction globale, AllReduce, pour synchroniser et sommer afin d'obtenir le résultat complet correct.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En combinant la logique algorithmique, nous déconstruisons le module de perceptron multicouche, c'est-à-dire le module MLP. Un module MLP standard de grand modèle est composé d'une couche d'expansion linéaire, d'une fonction d'activation non linéaire telle que GeLU, d'une projection linéaire vers la dimension cachée et d'une couche de Dropout pour la régularisation. En termes d'algèbre linéaire simplifiée, la sortie intermédiaire Y égale les caractéristiques d'entrée multipliées par la matrice A, puis passées par la fonction d'activation. La sortie finale Z égale Y multiplié par la matrice B, suivie d'une opération Dropout.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Dans la formule précédente, si nous découpons la matrice A par lignes à la première étape, comme une seule carte n'obtient qu'une somme partielle, nous sommes obligés d'effectuer une synchronisation inter-cartes avant d'envoyer les données à la fonction d'activation. Puisque la fonction d'activation non linéaire est une opération élément par élément, une stratégie plus adaptée au matériel est de découper la matrice A par colonnes. Ainsi, chaque GPU peut calculer indépendamment sa tranche de sortie et l'envoyer directement à la fonction d'activation, éliminant parfaitement au niveau système une communication de synchronisation coûteuse.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Après avoir découpé la matrice A par colonnes, nous obtenons naturellement la matrice de caractéristiques intermédiaires Y découpée par colonnes. À ce moment, un design ingénieux de l'ingénierie système entre en jeu : nous découpons ensuite la matrice B de la deuxième étape par lignes. Puisque les valeurs activées Y sont découpées par colonnes et que les poids B sont découpés par lignes, cela correspond parfaitement à la règle de multiplication matricielle par blocs. Les deux cartes de calcul peuvent ainsi calculer en parallèle leur somme partielle respective, sans aucune communication de synchronisation.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Examinons le flux de données global et le graphique des opérateurs dans le moteur sous-jacent. Nous distribuons les matrices par colonnes et par lignes sur différents matériels GPU. Dans le pipeline de propagation avant, le f à gauche du graphique représente un opérateur identité, c'est-à-dire une copie sans communication, tandis que le g à droite représente l'exécution d'une synchronisation et sommation inter-cartes via All-Reduce. Lors du calcul des gradients en propagation arrière, selon la règle de chaîne du calcul matriciel, la logique de communication est transposée : l'opération identité du sens direct devient une réduction All-Reduce dans le sens inverse, tandis que la synchronisation g du sens direct devient une opération identité directe dans le sens inverse.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subtilite de cette partition par colonne suivie d une partition par ligne reside dans le fait qu elle permet de realiser une partition entrelacee, minimisant ainsi au maximum la pression sur la bande passante de communication reseau. En comparant le graphe de flux d operateurs sans tensor parallel et celui integrant le tensor parallel, la synchronisation intermediaire autrement indispensable entre deux couches de calcul est directement evitee. Les deux grands operateurs lineaires successifs sont enfermes dans un domaine de communication logique unique, et l ensemble du module MLP massif ne necessite finalement qu une seule operation de communication All-Reduce a la fin.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Cette philosophie de conception combinant fusion et partition au niveau des operateurs peut etre transposee telle quelle a l implementation du tensor parallel dans le moteur d auto-attention. Nous continuons a utiliser une partition entrelacee pour minimiser les couts de communication. Concretement, cela consiste a decouper orthogonalement les tetes multiples d auto-attention, a partitionner par colonnes les poids des requetes, cles et valeurs sur differents GPU, puis a partitionner par lignes les poids de l operateur de projection de sortie final. Cela permet egalement de contourner parfaitement les points de synchronisation intermediaires, ameliorant considerablement l utilisation du materiel.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Tensor Parallel necessitant l insertion d operateurs All-Reduce entierement connectes a l interieur de chaque couche des graphes de propagation avant et arriere, sa densite de communication reseau est extremement elevee. Par consequent, lors du deploiement sur des clusters physiques reels, en raison de l existence de canaux d interconnexion haute vitesse comme NVLink, le Tensor Parallel est generalement limite a l interieur d un noeud de calcul unique, s etendant au maximum a un domaine haute vitesse compose de huit GPU. Une fois franchies les limites du noeud, les reseaux bas debit provoquent une chute avalancheuse du debit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Bien que la logique de partitionnement du Tensor Parallel soit remarquablement ingenieuse, elle presente des limites systemiques significatives dans les entrainements a tres grande echelle. Elle ne partitionne que les operations de multiplication matricielle GEMM qui representent la densite de calcul absolue. En revanche, les operateurs a forte intensite memoire comme la normalisation LayerNorm et Dropout restent entierement repliques sur chaque noeud GPU. Le plus critique est que le cout complet de la memoire d activation, c est-a-dire l enorme tenseur de taille batch_size multiplie par la longueur de sequence multiplie par la dimension cachee, reste integralement et redondamment present dans chaque partition de Tensor Parallel, constituant ainsi un mur physique de memoire video infranchissable pour l entrainement de grands modeles a longue sequence.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 resoudre definitivement le desastre de la memoire d activation redondante cause par le Tensor Parallel, les architectes systeme ont introduit un tout nouveau mecanisme de Sequence Parallel. L idee centrale du Sequence Parallel consiste a partitionner physiquement, le long de la dimension de la longue sequence, les operations autres que les multiplications matricielles. Cela permet non seulement d eliminer la consommation redondante de puissance de calcul, mais aussi de repartir parfaitement l enorme occupation de memoire d activation sur les differents materiels GPU. Cette technique, combinee de maniere orthogonale avec le Tensor Parallel, constitue aujourd hui la pierre angulaire de l optimisation des communications et de la memoire dans l entrainement des grands modeles.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leçon couvre principalement les parties suivantes.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Tout d'abord, nous présenterons brièvement le parallélisme de pipeline. Ensuite, nous aborderons les stratégies d'optimisation du parallélisme de pipeline, y compris la planification classique avant et arrière et le mécanisme de planification 1F1B. Enfin, nous explorerons certaines techniques avancées de parallélisme de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comprendre le parallélisme de pipeline, examinons d'abord le contexte de l'extension inter-nœuds. Le parallélisme de tenseurs que nous avons appris précédemment, bien qu'efficace en calcul, nécessite mathématiquement des opérations de communication agrégée synchronisées, il ne convient donc pas à l'extension inter-nœuds. La latence d'Ethernet ou d'Infiniband peut sérieusement limiter le taux d'utilisation des GPU. Pour étendre les grands modèles de langage profonds sur plusieurs nœuds physiques, le système doit effectuer un découpage vertical du modèle. C'est là que le parallélisme de pipeline intervient, en affectant des blocs de couches réseau consécutifs à différents nœuds physiques pour exécution.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l'approche concrète du parallélisme de pipeline. Le parallélisme par couches signifie découper l'ensemble des couches du réseau et affecter différents sous-ensembles de couches à plusieurs GPU pour le calcul, en supposant ici une division en K étapes. Dans ce processus, les activations du calcul avant et les gradients partiels du calcul arrière transitent séquentiellement entre les différentes étapes du pipeline. Si l'on utilise directement un parallélisme de pipeline naïf, cela entraîne de sérieux goulots d'étranglement d'efficacité. Avec n GPU, le temps d'activité de chaque GPU est très faible. On peut voir intuitivement sur la chronologie que chaque GPU passe la plupart du temps en état d'inactivité, attendant patiemment la rétropropagation des gradients. Ces bulles de pipeline dues aux dépendances de planification gaspillent considérablement la précieuse puissance de calcul matérielle.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Du point de vue du mode de communication, le parallélisme de pipeline comporte principalement deux types de communication point à point entre les nœuds GPU. Premièrement, lors de la propagation avant, transmettre les activations avant à l'étape suivante. Deuxièmement, lors de la rétropropagation, transmettre les gradients d'activation à l'étape précédente. Comme seuls les tenseurs des couches frontières sont transmis, le volume global de communication est beaucoup plus faible que pour le parallélisme de tenseurs.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Revenons à la chronologie d'exécution du pipeline. Comme l'exécution naïve entraîne une importante inactivité des ressources, nous devons réfléchir à comment rendre les GPU véritablement actifs. La clé de la solution réside dans l'introduction de la technique de division des lots, c'est-à-dire décomposer les grandes tâches globales en tâches plus fines pour entrer dans le pipeline, réduisant ainsi le temps d'attente global du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L'architecture GPipe proposée par Google adopte cette idée centrale. Elle divise davantage le mini-lot global en M micro-lots encore plus petits. Ainsi, le pipeline peut fonctionner avec un chevauchement plus étroit. Pour maximiser le débit de calcul du matériel, nous devons généralement augmenter la taille du lot global afin d'accueillir autant de micro-lots que possible dans l'ensemble de la planification du pipeline, amortissant ainsi efficacement le coût des bulles. On peut voir sur ce graphique de données expérimentales qu'en modifiant le nombre et la taille des micro-lots, le débit global du parallélisme de pipeline est significativement affecté. Plus la taille des lots est grande, plus les GPU peuvent maintenir un taux de saturation de calcul élevé, et les pics de calcul en virgule flottante du matériel sont plus pleinement utilisés.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Ensuite, examinons l'évolution de l'optimisation de l'ordonnancement du pipeline. Microsoft a proposé la célèbre stratégie d'ordonnancement 1F1B dans le système PipeDream. Son concept central est qu'après la phase initiale de préchauffage, les nœuds GPU commencent à exécuter de manière strictement alternée la logique de calcul. Concrètement, après avoir calculé une propagation avant, on exécute immédiatement une propagation arrière. Cette conception ingénieuse privilégiant l'exécution de la propagation arrière vise essentiellement à modifier le cycle de vie des données en cache.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Pourquoi libérer la mémoire vidéo le plus tôt possible via 1F1B ? Cela découle de la grave crise de mémoire vidéo à laquelle fait face l'architecture GPipe. GPipe est un mécanisme d'ordonnancement strictement synchrone, ce qui signifie que toutes les M propagations avant doivent être entièrement exécutées avant que toute propagation arrière ne commence. Comme le calcul de la propagation arrière doit dépendre des activations intermédiaires, chaque étape physique du pipeline doit simultanément mettre en cache les données d'activations imporantes de tous les M micro-lots. Avec l'augmentation de M, la consommation de mémoire vidéo des activations croît linéairement, ce qui peut rapidement déclencher des erreurs de débordement de mémoire dans les réseaux profonds.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mécanisme d'ordonnancement 1F1B résout ce problème avec une élégance extrême. 1F1B déclenche les opérations de propagation arrière le plus tôt possible dans la logique mathématique. Cela permet aux grandes quantités d'activations préalablement en cache d'être immédiatement libérées de la mémoire vidéo après avoir été utilisées pour le calcul du gradient à l'étape actuelle. Dans ce mécanisme, la valeur maximale d'activations en transit que tout GPU physique doit stocker est strictement limitée par la profondeur K du pipeline, et non par le nombre de micro-lots M. Cette conception découple avec succès la mémoire vidéo de crête du nombre de micro-lots, nous permettant d'étendre indéfiniment le nombre de micro-lots dans les limites de la mémoire vidéo disponible.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graphique comparatif du temps d'exécution réarrangé montre que, bien que 1F1B optimise considérablement le cycle de vie de la mémoire vidéo du système, la proportion totale de bulles du début à la fin du pipeline persiste. La ligne rouge sur le graphique indique le chemin critique d'exécution, ce qui signifie que le simple fait de changer l'ordre d'alternance des tâches avant et arrière ne comprime pas fondamentalement le temps total d'attente inoccupé mathématiquement.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Cela met en évidence les limites du système d'ordonnancement 1F1B standard. Pour obtenir un taux de bulles extrêmement bas, le nombre de micro-lots doit être défini à une valeur très importante. Mais la taille de lot globale est strictement contrainte mathématiquement par les limites de convergence de l'optimiseur du modèle, elle ne peut pas être étendue sans limite. Si la taille de lot globale est fixe, forcer l'augmentation du nombre de micro-lots entraînerait la réduction de la taille d'un micro-lot individuel à une valeur minimale. Une telle charge de calcul réduite ne peut pas saturer les cœurs de tenseurs intégrés des GPU modernes, ce qui détruirait gravement la densité de calcul du matériel. Par conséquent, le logiciel au niveau système a besoin d'une toute nouvelle stratégie d'ordonnancement pour comprimer davantage les bulles.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surmonter le goulot d'étranglement du système, le framework parallèle Megatron a introduit une stratégie 1F1B interlacée très ingénieuse. Dans le mode traditionnel, un micro-lot de modèle ne passe qu'une seule fois par deux GPU logiques. Mais dans la conception interlacée, le même micro-lot passe maintenant par chaque GPU deux fois. Grâce à cette logique de mappage de couches pliée, le GPU physique peut maintenir une intensité de calcul élevée, comme si le système planifiait simultanément deux lots indépendants avec la même efficacité.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Du point de vue de l'implémentation concrète, le système du compilateur divisera le modèle original en plus d'étapes virtuelles, garantissant que chaque GPU physique se voit assigner plusieurs étapes virtuelles non contiguës. Par exemple, dans le graphique, le GPU n°1 est simultanément assigné à l'étape virtuelle 1 située à l'avant et à l'étape virtuelle 5 située à l'arrière. Cette stratégie d'augmenter la fréquence de communication pour obtenir un meilleur taux de chevauchement de calcul permet de comprimer considérablement les bulles inoccupées du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graphique d'exécution complexe présente le chemin d'ordonnancement de bas niveau du 1F1B interlacé. Chaque périphérique physique effectue une logique de calcul entrelacée à haute vitesse entre les micro-lots virtuels multipliés. Les blocs bleu foncé représentent le flux avant, le vert clair représente le flux arrière. Bien que la complexité du flux de contrôle du système augmente considérablement, on peut voir visuellement que la zone de bulles inoccupées grise à la fin est visiblement réduite.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diagramme d'exécution complexe présente intégralement le chemin d'ordonnancement de bas niveau du 1F1B entrelacé. Chaque appareil physique effectue une logique de calcul entrelacé à haute vitesse entre les micro-lots virtuels multipliés. Les blocs bleu foncé représentent le flux avant, les blocs vert clair représentent le flux arrière. Bien que la complexité du flux de contrôle système ait fortement augmenté, on peut observer visuellement que la zone de bulles d'inactivité grise à la fin a été réduite de manière visible.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les environnements d'ingénierie réels, la bibliothèque centrale Megatron recommande déjà par défaut aux développeurs d'utiliser l'ordonnancement 1F1B entrelacé. En général, les ingénieurs système définissent de manière empirique le paramètre du nombre de couches réseau par étape de pipeline virtuel à deux ou quatre. Vous pouvez observer les extraits de code sur l'écran et activer facilement cette optimisation système avancée complexe en passant les paramètres de ligne de commande correspondants au framework.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recherche de performances extrêmes par le monde académique et l'industrie ne s'est jamais arrêtée. Lors d'une conférence académique internationale récente, l'architecture centrale du pipeline à bulles nulles a été officiellement proposée. Son idée principale brise les limitations de la boîte noire des compilateurs traditionnels, en décomposant les opérateurs macroscopiques traditionnels au niveau IR en deux nœuds indépendants : calculs bloquants et calculs non bloquants. Par exemple, le calcul du gradient des poids est extrait et exécuté ultérieurement comme opération non bloquante, permettant au moteur d'ordonnancement du pipeline d'obtenir une flexibilité d'orchestration sans précédent.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 de la génération du diagramme d'ordonnancement à bulles nulles, pour les clusters d'appareils de petite taille, le système utilise généralement des algorithmes précis de programmation linéaire en nombres entiers pour trouver une solution optimale entre le niveau de sécurité de la mémoire vidéo et le temps d'exécution de bout en bout. Face aux clusters à très grande échelle, des algorithmes heuristiques efficaces sont utilisés pour une résolution rapide. Les données expérimentales montrent que ce paradigme a moins de communications sur le bus que l'architecture entrelacée, mais le taux de bulles extrait est équivalent ou proche de zéro, ce qui en fait une solution logicielle système de nouvelle génération avec un potentiel commercial extrême.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Outre l'ordonnancement à bulles nulles, le framework sous-jacent DeepSeek récemment open-source a également démontré une architecture de parallélisme de pipeline bidirectionnelle impressionnante. Grâce à une stratégie de découpage complètement symétrique, les appareils de calcul hétérogènes peuvent simultanément traiter les tâches de calcul des couches de réseau dans les deux directions physiques. Bien que cela entraîne inévitablement un coût supplémentaire de mémoire résidente double pour les paramètres du modèle, un taux d'utilisation floating-point extrêmement élevé est obtenu grâce à un mécanisme de chevauchement temporel extrême collaboratif logiciel-matériel.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tableau est une vue panoramique très approfondie de l'évolution des logiciels système, comparant systématiquement toutes les implémentations principales de parallélisme de pipeline avancé dans l'industrie. Des conceptions naïves des débuts aux solutions de niveau production de Megatron, jusqu'aux nouveaux venus à bulles nulles recherchant une exploitation extrême de la puissance de calcul. Les dimensions clés pour évaluer la qualité d'un système distribué restent ces indicateurs système classiques : le taux d'inactivité des bulles, la correction de convergence numérique, le niveau élevé de mémoire vidéo pour les poids et les valeurs d'activation, et l'introduction ou non de calculs redondants. Assurez-vous de bien déduire l'essence mathématique derrière ce tableau après le cours.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 Aujourd'hui, nous entamons la Lecture 31, consacrée aux primitives de communication. Les primitives de communication jouent un rôle crucial dans les systèmes de calcul IA actuels, constituant le fondement de la transmission efficace et du traitement des données. Comprendre les primitives de communication nous aide à mieux maîtriser les mécanismes de fonctionnement des systèmes de calcul IA. Ensuite, je vous présenterai en détail le contenu lié aux primitives de communication. Commençons notre voyage d'apprentissage d'aujourd'hui.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loi d'échelle des grands modèles de langage, également connue sous le nom de scaling law, révèle la relation entre la performance du modèle et la quantité de calcul, la taille des données et le nombre de paramètres. Cette loi indique qu'avec l'augmentation de ces trois facteurs, la performance du modèle croît de manière prévisible selon une fonction de loi de puissance. Cela signifie que nous pouvons améliorer la performance du modèle en augmentant la quantité de calcul, en élargissant la taille des données et en augmentant le nombre de paramètres. Cette découverte fournit une base théorique importante pour le développement des grands modèles de langage. Dans les applications pratiques, nous pouvons optimiser les modèles de manière ciblée selon la loi d'échelle, afin d'améliorer plus efficacement la performance des modèles. Les deux articles dans les références fournissent également davantage de perspectives et d'idées pour approfondir cette loi.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Au niveau matériel, les systèmes de calcul IA sont en constante expansion. Les produits de super-nœuds utilisant l'interconnexion Scale-up font leur apparition sur le marché. L'émergence de produits comme NVL72, NVL576, AMD Helios et Huawei CloudMatrix384 illustre cette tendance de développement. Leur apparition enrichit non seulement le paysage du marché des produits de super-nœuds, mais offre également davantage de possibilités pour l'extension des systèmes de calcul IA, faisant progresser l'ensemble de l'industrie.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Mapper un LLM sur plusieurs GPU ou NPU est une stratégie clé pour répondre aux besoins de calcul des grands modèles de langage, et le parallélisme multidimensionnel est un moyen efficace de réaliser ce mappage. Plus précisément, cela comprend le parallélisme de données, le parallélisme de pipeline, le parallélisme d'experts, le parallélisme de tenseurs et le parallélisme de séquence. Le parallélisme de données permet à différentes cartes de calcul de traiter simultanément différentes copies de données ; le parallélisme de pipeline divise les tâches de calcul par étapes, comme les différents blocs transformer dans un LLM ; le parallélisme d'experts permet à différents modules d'experts de traiter différentes tâches ; le parallélisme de tenseurs permet le traitement parallèle des opérations sur les tenseurs ; le parallélisme de séquence divise les données de séquences longues et les distribue sur plusieurs cartes. Ces méthodes de parallélisme ont chacune leurs avantages et leur combinaison permet d'améliorer l'efficacité de calcul, favorisant l'efficacité de l'entraînement et de l'inférence des grands modèles de langage.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chemins de transfert de données dans les systèmes de calcul AI comportent deux modes principaux. Le mode Scale-up utilise NVLINK, HCCS et Unified Bus, tandis que le mode Scale-out utilise InfiniBand (IB) et RoCE. Ces deux modes présentent chacun leurs avantages et s'adaptent à différents scénarios de calcul. Au sein d'un nœud, en prenant les GPU comme exemple, la communication inter-GPU s'effectue principalement via NVLINK ou PCIe, garantissant un transfert de données efficace au sein du nœud et fournissant un soutien important au calcul. Entre les nœuds, la communication via RDMA NIC (IB) permet de réduire efficacement la latence de communication et d'améliorer la stabilité et la vitesse de transfert des données. Comprendre ces chemins de transfert de données nous aide à mieux optimiser les systèmes de calcul IA et à améliorer l'efficacité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modes de communication se divisent principalement en communication collective et communication point à point. La communication collective ne se limite pas à deux processus, mais implique un groupe de processus. Par exemple, AllReduce (réduction globale) permet d'exécuter des opérations de réduction sur plusieurs appareils et de stocker le résultat dans le processus racine spécifié ; AllGather (collecte globale) permet de collecter des valeurs de plusieurs processus vers le processus racine ; Broadcast (diffusion) copie le contenu du tampon du processus racine vers tous les processus. La communication point à point comprend Send/Recv (communication bilatérale), c'est-à-dire la transmission de données bidirectionnelle entre processus, et Put/Get (communication unilatérale), qui permet à un processus d'accéder directement aux données d'un autre processus. Différents modes de communication ont leurs propres caractéristiques et s'adaptent à différents scénarios d'application.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diffusion est une opération importante dans la communication collective. Son opération spécifique consiste à copier le tampon de N éléments d'un processus racine spécifique, ici Rank 2, vers tous les processus, c'est-à-dire de Rank 0 à Rank 3. Cela signifie que les données du processus racine sont largement diffusées, permettant à tous les processus d'obtenir les mêmes informations. L'opération de diffusion est très importante dans les systèmes distribués, elle permet de garantir la cohérence des données entre les différents processus, permettant à chaque partie du système de baser ses calculs et traitements ultérieurs sur les mêmes données, améliorant ainsi l'efficacité et la précision de l'ensemble du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 reduction joue un role cle dans les systemes de calcul IA. Elle permet d'executer des operations de reduction sur les donnees entre appareils, comme calculer la somme, le minimum ou le maximum. Grace a cette operation, les donnees dispersees sur differents appareils peuvent etre consolidees et traitees. Concretement, le resultat de la reduction est stocke dans le tampon de reception du processus racine specifie. Cela signifie que l'operation de reduction permet une integration efficace des donnees entre differents appareils, fournissant des donnees plus concentrees et utiles pour les analyses et traitements ulterieurs, ameliorant ainsi l'efficacite et les performances de l'ensemble du systeme de calcul 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 collecte est tres importante dans la communication des systemes de calcul IA. Son operation specifique consiste a collecter N valeurs a partir de k processus, puis a les aggreger dans un tampon de sortie de taille k x N sur le processus racine. C'est comme une grande reunion d'informations : chaque processus agit comme une source d'information, contribuant ses propres donnees, formant finalement un ensemble complet d'informations au niveau du processus racine.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 distribution est l'operation duale de l'operation de collecte. Son operation principale consiste a distribuer un total de N x k valeurs du processus racine vers k processus, chaque processus recevant N valeurs. C'est comme un centre d'information qui distribue precisement les informations consolidees aux differentes branches. L'operation de distribution peut efficacement disperser les donnees du processus racine uniformement vers plusieurs processus, permettant a chaque processus d'obtenir les donnees necessaires pour traiter les taches en parallele, ameliorant ainsi considerablement l'efficacite globale. Dans le traitement de donnees a grande echelle et le calcul distribue, l'operation de distribution joue un role irremplacable.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reduction globale effectue des operations de reduction sur les donnees entre appareils, comme calculer la somme, le minimum ou le maximum. Contrairement a l'operation de reduction mentionnee precedemment, la reduction globale stocke le resultat de la reduction dans le tampon de reception de chaque processus. Cela signifie que chaque processus peut obtenir le resultat de la reduction globale, ce qui est tres utile dans le calcul distribue. Par exemple, dans certaines taches d'entrainement distribue avec parallelisme des donnees, la reduction globale permet a chaque noeud d'obtenir en temps opportun les informations globales de gradient pour garantir l'exactitude des iterations d'entrainement.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 collecte globale collecte N valeurs a partir de k processus et les aggrege dans un tampon de sortie de taille k x N. Ensuite, le resultat agrege est distribue a tous les processus. De plus, les resultats de sortie sont tries par indice de processus. Cette operation est influencee par la relation de mappage entre les differents processus et les appareils ; les variations de cette relation de mappage peuvent entrainer des differences dans le processus de collecte et de distribution des donnees, affectant ainsi l'efficacite et les resultats de l'ensemble de l'operation. Comprendre l'operation de collecte globale et ses facteurs d'influence permet de mieux optimiser les flux de traitement de donnees et d'ameliorer les performances du systeme.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 reduction-distribution presente des similitudes avec l'operation de reduction, mais comporte egalement des differences significatives. Elle effectue egalement des operations de reduction sur les donnees, comme calculer la somme, le minimum ou le maximum. Cependant, la reduction-distribution divise le resultat en blocs de donnees de taille egale et les distribue a chaque processus, chaque processus obtenant un bloc de donnees en fonction de son propre indice de processus. Il est a noter que cette operation est affectee par la relation de mappage entre les differents processus et les appareils. Cela signifie que differentes relations de mappage peuvent avoir un impact sur les resultats et l'efficacite de l'operation de reduction-distribution. Dans les applications pratiques, il faut considerer attentivement cette influence pour garantir l'exactitude et l'efficacite de l'operation.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L'operation d'echange global est un mode important d'echange de donnees. Dans cette operation, chaque processus possede un tampon d'entree de taille N et envoie le j-ieme bloc de donnees de taille N/k au processus cible j. Simultanement, chaque processus recoit un tampon de sortie de taille N, ou le i-ieme bloc de donnees de taille N/k provient du processus source i. Cette operation realise un echange complet de donnees entre processus, permettant a chaque processus d'obtenir une partie des donnees des autres processus, favorisant ainsi considerablement la circulation et le partage des donnees. Elle joue un role cle dans des scenarios comme le calcul collaboratif multi-processus, ameliorant efficacement l'efficacite du traitement des donnees et la collaboration.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Ci-dessous, nous prendrons PyTorch FSDP comme exemple pour voir les scenarios d'application specifiques de la communication collective. Avant cela, nous presenterons egalement brievement le parallelisme des donnees, le parallelisme des donnees distribue et finalement le parallelisme des donnees entierement fragmente. Le concept de base du DP est d'avoir des copies completes du modele sur differents appareils, executant des donnees de differents micro-batch. Du point de vue de l'inference, le schema de planification du DP est tres simple. En passant a la phase d'entrainement du DP, lors de la retropropagation, pour obtenir la moyenne des gradients sur chaque machine, il faut executer une operation de reduction sur les donnees entre appareils, et le resultat sera stocke dans le tampon de reception de chaque processus. Le FSDP mentionne ulterieurement fragmentera les parametres du modele, les gradients et les etats de l'optimiseur pour reduire l'occupation memoire du GPU, et l'operateur de reduction globale y joue un role cle.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Dans cette page, nous presentons d abord DP et DDP, mecanismes de parallelisme de donnees fournis par PyTorch. DDP presente deux ameliorations : l operation de reduction de DP est sur le noeud 0, causant un desequilibre. DDP utilise un All-Reduce optimise base sur l anneau. DDP possede un support distribue avec un mecanisme multiprocessus robuste.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Avant d explorer FSDP dans PyTorch, analysons l utilisation de la memoire lors de l entrainement des grands modeles de langage. Les parametres ne representent pas toute la consommation de memoire. L idee principale est d eliminer les donnees redondantes, menant a ZeRO, l optimiseur a redondance nulle.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ZeRO a differents niveaux d optimisation. ZeRO-1 fragmente l etat de l optimiseur. ZeRO-2 fragmente l etat et les gradients. ZeRO-3 fragmente l etat, les gradients et les parametres du modele.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FSDP s inspire de ZeRO-3, fragmentant les parametres, gradients et etat de l optimiseur. Equation importante : All-Reduce = Reduce-Scatter + All-Gather. Cette decomposition aide a comprendre les operateurs de communication collective.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L implementation des operateurs de communication collective depend de la topologie materielle. Ring All-Reduce, GPU NVIDIA avec topologie CLOS, NPU HUAWEI avec topologie Full-mesh offrent differents choix.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Mesdames et Messieurs, bonjour! Aujourd'hui, je vais vous présenter le cours 32 : Optimisation de la topologie de communication. L'optimisation de la topologie de communication est cruciale dans les systèmes d'IA modernes, car elle affecte directement l'implémentation des opérateurs de communication collective, et cette implémentation dépend fortement de la topologie matérielle. Comprendre l'optimisation de la topologie de communication nous permet d'améliorer les algorithmes et d'augmenter les performances du système. Examinons ensemble en profondeur le contenu lié à l'optimisation de la topologie de communication.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L'implémentation des opérateurs de communication collective possède une structure et des caractéristiques uniques. Tout d'abord, du point de vue des formules, All-reduce équivaut à Reduce-scatter plus all-gather ; cette relation montre clairement une logique combinatoire des opérateurs de communication collective. L'approche Ring All-reduce, avec ses avantages de communication minimale et de schéma de communication fixe, est souvent la meilleure solution pour implémenter l'opérateur All-reduce. Par ailleurs, différents matériels ont différentes topologies, et l'implémentation des opérateurs de communication collective dépend fortement de la topologie matérielle. Les différentes topologies affectent l'efficacité de la transmission des données et l'utilisation de la bande passante ; il est donc essentiel de pleinement considérer la topologie matérielle lors de l'implémentation des opérateurs de communication collective pour optimiser les communications.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L'implémentation des opérateurs de communication collective possède une structure et des caractéristiques uniques. Tout d'abord, du point de vue des formules, All-reduce équivaut à Reduce-scatter plus all-gather ; cette relation montre clairement une logique combinatoire des opérateurs de communication collective. L'approche Ring All-reduce, avec ses avantages de communication minimale et de schéma de communication fixe, est souvent la meilleure solution pour implémenter l'opérateur All-reduce. Par ailleurs, différents matériels ont différentes topologies, et l'implémentation des opérateurs de communication collective dépend fortement de la topologie matérielle. Les différentes topologies affectent l'efficacité de la transmission des données et l'utilisation de la bande passante ; il est donc essentiel de pleinement considérer la topologie matérielle lors de l'implémentation des opérateurs de communication collective pour optimiser les communications.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Prenons Allreduce comme exemple. Supposons que le processus racine soit 0 et explorons d'abord son implémentation naïve, comme le montre le code à droite. Supposons N processus et K octets de données ; les autres processus envoient leurs données au processus 0, puis le processus 0 effectue les calculs et envoie les résultats du reduce à tous. Ainsi, avec un aller-retour, le volume total de transmission est de 2 × (N - 1) × K. On peut voir des défauts évidents : d'abord, la bande passante et la capacité de calcul du processus 0 sont limitées, devenant un goulot d'étranglement qui affecte sérieusement l'efficacité. Ensuite, pendant l'all-reduce, beaucoup de ressources des processus 1 à N-1 sont inactives, causant un grand gaspillage. Troisièmement, cette approche a une faible extensibilité et ne considère pas suffisamment la topologie. Face à ces problèmes, l'idée d'amélioration est de distribuer la transmission de données et la charge de calcul sur tous les processus. Les solutions incluent les approches basées sur les arbres, les anneaux et le doublement binaire, qui peuvent optimiser Allreduce et améliorer l'efficacité des communications.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Plus en détail, examinons l'algorithme Allreduce basé sur les arbres. En prenant le processus 0 comme racine, nous établissons une relation hiérarchique. Cet algorithme se divise également en deux phases : réduction et diffusion. Dans la première phase de réduction, les 8 nœuds sont réduits à 4, par exemple 0 et 1, 2 et 3, etc. Après le premier tour, les nœuds 0, 2, 4 et 6 auront des résultats intermédiaires. En augmentant le pas, on réalise la réduction de 0 et 2, 4 et 6 ; au troisième tour, on réalise la réduction de 0 et 4, ainsi le processus 0 possède la somme de réduction de toutes les données des 8 processus.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De manière correspondante, dans la deuxième phase, le processus 0 envoie les résultats de réduction couche par couche vers le bas, et finalement après trois tours d'envoi, tous les processus reçoivent les résultats corrects de la réduction.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Dans cette implémentation arborescente, comparée à l'implémentation naïve, il y a des avantages significatifs : d'abord, la transmission de données et les opérations de réduction peuvent être parallélisées ; ensuite, le nombre de tours de communication, c'est-à-dire la complexité, est logarithmique, alors que la version naïve a une complexité linéaire. Cela la rend excellente pour les petites quantités de données grâce à sa faible latence. Cependant, cet algorithme a aussi des insuffisances, avec des problèmes de ressources de calcul et de bande passante encore inactives. Pour améliorer encore les performances, des bibliothèques de communication comme NCCL utilisent des arbres binaires doubles pour l'optimisation.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Continuons avec Allreduce comme exemple, maintenant nous allons examiner l'algorithme AllReduce base sur anneau. Cet algorithme se divise principalement en deux phases : premiere phase la reduction iterative, deuxieme phase la collecte iterative. La phase de reduction iterative permet aux donnees de s'agreger progressivement dans l'anneau, tandis que la phase de collecte iterative redistribue les donnees agregees. Par rapport aux algorithmes bases sur l'arbre precedemment, l'algorithme base sur anneau a une logique differente en termes de transmission et de traitement des donnees. Il peut dans une certaine mesure eviter les problemes de sous-utilisation des ressources dans les algorithmes bases sur l'arbre, equilibrant considerablement la charge de calcul et de transmission de chaque noeud, fournissant de nouvelles idees et methodes pour le traitement parallele des donnees.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Dans la premiere phase, l'algorithme divise les donnees de chaque GPU en N parties. Ensuite, selon les differents tours, chaque GPU utilisera sa capacite de transmission pour envoyer un bloc de donnees au noeud suivant, et effectuer le calcul d'accumulation correspondant.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Comme montre dans la figure, au premier tour, les GPU0 a 4 envoient respectivement les blocs 0 a 4 de leur HBM au GPU suivant. Par exemple, le GPU2 recevra les donnees b1 du GPU1, tout en envoyant ses donnees c2 au GPU3. Puisque le GPU precedent a envoye des donnees qui ont un bloc correspondant localement pour l'accumulation, c'est-a-dire que le GPU2 completera l'operation b1+b2. Apres ce tour, les GPU0 a GPU4 auront respectivement les sommes partielles e0+e4, a1+a0, b2+b1, c3+c2, d4+d3.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De plus, au deuxieme tour, chaque GPU envoie respectivement la somme partielle calculee jusqu'ici au GPU suivant, tout en pouvant trouver sur ce GPU le bloc correspondant a accumuler. Cela permet ainsi de realiser une accumulation supplementaire.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Le troisieme tour continue de la meme maniere. On peut voir que la somme partielle sur chaque GPU se rapproche de plus en plus de la somme de reduction correspondante de cette partition.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Apres le quatrieme tour, chaque GPU possede respectivement un cinquieme de la somme de reduction. Pour que tous les GPU obtiennent la somme de reduction complete, nous devons maintenant envoyer nos donnees selon une logique similaire et recevoir de nouvelles donnees.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C'est ainsi que commence la deuxieme phase, qui comporte toujours N-1 etapes. Par exemple, a la premiere etape, les GPU0 a GPU4 peuvent deja stocker leurs propres donnees et envoyer respectivement leurs partitions b, c, d, e, a au GPU suivant. A la deuxieme etape, prenons le GPU0 comme exemple : il recoit les donnees de la partition a, les stocke d'une part, et doit les transmettre au GPU1. Ainsi, apres 4 iterations, les 5 GPU possedent tous la somme de reduction complete.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D'apres l'exemple ci-dessus, nous pouvons facilement fournir une analyse quantitative. Tout d'abord, le volume de donnees transmises a chaque fois est K divise par N, correspondant a un fragment de chaque GPU. L'ensemble necessite 2x(N-1) iterations, et le volume de donnees transmises par chaque GPU est donc de cet ordre. En meme temps, tous les GPU effectuent des calculs et des transmissions en parallele, utilisant efficacement la bande passante d'interconnexion. En ce qui concerne le temps, nous ne prenons pas en compte le cout de reduction ici (generalement inferieur a celui d'aller chercher des donnees a distance). Le temps total est donc la somme de 2(N-1) synchronisations de communication avec le delai de demarrage, et du temps de transmission des donnees limite par la bande passante. De meme, nous pouvons calculer le delai de l'Allreduce base sur arbre.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De plus, il existe un algorithme recursif de bisection-doubling,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latin typeface="-apple-system"/>
              </a:defRPr>
            </a:lvl1pPr>
          </a:lstStyle>
          <a:p>
            <a:pPr indent="0" algn="l">
              <a:lnSpc>
                <a:spcPct val="100000"/>
              </a:lnSpc>
            </a:pPr>
            <a:r>
              <a:t>Prenons Allreduce comme exemple, il existe trois algorithmes: anneau, arbre et bisection-doubling. Chaque algorithme possede ses propres avantages et scenarios d'application. Par exemple, l'algorithme AllReduce base sur l'anneau mentionne precedemment comporte des phases de reduction et de collecte avec leurs volumes de donnees et temps correspondants; l'AllReduce base sur l'arbre a egalement ses temps specifiques. Les bibliotheques de communication modernes sont tres intelligentes et peuvent choisir des strategies efficaces en fonction de la topologie et du domaine de communication. Cela signifie que dans les applications pratiques, nous ne sommes pas limites a un seul algorithme, mais pouvons choisir de maniere flexible en fonction de la situation pour obtenir des performances et une efficacite optimales.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t>Dans le domaine du calcul distribue, l'importance de la conception de protocoles ne doit pas etre sous-estimee. Prenons NCCL comme exemple, c'est une bibliotheque de protocoles lancee par NVIDIA pour optimiser la communication entre les GPU. Un bon protocole peut ameliorer significativement l'efficacite de communication et reduire la latence, comme construire une autoroute pour le transfert de donnees. NCCL, grace a l'optimisation des algorithmes et des strategies de communication, permet une interaction de donnees plus fluide entre les GPU. Il peut choisir intelligemment des methodes de communication appropriees en fonction des environnements materiels et des besoins de taches differents. En etudiant le protocole NCCL, nous pouvons approfondir notre comprehension de la conception de protocoles de communication efficaces, fournissant un soutien puissant pour le developpement du calcul distribue. Pour le document de recherche pertinent, voir: https://arxiv.org/pdf/2507.04786v1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latin typeface="-apple-system"/>
              </a:defRPr>
            </a:lvl1pPr>
          </a:lstStyle>
          <a:p>
            <a:pPr indent="0" algn="l">
              <a:lnSpc>
                <a:spcPct val="100000"/>
              </a:lnSpc>
            </a:pPr>
            <a:r>
              <a:t>Dans le domaine du calcul distribue, l'importance de la conception de protocoles va sans dire. En prenant NCCL comme exemple, c'est une bibliotheque specialisee pour la communication efficace entre les GPU NVIDIA, jouant un role cle dans l'entrainement et l'inference de l'apprentissage profond. Une excellente conception de protocole peut ameliorer significativement l'efficacite du transfert de donnees et les performances de calcul. C'est comme construire une autoroute pour la circulation d'informations, permettant aux donnees d'atteindre leur destination rapidement et avec precision. Le document de recherche dans les references analyse peut-etre en profondeur les principes de conception et les strategies d'optimisation de NCCL, meritant notre etude approfondie.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le troisième de la série sur le parallélisme de modèle, principalement consacré aux techniques de parallélisme hybride. Nous allons comprendre comment combiner différentes stratégies de parallélisme pour relever les défis systémiques posés par l'entraînement de modèles à très grande échelle.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le plan global de notre cours. Nous commencerons par présenter le parallélisme tridimensionnel ainsi que l'architecture de parallélisme pentadimensionnel plus avancée, en explorant comment ils permettent de dépasser les limites des approches de parallélisme uniques. Ensuite, nous passerons de la configuration manuelle au paradigme du parallélisme de modèle automatique, en analysant principalement les idées de conception de systèmes représentatifs tels que FlexFlow et Alpa. Enfin, nous aborderons les tendances de développement des frameworks d'entraînement distribué et d'autres systèmes connexes.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l'orthogonalité mathématique du parallélisme hybride. Dans l'entraînement distribué, il existe trois dimensions de parallélisme orthogonales : le parallélisme de données selon la dimension batch, le parallélisme de tenseurs selon la dimension des caractéristiques intra-couche, et le parallélisme de pipeline selon la dimension de profondeur inter-couches. Les paradigmes de parallélisme uniques présentent souvent des limitations : le parallélisme de données est limité par la capacité mémoire d'une seule carte, le parallélisme de tenseurs rencontre facilement des goulots d'étranglement de bande passante réseau, et le parallélisme de pipeline nécessite un grand nombre de micro-lots pour améliorer l'efficacité, ce qui entraîne une forte augmentation de la consommation mémoire. En combinant ces trois approches de manière multiplicative, le système peut réaliser une extension massive des ressources. Cette combinaison apporte également des effets de synergie significatifs, par exemple le parallélisme de tenseurs réduit l'occupation mémoire de chaque couche, permettant ainsi au système d'accueillir des micro-lots plus grands et de réduire efficacement le taux de bulles du parallélisme de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Sur la base de ces principes orthogonaux, l'industrie a proposé une architecture de système de parallélisme tridimensionnel. Son cœur réside dans la coopération matérielle, combinant le parallélisme de données, le parallélisme de pipeline et le parallélisme de tenseurs de manière imbriquée pour correspondre parfaitement à la topologie réseau des centres de données modernes. Plus précisément, la boucle la plus interne est le parallélisme de tenseurs, qui, en raison de la communication intensive des multiplications matricielles, est généralement limitée à un seul nœud en utilisant la bande passante élevée du NVLink pour les opérations d'all-reduce denses. La boucle intermédiaire est le parallélisme de pipeline, responsable des calculs d'étapes inter-couches, avec un volume de communication plus faible, permettant ainsi une extension inter-nœuds via le réseau RDMA en utilisant des primitives d'émission et de réception point à point. La boucle externe est le parallélisme de données, qui enveloppe logiquement les deux précédents, utilisant des opérations d'all-reduce sparses pour la synchronisation dans le cluster global, réalisant ainsi un débit de lot à très grande échelle.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un cas classique de mise en œuvre du parallélisme tridimensionnel, le modèle de langage Megatron-Turing. Ce modèle possède 530 milliards de paramètres et 105 couches de réseau, nécessitant plus de 10 To de mémoire agrégée. Sur le superordinateur NVIDIA Selene, il a adopté une configuration de parallélisme tridimensionnel soigneusement conçue. À l'intérieur des nœuds, le parallélisme de tenseurs à huit voies est utilisé, et entre les nœuds, le parallélisme de pipeline à 35 voies est adopté, de sorte qu'un seul réplica de modèle nécessite 280 GPU. Sur cette base, le système a ajouté un parallélisme de données global à 16 voies, mobilisant un total de 4480 cartes graphiques pour l'entraînement. Finalement, le système a maintenu un taux d'utilisation matérielle extrêmement élevé tout en réalisant un entraînement efficace avec une taille de lot globale de 1920. Le graphique montre également la tendance de croissance exponentielle de la taille des paramètres des grands modèles ces dernières années, ce qui est la force motrice centrale du développement des architectures de parallélisme tridimensionnel.</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trouver la proportion de découpage de parallélisme optimale dans un système aussi vaste, nous devons formaliser le coût de communication et la puissance de calcul effective. La fonction objectif de la capacité de calcul effective est de maximiser le débit global du système pour empêcher que des retardataires ralentissent l'ensemble de l'entraînement lors de la synchronisation globale. Ce problème d'optimisation est soumis à deux contraintes strictes : la limite supérieure de la capacité mémoire d'un seul GPU et le coût de communication inter-cartes induit par le parallélisme de tenseurs. Dans les implémentations système réelles, nous convertissons généralement ce problème en un problème de programmation linéaire en nombres entiers, utilisant un solveur pour calculer précisément la répartition optimale des proportions de parallélisme de données, de parallélisme de tenseurs et de parallélisme de pipeline avant le début officiel de l'entraînement.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Avec l'évolution des grands modèles, les séquences ultra-longues et les modèles à mélange d'experts ont dépassé les limites du parallélisme tridimensionnel traditionnel, incitant les systèmes à s'étendre vers un parallélisme à quatre et cinq dimensions. Pour résoudre les problèmes de dépassement mémoire causés par les textes longs, le parallélisme de contexte a été introduit. Il distribue les tokens sur différents GPU et échange les états clé-valeur par protocole en anneau. Parallèlement, pour l'architecture à mélange d'experts, le parallélisme d'experts utilise le routage all-to-all pour distribuer dynamiquement les tokens vers différents réseaux experts. Cela constitue finalement un système d'architecture parallèle à cinq dimensions incluant tenseur, contexte, expert, pipeline et données. Cette architecture a réussi à surmonter les divers goulets d'étranglement rencontrés lors de l'extension du système, notamment les poids denses, les contextes ultra-longs et les calculs épars.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 de la fusion de différentes stratégies de parallélisme, on rencontre souvent des conflits de mécanismes sous-jacents. Un exemple typique est le goulet d'étranglement produit par l'intégration de l'optimiseur à redondance nulle avec le parallélisme de pipeline. Le mécanisme d'acquisition dynamique de paramètres du troisième stade de l'optimiseur à redondance nulle entre en conflit sévère avec les commutations fréquentes de micro-lots du parallélisme de pipeline, provoquant une tempête réseau de communications répétées. Pour résoudre ce problème, les chercheurs ont proposé d'introduire un ordonnancement entrelacé par blocs de tâches. Le mécanisme central consiste à exécuter par lots les micro-tâches de calcul par couche avant de libérer les poids du modèle. Cette approche réduit considérablement le nombre d'appels réseau tout en maintenant l'efficacité d'utilisation de la mémoire vidéo.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stratégies de parallélisme discutées précédemment sont toutes conçues manuellement. Cependant, le codage en dur manuel des primitives de communication est très fragile et échoue dès la migration vers une nouvelle architecture ou face à du matériel asymétrique. Par conséquent, la tendance actuelle des systèmes est de transitionner vers un paradigme de parallélisme automatique des modèles. Le parallélisme automatique des modèles abstrait la logique distribuée comme un pur problème d'optimisation du compilateur. Il représente le réseau neuronal comme un graphe orienté acyclique de calcul et le cluster matériel comme un graphe de topologie, laissant le compilateur rechercher automatiquement la stratégie de partitionnement optimale dans un espace immense. Cette transition est significative : les chercheurs en algorithmes n'ont qu'à écrire du code mono-appareil, et le compilateur peut générer automatiquement des plans d'exécution distribués multidimensionnels.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réaliser le parallélisme automatique, il faut d'abord définir l'espace de recherche. Le système FlexFlow a proposé le cadre SOAP pour normaliser cet espace. Il comprend quatre dimensions : le parallélisme de données au niveau échantillon, le parallélisme de pipeline au niveau opération, le parallélisme de contexte au niveau attribut, et le parallélisme tenseur au niveau paramètre. Comme l'espace de configuration est extrêmement vaste, FlexFlow utilise la méthode de Monte Carlo par chaîne de Markov comme moteur de recherche pour l'exploration. Parallèlement, le système intègre un simulateur prédictif capable de prédire avec précision en millisecondes les performances d'exécution d'une stratégie spécifique, ce qui permet au système de découvrir fréquemment des schémas de partition non intuitifs beaucoup plus rapides que le réglage manuel des experts humains.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Malgré l'existence d'un cadre de recherche, à l'échelle de cent milliards de paramètres, la recherche Monte Carlo plate subit une explosion de complexité exponentielle et échoue. Face à ce problème d'évolutivité, le cadre Alpa a proposé un design de recherche hiérarchique dans l'espace. Il restructure le processus de recherche en se basant sur la hiérarchie réelle de la bande passante réseau des centres de données physiques, divisée en deux couches. La première couche est le parallélisme intra-opérateur, utilisant la programmation linéaire en nombres entiers dans les grilles d'appareils à haute bande passante intra-nœud pour résoudre l'allocation du parallélisme tenseur et données. La deuxième couche est le parallélisme inter-opérateur, utilisant la programmation dynamique pour résoudre la segmentation en étapes de pipeline à travers les grilles à basse bande passante inter-nœuds. Ce design découplé permet à la recherche automatique de surpasser considérablement les systèmes à configuration manuelle professionnelle sur les modèles complexes.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Une autre voie importante de parallélisme automatique est la parallélisation SPMD (Single Program Multiple Data) basée sur le compilateur. Dans les clusters à très grande échelle, compiler indépendamment un programme pour chaque GPU est inacceptable. Ce paradigme permet aux développeurs d'écrire du code mono-appareil avec quelques indices de partition peu denses. Ensuite, lors de la phase de propagation de complétion, le compilateur sous-jacent propage ces annotations utilisateur en avant et en arrière dans le graphe de calcul. L'algorithme peut déduire automatiquement la stratégie de partitionnement optimale pour tous les tenseurs intermédiaires non annotés, générant ainsi un graphe d'exécution distribuée efficace au niveau inférieur. Cette solution a démontré un taux d'utilisation des ressources extrêmement élevé sur les clusters matériels réels.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compilateurs AI traditionnels suivent généralement une logique de traitement séquentiel, c'est-à-dire qu'ils effectuent d'abord des optimisations de graphe comme la fusion d'opérateurs, puis décident des stratégies de parallélisation. Ce traitement séquentiel a un défaut : une fusion prématurée peut détruire les opportunités de communication réseau efficaces. Le framework Unity a brisé cette limitation en proposant une méthode d'optimisation conjointe de la fusion algébrique et des stratégies de parallélisation via le remplacement de graphe mathématique. Le système peut non seulement effectuer des fusions, mais peut même choisir de dé-fusionner sélectivement des opérations pour réaliser des modes de communication plus rapides. Cette stratégie de recherche conjointe contre-intuitive apporte des améliorations significatives du débit par rapport aux frameworks séquentiels traditionnels.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Galvatron est un framework de recherche de stratégies hybrides au niveau système, orienté vers les environnements de production. Il est conçu spécifiquement pour les architectures Transformer à grande échelle et intègre explicitement dans l'espace de recherche des techniques d'optimisation mémoire telles que les points de contrôle d'activation et le déchargement des états de l'optimiseur. Il adopte un flux de travail en deux étapes : d'abord, via un arbre de décision basé sur un budget mémoire matériel strict, il élimine les stratégies mathématiquement non réalisables. Ensuite, il utilise la programmation dynamique pour allouer couche par couche la stratégie parallèle optimale. En particulier, il implémente une modélisation des coûts extrêmement précise, prenant en compte la dégradation réelle des performances GPU due au recouvrement entre calcul et communication, ce qui rend les stratégies trouvées plus utilisables dans des clusters réels. Le tableau de cette page compare également en détail les différences de caractéristiques entre ces frameworks de parallélisme automatique en termes de granularité et de méthodes d'optimisation.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résumé, la trajectoire de développement des frameworks d'entraînement distribués traverse une transition de l'ingénierie manuelle impérative vers une compilation déclarative et entièrement automatique. Les futurs ordonnanceurs avancés dépasseront les limitations axées uniquement sur les grands modèles de langage, prenant en charge des modèles non séquentiels plus complexes ainsi que des pipelines programmables. Parallèlement, l'entraînement hétérogène deviendra la norme, et les ordonnanceurs devront pouvoir s'adapter dynamiquement aux clusters complexes avec des configurations de mémoire et de bande passante asymétriques. Notre objectif ultime est de réaliser une virtualisation complète du matériel sous-jacent, faisant de l'entraînement de modèles à l'échelle du trillion de paramètres un service d'infrastructure immédiatement disponible.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a tous, aujourd'hui nous commencons l'etude du cours 34. Le theme de cette seance est « Tolerance aux pannes et mecanismes de checkpoint ». Dans le contexte actuel ou l'entrainement des grands modeles utilise couramment des dizaines de milliers de cartes graphiques et dure plusieurs semaines voire plusieurs mois, garantir le fonctionnement stable du systeme malgre les pannes materielles frequentes et minimiser les pertes de ressources de calcul est un aspect essentiel de la conception des systemes de calcul intelligents.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 cours d'aujourd'hui se deroulera en trois parties principales : d'abord, nous analyserons la realite des pannes dans l'entrainement a grande echelle ; ensuite, nous approfondirons le systeme de tolerance aux pannes base sur les checkpoints ; enfin, nous examinerons les derniers cas industriels de ByteDance.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Dans les clusters a grande echelle, les pannes ne sont plus accidentelles mais inevitables. L'indicateur MTBF est cle pour mesurer la fiabilite. Avec l'augmentation des GPU, la stabilite decroit exponentiellement. Un cluster de 10000 cartes n'a qu'un taux de reussite d'environ 0,0045%.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Pourquoi les pannes sont-elles si frequentes ? Cela provient de la complexite du systeme, des longues durees d'entrainement, et de la reaction en chaine du mode synchrone. Les pannes frequentes entrainent des couts economiques considerables.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rapport Llama 3 405B montre que 58,7% des pannes viennent du materiel. Les problemes GPU/NVLink et HBM3 sont predominants. Les bugs logiciels et les fluctuations de temperature sont egalement des facteurs.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repondre a ces defis, nous construisons un systeme complet de tolerance aux pannes : detection automatique en secondes, recuperation automatisee, support des frameworks DeepSpeed et PyTorch FSDP, et mise a l'echelle elastique.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detection d'anomalies comprend surveillance temps reel et verification preventive. NVIDIA DCGM surveille l'utilisation SM et le Row-remapping. La validation proactive utilise des tests comme SuperBench.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 checkpoint est une sauvegarde periodique de l'etat d'entrainement. Quatre fonctions : tolerance aux pannes, bifurcation experimentale, evaluation du modele, et debogage.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 checkpoint complet contient quatre parties : 1. Poids du modèle, soit les matrices de paramètres des différentes couches Transformer. 2. États de l'optimiseur, c'est la partie la plus volumineuse, pour AdamW, il faut sauvegarder les moments du premier et second ordre, généralement 2-4 fois la taille du modèle. 3. État d'entraînement, incluant le pas global, l'état d'échantillonnage du chargeur de données et l'état du générateur de nombres aléatoires (RNG) pour assurer la reproductibilité. 4. Métadonnées, comme le mapping de parallélisme TP/PP/DP et la configuration de l'architecture du modèle.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Ceci montre une implémentation typique de checkpoint de style PyTorch. La fonction save_checkpoint collecte les state_dict du modèle, de l'optimiseur et du planificateur, puis utilise torch.save pour les persister. Dans l'entraînement distribué, il faut généralement appeler des API spécifiques pour gérer la collecte d'état complet ou la sauvegarde fragmentée. load_checkpoint charge les données sur le périphérique spécifié via map_location et restaure le pas d'entraînement. Ce mécanisme assure que l'entraînement peut reprendre de manière transparente depuis le point d'interruption.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l'entraînement distribué à grande échelle, chaque Rank utilise la sauvegarde parallèle pour écrire simultanément son propre fichier de checkpoint fragmenté sur le stockage partagé. Cela évite le goulot d'étranglement causé par l'agrégation sur un seul Rank. Le système génère un fichier d'index de métadonnées pour enregistrer quelle partie des paramètres est stockée dans quel snapshot de carte. Même si le nombre de GPU change lors de la reprise de l'entraînement (par exemple de 64 à 128), le framework peut recalculer les offsets selon le fichier d'index, permettant un chargement non uniforme.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Des frameworks comme DeepSpeed et Megatron-LM fournissent des API de haut niveau pour simplifier la gestion des checkpoints fragmentés. Ces API cachent les détails complexes de synchronisation et de fragmentation. Lors du chargement, elles identifient automatiquement les fragments appropriés selon le Rank actuel et reconstruisent l'état distribué complet.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La taille des checkpoints pour les grands modèles est considérable : GPT-3 175B atteint 2.4TB, LLaMA 544B nécessite 6-7TB, et GPT-4 dépasse 13.8TB. Sur le plan de la bande passante, si un checkpoint de 2.4TB doit s'écrire en 60 secondes (pour limiter l'impact à moins de 5% du temps d'entraînement), il faut au moins 40GB/s de bande passante soutenue. De plus, des milliers de GPU écrivant en parallèle exercent une pression I/O énorme sur les systèmes de fichiers distribués comme Lustre ou GPFS.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checkpoint synchrone est l'implémentation la plus basique. Son principe : lors du déclenchement de la sauvegarde, suspendre tous les calculs, synchroniser tous les nœuds de travail via une barrière, puis collecter et écrire l'état de manière unifiée. Ses avantages sont la simplicité logique et la forte cohérence, assurant que l'état au point de récupération est précis. Mais les inconvénients sont évidents : tout le processus d'entraînement est bloqué, l'écriture de checkpoints volumineux prend du temps, laissant les ressources de calcul coûteuses inactives pendant cette période, affectant gravement le débit.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checkpoint asynchrone réduit le surcoût de performance de la sauvegarde synchrone en séparant l'opération d'écriture I/O du checkpoint de la boucle d'entraînement principale. Le processus est : 1&gt; Copier rapidement l'état nécessaire en mémoire; 2&gt; Déléguer l'écriture à un thread ou processus indépendant qui s'exécute en arrière-plan; 3&gt; Reprendre immédiatement l'entraînement. Cela permet au calcul et à l'I/O de se chevaucher, maximisant l'utilisation des ressources GPU coûteuses.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choix entre checkpoint synchrone et asynchrone dépend de plusieurs facteurs : Simplicité vs Performance : synchrone est plus simple mais avec un surcoût plus élevé; asynchrone est plus complexe mais réduit significativement le temps mort. Vitesse de stockage : si le stockage est extrêmement rapide, le surcoût synchrone peut être acceptable; si l'I/O est le goulot d'étranglement, l'asynchrone est plus attrayant. Sensibilité aux pannes : si la récupération précise est cruciale, le synchrone est préférable; si quelques itérations perdues sont acceptables pour un meilleur débit, l'asynchrone est un bon choix.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En termes de conception de stratégie, le cœur est de trouver un équilibre entre "perte de travail" et "coût de sauvegarde". La sauvegarde fréquente réduit la perte de progression mais augmente la durée totale ; la sauvegarde peu fréquente offre un débit élevé mais entraîne une perte massive en cas de panne. Les stratégies de déclenchement courantes sont basées sur le nombre d'itérations ou sur l'intervalle de temps.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Face à la pression de stockage au niveau du TB, la technologie de compression est cruciale. Au niveau numérique, on peut utiliser une quantification à faible nombre de bits (comme INT8/FP8/NF4) ou des techniques de partage d'exposant pour réduire l'empreinte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Le stockage hiérarchique fait évoluer la "sauvegarde en une étape" vers un "tampon multi-niveaux". La logique est d'utiliser les différences de performance des différents supports : le niveau L1 utilise la mémoire vidéo ou la RAM hôte pour un redémarrage rapide en secondes.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r>
              <a:t>Enfin, examinons les résultats de recherche publiés par ByteDance à SOSP 2025. Son plan de contrôle possède un planificateur Robust Controller qui, grâce à des données de télémétrie multidimensionnelles, réalise une exclusion automatique des nœuds et des redémarrages à chaud.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r>
              <a:t>Les points forts de ce système sont : 1. Checkpoint multi-niveaux, d'abord stocké dans la mémoire ou SSD des nœuds voisins pour une écriture en secondes, puis transféré de manière asynchrone vers le stockage distant.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a tous, debut du cours 35 sur les Techniques doptimisation de la memoire video. Dans lapprentissage profond, la memoire video est le goulot d'etranglement principal limitant la taille des modeles. Aujourd'hui, nous explorons comment loptimisation des algorithmes et de larchitecture permet de depasser les limites physiques de la memoire.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 cours se divise en trois modules. Dabord, nous analysons le contexte de loccupation memoire video lors de lentrainement des grands modeles. Ensuite, nous presentons deux voies doptimisation : le recalcul dactivation, qui echange du temps contre de lespace en abandonnant les activations; et le dechargement de donnees, utilisant la memoire CPU et NVMe SSD, incluant ZeRO-Offload et ZeRO-Infinity.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Alors que les modeles passent de 175 milliards de parametres (GPT-3) a lechelle du trillion (GPT-4), les besoins memoire croissent exponentiellement. Un modele 100B : parametres = 200 Go, entrainement = 1,6-2 To. Loccupation se compose de : parametres (20-30%), etats de loptimiseur (40-60%), gradients (20-30%), et activations (croissance quadratique).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Dans la retropropagation standard, la demande memoire croit lineairement avec le nombre de couches. Lors de la propagation avant, chaque valeur dactivation intermediaire doit etre conservee jusquau calcul du gradient. La memoire nest liberee quapres traitement de toutes les dependances. Ce mecanisme sature rapidement la memoire dans les grands reseaux.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Pour reduire loccupation memoire, une approche extreme est la retropropagation a faible memoire : ne stocker aucune valeur dactivation intermediaire. Lorsque la retropropagation a besoin dune couche, on reexecute le calcul avant depuis lentree. Cela economise la memoire, mais la complexite passe de O(n) a O(n^2), tres inefficace.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point de controle du gradient est un compromis. Strategie : stocker uniquement les activations des couches cles (points de controle), les autres noeuds etant recalcules localement. Mathematiquement, la strategie optimale est un point de controle tous les sqrt(n) noeuds. Complexite memoire : de O(n) a O(sqrt(n)), calcul +50%. Methode typique echangeant du temps contre de la memoire.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En pratique d'ingénierie, les frameworks principaux intègrent cette technique. PyTorch natif : fournit le module torch.utils.checkpoint. Pour les modèles généraux, utilisez la fonction checkpoint ; pour les architectures séquentielles, checkpoint_sequential permet une segmentation automatique. Hugging Face : l'intégration est très simple, il suffit de définir le drapeau gradient_checkpointing à True dans TrainingArguments.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principe de l'Offloading consiste à migrer les états du modèle temporairement inactifs (paramètres, états de l'optimiseur ou activations) depuis la mémoire GPU vers la mémoire CPU ou le stockage NVMe, plus vastes mais plus lents. Sa motivation principale réside dans l'exploitation de la hiérarchie de stockage. Bien que la bande passante PCIe soit bien inférieure à celle de la mémoire vidéo, grâce au préchargement et au chevauchement calcul-communication, on peut masquer la latence de transfert des données, permettant ainsi l'entraînement de modèles de niveau TB sur un seul nœud ou un petit cluster.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Cette tableau compare les principales technologies de déchargement actuelles : ZeRO-Offload : décharge principalement les états de l'optimiseur et les gradients vers le CPU, les paramètres restant sur GPU, adapté aux modèles de moins de 100B sur un seul nœud. ZeRO-Infinity : étend le déchargement aux paramètres et supporte le NVMe, conçu pour l'extension multi-nœuds. PyTorch FSDP : basé sur le data parallelisme avec partitionnement, offre des stratégies de déchargement CPU flexibles. En termes de perte de performance, ZeRO-Infinity subit environ 20-40% de perte due à la latence SSD, mais permet une percée de « pouvoir exécuter » avec des ressources limitées.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conception de ZeRO-Offload suit deux stratégies principales : Limiter le calcul CPU : comme le CPU est bien moins puissant que le GPU, il ne traite que les mises à jour de paramètres de complexité O(M) (comme Norm, mises à jour Adam), tandis que les propagations avant et arrière de complexité O(MB) restent sur GPU. Minimiser le volume de communication : en fusionnant la mise à jour des paramètres FP32 avec leurs états, le volume de communication minimal par étape est maintenue à 4M, évitant les allers-retours fréquents sur PCIe.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l'exécution sur une seule carte, la logique d'ordonnancement est très ingénieuse : Phase avant : les paramètres FP16 sont déjà en mémoire vidéo, pas de communication. Phase arrière : les gradients calculés sont immédiatement transmis de manière asynchrone au CPU par petits groupes. Grâce au parallélisme pipeline, la rétropropagation des gradients chevauche les calculs arrière suivants, masquant le goulot d'étranglement de bande passante. Phase de mise à jour : le CPU met à jour en parallèle les états FP32, puis seuls les paramètres FP32 sont renvoyés au GPU et convertis en FP16, préparant l'étape suivante.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environnement multi-cartes, ZeRO-Offload combine le "partitionnement des états" de ZeRO-2 avec les chemins de déchargement. Chaque GPU ne maintient et ne décharge que sa part de paramètres vers la mémoire CPU correspondante. L'avantage de cette conception : le volume total de communication n'augmente pas avec le nombre de GPU, et les mises à jour côté CPU sont traitées en parallèle par plusieurs cœurs CPU, offrant une excellente extensibilité.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ZeRO-Infinity est l'évolution ultime de l'Offloading. Il considère HBM, DRAM et NVMe comme une hiérarchie mémoire hétérogène unifiée. Les fonctionnalités principales incluent : Optimisation complète ZeRO-3 : élimination complète de la redondance par partitionnement. Extension mémoire NVMe : dépasse les limites de capacité DRAM, supportant l'entraînement de modèles de mille milliards de paramètres sur un seul nœud. Mécanisme de préchargement efficace : pendant le calcul de la couche actuelle, prélève à l'avance les paramètres de la couche suivante depuis le stockage lent. Partitionnement d'opérateurs : supporte le placement de couches d'opérateurs très grandes sur une seule carte.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dirty="0"/>
              <a:t>Le processus </a:t>
            </a:r>
            <a:r>
              <a:rPr dirty="0" err="1"/>
              <a:t>dexecution</a:t>
            </a:r>
            <a:r>
              <a:rPr dirty="0"/>
              <a:t> se </a:t>
            </a:r>
            <a:r>
              <a:rPr dirty="0" err="1"/>
              <a:t>divise</a:t>
            </a:r>
            <a:r>
              <a:rPr dirty="0"/>
              <a:t> </a:t>
            </a:r>
            <a:r>
              <a:rPr dirty="0" err="1"/>
              <a:t>en</a:t>
            </a:r>
            <a:r>
              <a:rPr dirty="0"/>
              <a:t> quatre </a:t>
            </a:r>
            <a:r>
              <a:rPr lang="en-US" dirty="0"/>
              <a:t>Étape</a:t>
            </a:r>
            <a:r>
              <a:rPr dirty="0"/>
              <a:t>s: </a:t>
            </a:r>
            <a:r>
              <a:rPr lang="en-US" dirty="0"/>
              <a:t>Récupération</a:t>
            </a:r>
            <a:r>
              <a:rPr dirty="0"/>
              <a:t> des </a:t>
            </a:r>
            <a:r>
              <a:rPr dirty="0" err="1"/>
              <a:t>parametres</a:t>
            </a:r>
            <a:r>
              <a:rPr dirty="0"/>
              <a:t>, All-Gather, </a:t>
            </a:r>
            <a:r>
              <a:rPr dirty="0" err="1"/>
              <a:t>Calcul</a:t>
            </a:r>
            <a:r>
              <a:rPr dirty="0"/>
              <a:t> et </a:t>
            </a:r>
            <a:r>
              <a:rPr lang="en-US" dirty="0"/>
              <a:t>rétropropagation</a:t>
            </a:r>
            <a:r>
              <a:rPr dirty="0"/>
              <a:t> des gradients, et </a:t>
            </a:r>
            <a:r>
              <a:rPr lang="en-US" dirty="0"/>
              <a:t>Écriture</a:t>
            </a:r>
            <a:r>
              <a:rPr dirty="0"/>
              <a:t> des gradients.</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dirty="0" err="1"/>
              <a:t>ZeRO</a:t>
            </a:r>
            <a:r>
              <a:rPr dirty="0"/>
              <a:t>-Infinity: </a:t>
            </a:r>
            <a:r>
              <a:rPr dirty="0" err="1"/>
              <a:t>partitionnement</a:t>
            </a:r>
            <a:r>
              <a:rPr dirty="0"/>
              <a:t> </a:t>
            </a:r>
            <a:r>
              <a:rPr dirty="0" err="1"/>
              <a:t>bande</a:t>
            </a:r>
            <a:r>
              <a:rPr dirty="0"/>
              <a:t> </a:t>
            </a:r>
            <a:r>
              <a:rPr dirty="0" err="1"/>
              <a:t>passante</a:t>
            </a:r>
            <a:r>
              <a:rPr dirty="0"/>
              <a:t>, pipeline </a:t>
            </a:r>
            <a:r>
              <a:rPr dirty="0" err="1"/>
              <a:t>recouvrement</a:t>
            </a:r>
            <a:r>
              <a:rPr dirty="0"/>
              <a:t>, </a:t>
            </a:r>
            <a:r>
              <a:rPr dirty="0" err="1"/>
              <a:t>DeepNVMe</a:t>
            </a:r>
            <a:r>
              <a:rPr dirty="0"/>
              <a:t>.</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Enfin, regardons limplementation du code. Dans le fichier de configuration JSON de DeepSpeed, activer le dechargement est tres simple.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Aujourd'hui c'est la trente-sixieme lecture, qui est le contenu central du Module IV. Nous presenterons en detail le projet final, dont la tache specifique est de realiser l'entrainement distribue multi-machines d'un grand modele de sept milliards de parametres. C'est un defi tres stimulant et hautement pertinent aux besoins reels de l'industrie.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presenter le projet final en detail, rappelons tous les projets du cours ce semestre. Vous avez deja complete la configuration de l'environnement et le developpement d'operateurs de mi-semestre. Pour la phase finale, vous devez realiser des projets individuels, comme le developpement d'operateurs fusionnes RMSNorm avec connexion residuelle, ou contribuer aux optimisations du compilateur. Le projet d'entrainement distribue multi-machines de 7B dont nous parlons aujourd'hui est un projet de groupe de trois personnes. Il evaluera principalement votre comprehension des differentes strategies paralleles et votre capacite a analyser l'acceleration lineaire dans un cluster multi-noeuds. Nous organiserons egalement une soutenance pour verifier la faisabilite et l'authenticite du projet.</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Voyons maintenant l'apercu specifique du projet. L'entrainement de grands modeles de langage est une evaluation complete de vos competences en systeme distribue. Dans ce projet, vous devez former des groupes de trois personnes, utiliser des frameworks open source pour deployer sur un cluster GPU multi-machines un entrainement de modele de sept milliards de parametres similaire aux grands modeles de langage. Les objectifs cles incluent : premierement, lancer avec succes l'entrainement distribue sur au moins deux noeuds de huit cartes ; deuxiemement, configurer et comparer au moins deux combinaisons differentes de strategies paralleles, comme le parallellisme de donnees pur contre parallellisme de tenseurs plus parallellisme de pipeline ; troisiement, remplacer le backend de communication par defaut et observer les changements de performance de communication ; quatriement, mesurer avec precision le debit d'entrainement, l'acceleration lineaire et la memoire de pointe. Les etudiants avances peuvent aussi simuler des pannes de noeuds et verifier la recuperation par points de sauvegarde.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assurer le bon deroulement du projet, nous l'avons decompose en plusieurs taches obligatoires. La tache un est le deploiement de l'environnement et la configuration du cluster. Vous devez d'abord etablir la connexion SSH sans mot de passe entre les noeuds et monter le stockage partage, puis installer le framework d'entrainement pour verifier si l'entrainement mono-machine mono-carte fonctionne, ensuite configurer le backend de communication et verifier les fonctionnalites de base des primitives de communication collective. La tache deux est la configuration et l'experimentation des strategies paralleles. Il faut realiser trois groupes d'experiences comparatives. Le groupe un est le parallellisme de donnees pur sur seize cartes. Le groupe deux est le parallellisme hybride, avec un degre de parallellisme de tenseurs de quatre, un degre de parallellisme de pipeline de deux, et un degre de parallellisme de donnees de deux. Le groupe trois utilise la fonction de division automatique du framework pour realiser la configuration hybride.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tache trois se concentre sur l'application des techniques d'optimisation memoire. Vous devez activer la fonction de points de verification de gradient et quantifier les economies de memoire qu'elle procure. La partie optionnelle consiste a activer la fonction de dechargement CPU pour evaluer l'impact sur le debit global. La tache quatre est la collecte et l'analyse approfondie des donnees de performance. Vous devez soumettre le debit d'entrainement mono-carte sous trois strategies, calculer l'acceleration lineaire en divisant l'acceleration reelle par l'acceleration theorique, et echantillonner la memoire de pointe pendant l'entrainement. De plus, vous devez analyser les logs pour evaluer la proportion des couts de communication dans tout le cycle d'entrainement.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Concernant les exigences finales de soumission et criteres d'evaluation. Vous devez soumettre le dossier de configuration, les scripts de lancement et de surveillance, les fichiers CSV contenant les donnees de performance, ainsi qu'un rapport d'analyse de moins de dix pages qui doit inclure des diagrammes d'architecture et des graphiques de comparaison de performance. Si vous avez implemente la recuperation de pannes, vous devez aussi joindre une video de demonstration. La repartition des points est la suivante : l'execution reussie de la tache represente 25 points, demandant une execution stable de plus de 100 etapes ; l'analyse comparative des strategies paralleles est centrale pour 30 points ; l'integration et l'analyse de la bibliotheque de communication represente 20 points ; les experiences d'optimisation memoire comptent pour 15 points ; et enfin la qualite du rapport represente 10 points. Assurez-vous d'utiliser des donnees pour etayer vos conclusions.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Introduction à FlagOS, pile logicielle système AI unifiée et open source</a:t>
            </a:r>
            <a:br/>
            <a:br/>
            <a:r>
              <a:t>FlagOS est une pile logicielle système AI unifiée et open source, orientée multi-puces. Elle a été fondée conjointement par plus d'une dizaine d'organisations nationales et internationales, incluant des entreprises de semi-conducteurs, des fabricants de systèmes, des entités spécialisées en algorithmes et logiciels, des organisations à but non lucratif et des institutions de recherche. En répondant aux problèmes centraux liés à l'utilisation de multiples puces AI, FlagOS constitue un écosystème logiciel système comprenant : la bibliothèque d'opérateurs généralistes FlagGems, le compilateur unifié FlagTree, le framework intégré de formation et d'inférence parallèle FlagScale, la bibliothèque de communication unifiée FlagCX, la plateforme de migration et de publication automatique FlagRelease, et l'outil d'évaluation multi-puces FlagPerf. FlagOS nous montre la possibilité de briser l'isolement écologique entre les différentes piles logicielles de puces, réduisant efficacement les coûts de migration pour les développeurs.</a:t>
            </a:r>
            <a:br/>
            <a:br/>
            <a:r>
              <a:t>Site officiel :</a:t>
            </a:r>
            <a:br/>
            <a:r>
              <a:t>https://flagos.io</a:t>
            </a:r>
            <a:br/>
            <a:br/>
            <a:r>
              <a:t>Portail de questions-réponses interactif :</a:t>
            </a:r>
            <a:br/>
            <a:r>
              <a:t>https://wiki.flagos.io</a:t>
            </a:r>
            <a:br/>
            <a:br/>
            <a:r>
              <a:t>Documentation officielle :</a:t>
            </a:r>
            <a:br/>
            <a:r>
              <a:t>https://docs.flagos.io</a:t>
            </a:r>
            <a:br/>
            <a:br/>
            <a:r>
              <a:t>Présentation de la dernière version 1.6 :</a:t>
            </a:r>
            <a:br/>
            <a:r>
              <a:t>https://mp.weixin.qq.com/s/eBgg6_5FJV-RuYk5fBQvOg</a:t>
            </a:r>
            <a:br/>
            <a:br/>
            <a:r>
              <a:t>Ouverture sincère, bienvenue Star-Watch-Fork</a:t>
            </a:r>
            <a:br/>
            <a:r>
              <a:t>1. Bibliothèque d'opérateurs AI généralistes haute performance FlagGems : https://github.com/flagos-ai/FlagGems</a:t>
            </a:r>
            <a:br/>
            <a:r>
              <a:t>2. Compilateur AI unifié FlagTree : https://github.com/flagos-ai/flagtree</a:t>
            </a:r>
            <a:br/>
            <a:r>
              <a:t>3. Framework intégré de formation et d'inférence parallèle FlagScale : https://github.com/flagos-ai/FlagScale</a:t>
            </a:r>
            <a:br/>
            <a:r>
              <a:t>4. Bibliothèque de communication unifiée FlagCX : https://github.com/flagos-ai/FlagCX</a:t>
            </a:r>
            <a:br/>
            <a:r>
              <a:t>5. Outil d'évaluation de grands modèles FlagPerf : https://github.com/flagos-ai/flagperf</a:t>
            </a:r>
            <a:br/>
            <a:r>
              <a:t>6. Outil de génération automatique d'opérateurs KernelGen : https://kernelgen.flagos.io</a:t>
            </a:r>
            <a:br/>
            <a:r>
              <a:t>7. Outil de publication de grands modèles FlagRelease :</a:t>
            </a:r>
            <a:br/>
            <a:r>
              <a:t>https://modelscope.cn/organization/FlagRelease</a:t>
            </a:r>
            <a:br/>
            <a:r>
              <a:t>https://huggingface.co/FlagRelease/models</a:t>
            </a:r>
            <a:br/>
            <a:r>
              <a:t>https://www.wisemodel.cn/models/FlagRelease</a:t>
            </a:r>
            <a:br/>
            <a:r>
              <a:t>https://www.gpufree.cn</a:t>
            </a:r>
            <a:br/>
            <a:r>
              <a:t>https://www.aihuanxin.cn</a:t>
            </a:r>
            <a:br/>
            <a:br/>
            <a:r>
              <a:t>Sites miroirs nationaux :</a:t>
            </a:r>
            <a:br/>
            <a:r>
              <a:t>https://gitcode.com/flagos-ai</a:t>
            </a:r>
            <a:br/>
            <a:r>
              <a:t>https://gitee.com/flagos-ai</a:t>
            </a:r>
            <a:br/>
            <a:br/>
            <a:r>
              <a:t>Compte officiel WeChat : 智源FlagOpen</a:t>
            </a:r>
            <a:br/>
            <a:r>
              <a:t>Chaîne vidéo : 智源FlagOpen</a:t>
            </a: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userDrawn="1"/>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5"/>
          <a:stretch>
            <a:fillRect/>
          </a:stretch>
        </p:blipFill>
        <p:spPr>
          <a:xfrm>
            <a:off x="8076565" y="229235"/>
            <a:ext cx="897890" cy="37401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image2.png"/><Relationship Id="rId13" Type="http://schemas.openxmlformats.org/officeDocument/2006/relationships/image" Target="../media/image3.png"/><Relationship Id="rId14" Type="http://schemas.openxmlformats.org/officeDocument/2006/relationships/image" Target="../media/image4.png"/><Relationship Id="rId15" Type="http://schemas.openxmlformats.org/officeDocument/2006/relationships/image" Target="../media/image1.png"/><Relationship Id="rId16" Type="http://schemas.openxmlformats.org/officeDocument/2006/relationships/image" Target="../media/image5.png"/><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pic>
        <p:nvPicPr>
          <p:cNvPr id="1"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userDrawn="1"/>
        </p:nvPicPr>
        <p:blipFill>
          <a:blip r:embed="rId15"/>
          <a:stretch>
            <a:fillRect/>
          </a:stretch>
        </p:blipFill>
        <p:spPr>
          <a:xfrm>
            <a:off x="9017000" y="5029200"/>
            <a:ext cx="2286000" cy="1371600"/>
          </a:xfrm>
          <a:prstGeom prst="rect">
            <a:avLst/>
          </a:prstGeom>
        </p:spPr>
      </p:pic>
      <p:pic>
        <p:nvPicPr>
          <p:cNvPr id="7" name="图片 6" descr="logo-africa"/>
          <p:cNvPicPr>
            <a:picLocks noChangeAspect="1"/>
          </p:cNvPicPr>
          <p:nvPr userDrawn="1"/>
        </p:nvPicPr>
        <p:blipFill>
          <a:blip r:embed="rId16"/>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3.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3.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13.xml"/><Relationship Id="rId5"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3.xml"/><Relationship Id="rId4"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3.xml"/><Relationship Id="rId5"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1.png"/><Relationship Id="rId3" Type="http://schemas.openxmlformats.org/officeDocument/2006/relationships/image" Target="../media/image34.png"/><Relationship Id="rId4" Type="http://schemas.openxmlformats.org/officeDocument/2006/relationships/slideLayout" Target="../slideLayouts/slideLayout13.xml"/><Relationship Id="rId5"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3.png"/><Relationship Id="rId3" Type="http://schemas.openxmlformats.org/officeDocument/2006/relationships/image" Target="../media/image36.png"/><Relationship Id="rId4" Type="http://schemas.openxmlformats.org/officeDocument/2006/relationships/slideLayout" Target="../slideLayouts/slideLayout13.xml"/><Relationship Id="rId5"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13.xml"/><Relationship Id="rId4"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slideLayout" Target="../slideLayouts/slideLayout13.xml"/><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13.xml"/><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13.xml"/><Relationship Id="rId4"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3.xml"/><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3.xml"/><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13.xml"/><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slideLayout" Target="../slideLayouts/slideLayout13.xml"/><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3.xml"/><Relationship Id="rId3"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3.xml"/><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3.xml"/><Relationship Id="rId3"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3.xml"/><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image" Target="../media/image62.png"/><Relationship Id="rId2" Type="http://schemas.openxmlformats.org/officeDocument/2006/relationships/image" Target="../media/image63.png"/><Relationship Id="rId3" Type="http://schemas.openxmlformats.org/officeDocument/2006/relationships/slideLayout" Target="../slideLayouts/slideLayout13.xml"/><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3.xml"/><Relationship Id="rId3"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hyperlink" Target="https://arxiv.org/abs/2001.08361" TargetMode="External"/><Relationship Id="rId2" Type="http://schemas.openxmlformats.org/officeDocument/2006/relationships/hyperlink" Target="https://dnacap.fund/insights/exploring-the-landscape-of-large-language-models" TargetMode="External"/><Relationship Id="rId3" Type="http://schemas.openxmlformats.org/officeDocument/2006/relationships/image" Target="../media/image65.png"/><Relationship Id="rId4" Type="http://schemas.openxmlformats.org/officeDocument/2006/relationships/slideLayout" Target="../slideLayouts/slideLayout13.xml"/><Relationship Id="rId5"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image" Target="../media/image66.jpeg"/><Relationship Id="rId2" Type="http://schemas.openxmlformats.org/officeDocument/2006/relationships/image" Target="../media/image67.jpeg"/><Relationship Id="rId3" Type="http://schemas.openxmlformats.org/officeDocument/2006/relationships/image" Target="../media/image68.jpeg"/><Relationship Id="rId4" Type="http://schemas.openxmlformats.org/officeDocument/2006/relationships/image" Target="../media/image69.png"/><Relationship Id="rId5" Type="http://schemas.openxmlformats.org/officeDocument/2006/relationships/slideLayout" Target="../slideLayouts/slideLayout13.xml"/><Relationship Id="rId6"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hyperlink" Target="https://robotchinwag.com/posts/demystifying-tensor-parallelism/" TargetMode="External"/><Relationship Id="rId2" Type="http://schemas.openxmlformats.org/officeDocument/2006/relationships/hyperlink" Target="https://docs.nvidia.com/nemo/megatron-bridge/0.2.0/parallelisms.html" TargetMode="External"/><Relationship Id="rId3" Type="http://schemas.openxmlformats.org/officeDocument/2006/relationships/hyperlink" Target="https://aclanthology.org/2023.acl-long.134.pdf" TargetMode="External"/><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slideLayout" Target="../slideLayouts/slideLayout13.xml"/><Relationship Id="rId8"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hyperlink" Target="https://arxiv.org/html/2507.04786v1" TargetMode="Externa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slideLayout" Target="../slideLayouts/slideLayout13.xml"/><Relationship Id="rId5"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hyperlink" Target="https://developer.nvidia.com/blog/scaling-ai-inference-performance-and-flexibility-with-nvidia-nvlink-and-nvlink-fusion/" TargetMode="External"/><Relationship Id="rId2" Type="http://schemas.openxmlformats.org/officeDocument/2006/relationships/hyperlink" Target="https://www.hiascend.com/developer/techArticles/20240809-1" TargetMode="Externa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slideLayout" Target="../slideLayouts/slideLayout13.xml"/><Relationship Id="rId6"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77.png"/><Relationship Id="rId3" Type="http://schemas.openxmlformats.org/officeDocument/2006/relationships/slideLayout" Target="../slideLayouts/slideLayout13.xml"/><Relationship Id="rId4"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78.png"/><Relationship Id="rId3" Type="http://schemas.openxmlformats.org/officeDocument/2006/relationships/slideLayout" Target="../slideLayouts/slideLayout13.xml"/><Relationship Id="rId4"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79.png"/><Relationship Id="rId3" Type="http://schemas.openxmlformats.org/officeDocument/2006/relationships/slideLayout" Target="../slideLayouts/slideLayout13.xml"/><Relationship Id="rId4"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80.png"/><Relationship Id="rId3" Type="http://schemas.openxmlformats.org/officeDocument/2006/relationships/slideLayout" Target="../slideLayouts/slideLayout13.xml"/><Relationship Id="rId4"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81.png"/><Relationship Id="rId3" Type="http://schemas.openxmlformats.org/officeDocument/2006/relationships/slideLayout" Target="../slideLayouts/slideLayout13.xml"/><Relationship Id="rId4"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82.png"/><Relationship Id="rId3" Type="http://schemas.openxmlformats.org/officeDocument/2006/relationships/slideLayout" Target="../slideLayouts/slideLayout13.xml"/><Relationship Id="rId4"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83.png"/><Relationship Id="rId3" Type="http://schemas.openxmlformats.org/officeDocument/2006/relationships/slideLayout" Target="../slideLayouts/slideLayout13.xml"/><Relationship Id="rId4"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hyperlink" Target="https://docs.nvidia.com/deeplearning/nccl/user-guide/docs/usage/collectives.html" TargetMode="External"/><Relationship Id="rId2" Type="http://schemas.openxmlformats.org/officeDocument/2006/relationships/image" Target="../media/image84.png"/><Relationship Id="rId3" Type="http://schemas.openxmlformats.org/officeDocument/2006/relationships/slideLayout" Target="../slideLayouts/slideLayout13.xml"/><Relationship Id="rId4"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hyperlink" Target="https://www.uber.com/en-JP/blog/horovod/" TargetMode="Externa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slideLayout" Target="../slideLayouts/slideLayout13.xml"/><Relationship Id="rId6"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88.png"/><Relationship Id="rId3" Type="http://schemas.openxmlformats.org/officeDocument/2006/relationships/slideLayout" Target="../slideLayouts/slideLayout13.xml"/><Relationship Id="rId4"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3.xml"/><Relationship Id="rId3"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hyperlink" Target="https://docs.pytorch.org/docs/stable/notes/ddp.html" TargetMode="External"/><Relationship Id="rId2" Type="http://schemas.openxmlformats.org/officeDocument/2006/relationships/image" Target="../media/image90.png"/><Relationship Id="rId3" Type="http://schemas.openxmlformats.org/officeDocument/2006/relationships/slideLayout" Target="../slideLayouts/slideLayout13.xml"/><Relationship Id="rId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hyperlink" Target="https://docs.pytorch.org/tutorials/intermediate/FSDP_tutorial.html" TargetMode="External"/><Relationship Id="rId2" Type="http://schemas.openxmlformats.org/officeDocument/2006/relationships/hyperlink" Target="https://arxiv.org/abs/2304.11277" TargetMode="Externa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slideLayout" Target="../slideLayouts/slideLayout13.xml"/><Relationship Id="rId6"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hyperlink" Target="https://docs.pytorch.org/tutorials/intermediate/FSDP_tutorial.html" TargetMode="External"/><Relationship Id="rId2" Type="http://schemas.openxmlformats.org/officeDocument/2006/relationships/hyperlink" Target="https://arxiv.org/abs/2304.11277" TargetMode="Externa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jpeg"/><Relationship Id="rId7" Type="http://schemas.openxmlformats.org/officeDocument/2006/relationships/slideLayout" Target="../slideLayouts/slideLayout13.xml"/><Relationship Id="rId8"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hyperlink" Target="https://docs.pytorch.org/tutorials/intermediate/FSDP_tutorial.html" TargetMode="External"/><Relationship Id="rId2" Type="http://schemas.openxmlformats.org/officeDocument/2006/relationships/hyperlink" Target="https://arxiv.org/abs/2304.11277" TargetMode="Externa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jpeg"/><Relationship Id="rId7" Type="http://schemas.openxmlformats.org/officeDocument/2006/relationships/slideLayout" Target="../slideLayouts/slideLayout13.xml"/><Relationship Id="rId8"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hyperlink" Target="https://ieeexplore.ieee.org/document/6337589/" TargetMode="External"/><Relationship Id="rId2" Type="http://schemas.openxmlformats.org/officeDocument/2006/relationships/image" Target="../media/image94.png"/><Relationship Id="rId3" Type="http://schemas.openxmlformats.org/officeDocument/2006/relationships/image" Target="../media/image95.jpe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slideLayout" Target="../slideLayouts/slideLayout13.xml"/><Relationship Id="rId7"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image" Target="../media/image98.png"/><Relationship Id="rId2" Type="http://schemas.openxmlformats.org/officeDocument/2006/relationships/slideLayout" Target="../slideLayouts/slideLayout13.xml"/><Relationship Id="rId3"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13.xml"/><Relationship Id="rId3"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13.xml"/><Relationship Id="rId3"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13.xml"/><Relationship Id="rId3"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slideLayout" Target="../slideLayouts/slideLayout13.xml"/><Relationship Id="rId4"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2.png"/><Relationship Id="rId3" Type="http://schemas.openxmlformats.org/officeDocument/2006/relationships/slideLayout" Target="../slideLayouts/slideLayout13.xml"/><Relationship Id="rId4"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3.png"/><Relationship Id="rId3" Type="http://schemas.openxmlformats.org/officeDocument/2006/relationships/slideLayout" Target="../slideLayouts/slideLayout13.xml"/><Relationship Id="rId4"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0.png"/><Relationship Id="rId3" Type="http://schemas.openxmlformats.org/officeDocument/2006/relationships/slideLayout" Target="../slideLayouts/slideLayout13.xml"/><Relationship Id="rId4"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image" Target="../media/image105.png"/><Relationship Id="rId2" Type="http://schemas.openxmlformats.org/officeDocument/2006/relationships/image" Target="../media/image100.png"/><Relationship Id="rId3" Type="http://schemas.openxmlformats.org/officeDocument/2006/relationships/slideLayout" Target="../slideLayouts/slideLayout13.xml"/><Relationship Id="rId4"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image" Target="../media/image106.png"/><Relationship Id="rId2" Type="http://schemas.openxmlformats.org/officeDocument/2006/relationships/image" Target="../media/image100.png"/><Relationship Id="rId3" Type="http://schemas.openxmlformats.org/officeDocument/2006/relationships/slideLayout" Target="../slideLayouts/slideLayout13.xml"/><Relationship Id="rId4"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image" Target="../media/image107.png"/><Relationship Id="rId2" Type="http://schemas.openxmlformats.org/officeDocument/2006/relationships/image" Target="../media/image100.png"/><Relationship Id="rId3" Type="http://schemas.openxmlformats.org/officeDocument/2006/relationships/slideLayout" Target="../slideLayouts/slideLayout13.xml"/><Relationship Id="rId4" Type="http://schemas.openxmlformats.org/officeDocument/2006/relationships/notesSlide" Target="../notesSlides/notesSlide92.xml"/></Relationships>
</file>

<file path=ppt/slides/_rels/slide95.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slideLayout" Target="../slideLayouts/slideLayout13.xml"/><Relationship Id="rId3" Type="http://schemas.openxmlformats.org/officeDocument/2006/relationships/notesSlide" Target="../notesSlides/notesSlide93.xml"/></Relationships>
</file>

<file path=ppt/slides/_rels/slide96.xml.rels><?xml version='1.0' encoding='UTF-8' standalone='yes'?>
<Relationships xmlns="http://schemas.openxmlformats.org/package/2006/relationships"><Relationship Id="rId1" Type="http://schemas.openxmlformats.org/officeDocument/2006/relationships/hyperlink" Target="https://www.semanticscholar.org/paper/Optimization-of-Collective-Reduction-Operations-Rabenseifner/e2584fdc3f9e696423d96522038f3fa35137ab92" TargetMode="External"/><Relationship Id="rId2" Type="http://schemas.openxmlformats.org/officeDocument/2006/relationships/image" Target="../media/image108.png"/><Relationship Id="rId3" Type="http://schemas.openxmlformats.org/officeDocument/2006/relationships/slideLayout" Target="../slideLayouts/slideLayout13.xml"/><Relationship Id="rId4" Type="http://schemas.openxmlformats.org/officeDocument/2006/relationships/notesSlide" Target="../notesSlides/notesSlide9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s>
</file>

<file path=ppt/slides/_rels/slide98.xml.rels><?xml version='1.0' encoding='UTF-8' standalone='yes'?>
<Relationships xmlns="http://schemas.openxmlformats.org/package/2006/relationships"><Relationship Id="rId1" Type="http://schemas.openxmlformats.org/officeDocument/2006/relationships/image" Target="../media/image109.png"/><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slideLayout" Target="../slideLayouts/slideLayout13.xml"/><Relationship Id="rId5" Type="http://schemas.openxmlformats.org/officeDocument/2006/relationships/notesSlide" Target="../notesSlides/notesSlide96.xml"/></Relationships>
</file>

<file path=ppt/slides/_rels/slide99.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slideLayout" Target="../slideLayouts/slideLayout13.xml"/><Relationship Id="rId3" Type="http://schemas.openxmlformats.org/officeDocument/2006/relationships/notesSlide" Target="../notesSlides/notesSlide9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9.xml"/></Relationships>
</file>

<file path=ppt/slides/_rels/slide102.xml.rels><?xml version='1.0' encoding='UTF-8' standalone='yes'?>
<Relationships xmlns="http://schemas.openxmlformats.org/package/2006/relationships"><Relationship Id="rId1" Type="http://schemas.openxmlformats.org/officeDocument/2006/relationships/image" Target="../media/image113.png"/><Relationship Id="rId2" Type="http://schemas.openxmlformats.org/officeDocument/2006/relationships/slideLayout" Target="../slideLayouts/slideLayout13.xml"/><Relationship Id="rId3" Type="http://schemas.openxmlformats.org/officeDocument/2006/relationships/notesSlide" Target="../notesSlides/notesSlide10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Relationships>
</file>

<file path=ppt/slides/_rels/slide104.xml.rels><?xml version='1.0' encoding='UTF-8' standalone='yes'?>
<Relationships xmlns="http://schemas.openxmlformats.org/package/2006/relationships"><Relationship Id="rId1" Type="http://schemas.openxmlformats.org/officeDocument/2006/relationships/image" Target="../media/image114.png"/><Relationship Id="rId2" Type="http://schemas.openxmlformats.org/officeDocument/2006/relationships/slideLayout" Target="../slideLayouts/slideLayout13.xml"/><Relationship Id="rId3" Type="http://schemas.openxmlformats.org/officeDocument/2006/relationships/notesSlide" Target="../notesSlides/notesSlide102.xml"/></Relationships>
</file>

<file path=ppt/slides/_rels/slide105.xml.rels><?xml version='1.0' encoding='UTF-8' standalone='yes'?>
<Relationships xmlns="http://schemas.openxmlformats.org/package/2006/relationships"><Relationship Id="rId1" Type="http://schemas.openxmlformats.org/officeDocument/2006/relationships/image" Target="../media/image115.png"/><Relationship Id="rId2" Type="http://schemas.openxmlformats.org/officeDocument/2006/relationships/slideLayout" Target="../slideLayouts/slideLayout13.xml"/><Relationship Id="rId3" Type="http://schemas.openxmlformats.org/officeDocument/2006/relationships/notesSlide" Target="../notesSlides/notesSlide103.xml"/></Relationships>
</file>

<file path=ppt/slides/_rels/slide106.xml.rels><?xml version='1.0' encoding='UTF-8' standalone='yes'?>
<Relationships xmlns="http://schemas.openxmlformats.org/package/2006/relationships"><Relationship Id="rId1" Type="http://schemas.openxmlformats.org/officeDocument/2006/relationships/image" Target="../media/image116.jpeg"/><Relationship Id="rId2" Type="http://schemas.openxmlformats.org/officeDocument/2006/relationships/slideLayout" Target="../slideLayouts/slideLayout13.xml"/><Relationship Id="rId3" Type="http://schemas.openxmlformats.org/officeDocument/2006/relationships/notesSlide" Target="../notesSlides/notesSlide10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6.xml"/></Relationships>
</file>

<file path=ppt/slides/_rels/slide109.xml.rels><?xml version='1.0' encoding='UTF-8' standalone='yes'?>
<Relationships xmlns="http://schemas.openxmlformats.org/package/2006/relationships"><Relationship Id="rId1" Type="http://schemas.openxmlformats.org/officeDocument/2006/relationships/image" Target="../media/image117.png"/><Relationship Id="rId2" Type="http://schemas.openxmlformats.org/officeDocument/2006/relationships/slideLayout" Target="../slideLayouts/slideLayout13.xml"/><Relationship Id="rId3" Type="http://schemas.openxmlformats.org/officeDocument/2006/relationships/notesSlide" Target="../notesSlides/notesSlide107.xml"/></Relationships>
</file>

<file path=ppt/slides/_rels/slide110.xml.rels><?xml version='1.0' encoding='UTF-8' standalone='yes'?>
<Relationships xmlns="http://schemas.openxmlformats.org/package/2006/relationships"><Relationship Id="rId1" Type="http://schemas.openxmlformats.org/officeDocument/2006/relationships/image" Target="../media/image118.png"/><Relationship Id="rId2" Type="http://schemas.openxmlformats.org/officeDocument/2006/relationships/slideLayout" Target="../slideLayouts/slideLayout13.xml"/><Relationship Id="rId3" Type="http://schemas.openxmlformats.org/officeDocument/2006/relationships/notesSlide" Target="../notesSlides/notesSlide108.xml"/></Relationships>
</file>

<file path=ppt/slides/_rels/slide111.xml.rels><?xml version='1.0' encoding='UTF-8' standalone='yes'?>
<Relationships xmlns="http://schemas.openxmlformats.org/package/2006/relationships"><Relationship Id="rId1" Type="http://schemas.openxmlformats.org/officeDocument/2006/relationships/image" Target="../media/image119.png"/><Relationship Id="rId2" Type="http://schemas.openxmlformats.org/officeDocument/2006/relationships/slideLayout" Target="../slideLayouts/slideLayout13.xml"/><Relationship Id="rId3"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image" Target="../media/image120.png"/><Relationship Id="rId2" Type="http://schemas.openxmlformats.org/officeDocument/2006/relationships/slideLayout" Target="../slideLayouts/slideLayout13.xml"/><Relationship Id="rId3" Type="http://schemas.openxmlformats.org/officeDocument/2006/relationships/notesSlide" Target="../notesSlides/notes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tags" Target="../tags/tag1.xml"/><Relationship Id="rId3" Type="http://schemas.openxmlformats.org/officeDocument/2006/relationships/slideLayout" Target="../slideLayouts/slideLayout13.xml"/><Relationship Id="rId4" Type="http://schemas.openxmlformats.org/officeDocument/2006/relationships/notesSlide" Target="../notesSlides/notesSlide1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0.xml"/></Relationships>
</file>

<file path=ppt/slides/_rels/slide123.xml.rels><?xml version='1.0' encoding='UTF-8' standalone='yes'?>
<Relationships xmlns="http://schemas.openxmlformats.org/package/2006/relationships"><Relationship Id="rId1" Type="http://schemas.openxmlformats.org/officeDocument/2006/relationships/image" Target="../media/image122.png"/><Relationship Id="rId2" Type="http://schemas.openxmlformats.org/officeDocument/2006/relationships/slideLayout" Target="../slideLayouts/slideLayout13.xml"/><Relationship Id="rId3" Type="http://schemas.openxmlformats.org/officeDocument/2006/relationships/notesSlide" Target="../notesSlides/notesSlide121.xml"/></Relationships>
</file>

<file path=ppt/slides/_rels/slide124.xml.rels><?xml version='1.0' encoding='UTF-8' standalone='yes'?>
<Relationships xmlns="http://schemas.openxmlformats.org/package/2006/relationships"><Relationship Id="rId1" Type="http://schemas.openxmlformats.org/officeDocument/2006/relationships/image" Target="../media/image123.png"/><Relationship Id="rId2" Type="http://schemas.openxmlformats.org/officeDocument/2006/relationships/image" Target="../media/image124.png"/><Relationship Id="rId3" Type="http://schemas.openxmlformats.org/officeDocument/2006/relationships/image" Target="../media/image125.png"/><Relationship Id="rId4" Type="http://schemas.openxmlformats.org/officeDocument/2006/relationships/slideLayout" Target="../slideLayouts/slideLayout13.xml"/><Relationship Id="rId5" Type="http://schemas.openxmlformats.org/officeDocument/2006/relationships/notesSlide" Target="../notesSlides/notesSlide122.xml"/></Relationships>
</file>

<file path=ppt/slides/_rels/slide125.xml.rels><?xml version='1.0' encoding='UTF-8' standalone='yes'?>
<Relationships xmlns="http://schemas.openxmlformats.org/package/2006/relationships"><Relationship Id="rId1" Type="http://schemas.openxmlformats.org/officeDocument/2006/relationships/image" Target="../media/image126.png"/><Relationship Id="rId2" Type="http://schemas.openxmlformats.org/officeDocument/2006/relationships/slideLayout" Target="../slideLayouts/slideLayout13.xml"/><Relationship Id="rId3" Type="http://schemas.openxmlformats.org/officeDocument/2006/relationships/notesSlide" Target="../notesSlides/notesSlide123.xml"/></Relationships>
</file>

<file path=ppt/slides/_rels/slide126.xml.rels><?xml version='1.0' encoding='UTF-8' standalone='yes'?>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128.png"/><Relationship Id="rId3" Type="http://schemas.openxmlformats.org/officeDocument/2006/relationships/slideLayout" Target="../slideLayouts/slideLayout13.xml"/><Relationship Id="rId4" Type="http://schemas.openxmlformats.org/officeDocument/2006/relationships/notesSlide" Target="../notesSlides/notesSlide124.xml"/></Relationships>
</file>

<file path=ppt/slides/_rels/slide12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3.xml"/><Relationship Id="rId3" Type="http://schemas.openxmlformats.org/officeDocument/2006/relationships/notesSlide" Target="../notesSlides/notesSlide125.xml"/></Relationships>
</file>

<file path=ppt/slides/_rels/slide128.xml.rels><?xml version='1.0' encoding='UTF-8' standalone='yes'?>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3.xml"/><Relationship Id="rId3" Type="http://schemas.openxmlformats.org/officeDocument/2006/relationships/notesSlide" Target="../notesSlides/notesSlide126.xml"/></Relationships>
</file>

<file path=ppt/slides/_rels/slide129.xml.rels><?xml version='1.0' encoding='UTF-8' standalone='yes'?>
<Relationships xmlns="http://schemas.openxmlformats.org/package/2006/relationships"><Relationship Id="rId1" Type="http://schemas.openxmlformats.org/officeDocument/2006/relationships/image" Target="../media/image130.png"/><Relationship Id="rId2" Type="http://schemas.openxmlformats.org/officeDocument/2006/relationships/slideLayout" Target="../slideLayouts/slideLayout13.xml"/><Relationship Id="rId3" Type="http://schemas.openxmlformats.org/officeDocument/2006/relationships/notesSlide" Target="../notesSlides/notesSlide12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8.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3.xml"/><Relationship Id="rId3" Type="http://schemas.openxmlformats.org/officeDocument/2006/relationships/notesSlide" Target="../notesSlides/notesSlide12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1.xml"/></Relationships>
</file>

<file path=ppt/slides/_rels/slide134.xml.rels><?xml version='1.0' encoding='UTF-8' standalone='yes'?>
<Relationships xmlns="http://schemas.openxmlformats.org/package/2006/relationships"><Relationship Id="rId1" Type="http://schemas.openxmlformats.org/officeDocument/2006/relationships/image" Target="../media/image132.png"/><Relationship Id="rId2" Type="http://schemas.openxmlformats.org/officeDocument/2006/relationships/slideLayout" Target="../slideLayouts/slideLayout13.xml"/><Relationship Id="rId3" Type="http://schemas.openxmlformats.org/officeDocument/2006/relationships/notesSlide" Target="../notesSlides/notesSlide132.xml"/></Relationships>
</file>

<file path=ppt/slides/_rels/slide135.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slideLayout" Target="../slideLayouts/slideLayout13.xml"/><Relationship Id="rId3" Type="http://schemas.openxmlformats.org/officeDocument/2006/relationships/notesSlide" Target="../notesSlides/notesSlide13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Relationships>
</file>

<file path=ppt/slides/_rels/slide13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3.xml"/><Relationship Id="rId3" Type="http://schemas.openxmlformats.org/officeDocument/2006/relationships/notesSlide" Target="../notesSlides/notesSlide136.xml"/></Relationships>
</file>

<file path=ppt/slides/_rels/slide139.xml.rels><?xml version='1.0' encoding='UTF-8' standalone='yes'?>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135.png"/><Relationship Id="rId3" Type="http://schemas.openxmlformats.org/officeDocument/2006/relationships/slideLayout" Target="../slideLayouts/slideLayout13.xml"/><Relationship Id="rId4" Type="http://schemas.openxmlformats.org/officeDocument/2006/relationships/notesSlide" Target="../notesSlides/notesSlide137.xml"/></Relationships>
</file>

<file path=ppt/slides/_rels/slide140.xml.rels><?xml version='1.0' encoding='UTF-8' standalone='yes'?>
<Relationships xmlns="http://schemas.openxmlformats.org/package/2006/relationships"><Relationship Id="rId1" Type="http://schemas.openxmlformats.org/officeDocument/2006/relationships/image" Target="../media/image136.png"/><Relationship Id="rId2" Type="http://schemas.openxmlformats.org/officeDocument/2006/relationships/image" Target="../media/image137.png"/><Relationship Id="rId3" Type="http://schemas.openxmlformats.org/officeDocument/2006/relationships/slideLayout" Target="../slideLayouts/slideLayout13.xml"/><Relationship Id="rId4" Type="http://schemas.openxmlformats.org/officeDocument/2006/relationships/notesSlide" Target="../notesSlides/notesSlide138.xml"/></Relationships>
</file>

<file path=ppt/slides/_rels/slide141.xml.rels><?xml version='1.0' encoding='UTF-8' standalone='yes'?>
<Relationships xmlns="http://schemas.openxmlformats.org/package/2006/relationships"><Relationship Id="rId1" Type="http://schemas.openxmlformats.org/officeDocument/2006/relationships/image" Target="../media/image138.png"/><Relationship Id="rId2" Type="http://schemas.openxmlformats.org/officeDocument/2006/relationships/image" Target="../media/image139.png"/><Relationship Id="rId3" Type="http://schemas.openxmlformats.org/officeDocument/2006/relationships/slideLayout" Target="../slideLayouts/slideLayout13.xml"/><Relationship Id="rId4" Type="http://schemas.openxmlformats.org/officeDocument/2006/relationships/notesSlide" Target="../notesSlides/notesSlide139.xml"/></Relationships>
</file>

<file path=ppt/slides/_rels/slide142.xml.rels><?xml version='1.0' encoding='UTF-8' standalone='yes'?>
<Relationships xmlns="http://schemas.openxmlformats.org/package/2006/relationships"><Relationship Id="rId1" Type="http://schemas.openxmlformats.org/officeDocument/2006/relationships/image" Target="../media/image140.png"/><Relationship Id="rId2" Type="http://schemas.openxmlformats.org/officeDocument/2006/relationships/image" Target="../media/image141.png"/><Relationship Id="rId3" Type="http://schemas.openxmlformats.org/officeDocument/2006/relationships/slideLayout" Target="../slideLayouts/slideLayout13.xml"/><Relationship Id="rId4" Type="http://schemas.openxmlformats.org/officeDocument/2006/relationships/notesSlide" Target="../notesSlides/notesSlide14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s>
</file>

<file path=ppt/slides/_rels/slide144.xml.rels><?xml version='1.0' encoding='UTF-8' standalone='yes'?>
<Relationships xmlns="http://schemas.openxmlformats.org/package/2006/relationships"><Relationship Id="rId1" Type="http://schemas.openxmlformats.org/officeDocument/2006/relationships/image" Target="../media/image142.png"/><Relationship Id="rId2" Type="http://schemas.openxmlformats.org/officeDocument/2006/relationships/slideLayout" Target="../slideLayouts/slideLayout13.xml"/><Relationship Id="rId3" Type="http://schemas.openxmlformats.org/officeDocument/2006/relationships/notesSlide" Target="../notesSlides/notesSlide142.xml"/></Relationships>
</file>

<file path=ppt/slides/_rels/slide145.xml.rels><?xml version='1.0' encoding='UTF-8' standalone='yes'?>
<Relationships xmlns="http://schemas.openxmlformats.org/package/2006/relationships"><Relationship Id="rId1" Type="http://schemas.openxmlformats.org/officeDocument/2006/relationships/image" Target="../media/image143.png"/><Relationship Id="rId2" Type="http://schemas.openxmlformats.org/officeDocument/2006/relationships/slideLayout" Target="../slideLayouts/slideLayout13.xml"/><Relationship Id="rId3" Type="http://schemas.openxmlformats.org/officeDocument/2006/relationships/notesSlide" Target="../notesSlides/notesSlide143.xml"/></Relationships>
</file>

<file path=ppt/slides/_rels/slide146.xml.rels><?xml version='1.0' encoding='UTF-8' standalone='yes'?>
<Relationships xmlns="http://schemas.openxmlformats.org/package/2006/relationships"><Relationship Id="rId1" Type="http://schemas.openxmlformats.org/officeDocument/2006/relationships/image" Target="../media/image144.png"/><Relationship Id="rId2" Type="http://schemas.openxmlformats.org/officeDocument/2006/relationships/slideLayout" Target="../slideLayouts/slideLayout13.xml"/><Relationship Id="rId3" Type="http://schemas.openxmlformats.org/officeDocument/2006/relationships/notesSlide" Target="../notesSlides/notesSlide144.xml"/></Relationships>
</file>

<file path=ppt/slides/_rels/slide147.xml.rels><?xml version='1.0' encoding='UTF-8' standalone='yes'?>
<Relationships xmlns="http://schemas.openxmlformats.org/package/2006/relationships"><Relationship Id="rId1" Type="http://schemas.openxmlformats.org/officeDocument/2006/relationships/image" Target="../media/image145.png"/><Relationship Id="rId2" Type="http://schemas.openxmlformats.org/officeDocument/2006/relationships/slideLayout" Target="../slideLayouts/slideLayout13.xml"/><Relationship Id="rId3" Type="http://schemas.openxmlformats.org/officeDocument/2006/relationships/notesSlide" Target="../notesSlides/notesSlide14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6.xml"/></Relationships>
</file>

<file path=ppt/slides/_rels/slide149.xml.rels><?xml version='1.0' encoding='UTF-8' standalone='yes'?>
<Relationships xmlns="http://schemas.openxmlformats.org/package/2006/relationships"><Relationship Id="rId1" Type="http://schemas.openxmlformats.org/officeDocument/2006/relationships/image" Target="../media/image146.png"/><Relationship Id="rId2" Type="http://schemas.openxmlformats.org/officeDocument/2006/relationships/slideLayout" Target="../slideLayouts/slideLayout13.xml"/><Relationship Id="rId3" Type="http://schemas.openxmlformats.org/officeDocument/2006/relationships/notesSlide" Target="../notesSlides/notesSlide147.xml"/></Relationships>
</file>

<file path=ppt/slides/_rels/slide150.xml.rels><?xml version='1.0' encoding='UTF-8' standalone='yes'?>
<Relationships xmlns="http://schemas.openxmlformats.org/package/2006/relationships"><Relationship Id="rId1" Type="http://schemas.openxmlformats.org/officeDocument/2006/relationships/image" Target="../media/image147.png"/><Relationship Id="rId2" Type="http://schemas.openxmlformats.org/officeDocument/2006/relationships/slideLayout" Target="../slideLayouts/slideLayout13.xml"/><Relationship Id="rId3" Type="http://schemas.openxmlformats.org/officeDocument/2006/relationships/notesSlide" Target="../notesSlides/notesSlide148.xml"/></Relationships>
</file>

<file path=ppt/slides/_rels/slide151.xml.rels><?xml version='1.0' encoding='UTF-8' standalone='yes'?>
<Relationships xmlns="http://schemas.openxmlformats.org/package/2006/relationships"><Relationship Id="rId1" Type="http://schemas.openxmlformats.org/officeDocument/2006/relationships/image" Target="../media/image148.png"/><Relationship Id="rId2" Type="http://schemas.openxmlformats.org/officeDocument/2006/relationships/image" Target="../media/image149.png"/><Relationship Id="rId3" Type="http://schemas.openxmlformats.org/officeDocument/2006/relationships/image" Target="../media/image150.png"/><Relationship Id="rId4" Type="http://schemas.openxmlformats.org/officeDocument/2006/relationships/slideLayout" Target="../slideLayouts/slideLayout13.xml"/><Relationship Id="rId5" Type="http://schemas.openxmlformats.org/officeDocument/2006/relationships/notesSlide" Target="../notesSlides/notesSlide14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Relationships>
</file>

<file path=ppt/slides/_rels/slide158.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3.xml"/><Relationship Id="rId3" Type="http://schemas.openxmlformats.org/officeDocument/2006/relationships/notesSlide" Target="../notesSlides/notesSlide156.xml"/></Relationships>
</file>

<file path=ppt/slides/_rels/slide159.xml.rels><?xml version='1.0' encoding='UTF-8' standalone='yes'?>
<Relationships xmlns="http://schemas.openxmlformats.org/package/2006/relationships"><Relationship Id="rId1" Type="http://schemas.openxmlformats.org/officeDocument/2006/relationships/image" Target="../media/image152.png"/><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hyperlink" Target="https://github.com/flagos-ai" TargetMode="External"/><Relationship Id="rId8" Type="http://schemas.openxmlformats.org/officeDocument/2006/relationships/hyperlink" Target="https://space.bilibili.com/3546791834290849" TargetMode="External"/><Relationship Id="rId9" Type="http://schemas.openxmlformats.org/officeDocument/2006/relationships/hyperlink" Target="https://www.zhihu.com/people/95-22-20-18/posts" TargetMode="External"/><Relationship Id="rId10" Type="http://schemas.openxmlformats.org/officeDocument/2006/relationships/hyperlink" Target="https://flagos.io/Home" TargetMode="External"/><Relationship Id="rId11" Type="http://schemas.openxmlformats.org/officeDocument/2006/relationships/image" Target="../media/image158.jpeg"/><Relationship Id="rId12" Type="http://schemas.openxmlformats.org/officeDocument/2006/relationships/image" Target="../media/image159.png"/><Relationship Id="rId13" Type="http://schemas.openxmlformats.org/officeDocument/2006/relationships/slideLayout" Target="../slideLayouts/slideLayout17.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pPr>
            <a:r>
              <a:rPr sz="4400">
                <a:latin typeface="微软雅黑" panose="020B0503020204020204" charset="-122"/>
              </a:rPr>
              <a:t>Systèmes de Calcul Intelligent Fondements Logiciels et Matériels</a:t>
            </a:r>
            <a:endParaRPr lang="en-US" b="1"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logo-africa"/>
          <p:cNvPicPr>
            <a:picLocks noChangeAspect="1"/>
          </p:cNvPicPr>
          <p:nvPr userDrawn="1"/>
        </p:nvPicPr>
        <p:blipFill>
          <a:blip r:embed="rId4"/>
          <a:stretch>
            <a:fillRect/>
          </a:stretch>
        </p:blipFill>
        <p:spPr>
          <a:xfrm>
            <a:off x="8076565" y="292735"/>
            <a:ext cx="897890" cy="3740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28</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Parallélisme de données</a:t>
            </a:r>
            <a:b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(Data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Introduction à DP/DDP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ZeRO-1/2/3</a:t>
            </a: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FSDP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 mémoire et coûts de communication</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Introduction à l'entraînement distribué des grands modèles de langage</a:t>
            </a:r>
            <a:endPar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5953125" cy="461518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Passer de l'inférence de base des grands modèles de langage à la réalité computationnelle de l'entraînement.</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la phase d'inférence, la mémoire vidéo est principalement occupée par les poids du modèle et la </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 KV </a:t>
            </a:r>
            <a:r>
              <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 temporaire.</a:t>
            </a:r>
            <a:endPar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phase d'entraînement, nécessitant de sauvegarder le graphe de calcul complet et de maintenir l'état de l'optimiseur en haute précision, introduit une surcharge mémoire considérable.</a:t>
            </a:r>
            <a:endPar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seul accélérateur matériel ne suffit plus ; le calcul et la mémoire doivent faire l'objet d'une mise à l'échelle horizontale.</a:t>
            </a:r>
            <a:endPar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aux trois paradigmes de parallélisme essentiels</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des données, parallélisme des tenseurs et parallélisme de pipeline.</a:t>
            </a:r>
            <a:endParaRPr lang="en-US" sz="13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558844" y="4861782"/>
            <a:ext cx="5396089" cy="624839"/>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2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Sur plusieurs </a:t>
            </a:r>
            <a:r>
              <a:rPr lang="en-US" sz="1620" b="0" i="0" u="none" strike="noStrike">
                <a:solidFill>
                  <a:srgbClr val="000000"/>
                </a:solidFill>
                <a:latin typeface="Calibri" panose="020F0502020204030204"/>
                <a:ea typeface="Arial" panose="020B0604020202020204"/>
                <a:cs typeface="Arial" panose="020B0604020202020204"/>
                <a:sym typeface="Arial" panose="020B0604020202020204"/>
              </a:rPr>
              <a:t> GPU </a:t>
            </a:r>
            <a:r>
              <a:rPr lang="en-US" sz="162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et entre plusieurs machines, répartir la mémoire et le calcul</a:t>
            </a:r>
            <a:endParaRPr lang="en-US" sz="1100"/>
          </a:p>
        </p:txBody>
      </p:sp>
      <p:pic>
        <p:nvPicPr>
          <p:cNvPr id="7" name="Picture 7"/>
          <p:cNvPicPr>
            <a:picLocks noChangeAspect="1"/>
          </p:cNvPicPr>
          <p:nvPr/>
        </p:nvPicPr>
        <p:blipFill>
          <a:blip r:embed="rId1"/>
          <a:srcRect/>
          <a:stretch>
            <a:fillRect/>
          </a:stretch>
        </p:blipFill>
        <p:spPr>
          <a:xfrm>
            <a:off x="6477333" y="1873956"/>
            <a:ext cx="5714667" cy="2987826"/>
          </a:xfrm>
          <a:prstGeom prst="rect">
            <a:avLst/>
          </a:prstGeom>
          <a:ln w="12700">
            <a:noFill/>
            <a:prstDash val="solid"/>
          </a:ln>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des données (</a:t>
            </a:r>
            <a:r>
              <a:rPr lang="en-US" sz="3025" b="0" i="0" u="none" strike="noStrike">
                <a:solidFill>
                  <a:srgbClr val="262626"/>
                </a:solidFill>
                <a:latin typeface="Calibri" panose="020F0502020204030204"/>
                <a:ea typeface="Calibri" panose="020F0502020204030204"/>
                <a:cs typeface="Calibri" panose="020F0502020204030204"/>
                <a:sym typeface="Calibri" panose="020F0502020204030204"/>
              </a:rPr>
              <a:t>DP</a:t>
            </a:r>
            <a:r>
              <a:rPr lang="en-US"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Introduction</a:t>
            </a:r>
            <a:endParaRPr lang="en-US"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parallélisme des données (</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DP</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la stratégie d'entraînement distribué la plus fondamentale.</a:t>
            </a:r>
            <a:endPar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 le paradigme un programme-multiples données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SPMD</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L'ensemble de données d'entraînement est divisé en mini-lots ne se chevauchant pas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mini-batch</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reçoit une copie complète et identique des poids du modèle et de l'état de l'optimiseur.</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accélérateur calcule indépendamment la propagation avant et arrière sur son propre fragment de données.</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DistributedDataParallel</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DDP</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le module standard pour le parallélisme des données dans </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PyTorch</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6511" b="4796"/>
          <a:stretch>
            <a:fillRect/>
          </a:stretch>
        </p:blipFill>
        <p:spPr>
          <a:xfrm>
            <a:off x="3288665" y="4272915"/>
            <a:ext cx="6554470" cy="2585085"/>
          </a:xfrm>
          <a:prstGeom prst="rect">
            <a:avLst/>
          </a:prstGeom>
          <a:ln w="12700">
            <a:noFill/>
            <a:prstDash val="solid"/>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2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302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3025" b="0" i="0" u="none" strike="noStrike" dirty="0">
                <a:solidFill>
                  <a:srgbClr val="262626"/>
                </a:solidFill>
                <a:latin typeface="Calibri" panose="020F0502020204030204"/>
                <a:ea typeface="Calibri" panose="020F0502020204030204"/>
                <a:cs typeface="Calibri" panose="020F0502020204030204"/>
                <a:sym typeface="Calibri" panose="020F0502020204030204"/>
              </a:rPr>
              <a:t>DP</a:t>
            </a:r>
            <a:r>
              <a:rPr lang="en-US" sz="302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Introduction</a:t>
            </a:r>
            <a:endParaRPr lang="en-US" sz="302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4685030" cy="502475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Puisque chaque </a:t>
            </a: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 les gradients sur des fragments de données différents, sans synchronisation, les répliques du modèle présenteront des écarts.</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gradients calculés par chaque </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doivent être agrégés et moyennés après chaque étape.</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L'opération All-Reduce </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additionne efficacement les gradients de tous les nœuds et diffuse le résultat à chaque nœud, garantissant que toutes les répliques effectuent la même mise à jour.</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17353" y="1715910"/>
            <a:ext cx="6974647" cy="4125699"/>
          </a:xfrm>
          <a:prstGeom prst="rect">
            <a:avLst/>
          </a:prstGeom>
          <a:ln w="12700">
            <a:noFill/>
            <a:prstDash val="solid"/>
          </a:ln>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en-US" altLang="zh-CN" sz="3025" dirty="0">
                <a:solidFill>
                  <a:srgbClr val="262626"/>
                </a:solidFill>
                <a:ea typeface="微软雅黑" panose="020B0503020204020204" charset="-122"/>
              </a:rPr>
              <a:t>Mécanisme de bucketisation des gradients dans DDP</a:t>
            </a:r>
            <a:endParaRPr lang="en-US" altLang="zh-CN" sz="3025" dirty="0">
              <a:solidFill>
                <a:srgbClr val="262626"/>
              </a:solidFill>
              <a:ea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dirty="0">
                <a:solidFill>
                  <a:srgbClr val="A5A5A5"/>
                </a:solidFill>
                <a:latin typeface="Calibri" panose="020F0502020204030204"/>
                <a:ea typeface="Garamond" panose="02020404030301010803"/>
                <a:cs typeface="Garamond" panose="02020404030301010803"/>
                <a:sym typeface="Garamond" panose="02020404030301010803"/>
              </a:rPr>
              <a:t>Lien : https://</a:t>
            </a:r>
            <a:r>
              <a:rPr lang="en-US" sz="1400" b="0" i="0" u="none" strike="noStrike" dirty="0" err="1">
                <a:solidFill>
                  <a:srgbClr val="A5A5A5"/>
                </a:solidFill>
                <a:latin typeface="Calibri" panose="020F0502020204030204"/>
                <a:ea typeface="Garamond" panose="02020404030301010803"/>
                <a:cs typeface="Garamond" panose="02020404030301010803"/>
                <a:sym typeface="Garamond" panose="02020404030301010803"/>
              </a:rPr>
              <a:t>docs.pytorch.org</a:t>
            </a:r>
            <a:r>
              <a:rPr lang="en-US" sz="1400" b="0" i="0" u="none" strike="noStrike" dirty="0">
                <a:solidFill>
                  <a:srgbClr val="A5A5A5"/>
                </a:solidFill>
                <a:latin typeface="Calibri" panose="020F0502020204030204"/>
                <a:ea typeface="Garamond" panose="02020404030301010803"/>
                <a:cs typeface="Garamond" panose="02020404030301010803"/>
                <a:sym typeface="Garamond" panose="02020404030301010803"/>
              </a:rPr>
              <a:t>/docs/stable/notes/</a:t>
            </a:r>
            <a:r>
              <a:rPr lang="en-US" sz="1400" b="0" i="0" u="none" strike="noStrike" dirty="0" err="1">
                <a:solidFill>
                  <a:srgbClr val="A5A5A5"/>
                </a:solidFill>
                <a:latin typeface="Calibri" panose="020F0502020204030204"/>
                <a:ea typeface="Garamond" panose="02020404030301010803"/>
                <a:cs typeface="Garamond" panose="02020404030301010803"/>
                <a:sym typeface="Garamond" panose="02020404030301010803"/>
              </a:rPr>
              <a:t>ddp.html</a:t>
            </a:r>
            <a:endParaRPr lang="en-US" sz="1400" b="0" i="0" u="none" strike="noStrike" dirty="0">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507597"/>
            <a:ext cx="5211282" cy="447371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Lancer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All-Reduce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distincte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tenseur</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individuel</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provoquerait</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congestion réseau.</a:t>
            </a:r>
            <a:endPar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DDP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atténue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via la </a:t>
            </a:r>
            <a:r>
              <a:rPr lang="en-US" sz="16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bucketisation</a:t>
            </a:r>
            <a:r>
              <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gradients (gradient bucketing).</a:t>
            </a:r>
            <a:endParaRPr lang="en-US" sz="16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gradients des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organisés</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des buckets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taille configurable.</a:t>
            </a:r>
            <a:endPar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L'opération</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All-Reduce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n'est</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déclenchée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qu'à</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lorsqu'un</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bucket est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entièrement</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rempli</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réduit</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considérablement</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d'appels</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réseau et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l'utilisation</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passante</a:t>
            </a:r>
            <a:r>
              <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735157" y="2096382"/>
            <a:ext cx="6203282" cy="2927173"/>
          </a:xfrm>
          <a:prstGeom prst="rect">
            <a:avLst/>
          </a:prstGeom>
          <a:ln w="12700">
            <a:noFill/>
            <a:prstDash val="solid"/>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8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278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78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78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‑communication dans DDP</a:t>
            </a:r>
            <a:endParaRPr lang="en-US" sz="278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 (blocs rouges) ne se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trouvent</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sur le chemin critique de la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(blocs bleus).DDP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bénéficie</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donc</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bon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a:t>
            </a:r>
            <a:endPar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grad_calc (couche i, GPU k) ne dépend que de grad_calc (couche i‑1, GPU k)</a:t>
            </a:r>
            <a:endParaRPr lang="en-US" altLang="zh-CN" sz="164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All-Reduce (couche </a:t>
            </a:r>
            <a:r>
              <a:rPr lang="en-US" sz="16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i</a:t>
            </a: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k) </a:t>
            </a:r>
            <a:r>
              <a:rPr lang="en-US" sz="16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dépend</a:t>
            </a: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a:t>
            </a:r>
            <a:r>
              <a:rPr lang="en-US" sz="16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grad_calc</a:t>
            </a: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(couche </a:t>
            </a:r>
            <a:r>
              <a:rPr lang="en-US" sz="16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i</a:t>
            </a: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tous</a:t>
            </a:r>
            <a:r>
              <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GPU)</a:t>
            </a:r>
            <a:endParaRPr lang="en-US" sz="164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86037" y="3146242"/>
            <a:ext cx="9105553" cy="3280129"/>
          </a:xfrm>
          <a:prstGeom prst="rect">
            <a:avLst/>
          </a:prstGeom>
          <a:ln w="12700">
            <a:noFill/>
            <a:prstDash val="solid"/>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r>
              <a:rPr lang="en-US" altLang="zh-CN"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Crise de la mémoire vidéo dans l'entraînement des grands modèles de langage</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7059870" cy="473202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consommation</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provient</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deux aspects :</a:t>
            </a:r>
            <a:endPar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altLang="zh-CN" sz="18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des poids du modèle (généralement en FP16)</a:t>
            </a:r>
            <a:endParaRPr lang="en-US" altLang="zh-CN" sz="18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rPr>
              <a:t>Stockage de </a:t>
            </a:r>
            <a:r>
              <a:rPr lang="en-US" sz="189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l'état</a:t>
            </a:r>
            <a:r>
              <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a:t>
            </a:r>
            <a:r>
              <a:rPr lang="en-US" sz="189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l'optimiseur</a:t>
            </a:r>
            <a:r>
              <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rPr>
              <a:t> (moment et variance), </a:t>
            </a:r>
            <a:r>
              <a:rPr lang="en-US" sz="189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généralement</a:t>
            </a:r>
            <a:r>
              <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89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en</a:t>
            </a:r>
            <a:r>
              <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rPr>
              <a:t> FP32 pour la </a:t>
            </a:r>
            <a:r>
              <a:rPr lang="en-US" sz="189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précision</a:t>
            </a:r>
            <a:endParaRPr lang="en-US" sz="189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spcBef>
                <a:spcPts val="1500"/>
              </a:spcBef>
              <a:buClr>
                <a:srgbClr val="404040"/>
              </a:buClr>
              <a:buFont typeface="Arial" panose="020B0604020202020204"/>
              <a:buChar char="•"/>
            </a:pPr>
            <a:r>
              <a:rPr lang="en-US" altLang="zh-CN"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un modèle de 7 milliards de paramètres :</a:t>
            </a:r>
            <a:endPar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altLang="zh-CN"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 en FP16 → 14 Go</a:t>
            </a:r>
            <a:endParaRPr lang="en-US" altLang="zh-CN"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Gradients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14 Go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supplémentaires</a:t>
            </a:r>
            <a:endPar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altLang="zh-CN" sz="2200" dirty="0">
                <a:solidFill>
                  <a:srgbClr val="404040"/>
                </a:solidFill>
                <a:latin typeface="Calibri" panose="020F0502020204030204"/>
                <a:ea typeface="微软雅黑" panose="020B0503020204020204" charset="-122"/>
              </a:rPr>
              <a:t>État de l'optimiseur en FP32 → 56 Go</a:t>
            </a:r>
            <a:endParaRPr lang="en-US" altLang="zh-CN" sz="2200" dirty="0">
              <a:solidFill>
                <a:srgbClr val="404040"/>
              </a:solidFill>
              <a:latin typeface="Calibri" panose="020F0502020204030204"/>
              <a:ea typeface="微软雅黑" panose="020B0503020204020204" charset="-122"/>
            </a:endParaRPr>
          </a:p>
          <a:p>
            <a:pPr marL="304800" indent="-304800">
              <a:spcBef>
                <a:spcPts val="1500"/>
              </a:spcBef>
              <a:buClr>
                <a:srgbClr val="404040"/>
              </a:buClr>
              <a:buFont typeface="Arial" panose="020B0604020202020204"/>
              <a:buChar char="•"/>
            </a:pPr>
            <a:r>
              <a:rPr lang="en-US" sz="2200" dirty="0">
                <a:solidFill>
                  <a:srgbClr val="404040"/>
                </a:solidFill>
                <a:latin typeface="Calibri" panose="020F0502020204030204"/>
                <a:ea typeface="微软雅黑" panose="020B0503020204020204" charset="-122"/>
                <a:sym typeface="微软雅黑" panose="020B0503020204020204" charset="-122"/>
              </a:rPr>
              <a:t>Total : 70 Go de </a:t>
            </a:r>
            <a:r>
              <a:rPr lang="en-US" sz="2200" dirty="0" err="1">
                <a:solidFill>
                  <a:srgbClr val="404040"/>
                </a:solidFill>
                <a:latin typeface="Calibri" panose="020F0502020204030204"/>
                <a:ea typeface="微软雅黑" panose="020B0503020204020204" charset="-122"/>
                <a:sym typeface="微软雅黑" panose="020B0503020204020204" charset="-122"/>
              </a:rPr>
              <a:t>mémoire</a:t>
            </a:r>
            <a:r>
              <a:rPr lang="en-US" sz="2200" dirty="0">
                <a:solidFill>
                  <a:srgbClr val="404040"/>
                </a:solidFill>
                <a:latin typeface="Calibri" panose="020F0502020204030204"/>
                <a:ea typeface="微软雅黑" panose="020B0503020204020204" charset="-122"/>
                <a:sym typeface="微软雅黑" panose="020B0503020204020204" charset="-122"/>
              </a:rPr>
              <a:t> </a:t>
            </a:r>
            <a:r>
              <a:rPr lang="en-US" sz="2200" dirty="0" err="1">
                <a:solidFill>
                  <a:srgbClr val="404040"/>
                </a:solidFill>
                <a:latin typeface="Calibri" panose="020F0502020204030204"/>
                <a:ea typeface="微软雅黑" panose="020B0503020204020204" charset="-122"/>
                <a:sym typeface="微软雅黑" panose="020B0503020204020204" charset="-122"/>
              </a:rPr>
              <a:t>vidéo</a:t>
            </a:r>
            <a:r>
              <a:rPr lang="en-US" sz="2200" dirty="0">
                <a:solidFill>
                  <a:srgbClr val="404040"/>
                </a:solidFill>
                <a:latin typeface="Calibri" panose="020F0502020204030204"/>
                <a:ea typeface="微软雅黑" panose="020B0503020204020204" charset="-122"/>
                <a:sym typeface="微软雅黑" panose="020B0503020204020204" charset="-122"/>
              </a:rPr>
              <a:t> (un H100 GPU </a:t>
            </a:r>
            <a:r>
              <a:rPr lang="en-US" sz="2200" dirty="0" err="1">
                <a:solidFill>
                  <a:srgbClr val="404040"/>
                </a:solidFill>
                <a:latin typeface="Calibri" panose="020F0502020204030204"/>
                <a:ea typeface="微软雅黑" panose="020B0503020204020204" charset="-122"/>
                <a:sym typeface="微软雅黑" panose="020B0503020204020204" charset="-122"/>
              </a:rPr>
              <a:t>n'en</a:t>
            </a:r>
            <a:r>
              <a:rPr lang="en-US" sz="2200" dirty="0">
                <a:solidFill>
                  <a:srgbClr val="404040"/>
                </a:solidFill>
                <a:latin typeface="Calibri" panose="020F0502020204030204"/>
                <a:ea typeface="微软雅黑" panose="020B0503020204020204" charset="-122"/>
                <a:sym typeface="微软雅黑" panose="020B0503020204020204" charset="-122"/>
              </a:rPr>
              <a:t>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offre</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80 Go)</a:t>
            </a:r>
            <a:endParaRPr lang="en-US" sz="22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r="47076"/>
          <a:stretch>
            <a:fillRect/>
          </a:stretch>
        </p:blipFill>
        <p:spPr>
          <a:xfrm>
            <a:off x="7851838" y="1209280"/>
            <a:ext cx="3816287" cy="4732020"/>
          </a:xfrm>
          <a:prstGeom prst="rect">
            <a:avLst/>
          </a:prstGeom>
          <a:ln w="12700">
            <a:noFill/>
            <a:prstDash val="solid"/>
          </a:ln>
        </p:spPr>
      </p:pic>
      <p:sp>
        <p:nvSpPr>
          <p:cNvPr id="7" name="AutoShape 7"/>
          <p:cNvSpPr/>
          <p:nvPr/>
        </p:nvSpPr>
        <p:spPr>
          <a:xfrm>
            <a:off x="3756070" y="5972351"/>
            <a:ext cx="8664551" cy="538609"/>
          </a:xfrm>
          <a:prstGeom prst="rect">
            <a:avLst/>
          </a:prstGeom>
          <a:noFill/>
          <a:ln w="12700">
            <a:noFill/>
            <a:prstDash val="solid"/>
          </a:ln>
        </p:spPr>
        <p:txBody>
          <a:bodyPr wrap="none" lIns="91440" tIns="45720" rIns="91440" bIns="45720" rtlCol="0" anchor="t">
            <a:spAutoFit/>
          </a:bodyPr>
          <a:lstStyle/>
          <a:p>
            <a:pPr>
              <a:defRPr/>
            </a:pPr>
            <a:r>
              <a:rPr lang="en-US" altLang="zh-CN" sz="18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Composition de la mémoire vidéo lors de l'entraînement des grands modèles de langage</a:t>
            </a:r>
            <a:endParaRPr lang="en-US" altLang="zh-CN" sz="18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a:defRPr/>
            </a:pPr>
            <a:endParaRPr lang="en-US" sz="1100"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Crise de la mémoire vidéo dans l'entraînement des grands modèles de langage</a:t>
            </a:r>
            <a:endPar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DDP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standard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présente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graves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redondance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8 GPU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cluster doit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maintenir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gradients et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nombreux</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états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d'optimiseur</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FP32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8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copies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complètes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réplication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redondante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consomme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haute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HBM</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sans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supplémentaire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strictement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taille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maximale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entraînables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seul</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constituant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obstacle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infranchissable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grands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420" b="0" i="0" u="none" strike="noStrike">
                <a:solidFill>
                  <a:srgbClr val="262626"/>
                </a:solidFill>
                <a:latin typeface="Calibri" panose="020F0502020204030204"/>
                <a:ea typeface="Calibri" panose="020F0502020204030204"/>
                <a:cs typeface="Calibri" panose="020F0502020204030204"/>
                <a:sym typeface="Calibri" panose="020F0502020204030204"/>
              </a:rPr>
              <a:t>ZeRO — </a:t>
            </a:r>
            <a:r>
              <a:rPr lang="en-US"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Résoudre le problème de surcoût mémoire du parallélisme de données</a:t>
            </a:r>
            <a:endParaRPr lang="en-US"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ZeRO </a:t>
            </a:r>
            <a:r>
              <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idée centrale (optimiseur à redondance nulle)</a:t>
            </a:r>
            <a:endPar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Segmenter les parties coûteuses (états) et utiliser l'</a:t>
            </a:r>
            <a:r>
              <a:rPr lang="en-US" sz="1915" b="0" i="0" u="none" strike="noStrike">
                <a:solidFill>
                  <a:srgbClr val="404040"/>
                </a:solidFill>
                <a:latin typeface="Calibri" panose="020F0502020204030204"/>
                <a:ea typeface="Calibri" panose="020F0502020204030204"/>
                <a:cs typeface="Calibri" panose="020F0502020204030204"/>
                <a:sym typeface="Calibri" panose="020F0502020204030204"/>
              </a:rPr>
              <a:t> reduce-scatter </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l'équivalence.</a:t>
            </a:r>
            <a:endPar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162754" y="2360120"/>
            <a:ext cx="9482668" cy="4085953"/>
          </a:xfrm>
          <a:prstGeom prst="rect">
            <a:avLst/>
          </a:prstGeom>
          <a:ln w="12700">
            <a:noFill/>
            <a:prstDash val="solid"/>
          </a:ln>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25" b="0" i="0" u="none" strike="noStrike">
                <a:solidFill>
                  <a:srgbClr val="262626"/>
                </a:solidFill>
                <a:latin typeface="Calibri" panose="020F0502020204030204"/>
                <a:ea typeface="Calibri" panose="020F0502020204030204"/>
                <a:cs typeface="Calibri" panose="020F0502020204030204"/>
                <a:sym typeface="Calibri" panose="020F0502020204030204"/>
              </a:rPr>
              <a:t>ZeRO </a:t>
            </a:r>
            <a:r>
              <a:rPr lang="en-US" sz="27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725" b="0" i="0" u="none" strike="noStrike">
                <a:solidFill>
                  <a:srgbClr val="262626"/>
                </a:solidFill>
                <a:latin typeface="Calibri" panose="020F0502020204030204"/>
                <a:ea typeface="Calibri" panose="020F0502020204030204"/>
                <a:cs typeface="Calibri" panose="020F0502020204030204"/>
                <a:sym typeface="Calibri" panose="020F0502020204030204"/>
              </a:rPr>
              <a:t> 1</a:t>
            </a:r>
            <a:r>
              <a:rPr lang="en-US" sz="27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segmentation des états d'optimiseur (</a:t>
            </a:r>
            <a:r>
              <a:rPr lang="en-US" sz="2725" b="0" i="0" u="none" strike="noStrike">
                <a:solidFill>
                  <a:srgbClr val="262626"/>
                </a:solidFill>
                <a:latin typeface="Calibri" panose="020F0502020204030204"/>
                <a:ea typeface="Calibri" panose="020F0502020204030204"/>
                <a:cs typeface="Calibri" panose="020F0502020204030204"/>
                <a:sym typeface="Calibri" panose="020F0502020204030204"/>
              </a:rPr>
              <a:t>P</a:t>
            </a:r>
            <a:r>
              <a:rPr lang="en-US" sz="2725" b="0" i="0" u="none" strike="noStrike" baseline="-25000">
                <a:solidFill>
                  <a:srgbClr val="262626"/>
                </a:solidFill>
                <a:latin typeface="Calibri" panose="020F0502020204030204"/>
                <a:ea typeface="Calibri" panose="020F0502020204030204"/>
                <a:cs typeface="Calibri" panose="020F0502020204030204"/>
                <a:sym typeface="Calibri" panose="020F0502020204030204"/>
              </a:rPr>
              <a:t>os</a:t>
            </a:r>
            <a:r>
              <a:rPr lang="en-US" sz="2725"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272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Segmenter les états d'optimiseur (moment d'ordre 1</a:t>
            </a:r>
            <a:r>
              <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moment d'ordre 2) entre les</a:t>
            </a:r>
            <a:r>
              <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endPar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nœud de travail possède les paramètres complets et calcule les gradients sur ses sous-ensembles de données respectifs.</a:t>
            </a:r>
            <a:endPar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nœud de travail est responsable de la mise à jour d'un fragment des paramètres complets</a:t>
            </a:r>
            <a:endPar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07968" y="3280745"/>
            <a:ext cx="9976064" cy="2115343"/>
          </a:xfrm>
          <a:prstGeom prst="rect">
            <a:avLst/>
          </a:prstGeom>
          <a:ln w="12700">
            <a:noFill/>
            <a:prstDash val="solid"/>
          </a:ln>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60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ZeRO</a:t>
            </a:r>
            <a:r>
              <a:rPr lang="en-US" sz="260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260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605" b="0" i="0" u="none" strike="noStrike" dirty="0">
                <a:solidFill>
                  <a:srgbClr val="262626"/>
                </a:solidFill>
                <a:latin typeface="Calibri" panose="020F0502020204030204"/>
                <a:ea typeface="Calibri" panose="020F0502020204030204"/>
                <a:cs typeface="Calibri" panose="020F0502020204030204"/>
                <a:sym typeface="Calibri" panose="020F0502020204030204"/>
              </a:rPr>
              <a:t> 1</a:t>
            </a:r>
            <a:r>
              <a:rPr lang="en-US" sz="260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60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260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60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l'état</a:t>
            </a:r>
            <a:r>
              <a:rPr lang="en-US" sz="260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60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260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605" b="0" i="0" u="none" strike="noStrike" dirty="0">
                <a:solidFill>
                  <a:srgbClr val="262626"/>
                </a:solidFill>
                <a:latin typeface="Calibri" panose="020F0502020204030204"/>
                <a:ea typeface="Calibri" panose="020F0502020204030204"/>
                <a:cs typeface="Calibri" panose="020F0502020204030204"/>
                <a:sym typeface="Calibri" panose="020F0502020204030204"/>
              </a:rPr>
              <a:t>P</a:t>
            </a:r>
            <a:r>
              <a:rPr lang="en-US" sz="2605" b="0" i="0" u="none" strike="noStrike" baseline="-25000" dirty="0">
                <a:solidFill>
                  <a:srgbClr val="262626"/>
                </a:solidFill>
                <a:latin typeface="Calibri" panose="020F0502020204030204"/>
                <a:ea typeface="Calibri" panose="020F0502020204030204"/>
                <a:cs typeface="Calibri" panose="020F0502020204030204"/>
                <a:sym typeface="Calibri" panose="020F0502020204030204"/>
              </a:rPr>
              <a:t>os</a:t>
            </a:r>
            <a:r>
              <a:rPr lang="en-US" sz="2605" b="0" i="0" u="none" strike="noStrike" dirty="0">
                <a:solidFill>
                  <a:srgbClr val="262626"/>
                </a:solidFill>
                <a:latin typeface="Calibri" panose="020F0502020204030204"/>
                <a:ea typeface="Calibri" panose="020F0502020204030204"/>
                <a:cs typeface="Calibri" panose="020F0502020204030204"/>
                <a:sym typeface="Calibri" panose="020F0502020204030204"/>
              </a:rPr>
              <a:t>)</a:t>
            </a:r>
            <a:endParaRPr lang="en-US" sz="2605"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949370" cy="502475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gradient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son propre sous-ensemble de données</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err="1">
                <a:solidFill>
                  <a:srgbClr val="404040"/>
                </a:solidFill>
                <a:latin typeface="Courier New" panose="02070309020205020404"/>
                <a:ea typeface="Courier New" panose="02070309020205020404"/>
                <a:cs typeface="Courier New" panose="02070309020205020404"/>
                <a:sym typeface="Courier New" panose="02070309020205020404"/>
              </a:rPr>
              <a:t>ReduceScatter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gradients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obtient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gradient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correspondant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partition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(Coût de communication de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#params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propres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gradients et </a:t>
            </a:r>
            <a:r>
              <a:rPr lang="en-US" sz="2000"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états </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mettre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jour les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ourier New" panose="02070309020205020404"/>
                <a:ea typeface="Courier New" panose="02070309020205020404"/>
                <a:cs typeface="Courier New" panose="02070309020205020404"/>
                <a:sym typeface="Courier New" panose="02070309020205020404"/>
              </a:rPr>
              <a:t>AllGather</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synchroniser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 de communication de</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#params</a:t>
            </a:r>
            <a:endPar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73245" y="2205569"/>
            <a:ext cx="4601282" cy="14932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26487" y="4368800"/>
            <a:ext cx="4865513" cy="1670756"/>
          </a:xfrm>
          <a:prstGeom prst="rect">
            <a:avLst/>
          </a:prstGeom>
          <a:ln w="12700">
            <a:noFill/>
            <a:prstDash val="solid"/>
          </a:ln>
        </p:spPr>
      </p:pic>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Comparaison entre</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DP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naif et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ZeRO-1</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sz="207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rPr>
              <a:t> 1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a:t>
            </a:r>
            <a:r>
              <a:rPr lang="en-US" sz="207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gratuite</a:t>
            </a:r>
            <a:r>
              <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quand</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passante</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limitée</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termes</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gain de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07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694996" y="1930401"/>
          <a:ext cx="10802007" cy="3966555"/>
        </p:xfrm>
        <a:graphic>
          <a:graphicData uri="http://schemas.openxmlformats.org/drawingml/2006/table">
            <a:tbl>
              <a:tblPr>
                <a:effectLst/>
              </a:tblPr>
              <a:tblGrid>
                <a:gridCol w="3600669"/>
                <a:gridCol w="3600669"/>
                <a:gridCol w="3600669"/>
              </a:tblGrid>
              <a:tr h="538504">
                <a:tc>
                  <a:txBody>
                    <a:bodyPr/>
                    <a:lstStyle/>
                    <a:p>
                      <a:pPr indent="0" algn="l">
                        <a:lnSpc>
                          <a:spcPct val="100000"/>
                        </a:lnSpc>
                        <a:defRPr/>
                      </a:pPr>
                      <a:r>
                        <a:rPr lang="en-US" sz="2400" b="1" i="0" u="none" strike="noStrike" dirty="0">
                          <a:solidFill>
                            <a:srgbClr val="FFFFFF"/>
                          </a:solidFill>
                          <a:latin typeface="Calibri" panose="020F0502020204030204"/>
                          <a:ea typeface="Arial" panose="020B0604020202020204"/>
                          <a:cs typeface="Arial" panose="020B0604020202020204"/>
                          <a:sym typeface="Arial" panose="020B0604020202020204"/>
                        </a:rPr>
                        <a:t> </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4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DDP naif</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400" b="0" i="0" u="none" strike="noStrike">
                          <a:solidFill>
                            <a:srgbClr val="FFFFFF"/>
                          </a:solidFill>
                          <a:latin typeface="Calibri" panose="020F0502020204030204"/>
                          <a:ea typeface="Arial" panose="020B0604020202020204"/>
                          <a:cs typeface="Arial" panose="020B0604020202020204"/>
                          <a:sym typeface="Arial" panose="020B0604020202020204"/>
                        </a:rPr>
                        <a:t>ZeRO-1</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1830915">
                <a:tc>
                  <a:txBody>
                    <a:bodyPr/>
                    <a:lstStyle/>
                    <a:p>
                      <a:pPr indent="0" algn="l">
                        <a:lnSpc>
                          <a:spcPct val="100000"/>
                        </a:lnSpc>
                        <a:defRPr/>
                      </a:pPr>
                      <a:r>
                        <a:rPr lang="en-US" sz="2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Primitive de communication</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Un all-reduce (gradient complet)</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4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Un reduce-scatter (</a:t>
                      </a:r>
                      <a:r>
                        <a:rPr lang="en-US" sz="24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collecte</a:t>
                      </a:r>
                      <a:r>
                        <a:rPr lang="en-US" sz="24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des partitions de gradient) + un all-gather (</a:t>
                      </a:r>
                      <a:r>
                        <a:rPr lang="en-US" sz="24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synchronisation</a:t>
                      </a:r>
                      <a:r>
                        <a:rPr lang="en-US" sz="24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4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4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38504">
                <a:tc>
                  <a:txBody>
                    <a:bodyPr/>
                    <a:lstStyle/>
                    <a:p>
                      <a:pPr indent="0" algn="l">
                        <a:lnSpc>
                          <a:spcPct val="100000"/>
                        </a:lnSpc>
                        <a:defRPr/>
                      </a:pPr>
                      <a:r>
                        <a:rPr lang="en-US" sz="24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Coût de communication</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2x #params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2x #params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969307">
                <a:tc>
                  <a:txBody>
                    <a:bodyPr/>
                    <a:lstStyle/>
                    <a:p>
                      <a:pPr indent="0" algn="l">
                        <a:lnSpc>
                          <a:spcPct val="100000"/>
                        </a:lnSpc>
                        <a:defRPr/>
                      </a:pPr>
                      <a:r>
                        <a:rPr lang="en-US" sz="2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Memoire video</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(4 + K) x #params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(4 + K / nGPUs) x #params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7" name="AutoShape 7"/>
          <p:cNvSpPr/>
          <p:nvPr/>
        </p:nvSpPr>
        <p:spPr>
          <a:xfrm>
            <a:off x="2614344" y="5897325"/>
            <a:ext cx="8172430" cy="278538"/>
          </a:xfrm>
          <a:prstGeom prst="rect">
            <a:avLst/>
          </a:prstGeom>
          <a:noFill/>
          <a:ln w="12700">
            <a:noFill/>
            <a:prstDash val="solid"/>
          </a:ln>
        </p:spPr>
        <p:txBody>
          <a:bodyPr wrap="none" lIns="91440" tIns="45720" rIns="91440" bIns="45720" rtlCol="0" anchor="t">
            <a:spAutoFit/>
          </a:bodyPr>
          <a:lstStyle/>
          <a:p>
            <a:pPr>
              <a:defRPr/>
            </a:pPr>
            <a:r>
              <a:rPr lang="en-US" sz="1210" b="0" i="0" u="none" strike="noStrike" dirty="0">
                <a:solidFill>
                  <a:srgbClr val="000000"/>
                </a:solidFill>
                <a:latin typeface="Calibri" panose="020F0502020204030204"/>
                <a:ea typeface="Arial" panose="020B0604020202020204"/>
                <a:cs typeface="Arial" panose="020B0604020202020204"/>
                <a:sym typeface="Arial" panose="020B0604020202020204"/>
              </a:rPr>
              <a:t>K </a:t>
            </a:r>
            <a:r>
              <a:rPr lang="en-US" sz="1210" dirty="0" err="1">
                <a:latin typeface="Calibri" panose="020F0502020204030204"/>
              </a:rPr>
              <a:t>représente</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d'octets</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l'état</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paramètre</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10" b="0" i="0" u="none" strike="noStrike" dirty="0">
                <a:solidFill>
                  <a:srgbClr val="000000"/>
                </a:solidFill>
                <a:latin typeface="Calibri" panose="020F0502020204030204"/>
                <a:ea typeface="Arial" panose="020B0604020202020204"/>
                <a:cs typeface="Arial" panose="020B0604020202020204"/>
                <a:sym typeface="Arial" panose="020B0604020202020204"/>
              </a:rPr>
              <a:t>FP32 </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 momentum est </a:t>
            </a:r>
            <a:r>
              <a:rPr lang="en-US" sz="121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généralement</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a:t>
            </a:r>
            <a:r>
              <a:rPr lang="en-US" sz="1210" b="0" i="0" u="none" strike="noStrike" dirty="0">
                <a:solidFill>
                  <a:srgbClr val="000000"/>
                </a:solidFill>
                <a:latin typeface="Calibri" panose="020F0502020204030204"/>
                <a:ea typeface="Arial" panose="020B0604020202020204"/>
                <a:cs typeface="Arial" panose="020B0604020202020204"/>
                <a:sym typeface="Arial" panose="020B0604020202020204"/>
              </a:rPr>
              <a:t> 12</a:t>
            </a:r>
            <a:r>
              <a:rPr lang="en-US" sz="121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dirty="0"/>
          </a:p>
        </p:txBody>
      </p:sp>
      <p:sp>
        <p:nvSpPr>
          <p:cNvPr id="8"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rgbClr val="0F1115"/>
                </a:solidFill>
                <a:effectLst/>
                <a:latin typeface="Arial" panose="020B0604020202020204" pitchFamily="34" charset="0"/>
                <a:ea typeface="Menlo" panose="020B0609030804020204" pitchFamily="49" charset="0"/>
              </a:rPr>
              <a:t>limitée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en-US" altLang="zh-CN" sz="2425" b="0" i="0" u="none" strike="noStrike" dirty="0">
                <a:solidFill>
                  <a:srgbClr val="262626"/>
                </a:solidFill>
                <a:latin typeface="Calibri" panose="020F0502020204030204"/>
                <a:ea typeface="Calibri" panose="020F0502020204030204"/>
                <a:cs typeface="Calibri" panose="020F0502020204030204"/>
                <a:sym typeface="Calibri" panose="020F0502020204030204"/>
              </a:rPr>
              <a:t>ZeRO étape 2 : État de l'optimiseur + partitionnement du gradient (Pos+g)</a:t>
            </a:r>
            <a:endParaRPr lang="en-US" altLang="zh-CN" sz="2425"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Idée de haut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niveau</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Partitionner</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également</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gradients (partitions roses) entre les machines.</a:t>
            </a:r>
            <a:endPar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même</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technique (approximative) </a:t>
            </a: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l'étape</a:t>
            </a:r>
            <a:r>
              <a:rPr lang="en-US" sz="1645" b="0" i="0" u="none" strike="noStrike" dirty="0">
                <a:solidFill>
                  <a:srgbClr val="404040"/>
                </a:solidFill>
                <a:latin typeface="Calibri" panose="020F0502020204030204"/>
                <a:ea typeface="Calibri" panose="020F0502020204030204"/>
                <a:cs typeface="Calibri" panose="020F0502020204030204"/>
                <a:sym typeface="Calibri" panose="020F0502020204030204"/>
              </a:rPr>
              <a:t> 1 </a:t>
            </a:r>
            <a:r>
              <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difficulté</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réside</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le fait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nous ne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pouvons</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instancier</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vecteur</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gradient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mais</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doit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gradient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 nous </a:t>
            </a:r>
            <a:r>
              <a:rPr lang="en-US" sz="19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utilisons</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970"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970"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données)</a:t>
            </a:r>
            <a:endPar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9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64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645"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97515" y="3518694"/>
            <a:ext cx="9098811" cy="2747963"/>
          </a:xfrm>
          <a:prstGeom prst="rect">
            <a:avLst/>
          </a:prstGeom>
          <a:ln w="12700">
            <a:noFill/>
            <a:prstDash val="solid"/>
          </a:ln>
        </p:spPr>
      </p:pic>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rgbClr val="0F1115"/>
                </a:solidFill>
                <a:effectLst/>
                <a:latin typeface="Arial" panose="020B0604020202020204" pitchFamily="34" charset="0"/>
                <a:ea typeface="Menlo" panose="020B0609030804020204" pitchFamily="49" charset="0"/>
              </a:rPr>
              <a:t>même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rgbClr val="0F1115"/>
                </a:solidFill>
                <a:effectLst/>
                <a:latin typeface="Arial" panose="020B0604020202020204" pitchFamily="34" charset="0"/>
                <a:ea typeface="Menlo" panose="020B0609030804020204" pitchFamily="49" charset="0"/>
              </a:rPr>
              <a:t>difficulté</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rPr>
              <a:t>ZeRO </a:t>
            </a:r>
            <a:r>
              <a:rPr lang="en-US" sz="23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étape</a:t>
            </a:r>
            <a:r>
              <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rPr>
              <a:t> 2</a:t>
            </a:r>
            <a:r>
              <a:rPr lang="en-US" sz="23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états de l'optimiseur</a:t>
            </a:r>
            <a:r>
              <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3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partitionnement des gradients (</a:t>
            </a:r>
            <a:r>
              <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rPr>
              <a:t>P</a:t>
            </a:r>
            <a:r>
              <a:rPr lang="en-US" sz="2370" b="0" i="0" u="none" strike="noStrike" baseline="-25000">
                <a:solidFill>
                  <a:srgbClr val="262626"/>
                </a:solidFill>
                <a:latin typeface="Calibri" panose="020F0502020204030204"/>
                <a:ea typeface="Calibri" panose="020F0502020204030204"/>
                <a:cs typeface="Calibri" panose="020F0502020204030204"/>
                <a:sym typeface="Calibri" panose="020F0502020204030204"/>
              </a:rPr>
              <a:t>os+g</a:t>
            </a:r>
            <a:r>
              <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237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27062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tous les nœuds propagent progressivement en arrière sur le graphe de calcul</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1a</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après avoir calculé le gradient d'une couche, l'envoyer immédiatement via</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reduce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 nœud de travail correspondant.</a:t>
            </a:r>
            <a:endParaRPr sz="1800"/>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1b</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une fois que le gradient n'est plus nécessaire dans le graphe de calcul inverse, le libérer immédiatement.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chaque machine met à jour les paramètres en utilisant ses propres gradients et états.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3</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synchroniser les paramètres via</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All-Gather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3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3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67502" y="1732281"/>
            <a:ext cx="5126714" cy="159737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891492" y="4630107"/>
            <a:ext cx="5126714" cy="1725926"/>
          </a:xfrm>
          <a:prstGeom prst="rect">
            <a:avLst/>
          </a:prstGeom>
          <a:ln w="12700">
            <a:noFill/>
            <a:prstDash val="solid"/>
          </a:ln>
        </p:spPr>
      </p:pic>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ZeRO </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étape</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3</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(c'est-à-dire</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FSDP</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partitionner</a:t>
            </a:r>
            <a:r>
              <a:rPr lang="en-US" sz="2785" b="0" i="1"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tout</a:t>
            </a:r>
            <a:endParaRPr lang="en-US" sz="2785" b="0" i="1"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Approche de haut niveau</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Partitionner tout, y compris les paramètres !</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la même</a:t>
            </a: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incrémentale</a:t>
            </a: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idée</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Envoyer et demander les paramètres à la demande lors du parcours du graphe de calcul.</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3177606"/>
            <a:ext cx="10858884" cy="1808062"/>
          </a:xfrm>
          <a:prstGeom prst="rect">
            <a:avLst/>
          </a:prstGeom>
          <a:ln w="12700">
            <a:noFill/>
            <a:prstDash val="solid"/>
          </a:ln>
        </p:spPr>
      </p:pic>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ZeRO </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étape</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3</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(c'est-à-dire</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FSDP</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partitionner</a:t>
            </a:r>
            <a:r>
              <a:rPr lang="en-US" sz="2785" b="0" i="1"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tout</a:t>
            </a:r>
            <a:endParaRPr lang="en-US" sz="2785" b="0" i="1"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https://pytorch.org/tutorials/intermediate/FSDP_tutorial.html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 de communication :</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all-gather</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#param</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reduce-scatter</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#param</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36182" y="1788388"/>
            <a:ext cx="9892729" cy="4478269"/>
          </a:xfrm>
          <a:prstGeom prst="rect">
            <a:avLst/>
          </a:prstGeom>
          <a:ln w="12700">
            <a:noFill/>
            <a:prstDash val="solid"/>
          </a:ln>
        </p:spPr>
      </p:pic>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FSDP / ZeRO-3</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processus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réel</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https://arxiv.org/pdf/2304.11277.pdf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incrémentale</a:t>
            </a:r>
            <a:endPar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825"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gradients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demandés</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volée</a:t>
            </a:r>
            <a:r>
              <a:rPr lang="zh-CN" alt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25"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zh-CN" altLang="en-US" sz="182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libérés</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zh-CN" alt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immédiatement</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après envoi</a:t>
            </a:r>
            <a:endPar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communication et </a:t>
            </a:r>
            <a:r>
              <a:rPr lang="en-US" sz="21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W1W0</a:t>
            </a:r>
            <a:r>
              <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W2W0</a:t>
            </a:r>
            <a:r>
              <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y</a:t>
            </a:r>
            <a:endParaRPr lang="en-US" sz="21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25" b="0" i="0" u="none" strike="noStrike" dirty="0">
                <a:solidFill>
                  <a:srgbClr val="404040"/>
                </a:solidFill>
                <a:latin typeface="Calibri" panose="020F0502020204030204"/>
                <a:ea typeface="Calibri" panose="020F0502020204030204"/>
                <a:cs typeface="Calibri" panose="020F0502020204030204"/>
                <a:sym typeface="Calibri" panose="020F0502020204030204"/>
              </a:rPr>
              <a:t>all-gather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s'effectue</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simultanement</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pendant la propagation avant,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masquant</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ainsi</a:t>
            </a:r>
            <a:r>
              <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Coût de communication.</a:t>
            </a:r>
            <a:endParaRPr lang="en-US" sz="18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19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71411" y="3283384"/>
            <a:ext cx="8800850" cy="2893579"/>
          </a:xfrm>
          <a:prstGeom prst="rect">
            <a:avLst/>
          </a:prstGeom>
          <a:ln w="12700">
            <a:noFill/>
            <a:prstDash val="solid"/>
          </a:ln>
        </p:spPr>
      </p:pic>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Résumé du Coût de communication</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DDP</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All-Reduce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2x #params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1/2</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Reduce-Scatter + All-Gather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2x #params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L'économie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memoire video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gratuite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3 / FSDP</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All-Gather + Reduce-Scatter + All-Gather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3x #params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 de communication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accru</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r>
              <a:rPr lang="en-US" sz="298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Réexamen</a:t>
            </a:r>
            <a:r>
              <a:rPr lang="en-US" sz="298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du</a:t>
            </a:r>
            <a:r>
              <a:rPr lang="en-US" sz="2985" b="0" i="0" u="none" strike="noStrike" dirty="0">
                <a:solidFill>
                  <a:srgbClr val="262626"/>
                </a:solidFill>
                <a:latin typeface="Calibri" panose="020F0502020204030204"/>
                <a:ea typeface="Calibri" panose="020F0502020204030204"/>
                <a:cs typeface="Calibri" panose="020F0502020204030204"/>
                <a:sym typeface="Calibri" panose="020F0502020204030204"/>
              </a:rPr>
              <a:t> GPU </a:t>
            </a:r>
            <a:r>
              <a:rPr lang="en-US" sz="298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sz="298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98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98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98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98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vidéo</a:t>
            </a:r>
            <a:endParaRPr lang="en-US" sz="298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nvSpPr>
        <p:spPr>
          <a:xfrm>
            <a:off x="2400316" y="1519684"/>
            <a:ext cx="7818224" cy="2025939"/>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795" b="1" i="0" u="none" strike="noStrike" dirty="0">
                <a:solidFill>
                  <a:srgbClr val="000000"/>
                </a:solidFill>
                <a:latin typeface="Calibri" panose="020F0502020204030204"/>
                <a:ea typeface="Arial" panose="020B0604020202020204"/>
                <a:cs typeface="Arial" panose="020B0604020202020204"/>
                <a:sym typeface="Arial" panose="020B0604020202020204"/>
              </a:rPr>
              <a:t>GPU </a:t>
            </a:r>
            <a:r>
              <a:rPr lang="en-US" sz="1795" b="1"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Consommation</a:t>
            </a:r>
            <a:r>
              <a:rPr lang="en-US" sz="1795" b="1"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memoire video</a:t>
            </a:r>
            <a:r>
              <a:rPr lang="en-US" sz="1795" b="1" i="0" u="none" strike="noStrike" dirty="0">
                <a:solidFill>
                  <a:srgbClr val="000000"/>
                </a:solidFill>
                <a:latin typeface="Calibri" panose="020F0502020204030204"/>
                <a:ea typeface="Arial" panose="020B0604020202020204"/>
                <a:cs typeface="Arial" panose="020B0604020202020204"/>
                <a:sym typeface="Arial" panose="020B0604020202020204"/>
              </a:rPr>
              <a:t> :=</a:t>
            </a:r>
            <a:endParaRPr lang="en-US" sz="1100" dirty="0"/>
          </a:p>
          <a:p>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	</a:t>
            </a:r>
            <a:r>
              <a:rPr lang="en-US" altLang="zh-CN"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Paramètres du modèle</a:t>
            </a:r>
            <a:r>
              <a:rPr lang="zh-CN" alt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FP16</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a:t>
            </a:r>
            <a:endPar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	</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Gradients (</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FP16</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a:t>
            </a:r>
            <a:endPar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	</a:t>
            </a:r>
            <a:r>
              <a:rPr lang="en-US" sz="179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Poids</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maîtres (</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FP32</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a:t>
            </a:r>
            <a:endPar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	Momentum </a:t>
            </a:r>
            <a:r>
              <a:rPr lang="en-US" sz="1795" b="0" i="0" u="none" strike="noStrike" dirty="0" err="1">
                <a:solidFill>
                  <a:srgbClr val="000000"/>
                </a:solidFill>
                <a:latin typeface="Calibri" panose="020F0502020204030204"/>
                <a:ea typeface="Arial" panose="020B0604020202020204"/>
                <a:cs typeface="Arial" panose="020B0604020202020204"/>
                <a:sym typeface="Arial" panose="020B0604020202020204"/>
              </a:rPr>
              <a:t>d'Adam</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FP32</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a:t>
            </a:r>
            <a:endPar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	Variance </a:t>
            </a:r>
            <a:r>
              <a:rPr lang="en-US" sz="1795" b="0" i="0" u="none" strike="noStrike" dirty="0" err="1">
                <a:solidFill>
                  <a:srgbClr val="000000"/>
                </a:solidFill>
                <a:latin typeface="Calibri" panose="020F0502020204030204"/>
                <a:ea typeface="Arial" panose="020B0604020202020204"/>
                <a:cs typeface="Arial" panose="020B0604020202020204"/>
                <a:sym typeface="Arial" panose="020B0604020202020204"/>
              </a:rPr>
              <a:t>d'Adam</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FP32</a:t>
            </a:r>
            <a:r>
              <a:rPr lang="en-US" sz="179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rPr>
              <a:t>+</a:t>
            </a:r>
            <a:endParaRPr lang="en-US" sz="1795" b="0" i="0" u="none" strike="noStrike" dirty="0">
              <a:solidFill>
                <a:srgbClr val="000000"/>
              </a:solidFill>
              <a:latin typeface="Calibri" panose="020F0502020204030204"/>
              <a:ea typeface="Arial" panose="020B0604020202020204"/>
              <a:cs typeface="Arial" panose="020B0604020202020204"/>
              <a:sym typeface="Arial" panose="020B0604020202020204"/>
            </a:endParaRPr>
          </a:p>
          <a:p>
            <a:r>
              <a:rPr lang="en-US" sz="1795" b="0" i="0" u="none" strike="noStrike" dirty="0">
                <a:solidFill>
                  <a:srgbClr val="000000"/>
                </a:solidFill>
                <a:highlight>
                  <a:srgbClr val="FFFF00">
                    <a:alpha val="100000"/>
                  </a:srgbClr>
                </a:highlight>
                <a:latin typeface="Calibri" panose="020F0502020204030204"/>
                <a:ea typeface="Arial" panose="020B0604020202020204"/>
                <a:cs typeface="Arial" panose="020B0604020202020204"/>
                <a:sym typeface="Arial" panose="020B0604020202020204"/>
              </a:rPr>
              <a:t>	</a:t>
            </a:r>
            <a:r>
              <a:rPr lang="en-US" sz="1795" b="0" i="0" u="none" strike="noStrike" dirty="0">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Valeurs </a:t>
            </a:r>
            <a:r>
              <a:rPr lang="en-US" sz="1795" b="0" i="0" u="none" strike="noStrike" dirty="0" err="1">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795" b="0" i="0" u="none" strike="noStrike" dirty="0">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 du </a:t>
            </a:r>
            <a:r>
              <a:rPr lang="en-US" sz="1795" b="0" i="0" u="none" strike="noStrike">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modèle </a:t>
            </a:r>
            <a:r>
              <a:rPr lang="en-US" sz="1795" b="0" i="0" u="none" strike="noStrike" dirty="0">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a:t>
            </a:r>
            <a:r>
              <a:rPr lang="en-US" sz="1795" b="0" i="0" u="none" strike="noStrike" dirty="0" err="1">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linéaire</a:t>
            </a:r>
            <a:r>
              <a:rPr lang="en-US" sz="1795" b="0" i="0" u="none" strike="noStrike" dirty="0">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 avec la taille du batch) !</a:t>
            </a:r>
            <a:endParaRPr lang="en-US" sz="1795" b="0" i="0" u="none" strike="noStrike" dirty="0">
              <a:solidFill>
                <a:srgbClr val="000000"/>
              </a:solidFill>
              <a:highlight>
                <a:srgbClr val="FFFF00">
                  <a:alpha val="100000"/>
                </a:srgbClr>
              </a:highlight>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027470" y="4584470"/>
            <a:ext cx="7439857" cy="296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25" b="0" i="1"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Nous </a:t>
            </a:r>
            <a:r>
              <a:rPr lang="en-US" sz="1325" b="0" i="1"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détaillerons</a:t>
            </a:r>
            <a:r>
              <a:rPr lang="en-US" sz="1325" b="0" i="1"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dans les </a:t>
            </a:r>
            <a:r>
              <a:rPr lang="en-US" sz="1325" b="0" i="1"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chapitres</a:t>
            </a:r>
            <a:r>
              <a:rPr lang="en-US" sz="1325" b="0" i="1"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25" b="0" i="1"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suivants</a:t>
            </a:r>
            <a:r>
              <a:rPr lang="en-US" sz="1325" b="0" i="1"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325" b="0" i="1"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consommation</a:t>
            </a:r>
            <a:r>
              <a:rPr lang="en-US" sz="1325" b="0" i="1"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memoire video des Valeurs </a:t>
            </a:r>
            <a:r>
              <a:rPr lang="en-US" sz="1325" b="0" i="1"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d'activation</a:t>
            </a:r>
            <a:endParaRPr lang="en-US" sz="1100" dirty="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Résumé</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Aperçu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grands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nécessite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surmonter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seul</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grâce au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états.</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FSDP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résolvent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élégamment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partitionnant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états, sans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sacrifier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simplicité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Prochain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d'étranglement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atteignent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centaines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milliards,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même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FSDP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communication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pipeline couche par couche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devient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d'étranglement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 cluster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d'entraînement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Nous devons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matricielles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elles-mêmes</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tensoriel</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a:spcBef>
                <a:spcPts val="1500"/>
              </a:spcBef>
            </a:pPr>
            <a:r>
              <a:rPr lang="en-US" dirty="0" err="1">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 29</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dirty="0">
                <a:latin typeface="Calibri" panose="020F0502020204030204"/>
              </a:rPr>
              <a:t>Parallélisme Tensoriel</a:t>
            </a:r>
            <a:endParaRPr lang="en-US" altLang="zh-CN" dirty="0"/>
          </a:p>
          <a:p>
            <a:pPr indent="0" algn="ctr">
              <a:lnSpc>
                <a:spcPct val="100000"/>
              </a:lnSpc>
              <a:spcBef>
                <a:spcPts val="1500"/>
              </a:spcBef>
            </a:pP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(Tensor Parallelism)</a:t>
            </a:r>
            <a:endPar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 du Parallélisme de Données</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Séquence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Problèmes Persistants du Parallélisme de Données</a:t>
            </a:r>
            <a:r>
              <a:rPr lang="en-US" sz="246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Extension du Calcul</a:t>
            </a:r>
            <a:endPar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05789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le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données, le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machines</a:t>
            </a:r>
            <a:r>
              <a:rPr lang="en-US" sz="1990" b="0" i="0" u="none" strike="noStrike" dirty="0">
                <a:solidFill>
                  <a:srgbClr val="404040"/>
                </a:solidFill>
                <a:latin typeface="Calibri" panose="020F0502020204030204"/>
                <a:ea typeface="Calibri" panose="020F0502020204030204"/>
                <a:cs typeface="Calibri" panose="020F0502020204030204"/>
                <a:sym typeface="Calibri" panose="020F0502020204030204"/>
              </a:rPr>
              <a:t> &lt; </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taille de lot (et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proche</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coûts</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importants</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990"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plus, les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bénéfices</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l'augmentation</a:t>
            </a:r>
            <a:r>
              <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taille de lot </a:t>
            </a:r>
            <a:r>
              <a:rPr lang="en-US" sz="199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décroissent</a:t>
            </a:r>
            <a:r>
              <a:rPr lang="en-US" sz="1990"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9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99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917825" y="2774315"/>
            <a:ext cx="6489700" cy="3848735"/>
          </a:xfrm>
          <a:prstGeom prst="rect">
            <a:avLst/>
          </a:prstGeom>
          <a:ln w="12700">
            <a:noFill/>
            <a:prstDash val="solid"/>
          </a:ln>
        </p:spPr>
      </p:pic>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Problèmes Persistants du Parallélisme de Données</a:t>
            </a:r>
            <a:r>
              <a:rPr lang="en-US" sz="2210"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Modèle impossible à charger en mémoire</a:t>
            </a:r>
            <a:endParaRPr lang="en-US" sz="2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altLang="zh-CN" dirty="0"/>
              <a:t>ZeRO-1 et ZeRO-2 ne peuvent pas étendre la mémoire.</a:t>
            </a:r>
            <a:endParaRPr lang="en-US" altLang="zh-CN" dirty="0"/>
          </a:p>
          <a:p>
            <a:pPr marL="304800" indent="-304800">
              <a:spcBef>
                <a:spcPts val="1500"/>
              </a:spcBef>
              <a:buClr>
                <a:srgbClr val="404040"/>
              </a:buClr>
              <a:buFont typeface="Arial" panose="020B0604020202020204"/>
              <a:buChar char="•"/>
            </a:pPr>
            <a:r>
              <a:rPr lang="en-US" altLang="zh-CN" dirty="0"/>
              <a:t>ZeRO-3 semble bon en principe, mais peut être lent et ne peut pas réduire </a:t>
            </a:r>
            <a:r>
              <a:rPr lang="en-US" altLang="zh-CN" dirty="0">
                <a:solidFill>
                  <a:srgbClr val="8B0011"/>
                </a:solidFill>
              </a:rPr>
              <a:t>la mémoire d'activation</a:t>
            </a:r>
            <a:r>
              <a:rPr lang="en-US" altLang="zh-CN" dirty="0"/>
              <a:t>.</a:t>
            </a:r>
            <a:endParaRPr lang="en-US" sz="2400" b="0" i="0" u="none" strike="noStrike" dirty="0">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883400" y="3276600"/>
            <a:ext cx="4902200" cy="122110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900" b="0" i="0" u="none" strike="noStrike" dirty="0">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Valeur </a:t>
            </a:r>
            <a:r>
              <a:rPr lang="en-US" sz="1900" b="0" i="0" u="none" strike="noStrike" dirty="0" err="1">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 </a:t>
            </a:r>
            <a:endParaRPr lang="en-US" sz="1100" dirty="0"/>
          </a:p>
          <a:p>
            <a:pPr indent="0" algn="l">
              <a:lnSpc>
                <a:spcPct val="100000"/>
              </a:lnSpc>
            </a:pPr>
            <a:r>
              <a:rPr lang="en-US" sz="1900" b="0" i="0" u="sng" strike="noStrike" dirty="0" err="1">
                <a:solidFill>
                  <a:srgbClr val="8B0012"/>
                </a:solidFill>
                <a:latin typeface="Calibri" panose="020F0502020204030204"/>
                <a:ea typeface="Calibri" panose="020F0502020204030204"/>
                <a:cs typeface="Calibri" panose="020F0502020204030204"/>
                <a:sym typeface="Calibri" panose="020F0502020204030204"/>
              </a:rPr>
              <a:t>seq_len</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a:t>
            </a:r>
            <a:r>
              <a:rPr lang="en-US" sz="1900" b="0" i="0" u="none" strike="noStrike" dirty="0">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900" b="0" i="0" u="none" strike="noStrike" dirty="0" err="1">
                <a:solidFill>
                  <a:srgbClr val="8B0012"/>
                </a:solidFill>
                <a:latin typeface="Calibri" panose="020F0502020204030204"/>
                <a:ea typeface="Calibri" panose="020F0502020204030204"/>
                <a:cs typeface="Calibri" panose="020F0502020204030204"/>
                <a:sym typeface="Calibri" panose="020F0502020204030204"/>
              </a:rPr>
              <a:t>hidden_size</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a:t>
            </a:r>
            <a:r>
              <a:rPr lang="en-US" sz="1900" b="0" i="0" u="none" strike="noStrike" dirty="0">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a:t>
            </a:r>
            <a:endPar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900" b="0" i="0" u="none" strike="noStrike" dirty="0" err="1">
                <a:solidFill>
                  <a:srgbClr val="8B0012"/>
                </a:solidFill>
                <a:latin typeface="Calibri" panose="020F0502020204030204"/>
                <a:ea typeface="Calibri" panose="020F0502020204030204"/>
                <a:cs typeface="Calibri" panose="020F0502020204030204"/>
                <a:sym typeface="Calibri" panose="020F0502020204030204"/>
              </a:rPr>
              <a:t>num_layers</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a:t>
            </a:r>
            <a:r>
              <a:rPr lang="en-US" sz="1900" b="0" i="0" u="none" strike="noStrike" dirty="0">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900" b="0" i="0" u="none" strike="noStrike" dirty="0">
                <a:solidFill>
                  <a:srgbClr val="8B0012"/>
                </a:solidFill>
                <a:latin typeface="Calibri" panose="020F0502020204030204"/>
                <a:ea typeface="Calibri" panose="020F0502020204030204"/>
                <a:cs typeface="Calibri" panose="020F0502020204030204"/>
                <a:sym typeface="Calibri" panose="020F0502020204030204"/>
              </a:rPr>
              <a:t> </a:t>
            </a:r>
            <a:r>
              <a:rPr lang="en-US" sz="1900" b="0" i="0" u="sng" strike="noStrike" dirty="0" err="1">
                <a:solidFill>
                  <a:srgbClr val="8B0012"/>
                </a:solidFill>
                <a:latin typeface="Calibri" panose="020F0502020204030204"/>
                <a:ea typeface="Calibri" panose="020F0502020204030204"/>
                <a:cs typeface="Calibri" panose="020F0502020204030204"/>
                <a:sym typeface="Calibri" panose="020F0502020204030204"/>
              </a:rPr>
              <a:t>global_batch_size</a:t>
            </a:r>
            <a:endParaRPr lang="en-US" sz="1900" b="0" i="0" u="sng" strike="noStrike" dirty="0">
              <a:solidFill>
                <a:srgbClr val="8B0012"/>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335915" y="2891155"/>
            <a:ext cx="6548120" cy="3312795"/>
          </a:xfrm>
          <a:prstGeom prst="rect">
            <a:avLst/>
          </a:prstGeom>
          <a:ln w="12700">
            <a:noFill/>
            <a:prstDash val="solid"/>
          </a:ln>
        </p:spPr>
      </p:pic>
      <p:sp>
        <p:nvSpPr>
          <p:cNvPr id="8" name="AutoShape 8"/>
          <p:cNvSpPr/>
          <p:nvPr/>
        </p:nvSpPr>
        <p:spPr>
          <a:xfrm>
            <a:off x="6883400" y="4712653"/>
            <a:ext cx="5080000" cy="537070"/>
          </a:xfrm>
          <a:prstGeom prst="rect">
            <a:avLst/>
          </a:prstGeom>
          <a:noFill/>
          <a:ln w="12700">
            <a:noFill/>
            <a:prstDash val="solid"/>
          </a:ln>
        </p:spPr>
        <p:txBody>
          <a:bodyPr wrap="square" lIns="91440" tIns="45720" rIns="91440" bIns="45720" rtlCol="0" anchor="t">
            <a:spAutoFit/>
          </a:bodyPr>
          <a:lstStyle/>
          <a:p>
            <a:pPr>
              <a:defRPr/>
            </a:pPr>
            <a:r>
              <a:rPr lang="en-US" sz="1790" b="1" dirty="0">
                <a:latin typeface="Calibri" panose="020F0502020204030204"/>
                <a:ea typeface="微软雅黑" panose="020B0503020204020204" charset="-122"/>
                <a:sym typeface="微软雅黑" panose="020B0503020204020204" charset="-122"/>
              </a:rPr>
              <a:t>E</a:t>
            </a:r>
            <a:r>
              <a:rPr lang="en-US" altLang="zh-CN" b="1" dirty="0"/>
              <a:t>xplosion du dépassement de mémoire (OOM) !</a:t>
            </a:r>
            <a:endParaRPr lang="en-US" altLang="zh-CN" b="1" dirty="0"/>
          </a:p>
          <a:p>
            <a:pPr indent="0" algn="l">
              <a:lnSpc>
                <a:spcPct val="100000"/>
              </a:lnSpc>
              <a:defRPr/>
            </a:pPr>
            <a:endParaRPr lang="en-US" sz="1100" dirty="0"/>
          </a:p>
        </p:txBody>
      </p:sp>
      <p:sp>
        <p:nvSpPr>
          <p:cNvPr id="9" name="AutoShape 9"/>
          <p:cNvSpPr/>
          <p:nvPr/>
        </p:nvSpPr>
        <p:spPr>
          <a:xfrm>
            <a:off x="848360" y="6234430"/>
            <a:ext cx="7417435" cy="36512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Besoin d'une meilleure méthode de segmentation du modèle</a:t>
            </a:r>
            <a:r>
              <a:rPr lang="en-US" sz="138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726277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Modèle selon Différents Axes</a:t>
            </a:r>
            <a:endParaRPr lang="en-US" sz="26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80720" y="1229360"/>
            <a:ext cx="3517265" cy="46405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92905" y="1245870"/>
            <a:ext cx="3800475" cy="4640580"/>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8004175" y="1123315"/>
            <a:ext cx="3420745" cy="4640580"/>
          </a:xfrm>
          <a:prstGeom prst="rect">
            <a:avLst/>
          </a:prstGeom>
          <a:ln w="12700">
            <a:noFill/>
            <a:prstDash val="solid"/>
          </a:ln>
        </p:spPr>
      </p:pic>
      <p:sp>
        <p:nvSpPr>
          <p:cNvPr id="9" name="AutoShape 9"/>
          <p:cNvSpPr/>
          <p:nvPr/>
        </p:nvSpPr>
        <p:spPr>
          <a:xfrm>
            <a:off x="1354455" y="5903595"/>
            <a:ext cx="217043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52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Parallélisme de Données</a:t>
            </a:r>
            <a:endParaRPr lang="en-US" sz="1100"/>
          </a:p>
        </p:txBody>
      </p:sp>
      <p:sp>
        <p:nvSpPr>
          <p:cNvPr id="10" name="AutoShape 10"/>
          <p:cNvSpPr/>
          <p:nvPr/>
        </p:nvSpPr>
        <p:spPr>
          <a:xfrm>
            <a:off x="4916170" y="5903595"/>
            <a:ext cx="265811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4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a:t>
            </a:r>
            <a:endParaRPr lang="en-US" sz="1100"/>
          </a:p>
        </p:txBody>
      </p:sp>
      <p:sp>
        <p:nvSpPr>
          <p:cNvPr id="11" name="AutoShape 11"/>
          <p:cNvSpPr/>
          <p:nvPr/>
        </p:nvSpPr>
        <p:spPr>
          <a:xfrm>
            <a:off x="8543290" y="5903595"/>
            <a:ext cx="265811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71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endParaRPr lang="en-US" sz="110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Concepts de Base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grande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majorité</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grands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trouve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80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les</a:t>
            </a:r>
            <a:r>
              <a:rPr lang="en-US" sz="1800" b="0" i="0" u="none" strike="noStrike" dirty="0">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 projections </a:t>
            </a:r>
            <a:r>
              <a:rPr lang="en-US" sz="180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linéaires</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d'attention</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Q</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K</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V</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projections de sortie.</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MLP</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projections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ascendantes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descendantes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projections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essentiellement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multiplications</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matricielles</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générales</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a:solidFill>
                  <a:srgbClr val="404040"/>
                </a:solidFill>
                <a:latin typeface="Calibri" panose="020F0502020204030204"/>
                <a:ea typeface="Calibri" panose="020F0502020204030204"/>
                <a:cs typeface="Calibri" panose="020F0502020204030204"/>
                <a:sym typeface="Calibri" panose="020F0502020204030204"/>
              </a:rPr>
              <a:t>GEMM</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a:solidFill>
                  <a:srgbClr val="404040"/>
                </a:solidFill>
                <a:latin typeface="Calibri" panose="020F0502020204030204"/>
                <a:ea typeface="Calibri" panose="020F0502020204030204"/>
                <a:cs typeface="Calibri" panose="020F0502020204030204"/>
                <a:sym typeface="Calibri" panose="020F0502020204030204"/>
              </a:rPr>
              <a:t>Y=XW</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207260" y="3147695"/>
            <a:ext cx="8219440" cy="3208655"/>
          </a:xfrm>
          <a:prstGeom prst="rect">
            <a:avLst/>
          </a:prstGeom>
          <a:ln w="12700">
            <a:noFill/>
            <a:prstDash val="solid"/>
          </a:ln>
        </p:spPr>
      </p:pic>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Concepts de Base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Deux façons de </a:t>
            </a:r>
            <a:r>
              <a:rPr lang="en-US" sz="2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distribuer</a:t>
            </a:r>
            <a:r>
              <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GEMM</a:t>
            </a:r>
            <a:r>
              <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2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a:t>
            </a:r>
            <a:r>
              <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GPU</a:t>
            </a:r>
            <a:r>
              <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213485" y="1905635"/>
            <a:ext cx="10332085" cy="4137660"/>
          </a:xfrm>
          <a:prstGeom prst="rect">
            <a:avLst/>
          </a:prstGeom>
          <a:ln w="12700">
            <a:noFill/>
            <a:prstDash val="solid"/>
          </a:ln>
        </p:spPr>
      </p:pic>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Déconstruction du module</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MLP</a:t>
            </a:r>
            <a:endPar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017885" cy="4853305"/>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module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MLP</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composé d'une expansion linéaire, d'une fonction d'activation non linéaire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GeLU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d'une projection linéaire vers la dimension cachée et de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Dropout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Expression mathématique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5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4160"/>
          <a:stretch>
            <a:fillRect/>
          </a:stretch>
        </p:blipFill>
        <p:spPr>
          <a:xfrm>
            <a:off x="4580890" y="3267710"/>
            <a:ext cx="2390140" cy="56578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304665" y="3913505"/>
            <a:ext cx="2847340" cy="530860"/>
          </a:xfrm>
          <a:prstGeom prst="rect">
            <a:avLst/>
          </a:prstGeom>
          <a:ln w="12700">
            <a:noFill/>
            <a:prstDash val="solid"/>
          </a:ln>
        </p:spPr>
      </p:pic>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Déconstruction du module</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MLP</a:t>
            </a:r>
            <a:endPar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lignes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nécessite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synchronisation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colonnes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 la sortie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être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injectée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indépendamment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GeLU</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l="4160"/>
          <a:stretch>
            <a:fillRect/>
          </a:stretch>
        </p:blipFill>
        <p:spPr>
          <a:xfrm>
            <a:off x="1524000" y="3461385"/>
            <a:ext cx="2390140" cy="56578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08270" y="2570480"/>
            <a:ext cx="5074920" cy="388302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1033145" y="5575935"/>
            <a:ext cx="3131820" cy="497205"/>
          </a:xfrm>
          <a:prstGeom prst="rect">
            <a:avLst/>
          </a:prstGeom>
          <a:ln w="12700">
            <a:noFill/>
            <a:prstDash val="solid"/>
          </a:ln>
        </p:spPr>
      </p:pic>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Déconstruction du module</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MLP</a:t>
            </a:r>
            <a:endPar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457200" indent="-457200" algn="l">
              <a:lnSpc>
                <a:spcPct val="100000"/>
              </a:lnSpc>
              <a:spcBef>
                <a:spcPts val="1500"/>
              </a:spcBef>
              <a:buClr>
                <a:srgbClr val="404040"/>
              </a:buClr>
              <a:buFont typeface="+mj-lt"/>
              <a:buAutoNum type="arabicPeriod"/>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colonnes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colonnes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Y</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colonnes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Y</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lignes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B</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multiplication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matricielle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blocs sans synchronization</a:t>
            </a:r>
            <a:r>
              <a:rPr lang="en-US" sz="2400" b="0" i="0" u="none" strike="noStrike" dirty="0">
                <a:solidFill>
                  <a:srgbClr val="404040"/>
                </a:solidFill>
                <a:latin typeface="Calibri" panose="020F0502020204030204"/>
                <a:ea typeface="微软雅黑" panose="020B0503020204020204" charset="-122"/>
                <a:cs typeface="Calibri" panose="020F0502020204030204"/>
                <a:sym typeface="Calibri" panose="020F0502020204030204"/>
              </a:rPr>
              <a:t>.</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4520" y="3448050"/>
            <a:ext cx="3811270" cy="6051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680" y="4235450"/>
            <a:ext cx="2658745" cy="49593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5125720" y="3227070"/>
            <a:ext cx="6229350" cy="2114550"/>
          </a:xfrm>
          <a:prstGeom prst="rect">
            <a:avLst/>
          </a:prstGeom>
          <a:ln w="12700">
            <a:noFill/>
            <a:prstDash val="solid"/>
          </a:ln>
        </p:spPr>
      </p:pic>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Tensoriel</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Déconstruction du module</a:t>
            </a:r>
            <a:r>
              <a:rPr lang="en-US" sz="2805" b="0" i="0" u="none" strike="noStrike">
                <a:solidFill>
                  <a:srgbClr val="262626"/>
                </a:solidFill>
                <a:latin typeface="Calibri" panose="020F0502020204030204"/>
                <a:ea typeface="Calibri" panose="020F0502020204030204"/>
                <a:cs typeface="Calibri" panose="020F0502020204030204"/>
                <a:sym typeface="Calibri" panose="020F0502020204030204"/>
              </a:rPr>
              <a:t>MLP</a:t>
            </a:r>
            <a:endParaRPr lang="en-US" sz="28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Distribuer les colonnes (</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A1</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A2</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lignes (</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B1</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B2</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différents</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propagation avant,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f</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une opération identité,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une opération</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All-Reduce</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propagation arrière,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f</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une opération</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All-Reduce</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une opération identité.</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052955" y="2575560"/>
            <a:ext cx="8220075" cy="37763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908300" y="6285230"/>
            <a:ext cx="3131820" cy="49720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790055" y="6177280"/>
            <a:ext cx="2847975" cy="699135"/>
          </a:xfrm>
          <a:prstGeom prst="rect">
            <a:avLst/>
          </a:prstGeom>
          <a:ln w="12700">
            <a:noFill/>
            <a:prstDash val="solid"/>
          </a:ln>
        </p:spPr>
      </p:pic>
      <p:sp>
        <p:nvSpPr>
          <p:cNvPr id="9" name="AutoShape 9"/>
          <p:cNvSpPr/>
          <p:nvPr/>
        </p:nvSpPr>
        <p:spPr>
          <a:xfrm>
            <a:off x="322580" y="2704465"/>
            <a:ext cx="3557905"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60" b="1" i="0" u="none" strike="noStrike">
                <a:ln w="12700">
                  <a:solidFill>
                    <a:srgbClr val="000000">
                      <a:alpha val="100000"/>
                    </a:srgbClr>
                  </a:solidFill>
                </a:ln>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MLP </a:t>
            </a:r>
            <a:r>
              <a:rPr lang="en-US" sz="1860" b="1" i="0" u="none" strike="noStrike">
                <a:ln w="12700">
                  <a:solidFill>
                    <a:srgbClr val="000000">
                      <a:alpha val="100000"/>
                    </a:srgbClr>
                  </a:solidFill>
                </a:ln>
                <a:solidFill>
                  <a:srgbClr val="000000"/>
                </a:solidFill>
                <a:latin typeface="Calibri" panose="020F0502020204030204"/>
                <a:ea typeface="Calibri" panose="020F0502020204030204"/>
                <a:cs typeface="Calibri" panose="020F0502020204030204"/>
                <a:sym typeface="Calibri" panose="020F0502020204030204"/>
              </a:rPr>
              <a:t>sans TP   ===&gt; </a:t>
            </a:r>
            <a:endParaRPr lang="en-US" sz="1100"/>
          </a:p>
        </p:txBody>
      </p:sp>
      <p:sp>
        <p:nvSpPr>
          <p:cNvPr id="10" name="AutoShape 10"/>
          <p:cNvSpPr/>
          <p:nvPr/>
        </p:nvSpPr>
        <p:spPr>
          <a:xfrm>
            <a:off x="393065" y="6297930"/>
            <a:ext cx="2102485" cy="37719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60" b="1" i="0" u="none" strike="noStrike">
                <a:ln w="12700">
                  <a:solidFill>
                    <a:srgbClr val="000000">
                      <a:alpha val="100000"/>
                    </a:srgbClr>
                  </a:solidFill>
                </a:ln>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MLP </a:t>
            </a:r>
            <a:r>
              <a:rPr lang="en-US" sz="1860" b="1" i="0" u="none" strike="noStrike">
                <a:ln w="12700">
                  <a:solidFill>
                    <a:srgbClr val="000000">
                      <a:alpha val="100000"/>
                    </a:srgbClr>
                  </a:solidFill>
                </a:ln>
                <a:solidFill>
                  <a:srgbClr val="000000"/>
                </a:solidFill>
                <a:latin typeface="Calibri" panose="020F0502020204030204"/>
                <a:ea typeface="微软雅黑" panose="020B0503020204020204" charset="-122"/>
                <a:cs typeface="微软雅黑" panose="020B0503020204020204" charset="-122"/>
                <a:sym typeface="Calibri" panose="020F0502020204030204"/>
              </a:rPr>
              <a:t>avec TP</a:t>
            </a:r>
            <a:r>
              <a:rPr lang="en-US" sz="1860" b="1" i="0" u="none" strike="noStrike">
                <a:ln w="12700">
                  <a:solidFill>
                    <a:srgbClr val="000000">
                      <a:alpha val="100000"/>
                    </a:srgbClr>
                  </a:solidFill>
                </a:ln>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===&gt; </a:t>
            </a:r>
            <a:endParaRPr lang="en-US" sz="110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Tensor Parallel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MLP</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Tensor Parallel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Entrelacement des partitions pour minimiser la communication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670685" y="1953895"/>
            <a:ext cx="9464675" cy="4589145"/>
          </a:xfrm>
          <a:prstGeom prst="rect">
            <a:avLst/>
          </a:prstGeom>
          <a:ln w="12700">
            <a:noFill/>
            <a:prstDash val="solid"/>
          </a:ln>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Tensor Parallel</a:t>
            </a:r>
            <a:r>
              <a:rPr lang="en-US" sz="2760"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Tensor Parallel des couches attention</a:t>
            </a:r>
            <a:endParaRPr 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Entrelacement des partitions pour minimiser la communication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98755" y="2369185"/>
            <a:ext cx="7343775" cy="352869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93330" y="2961640"/>
            <a:ext cx="4598670" cy="2426335"/>
          </a:xfrm>
          <a:prstGeom prst="rect">
            <a:avLst/>
          </a:prstGeom>
          <a:ln w="12700">
            <a:noFill/>
            <a:prstDash val="solid"/>
          </a:ln>
        </p:spPr>
      </p:pic>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Quand utiliser le Tensor Parallel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TP</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 GPU, grâce à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l'interconnexion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haute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vitesse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Tensor Parallel est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 sein d'un seul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jusqu'à</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8 GPU).</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929890" y="2568575"/>
            <a:ext cx="6583680" cy="4043045"/>
          </a:xfrm>
          <a:prstGeom prst="rect">
            <a:avLst/>
          </a:prstGeom>
          <a:ln w="12700">
            <a:noFill/>
            <a:prstDash val="solid"/>
          </a:ln>
        </p:spPr>
      </p:pic>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Limites du Tensor Parallel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TP</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TP ne </a:t>
            </a: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partitionne</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que</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a:t>
            </a: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opérations</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 GEMM.</a:t>
            </a:r>
            <a:endPar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spcBef>
                <a:spcPts val="1500"/>
              </a:spcBef>
              <a:buClr>
                <a:srgbClr val="404040"/>
              </a:buClr>
              <a:buFont typeface="Arial" panose="020B0604020202020204"/>
              <a:buChar char="•"/>
            </a:pP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LayerNorm</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 et Dropout </a:t>
            </a: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restent</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3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répliquées</a:t>
            </a:r>
            <a:r>
              <a:rPr lang="en-US" sz="23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3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C00000"/>
              </a:buClr>
              <a:buFont typeface="Arial" panose="020B0604020202020204"/>
              <a:buChar char="•"/>
            </a:pPr>
            <a:r>
              <a:rPr lang="en-US" sz="192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L'intégralité</a:t>
            </a:r>
            <a:r>
              <a:rPr lang="en-US" sz="1920" dirty="0">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20" b="0" i="0" u="none" strike="noStrike" dirty="0">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du </a:t>
            </a:r>
            <a:r>
              <a:rPr lang="en-US" sz="192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coût</a:t>
            </a:r>
            <a:r>
              <a:rPr lang="en-US" sz="1920" b="0" i="0" u="none" strike="noStrike" dirty="0">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2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920" b="0" i="0" u="none" strike="noStrike" dirty="0">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20" b="0" i="0" u="none" strike="noStrike" dirty="0" err="1">
                <a:solidFill>
                  <a:srgbClr val="C00000"/>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2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batch_size</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192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seq_len</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2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hidden_dim</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2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existe</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a:t>
            </a:r>
            <a:r>
              <a:rPr lang="en-US" sz="192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chaque</a:t>
            </a:r>
            <a:r>
              <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rPr>
              <a:t> partition TP.</a:t>
            </a:r>
            <a:endParaRPr lang="en-US" sz="192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984375" y="2914015"/>
            <a:ext cx="8222615" cy="3704590"/>
          </a:xfrm>
          <a:prstGeom prst="rect">
            <a:avLst/>
          </a:prstGeom>
          <a:ln w="12700">
            <a:noFill/>
            <a:prstDash val="solid"/>
          </a:ln>
        </p:spPr>
      </p:pic>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Tensor Parallel</a:t>
            </a:r>
            <a:r>
              <a:rPr lang="en-US" sz="2960"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9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Sequence Parallel</a:t>
            </a:r>
            <a:r>
              <a:rPr lang="en-US" sz="2960" b="0" i="0" u="none" strike="noStrike">
                <a:solidFill>
                  <a:srgbClr val="262626"/>
                </a:solidFill>
                <a:latin typeface="Calibri" panose="020F0502020204030204"/>
                <a:ea typeface="Calibri" panose="020F0502020204030204"/>
                <a:cs typeface="Calibri" panose="020F0502020204030204"/>
                <a:sym typeface="Calibri" panose="020F0502020204030204"/>
              </a:rPr>
              <a:t> [MLSys 23]</a:t>
            </a:r>
            <a:endParaRPr lang="en-US" sz="296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a:blipFill rotWithShape="1">
            <a:blip r:embed="rId1"/>
            <a:stretch>
              <a:fillRect l="-6" b="7"/>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838200" y="3634105"/>
            <a:ext cx="10845800" cy="3223895"/>
          </a:xfrm>
          <a:prstGeom prst="rect">
            <a:avLst/>
          </a:prstGeom>
          <a:ln w="12700">
            <a:noFill/>
            <a:prstDash val="solid"/>
          </a:ln>
        </p:spPr>
      </p:pic>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dirty="0" err="1">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 30</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51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sz="51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odèle</a:t>
            </a: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 II</a:t>
            </a:r>
            <a:b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(Pipeline Parallelism)</a:t>
            </a:r>
            <a:endPar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au parallélisme de pipeline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du parallélisme de pipeline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Planification avant et arrière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1F1B</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avancé</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Introduction à l'extension inter-nœuds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Le TP est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efficace</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le plan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calcul</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mais</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nécessite</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une</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synchronisation</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All-Reduce par construction,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donc</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ne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convient</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pas à </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l'extension</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inter-</a:t>
            </a:r>
            <a:r>
              <a:rPr lang="en-US" sz="191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nœuds</a:t>
            </a:r>
            <a:r>
              <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91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Ethernet/</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Infiniband</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latence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sérieusement</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limiter le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taux</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d'utilisation</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GPU.</a:t>
            </a:r>
            <a:endPar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étendre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grands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profonds</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plusieurs</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système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doit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vertical du </a:t>
            </a:r>
            <a:r>
              <a:rPr lang="en-US" sz="15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191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pipeline (PP) </a:t>
            </a:r>
            <a:r>
              <a:rPr lang="en-US" sz="191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attribue</a:t>
            </a: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blocs de couches </a:t>
            </a:r>
            <a:r>
              <a:rPr lang="en-US" sz="191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consécutifs</a:t>
            </a: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91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a:t>
            </a: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1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a:t>
            </a:r>
            <a:r>
              <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physiques.</a:t>
            </a:r>
            <a:endParaRPr lang="en-US" sz="191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b="17541"/>
          <a:stretch>
            <a:fillRect/>
          </a:stretch>
        </p:blipFill>
        <p:spPr>
          <a:xfrm>
            <a:off x="2574117" y="3622410"/>
            <a:ext cx="6818239" cy="3144222"/>
          </a:xfrm>
          <a:prstGeom prst="rect">
            <a:avLst/>
          </a:prstGeom>
          <a:ln w="12700">
            <a:noFill/>
            <a:prstDash val="solid"/>
          </a:ln>
        </p:spPr>
      </p:pic>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parallélisme de pipeline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PP</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21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couches </a:t>
            </a:r>
            <a:r>
              <a:rPr lang="en-US" sz="21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découpe</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couches et </a:t>
            </a:r>
            <a:r>
              <a:rPr lang="en-US" sz="21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affecte</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sous-ensembles aux</a:t>
            </a:r>
            <a:r>
              <a:rPr lang="en-US" sz="217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175" b="1" i="0" u="none" strike="noStrike" dirty="0">
                <a:solidFill>
                  <a:srgbClr val="404040"/>
                </a:solidFill>
                <a:latin typeface="Calibri" panose="020F0502020204030204"/>
                <a:ea typeface="Calibri" panose="020F0502020204030204"/>
                <a:cs typeface="Calibri" panose="020F0502020204030204"/>
                <a:sym typeface="Calibri" panose="020F0502020204030204"/>
              </a:rPr>
              <a:t>K</a:t>
            </a:r>
            <a:r>
              <a:rPr lang="en-US" sz="217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étapes).</a:t>
            </a:r>
            <a:endPar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activations et les gradients </a:t>
            </a:r>
            <a:r>
              <a:rPr lang="en-US" sz="21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partiels</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transitent</a:t>
            </a:r>
            <a:r>
              <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entre les étapes.</a:t>
            </a:r>
            <a:endParaRPr lang="en-US" sz="21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7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175"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2514688"/>
            <a:ext cx="3701344" cy="234702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123853" y="2514688"/>
            <a:ext cx="5996517" cy="2523787"/>
          </a:xfrm>
          <a:prstGeom prst="rect">
            <a:avLst/>
          </a:prstGeom>
          <a:ln w="12700">
            <a:noFill/>
            <a:prstDash val="solid"/>
          </a:ln>
        </p:spPr>
      </p:pic>
      <p:sp>
        <p:nvSpPr>
          <p:cNvPr id="8" name="AutoShape 8"/>
          <p:cNvSpPr/>
          <p:nvPr/>
        </p:nvSpPr>
        <p:spPr>
          <a:xfrm>
            <a:off x="1836733" y="5334670"/>
            <a:ext cx="6710491" cy="296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325" b="0" i="0" u="none" strike="noStrike" dirty="0">
                <a:solidFill>
                  <a:srgbClr val="000000"/>
                </a:solidFill>
                <a:latin typeface="Calibri" panose="020F0502020204030204"/>
                <a:ea typeface="Arial" panose="020B0604020202020204"/>
                <a:cs typeface="Arial" panose="020B0604020202020204"/>
                <a:sym typeface="Arial" panose="020B0604020202020204"/>
              </a:rPr>
              <a:t> GPU </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passe la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plupart</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du temps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état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d'inactivité</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attente</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32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32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dirty="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 de communication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352550" y="1975909"/>
            <a:ext cx="9281583" cy="4039096"/>
          </a:xfrm>
          <a:prstGeom prst="rect">
            <a:avLst/>
          </a:prstGeom>
          <a:ln w="12700">
            <a:noFill/>
            <a:prstDash val="solid"/>
          </a:ln>
        </p:spPr>
      </p:pic>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 Planification avant et arrière</a:t>
            </a:r>
            <a:endPar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Chronologie d'exécution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797050" y="1845469"/>
            <a:ext cx="8597900" cy="2184400"/>
          </a:xfrm>
          <a:prstGeom prst="rect">
            <a:avLst/>
          </a:prstGeom>
          <a:ln w="12700">
            <a:noFill/>
            <a:prstDash val="solid"/>
          </a:ln>
        </p:spPr>
      </p:pic>
      <p:sp>
        <p:nvSpPr>
          <p:cNvPr id="7" name="AutoShape 7"/>
          <p:cNvSpPr/>
          <p:nvPr/>
        </p:nvSpPr>
        <p:spPr>
          <a:xfrm>
            <a:off x="4040929" y="4402667"/>
            <a:ext cx="3794630" cy="830997"/>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7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Comment rendre les</a:t>
            </a:r>
            <a:r>
              <a:rPr lang="en-US" sz="1750" b="0" i="0" u="none" strike="noStrike">
                <a:solidFill>
                  <a:srgbClr val="000000"/>
                </a:solidFill>
                <a:latin typeface="Calibri" panose="020F0502020204030204"/>
                <a:ea typeface="Arial" panose="020B0604020202020204"/>
                <a:cs typeface="Arial" panose="020B0604020202020204"/>
                <a:sym typeface="Arial" panose="020B0604020202020204"/>
              </a:rPr>
              <a:t> GPU </a:t>
            </a:r>
            <a:r>
              <a:rPr lang="en-US" sz="17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actifs ?</a:t>
            </a:r>
            <a:endParaRPr lang="en-US" sz="1100"/>
          </a:p>
          <a:p>
            <a:pPr indent="0" algn="ctr">
              <a:lnSpc>
                <a:spcPct val="100000"/>
              </a:lnSpc>
            </a:pPr>
            <a:r>
              <a:rPr lang="en-US" sz="175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Division des lots !</a:t>
            </a:r>
            <a:endParaRPr lang="en-US" sz="175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 Planification avant et arrière</a:t>
            </a:r>
            <a:endPar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3438525" cy="429514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GPipe</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Google</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2019</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Divise le mini-lot global en</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310" b="1"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petits</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micro-lots</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maximiser les</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TFLOPS</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augmenter la taille du lot global pour accueillir plus de micro-lots dans le pipeline.</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62401" y="1323975"/>
            <a:ext cx="8004236" cy="3863378"/>
          </a:xfrm>
          <a:prstGeom prst="rect">
            <a:avLst/>
          </a:prstGeom>
          <a:ln w="12700">
            <a:noFill/>
            <a:prstDash val="solid"/>
          </a:ln>
        </p:spPr>
      </p:pic>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 Planification avant et arrière</a:t>
            </a:r>
            <a:endPar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a:blipFill rotWithShape="1">
            <a:blip r:embed="rId1"/>
            <a:stretch>
              <a:fillRect l="-1012" t="-2089"/>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2664634" y="3746882"/>
            <a:ext cx="5835764" cy="2621502"/>
          </a:xfrm>
          <a:prstGeom prst="rect">
            <a:avLst/>
          </a:prstGeom>
          <a:ln w="12700">
            <a:noFill/>
            <a:prstDash val="solid"/>
          </a:ln>
        </p:spPr>
      </p:pic>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 l'ordonnancement du pipeline</a:t>
            </a:r>
            <a:endPar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1.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pipeline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économise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rapport à</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DDP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2.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pipeline a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bonnes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caractéristiques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 (par rapport à</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FSDP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TP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communication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dépend</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uniquement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activations et est point à point.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utilisons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pipeline sur des liaisons réseau plus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(inter-</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meilleure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dirty="0"/>
              <a:t>extensibilité mémoire</a:t>
            </a:r>
            <a:r>
              <a:rPr lang="en-US" altLang="zh-CN" dirty="0">
                <a:solidFill>
                  <a:srgbClr val="404040"/>
                </a:solidFill>
                <a:ea typeface="微软雅黑" panose="020B0503020204020204" charset="-122"/>
                <a:sym typeface="微软雅黑" panose="020B0503020204020204" charset="-122"/>
              </a:rPr>
              <a:t>.</a:t>
            </a:r>
            <a:endParaRPr lang="en-US" altLang="zh-CN" dirty="0"/>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 l'ordonnancement du pipeline</a:t>
            </a:r>
            <a:endPar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PipeDream</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proposé</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stratégie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d'ordonnancement</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"1F1B".</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Après la phase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préchauffage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GPU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alternance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passe avant,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puis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immédiatement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passe arrière.</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Priorité</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 passe arrière pour modifier le cycle de vie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cache.</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5" name="Picture 5"/>
          <p:cNvPicPr>
            <a:picLocks noChangeAspect="1"/>
          </p:cNvPicPr>
          <p:nvPr/>
        </p:nvPicPr>
        <p:blipFill>
          <a:blip r:embed="rId1"/>
          <a:srcRect/>
          <a:stretch>
            <a:fillRect/>
          </a:stretch>
        </p:blipFill>
        <p:spPr>
          <a:xfrm>
            <a:off x="1920040" y="3280630"/>
            <a:ext cx="8115781" cy="3091726"/>
          </a:xfrm>
          <a:prstGeom prst="rect">
            <a:avLst/>
          </a:prstGeom>
          <a:ln w="12700">
            <a:noFill/>
            <a:prstDash val="solid"/>
          </a:ln>
        </p:spPr>
      </p:pic>
      <p:sp>
        <p:nvSpPr>
          <p:cNvPr id="6" name="AutoShape 6"/>
          <p:cNvSpPr/>
          <p:nvPr/>
        </p:nvSpPr>
        <p:spPr>
          <a:xfrm>
            <a:off x="60325" y="3680460"/>
            <a:ext cx="1701165" cy="13220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2000" b="1" i="0" u="none" strike="noStrike">
                <a:solidFill>
                  <a:srgbClr val="000000"/>
                </a:solidFill>
                <a:latin typeface="Calibri" panose="020F0502020204030204"/>
                <a:ea typeface="Arial" panose="020B0604020202020204"/>
                <a:cs typeface="Arial" panose="020B0604020202020204"/>
                <a:sym typeface="Arial" panose="020B0604020202020204"/>
              </a:rPr>
              <a:t>GPipe</a:t>
            </a:r>
            <a:endParaRPr lang="en-US" sz="1100"/>
          </a:p>
          <a:p>
            <a:pPr indent="0" algn="ctr">
              <a:lnSpc>
                <a:spcPct val="100000"/>
              </a:lnSpc>
            </a:pPr>
            <a:r>
              <a:rPr lang="en-US" sz="200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(passe avant puis passe arrière)</a:t>
            </a:r>
            <a:endParaRPr lang="en-US" sz="200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311766" y="5251883"/>
            <a:ext cx="1524776" cy="707886"/>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2000" b="1" i="0" u="none" strike="noStrike">
                <a:solidFill>
                  <a:srgbClr val="000000"/>
                </a:solidFill>
                <a:latin typeface="Calibri" panose="020F0502020204030204"/>
                <a:ea typeface="Arial" panose="020B0604020202020204"/>
                <a:cs typeface="Arial" panose="020B0604020202020204"/>
                <a:sym typeface="Arial" panose="020B0604020202020204"/>
              </a:rPr>
              <a:t>PipeDream</a:t>
            </a:r>
            <a:endParaRPr lang="en-US" sz="1100"/>
          </a:p>
          <a:p>
            <a:pPr indent="0" algn="ctr">
              <a:lnSpc>
                <a:spcPct val="100000"/>
              </a:lnSpc>
            </a:pPr>
            <a:r>
              <a:rPr lang="en-US" sz="2000" b="1" i="0" u="none" strike="noStrike">
                <a:solidFill>
                  <a:srgbClr val="000000"/>
                </a:solidFill>
                <a:latin typeface="Calibri" panose="020F0502020204030204"/>
                <a:ea typeface="Arial" panose="020B0604020202020204"/>
                <a:cs typeface="Arial" panose="020B0604020202020204"/>
                <a:sym typeface="Arial" panose="020B0604020202020204"/>
              </a:rPr>
              <a:t>(1F1B)</a:t>
            </a:r>
            <a:endParaRPr lang="en-US" sz="2000"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8" name="AutoShape 8"/>
          <p:cNvSpPr/>
          <p:nvPr/>
        </p:nvSpPr>
        <p:spPr>
          <a:xfrm>
            <a:off x="10034786" y="2735266"/>
            <a:ext cx="1502334" cy="707886"/>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dirty="0">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Pic </a:t>
            </a:r>
            <a:r>
              <a:rPr lang="en-US" sz="2000" b="0" i="0" u="none" strike="noStrike" dirty="0" err="1">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d'activité</a:t>
            </a:r>
            <a:endParaRPr lang="en-US" sz="1100" dirty="0"/>
          </a:p>
          <a:p>
            <a:pPr indent="0" algn="l">
              <a:lnSpc>
                <a:spcPct val="100000"/>
              </a:lnSpc>
            </a:pPr>
            <a:r>
              <a:rPr lang="en-US" sz="2000" b="0" i="0" u="none" strike="noStrike" dirty="0">
                <a:solidFill>
                  <a:srgbClr val="FF0000"/>
                </a:solidFill>
                <a:latin typeface="Calibri" panose="020F0502020204030204"/>
                <a:ea typeface="Arial" panose="020B0604020202020204"/>
                <a:cs typeface="Arial" panose="020B0604020202020204"/>
                <a:sym typeface="Arial" panose="020B0604020202020204"/>
              </a:rPr>
              <a:t>M </a:t>
            </a:r>
            <a:r>
              <a:rPr lang="en-US" sz="2000" b="0" i="0" u="none" strike="noStrike" dirty="0">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micro-lot</a:t>
            </a:r>
            <a:endParaRPr lang="en-US" sz="2000" b="0" i="0" u="none" strike="noStrike" dirty="0">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10596693" y="3623809"/>
            <a:ext cx="885179" cy="46166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O(M)</a:t>
            </a:r>
            <a:endParaRPr lang="en-US" sz="1100"/>
          </a:p>
        </p:txBody>
      </p:sp>
      <p:sp>
        <p:nvSpPr>
          <p:cNvPr id="10" name="AutoShape 10"/>
          <p:cNvSpPr/>
          <p:nvPr/>
        </p:nvSpPr>
        <p:spPr>
          <a:xfrm>
            <a:off x="10639621" y="5413976"/>
            <a:ext cx="833883" cy="46166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400" b="0" i="0" u="none" strike="noStrike">
                <a:solidFill>
                  <a:srgbClr val="000000"/>
                </a:solidFill>
                <a:latin typeface="Calibri" panose="020F0502020204030204"/>
                <a:ea typeface="Arial" panose="020B0604020202020204"/>
                <a:cs typeface="Arial" panose="020B0604020202020204"/>
                <a:sym typeface="Arial" panose="020B0604020202020204"/>
              </a:rPr>
              <a:t>O(K)</a:t>
            </a:r>
            <a:endParaRPr lang="en-US" sz="1100"/>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 l'ordonnancement du pipeline</a:t>
            </a:r>
            <a:endParaRPr 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sz="1845"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GPipe</a:t>
            </a:r>
            <a:r>
              <a:rPr lang="en-US" sz="1845" b="0" i="0" u="none" strike="noStrike" dirty="0">
                <a:solidFill>
                  <a:srgbClr val="404040"/>
                </a:solidFill>
                <a:latin typeface="Calibri" panose="020F0502020204030204"/>
                <a:ea typeface="Calibri" panose="020F0502020204030204"/>
                <a:cs typeface="Calibri" panose="020F0502020204030204"/>
                <a:sym typeface="Calibri" panose="020F0502020204030204"/>
              </a:rPr>
              <a:t> : Crise de </a:t>
            </a:r>
            <a:r>
              <a:rPr lang="en-US" sz="1845"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84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845"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vidéo</a:t>
            </a:r>
            <a:endPar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GPipe</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est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strictement</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synchrone</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toutes</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M passes avant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doivent</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être</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terminées</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avant </a:t>
            </a:r>
            <a:r>
              <a:rPr lang="en-US" sz="154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qu'aucune</a:t>
            </a:r>
            <a:r>
              <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rPr>
              <a:t> passe arrière ne commence.</a:t>
            </a:r>
            <a:endPar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dépend</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activations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intermédiaires</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étape du pipeline doit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mettre</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cache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toutes</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activations des M micro-lots.</a:t>
            </a:r>
            <a:endPar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croît</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linéairement</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O(M),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déclenchant</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rapidement</a:t>
            </a:r>
            <a:r>
              <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OOM.</a:t>
            </a:r>
            <a:endParaRPr lang="en-US" sz="15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endParaRPr lang="en-US" sz="154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84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845"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305753" y="3226166"/>
            <a:ext cx="7713839" cy="3040491"/>
          </a:xfrm>
          <a:prstGeom prst="rect">
            <a:avLst/>
          </a:prstGeom>
          <a:ln w="12700">
            <a:noFill/>
            <a:prstDash val="solid"/>
          </a:ln>
        </p:spPr>
      </p:pic>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4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304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304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l‘ordonnancement</a:t>
            </a:r>
            <a:r>
              <a:rPr lang="en-US" sz="304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du pipeline</a:t>
            </a:r>
            <a:r>
              <a:rPr lang="zh-CN" altLang="en-US" sz="304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304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2" y="1132554"/>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1F1B : </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Occupation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zh-CN" altLang="en-US" sz="2000" dirty="0">
                <a:solidFill>
                  <a:srgbClr val="404040"/>
                </a:solidFill>
                <a:ea typeface="微软雅黑" panose="020B0503020204020204" charset="-122"/>
                <a:cs typeface="微软雅黑" panose="020B0503020204020204" charset="-122"/>
                <a:sym typeface="微软雅黑" panose="020B0503020204020204" charset="-122"/>
              </a:rPr>
              <a:t> </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1F1B </a:t>
            </a:r>
            <a:r>
              <a:rPr lang="en-US" sz="18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exécute</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a:t>
            </a:r>
            <a:r>
              <a:rPr lang="en-US" sz="18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rétropropagation</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 plus </a:t>
            </a:r>
            <a:r>
              <a:rPr lang="en-US" sz="18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tôt</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possible </a:t>
            </a:r>
            <a:r>
              <a:rPr lang="en-US" sz="18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mathématiquement</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grandes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quantités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d’activations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mises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cache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immédiatement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libérées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après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avoir</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été</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utilisées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gradient.</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n’importe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quel</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maximale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activations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transit à stocker est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strictement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limitée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profondeur</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pipeline K, et non par M.</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découble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maximale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micro‑lots,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permettant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M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s’étendre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indéfiniment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disponible).</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878237" y="3887258"/>
            <a:ext cx="7713839" cy="2834218"/>
          </a:xfrm>
          <a:prstGeom prst="rect">
            <a:avLst/>
          </a:prstGeom>
          <a:ln w="12700">
            <a:noFill/>
            <a:prstDash val="solid"/>
          </a:ln>
        </p:spPr>
      </p:pic>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1F1B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1334910" y="3946225"/>
            <a:ext cx="8821617" cy="2646485"/>
          </a:xfrm>
          <a:prstGeom prst="rect">
            <a:avLst/>
          </a:prstGeom>
          <a:ln w="12700">
            <a:noFill/>
            <a:prstDash val="solid"/>
          </a:ln>
        </p:spPr>
      </p:pic>
      <p:sp>
        <p:nvSpPr>
          <p:cNvPr id="7" name="AutoShape 5"/>
          <p:cNvSpPr/>
          <p:nvPr/>
        </p:nvSpPr>
        <p:spPr>
          <a:xfrm>
            <a:off x="523874" y="1323975"/>
            <a:ext cx="11277601" cy="4852988"/>
          </a:xfrm>
          <a:prstGeom prst="rect">
            <a:avLst/>
          </a:prstGeom>
          <a:blipFill rotWithShape="1">
            <a:blip r:embed="rId2"/>
            <a:stretch>
              <a:fillRect l="-1012" t="-2089"/>
            </a:stretch>
          </a:blip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Interlacé</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1F1B</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un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taux</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bulles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négligeable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&lt;5%), M </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doit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être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très grand.</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taille de lot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globale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mathématiquement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limitée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convergence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la taille de lot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globale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fixée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augmenter M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réduirait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taille d'un micro-lot à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presque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petits micro-lots ne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peuvent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pleinement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GPU Tensor Core,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qui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densité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Une nouvelle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stratégie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d'ordonnancement</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est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nécessaire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pour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réduire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bulles</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sans augmenter M. </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Interlacé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1F1B</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Megatron-LM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1837267" y="1481277"/>
            <a:ext cx="8293734" cy="2709725"/>
          </a:xfrm>
          <a:prstGeom prst="rect">
            <a:avLst/>
          </a:prstGeom>
          <a:ln w="12700">
            <a:noFill/>
            <a:prstDash val="solid"/>
          </a:ln>
        </p:spPr>
      </p:pic>
      <p:sp>
        <p:nvSpPr>
          <p:cNvPr id="7" name="AutoShape 7"/>
          <p:cNvSpPr/>
          <p:nvPr/>
        </p:nvSpPr>
        <p:spPr>
          <a:xfrm>
            <a:off x="1424632" y="4699730"/>
            <a:ext cx="4052712" cy="707886"/>
          </a:xfrm>
          <a:prstGeom prst="rect">
            <a:avLst/>
          </a:prstGeom>
          <a:noFill/>
          <a:ln w="12700">
            <a:noFill/>
            <a:prstDash val="solid"/>
          </a:ln>
        </p:spPr>
        <p:txBody>
          <a:bodyPr wrap="square" lIns="91440" tIns="45720" rIns="91440" bIns="45720" rtlCol="0" anchor="t">
            <a:spAutoFit/>
          </a:bodyPr>
          <a:lstStyle/>
          <a:p>
            <a:pPr marL="254000" indent="-254000" algn="l">
              <a:lnSpc>
                <a:spcPct val="100000"/>
              </a:lnSpc>
              <a:buClr>
                <a:srgbClr val="000000"/>
              </a:buClr>
              <a:buChar char="•"/>
              <a:defRPr/>
            </a:pP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Un micro-lot passe par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seulement</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deux</a:t>
            </a:r>
            <a:r>
              <a:rPr lang="en-US" sz="2000" b="0" i="0" u="none" strike="noStrike" dirty="0">
                <a:solidFill>
                  <a:srgbClr val="000000"/>
                </a:solidFill>
                <a:latin typeface="Calibri" panose="020F0502020204030204"/>
                <a:ea typeface="Arial" panose="020B0604020202020204"/>
                <a:cs typeface="Arial" panose="020B0604020202020204"/>
                <a:sym typeface="Arial" panose="020B0604020202020204"/>
              </a:rPr>
              <a:t> GPU </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chacun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dirty="0"/>
          </a:p>
        </p:txBody>
      </p:sp>
      <p:sp>
        <p:nvSpPr>
          <p:cNvPr id="8" name="AutoShape 8"/>
          <p:cNvSpPr/>
          <p:nvPr/>
        </p:nvSpPr>
        <p:spPr>
          <a:xfrm>
            <a:off x="6378102" y="4391954"/>
            <a:ext cx="4350809" cy="1323439"/>
          </a:xfrm>
          <a:prstGeom prst="rect">
            <a:avLst/>
          </a:prstGeom>
          <a:noFill/>
          <a:ln w="12700">
            <a:noFill/>
            <a:prstDash val="solid"/>
          </a:ln>
        </p:spPr>
        <p:txBody>
          <a:bodyPr wrap="square" lIns="91440" tIns="45720" rIns="91440" bIns="45720" rtlCol="0" anchor="t">
            <a:spAutoFit/>
          </a:bodyPr>
          <a:lstStyle/>
          <a:p>
            <a:pPr marL="254000" indent="-254000" algn="l">
              <a:lnSpc>
                <a:spcPct val="100000"/>
              </a:lnSpc>
              <a:buClr>
                <a:srgbClr val="000000"/>
              </a:buClr>
              <a:buChar char="•"/>
              <a:defRPr/>
            </a:pP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Un micro-lot passe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maintenant</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par deux</a:t>
            </a:r>
            <a:r>
              <a:rPr lang="en-US" sz="2000" b="0" i="0" u="none" strike="noStrike" dirty="0">
                <a:solidFill>
                  <a:srgbClr val="000000"/>
                </a:solidFill>
                <a:latin typeface="Calibri" panose="020F0502020204030204"/>
                <a:ea typeface="Arial" panose="020B0604020202020204"/>
                <a:cs typeface="Arial" panose="020B0604020202020204"/>
                <a:sym typeface="Arial" panose="020B0604020202020204"/>
              </a:rPr>
              <a:t> GPU </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chacun deux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dirty="0"/>
          </a:p>
          <a:p>
            <a:pPr marL="254000" indent="-254000" algn="l">
              <a:lnSpc>
                <a:spcPct val="100000"/>
              </a:lnSpc>
              <a:buClr>
                <a:srgbClr val="000000"/>
              </a:buClr>
              <a:buChar char="•"/>
            </a:pP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Les GPU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maintenant</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occupés</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si</a:t>
            </a:r>
            <a:r>
              <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nous avions deux lots.</a:t>
            </a:r>
            <a:endParaRPr lang="en-US" sz="200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Interlacé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1F1B</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Megatron-LM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davantage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d'“étapes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virtuelles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 V étapes).</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 1 est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simultanément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affecté</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l'étape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virtuelle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 (par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couches 1-2) et à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l'étape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virtuelle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5 (par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couches 9-10).</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30841" y="2374687"/>
            <a:ext cx="9200048" cy="4311016"/>
          </a:xfrm>
          <a:prstGeom prst="rect">
            <a:avLst/>
          </a:prstGeom>
          <a:ln w="12700">
            <a:noFill/>
            <a:prstDash val="solid"/>
          </a:ln>
        </p:spPr>
      </p:pic>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Entrelacé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1F1B</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Megatron-LM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a:blipFill rotWithShape="1">
            <a:blip r:embed="rId1"/>
            <a:stretch>
              <a:fillRect l="-1012" t="-1828"/>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Entrelacé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1F1B</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Megatron-LM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25" b="0" i="0" u="none" strike="noStrike" dirty="0">
                <a:solidFill>
                  <a:srgbClr val="404040"/>
                </a:solidFill>
                <a:latin typeface="Calibri" panose="020F0502020204030204"/>
                <a:ea typeface="Calibri" panose="020F0502020204030204"/>
                <a:cs typeface="Calibri" panose="020F0502020204030204"/>
                <a:sym typeface="Calibri" panose="020F0502020204030204"/>
              </a:rPr>
              <a:t>Megatron-core est </a:t>
            </a:r>
            <a:r>
              <a:rPr lang="en-US" sz="22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recommandé</a:t>
            </a:r>
            <a:r>
              <a:rPr lang="en-US" sz="22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22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défaut</a:t>
            </a:r>
            <a:r>
              <a:rPr lang="en-US" sz="222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2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Intrelacé</a:t>
            </a:r>
            <a:r>
              <a:rPr lang="en-US" sz="2225" b="1" i="0" u="none" strike="noStrike" dirty="0">
                <a:solidFill>
                  <a:srgbClr val="404040"/>
                </a:solidFill>
                <a:latin typeface="Calibri" panose="020F0502020204030204"/>
                <a:ea typeface="Calibri" panose="020F0502020204030204"/>
                <a:cs typeface="Calibri" panose="020F0502020204030204"/>
                <a:sym typeface="Calibri" panose="020F0502020204030204"/>
              </a:rPr>
              <a:t> 1F1B</a:t>
            </a:r>
            <a:endParaRPr lang="en-US" sz="2225"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185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couches par étape de pipeline </a:t>
            </a:r>
            <a:r>
              <a:rPr lang="en-US" sz="185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virtuel</a:t>
            </a: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85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généralement</a:t>
            </a: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5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a:t>
            </a: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a:t>
            </a:r>
            <a:r>
              <a:rPr lang="en-US" sz="1855" b="0" i="0" u="none" strike="noStrike" dirty="0">
                <a:solidFill>
                  <a:srgbClr val="404040"/>
                </a:solidFill>
                <a:latin typeface="Calibri" panose="020F0502020204030204"/>
                <a:ea typeface="Calibri" panose="020F0502020204030204"/>
                <a:cs typeface="Calibri" panose="020F0502020204030204"/>
                <a:sym typeface="Calibri" panose="020F0502020204030204"/>
              </a:rPr>
              <a:t> 2-4</a:t>
            </a:r>
            <a:r>
              <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746726" y="2268204"/>
            <a:ext cx="5697361" cy="4453272"/>
          </a:xfrm>
          <a:prstGeom prst="rect">
            <a:avLst/>
          </a:prstGeom>
          <a:ln w="12700">
            <a:noFill/>
            <a:prstDash val="solid"/>
          </a:ln>
        </p:spPr>
      </p:pic>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avancé : Pipeline à bulles nulles (</a:t>
            </a:r>
            <a:r>
              <a:rPr lang="en-US" sz="2500" b="0" i="0" u="none" strike="noStrike">
                <a:solidFill>
                  <a:srgbClr val="262626"/>
                </a:solidFill>
                <a:latin typeface="Calibri" panose="020F0502020204030204"/>
                <a:ea typeface="Calibri" panose="020F0502020204030204"/>
                <a:cs typeface="Calibri" panose="020F0502020204030204"/>
                <a:sym typeface="Calibri" panose="020F0502020204030204"/>
              </a:rPr>
              <a:t>ICLR’24</a:t>
            </a:r>
            <a:r>
              <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Idée principale :</a:t>
            </a:r>
            <a:endParaRPr lang="en-US" sz="21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Séparer les calculs bloquants et non bloquants pour réaliser un ordonnancement de pipeline plus flexible.</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528233" y="2381250"/>
            <a:ext cx="8712622" cy="3795713"/>
          </a:xfrm>
          <a:prstGeom prst="rect">
            <a:avLst/>
          </a:prstGeom>
          <a:ln w="12700">
            <a:noFill/>
            <a:prstDash val="solid"/>
          </a:ln>
        </p:spPr>
      </p:pic>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avancé : Pipeline à bulles nulles (</a:t>
            </a:r>
            <a:r>
              <a:rPr lang="en-US" sz="2500" b="0" i="0" u="none" strike="noStrike">
                <a:solidFill>
                  <a:srgbClr val="262626"/>
                </a:solidFill>
                <a:latin typeface="Calibri" panose="020F0502020204030204"/>
                <a:ea typeface="Calibri" panose="020F0502020204030204"/>
                <a:cs typeface="Calibri" panose="020F0502020204030204"/>
                <a:sym typeface="Calibri" panose="020F0502020204030204"/>
              </a:rPr>
              <a:t>ICLR’24</a:t>
            </a:r>
            <a:r>
              <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Petite échelle : programmation linéaire en nombres entiers, optimisant simultanément la mémoire vidéo et le temps d'exécution de bout en bout</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Grande échelle : algorithmes heuristiques</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nombre de communications de parallélisme de pipeline est inférieur à celui du</a:t>
            </a: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 1F1B</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mais les bulles sont équivalentes ou moindres.</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3429000"/>
            <a:ext cx="10571480" cy="3287889"/>
          </a:xfrm>
          <a:prstGeom prst="rect">
            <a:avLst/>
          </a:prstGeom>
          <a:ln w="12700">
            <a:noFill/>
            <a:prstDash val="solid"/>
          </a:ln>
        </p:spPr>
      </p:pic>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avancé : </a:t>
            </a:r>
            <a:r>
              <a:rPr lang="en-US" sz="2640" b="0" i="0" u="none" strike="noStrike">
                <a:solidFill>
                  <a:srgbClr val="262626"/>
                </a:solidFill>
                <a:latin typeface="Calibri" panose="020F0502020204030204"/>
                <a:ea typeface="Calibri" panose="020F0502020204030204"/>
                <a:cs typeface="Calibri" panose="020F0502020204030204"/>
                <a:sym typeface="Calibri" panose="020F0502020204030204"/>
              </a:rPr>
              <a:t>DeepSeek-V3 DualPipe</a:t>
            </a:r>
            <a:r>
              <a:rPr lang="en-US" sz="26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640" b="0" i="0" u="none" strike="noStrike">
                <a:solidFill>
                  <a:srgbClr val="262626"/>
                </a:solidFill>
                <a:latin typeface="Calibri" panose="020F0502020204030204"/>
                <a:ea typeface="Calibri" panose="020F0502020204030204"/>
                <a:cs typeface="Calibri" panose="020F0502020204030204"/>
                <a:sym typeface="Calibri" panose="020F0502020204030204"/>
              </a:rPr>
              <a:t>2025</a:t>
            </a:r>
            <a:r>
              <a:rPr lang="en-US" sz="26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6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DeepSeek V3: https://arxiv.org/pdf/2412.19437v1, 2025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 de partitionnement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865511" y="1323975"/>
            <a:ext cx="5025784" cy="238919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87958" y="3880521"/>
            <a:ext cx="11816084" cy="2281384"/>
          </a:xfrm>
          <a:prstGeom prst="rect">
            <a:avLst/>
          </a:prstGeom>
          <a:ln w="12700">
            <a:noFill/>
            <a:prstDash val="solid"/>
          </a:ln>
        </p:spPr>
      </p:pic>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avancé</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https://selamjie.medium.com/the-frontier-of-pipeline-parallelism-an-overview-d4264cc9f877</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1"/>
          <a:srcRect/>
          <a:stretch>
            <a:fillRect/>
          </a:stretch>
        </p:blipFill>
        <p:spPr>
          <a:xfrm>
            <a:off x="3081020" y="1132840"/>
            <a:ext cx="6859270" cy="5292725"/>
          </a:xfrm>
          <a:prstGeom prst="rect">
            <a:avLst/>
          </a:prstGeom>
          <a:ln w="12700">
            <a:noFill/>
            <a:prstDash val="solid"/>
          </a:ln>
        </p:spPr>
      </p:pic>
    </p:spTree>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31</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Primitives de communication</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Loi d'échelle des grands modèles de langage (</a:t>
            </a:r>
            <a:r>
              <a:rPr lang="en-US" sz="2545" b="0" i="0" u="none" strike="noStrike">
                <a:solidFill>
                  <a:srgbClr val="262626"/>
                </a:solidFill>
                <a:latin typeface="Calibri" panose="020F0502020204030204"/>
                <a:ea typeface="Calibri" panose="020F0502020204030204"/>
                <a:cs typeface="Calibri" panose="020F0502020204030204"/>
                <a:sym typeface="Calibri" panose="020F0502020204030204"/>
              </a:rPr>
              <a:t>Scaling Law of LLMs</a:t>
            </a:r>
            <a:r>
              <a:rPr lang="en-US"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arxiv.org/abs/2001.08361"/>
              </a:rPr>
              <a:t>https://arxiv.org/abs/2001.08361</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2" tooltip="https://dnacap.fund/insights/exploring-the-landscape-of-large-language-models"/>
              </a:rPr>
              <a:t>https://dnacap.fund/insights/exploring-the-landscape-of-large-language-models</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performance du modèle augmente de manière prévisible selon une fonction de loi de puissance avec l'augmentation de la quantité de calcul, de la taille des données et du nombre de paramètres.</a:t>
            </a:r>
            <a:endPar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004871" y="3839061"/>
            <a:ext cx="101822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NVL576</a:t>
            </a:r>
            <a:endParaRPr lang="en-US" sz="1100"/>
          </a:p>
        </p:txBody>
      </p:sp>
      <p:pic>
        <p:nvPicPr>
          <p:cNvPr id="7" name="Picture 7"/>
          <p:cNvPicPr>
            <a:picLocks noChangeAspect="1"/>
          </p:cNvPicPr>
          <p:nvPr/>
        </p:nvPicPr>
        <p:blipFill>
          <a:blip r:embed="rId3"/>
          <a:srcRect/>
          <a:stretch>
            <a:fillRect/>
          </a:stretch>
        </p:blipFill>
        <p:spPr>
          <a:xfrm>
            <a:off x="1759984" y="2279475"/>
            <a:ext cx="7950345" cy="3987182"/>
          </a:xfrm>
          <a:prstGeom prst="rect">
            <a:avLst/>
          </a:prstGeom>
          <a:ln w="12700">
            <a:noFill/>
            <a:prstDash val="solid"/>
          </a:ln>
        </p:spPr>
      </p:pic>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550" b="0" i="0" u="none" strike="noStrike">
                <a:solidFill>
                  <a:srgbClr val="262626"/>
                </a:solidFill>
                <a:latin typeface="Calibri" panose="020F0502020204030204"/>
                <a:ea typeface="Calibri" panose="020F0502020204030204"/>
                <a:cs typeface="Calibri" panose="020F0502020204030204"/>
                <a:sym typeface="Calibri" panose="020F0502020204030204"/>
              </a:rPr>
              <a:t>AI</a:t>
            </a: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Les systèmes de calcul AI sont également en constante expansion</a:t>
            </a:r>
            <a:endPar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produits de super-nœuds représentés par l'interconnexion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Scale-up</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font leur apparition sur le marché</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736536" y="6051200"/>
            <a:ext cx="88998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NVL72</a:t>
            </a:r>
            <a:endParaRPr lang="en-US" sz="1100"/>
          </a:p>
        </p:txBody>
      </p:sp>
      <p:pic>
        <p:nvPicPr>
          <p:cNvPr id="7" name="Picture 7"/>
          <p:cNvPicPr>
            <a:picLocks noChangeAspect="1"/>
          </p:cNvPicPr>
          <p:nvPr/>
        </p:nvPicPr>
        <p:blipFill>
          <a:blip r:embed="rId1"/>
          <a:srcRect/>
          <a:stretch>
            <a:fillRect/>
          </a:stretch>
        </p:blipFill>
        <p:spPr>
          <a:xfrm>
            <a:off x="4130342" y="1972453"/>
            <a:ext cx="2767286" cy="1867918"/>
          </a:xfrm>
          <a:prstGeom prst="rect">
            <a:avLst/>
          </a:prstGeom>
          <a:ln w="12700">
            <a:noFill/>
            <a:prstDash val="solid"/>
          </a:ln>
        </p:spPr>
      </p:pic>
      <p:sp>
        <p:nvSpPr>
          <p:cNvPr id="8" name="AutoShape 8"/>
          <p:cNvSpPr/>
          <p:nvPr/>
        </p:nvSpPr>
        <p:spPr>
          <a:xfrm>
            <a:off x="5004871" y="3839061"/>
            <a:ext cx="101822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NVL576</a:t>
            </a:r>
            <a:endParaRPr lang="en-US" sz="1100"/>
          </a:p>
        </p:txBody>
      </p:sp>
      <p:pic>
        <p:nvPicPr>
          <p:cNvPr id="9" name="Picture 9"/>
          <p:cNvPicPr>
            <a:picLocks noChangeAspect="1"/>
          </p:cNvPicPr>
          <p:nvPr/>
        </p:nvPicPr>
        <p:blipFill>
          <a:blip r:embed="rId2"/>
          <a:srcRect l="21741" r="25207"/>
          <a:stretch>
            <a:fillRect/>
          </a:stretch>
        </p:blipFill>
        <p:spPr>
          <a:xfrm>
            <a:off x="7327622" y="1970934"/>
            <a:ext cx="3817186" cy="4047388"/>
          </a:xfrm>
          <a:prstGeom prst="rect">
            <a:avLst/>
          </a:prstGeom>
          <a:ln w="12700">
            <a:noFill/>
            <a:prstDash val="solid"/>
          </a:ln>
        </p:spPr>
      </p:pic>
      <p:sp>
        <p:nvSpPr>
          <p:cNvPr id="10" name="AutoShape 10"/>
          <p:cNvSpPr/>
          <p:nvPr/>
        </p:nvSpPr>
        <p:spPr>
          <a:xfrm>
            <a:off x="8584644" y="6055877"/>
            <a:ext cx="1402948"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AMD Helios</a:t>
            </a:r>
            <a:endParaRPr lang="en-US" sz="1100"/>
          </a:p>
        </p:txBody>
      </p:sp>
      <p:pic>
        <p:nvPicPr>
          <p:cNvPr id="11" name="Picture 11"/>
          <p:cNvPicPr>
            <a:picLocks noChangeAspect="1"/>
          </p:cNvPicPr>
          <p:nvPr/>
        </p:nvPicPr>
        <p:blipFill>
          <a:blip r:embed="rId3"/>
          <a:srcRect/>
          <a:stretch>
            <a:fillRect/>
          </a:stretch>
        </p:blipFill>
        <p:spPr>
          <a:xfrm>
            <a:off x="4130341" y="4461724"/>
            <a:ext cx="2767286" cy="1556598"/>
          </a:xfrm>
          <a:prstGeom prst="rect">
            <a:avLst/>
          </a:prstGeom>
          <a:ln w="12700">
            <a:noFill/>
            <a:prstDash val="solid"/>
          </a:ln>
        </p:spPr>
      </p:pic>
      <p:sp>
        <p:nvSpPr>
          <p:cNvPr id="12" name="AutoShape 12"/>
          <p:cNvSpPr/>
          <p:nvPr/>
        </p:nvSpPr>
        <p:spPr>
          <a:xfrm>
            <a:off x="4196957" y="6048466"/>
            <a:ext cx="2634054"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Huawei CloudMatrix384</a:t>
            </a:r>
            <a:endParaRPr lang="en-US" sz="1100"/>
          </a:p>
        </p:txBody>
      </p:sp>
      <p:pic>
        <p:nvPicPr>
          <p:cNvPr id="13" name="Picture 13"/>
          <p:cNvPicPr>
            <a:picLocks noChangeAspect="1"/>
          </p:cNvPicPr>
          <p:nvPr/>
        </p:nvPicPr>
        <p:blipFill>
          <a:blip r:embed="rId4"/>
          <a:srcRect l="15055" r="12828"/>
          <a:stretch>
            <a:fillRect/>
          </a:stretch>
        </p:blipFill>
        <p:spPr>
          <a:xfrm>
            <a:off x="737193" y="1970934"/>
            <a:ext cx="2949262" cy="4047388"/>
          </a:xfrm>
          <a:prstGeom prst="rect">
            <a:avLst/>
          </a:prstGeom>
          <a:ln w="12700">
            <a:noFill/>
            <a:prstDash val="solid"/>
          </a:ln>
        </p:spPr>
      </p:pic>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Mapper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LLM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sur plusieurs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GPU/NPU</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robotchinwag.com/posts/demystifying-tensor-parallelism/"/>
              </a:rPr>
              <a:t>https://robotchinwag.com/posts/demystifying-tensor-parallelism/</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2" tooltip="https://docs.nvidia.com/nemo/megatron-bridge/0.2.0/parallelisms.html"/>
              </a:rPr>
              <a:t>https://docs.nvidia.com/nemo/megatron-bridge/0.2.0/parallelisms.html</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3" tooltip="https://aclanthology.org/2023.acl-long.134.pdf"/>
              </a:rPr>
              <a:t>https://aclanthology.org/2023.acl-long.134.pdf</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351895" cy="69913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multidimensionnel : parallélisme de données, parallélisme de pipeline, parallélisme d'experts, parallélisme de tenseurs, parallélisme de séquence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4"/>
          <a:srcRect/>
          <a:stretch>
            <a:fillRect/>
          </a:stretch>
        </p:blipFill>
        <p:spPr>
          <a:xfrm>
            <a:off x="8236386" y="1950354"/>
            <a:ext cx="3431740" cy="1567161"/>
          </a:xfrm>
          <a:prstGeom prst="rect">
            <a:avLst/>
          </a:prstGeom>
          <a:ln w="12700">
            <a:noFill/>
            <a:prstDash val="solid"/>
          </a:ln>
        </p:spPr>
      </p:pic>
      <p:sp>
        <p:nvSpPr>
          <p:cNvPr id="7" name="AutoShape 7"/>
          <p:cNvSpPr/>
          <p:nvPr/>
        </p:nvSpPr>
        <p:spPr>
          <a:xfrm>
            <a:off x="8886390" y="3505609"/>
            <a:ext cx="2672878"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Expert Parallelism</a:t>
            </a:r>
            <a:endParaRPr lang="en-US" sz="1100"/>
          </a:p>
        </p:txBody>
      </p:sp>
      <p:pic>
        <p:nvPicPr>
          <p:cNvPr id="8" name="Picture 8"/>
          <p:cNvPicPr>
            <a:picLocks noChangeAspect="1"/>
          </p:cNvPicPr>
          <p:nvPr/>
        </p:nvPicPr>
        <p:blipFill>
          <a:blip r:embed="rId5"/>
          <a:srcRect/>
          <a:stretch>
            <a:fillRect/>
          </a:stretch>
        </p:blipFill>
        <p:spPr>
          <a:xfrm>
            <a:off x="24895" y="2330683"/>
            <a:ext cx="8005713" cy="3165844"/>
          </a:xfrm>
          <a:prstGeom prst="rect">
            <a:avLst/>
          </a:prstGeom>
          <a:ln w="12700">
            <a:noFill/>
            <a:prstDash val="solid"/>
          </a:ln>
        </p:spPr>
      </p:pic>
      <p:pic>
        <p:nvPicPr>
          <p:cNvPr id="9" name="Picture 9"/>
          <p:cNvPicPr>
            <a:picLocks noChangeAspect="1"/>
          </p:cNvPicPr>
          <p:nvPr/>
        </p:nvPicPr>
        <p:blipFill>
          <a:blip r:embed="rId6"/>
          <a:srcRect/>
          <a:stretch>
            <a:fillRect/>
          </a:stretch>
        </p:blipFill>
        <p:spPr>
          <a:xfrm>
            <a:off x="8236386" y="4066362"/>
            <a:ext cx="3267530" cy="1930613"/>
          </a:xfrm>
          <a:prstGeom prst="rect">
            <a:avLst/>
          </a:prstGeom>
          <a:ln w="12700">
            <a:noFill/>
            <a:prstDash val="solid"/>
          </a:ln>
        </p:spPr>
      </p:pic>
      <p:sp>
        <p:nvSpPr>
          <p:cNvPr id="10" name="AutoShape 10"/>
          <p:cNvSpPr/>
          <p:nvPr/>
        </p:nvSpPr>
        <p:spPr>
          <a:xfrm>
            <a:off x="8886390" y="5981612"/>
            <a:ext cx="2672878"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Sequence Parallelism</a:t>
            </a:r>
            <a:endParaRPr lang="en-US" sz="1100"/>
          </a:p>
        </p:txBody>
      </p:sp>
    </p:spTree>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570" b="0" i="0" u="none" strike="noStrike">
                <a:solidFill>
                  <a:srgbClr val="262626"/>
                </a:solidFill>
                <a:latin typeface="Calibri" panose="020F0502020204030204"/>
                <a:ea typeface="Calibri" panose="020F0502020204030204"/>
                <a:cs typeface="Calibri" panose="020F0502020204030204"/>
                <a:sym typeface="Calibri" panose="020F0502020204030204"/>
              </a:rPr>
              <a:t>AI</a:t>
            </a:r>
            <a:r>
              <a:rPr lang="en-US" sz="25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Chemins de transfert de données dans les systèmes de calcul AI</a:t>
            </a:r>
            <a:endParaRPr lang="en-US" sz="25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arxiv.org/html/2507.04786v1"/>
              </a:rPr>
              <a:t>https://arxiv.org/html/2507.04786v1</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Scale-up : NVLINK, HCCS, Unified Bus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Scale-out : InfiniBand (IB), RoCE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523873" y="2763997"/>
            <a:ext cx="5418740" cy="323954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329505" y="1323975"/>
            <a:ext cx="5276429" cy="4679567"/>
          </a:xfrm>
          <a:prstGeom prst="rect">
            <a:avLst/>
          </a:prstGeom>
          <a:ln w="12700">
            <a:noFill/>
            <a:prstDash val="solid"/>
          </a:ln>
        </p:spPr>
      </p:pic>
      <p:sp>
        <p:nvSpPr>
          <p:cNvPr id="8" name="AutoShape 8"/>
          <p:cNvSpPr/>
          <p:nvPr/>
        </p:nvSpPr>
        <p:spPr>
          <a:xfrm>
            <a:off x="357041" y="6017030"/>
            <a:ext cx="5805632"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 sein du nœud, la communication entre </a:t>
            </a:r>
            <a:r>
              <a:rPr lang="en-US" sz="1215" b="0" i="0" u="none" strike="noStrike">
                <a:solidFill>
                  <a:srgbClr val="000000"/>
                </a:solidFill>
                <a:latin typeface="Calibri" panose="020F0502020204030204"/>
                <a:ea typeface="Arial" panose="020B0604020202020204"/>
                <a:cs typeface="Arial" panose="020B0604020202020204"/>
                <a:sym typeface="Arial" panose="020B0604020202020204"/>
              </a:rPr>
              <a:t>GPU</a:t>
            </a:r>
            <a:r>
              <a:rPr lang="en-US" sz="12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s'effectue via </a:t>
            </a:r>
            <a:r>
              <a:rPr lang="en-US" sz="1215" b="0" i="0" u="none" strike="noStrike">
                <a:solidFill>
                  <a:srgbClr val="000000"/>
                </a:solidFill>
                <a:latin typeface="Calibri" panose="020F0502020204030204"/>
                <a:ea typeface="Arial" panose="020B0604020202020204"/>
                <a:cs typeface="Arial" panose="020B0604020202020204"/>
                <a:sym typeface="Arial" panose="020B0604020202020204"/>
              </a:rPr>
              <a:t>NVLINK</a:t>
            </a:r>
            <a:r>
              <a:rPr lang="en-US" sz="12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ou </a:t>
            </a:r>
            <a:r>
              <a:rPr lang="en-US" sz="1215" b="0" i="0" u="none" strike="noStrike">
                <a:solidFill>
                  <a:srgbClr val="000000"/>
                </a:solidFill>
                <a:latin typeface="Calibri" panose="020F0502020204030204"/>
                <a:ea typeface="Arial" panose="020B0604020202020204"/>
                <a:cs typeface="Arial" panose="020B0604020202020204"/>
                <a:sym typeface="Arial" panose="020B0604020202020204"/>
              </a:rPr>
              <a:t>PCIe</a:t>
            </a:r>
            <a:endParaRPr lang="en-US" sz="1100"/>
          </a:p>
        </p:txBody>
      </p:sp>
      <p:sp>
        <p:nvSpPr>
          <p:cNvPr id="9" name="AutoShape 9"/>
          <p:cNvSpPr/>
          <p:nvPr/>
        </p:nvSpPr>
        <p:spPr>
          <a:xfrm>
            <a:off x="6249389" y="5987019"/>
            <a:ext cx="5805632"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Communication inter-nœuds</a:t>
            </a: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 via RDMA NIC (IB)</a:t>
            </a:r>
            <a:endParaRPr lang="en-US" sz="1100"/>
          </a:p>
        </p:txBody>
      </p:sp>
    </p:spTree>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8289290" cy="5556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Communication collective (</a:t>
            </a:r>
            <a:r>
              <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rPr>
              <a:t>Collective</a:t>
            </a:r>
            <a:r>
              <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communication point à point (</a:t>
            </a:r>
            <a:r>
              <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rPr>
              <a:t>Point-to-point</a:t>
            </a:r>
            <a:r>
              <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eveloper.nvidia.com/blog/scaling-ai-inference-performance-and-flexibility-with-nvidia-nvlink-and-nvlink-fusion/"/>
              </a:rPr>
              <a:t>https://developer.nvidia.com/blog/scaling-ai-inference-performance-and-flexibility-with-nvidia-nvlink-and-nvlink-fusion/</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2" tooltip="https://www.hiascend.com/developer/techArticles/20240809-1"/>
              </a:rPr>
              <a:t>https://www.hiascend.com/developer/techArticles/20240809-1</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27760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communication collective implique la communication entre un groupe de processus, et non seulement entre deux processus. Par exemple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AllReduce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(réduction globale),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AllGather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(collecte globale),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Broadcast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(diffusion)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point à point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Send/Recv</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(communication bilatérale),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Put/Get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(communication unilatérale)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descr="E:/BAAI/COURSE/i18n/fr/lecture-31-Collective v.s. Point-to-point communications.pnglecture-31-Collective v.s. Point-to-point communications"/>
          <p:cNvPicPr>
            <a:picLocks noChangeAspect="1"/>
          </p:cNvPicPr>
          <p:nvPr/>
        </p:nvPicPr>
        <p:blipFill>
          <a:blip r:embed="rId3"/>
          <a:srcRect t="62" b="62"/>
          <a:stretch>
            <a:fillRect/>
          </a:stretch>
        </p:blipFill>
        <p:spPr>
          <a:xfrm>
            <a:off x="7562850" y="3139130"/>
            <a:ext cx="3464379" cy="3334696"/>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1164771" y="3227888"/>
            <a:ext cx="4541317" cy="2306137"/>
          </a:xfrm>
          <a:prstGeom prst="rect">
            <a:avLst/>
          </a:prstGeom>
          <a:ln w="12700">
            <a:noFill/>
            <a:prstDash val="solid"/>
          </a:ln>
        </p:spPr>
      </p:pic>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43694"/>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Diffusion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Broadcast</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 : copier le tampon de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éléments du processus racine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(Rank 2)</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tous les processus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(Rank 0-3)</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848758" y="2678339"/>
            <a:ext cx="8255000" cy="2540000"/>
          </a:xfrm>
          <a:prstGeom prst="rect">
            <a:avLst/>
          </a:prstGeom>
          <a:ln w="12700">
            <a:noFill/>
            <a:prstDash val="solid"/>
          </a:ln>
        </p:spPr>
      </p:pic>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Reduction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Reduce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réduction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les données entre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somme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minimum, maximum), et stocker 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le tampon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réception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racine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spécifié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968500" y="2779486"/>
            <a:ext cx="8255000" cy="2540000"/>
          </a:xfrm>
          <a:prstGeom prst="rect">
            <a:avLst/>
          </a:prstGeom>
          <a:ln w="12700">
            <a:noFill/>
            <a:prstDash val="solid"/>
          </a:ln>
        </p:spPr>
      </p:pic>
    </p:spTree>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Collecte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Gather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k processus, et les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agréger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un tampon de sortie de taille k × N sur le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racine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685472" y="2660650"/>
            <a:ext cx="8255000" cy="2603500"/>
          </a:xfrm>
          <a:prstGeom prst="rect">
            <a:avLst/>
          </a:prstGeom>
          <a:ln w="12700">
            <a:noFill/>
            <a:prstDash val="solid"/>
          </a:ln>
        </p:spPr>
      </p:pic>
    </p:spTree>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Distribution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Scatter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total de N × k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racine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k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recevant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968500" y="2714171"/>
            <a:ext cx="8255000" cy="2540000"/>
          </a:xfrm>
          <a:prstGeom prst="rect">
            <a:avLst/>
          </a:prstGeom>
          <a:ln w="12700">
            <a:noFill/>
            <a:prstDash val="solid"/>
          </a:ln>
        </p:spPr>
      </p:pic>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Reduction globale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Allreduce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réduction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les données entre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appareils</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somme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minimum, maximum), et stocker 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le tampon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réception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968500" y="2768600"/>
            <a:ext cx="8255000" cy="2540000"/>
          </a:xfrm>
          <a:prstGeom prst="rect">
            <a:avLst/>
          </a:prstGeom>
          <a:ln w="12700">
            <a:noFill/>
            <a:prstDash val="solid"/>
          </a:ln>
        </p:spPr>
      </p:pic>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Collecte globale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Allgather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collecter</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partir</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k processus, les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agréger</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un tampon de sortie de taille k × N, et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distribuer</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225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processus.</a:t>
            </a:r>
            <a:endParaRPr lang="en-US" sz="225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résultats</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sortie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triés</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indice</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processus.</a:t>
            </a:r>
            <a:endPar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conséquent</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affectée</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relation de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mappage</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entre les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et les </a:t>
            </a:r>
            <a:r>
              <a:rPr lang="en-US" sz="187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appareils</a:t>
            </a:r>
            <a:r>
              <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7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811482" y="3429000"/>
            <a:ext cx="8255000" cy="2603500"/>
          </a:xfrm>
          <a:prstGeom prst="rect">
            <a:avLst/>
          </a:prstGeom>
          <a:ln w="12700">
            <a:noFill/>
            <a:prstDash val="solid"/>
          </a:ln>
        </p:spPr>
      </p:pic>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Reduction-distribution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ReduceScatter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spcBef>
                <a:spcPts val="1500"/>
              </a:spcBef>
              <a:buClr>
                <a:srgbClr val="404040"/>
              </a:buClr>
              <a:buFont typeface="Arial" panose="020B0604020202020204"/>
              <a:buChar char="•"/>
            </a:pP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2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 </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même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Reduce, à la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différence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divisé</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blocs de données de taille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égale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aux processus,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obtenant</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bloc de données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selon</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 </a:t>
            </a:r>
            <a:r>
              <a:rPr lang="en-US" sz="22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indice</a:t>
            </a:r>
            <a:r>
              <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processus.</a:t>
            </a:r>
            <a:endParaRPr lang="en-US" sz="22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également</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affectée</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relation de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mappage</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entre les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et les </a:t>
            </a:r>
            <a:r>
              <a:rPr lang="en-US" sz="187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appareils</a:t>
            </a:r>
            <a:r>
              <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endParaRPr lang="en-US" sz="187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968500" y="3291115"/>
            <a:ext cx="8255000" cy="2540000"/>
          </a:xfrm>
          <a:prstGeom prst="rect">
            <a:avLst/>
          </a:prstGeom>
          <a:ln w="12700">
            <a:noFill/>
            <a:prstDash val="solid"/>
          </a:ln>
        </p:spPr>
      </p:pic>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Echange global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AlltoAll</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tampon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d'entrée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taille 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où</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j-</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ième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 de données de taille N/k est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envoyé</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cible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j.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processus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reçoit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tampon de sortie de taille N,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où</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i-ième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 de données de taille N/k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provient</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processus source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1968500" y="3429000"/>
            <a:ext cx="8255000" cy="2603500"/>
          </a:xfrm>
          <a:prstGeom prst="rect">
            <a:avLst/>
          </a:prstGeom>
          <a:ln w="12700">
            <a:noFill/>
            <a:prstDash val="solid"/>
          </a:ln>
        </p:spPr>
      </p:pic>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avec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PyTorch</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FSDP</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dirty="0">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dirty="0">
                <a:solidFill>
                  <a:srgbClr val="A5A5A5"/>
                </a:solidFill>
                <a:latin typeface="Calibri" panose="020F0502020204030204"/>
                <a:ea typeface="Calibri" panose="020F0502020204030204"/>
                <a:cs typeface="Calibri" panose="020F0502020204030204"/>
                <a:sym typeface="Calibri" panose="020F0502020204030204"/>
                <a:hlinkClick r:id="rId1" tooltip="https://www.uber.com/en-JP/blog/horovod/"/>
              </a:rPr>
              <a:t>https://www.uber.com/en-JP/blog/horovod/</a:t>
            </a:r>
            <a:r>
              <a:rPr lang="en-US" sz="1400" b="0" i="0" u="none" strike="noStrike" dirty="0">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dirty="0">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523875" y="1323975"/>
            <a:ext cx="1138936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Font typeface="Arial" panose="020B0604020202020204"/>
              <a:buChar char="•"/>
            </a:pP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DP, DDP, FSDP :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parallélisme</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données,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parallélisme</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données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distribué</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parallélisme</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données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entièrement</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fragmenté</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Concept de base de DP : copies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complètes</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du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différents</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appareils</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exécutant</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données de </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différents</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micro-batch.</a:t>
            </a:r>
            <a:endPar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2"/>
          <a:srcRect/>
          <a:stretch>
            <a:fillRect/>
          </a:stretch>
        </p:blipFill>
        <p:spPr>
          <a:xfrm>
            <a:off x="1084162" y="3550510"/>
            <a:ext cx="3017980" cy="2471245"/>
          </a:xfrm>
          <a:prstGeom prst="rect">
            <a:avLst/>
          </a:prstGeom>
          <a:ln w="12700">
            <a:noFill/>
            <a:prstDash val="solid"/>
          </a:ln>
        </p:spPr>
      </p:pic>
      <p:sp>
        <p:nvSpPr>
          <p:cNvPr id="8" name="AutoShape 8"/>
          <p:cNvSpPr/>
          <p:nvPr/>
        </p:nvSpPr>
        <p:spPr>
          <a:xfrm>
            <a:off x="1403564" y="6021755"/>
            <a:ext cx="1582484" cy="2616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100" dirty="0" err="1"/>
              <a:t>L'inférence</a:t>
            </a:r>
            <a:r>
              <a:rPr lang="en-US" sz="1100" dirty="0"/>
              <a:t> est simple.</a:t>
            </a:r>
            <a:endParaRPr lang="en-US" sz="1100" dirty="0"/>
          </a:p>
        </p:txBody>
      </p:sp>
      <p:pic>
        <p:nvPicPr>
          <p:cNvPr id="9" name="Picture 9"/>
          <p:cNvPicPr>
            <a:picLocks noChangeAspect="1"/>
          </p:cNvPicPr>
          <p:nvPr/>
        </p:nvPicPr>
        <p:blipFill>
          <a:blip r:embed="rId3"/>
          <a:srcRect/>
          <a:stretch>
            <a:fillRect/>
          </a:stretch>
        </p:blipFill>
        <p:spPr>
          <a:xfrm>
            <a:off x="5299891" y="2401669"/>
            <a:ext cx="6218740" cy="4020196"/>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713290" y="2629719"/>
            <a:ext cx="4648200" cy="889000"/>
          </a:xfrm>
          <a:prstGeom prst="rect">
            <a:avLst/>
          </a:prstGeom>
          <a:ln w="12700">
            <a:noFill/>
            <a:prstDash val="solid"/>
          </a:ln>
        </p:spPr>
      </p:pic>
      <p:sp>
        <p:nvSpPr>
          <p:cNvPr id="11" name="AutoShape 11"/>
          <p:cNvSpPr/>
          <p:nvPr/>
        </p:nvSpPr>
        <p:spPr>
          <a:xfrm>
            <a:off x="8970380" y="2338086"/>
            <a:ext cx="682906" cy="4083779"/>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8266816" y="6421865"/>
            <a:ext cx="1563248" cy="2616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100" dirty="0" err="1"/>
              <a:t>Opérateurs</a:t>
            </a:r>
            <a:r>
              <a:rPr lang="en-US" sz="1100" dirty="0"/>
              <a:t> All-reduce</a:t>
            </a:r>
            <a:endParaRPr lang="en-US" sz="1100" dirty="0"/>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Avec</a:t>
            </a:r>
            <a:r>
              <a:rPr lang="zh-CN" alt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PyTorch</a:t>
            </a:r>
            <a:r>
              <a:rPr lang="zh-CN" alt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zh-CN" alt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FSDP</a:t>
            </a:r>
            <a:r>
              <a:rPr lang="zh-CN" alt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https://docs.pytorch.org/docs/stable/notes/ddp.html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523875" y="1323975"/>
            <a:ext cx="1135253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DP, DDP, FSDP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entièrement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fragmenté</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DDP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comparé</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DP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possède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All-Reduce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optimisé</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support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DP :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l'opération</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réduction</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0 est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exécutée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déséquilibre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charge) ; DDP : All-Reduce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l'anneau</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DDP :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multiprocessus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robuste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5994400" y="3120880"/>
            <a:ext cx="6017865" cy="283968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419100" y="3980657"/>
            <a:ext cx="5575300" cy="1524000"/>
          </a:xfrm>
          <a:prstGeom prst="rect">
            <a:avLst/>
          </a:prstGeom>
          <a:ln w="12700">
            <a:noFill/>
            <a:prstDash val="solid"/>
          </a:ln>
        </p:spPr>
      </p:pic>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Avec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PyTorch</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FSDP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https://docs.pytorch.org/docs/stable/notes/ddp.html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523874" y="1323975"/>
            <a:ext cx="6588815"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DP、DDP、FSDP：parallélisme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données、parallélisme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entièrement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fragmenté</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 FSDP,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analysons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d'abord</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l'utilisation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grands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qu'une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consommation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Il faut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aussi</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tenir</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compte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des gradients.</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spcBef>
                <a:spcPts val="1500"/>
              </a:spcBef>
              <a:buClr>
                <a:srgbClr val="404040"/>
              </a:buClr>
              <a:buFont typeface="Arial" panose="020B0604020202020204"/>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Idée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principale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éliminer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redondantes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(Zero Redundancy Optimizer).</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7112689" y="3202699"/>
            <a:ext cx="4425869" cy="2914751"/>
          </a:xfrm>
          <a:prstGeom prst="rect">
            <a:avLst/>
          </a:prstGeom>
          <a:ln w="12700">
            <a:noFill/>
            <a:prstDash val="solid"/>
          </a:ln>
        </p:spPr>
      </p:pic>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Avec</a:t>
            </a:r>
            <a:r>
              <a:rPr lang="zh-CN" alt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PyTorch</a:t>
            </a:r>
            <a:r>
              <a:rPr lang="zh-CN" alt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zh-CN" alt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FSDP</a:t>
            </a:r>
            <a:r>
              <a:rPr lang="zh-CN" alt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docs.pytorch.org/docs/stable/notes/ddp.html"/>
              </a:rPr>
              <a:t>https://docs.pytorch.org/docs/stable/notes/ddp.html</a:t>
            </a:r>
            <a:endPar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rPr>
              <a:t>[2] https://www.youtube.com/watch?v=czgA-MbAdvA&amp;t=2550s</a:t>
            </a:r>
            <a:endPar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523875" y="1323975"/>
            <a:ext cx="1147953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DP、DDP、FSDP：parallélisme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données、parallélisme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distribué、parallélisme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entièrement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fragmenté</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niveaux</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d'optimisation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ZeRO-1 : fragmentation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ZeRO-2 : fragmentation de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l'état</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des gradients</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dirty="0">
                <a:solidFill>
                  <a:srgbClr val="404040"/>
                </a:solidFill>
                <a:latin typeface="Calibri" panose="020F0502020204030204"/>
                <a:ea typeface="微软雅黑" panose="020B0503020204020204" charset="-122"/>
                <a:sym typeface="微软雅黑" panose="020B0503020204020204" charset="-122"/>
              </a:rPr>
              <a:t>ZeRO-3 : fragmentation de </a:t>
            </a:r>
            <a:r>
              <a:rPr lang="en-US" sz="1800" dirty="0" err="1">
                <a:solidFill>
                  <a:srgbClr val="404040"/>
                </a:solidFill>
                <a:latin typeface="Calibri" panose="020F0502020204030204"/>
                <a:ea typeface="微软雅黑" panose="020B0503020204020204" charset="-122"/>
                <a:sym typeface="微软雅黑" panose="020B0503020204020204" charset="-122"/>
              </a:rPr>
              <a:t>l'état</a:t>
            </a:r>
            <a:r>
              <a:rPr lang="en-US" sz="1800" dirty="0">
                <a:solidFill>
                  <a:srgbClr val="404040"/>
                </a:solidFill>
                <a:latin typeface="Calibri" panose="020F0502020204030204"/>
                <a:ea typeface="微软雅黑" panose="020B0503020204020204" charset="-122"/>
                <a:sym typeface="微软雅黑" panose="020B0503020204020204" charset="-122"/>
              </a:rPr>
              <a:t>, des gradients et des </a:t>
            </a:r>
            <a:r>
              <a:rPr lang="en-US" sz="1800" dirty="0" err="1">
                <a:solidFill>
                  <a:srgbClr val="404040"/>
                </a:solidFill>
                <a:latin typeface="Calibri" panose="020F0502020204030204"/>
                <a:ea typeface="微软雅黑" panose="020B0503020204020204" charset="-122"/>
                <a:sym typeface="微软雅黑" panose="020B0503020204020204" charset="-122"/>
              </a:rPr>
              <a:t>paramètres</a:t>
            </a:r>
            <a:br>
              <a:rPr lang="en-US" sz="1800" b="0" i="0" u="none" strike="noStrike" dirty="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br>
            <a:endParaRPr lang="en-US" sz="1800" b="0" i="0" u="none" strike="noStrike" dirty="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2"/>
          <a:srcRect/>
          <a:stretch>
            <a:fillRect/>
          </a:stretch>
        </p:blipFill>
        <p:spPr>
          <a:xfrm>
            <a:off x="5669165" y="3581400"/>
            <a:ext cx="6382947" cy="2844971"/>
          </a:xfrm>
          <a:prstGeom prst="rect">
            <a:avLst/>
          </a:prstGeom>
          <a:ln w="12700">
            <a:noFill/>
            <a:prstDash val="solid"/>
          </a:ln>
        </p:spPr>
      </p:pic>
      <p:sp>
        <p:nvSpPr>
          <p:cNvPr id="8" name="AutoShape 8"/>
          <p:cNvSpPr/>
          <p:nvPr/>
        </p:nvSpPr>
        <p:spPr>
          <a:xfrm>
            <a:off x="184644" y="4649942"/>
            <a:ext cx="5735157" cy="692497"/>
          </a:xfrm>
          <a:prstGeom prst="rect">
            <a:avLst/>
          </a:prstGeom>
          <a:noFill/>
          <a:ln w="12700">
            <a:noFill/>
            <a:prstDash val="solid"/>
          </a:ln>
        </p:spPr>
        <p:txBody>
          <a:bodyPr wrap="square" lIns="91440" tIns="45720" rIns="91440" bIns="45720" rtlCol="0" anchor="t">
            <a:spAutoFit/>
          </a:bodyPr>
          <a:lstStyle/>
          <a:p>
            <a:pPr algn="ctr">
              <a:defRPr/>
            </a:pPr>
            <a:r>
              <a:rPr lang="en-US" altLang="zh-CN" dirty="0"/>
              <a:t>ZeRO-3 entraîne une surcharge de communication </a:t>
            </a:r>
            <a:endParaRPr lang="en-US" altLang="zh-CN" dirty="0"/>
          </a:p>
          <a:p>
            <a:pPr algn="ctr">
              <a:defRPr/>
            </a:pPr>
            <a:r>
              <a:rPr lang="en-US" altLang="zh-CN" dirty="0"/>
              <a:t>due à la fragmentation.</a:t>
            </a:r>
            <a:endParaRPr lang="en-US" altLang="zh-CN" dirty="0"/>
          </a:p>
          <a:p>
            <a:pPr indent="0" algn="ctr">
              <a:lnSpc>
                <a:spcPct val="100000"/>
              </a:lnSpc>
              <a:defRPr/>
            </a:pPr>
            <a:endParaRPr lang="en-US" sz="1100" dirty="0"/>
          </a:p>
        </p:txBody>
      </p:sp>
      <p:sp>
        <p:nvSpPr>
          <p:cNvPr id="9" name="AutoShape 9"/>
          <p:cNvSpPr/>
          <p:nvPr/>
        </p:nvSpPr>
        <p:spPr>
          <a:xfrm>
            <a:off x="6086356" y="6344809"/>
            <a:ext cx="6105644"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K denotes the memory multiplier of the optimizer states</a:t>
            </a:r>
            <a:endParaRPr lang="en-US" sz="1100"/>
          </a:p>
        </p:txBody>
      </p:sp>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Avec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PyTorch</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FSDP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docs.pytorch.org/tutorials/intermediate/FSDP_tutorial.html"/>
              </a:rPr>
              <a:t>https://docs.pytorch.org/tutorials/intermediate/FSDP_tutorial.html</a:t>
            </a:r>
            <a:endPar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rPr>
              <a:t>[2] </a:t>
            </a: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2" tooltip="https://arxiv.org/abs/2304.11277"/>
              </a:rPr>
              <a:t>https://arxiv.org/abs/2304.11277</a:t>
            </a:r>
            <a:r>
              <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7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457199" y="1307306"/>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spcBef>
                <a:spcPts val="1500"/>
              </a:spcBef>
              <a:buClr>
                <a:srgbClr val="404040"/>
              </a:buClr>
              <a:buChar char="•"/>
            </a:pPr>
            <a:r>
              <a:rPr lang="en-US" sz="2000" dirty="0" err="1">
                <a:solidFill>
                  <a:srgbClr val="404040"/>
                </a:solidFill>
                <a:ea typeface="微软雅黑" panose="020B0503020204020204" charset="-122"/>
                <a:cs typeface="微软雅黑" panose="020B0503020204020204" charset="-122"/>
                <a:sym typeface="微软雅黑" panose="020B0503020204020204" charset="-122"/>
              </a:rPr>
              <a:t>DP、DDP、FSDP：parallélisme</a:t>
            </a:r>
            <a:r>
              <a:rPr lang="en-US" sz="2000" dirty="0">
                <a:solidFill>
                  <a:srgbClr val="404040"/>
                </a:solidFill>
                <a:ea typeface="微软雅黑" panose="020B0503020204020204" charset="-122"/>
                <a:cs typeface="微软雅黑" panose="020B0503020204020204" charset="-122"/>
                <a:sym typeface="微软雅黑" panose="020B0503020204020204" charset="-122"/>
              </a:rPr>
              <a:t> des </a:t>
            </a:r>
            <a:r>
              <a:rPr lang="en-US" sz="2000" dirty="0" err="1">
                <a:solidFill>
                  <a:srgbClr val="404040"/>
                </a:solidFill>
                <a:ea typeface="微软雅黑" panose="020B0503020204020204" charset="-122"/>
                <a:cs typeface="微软雅黑" panose="020B0503020204020204" charset="-122"/>
                <a:sym typeface="微软雅黑" panose="020B0503020204020204" charset="-122"/>
              </a:rPr>
              <a:t>données、parallélisme</a:t>
            </a:r>
            <a:r>
              <a:rPr lang="en-US" sz="2000" dirty="0">
                <a:solidFill>
                  <a:srgbClr val="404040"/>
                </a:solidFill>
                <a:ea typeface="微软雅黑" panose="020B0503020204020204" charset="-122"/>
                <a:cs typeface="微软雅黑" panose="020B0503020204020204" charset="-122"/>
                <a:sym typeface="微软雅黑" panose="020B0503020204020204" charset="-122"/>
              </a:rPr>
              <a:t> des données </a:t>
            </a:r>
            <a:r>
              <a:rPr lang="en-US" sz="2000" dirty="0" err="1">
                <a:solidFill>
                  <a:srgbClr val="404040"/>
                </a:solidFill>
                <a:ea typeface="微软雅黑" panose="020B0503020204020204" charset="-122"/>
                <a:cs typeface="微软雅黑" panose="020B0503020204020204" charset="-122"/>
                <a:sym typeface="微软雅黑" panose="020B0503020204020204" charset="-122"/>
              </a:rPr>
              <a:t>distribué、parallélisme</a:t>
            </a:r>
            <a:r>
              <a:rPr lang="en-US" sz="2000" dirty="0">
                <a:solidFill>
                  <a:srgbClr val="404040"/>
                </a:solidFill>
                <a:ea typeface="微软雅黑" panose="020B0503020204020204" charset="-122"/>
                <a:cs typeface="微软雅黑" panose="020B0503020204020204" charset="-122"/>
                <a:sym typeface="微软雅黑" panose="020B0503020204020204" charset="-122"/>
              </a:rPr>
              <a:t> des données </a:t>
            </a:r>
            <a:r>
              <a:rPr lang="en-US" sz="2000" dirty="0" err="1">
                <a:solidFill>
                  <a:srgbClr val="404040"/>
                </a:solidFill>
                <a:ea typeface="微软雅黑" panose="020B0503020204020204" charset="-122"/>
                <a:cs typeface="微软雅黑" panose="020B0503020204020204" charset="-122"/>
                <a:sym typeface="微软雅黑" panose="020B0503020204020204" charset="-122"/>
              </a:rPr>
              <a:t>entièrement</a:t>
            </a:r>
            <a:r>
              <a:rPr lang="en-US" sz="2000" dirty="0">
                <a:solidFill>
                  <a:srgbClr val="404040"/>
                </a:solidFill>
                <a:ea typeface="微软雅黑" panose="020B0503020204020204" charset="-122"/>
                <a:cs typeface="微软雅黑" panose="020B0503020204020204" charset="-122"/>
                <a:sym typeface="微软雅黑" panose="020B0503020204020204" charset="-122"/>
              </a:rPr>
              <a:t> </a:t>
            </a:r>
            <a:r>
              <a:rPr lang="en-US" sz="2000" dirty="0" err="1">
                <a:solidFill>
                  <a:srgbClr val="404040"/>
                </a:solidFill>
                <a:ea typeface="微软雅黑" panose="020B0503020204020204" charset="-122"/>
                <a:cs typeface="微软雅黑" panose="020B0503020204020204" charset="-122"/>
                <a:sym typeface="微软雅黑" panose="020B0503020204020204" charset="-122"/>
              </a:rPr>
              <a:t>fragmenté</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FSDP : fragmentation des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/gradients/et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l'état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l'occupation</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(ZeRO-3).</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3"/>
          <a:srcRect/>
          <a:stretch>
            <a:fillRect/>
          </a:stretch>
        </p:blipFill>
        <p:spPr>
          <a:xfrm>
            <a:off x="209550" y="2788751"/>
            <a:ext cx="7898291" cy="3567600"/>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8389937" y="3541852"/>
            <a:ext cx="3802063" cy="2087669"/>
          </a:xfrm>
          <a:prstGeom prst="rect">
            <a:avLst/>
          </a:prstGeom>
          <a:ln w="12700">
            <a:noFill/>
            <a:prstDash val="solid"/>
          </a:ln>
        </p:spPr>
      </p:pic>
      <p:sp>
        <p:nvSpPr>
          <p:cNvPr id="9" name="AutoShape 9"/>
          <p:cNvSpPr/>
          <p:nvPr/>
        </p:nvSpPr>
        <p:spPr>
          <a:xfrm>
            <a:off x="8939988" y="5669770"/>
            <a:ext cx="2701958" cy="646331"/>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370" b="0" i="0" u="none" strike="noStrike">
                <a:solidFill>
                  <a:srgbClr val="000000"/>
                </a:solidFill>
                <a:latin typeface="Calibri" panose="020F0502020204030204"/>
                <a:ea typeface="Calibri" panose="020F0502020204030204"/>
                <a:cs typeface="Calibri" panose="020F0502020204030204"/>
                <a:sym typeface="Calibri" panose="020F0502020204030204"/>
              </a:rPr>
              <a:t>All-reduce =</a:t>
            </a:r>
            <a:endParaRPr lang="en-US" sz="1100"/>
          </a:p>
          <a:p>
            <a:pPr indent="0" algn="ctr">
              <a:lnSpc>
                <a:spcPct val="100000"/>
              </a:lnSpc>
            </a:pPr>
            <a:r>
              <a:rPr lang="en-US" sz="1370" b="0" i="0" u="none" strike="noStrike">
                <a:solidFill>
                  <a:srgbClr val="000000"/>
                </a:solidFill>
                <a:latin typeface="Calibri" panose="020F0502020204030204"/>
                <a:ea typeface="Calibri" panose="020F0502020204030204"/>
                <a:cs typeface="Calibri" panose="020F0502020204030204"/>
                <a:sym typeface="Calibri" panose="020F0502020204030204"/>
              </a:rPr>
              <a:t>Reduce-scatter + all-gather</a:t>
            </a:r>
            <a:endParaRPr lang="en-US" sz="137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AutoShape 10"/>
          <p:cNvSpPr/>
          <p:nvPr/>
        </p:nvSpPr>
        <p:spPr>
          <a:xfrm>
            <a:off x="822428" y="3970116"/>
            <a:ext cx="751730" cy="902826"/>
          </a:xfrm>
          <a:prstGeom prst="rect">
            <a:avLst/>
          </a:prstGeom>
          <a:noFill/>
          <a:ln w="12700" cap="flat">
            <a:solidFill>
              <a:srgbClr val="FF0000">
                <a:alpha val="100000"/>
              </a:srgbClr>
            </a:solidFill>
            <a:prstDash val="dash"/>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r>
              <a:rPr lang="en-US" sz="271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271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71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opérateurs</a:t>
            </a:r>
            <a:r>
              <a:rPr lang="en-US" sz="271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communication collective</a:t>
            </a:r>
            <a:endParaRPr lang="en-US" sz="271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pytorch.org/tutorials/intermediate/FSDP_tutorial.html"/>
              </a:rPr>
              <a:t>https://docs.pytorch.org/tutorials/intermediate/FSDP_tutorial.html</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2" tooltip="https://arxiv.org/abs/2304.11277"/>
              </a:rPr>
              <a:t>https://arxiv.org/abs/2304.11277</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dirty="0"/>
          </a:p>
        </p:txBody>
      </p:sp>
      <p:pic>
        <p:nvPicPr>
          <p:cNvPr id="6" name="Picture 6"/>
          <p:cNvPicPr>
            <a:picLocks noChangeAspect="1"/>
          </p:cNvPicPr>
          <p:nvPr/>
        </p:nvPicPr>
        <p:blipFill>
          <a:blip r:embed="rId3"/>
          <a:srcRect/>
          <a:stretch>
            <a:fillRect/>
          </a:stretch>
        </p:blipFill>
        <p:spPr>
          <a:xfrm>
            <a:off x="940734" y="1343025"/>
            <a:ext cx="3116417" cy="1711189"/>
          </a:xfrm>
          <a:prstGeom prst="rect">
            <a:avLst/>
          </a:prstGeom>
          <a:ln w="12700">
            <a:noFill/>
            <a:prstDash val="solid"/>
          </a:ln>
        </p:spPr>
      </p:pic>
      <p:sp>
        <p:nvSpPr>
          <p:cNvPr id="7" name="AutoShape 7"/>
          <p:cNvSpPr/>
          <p:nvPr/>
        </p:nvSpPr>
        <p:spPr>
          <a:xfrm>
            <a:off x="419100" y="3186033"/>
            <a:ext cx="4159684"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85" b="0" i="0" u="none" strike="noStrike">
                <a:solidFill>
                  <a:srgbClr val="000000"/>
                </a:solidFill>
                <a:latin typeface="Calibri" panose="020F0502020204030204"/>
                <a:ea typeface="Calibri" panose="020F0502020204030204"/>
                <a:cs typeface="Calibri" panose="020F0502020204030204"/>
                <a:sym typeface="Calibri" panose="020F0502020204030204"/>
              </a:rPr>
              <a:t>All-reduce = Reduce-scatter + all-gather</a:t>
            </a:r>
            <a:endParaRPr lang="en-US" sz="1100"/>
          </a:p>
        </p:txBody>
      </p:sp>
      <p:pic>
        <p:nvPicPr>
          <p:cNvPr id="8" name="Picture 8"/>
          <p:cNvPicPr>
            <a:picLocks noChangeAspect="1"/>
          </p:cNvPicPr>
          <p:nvPr/>
        </p:nvPicPr>
        <p:blipFill>
          <a:blip r:embed="rId4"/>
          <a:srcRect/>
          <a:stretch>
            <a:fillRect/>
          </a:stretch>
        </p:blipFill>
        <p:spPr>
          <a:xfrm>
            <a:off x="628868" y="3554049"/>
            <a:ext cx="3740149" cy="2209716"/>
          </a:xfrm>
          <a:prstGeom prst="rect">
            <a:avLst/>
          </a:prstGeom>
          <a:ln w="12700">
            <a:noFill/>
            <a:prstDash val="solid"/>
          </a:ln>
        </p:spPr>
      </p:pic>
      <p:sp>
        <p:nvSpPr>
          <p:cNvPr id="9" name="AutoShape 9"/>
          <p:cNvSpPr/>
          <p:nvPr/>
        </p:nvSpPr>
        <p:spPr>
          <a:xfrm>
            <a:off x="1696383" y="5758487"/>
            <a:ext cx="1605119"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370" b="0" i="0" u="none" strike="noStrike">
                <a:solidFill>
                  <a:srgbClr val="000000"/>
                </a:solidFill>
                <a:latin typeface="Calibri" panose="020F0502020204030204"/>
                <a:ea typeface="Calibri" panose="020F0502020204030204"/>
                <a:cs typeface="Calibri" panose="020F0502020204030204"/>
                <a:sym typeface="Calibri" panose="020F0502020204030204"/>
              </a:rPr>
              <a:t>Ring All-reduce</a:t>
            </a:r>
            <a:endParaRPr lang="en-US" sz="1100"/>
          </a:p>
        </p:txBody>
      </p:sp>
      <p:grpSp>
        <p:nvGrpSpPr>
          <p:cNvPr id="10" name="Group 10"/>
          <p:cNvGrpSpPr/>
          <p:nvPr/>
        </p:nvGrpSpPr>
        <p:grpSpPr>
          <a:xfrm>
            <a:off x="7463045" y="1343025"/>
            <a:ext cx="3740149" cy="1960850"/>
            <a:chOff x="7463045" y="1343025"/>
            <a:chExt cx="3740149" cy="1960850"/>
          </a:xfrm>
        </p:grpSpPr>
        <p:pic>
          <p:nvPicPr>
            <p:cNvPr id="11" name="Picture 11"/>
            <p:cNvPicPr>
              <a:picLocks noChangeAspect="1"/>
            </p:cNvPicPr>
            <p:nvPr/>
          </p:nvPicPr>
          <p:blipFill>
            <a:blip r:embed="rId5"/>
            <a:srcRect/>
            <a:stretch>
              <a:fillRect/>
            </a:stretch>
          </p:blipFill>
          <p:spPr>
            <a:xfrm>
              <a:off x="7463045" y="1343025"/>
              <a:ext cx="3740149" cy="1960850"/>
            </a:xfrm>
            <a:prstGeom prst="rect">
              <a:avLst/>
            </a:prstGeom>
            <a:ln w="12700">
              <a:noFill/>
              <a:prstDash val="solid"/>
            </a:ln>
          </p:spPr>
        </p:pic>
        <p:sp>
          <p:nvSpPr>
            <p:cNvPr id="12" name="AutoShape 12"/>
            <p:cNvSpPr/>
            <p:nvPr/>
          </p:nvSpPr>
          <p:spPr>
            <a:xfrm>
              <a:off x="10516721" y="1374429"/>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sp>
        <p:nvSpPr>
          <p:cNvPr id="13" name="AutoShape 13"/>
          <p:cNvSpPr/>
          <p:nvPr/>
        </p:nvSpPr>
        <p:spPr>
          <a:xfrm>
            <a:off x="8151674" y="3322541"/>
            <a:ext cx="2362890"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26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a:t>
            </a:r>
            <a:r>
              <a:rPr lang="en-US" sz="126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topologie</a:t>
            </a:r>
            <a:endParaRPr lang="en-US" sz="1100"/>
          </a:p>
        </p:txBody>
      </p:sp>
      <p:pic>
        <p:nvPicPr>
          <p:cNvPr id="14" name="Picture 14"/>
          <p:cNvPicPr>
            <a:picLocks noChangeAspect="1"/>
          </p:cNvPicPr>
          <p:nvPr/>
        </p:nvPicPr>
        <p:blipFill>
          <a:blip r:embed="rId6"/>
          <a:srcRect/>
          <a:stretch>
            <a:fillRect/>
          </a:stretch>
        </p:blipFill>
        <p:spPr>
          <a:xfrm>
            <a:off x="7368928" y="3710539"/>
            <a:ext cx="3928383" cy="2209716"/>
          </a:xfrm>
          <a:prstGeom prst="rect">
            <a:avLst/>
          </a:prstGeom>
          <a:ln w="12700">
            <a:noFill/>
            <a:prstDash val="solid"/>
          </a:ln>
        </p:spPr>
      </p:pic>
      <p:sp>
        <p:nvSpPr>
          <p:cNvPr id="15" name="AutoShape 15"/>
          <p:cNvSpPr/>
          <p:nvPr/>
        </p:nvSpPr>
        <p:spPr>
          <a:xfrm>
            <a:off x="7872463" y="5759286"/>
            <a:ext cx="2921313"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3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a:t>
            </a:r>
            <a:r>
              <a:rPr lang="en-US" sz="13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topologie</a:t>
            </a:r>
            <a:endParaRPr lang="en-US" sz="1100"/>
          </a:p>
        </p:txBody>
      </p:sp>
      <p:sp>
        <p:nvSpPr>
          <p:cNvPr id="16" name="AutoShape 16"/>
          <p:cNvSpPr/>
          <p:nvPr/>
        </p:nvSpPr>
        <p:spPr>
          <a:xfrm>
            <a:off x="4554466" y="2736607"/>
            <a:ext cx="2744663" cy="1827193"/>
          </a:xfrm>
          <a:prstGeom prst="rect">
            <a:avLst/>
          </a:prstGeom>
          <a:solidFill>
            <a:srgbClr val="DAE3F3">
              <a:alpha val="100000"/>
            </a:srgbClr>
          </a:solidFill>
          <a:ln w="12700">
            <a:noFill/>
            <a:prstDash val="solid"/>
          </a:ln>
        </p:spPr>
        <p:txBody>
          <a:bodyPr wrap="square" lIns="91440" tIns="45720" rIns="91440" bIns="45720" rtlCol="0" anchor="t">
            <a:spAutoFit/>
          </a:bodyPr>
          <a:lstStyle/>
          <a:p>
            <a:pPr indent="0" algn="ctr">
              <a:lnSpc>
                <a:spcPct val="100000"/>
              </a:lnSpc>
              <a:defRPr/>
            </a:pPr>
            <a:endParaRPr lang="en-US" sz="1100"/>
          </a:p>
          <a:p>
            <a:pPr indent="0" algn="ctr">
              <a:lnSpc>
                <a:spcPct val="100000"/>
              </a:lnSpc>
            </a:pPr>
            <a:endParaRPr lang="en-US" sz="1100"/>
          </a:p>
          <a:p>
            <a:pPr indent="0" algn="ctr">
              <a:lnSpc>
                <a:spcPct val="100000"/>
              </a:lnSpc>
            </a:pPr>
            <a:endParaRPr lang="en-US" sz="1100"/>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7" name="AutoShape 17"/>
          <p:cNvSpPr/>
          <p:nvPr/>
        </p:nvSpPr>
        <p:spPr>
          <a:xfrm>
            <a:off x="4554220" y="2769870"/>
            <a:ext cx="2679700" cy="136906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7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L'implémentation</a:t>
            </a:r>
            <a:r>
              <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47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opérateurs</a:t>
            </a:r>
            <a:r>
              <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communication collective </a:t>
            </a:r>
            <a:r>
              <a:rPr lang="en-US" sz="147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dépend</a:t>
            </a:r>
            <a:r>
              <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7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fortement</a:t>
            </a:r>
            <a:r>
              <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475"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topologie</a:t>
            </a:r>
            <a:r>
              <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du matériel.</a:t>
            </a:r>
            <a:endParaRPr lang="en-US" sz="1475"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32</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 la topologie de communication</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mentation des op</a:t>
            </a:r>
            <a:r>
              <a:rPr lang="en-US" alt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 de communication collective</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docs.pytorch.org/tutorials/intermediate/FSDP_tutorial.html"/>
              </a:rPr>
              <a:t>https://docs.pytorch.org/tutorials/intermediate/FSDP_tutorial.html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[2]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2" tooltip="https://arxiv.org/abs/2304.11277"/>
              </a:rPr>
              <a:t>https://arxiv.org/abs/2304.11277</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3"/>
          <a:srcRect/>
          <a:stretch>
            <a:fillRect/>
          </a:stretch>
        </p:blipFill>
        <p:spPr>
          <a:xfrm>
            <a:off x="940734" y="1343025"/>
            <a:ext cx="3116417" cy="1711189"/>
          </a:xfrm>
          <a:prstGeom prst="rect">
            <a:avLst/>
          </a:prstGeom>
          <a:ln w="12700">
            <a:noFill/>
            <a:prstDash val="solid"/>
          </a:ln>
        </p:spPr>
      </p:pic>
      <p:sp>
        <p:nvSpPr>
          <p:cNvPr id="7" name="AutoShape 7"/>
          <p:cNvSpPr/>
          <p:nvPr/>
        </p:nvSpPr>
        <p:spPr>
          <a:xfrm>
            <a:off x="419100" y="3186033"/>
            <a:ext cx="4159684"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 Reduce-scatter + all-gather</a:t>
            </a:r>
            <a:endParaRPr lang="en-US" sz="1100"/>
          </a:p>
        </p:txBody>
      </p:sp>
      <p:pic>
        <p:nvPicPr>
          <p:cNvPr id="8" name="Picture 8"/>
          <p:cNvPicPr>
            <a:picLocks noChangeAspect="1"/>
          </p:cNvPicPr>
          <p:nvPr/>
        </p:nvPicPr>
        <p:blipFill>
          <a:blip r:embed="rId4"/>
          <a:srcRect/>
          <a:stretch>
            <a:fillRect/>
          </a:stretch>
        </p:blipFill>
        <p:spPr>
          <a:xfrm>
            <a:off x="628868" y="3554049"/>
            <a:ext cx="3740149" cy="2209716"/>
          </a:xfrm>
          <a:prstGeom prst="rect">
            <a:avLst/>
          </a:prstGeom>
          <a:ln w="12700">
            <a:noFill/>
            <a:prstDash val="solid"/>
          </a:ln>
        </p:spPr>
      </p:pic>
      <p:sp>
        <p:nvSpPr>
          <p:cNvPr id="9" name="AutoShape 9"/>
          <p:cNvSpPr/>
          <p:nvPr/>
        </p:nvSpPr>
        <p:spPr>
          <a:xfrm>
            <a:off x="1696383" y="5758487"/>
            <a:ext cx="1605119"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Ring All-reduce</a:t>
            </a:r>
            <a:endParaRPr lang="en-US" sz="1100"/>
          </a:p>
        </p:txBody>
      </p:sp>
      <p:grpSp>
        <p:nvGrpSpPr>
          <p:cNvPr id="10" name="Group 10"/>
          <p:cNvGrpSpPr/>
          <p:nvPr/>
        </p:nvGrpSpPr>
        <p:grpSpPr>
          <a:xfrm>
            <a:off x="7463045" y="1343025"/>
            <a:ext cx="3740149" cy="1960850"/>
            <a:chOff x="7463045" y="1343025"/>
            <a:chExt cx="3740149" cy="1960850"/>
          </a:xfrm>
        </p:grpSpPr>
        <p:pic>
          <p:nvPicPr>
            <p:cNvPr id="11" name="Picture 11"/>
            <p:cNvPicPr>
              <a:picLocks noChangeAspect="1"/>
            </p:cNvPicPr>
            <p:nvPr/>
          </p:nvPicPr>
          <p:blipFill>
            <a:blip r:embed="rId5"/>
            <a:srcRect/>
            <a:stretch>
              <a:fillRect/>
            </a:stretch>
          </p:blipFill>
          <p:spPr>
            <a:xfrm>
              <a:off x="7463045" y="1343025"/>
              <a:ext cx="3740149" cy="1960850"/>
            </a:xfrm>
            <a:prstGeom prst="rect">
              <a:avLst/>
            </a:prstGeom>
            <a:ln w="12700">
              <a:noFill/>
              <a:prstDash val="solid"/>
            </a:ln>
          </p:spPr>
        </p:pic>
        <p:sp>
          <p:nvSpPr>
            <p:cNvPr id="12" name="AutoShape 12"/>
            <p:cNvSpPr/>
            <p:nvPr/>
          </p:nvSpPr>
          <p:spPr>
            <a:xfrm>
              <a:off x="10516721" y="1374429"/>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sp>
        <p:nvSpPr>
          <p:cNvPr id="13" name="AutoShape 13"/>
          <p:cNvSpPr/>
          <p:nvPr/>
        </p:nvSpPr>
        <p:spPr>
          <a:xfrm>
            <a:off x="8151674" y="3322541"/>
            <a:ext cx="2362890"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a:t>
            </a: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Topologie</a:t>
            </a:r>
            <a:endParaRPr lang="en-US" sz="1100"/>
          </a:p>
        </p:txBody>
      </p:sp>
      <p:pic>
        <p:nvPicPr>
          <p:cNvPr id="14" name="Picture 14"/>
          <p:cNvPicPr>
            <a:picLocks noChangeAspect="1"/>
          </p:cNvPicPr>
          <p:nvPr/>
        </p:nvPicPr>
        <p:blipFill>
          <a:blip r:embed="rId6"/>
          <a:srcRect/>
          <a:stretch>
            <a:fillRect/>
          </a:stretch>
        </p:blipFill>
        <p:spPr>
          <a:xfrm>
            <a:off x="7368928" y="3710539"/>
            <a:ext cx="3928383" cy="2209716"/>
          </a:xfrm>
          <a:prstGeom prst="rect">
            <a:avLst/>
          </a:prstGeom>
          <a:ln w="12700">
            <a:noFill/>
            <a:prstDash val="solid"/>
          </a:ln>
        </p:spPr>
      </p:pic>
      <p:sp>
        <p:nvSpPr>
          <p:cNvPr id="15" name="AutoShape 15"/>
          <p:cNvSpPr/>
          <p:nvPr/>
        </p:nvSpPr>
        <p:spPr>
          <a:xfrm>
            <a:off x="7872462" y="5759286"/>
            <a:ext cx="2921314"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a:t>
            </a: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Topologie</a:t>
            </a:r>
            <a:endParaRPr lang="en-US" sz="1100"/>
          </a:p>
        </p:txBody>
      </p:sp>
      <p:sp>
        <p:nvSpPr>
          <p:cNvPr id="16" name="AutoShape 16"/>
          <p:cNvSpPr/>
          <p:nvPr/>
        </p:nvSpPr>
        <p:spPr>
          <a:xfrm>
            <a:off x="4554466" y="2736607"/>
            <a:ext cx="2744663" cy="1827193"/>
          </a:xfrm>
          <a:prstGeom prst="rect">
            <a:avLst/>
          </a:prstGeom>
          <a:solidFill>
            <a:srgbClr val="DAE3F3">
              <a:alpha val="100000"/>
            </a:srgbClr>
          </a:solidFill>
          <a:ln w="12700">
            <a:noFill/>
            <a:prstDash val="solid"/>
          </a:ln>
        </p:spPr>
        <p:txBody>
          <a:bodyPr wrap="square" lIns="91440" tIns="45720" rIns="91440" bIns="45720" rtlCol="0" anchor="t">
            <a:spAutoFit/>
          </a:bodyPr>
          <a:lstStyle/>
          <a:p>
            <a:pPr indent="0" algn="ctr">
              <a:lnSpc>
                <a:spcPct val="100000"/>
              </a:lnSpc>
              <a:defRPr/>
            </a:pPr>
            <a:endParaRPr lang="en-US" sz="1100"/>
          </a:p>
          <a:p>
            <a:pPr indent="0" algn="ctr">
              <a:lnSpc>
                <a:spcPct val="100000"/>
              </a:lnSpc>
            </a:pPr>
          </a:p>
          <a:p>
            <a:pPr indent="0" algn="ctr">
              <a:lnSpc>
                <a:spcPct val="100000"/>
              </a:lnSpc>
            </a:pPr>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7" name="AutoShape 17"/>
          <p:cNvSpPr/>
          <p:nvPr/>
        </p:nvSpPr>
        <p:spPr>
          <a:xfrm>
            <a:off x="4554220" y="3075940"/>
            <a:ext cx="2723515" cy="13220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Implémentation des opérateurs de communication collective</a:t>
            </a:r>
            <a:b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dépend fortement du matériel</a:t>
            </a:r>
            <a:endParaRPr lang="en-US" sz="1600"/>
          </a:p>
          <a:p>
            <a:pPr indent="0" algn="ctr">
              <a:lnSpc>
                <a:spcPct val="100000"/>
              </a:lnSpc>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structure topologique</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Topologies dans les syst</a:t>
            </a:r>
            <a:r>
              <a:rPr lang="en-US" alt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mes d’IA modernes</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ieeexplore.ieee.org/document/6337589/"/>
              </a:rPr>
              <a:t>https://ieeexplore.ieee.org/document/6337589/</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ieeexplore.ieee.org/document/6337589/"/>
            </a:endParaRPr>
          </a:p>
        </p:txBody>
      </p:sp>
      <p:grpSp>
        <p:nvGrpSpPr>
          <p:cNvPr id="6" name="Group 6"/>
          <p:cNvGrpSpPr/>
          <p:nvPr/>
        </p:nvGrpSpPr>
        <p:grpSpPr>
          <a:xfrm>
            <a:off x="1253472" y="1275212"/>
            <a:ext cx="9166321" cy="4938480"/>
            <a:chOff x="1253472" y="1275212"/>
            <a:chExt cx="9166321" cy="4938480"/>
          </a:xfrm>
        </p:grpSpPr>
        <p:grpSp>
          <p:nvGrpSpPr>
            <p:cNvPr id="7" name="Group 7"/>
            <p:cNvGrpSpPr/>
            <p:nvPr/>
          </p:nvGrpSpPr>
          <p:grpSpPr>
            <a:xfrm>
              <a:off x="1347589" y="1327491"/>
              <a:ext cx="3740149" cy="1960850"/>
              <a:chOff x="1347589" y="1327491"/>
              <a:chExt cx="3740149" cy="1960850"/>
            </a:xfrm>
          </p:grpSpPr>
          <p:pic>
            <p:nvPicPr>
              <p:cNvPr id="8" name="Picture 8"/>
              <p:cNvPicPr>
                <a:picLocks noChangeAspect="1"/>
              </p:cNvPicPr>
              <p:nvPr/>
            </p:nvPicPr>
            <p:blipFill>
              <a:blip r:embed="rId2"/>
              <a:srcRect/>
              <a:stretch>
                <a:fillRect/>
              </a:stretch>
            </p:blipFill>
            <p:spPr>
              <a:xfrm>
                <a:off x="1347589" y="1327491"/>
                <a:ext cx="3740149" cy="1960850"/>
              </a:xfrm>
              <a:prstGeom prst="rect">
                <a:avLst/>
              </a:prstGeom>
              <a:ln w="12700">
                <a:noFill/>
                <a:prstDash val="solid"/>
              </a:ln>
            </p:spPr>
          </p:pic>
          <p:sp>
            <p:nvSpPr>
              <p:cNvPr id="9" name="AutoShape 9"/>
              <p:cNvSpPr/>
              <p:nvPr/>
            </p:nvSpPr>
            <p:spPr>
              <a:xfrm>
                <a:off x="4401265" y="1358895"/>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sp>
          <p:nvSpPr>
            <p:cNvPr id="10" name="AutoShape 10"/>
            <p:cNvSpPr/>
            <p:nvPr/>
          </p:nvSpPr>
          <p:spPr>
            <a:xfrm>
              <a:off x="7033492" y="3237695"/>
              <a:ext cx="2878352"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GOOGLE TPU Torus Topology</a:t>
              </a:r>
              <a:endParaRPr lang="en-US" sz="1100"/>
            </a:p>
          </p:txBody>
        </p:sp>
        <p:pic>
          <p:nvPicPr>
            <p:cNvPr id="11" name="Picture 11"/>
            <p:cNvPicPr>
              <a:picLocks noChangeAspect="1"/>
            </p:cNvPicPr>
            <p:nvPr/>
          </p:nvPicPr>
          <p:blipFill>
            <a:blip r:embed="rId3"/>
            <a:srcRect/>
            <a:stretch>
              <a:fillRect/>
            </a:stretch>
          </p:blipFill>
          <p:spPr>
            <a:xfrm>
              <a:off x="1253472" y="3695005"/>
              <a:ext cx="3928383" cy="2209716"/>
            </a:xfrm>
            <a:prstGeom prst="rect">
              <a:avLst/>
            </a:prstGeom>
            <a:ln w="12700">
              <a:noFill/>
              <a:prstDash val="solid"/>
            </a:ln>
          </p:spPr>
        </p:pic>
        <p:sp>
          <p:nvSpPr>
            <p:cNvPr id="12" name="AutoShape 12"/>
            <p:cNvSpPr/>
            <p:nvPr/>
          </p:nvSpPr>
          <p:spPr>
            <a:xfrm>
              <a:off x="1564807" y="5743752"/>
              <a:ext cx="3305713"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Topology</a:t>
              </a:r>
              <a:endParaRPr lang="en-US" sz="1100"/>
            </a:p>
          </p:txBody>
        </p:sp>
        <p:pic>
          <p:nvPicPr>
            <p:cNvPr id="13" name="Picture 13"/>
            <p:cNvPicPr>
              <a:picLocks noChangeAspect="1"/>
            </p:cNvPicPr>
            <p:nvPr/>
          </p:nvPicPr>
          <p:blipFill>
            <a:blip r:embed="rId4"/>
            <a:srcRect/>
            <a:stretch>
              <a:fillRect/>
            </a:stretch>
          </p:blipFill>
          <p:spPr>
            <a:xfrm>
              <a:off x="6525543" y="1275212"/>
              <a:ext cx="3894250" cy="2013129"/>
            </a:xfrm>
            <a:prstGeom prst="rect">
              <a:avLst/>
            </a:prstGeom>
            <a:ln w="12700">
              <a:noFill/>
              <a:prstDash val="solid"/>
            </a:ln>
          </p:spPr>
        </p:pic>
        <p:sp>
          <p:nvSpPr>
            <p:cNvPr id="14" name="AutoShape 14"/>
            <p:cNvSpPr/>
            <p:nvPr/>
          </p:nvSpPr>
          <p:spPr>
            <a:xfrm>
              <a:off x="1887651" y="3288341"/>
              <a:ext cx="2660024"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Topology</a:t>
              </a:r>
              <a:endParaRPr lang="en-US" sz="1100"/>
            </a:p>
          </p:txBody>
        </p:sp>
        <p:pic>
          <p:nvPicPr>
            <p:cNvPr id="15" name="Picture 15"/>
            <p:cNvPicPr>
              <a:picLocks noChangeAspect="1"/>
            </p:cNvPicPr>
            <p:nvPr/>
          </p:nvPicPr>
          <p:blipFill>
            <a:blip r:embed="rId5"/>
            <a:srcRect/>
            <a:stretch>
              <a:fillRect/>
            </a:stretch>
          </p:blipFill>
          <p:spPr>
            <a:xfrm>
              <a:off x="7258601" y="3607027"/>
              <a:ext cx="2978023" cy="2250947"/>
            </a:xfrm>
            <a:prstGeom prst="rect">
              <a:avLst/>
            </a:prstGeom>
            <a:ln w="12700">
              <a:noFill/>
              <a:prstDash val="solid"/>
            </a:ln>
          </p:spPr>
        </p:pic>
        <p:sp>
          <p:nvSpPr>
            <p:cNvPr id="16" name="AutoShape 16"/>
            <p:cNvSpPr/>
            <p:nvPr/>
          </p:nvSpPr>
          <p:spPr>
            <a:xfrm>
              <a:off x="7478327" y="5844360"/>
              <a:ext cx="1988686"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Dragonfly Topology</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80340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partant du processus racine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0</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commençons par l'implémentation naïve.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Volume de transfert de données :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(N-1)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K</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 inconvénients existent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processus 0 : la bande passante et la capacit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calcul deviennent des goulots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Ressources inutilis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importantes pendant l'All-Reduce (processus 1 à N-1).</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volutivit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manque de consid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pour la topologie.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améliorer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Distribuer le transfert de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la charge de calcul sur tous les processus.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Solutions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Arbre, anneau, bisection-doubling, etc.</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557442" y="1402079"/>
            <a:ext cx="3581217" cy="387134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46379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Algorithme bas</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 sur l'arbre pour AllReduce</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Construire une hi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avec le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racine (processus 0) comme sommet.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ascendante (bottom-up).</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Diffusion descendante (top-down).</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
        <p:nvSpPr>
          <p:cNvPr id="7" name="AutoShape 7"/>
          <p:cNvSpPr/>
          <p:nvPr/>
        </p:nvSpPr>
        <p:spPr>
          <a:xfrm>
            <a:off x="110716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0</a:t>
            </a:r>
            <a:endParaRPr lang="en-US" sz="1100"/>
          </a:p>
        </p:txBody>
      </p:sp>
      <p:sp>
        <p:nvSpPr>
          <p:cNvPr id="8" name="AutoShape 8"/>
          <p:cNvSpPr/>
          <p:nvPr/>
        </p:nvSpPr>
        <p:spPr>
          <a:xfrm>
            <a:off x="19696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9" name="AutoShape 9"/>
          <p:cNvSpPr/>
          <p:nvPr/>
        </p:nvSpPr>
        <p:spPr>
          <a:xfrm>
            <a:off x="28369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10" name="AutoShape 10"/>
          <p:cNvSpPr/>
          <p:nvPr/>
        </p:nvSpPr>
        <p:spPr>
          <a:xfrm>
            <a:off x="3694652"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11" name="AutoShape 11"/>
          <p:cNvSpPr/>
          <p:nvPr/>
        </p:nvSpPr>
        <p:spPr>
          <a:xfrm>
            <a:off x="455234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4</a:t>
            </a:r>
            <a:endParaRPr lang="en-US" sz="1100"/>
          </a:p>
        </p:txBody>
      </p:sp>
      <p:sp>
        <p:nvSpPr>
          <p:cNvPr id="12" name="AutoShape 12"/>
          <p:cNvSpPr/>
          <p:nvPr/>
        </p:nvSpPr>
        <p:spPr>
          <a:xfrm>
            <a:off x="5410036"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13" name="AutoShape 13"/>
          <p:cNvSpPr/>
          <p:nvPr/>
        </p:nvSpPr>
        <p:spPr>
          <a:xfrm>
            <a:off x="6267728"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a:t>
            </a:r>
            <a:endParaRPr lang="en-US" sz="1100"/>
          </a:p>
        </p:txBody>
      </p:sp>
      <p:sp>
        <p:nvSpPr>
          <p:cNvPr id="14" name="AutoShape 14"/>
          <p:cNvSpPr/>
          <p:nvPr/>
        </p:nvSpPr>
        <p:spPr>
          <a:xfrm>
            <a:off x="712542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cxnSp>
        <p:nvCxnSpPr>
          <p:cNvPr id="15" name="Connector 15"/>
          <p:cNvCxnSpPr/>
          <p:nvPr/>
        </p:nvCxnSpPr>
        <p:spPr>
          <a:xfrm rot="5400000">
            <a:off x="1969660" y="3251752"/>
            <a:ext cx="12700" cy="862496"/>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6" name="Connector 16"/>
          <p:cNvCxnSpPr/>
          <p:nvPr/>
        </p:nvCxnSpPr>
        <p:spPr>
          <a:xfrm rot="5400000">
            <a:off x="3697054"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7" name="Connector 17"/>
          <p:cNvCxnSpPr/>
          <p:nvPr/>
        </p:nvCxnSpPr>
        <p:spPr>
          <a:xfrm rot="5400000">
            <a:off x="5412438"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8" name="Connector 18"/>
          <p:cNvCxnSpPr/>
          <p:nvPr/>
        </p:nvCxnSpPr>
        <p:spPr>
          <a:xfrm rot="5400000">
            <a:off x="7127822"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19" name="AutoShape 19"/>
          <p:cNvSpPr/>
          <p:nvPr/>
        </p:nvSpPr>
        <p:spPr>
          <a:xfrm>
            <a:off x="1107164"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0+1</a:t>
            </a:r>
            <a:endParaRPr lang="en-US" sz="1100"/>
          </a:p>
        </p:txBody>
      </p:sp>
      <p:sp>
        <p:nvSpPr>
          <p:cNvPr id="20" name="AutoShape 20"/>
          <p:cNvSpPr/>
          <p:nvPr/>
        </p:nvSpPr>
        <p:spPr>
          <a:xfrm>
            <a:off x="196966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21" name="AutoShape 21"/>
          <p:cNvSpPr/>
          <p:nvPr/>
        </p:nvSpPr>
        <p:spPr>
          <a:xfrm>
            <a:off x="283696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2+3</a:t>
            </a:r>
            <a:endParaRPr lang="en-US" sz="1100"/>
          </a:p>
        </p:txBody>
      </p:sp>
      <p:sp>
        <p:nvSpPr>
          <p:cNvPr id="22" name="AutoShape 22"/>
          <p:cNvSpPr/>
          <p:nvPr/>
        </p:nvSpPr>
        <p:spPr>
          <a:xfrm>
            <a:off x="3694652"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23" name="AutoShape 23"/>
          <p:cNvSpPr/>
          <p:nvPr/>
        </p:nvSpPr>
        <p:spPr>
          <a:xfrm>
            <a:off x="4552344"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4+5</a:t>
            </a:r>
            <a:endParaRPr lang="en-US" sz="1100"/>
          </a:p>
        </p:txBody>
      </p:sp>
      <p:sp>
        <p:nvSpPr>
          <p:cNvPr id="24" name="AutoShape 24"/>
          <p:cNvSpPr/>
          <p:nvPr/>
        </p:nvSpPr>
        <p:spPr>
          <a:xfrm>
            <a:off x="5410036"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25" name="AutoShape 25"/>
          <p:cNvSpPr/>
          <p:nvPr/>
        </p:nvSpPr>
        <p:spPr>
          <a:xfrm>
            <a:off x="6267728"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6+7</a:t>
            </a:r>
            <a:endParaRPr lang="en-US" sz="1100"/>
          </a:p>
        </p:txBody>
      </p:sp>
      <p:sp>
        <p:nvSpPr>
          <p:cNvPr id="26" name="AutoShape 26"/>
          <p:cNvSpPr/>
          <p:nvPr/>
        </p:nvSpPr>
        <p:spPr>
          <a:xfrm>
            <a:off x="712542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cxnSp>
        <p:nvCxnSpPr>
          <p:cNvPr id="27" name="Connector 27"/>
          <p:cNvCxnSpPr/>
          <p:nvPr/>
        </p:nvCxnSpPr>
        <p:spPr>
          <a:xfrm rot="5400000">
            <a:off x="2403310" y="3539462"/>
            <a:ext cx="12700" cy="1729796"/>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28" name="Connector 28"/>
          <p:cNvCxnSpPr/>
          <p:nvPr/>
        </p:nvCxnSpPr>
        <p:spPr>
          <a:xfrm rot="5400000">
            <a:off x="5841284" y="3546668"/>
            <a:ext cx="12700" cy="1715384"/>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29" name="AutoShape 29"/>
          <p:cNvSpPr/>
          <p:nvPr/>
        </p:nvSpPr>
        <p:spPr>
          <a:xfrm>
            <a:off x="1082959" y="3030974"/>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Rank 0            </a:t>
            </a:r>
            <a:endParaRPr lang="en-US" sz="1100"/>
          </a:p>
        </p:txBody>
      </p:sp>
      <p:sp>
        <p:nvSpPr>
          <p:cNvPr id="30" name="AutoShape 30"/>
          <p:cNvSpPr/>
          <p:nvPr/>
        </p:nvSpPr>
        <p:spPr>
          <a:xfrm>
            <a:off x="7036427" y="3025156"/>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Rank 7            </a:t>
            </a:r>
            <a:endParaRPr lang="en-US" sz="1100"/>
          </a:p>
        </p:txBody>
      </p:sp>
      <p:sp>
        <p:nvSpPr>
          <p:cNvPr id="31" name="AutoShape 31"/>
          <p:cNvSpPr/>
          <p:nvPr/>
        </p:nvSpPr>
        <p:spPr>
          <a:xfrm>
            <a:off x="-28704" y="4586495"/>
            <a:ext cx="1040481" cy="646331"/>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S1 Reduce</a:t>
            </a:r>
            <a:endParaRPr lang="en-US" sz="1100"/>
          </a:p>
        </p:txBody>
      </p:sp>
      <p:sp>
        <p:nvSpPr>
          <p:cNvPr id="32" name="AutoShape 32"/>
          <p:cNvSpPr/>
          <p:nvPr/>
        </p:nvSpPr>
        <p:spPr>
          <a:xfrm>
            <a:off x="1102360"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0+1+2+3</a:t>
            </a:r>
            <a:endParaRPr lang="en-US" sz="1100"/>
          </a:p>
        </p:txBody>
      </p:sp>
      <p:sp>
        <p:nvSpPr>
          <p:cNvPr id="33" name="AutoShape 33"/>
          <p:cNvSpPr/>
          <p:nvPr/>
        </p:nvSpPr>
        <p:spPr>
          <a:xfrm>
            <a:off x="196485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34" name="AutoShape 34"/>
          <p:cNvSpPr/>
          <p:nvPr/>
        </p:nvSpPr>
        <p:spPr>
          <a:xfrm>
            <a:off x="283215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2+3</a:t>
            </a:r>
            <a:endParaRPr lang="en-US" sz="1100"/>
          </a:p>
        </p:txBody>
      </p:sp>
      <p:sp>
        <p:nvSpPr>
          <p:cNvPr id="35" name="AutoShape 35"/>
          <p:cNvSpPr/>
          <p:nvPr/>
        </p:nvSpPr>
        <p:spPr>
          <a:xfrm>
            <a:off x="3689848"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36" name="AutoShape 36"/>
          <p:cNvSpPr/>
          <p:nvPr/>
        </p:nvSpPr>
        <p:spPr>
          <a:xfrm>
            <a:off x="4547540"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4+5+6+7</a:t>
            </a:r>
            <a:endParaRPr lang="en-US" sz="1100"/>
          </a:p>
        </p:txBody>
      </p:sp>
      <p:sp>
        <p:nvSpPr>
          <p:cNvPr id="37" name="AutoShape 37"/>
          <p:cNvSpPr/>
          <p:nvPr/>
        </p:nvSpPr>
        <p:spPr>
          <a:xfrm>
            <a:off x="5405232"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38" name="AutoShape 38"/>
          <p:cNvSpPr/>
          <p:nvPr/>
        </p:nvSpPr>
        <p:spPr>
          <a:xfrm>
            <a:off x="6262924"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6+7</a:t>
            </a:r>
            <a:endParaRPr lang="en-US" sz="1100"/>
          </a:p>
        </p:txBody>
      </p:sp>
      <p:sp>
        <p:nvSpPr>
          <p:cNvPr id="39" name="AutoShape 39"/>
          <p:cNvSpPr/>
          <p:nvPr/>
        </p:nvSpPr>
        <p:spPr>
          <a:xfrm>
            <a:off x="712061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cxnSp>
        <p:nvCxnSpPr>
          <p:cNvPr id="40" name="Connector 40"/>
          <p:cNvCxnSpPr/>
          <p:nvPr/>
        </p:nvCxnSpPr>
        <p:spPr>
          <a:xfrm rot="5400000">
            <a:off x="3256198" y="3441071"/>
            <a:ext cx="12700" cy="344518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41" name="AutoShape 41"/>
          <p:cNvSpPr/>
          <p:nvPr/>
        </p:nvSpPr>
        <p:spPr>
          <a:xfrm>
            <a:off x="11023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2" name="AutoShape 42"/>
          <p:cNvSpPr/>
          <p:nvPr/>
        </p:nvSpPr>
        <p:spPr>
          <a:xfrm>
            <a:off x="196485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43" name="AutoShape 43"/>
          <p:cNvSpPr/>
          <p:nvPr/>
        </p:nvSpPr>
        <p:spPr>
          <a:xfrm>
            <a:off x="283215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2+3</a:t>
            </a:r>
            <a:endParaRPr lang="en-US" sz="1100"/>
          </a:p>
        </p:txBody>
      </p:sp>
      <p:sp>
        <p:nvSpPr>
          <p:cNvPr id="44" name="AutoShape 44"/>
          <p:cNvSpPr/>
          <p:nvPr/>
        </p:nvSpPr>
        <p:spPr>
          <a:xfrm>
            <a:off x="3689848"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45" name="AutoShape 45"/>
          <p:cNvSpPr/>
          <p:nvPr/>
        </p:nvSpPr>
        <p:spPr>
          <a:xfrm>
            <a:off x="4547540"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4+5+6+7</a:t>
            </a:r>
            <a:endParaRPr lang="en-US" sz="1100"/>
          </a:p>
        </p:txBody>
      </p:sp>
      <p:sp>
        <p:nvSpPr>
          <p:cNvPr id="46" name="AutoShape 46"/>
          <p:cNvSpPr/>
          <p:nvPr/>
        </p:nvSpPr>
        <p:spPr>
          <a:xfrm>
            <a:off x="5405232"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47" name="AutoShape 47"/>
          <p:cNvSpPr/>
          <p:nvPr/>
        </p:nvSpPr>
        <p:spPr>
          <a:xfrm>
            <a:off x="6262924"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6+7</a:t>
            </a:r>
            <a:endParaRPr lang="en-US" sz="1100"/>
          </a:p>
        </p:txBody>
      </p:sp>
      <p:sp>
        <p:nvSpPr>
          <p:cNvPr id="48" name="AutoShape 48"/>
          <p:cNvSpPr/>
          <p:nvPr/>
        </p:nvSpPr>
        <p:spPr>
          <a:xfrm>
            <a:off x="712061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a:solidFill>
                  <a:srgbClr val="404040"/>
                </a:solidFill>
                <a:latin typeface="Calibri" panose="020F0502020204030204"/>
                <a:ea typeface="Calibri" panose="020F0502020204030204"/>
                <a:cs typeface="Calibri" panose="020F0502020204030204"/>
                <a:sym typeface="Calibri" panose="020F0502020204030204"/>
              </a:rPr>
              <a:t>Algorithme bas</a:t>
            </a:r>
            <a:r>
              <a:rPr lang="en-US" altLang="en-US">
                <a:solidFill>
                  <a:srgbClr val="404040"/>
                </a:solidFill>
                <a:latin typeface="Calibri" panose="020F0502020204030204"/>
                <a:ea typeface="Calibri" panose="020F0502020204030204"/>
                <a:cs typeface="Calibri" panose="020F0502020204030204"/>
                <a:sym typeface="Calibri" panose="020F0502020204030204"/>
              </a:rPr>
              <a:t>é</a:t>
            </a:r>
            <a:r>
              <a:rPr lang="en-US" altLang="zh-CN">
                <a:solidFill>
                  <a:srgbClr val="404040"/>
                </a:solidFill>
                <a:latin typeface="Calibri" panose="020F0502020204030204"/>
                <a:ea typeface="Calibri" panose="020F0502020204030204"/>
                <a:cs typeface="Calibri" panose="020F0502020204030204"/>
                <a:sym typeface="Calibri" panose="020F0502020204030204"/>
              </a:rPr>
              <a:t> sur l'arbre pour AllReduce</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Construire une hi</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avec le n</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racine (processus 0) comme sommet.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 </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ascendante (bottom-up).</a:t>
            </a:r>
            <a:endPar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 </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Diffusion descendante (top-down).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
        <p:nvSpPr>
          <p:cNvPr id="7" name="AutoShape 7"/>
          <p:cNvSpPr/>
          <p:nvPr/>
        </p:nvSpPr>
        <p:spPr>
          <a:xfrm>
            <a:off x="19696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8" name="AutoShape 8"/>
          <p:cNvSpPr/>
          <p:nvPr/>
        </p:nvSpPr>
        <p:spPr>
          <a:xfrm>
            <a:off x="28369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9" name="AutoShape 9"/>
          <p:cNvSpPr/>
          <p:nvPr/>
        </p:nvSpPr>
        <p:spPr>
          <a:xfrm>
            <a:off x="3694652"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10" name="AutoShape 10"/>
          <p:cNvSpPr/>
          <p:nvPr/>
        </p:nvSpPr>
        <p:spPr>
          <a:xfrm>
            <a:off x="455234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4</a:t>
            </a:r>
            <a:endParaRPr lang="en-US" sz="1100"/>
          </a:p>
        </p:txBody>
      </p:sp>
      <p:sp>
        <p:nvSpPr>
          <p:cNvPr id="11" name="AutoShape 11"/>
          <p:cNvSpPr/>
          <p:nvPr/>
        </p:nvSpPr>
        <p:spPr>
          <a:xfrm>
            <a:off x="5410036"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12" name="AutoShape 12"/>
          <p:cNvSpPr/>
          <p:nvPr/>
        </p:nvSpPr>
        <p:spPr>
          <a:xfrm>
            <a:off x="6267728"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a:t>
            </a:r>
            <a:endParaRPr lang="en-US" sz="1100"/>
          </a:p>
        </p:txBody>
      </p:sp>
      <p:sp>
        <p:nvSpPr>
          <p:cNvPr id="13" name="AutoShape 13"/>
          <p:cNvSpPr/>
          <p:nvPr/>
        </p:nvSpPr>
        <p:spPr>
          <a:xfrm>
            <a:off x="712542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sp>
        <p:nvSpPr>
          <p:cNvPr id="14" name="AutoShape 14"/>
          <p:cNvSpPr/>
          <p:nvPr/>
        </p:nvSpPr>
        <p:spPr>
          <a:xfrm>
            <a:off x="1082959" y="3030974"/>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Rank 0            </a:t>
            </a:r>
            <a:endParaRPr lang="en-US" sz="1100"/>
          </a:p>
        </p:txBody>
      </p:sp>
      <p:sp>
        <p:nvSpPr>
          <p:cNvPr id="15" name="AutoShape 15"/>
          <p:cNvSpPr/>
          <p:nvPr/>
        </p:nvSpPr>
        <p:spPr>
          <a:xfrm>
            <a:off x="7036427" y="3025156"/>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Rank 7            </a:t>
            </a:r>
            <a:endParaRPr lang="en-US" sz="1100"/>
          </a:p>
        </p:txBody>
      </p:sp>
      <p:sp>
        <p:nvSpPr>
          <p:cNvPr id="16" name="AutoShape 16"/>
          <p:cNvSpPr/>
          <p:nvPr/>
        </p:nvSpPr>
        <p:spPr>
          <a:xfrm>
            <a:off x="-82861" y="4603248"/>
            <a:ext cx="1240089" cy="646331"/>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S2 Broadcast</a:t>
            </a:r>
            <a:endParaRPr lang="en-US" sz="1100"/>
          </a:p>
        </p:txBody>
      </p:sp>
      <p:cxnSp>
        <p:nvCxnSpPr>
          <p:cNvPr id="17" name="Connector 17"/>
          <p:cNvCxnSpPr/>
          <p:nvPr/>
        </p:nvCxnSpPr>
        <p:spPr>
          <a:xfrm rot="5400000" flipV="1">
            <a:off x="3258600" y="1958008"/>
            <a:ext cx="12700" cy="3449984"/>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18" name="AutoShape 18"/>
          <p:cNvSpPr/>
          <p:nvPr/>
        </p:nvSpPr>
        <p:spPr>
          <a:xfrm>
            <a:off x="11023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19" name="AutoShape 19"/>
          <p:cNvSpPr/>
          <p:nvPr/>
        </p:nvSpPr>
        <p:spPr>
          <a:xfrm>
            <a:off x="1102360" y="3429000"/>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20" name="AutoShape 20"/>
          <p:cNvSpPr/>
          <p:nvPr/>
        </p:nvSpPr>
        <p:spPr>
          <a:xfrm>
            <a:off x="196485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21" name="AutoShape 21"/>
          <p:cNvSpPr/>
          <p:nvPr/>
        </p:nvSpPr>
        <p:spPr>
          <a:xfrm>
            <a:off x="283215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22" name="AutoShape 22"/>
          <p:cNvSpPr/>
          <p:nvPr/>
        </p:nvSpPr>
        <p:spPr>
          <a:xfrm>
            <a:off x="3689848"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23" name="AutoShape 23"/>
          <p:cNvSpPr/>
          <p:nvPr/>
        </p:nvSpPr>
        <p:spPr>
          <a:xfrm>
            <a:off x="5405232"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24" name="AutoShape 24"/>
          <p:cNvSpPr/>
          <p:nvPr/>
        </p:nvSpPr>
        <p:spPr>
          <a:xfrm>
            <a:off x="6262924"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6</a:t>
            </a:r>
            <a:endParaRPr lang="en-US" sz="1100"/>
          </a:p>
        </p:txBody>
      </p:sp>
      <p:sp>
        <p:nvSpPr>
          <p:cNvPr id="25" name="AutoShape 25"/>
          <p:cNvSpPr/>
          <p:nvPr/>
        </p:nvSpPr>
        <p:spPr>
          <a:xfrm>
            <a:off x="712061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cxnSp>
        <p:nvCxnSpPr>
          <p:cNvPr id="26" name="Connector 26"/>
          <p:cNvCxnSpPr/>
          <p:nvPr/>
        </p:nvCxnSpPr>
        <p:spPr>
          <a:xfrm rot="5400000" flipV="1">
            <a:off x="2396104" y="3544527"/>
            <a:ext cx="12700" cy="173460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27" name="AutoShape 27"/>
          <p:cNvSpPr/>
          <p:nvPr/>
        </p:nvSpPr>
        <p:spPr>
          <a:xfrm>
            <a:off x="1097556" y="4157827"/>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28" name="AutoShape 28"/>
          <p:cNvSpPr/>
          <p:nvPr/>
        </p:nvSpPr>
        <p:spPr>
          <a:xfrm>
            <a:off x="4556292" y="4157827"/>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cxnSp>
        <p:nvCxnSpPr>
          <p:cNvPr id="29" name="Connector 29"/>
          <p:cNvCxnSpPr/>
          <p:nvPr/>
        </p:nvCxnSpPr>
        <p:spPr>
          <a:xfrm rot="5400000" flipV="1">
            <a:off x="5840856" y="3558511"/>
            <a:ext cx="12700" cy="170663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30" name="AutoShape 30"/>
          <p:cNvSpPr/>
          <p:nvPr/>
        </p:nvSpPr>
        <p:spPr>
          <a:xfrm>
            <a:off x="1971206"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31" name="AutoShape 31"/>
          <p:cNvSpPr/>
          <p:nvPr/>
        </p:nvSpPr>
        <p:spPr>
          <a:xfrm>
            <a:off x="2838506"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32" name="AutoShape 32"/>
          <p:cNvSpPr/>
          <p:nvPr/>
        </p:nvSpPr>
        <p:spPr>
          <a:xfrm>
            <a:off x="3696198"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33" name="AutoShape 33"/>
          <p:cNvSpPr/>
          <p:nvPr/>
        </p:nvSpPr>
        <p:spPr>
          <a:xfrm>
            <a:off x="5411582"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34" name="AutoShape 34"/>
          <p:cNvSpPr/>
          <p:nvPr/>
        </p:nvSpPr>
        <p:spPr>
          <a:xfrm>
            <a:off x="6269274"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35" name="AutoShape 35"/>
          <p:cNvSpPr/>
          <p:nvPr/>
        </p:nvSpPr>
        <p:spPr>
          <a:xfrm>
            <a:off x="7126966"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cxnSp>
        <p:nvCxnSpPr>
          <p:cNvPr id="36" name="Connector 36"/>
          <p:cNvCxnSpPr/>
          <p:nvPr/>
        </p:nvCxnSpPr>
        <p:spPr>
          <a:xfrm rot="5400000" flipV="1">
            <a:off x="1968804" y="4725181"/>
            <a:ext cx="12700" cy="86730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37" name="AutoShape 37"/>
          <p:cNvSpPr/>
          <p:nvPr/>
        </p:nvSpPr>
        <p:spPr>
          <a:xfrm>
            <a:off x="1103906"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38" name="AutoShape 38"/>
          <p:cNvSpPr/>
          <p:nvPr/>
        </p:nvSpPr>
        <p:spPr>
          <a:xfrm>
            <a:off x="4562642"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cxnSp>
        <p:nvCxnSpPr>
          <p:cNvPr id="39" name="Connector 39"/>
          <p:cNvCxnSpPr/>
          <p:nvPr/>
        </p:nvCxnSpPr>
        <p:spPr>
          <a:xfrm rot="5400000" flipV="1">
            <a:off x="5418360" y="4734361"/>
            <a:ext cx="12700" cy="84894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40" name="Connector 40"/>
          <p:cNvCxnSpPr/>
          <p:nvPr/>
        </p:nvCxnSpPr>
        <p:spPr>
          <a:xfrm rot="5400000" flipV="1">
            <a:off x="3698600" y="4729985"/>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41" name="Connector 41"/>
          <p:cNvCxnSpPr/>
          <p:nvPr/>
        </p:nvCxnSpPr>
        <p:spPr>
          <a:xfrm rot="5400000" flipV="1">
            <a:off x="7129368" y="4729985"/>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42" name="AutoShape 42"/>
          <p:cNvSpPr/>
          <p:nvPr/>
        </p:nvSpPr>
        <p:spPr>
          <a:xfrm>
            <a:off x="19634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3" name="AutoShape 43"/>
          <p:cNvSpPr/>
          <p:nvPr/>
        </p:nvSpPr>
        <p:spPr>
          <a:xfrm>
            <a:off x="28245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4" name="AutoShape 44"/>
          <p:cNvSpPr/>
          <p:nvPr/>
        </p:nvSpPr>
        <p:spPr>
          <a:xfrm>
            <a:off x="36856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5" name="AutoShape 45"/>
          <p:cNvSpPr/>
          <p:nvPr/>
        </p:nvSpPr>
        <p:spPr>
          <a:xfrm>
            <a:off x="45467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6" name="AutoShape 46"/>
          <p:cNvSpPr/>
          <p:nvPr/>
        </p:nvSpPr>
        <p:spPr>
          <a:xfrm>
            <a:off x="54078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7" name="AutoShape 47"/>
          <p:cNvSpPr/>
          <p:nvPr/>
        </p:nvSpPr>
        <p:spPr>
          <a:xfrm>
            <a:off x="62689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
        <p:nvSpPr>
          <p:cNvPr id="48" name="AutoShape 48"/>
          <p:cNvSpPr/>
          <p:nvPr/>
        </p:nvSpPr>
        <p:spPr>
          <a:xfrm>
            <a:off x="7130058"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SUM(0,7)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703185" cy="4853305"/>
          </a:xfrm>
          <a:prstGeom prst="rect">
            <a:avLst/>
          </a:prstGeom>
        </p:spPr>
        <p:txBody>
          <a:bodyPr wrap="square" lIns="91440" tIns="45720" rIns="91440" bIns="45720" anchor="t">
            <a:normAutofit fontScale="90000"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Algorithme bas</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 sur un arbre pour AllReduce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Construire une hiérarchie avec le nœud racine (processus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comme sommet.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 Réduction bottom-up</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 Broadcast top-down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transfert de données et la réduction peuvent être parallélisés.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 logarithmique (la version naïve est linéaire).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Latence faible, excellent pour les petites quantités de données.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Inconvénients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problème de ressources inutilisées persiste.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supplémentaire : Double arbre binaire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NCCL</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AllReduce bas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un anneau</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 Collecte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rative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452129" y="3020290"/>
            <a:ext cx="3763055" cy="296487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AllReduce bas</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un annea</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rative en N-1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 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rative en N-1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405" y="2861359"/>
            <a:ext cx="5908778" cy="3543847"/>
          </a:xfrm>
          <a:prstGeom prst="rect">
            <a:avLst/>
          </a:prstGeom>
          <a:ln w="12700">
            <a:noFill/>
            <a:prstDash val="solid"/>
          </a:ln>
        </p:spPr>
      </p:pic>
      <p:sp>
        <p:nvSpPr>
          <p:cNvPr id="8" name="AutoShape 8"/>
          <p:cNvSpPr/>
          <p:nvPr/>
        </p:nvSpPr>
        <p:spPr>
          <a:xfrm>
            <a:off x="314037" y="2676693"/>
            <a:ext cx="2411238"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175" b="0" i="1"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Diviser les donnees en</a:t>
            </a:r>
            <a:r>
              <a:rPr lang="en-US" sz="1175" b="0" i="1" u="none" strike="noStrike">
                <a:solidFill>
                  <a:srgbClr val="000000"/>
                </a:solidFill>
                <a:latin typeface="Calibri" panose="020F0502020204030204"/>
                <a:ea typeface="Arial" panose="020B0604020202020204"/>
                <a:cs typeface="Arial" panose="020B0604020202020204"/>
                <a:sym typeface="Arial" panose="020B0604020202020204"/>
              </a:rPr>
              <a:t>N</a:t>
            </a:r>
            <a:r>
              <a:rPr lang="en-US" sz="1175" b="0" i="1"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partitions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AllReduce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N-1</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N-1</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404" y="2548808"/>
            <a:ext cx="5919650" cy="41286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52707"/>
            <a:ext cx="5919649" cy="4262147"/>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a:solidFill>
                  <a:srgbClr val="404040"/>
                </a:solidFill>
                <a:latin typeface="Calibri" panose="020F0502020204030204"/>
                <a:ea typeface="Calibri" panose="020F0502020204030204"/>
                <a:cs typeface="Calibri" panose="020F0502020204030204"/>
                <a:sym typeface="Calibri" panose="020F0502020204030204"/>
              </a:rPr>
              <a:t>AllReduce</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48375"/>
            <a:ext cx="5919649" cy="4157516"/>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a:solidFill>
                  <a:srgbClr val="404040"/>
                </a:solidFill>
                <a:latin typeface="Calibri" panose="020F0502020204030204"/>
                <a:ea typeface="Calibri" panose="020F0502020204030204"/>
                <a:cs typeface="Calibri" panose="020F0502020204030204"/>
                <a:sym typeface="Calibri" panose="020F0502020204030204"/>
              </a:rPr>
              <a:t>AllReduce</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71659"/>
            <a:ext cx="5958976" cy="4160785"/>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a:solidFill>
                  <a:srgbClr val="404040"/>
                </a:solidFill>
                <a:latin typeface="Calibri" panose="020F0502020204030204"/>
                <a:ea typeface="Calibri" panose="020F0502020204030204"/>
                <a:cs typeface="Calibri" panose="020F0502020204030204"/>
                <a:sym typeface="Calibri" panose="020F0502020204030204"/>
              </a:rPr>
              <a:t>AllReduce</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602265" y="2538665"/>
            <a:ext cx="6098114" cy="4286341"/>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a:solidFill>
                  <a:srgbClr val="404040"/>
                </a:solidFill>
                <a:latin typeface="Calibri" panose="020F0502020204030204"/>
                <a:ea typeface="Calibri" panose="020F0502020204030204"/>
                <a:cs typeface="Calibri" panose="020F0502020204030204"/>
                <a:sym typeface="Calibri" panose="020F0502020204030204"/>
              </a:rPr>
              <a:t>AllReduce</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a:solidFill>
                  <a:srgbClr val="404040"/>
                </a:solidFill>
                <a:latin typeface="Calibri" panose="020F0502020204030204"/>
                <a:ea typeface="Calibri" panose="020F0502020204030204"/>
                <a:cs typeface="Calibri" panose="020F0502020204030204"/>
                <a:sym typeface="Calibri" panose="020F0502020204030204"/>
              </a:rPr>
              <a:t>N-1</a:t>
            </a: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7026658"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a:t>
            </a:r>
            <a:r>
              <a:rPr lang="en-US" sz="2330">
                <a:solidFill>
                  <a:srgbClr val="404040"/>
                </a:solidFill>
                <a:latin typeface="Calibri" panose="020F0502020204030204"/>
                <a:ea typeface="Calibri" panose="020F0502020204030204"/>
                <a:cs typeface="Calibri" panose="020F0502020204030204"/>
                <a:sym typeface="Calibri" panose="020F0502020204030204"/>
              </a:rPr>
              <a:t>AllReduce</a:t>
            </a: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sur anneau</a:t>
            </a:r>
            <a:endPar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a:t>
            </a:r>
            <a:r>
              <a:rPr lang="en-US" sz="2330">
                <a:solidFill>
                  <a:srgbClr val="404040"/>
                </a:solidFill>
                <a:latin typeface="Calibri" panose="020F0502020204030204"/>
                <a:ea typeface="Calibri" panose="020F0502020204030204"/>
                <a:cs typeface="Calibri" panose="020F0502020204030204"/>
                <a:sym typeface="Calibri" panose="020F0502020204030204"/>
              </a:rPr>
              <a:t>N-1</a:t>
            </a: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reduction iterative</a:t>
            </a:r>
            <a:endPar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sz="2330">
                <a:solidFill>
                  <a:srgbClr val="404040"/>
                </a:solidFill>
                <a:latin typeface="Calibri" panose="020F0502020204030204"/>
                <a:ea typeface="Calibri" panose="020F0502020204030204"/>
                <a:cs typeface="Calibri" panose="020F0502020204030204"/>
                <a:sym typeface="Calibri" panose="020F0502020204030204"/>
              </a:rPr>
              <a:t>N-1</a:t>
            </a:r>
            <a:r>
              <a:rPr lang="en-US" sz="233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etapes de collecte iterative</a:t>
            </a:r>
            <a:endPar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quantitative</a:t>
            </a:r>
            <a:endPar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Volume de donn</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transf</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(N-1)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K / N</a:t>
            </a:r>
            <a:endPar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Temps total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(N-1)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alpha + 2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(N-1)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K / N / beta</a:t>
            </a:r>
            <a:endPar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Volume de donn</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transf</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log(N)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(alpha + K / beta)</a:t>
            </a:r>
            <a:endPar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α : latence</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β : </a:t>
            </a: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 passante</a:t>
            </a:r>
            <a:endPar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 utilisation optimale de la bande passante</a:t>
            </a:r>
            <a:endParaRPr lang="en-US" sz="23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15" b="0" i="0" u="none" strike="noStrike">
                <a:solidFill>
                  <a:srgbClr val="A5A5A5"/>
                </a:solidFill>
                <a:latin typeface="Calibri" panose="020F0502020204030204"/>
                <a:ea typeface="Garamond" panose="02020404030301010803"/>
                <a:cs typeface="Garamond" panose="02020404030301010803"/>
                <a:sym typeface="Garamond" panose="02020404030301010803"/>
              </a:rPr>
              <a:t>[1] </a:t>
            </a:r>
            <a:r>
              <a:rPr lang="en-US" sz="1215" b="0" i="0" u="none" strike="noStrike">
                <a:solidFill>
                  <a:srgbClr val="A5A5A5"/>
                </a:solidFill>
                <a:latin typeface="Calibri" panose="020F0502020204030204"/>
                <a:ea typeface="Garamond" panose="02020404030301010803"/>
                <a:cs typeface="Garamond" panose="02020404030301010803"/>
                <a:sym typeface="Garamond" panose="02020404030301010803"/>
                <a:hlinkClick r:id="rId1" tooltip="https://www.semanticscholar.org/paper/Optimization-of-Collective-Reduction-Operations-Rabenseifner/e2584fdc3f9e696423d96522038f3fa35137ab92"/>
              </a:rPr>
              <a:t>https://www.semanticscholar.org/paper/Optimization-of-Collective-Reduction-Operations-Rabenseifner/e2584fdc3f9e696423d96522038f3fa35137ab92</a:t>
            </a:r>
            <a:r>
              <a:rPr lang="en-US" sz="1215"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121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AllReduce par bisection-doublement (bisection-doubling)</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1: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cursive par bisection</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2: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cursive par doublement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2157845" y="2760460"/>
            <a:ext cx="7876309" cy="360792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Allreduce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 des trois algorithmes Allreduce : anneau, arbre et bisection-doubling.</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biblioth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 de communication modernes peuvent choisir des strat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efficaces en fonction de la topologie et du domaine de communication.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5" name="Table 5"/>
          <p:cNvGraphicFramePr>
            <a:graphicFrameLocks noGrp="1"/>
          </p:cNvGraphicFramePr>
          <p:nvPr/>
        </p:nvGraphicFramePr>
        <p:xfrm>
          <a:off x="887649" y="3110288"/>
          <a:ext cx="10767580" cy="1786428"/>
        </p:xfrm>
        <a:graphic>
          <a:graphicData uri="http://schemas.openxmlformats.org/drawingml/2006/table">
            <a:tbl>
              <a:tblPr>
                <a:effectLst/>
              </a:tblPr>
              <a:tblGrid>
                <a:gridCol w="2153516"/>
                <a:gridCol w="2153516"/>
                <a:gridCol w="2153516"/>
                <a:gridCol w="2153516"/>
                <a:gridCol w="2153516"/>
              </a:tblGrid>
              <a:tr h="446607">
                <a:tc>
                  <a:txBody>
                    <a:bodyPr rtlCol="0"/>
                    <a:lstStyle/>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r>
                        <a:t>Étapes (Complexité)</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r>
                        <a:t>Latence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r>
                        <a:t>Utilisation bande passante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r>
                        <a:t>Quantité de données</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r>
              <a:tr h="446607">
                <a:tc>
                  <a:txBody>
                    <a:bodyPr rtlCol="0"/>
                    <a:lstStyle/>
                    <a:p>
                      <a:r>
                        <a:t>Anneau (Ring-based)</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Élevée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Optimale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Grande quantité (&gt; 64 Mo)</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r h="446607">
                <a:tc>
                  <a:txBody>
                    <a:bodyPr rtlCol="0"/>
                    <a:lstStyle/>
                    <a:p>
                      <a:r>
                        <a:t>Arbre (Tree-based)</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O(log 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Faible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Modérée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Quantité moyenne (&lt; 16 Mo)</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r h="446607">
                <a:tc>
                  <a:txBody>
                    <a:bodyPr rtlCol="0"/>
                    <a:lstStyle/>
                    <a:p>
                      <a:r>
                        <a:t>Bisection-Doubling</a:t>
                      </a:r>
                    </a:p>
                    <a:p>
                      <a:r>
                        <a:t>(Halving-Doubling)</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O(log 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Faible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Modérée</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r>
                        <a:t>Petite quantité (&lt; 1 Mo)</a:t>
                      </a:r>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La conception du protocole est </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galement tr</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importante</a:t>
            </a:r>
            <a:endPar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https://arxiv.org/pdf/2507.04786v1</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a:solidFill>
                  <a:srgbClr val="404040"/>
                </a:solidFill>
                <a:latin typeface="Calibri" panose="020F0502020204030204"/>
                <a:ea typeface="Calibri" panose="020F0502020204030204"/>
                <a:cs typeface="Calibri" panose="020F0502020204030204"/>
                <a:sym typeface="Calibri" panose="020F0502020204030204"/>
              </a:rPr>
              <a:t>NCCL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582624" y="1797890"/>
            <a:ext cx="3907249" cy="259084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57937" y="1780207"/>
            <a:ext cx="3907249" cy="2256069"/>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2127105" y="4282458"/>
            <a:ext cx="7937790" cy="250313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La conception du protocole est </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galement tr</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importante</a:t>
            </a:r>
            <a:endPar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https://arxiv.org/pdf/2507.04786v1</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a:solidFill>
                  <a:srgbClr val="404040"/>
                </a:solidFill>
                <a:latin typeface="Calibri" panose="020F0502020204030204"/>
                <a:ea typeface="Calibri" panose="020F0502020204030204"/>
                <a:cs typeface="Calibri" panose="020F0502020204030204"/>
                <a:sym typeface="Calibri" panose="020F0502020204030204"/>
              </a:rPr>
              <a:t>NCCL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79951" y="1800977"/>
            <a:ext cx="10023578" cy="45553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33</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Parallélisme de modèle</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III</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(Hybrid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hybride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tridimensionnel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pentadimensionnel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modèle automatique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FlexFlow</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Alpa</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Autres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Orthogonalité mathématique du parallélisme hybride</a:t>
            </a:r>
            <a:endParaRPr lang="en-US" sz="28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https://www.microsoft.com/en-us/research/blog/deepspeed-extreme-scale-model-training-for-everyone/</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227260" cy="4444365"/>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Axes orthogonaux : parall</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donn</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(DP) (dimension du batch), parall</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tenseurs (TP) (intra-couche / dimension cach</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parall</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pipeline (PP) (inter-couches / dimension profondeur).</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Goulots d'</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 les paradigmes de parall</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uniques ont des limites : DP limit</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capacit</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TP limit</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le goulot d'</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de la bande passante r</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 PP n</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de nombreux micro-lots, entra</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nant une forte augmentation de la m</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des ressources</a:t>
            </a:r>
            <a:r>
              <a:rPr lang="en-US" sz="17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combinaison multiplicative</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Effet de synergie : TP r</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l'occupation m</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 couche </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permet d'accueillir des micro-lots plus grands </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le taux de bulles de PP.</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51135" y="2053836"/>
            <a:ext cx="5329743" cy="307823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 de parall</a:t>
            </a:r>
            <a:r>
              <a:rPr lang="en-US" alt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lisme 3D</a:t>
            </a:r>
            <a:endParaRPr 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Coopération matérielle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combiner DP, PP et TP de mani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imbriqu</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pour correspondre à la topologie du centre de donn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interne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TP</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à un seul 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via NVLink, pour les communications MatMul à forte charge.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intermédiaire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PP</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inter-n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via RDMA, pour les communications de fronti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 à faible bande passante.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externe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DP</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enveloppe logiquement TP+PP,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alisant une extension globale pour obtenir un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de lot à grande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639763" y="3734406"/>
          <a:ext cx="10912474" cy="2713226"/>
        </p:xfrm>
        <a:graphic>
          <a:graphicData uri="http://schemas.openxmlformats.org/drawingml/2006/table">
            <a:tbl>
              <a:tblPr>
                <a:effectLst/>
              </a:tblPr>
              <a:tblGrid>
                <a:gridCol w="2081780"/>
                <a:gridCol w="3374457"/>
                <a:gridCol w="2816374"/>
                <a:gridCol w="2639863"/>
              </a:tblGrid>
              <a:tr h="823385">
                <a:tc>
                  <a:txBody>
                    <a:bodyPr rtlCol="0"/>
                    <a:lstStyle/>
                    <a:p>
                      <a:r>
                        <a:t>Dimension parallèle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Granularité d'exécution</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Primitive de communication</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Mappage physique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629947">
                <a:tc>
                  <a:txBody>
                    <a:bodyPr rtlCol="0"/>
                    <a:lstStyle/>
                    <a:p>
                      <a:r>
                        <a:t>Parallélisme tensoriel (TP)</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Opération intra-couche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All-Reduce dense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Intra-nœud (NVLink)</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629947">
                <a:tc>
                  <a:txBody>
                    <a:bodyPr rtlCol="0"/>
                    <a:lstStyle/>
                    <a:p>
                      <a:r>
                        <a:t>Parallélisme pipeline (PP)</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Étage inter-couches</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Point à point Send/Recv</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Inter-nœud (InfiniBand)</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629947">
                <a:tc>
                  <a:txBody>
                    <a:bodyPr rtlCol="0"/>
                    <a:lstStyle/>
                    <a:p>
                      <a:r>
                        <a:t>Parallélisme de données (DP)</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Réplica de lot global</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All-Reduce clairsemé</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Cluster global</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Étude de cas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Megatron-Turing NLG 530B</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65"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https://developer.nvidia.com/blog/using-deepspeed-and-megatron-to-train-megatron-turing-nlg-530b-the-worlds-largest-and-most-powerful-generative-language-model/</a:t>
            </a:r>
            <a:endParaRPr lang="en-US" sz="116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55220" cy="4625975"/>
          </a:xfrm>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201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 </a:t>
            </a:r>
            <a:r>
              <a:rPr lang="en-US" sz="201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530 milliards de param</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105 couches, n</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cessitant plus de 10 To de m</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HBM agr</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01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Matériel </a:t>
            </a:r>
            <a:r>
              <a:rPr lang="en-US" sz="201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supercalculateur NVIDIA Selene (4 480 GPU A100, interconnect</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via NVSwitch / InfiniBand).</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2015" b="1" i="0" u="none" strike="noStrike">
                <a:solidFill>
                  <a:srgbClr val="404040"/>
                </a:solidFill>
                <a:latin typeface="Calibri" panose="020F0502020204030204"/>
                <a:ea typeface="Calibri" panose="020F0502020204030204"/>
                <a:cs typeface="Calibri" panose="020F0502020204030204"/>
                <a:sym typeface="Calibri" panose="020F0502020204030204"/>
              </a:rPr>
              <a:t>Configuration de parall</a:t>
            </a:r>
            <a:r>
              <a:rPr lang="en-US" altLang="en-US" sz="2015" b="1"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15" b="1" i="0" u="none" strike="noStrike">
                <a:solidFill>
                  <a:srgbClr val="404040"/>
                </a:solidFill>
                <a:latin typeface="Calibri" panose="020F0502020204030204"/>
                <a:ea typeface="Calibri" panose="020F0502020204030204"/>
                <a:cs typeface="Calibri" panose="020F0502020204030204"/>
                <a:sym typeface="Calibri" panose="020F0502020204030204"/>
              </a:rPr>
              <a:t>lisme 3D </a:t>
            </a:r>
            <a:r>
              <a:rPr lang="en-US" sz="2015" b="1"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15"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TP 8 voies (intra‑n</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PP 35 voies (inter‑n</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 280 GPU par r</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plique du mod</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DP global 16 voies (280 </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16 = 4 480 GPU).</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01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 </a:t>
            </a:r>
            <a:r>
              <a:rPr lang="en-US" sz="201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taille de batch globale de 1 920, atteignant un d</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historique de 113 t</a:t>
            </a:r>
            <a:r>
              <a:rPr lang="en-US" alt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raFLOP/s par GPU.</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21723" r="20112"/>
          <a:stretch>
            <a:fillRect/>
          </a:stretch>
        </p:blipFill>
        <p:spPr>
          <a:xfrm>
            <a:off x="6679095" y="1311942"/>
            <a:ext cx="4797288" cy="46384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lisation des co</a:t>
            </a:r>
            <a:r>
              <a:rPr lang="en-US" altLang="en-US"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ts de communication et de la puissance de calcul effective</a:t>
            </a:r>
            <a:endPar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mc:AlternateContent xmlns:mc="http://schemas.openxmlformats.org/markup-compatibility/2006">
        <mc:Choice xmlns:a14="http://schemas.microsoft.com/office/drawing/2010/main" Requires="a14">
          <p:sp>
            <p:nvSpPr>
              <p:cNvPr id="5" name="AutoShape 5"/>
              <p:cNvSpPr/>
              <p:nvPr>
                <p:ph type="body" sz="quarter" idx="9" hasCustomPrompt="1"/>
              </p:nvPr>
            </p:nvSpPr>
            <p:spPr>
              <a:prstGeom prst="rect">
                <a:avLst/>
              </a:prstGeom>
            </p:spPr>
            <p:txBody>
              <a:bodyPr wrap="square" lIns="91440" tIns="45720" rIns="91440" bIns="45720" anchor="t">
                <a:normAutofit fontScale="90000"/>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 de calcul effective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G</m:t>
                        </m:r>
                      </m:e>
                      <m:sub>
                        <m:r>
                          <a:rPr lang="en-US" i="1">
                            <a:latin typeface="Cambria Math" panose="02040503050406030204" pitchFamily="18" charset="0"/>
                          </a:rPr>
                          <m:t>𝑖</m:t>
                        </m:r>
                      </m:sub>
                    </m:sSub>
                  </m:oMath>
                </a14:m>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 </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𝑗</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𝑗</m:t>
                            </m:r>
                          </m:sub>
                        </m:sSub>
                      </m:e>
                    </m:d>
                  </m:oMath>
                </a14:m>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où</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𝑖</m:t>
                        </m:r>
                      </m:sub>
                    </m:sSub>
                  </m:oMath>
                </a14:m>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GPU</a:t>
                </a:r>
                <a:r>
                  <a:rPr lang="en-US" sz="2000"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puissance de calcul</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sub>
                    </m:sSub>
                  </m:oMath>
                </a14:m>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variable d'affectation binaire</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𝜌</m:t>
                        </m:r>
                      </m:e>
                      <m:sub>
                        <m:r>
                          <a:rPr lang="en-US" sz="2000" i="1">
                            <a:latin typeface="Cambria Math" panose="02040503050406030204" pitchFamily="18" charset="0"/>
                          </a:rPr>
                          <m:t>𝑗</m:t>
                        </m:r>
                      </m:sub>
                    </m:sSub>
                  </m:oMath>
                </a14:m>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PP</a:t>
                </a:r>
                <a:r>
                  <a:rPr lang="en-US" sz="2000"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taux de bulles).</a:t>
                </a:r>
                <a:endParaRPr lang="en-US" sz="2000"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maximiser pour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les retardataires lors des synchronisations globales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par la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GPU et par le co</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communication TP.</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Méthode de résolution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solveur de programmation lin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aire en nombres entiers (ILP) calcule, avant l’entra</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les proportions optimales de DP/TP/PP.</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mc:Choice>
        <mc:Fallback>
          <p:sp>
            <p:nvSpPr>
              <p:cNvPr id="5" name="AutoShape 5"/>
              <p:cNvSpPr>
                <a:spLocks noRot="1" noChangeAspect="1" noMove="1" noResize="1" noEditPoints="1" noAdjustHandles="1" noChangeArrowheads="1" noChangeShapeType="1" noTextEdit="1"/>
              </p:cNvSpPr>
              <p:nvPr>
                <p:ph type="body" sz="quarter" idx="9" hasCustomPrompt="1"/>
              </p:nvPr>
            </p:nvSpPr>
            <p:spPr>
              <a:prstGeom prst="rect">
                <a:avLst/>
              </a:prstGeom>
              <a:blipFill rotWithShape="1">
                <a:blip r:embed="rId1"/>
                <a:stretch>
                  <a:fillRect l="-6" b="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85" b="0" i="0" u="none" strike="noStrike">
                <a:solidFill>
                  <a:srgbClr val="262626"/>
                </a:solidFill>
                <a:latin typeface="Calibri" panose="020F0502020204030204"/>
                <a:ea typeface="Calibri" panose="020F0502020204030204"/>
                <a:cs typeface="Calibri" panose="020F0502020204030204"/>
                <a:sym typeface="Calibri" panose="020F0502020204030204"/>
              </a:rPr>
              <a:t>Extension aux parall</a:t>
            </a:r>
            <a:r>
              <a:rPr lang="en-US" altLang="en-US" sz="258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585" b="0" i="0" u="none" strike="noStrike">
                <a:solidFill>
                  <a:srgbClr val="262626"/>
                </a:solidFill>
                <a:latin typeface="Calibri" panose="020F0502020204030204"/>
                <a:ea typeface="Calibri" panose="020F0502020204030204"/>
                <a:cs typeface="Calibri" panose="020F0502020204030204"/>
                <a:sym typeface="Calibri" panose="020F0502020204030204"/>
              </a:rPr>
              <a:t>lismes à quatre et cinq dimensions : </a:t>
            </a:r>
            <a:endParaRPr lang="en-US" altLang="zh-CN" sz="2585" b="0" i="0" u="none" strike="noStrike">
              <a:solidFill>
                <a:srgbClr val="26262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altLang="zh-CN" sz="2585" b="0" i="0" u="none" strike="noStrike">
                <a:solidFill>
                  <a:srgbClr val="262626"/>
                </a:solidFill>
                <a:latin typeface="Calibri" panose="020F0502020204030204"/>
                <a:ea typeface="Calibri" panose="020F0502020204030204"/>
                <a:cs typeface="Calibri" panose="020F0502020204030204"/>
                <a:sym typeface="Calibri" panose="020F0502020204030204"/>
              </a:rPr>
              <a:t>CP et EP</a:t>
            </a:r>
            <a:endParaRPr lang="en-US" altLang="zh-CN" sz="25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093585" cy="4771390"/>
          </a:xfrm>
          <a:prstGeom prst="rect">
            <a:avLst/>
          </a:prstGeom>
        </p:spPr>
        <p:txBody>
          <a:bodyPr wrap="square" lIns="91440" tIns="45720" rIns="91440" bIns="45720" anchor="t">
            <a:normAutofit lnSpcReduction="20000"/>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Facteurs catalytiques</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séquences ultra-longues et les modèles à mélange d'experts (</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MoE</a:t>
            </a:r>
            <a:r>
              <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ont dépassé les limites du parallélisme tridimensionnel.</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contexte (</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CP</a:t>
            </a: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distribution des tokens sur chaque GPU, </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change de l'</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KV par protocole en anneau pour </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les d</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passements m</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(OOM)</a:t>
            </a:r>
            <a:r>
              <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d'experts (</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EP</a:t>
            </a: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 du routage All-to-All pour distribuer dynamiquement les tokens vers chaque expert MoE.</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Formule à cinq dimensions</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 Total GPU = TP x CP x EP x PP x DP</a:t>
            </a:r>
            <a:endPar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Résultats</a:t>
            </a:r>
            <a:r>
              <a:rPr lang="en-US" sz="20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surpasse tous les goulots d'</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(poids denses, d</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par lot, contextes ultra-longs, calculs </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pars)</a:t>
            </a:r>
            <a:r>
              <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633252" y="1441174"/>
            <a:ext cx="4356652" cy="435665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Surmonter les goulots d’</a:t>
            </a:r>
            <a:r>
              <a:rPr lang="en-US" altLang="en-US"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tranglement de l’int</a:t>
            </a:r>
            <a:r>
              <a:rPr lang="en-US" altLang="en-US"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gration </a:t>
            </a:r>
            <a:endPar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 ZeRO et du pipeline</a:t>
            </a:r>
            <a:endParaRPr lang="en-US" altLang="zh-CN" sz="22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Source du conflit</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a:solidFill>
                  <a:srgbClr val="404040"/>
                </a:solidFill>
                <a:latin typeface="Calibri" panose="020F0502020204030204"/>
                <a:ea typeface="Calibri" panose="020F0502020204030204"/>
                <a:cs typeface="Calibri" panose="020F0502020204030204"/>
                <a:sym typeface="Calibri" panose="020F0502020204030204"/>
              </a:rPr>
              <a:t>L'acquisition dynamique de paramètres de</a:t>
            </a:r>
            <a:r>
              <a:rPr lang="en-US" b="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ZeRO-3</a:t>
            </a:r>
            <a:r>
              <a:rPr lang="en-US" b="0">
                <a:solidFill>
                  <a:srgbClr val="404040"/>
                </a:solidFill>
                <a:latin typeface="Calibri" panose="020F0502020204030204"/>
                <a:ea typeface="Calibri" panose="020F0502020204030204"/>
                <a:cs typeface="Calibri" panose="020F0502020204030204"/>
                <a:sym typeface="Calibri" panose="020F0502020204030204"/>
              </a:rPr>
              <a:t>par</a:t>
            </a:r>
            <a:r>
              <a:rPr lang="en-US" b="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All-Gather</a:t>
            </a:r>
            <a:r>
              <a:rPr lang="en-US" b="0">
                <a:solidFill>
                  <a:srgbClr val="404040"/>
                </a:solidFill>
                <a:latin typeface="Calibri" panose="020F0502020204030204"/>
                <a:ea typeface="Calibri" panose="020F0502020204030204"/>
                <a:cs typeface="Calibri" panose="020F0502020204030204"/>
                <a:sym typeface="Calibri" panose="020F0502020204030204"/>
              </a:rPr>
              <a:t>entre en conflit avec les commutations fréquentes de micro-lots du</a:t>
            </a:r>
            <a:r>
              <a:rPr lang="en-US" b="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PP.</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Manifestation du problème</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Provoque une temp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de communications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param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Solution</a:t>
            </a: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ZeroPP</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d'un ordonnancement PP entrelac</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blocs de 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 de lib</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les poids, 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par lots les micro-calculs par couche,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consid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les appels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tout en maintenant l'efficacit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Transition vers un paradigme de </a:t>
            </a:r>
            <a:endPar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lisme de mod</a:t>
            </a:r>
            <a:r>
              <a:rPr lang="en-US" altLang="en-US"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automatique</a:t>
            </a:r>
            <a:endParaRPr lang="en-US" altLang="zh-CN" sz="25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Fragilité du parallélisme manuel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primitives de communication cod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en dur (comme All-Reduce)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chouent lors de la migration vers de nouvelles architectures ou du 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asym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trique.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automatique des modèles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AMP</a:t>
            </a: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de la logique distribu</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comme un probl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d'optimisation du compilateur.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 du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neuronal comme un graphe orient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acyclique de calcul (DAG), le 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comme un graphe de topologie, recherche automatique de la strat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de partitionnement optimale.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Impact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chercheurs en IA 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crivent que du code mono-p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 le compilateur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automatiquement des plans 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à n dimensions.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finition de l’espace de recherche : cadre SOAP</a:t>
            </a:r>
            <a:endParaRPr lang="en-US" altLang="zh-CN"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https://arxiv.org/pdf/1807.05358</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39145" cy="5054600"/>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825" b="1" i="0" u="none" strike="noStrike">
                <a:solidFill>
                  <a:srgbClr val="404040"/>
                </a:solidFill>
                <a:latin typeface="Calibri" panose="020F0502020204030204"/>
                <a:ea typeface="Calibri" panose="020F0502020204030204"/>
                <a:cs typeface="Calibri" panose="020F0502020204030204"/>
                <a:sym typeface="Calibri" panose="020F0502020204030204"/>
              </a:rPr>
              <a:t>Dimensions SOAP de FlexFlow</a:t>
            </a:r>
            <a:r>
              <a:rPr lang="en-US" sz="1825" b="1"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Échantillon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Sample</a:t>
            </a: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donn</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(DP) (partition par lot)</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Operation</a:t>
            </a: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pipeline (PP) (allocation de n</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du graphe de calcul)</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Attribut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Attribute</a:t>
            </a: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contexte (CP) (partition de s</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quence / caract</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ristiques d'image)</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Parameter</a:t>
            </a:r>
            <a:r>
              <a:rPr lang="en-US" sz="15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2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tenseurs (TP) (partition des matrices de poids)</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2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Moteur de recherche </a:t>
            </a:r>
            <a:r>
              <a:rPr lang="en-US" sz="182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 de la m</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thode de Monte-Carlo par cha</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 de Markov (MCMC) pour explorer le vaste espace de configuration</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2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Simulateur prédictif </a:t>
            </a:r>
            <a:r>
              <a:rPr lang="en-US" sz="182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dit les performances d'une strat</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en millisecondes (plutôt qu'en heures), d</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couvrant des solutions non intuitives 3,3 fois plus rapides que le r</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glage manuel</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63020" y="1500257"/>
            <a:ext cx="4538454" cy="421657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Recherche hi</a:t>
            </a:r>
            <a:r>
              <a:rPr lang="en-US" altLang="en-US" sz="30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rarchique dans l’espace dans Alpa</a:t>
            </a:r>
            <a:endParaRPr lang="en-US" altLang="zh-CN" sz="30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https://arxiv.org/pdf/2201.12023</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27750" cy="5054600"/>
          </a:xfrm>
          <a:prstGeom prst="rect">
            <a:avLst/>
          </a:prstGeom>
        </p:spPr>
        <p:txBody>
          <a:bodyPr wrap="square" lIns="91440" tIns="45720" rIns="91440" bIns="45720" anchor="t">
            <a:norm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40" b="1" i="0" u="none" strike="noStrike">
                <a:solidFill>
                  <a:srgbClr val="404040"/>
                </a:solidFill>
                <a:latin typeface="Calibri" panose="020F0502020204030204"/>
                <a:ea typeface="Calibri" panose="020F0502020204030204"/>
                <a:cs typeface="Calibri" panose="020F0502020204030204"/>
                <a:sym typeface="Calibri" panose="020F0502020204030204"/>
              </a:rPr>
              <a:t>Probl</a:t>
            </a:r>
            <a:r>
              <a:rPr lang="en-US" alt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40" b="1" i="0" u="none" strike="noStrike">
                <a:solidFill>
                  <a:srgbClr val="404040"/>
                </a:solidFill>
                <a:latin typeface="Calibri" panose="020F0502020204030204"/>
                <a:ea typeface="Calibri" panose="020F0502020204030204"/>
                <a:cs typeface="Calibri" panose="020F0502020204030204"/>
                <a:sym typeface="Calibri" panose="020F0502020204030204"/>
              </a:rPr>
              <a:t>me d'</a:t>
            </a:r>
            <a:r>
              <a:rPr lang="en-US" alt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40" b="1" i="0" u="none" strike="noStrike">
                <a:solidFill>
                  <a:srgbClr val="404040"/>
                </a:solidFill>
                <a:latin typeface="Calibri" panose="020F0502020204030204"/>
                <a:ea typeface="Calibri" panose="020F0502020204030204"/>
                <a:cs typeface="Calibri" panose="020F0502020204030204"/>
                <a:sym typeface="Calibri" panose="020F0502020204030204"/>
              </a:rPr>
              <a:t>volutivit</a:t>
            </a:r>
            <a:r>
              <a:rPr lang="en-US" alt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é </a:t>
            </a:r>
            <a:r>
              <a:rPr 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recherche MCMC plate </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choue à l'</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de 1000 milliards de param</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en raison de la complexit</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exponentielle.</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40" b="1" i="0" u="none" strike="noStrike">
                <a:solidFill>
                  <a:srgbClr val="404040"/>
                </a:solidFill>
                <a:latin typeface="Calibri" panose="020F0502020204030204"/>
                <a:ea typeface="Calibri" panose="020F0502020204030204"/>
                <a:cs typeface="Calibri" panose="020F0502020204030204"/>
                <a:sym typeface="Calibri" panose="020F0502020204030204"/>
              </a:rPr>
              <a:t>Design hi</a:t>
            </a:r>
            <a:r>
              <a:rPr lang="en-US" alt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40" b="1" i="0" u="none" strike="noStrike">
                <a:solidFill>
                  <a:srgbClr val="404040"/>
                </a:solidFill>
                <a:latin typeface="Calibri" panose="020F0502020204030204"/>
                <a:ea typeface="Calibri" panose="020F0502020204030204"/>
                <a:cs typeface="Calibri" panose="020F0502020204030204"/>
                <a:sym typeface="Calibri" panose="020F0502020204030204"/>
              </a:rPr>
              <a:t>rarchique d'Alpa </a:t>
            </a:r>
            <a:r>
              <a:rPr 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Restructuration du processus de recherche pour refl</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 la hi</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de bande passante des centres de donn</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physiques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a:t>
            </a:r>
            <a:r>
              <a:rPr lang="en-US" sz="1535" b="1"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153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(intra-opérateur) </a:t>
            </a:r>
            <a:r>
              <a:rPr lang="en-US" sz="1535"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ILP dans les "grilles de p</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riques" (intra-n</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à haute bande passante pour l'allocation TP/DP</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a:t>
            </a:r>
            <a:r>
              <a:rPr lang="en-US" sz="1535" b="1"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53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(inter-opérateur) </a:t>
            </a:r>
            <a:r>
              <a:rPr lang="en-US" sz="153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Programmation dynamique pour la segmentation en </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 PP entre grilles distantes (inter-n</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Résultats </a:t>
            </a:r>
            <a:r>
              <a:rPr lang="en-US" sz="184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Surpasse les syst</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 manuels professionnels (comme DeepSpeed), avec des am</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liorations de performance allant jusqu'à 9,7 fois sur les mod</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MoE complexes</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674526" y="1993125"/>
            <a:ext cx="5355020" cy="350265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28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lisation SPMD par compilateur (GSPMD)</a:t>
            </a:r>
            <a:endParaRPr lang="en-US" altLang="zh-CN" sz="28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https://arxiv.org/abs/2105.04663</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554980" cy="4849495"/>
          </a:xfrm>
          <a:prstGeom prst="rect">
            <a:avLst/>
          </a:prstGeom>
        </p:spPr>
        <p:txBody>
          <a:bodyPr wrap="square" lIns="91440" tIns="45720" rIns="91440" bIns="45720" anchor="t">
            <a:normAutofit lnSpcReduction="20000"/>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Paradigme </a:t>
            </a:r>
            <a:r>
              <a:rPr lang="en-US" sz="18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SPMD </a:t>
            </a: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essentiel pour l'</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volutivit</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compiler un programme ind</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pour chaque GPU est catastrophique en termes de calcul.</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Abstraction </a:t>
            </a:r>
            <a:r>
              <a:rPr lang="en-US" sz="18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API </a:t>
            </a: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veloppeurs </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crivent du code JAX/TF mono-p</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avec des annotations NamedSharding </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parses.</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Propagation de complétion </a:t>
            </a:r>
            <a:r>
              <a:rPr lang="en-US" sz="18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XLA </a:t>
            </a: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GSPMD propage les annotations utilisateur en avant et en arri</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dans le graphe de calcul</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6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Inférence automatique</a:t>
            </a:r>
            <a:r>
              <a:rPr lang="en-US" sz="186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l'algorithme d</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automatiquement la strat</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de partitionnement optimale pour tous les tenseurs interm</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non annot</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atteignant un taux d'utilisation de 62 % sur 2048 c</a:t>
            </a:r>
            <a:r>
              <a:rPr lang="en-US" alt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urs TPU</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096000" y="1453832"/>
            <a:ext cx="5947410" cy="35543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conjointe de l’alg</a:t>
            </a:r>
            <a:r>
              <a:rPr lang="en-US" altLang="en-US"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bre et du parall</a:t>
            </a:r>
            <a:r>
              <a:rPr lang="en-US" altLang="en-US"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lisme (Unity)</a:t>
            </a:r>
            <a:endParaRPr lang="en-US" altLang="zh-CN"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https://www.usenix.org/system/files/osdi22-unger.pdf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60796" cy="5172710"/>
          </a:xfrm>
          <a:prstGeom prst="rect">
            <a:avLst/>
          </a:prstGeom>
        </p:spPr>
        <p:txBody>
          <a:bodyPr wrap="square" lIns="91440" tIns="45720" rIns="91440" bIns="45720" anchor="t">
            <a:normAutofit lnSpcReduction="20000"/>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Défaut du traitement séquentiel</a:t>
            </a:r>
            <a:r>
              <a:rPr lang="en-US" sz="21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compilateurs standard effectuent la fusion d'op</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avant la parall</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lisation, ce qui peut exclure des strat</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de communication r</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efficaces.</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00" b="1" i="0" u="none" strike="noStrike">
                <a:solidFill>
                  <a:srgbClr val="404040"/>
                </a:solidFill>
                <a:latin typeface="Calibri" panose="020F0502020204030204"/>
                <a:ea typeface="Calibri" panose="020F0502020204030204"/>
                <a:cs typeface="Calibri" panose="020F0502020204030204"/>
                <a:sym typeface="Calibri" panose="020F0502020204030204"/>
              </a:rPr>
              <a:t>L'innovation d'Unity </a:t>
            </a:r>
            <a:r>
              <a:rPr lang="en-US" sz="21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conjointe de la fusion alg</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brique et des strat</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de parall</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lisation via la r</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de graphes math</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 contre-intuitive </a:t>
            </a:r>
            <a:r>
              <a:rPr lang="en-US" sz="21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Unity peut choisir de d</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fusionner s</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lectivement des op</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pour r</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des modes de communication plus rapides.</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Performance </a:t>
            </a:r>
            <a:r>
              <a:rPr lang="en-US" sz="21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aux frameworks distribu</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s</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quentiels traditionnels, acc</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du d</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allant jusqu'à 3,6 fois.</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884671" y="2017252"/>
            <a:ext cx="5105400" cy="34544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20" b="0" i="0" u="none" strike="noStrike">
                <a:solidFill>
                  <a:srgbClr val="262626"/>
                </a:solidFill>
                <a:latin typeface="Calibri" panose="020F0502020204030204"/>
                <a:ea typeface="Calibri" panose="020F0502020204030204"/>
                <a:cs typeface="Calibri" panose="020F0502020204030204"/>
                <a:sym typeface="Calibri" panose="020F0502020204030204"/>
              </a:rPr>
              <a:t>Recherche hybride syst</a:t>
            </a:r>
            <a:r>
              <a:rPr lang="en-US" altLang="en-US" sz="262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2620" b="0" i="0" u="none" strike="noStrike">
                <a:solidFill>
                  <a:srgbClr val="262626"/>
                </a:solidFill>
                <a:latin typeface="Calibri" panose="020F0502020204030204"/>
                <a:ea typeface="Calibri" panose="020F0502020204030204"/>
                <a:cs typeface="Calibri" panose="020F0502020204030204"/>
                <a:sym typeface="Calibri" panose="020F0502020204030204"/>
              </a:rPr>
              <a:t>me (Galvatron)</a:t>
            </a:r>
            <a:endParaRPr lang="en-US" altLang="zh-CN" sz="262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Orienté production</a:t>
            </a:r>
            <a:r>
              <a:rPr lang="en-US" sz="192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Orient</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production : con</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 sp</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cifiquement pour les architectures Transformer à grande </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int</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grant explicitement l'activation checkpointing et le d</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chargement ZeRO.</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de travail en deux étapes</a:t>
            </a:r>
            <a:r>
              <a:rPr lang="en-US" sz="1920" b="1"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Arbre de décision</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un budget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strict,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laguer les strat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math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matiquement non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alisables.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Programmation dynamique</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allouer couche par couche la strat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de parall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optimale.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2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Modélisation précise des coûts</a:t>
            </a:r>
            <a:r>
              <a:rPr lang="en-US" sz="192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prise en compte sp</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de la d</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gradation des performances GPU due au recouvrement entre calcul et communication.</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415839" y="4505325"/>
          <a:ext cx="9313072" cy="1598692"/>
        </p:xfrm>
        <a:graphic>
          <a:graphicData uri="http://schemas.openxmlformats.org/drawingml/2006/table">
            <a:tbl>
              <a:tblPr>
                <a:effectLst/>
              </a:tblPr>
              <a:tblGrid>
                <a:gridCol w="2328268"/>
                <a:gridCol w="2328268"/>
                <a:gridCol w="2328268"/>
                <a:gridCol w="2328268"/>
              </a:tblGrid>
              <a:tr h="370840">
                <a:tc>
                  <a:txBody>
                    <a:bodyPr rtlCol="0"/>
                    <a:lstStyle/>
                    <a:p>
                      <a:r>
                        <a:t>Caractéristique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FlexFlow</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Alpa</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Galvatron</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486172">
                <a:tc>
                  <a:txBody>
                    <a:bodyPr rtlCol="0"/>
                    <a:lstStyle/>
                    <a:p>
                      <a:r>
                        <a:t>Espace de recherche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MCMC (SOAP)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ILP + Dynamic Programming</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Decision Tree + DP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r>
                        <a:t>Granularité</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Niveau opérateur</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Intra vs Inter-opérateur</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Allocation par couche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rtlCol="0"/>
                    <a:lstStyle/>
                    <a:p>
                      <a:r>
                        <a:t>Méthode d'optimisation</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Partition tensoriel multidimensionnel</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Hiérarchie de bande passante</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Intégration de checkpoint</a:t>
                      </a:r>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Futur des frameworks d’entra</a:t>
            </a:r>
            <a:r>
              <a:rPr lang="en-US" alt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nement distribu</a:t>
            </a:r>
            <a:r>
              <a:rPr lang="en-US" alt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Trajectoire de développement</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Passage de l'ingénierie manuelle impérative à la compilation déclarative et entièrement automatique.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 avancé</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passement des limitations centr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sur les LLM (par exemple, FlexPipe pour le parall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pipeline programmable, Pfeife pour les mod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non 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Entraînement hétérogène</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L'orchestrateur s'adaptera dynamiquement aux clusters avec des configurations de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bande passante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passante asymétriques.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ultime</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Virtualisation du 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pour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mocratiser l'IA à mille milliards de param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rendant l'entra</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à 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grande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à l'emploi.</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34</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Tolérance aux pannes et </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Contenu principal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Réalité des pannes dans l'entraînement à grande échelle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Types de pannes et analyse de leur impact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Système de tolérance aux pannes basé sur les checkpoints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Détection d'anomalies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Checkpoints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Checkpoints dans l'entraînement distribué</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Checkpoints synchrones/asynchrones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 de checkpoint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du stockage des checkpoints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Cas industriels de pointe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Robust LLM Training Infrastructure at ByteDance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5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Contexte : </a:t>
            </a:r>
            <a:endPar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alit</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des pannes dans l’entra</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nement à grande </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chelle.</a:t>
            </a:r>
            <a:endPar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015980" cy="2646680"/>
          </a:xfrm>
          <a:prstGeom prst="rect">
            <a:avLst/>
          </a:prstGeom>
        </p:spPr>
        <p:txBody>
          <a:bodyPr wrap="square" lIns="91440" tIns="45720" rIns="91440" bIns="45720" anchor="t">
            <a:noAutofit/>
          </a:bodyPr>
          <a:lstStyle>
            <a:lvl1pPr algn="l">
              <a:lnSpc>
                <a:spcPct val="100000"/>
              </a:lnSpc>
              <a:defRPr sz="2400" b="1" i="0" u="none" strike="noStrike" spc="0">
                <a:solidFill>
                  <a:srgbClr val="000000">
                    <a:alpha val="100000"/>
                  </a:srgbClr>
                </a:solidFill>
                <a:latin typeface="Noto Sans SC" panose="020B0200000000000000" charset="-122"/>
              </a:defRPr>
            </a:lvl1pPr>
          </a:lstStyle>
          <a:p>
            <a:pPr marL="304800" indent="-304800" algn="l">
              <a:lnSpc>
                <a:spcPct val="100000"/>
              </a:lnSpc>
              <a:spcBef>
                <a:spcPts val="1500"/>
              </a:spcBef>
              <a:buClr>
                <a:srgbClr val="000000"/>
              </a:buClr>
              <a:buChar cha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 taux de panne </a:t>
            </a:r>
            <a:r>
              <a:rPr lang="en-US" altLang="zh-CN"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cro</a:t>
            </a:r>
            <a:r>
              <a:rPr lang="en-US" alt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 </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exponentiellement avec la taille du cluster</a:t>
            </a:r>
            <a:endPar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596900" lvl="1" indent="-254000" algn="l">
              <a:lnSpc>
                <a:spcPct val="100000"/>
              </a:lnSpc>
              <a:spcBef>
                <a:spcPts val="750"/>
              </a:spcBef>
              <a:buClr>
                <a:srgbClr val="000000"/>
              </a:buClr>
              <a:buChar char="•"/>
            </a:pPr>
            <a:r>
              <a:rPr lang="en-US" sz="1600" b="1" i="0" u="none" strike="noStrike">
                <a:solidFill>
                  <a:srgbClr val="000000"/>
                </a:solidFill>
                <a:latin typeface="Calibri" panose="020F0502020204030204"/>
                <a:ea typeface="Calibri" panose="020F0502020204030204"/>
                <a:cs typeface="Calibri" panose="020F0502020204030204"/>
                <a:sym typeface="Calibri" panose="020F0502020204030204"/>
              </a:rPr>
              <a:t>Mean Time Between Failures (MTBF)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est un indicateur </a:t>
            </a:r>
            <a:r>
              <a:rPr lang="en-US" altLang="zh-CN"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cl</a:t>
            </a:r>
            <a:r>
              <a:rPr lang="en-US" alt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 la </a:t>
            </a:r>
            <a:r>
              <a:rPr lang="en-US" altLang="zh-CN"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fiabilit</a:t>
            </a:r>
            <a:r>
              <a:rPr lang="en-US" alt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du cluster</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000000"/>
              </a:buClr>
              <a:buChar char="•"/>
            </a:pP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Avec plus de GPU, la probabilit</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de succ</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 d</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cro</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 exponentiellement.</a:t>
            </a:r>
            <a:endPar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596900" lvl="1" indent="-254000" algn="l">
              <a:lnSpc>
                <a:spcPct val="100000"/>
              </a:lnSpc>
              <a:spcBef>
                <a:spcPts val="750"/>
              </a:spcBef>
              <a:buClr>
                <a:srgbClr val="000000"/>
              </a:buClr>
              <a:buChar char="•"/>
            </a:pP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Si p est la probabilit</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de panne, la stabilit</a:t>
            </a:r>
            <a:r>
              <a:rPr lang="en-US" alt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du cluster est (1-p)^N.</a:t>
            </a:r>
            <a:endPar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Cluster de 1000 cartes (p=0,001) </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 Taux de r</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ussite ≈ 36 %</a:t>
            </a:r>
            <a:endPar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Cluster de 10 000 cartes (p=0,001) </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 Taux de r</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ussite ≈ 0,0045 %</a:t>
            </a:r>
            <a:endPar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Cluster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MTBF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43200" lvl="8" indent="0" algn="l">
              <a:lnSpc>
                <a:spcPct val="100000"/>
              </a:lnSpc>
              <a:spcBef>
                <a:spcPts val="750"/>
              </a:spcBef>
            </a:pPr>
            <a:r>
              <a:rPr lang="en-US" sz="2000" b="0" i="0" u="none" strike="noStrike">
                <a:solidFill>
                  <a:srgbClr val="404040"/>
                </a:solidFill>
                <a:latin typeface="Calibri" panose="020F0502020204030204"/>
                <a:ea typeface="Arial" panose="020B0604020202020204"/>
                <a:cs typeface="Arial" panose="020B0604020202020204"/>
                <a:sym typeface="Arial" panose="020B0604020202020204"/>
              </a:rPr>
              <a:t> </a:t>
            </a:r>
            <a:endParaRPr lang="en-US" sz="2000" b="0" i="0" u="none" strike="noStrike">
              <a:solidFill>
                <a:srgbClr val="404040"/>
              </a:solidFill>
              <a:latin typeface="Calibri" panose="020F0502020204030204"/>
              <a:ea typeface="Arial" panose="020B0604020202020204"/>
              <a:cs typeface="Arial" panose="020B0604020202020204"/>
              <a:sym typeface="Arial" panose="020B0604020202020204"/>
            </a:endParaRPr>
          </a:p>
        </p:txBody>
      </p:sp>
      <p:sp>
        <p:nvSpPr>
          <p:cNvPr id="6" name="AutoShape 6"/>
          <p:cNvSpPr/>
          <p:nvPr/>
        </p:nvSpPr>
        <p:spPr>
          <a:xfrm>
            <a:off x="7607860" y="4172733"/>
            <a:ext cx="4280950" cy="25667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3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Taille vs Probabilite sans panne</a:t>
            </a:r>
            <a:endParaRPr lang="en-US" sz="1100"/>
          </a:p>
        </p:txBody>
      </p:sp>
      <p:pic>
        <p:nvPicPr>
          <p:cNvPr id="7" name="Picture 7"/>
          <p:cNvPicPr>
            <a:picLocks noChangeAspect="1"/>
          </p:cNvPicPr>
          <p:nvPr/>
        </p:nvPicPr>
        <p:blipFill>
          <a:blip r:embed="rId1"/>
          <a:srcRect t="10108" b="13"/>
          <a:stretch>
            <a:fillRect/>
          </a:stretch>
        </p:blipFill>
        <p:spPr>
          <a:xfrm>
            <a:off x="7686040" y="4474845"/>
            <a:ext cx="4055745" cy="1835785"/>
          </a:xfrm>
          <a:prstGeom prst="roundRect">
            <a:avLst>
              <a:gd name="adj" fmla="val 45215"/>
            </a:avLst>
          </a:prstGeom>
          <a:ln w="12700">
            <a:noFill/>
            <a:prstDash val="solid"/>
          </a:ln>
        </p:spPr>
      </p:pic>
      <p:graphicFrame>
        <p:nvGraphicFramePr>
          <p:cNvPr id="8" name="Table 8"/>
          <p:cNvGraphicFramePr>
            <a:graphicFrameLocks noGrp="1"/>
          </p:cNvGraphicFramePr>
          <p:nvPr>
            <p:custDataLst>
              <p:tags r:id="rId2"/>
            </p:custDataLst>
          </p:nvPr>
        </p:nvGraphicFramePr>
        <p:xfrm>
          <a:off x="942975" y="3870325"/>
          <a:ext cx="6743065" cy="2284095"/>
        </p:xfrm>
        <a:graphic>
          <a:graphicData uri="http://schemas.openxmlformats.org/drawingml/2006/table">
            <a:tbl>
              <a:tblPr>
                <a:effectLst/>
              </a:tblPr>
              <a:tblGrid>
                <a:gridCol w="1980565"/>
                <a:gridCol w="1793240"/>
                <a:gridCol w="2969260"/>
              </a:tblGrid>
              <a:tr h="308610">
                <a:tc>
                  <a:txBody>
                    <a:bodyPr rtlCol="0"/>
                    <a:lstStyle/>
                    <a:p>
                      <a:r>
                        <a:t>Échelle du cluster</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defRPr/>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MTBF</a:t>
                      </a:r>
                      <a:endPar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Source des données</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56235">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1,024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7,9-25,8 heures</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Analyse du cluster Google Borg</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50545">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1,440+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2,67 heures</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Rapport de déploiement du cluster GPU Microsoft</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531495">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16,384 GPUs (Llama 3)</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1,8-3 heures</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r>
                        <a:t>Statistiques réelles d'entraînement Llama 3</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37210">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131,072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14 minutes</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r>
                        <a:t>Étude de cluster à grande échelle Google</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Contexte : </a:t>
            </a:r>
            <a:endPar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alit</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des pannes dans l’entra</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nement à grande </a:t>
            </a:r>
            <a:r>
              <a:rPr lang="en-US" altLang="en-US"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chelle.</a:t>
            </a:r>
            <a:endParaRPr lang="en-US" altLang="zh-CN" sz="255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65" b="0" i="0" u="none" strike="noStrike">
                <a:solidFill>
                  <a:srgbClr val="A5A5A5"/>
                </a:solidFill>
                <a:latin typeface="Calibri" panose="020F0502020204030204"/>
                <a:ea typeface="Garamond" panose="02020404030301010803"/>
                <a:cs typeface="Garamond" panose="02020404030301010803"/>
                <a:sym typeface="Garamond" panose="02020404030301010803"/>
              </a:rPr>
              <a:t>Duan J, Zhang S, Wang Z, et al. Efficient training of large language models on distributed infrastructures: a survey[J]. arXiv preprint arXiv:2407.20018, 2024.</a:t>
            </a:r>
            <a:endParaRPr lang="en-US" sz="116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des causes de panne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syst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 Le syst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contient une vaste biblioth</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de composants, et la fragilit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n’importe quel maillon est amplifi</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prolong</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L’entra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des mod</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dure souvent plusieurs mois, ce qui augmente la fen</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de probabilit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d’occurrence des pannes.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action en cha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de l’entra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synchrone : Dans le mode d’entra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synchrone, une erreur sur un seul n</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provoque l’effondrement de l’ensemble du travail d’entra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Le syst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est extr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sensible aux pannes locales</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Cas reels</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Meta OPT-175B (992 A100) :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de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40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incidents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2 semaines.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Acme (1000+ A100) : </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panne survient en moyenne tous les 1 à 2 jours</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ByteDance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MegaScale (12,288 GPU):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de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100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incidents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pannes.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Impact economique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Perte de temps : 10 à 30 minutes par 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cup</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Les interruptions fr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quentes ralentissent gravement la progression</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Gaspillage : dizaines de milliers de dollars/heure.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 la reprise depuis le dernier point de contrôle n</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de recalculer les it</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non sauvegard</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66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6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 : analyse des types de pannes et de leur impact.</a:t>
            </a:r>
            <a:endParaRPr lang="en-US" altLang="zh-CN" sz="28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rPr>
              <a:t>https://www.datacenterdynamics.com/en/news/meta-report-details-hundreds-of-gpu-and-hbm3-related-interruptions-to-llama-3-training-run/</a:t>
            </a:r>
            <a:endPar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11062970" cy="4853305"/>
          </a:xfrm>
          <a:prstGeom prst="rect">
            <a:avLst/>
          </a:prstGeom>
        </p:spPr>
        <p:txBody>
          <a:bodyPr wrap="square" lIns="91440" tIns="45720" rIns="91440" bIns="45720" anchor="t">
            <a:normAutofit fontScale="90000" lnSpcReduction="2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Rapport d’entra</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de Meta Llama 3 405B</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54 jours, 16 384 GPU H100, 419 interruptions (toutes les 3 heures</a:t>
            </a:r>
            <a:r>
              <a:rPr lang="en-US" sz="20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br>
              <a:rPr lang="en-US" sz="2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br>
            <a:endParaRPr lang="en-US" sz="2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Materiel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58.7%</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 / NVLink (30,1 %) : 148 pannes dues à l’interconnexion à grande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HBM3 (17,2 %) : 72 pannes dues à la contrainte thermique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une consommation de 700 W, provoquant une fatigue des semi-conducteurs.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SRAM et processeur (8,6 %) : 36 pannes, les circuits de 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cision de bas niveau tombent en panne sous forte charge.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Pannes CPU : seulement 2 (contraste frappant, montrant que la stabilit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cluster GPU est bien inf</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à celle des clusters CPU traditionnels).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Reseau et infrastructure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(8.4%)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 cl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pannes des commutateurs et des c</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bles (35 incidents), impliquant les protocoles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RoCE/IB et les communications NCCL</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environnement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environ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33%)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Variables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incontrôlables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Logiciel</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Bug</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erreurs config, temperature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1-2%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(declenchant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protection thermique).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Syst</a:t>
            </a:r>
            <a:r>
              <a:rPr lang="en-US" alt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 tol</a:t>
            </a:r>
            <a:r>
              <a:rPr lang="en-US" alt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rant aux pannes bas</a:t>
            </a:r>
            <a:r>
              <a:rPr lang="en-US" altLang="en-US"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sur des points de contrôle (checkpoints)</a:t>
            </a:r>
            <a:endParaRPr lang="en-US" altLang="zh-CN" sz="2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1"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180" b="1"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tection </a:t>
            </a:r>
            <a:r>
              <a:rPr 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automatique</a:t>
            </a:r>
            <a:endParaRPr 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Surveillance en temps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 en secondes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2180" b="1"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cup</a:t>
            </a:r>
            <a:r>
              <a:rPr lang="en-US" alt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automatis</a:t>
            </a:r>
            <a:r>
              <a:rPr lang="en-US" alt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marrage automatique apr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panne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Transition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Chargement automatique du dernier checkpoint.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2180" b="1"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frameworks </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a:t>
            </a:r>
            <a:r>
              <a:rPr lang="en-US" alt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altLang="zh-CN"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DeepSpeed</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pannes.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PyTorch FSDP</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API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Checkpoint pour simplifier la sauvegarde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2180" b="1"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 pannes partielles</a:t>
            </a:r>
            <a:endParaRPr lang="en-US" sz="218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Mise à 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 Continuer avec les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restants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organisation : Maintenir l’efficacit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thodes de d</a:t>
            </a:r>
            <a:r>
              <a:rPr lang="en-US" altLang="en-US"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tection d'anomalies (Anomaly Detection)</a:t>
            </a:r>
            <a:endPar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92000"/>
              </a:lnSpc>
              <a:defRPr sz="1900" b="1" i="0" u="none" strike="noStrike" spc="0">
                <a:solidFill>
                  <a:srgbClr val="404040">
                    <a:alpha val="100000"/>
                  </a:srgbClr>
                </a:solidFill>
                <a:latin typeface="微软雅黑" panose="020B0503020204020204" charset="-122"/>
              </a:defRPr>
            </a:lvl1pPr>
          </a:lstStyle>
          <a:p>
            <a:pPr marL="241300" indent="-241300" algn="l">
              <a:lnSpc>
                <a:spcPct val="92000"/>
              </a:lnSpc>
              <a:spcBef>
                <a:spcPts val="1500"/>
              </a:spcBef>
              <a:buClr>
                <a:srgbClr val="404040"/>
              </a:buClr>
              <a:buChar char="•"/>
            </a:pP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Surveillance (Statistical Monitoring): r</a:t>
            </a:r>
            <a:r>
              <a:rPr lang="en-US" alt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ponse temps r</a:t>
            </a:r>
            <a:r>
              <a:rPr lang="en-US" alt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endPar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tection en secondes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Architecture : Adopter “Processus par carte + Heartbeat central (Heartbeat)”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(NVIDIA DCGM)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Surveiller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SM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saturation.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Surveiller Row-remapping pour anticiper la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gradation HBM3.</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Interconnexion : Suivi PCIe et NVLink</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Trafic : Surveiller le trafic RDMA, NCCL/TCP et les 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 bloqu</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(Hangs)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Diagnostic : Combiner Meta NCCLX et PyTorch Flight Recorder pour tracer les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41300" indent="-241300" algn="l">
              <a:lnSpc>
                <a:spcPct val="92000"/>
              </a:lnSpc>
              <a:spcBef>
                <a:spcPts val="1500"/>
              </a:spcBef>
              <a:buClr>
                <a:srgbClr val="404040"/>
              </a:buClr>
              <a:buChar char="•"/>
            </a:pP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proactive (Proactive Validation): v</a:t>
            </a:r>
            <a:r>
              <a:rPr lang="en-US" alt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pr</a:t>
            </a:r>
            <a:r>
              <a:rPr lang="en-US" alt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ventive</a:t>
            </a:r>
            <a:endParaRPr lang="en-US" sz="2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46100" lvl="1" indent="-203200" algn="l">
              <a:lnSpc>
                <a:spcPct val="92000"/>
              </a:lnSpc>
              <a:spcBef>
                <a:spcPts val="750"/>
              </a:spcBef>
              <a:buClr>
                <a:srgbClr val="404040"/>
              </a:buClr>
              <a:buChar char="•"/>
            </a:pP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liminer les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anormaux</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(Preflight) : V</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rifications avant lancement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hi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rarchique (Vela) : Tests 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riodiques et profonds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Outils : Adopter SuperBench pour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les composants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LLM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Entra</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nement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checkpoints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2000" b="1" i="0" u="none" strike="noStrike" spc="0">
                <a:solidFill>
                  <a:srgbClr val="404040">
                    <a:alpha val="100000"/>
                  </a:srgbClr>
                </a:solidFill>
                <a:latin typeface="微软雅黑" panose="020B0503020204020204" charset="-122"/>
              </a:defRPr>
            </a:lvl1pPr>
          </a:lstStyle>
          <a:p>
            <a:pPr marL="254000" indent="-254000" algn="l">
              <a:lnSpc>
                <a:spcPct val="83000"/>
              </a:lnSpc>
              <a:spcBef>
                <a:spcPts val="1500"/>
              </a:spcBef>
              <a:buClr>
                <a:srgbClr val="404040"/>
              </a:buClr>
              <a:buChar char="•"/>
            </a:pP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Checkpoint: pratique de sauvegarde periodique de l'etat d'entrainement</a:t>
            </a:r>
            <a:endPar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Composition : parametres, poids, optimizer, etapes</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83000"/>
              </a:lnSpc>
              <a:spcBef>
                <a:spcPts val="150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Importance des checkpoints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Resilience et tolerance aux pannes</a:t>
            </a:r>
            <a:r>
              <a:rPr lang="en-US" sz="1355" b="1"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355"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principale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pondre aux pannes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 instances spot (Spot Instance) ou pannes syst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marrage automatique à partir de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le plus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cent, minimisant ainsi la perte de temps de calcul et les co</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associ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Bifurcation </a:t>
            </a:r>
            <a:r>
              <a:rPr lang="en-US" altLang="zh-CN"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a:t>
            </a:r>
            <a:r>
              <a:rPr lang="en-US" alt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rimentale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efficace</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principale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un checkpoint comme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point de sauvegarde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lancer de nouvelles 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tester diff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hyperparam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sans avoir à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ner depuis z</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alt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altLang="zh-CN"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alt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lection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version</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principale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les versions interm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sur un ensemble de validation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lectionner la meilleure version du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ou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clencher un arr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pr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coce (Early Stopping)</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Diagnostic et debogage</a:t>
            </a:r>
            <a:endPar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principale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revenir à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ant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à une divergence ou à une perte (loss) devenant NaN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83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analyser les param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et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 l’optimiseur pour identifier la cause racine de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Composants cl</a:t>
            </a:r>
            <a:r>
              <a:rPr lang="en-US" altLang="en-US"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d’un checkpoint pour l’entra</a:t>
            </a:r>
            <a:r>
              <a:rPr lang="en-US" altLang="en-US"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nement des LLM</a:t>
            </a:r>
            <a:endParaRPr lang="en-US" altLang="zh-CN" sz="30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9" hasCustomPrompt="1"/>
          </p:nvPr>
        </p:nvSpPr>
        <p:spPr>
          <a:xfrm>
            <a:off x="523874" y="1323975"/>
            <a:ext cx="7320281" cy="4852988"/>
          </a:xfrm>
          <a:prstGeom prst="rect">
            <a:avLst/>
          </a:prstGeom>
        </p:spPr>
        <p:txBody>
          <a:bodyPr wrap="square" lIns="91440" tIns="45720" rIns="91440" bIns="45720" anchor="t">
            <a:noAutofit/>
          </a:bodyPr>
          <a:lstStyle>
            <a:lvl1pPr algn="l">
              <a:lnSpc>
                <a:spcPct val="92000"/>
              </a:lnSpc>
              <a:defRPr sz="1800" b="1"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 du modèle</a:t>
            </a: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 (Model Weights)</a:t>
            </a:r>
            <a:endPar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 clés</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Matrices de poids des différentes couches</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Transformer</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Q/K/V/O, FFN, LayerNorm, Embedding</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etc.)</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distribué</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parall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donn</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(DP), chaque rang sauvegarde une copie compl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identique ; en parall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tenseurs (TP) ou parall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pipeline (PP), seul le fragment correspondant est sauvegard</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28600" indent="-228600" algn="l">
              <a:lnSpc>
                <a:spcPct val="92000"/>
              </a:lnSpc>
              <a:spcBef>
                <a:spcPts val="1500"/>
              </a:spcBef>
              <a:buClr>
                <a:srgbClr val="404040"/>
              </a:buClr>
              <a:buChar char="•"/>
            </a:pP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États de l'optimiseur</a:t>
            </a: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 (Optimizer States)</a:t>
            </a:r>
            <a:endPar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a:t>
            </a:r>
            <a:r>
              <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omposant le plus volumineux, repr</a:t>
            </a:r>
            <a:r>
              <a:rPr lang="en-US" alt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sentant g</a:t>
            </a:r>
            <a:r>
              <a:rPr lang="en-US" alt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2 à 4 fois la taille du mod</a:t>
            </a:r>
            <a:r>
              <a:rPr lang="en-US" alt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endPar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Adam/AdamW : </a:t>
            </a:r>
            <a:r>
              <a:rPr lang="en-US" altLang="zh-CN" sz="1300" b="0" i="0" u="none" strike="noStrike">
                <a:solidFill>
                  <a:srgbClr val="404040"/>
                </a:solidFill>
                <a:latin typeface="Calibri" panose="020F0502020204030204"/>
                <a:ea typeface="Calibri" panose="020F0502020204030204"/>
                <a:cs typeface="Calibri" panose="020F0502020204030204"/>
                <a:sym typeface="Calibri" panose="020F0502020204030204"/>
              </a:rPr>
              <a:t>moment du premier ordre (momentum) + moment du second ordre (variance)</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du planificateur de taux d'apprentissage</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 actuelle, la progression du warmup, 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 la d</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croissance (decay)</a:t>
            </a:r>
            <a:endPar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28600" indent="-228600" algn="l">
              <a:lnSpc>
                <a:spcPct val="92000"/>
              </a:lnSpc>
              <a:spcBef>
                <a:spcPts val="1500"/>
              </a:spcBef>
              <a:buClr>
                <a:srgbClr val="404040"/>
              </a:buClr>
              <a:buChar char="•"/>
            </a:pP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d'entraînement</a:t>
            </a: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 (Training State)</a:t>
            </a:r>
            <a:endPar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altLang="zh-CN" sz="1300" b="0" i="0" u="none" strike="noStrike">
                <a:solidFill>
                  <a:srgbClr val="404040"/>
                </a:solidFill>
                <a:latin typeface="Calibri" panose="020F0502020204030204"/>
                <a:ea typeface="Calibri" panose="020F0502020204030204"/>
                <a:cs typeface="Calibri" panose="020F0502020204030204"/>
                <a:sym typeface="Calibri" panose="020F0502020204030204"/>
              </a:rPr>
              <a:t>Pas global (Global Step)</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d'itérations d'entraînement complétées</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du chargeur de données</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poque actuelle, la graine al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 de 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chantillonneur de donn</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la position de lecture.</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du générateur de nombres aléatoires</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 états </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RNG</a:t>
            </a: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 de </a:t>
            </a: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Python/NumPy/PyTorch/CUDA</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28600" indent="-228600" algn="l">
              <a:lnSpc>
                <a:spcPct val="92000"/>
              </a:lnSpc>
              <a:spcBef>
                <a:spcPts val="1500"/>
              </a:spcBef>
              <a:buClr>
                <a:srgbClr val="404040"/>
              </a:buClr>
              <a:buChar char="•"/>
            </a:pPr>
            <a:r>
              <a:rPr lang="en-US" sz="1300" b="1"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Informations spécifiques à l'entraînement distribué et autres métadonnées</a:t>
            </a:r>
            <a:endParaRPr lang="en-US" sz="13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Configuration des groupes de parall</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(mappage des rangs TP/PP/DP, informations des groupes de processus), </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tats de l'optimiseur ZeRO (DeepSpeed), </a:t>
            </a:r>
            <a:r>
              <a:rPr lang="en-US" alt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FSDP</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33400" lvl="1" indent="-190500" algn="l">
              <a:lnSpc>
                <a:spcPct val="92000"/>
              </a:lnSpc>
              <a:spcBef>
                <a:spcPts val="750"/>
              </a:spcBef>
              <a:buClr>
                <a:srgbClr val="404040"/>
              </a:buClr>
              <a:buChar char="•"/>
            </a:pPr>
            <a:r>
              <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Configuration de l'architecture du modèle, hyperparamètres d'entraînement</a:t>
            </a:r>
            <a:endParaRPr lang="en-US" sz="1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844155" y="2575560"/>
            <a:ext cx="3957320" cy="26809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578449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4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Exemples de code de gestion des checkpoints</a:t>
            </a:r>
            <a:endParaRPr lang="en-US" altLang="zh-CN" sz="24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904240" y="1775460"/>
            <a:ext cx="4810760" cy="4445635"/>
          </a:xfrm>
          <a:prstGeom prst="rect">
            <a:avLst/>
          </a:prstGeom>
        </p:spPr>
      </p:pic>
      <p:pic>
        <p:nvPicPr>
          <p:cNvPr id="6" name="Picture 6"/>
          <p:cNvPicPr>
            <a:picLocks noChangeAspect="1"/>
          </p:cNvPicPr>
          <p:nvPr/>
        </p:nvPicPr>
        <p:blipFill>
          <a:blip r:embed="rId2"/>
          <a:srcRect t="4275"/>
          <a:stretch>
            <a:fillRect/>
          </a:stretch>
        </p:blipFill>
        <p:spPr>
          <a:xfrm>
            <a:off x="6525895" y="593725"/>
            <a:ext cx="4593590" cy="3071495"/>
          </a:xfrm>
          <a:prstGeom prst="rect">
            <a:avLst/>
          </a:prstGeom>
          <a:ln w="12700">
            <a:noFill/>
            <a:prstDash val="solid"/>
          </a:ln>
        </p:spPr>
      </p:pic>
      <p:pic>
        <p:nvPicPr>
          <p:cNvPr id="7" name="Picture 7"/>
          <p:cNvPicPr>
            <a:picLocks noChangeAspect="1"/>
          </p:cNvPicPr>
          <p:nvPr/>
        </p:nvPicPr>
        <p:blipFill>
          <a:blip r:embed="rId3"/>
          <a:srcRect t="21830" r="10883" b="25490"/>
          <a:stretch>
            <a:fillRect/>
          </a:stretch>
        </p:blipFill>
        <p:spPr>
          <a:xfrm>
            <a:off x="6525895" y="4116070"/>
            <a:ext cx="4593590" cy="2105025"/>
          </a:xfrm>
          <a:prstGeom prst="rect">
            <a:avLst/>
          </a:prstGeom>
          <a:ln w="12700">
            <a:noFill/>
            <a:prstDash val="solid"/>
          </a:ln>
        </p:spPr>
      </p:pic>
      <p:sp>
        <p:nvSpPr>
          <p:cNvPr id="8" name="AutoShape 8"/>
          <p:cNvSpPr/>
          <p:nvPr/>
        </p:nvSpPr>
        <p:spPr>
          <a:xfrm>
            <a:off x="523875" y="1323975"/>
            <a:ext cx="5572125" cy="5397500"/>
          </a:xfrm>
          <a:prstGeom prst="rect">
            <a:avLst/>
          </a:prstGeom>
          <a:noFill/>
          <a:ln w="12700">
            <a:noFill/>
            <a:prstDash val="solid"/>
          </a:ln>
        </p:spPr>
        <p:txBody>
          <a:bodyPr vert="horz" wrap="square" lIns="91440" tIns="45720" rIns="91440" bIns="45720" rtlCol="0" anchor="t">
            <a:normAutofit/>
          </a:bodyPr>
          <a:lstStyle/>
          <a:p>
            <a:pPr marL="254000" indent="-254000" algn="l">
              <a:lnSpc>
                <a:spcPct val="100000"/>
              </a:lnSpc>
              <a:spcBef>
                <a:spcPts val="1500"/>
              </a:spcBef>
              <a:buClr>
                <a:srgbClr val="404040"/>
              </a:buClr>
              <a:buChar char="•"/>
              <a:defRPr/>
            </a:pPr>
            <a:r>
              <a:rPr lang="en-US" altLang="zh-CN" sz="1600"/>
              <a:t>Checkpoint PyTorch – exemple de syntaxe similaire</a:t>
            </a:r>
            <a:endParaRPr lang="en-US" altLang="zh-CN" sz="1600"/>
          </a:p>
        </p:txBody>
      </p:sp>
      <p:sp>
        <p:nvSpPr>
          <p:cNvPr id="9" name="AutoShape 9"/>
          <p:cNvSpPr/>
          <p:nvPr/>
        </p:nvSpPr>
        <p:spPr>
          <a:xfrm>
            <a:off x="1920240" y="622109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Sauvegarder le checkpoint</a:t>
            </a:r>
            <a:endParaRPr lang="en-US" sz="1100"/>
          </a:p>
        </p:txBody>
      </p:sp>
      <p:sp>
        <p:nvSpPr>
          <p:cNvPr id="10" name="AutoShape 10"/>
          <p:cNvSpPr/>
          <p:nvPr/>
        </p:nvSpPr>
        <p:spPr>
          <a:xfrm>
            <a:off x="7433310" y="367093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Charger le checkpoint</a:t>
            </a:r>
            <a:endParaRPr lang="en-US" sz="1100"/>
          </a:p>
        </p:txBody>
      </p:sp>
      <p:sp>
        <p:nvSpPr>
          <p:cNvPr id="11" name="AutoShape 11"/>
          <p:cNvSpPr/>
          <p:nvPr/>
        </p:nvSpPr>
        <p:spPr>
          <a:xfrm>
            <a:off x="7433310" y="622109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9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Exemple d'utilisation dans la boucle d'entraînement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706084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3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LLM – Gestion des checkpoints dans l'entra</a:t>
            </a:r>
            <a:r>
              <a:rPr lang="en-US" altLang="en-US" sz="23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3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nement distribu</a:t>
            </a:r>
            <a:r>
              <a:rPr lang="en-US" altLang="en-US" sz="23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3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9" hasCustomPrompt="1"/>
          </p:nvPr>
        </p:nvSpPr>
        <p:spPr>
          <a:xfrm>
            <a:off x="523875" y="1323975"/>
            <a:ext cx="6714490" cy="5216525"/>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 parallèle</a:t>
            </a:r>
            <a:endPar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Sauvegarder les checkpoints en format fragmentée, permettant une sauvegarde et un chargement parallèles.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tenseurs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TP</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TP, les couches du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sont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parties sur diff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dispositifs. Chaque rang ne conserve qu’un fragment des poids de certaines couches, et sauvegarde ce fragment lors du checkpoint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de pipeline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PP</a:t>
            </a: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PP, les diff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rentes couches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 du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se trouvent sur diff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rangs. Chaque rang sauvegarde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des couches qu’il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Mapping des métadonnées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syst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un fichier d’index indiquant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quelle partie des param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est stock</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dans le snapshot de quelle carte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Flexibilité au chargement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lors de la reprise de l’entra</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si le nombre de GPU a chang</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exemple de 64 à 128), le framework recalcule les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calages (offsets) à partir du fichier d’index, permettant ainsi un chargement non uniforme</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802245" y="1016635"/>
            <a:ext cx="3876040" cy="4665980"/>
          </a:xfrm>
          <a:prstGeom prst="rect">
            <a:avLst/>
          </a:prstGeom>
          <a:ln w="12700">
            <a:noFill/>
            <a:prstDash val="solid"/>
          </a:ln>
        </p:spPr>
      </p:pic>
      <p:sp>
        <p:nvSpPr>
          <p:cNvPr id="7" name="AutoShape 7"/>
          <p:cNvSpPr/>
          <p:nvPr/>
        </p:nvSpPr>
        <p:spPr>
          <a:xfrm>
            <a:off x="7238365" y="5748020"/>
            <a:ext cx="4791710" cy="82994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93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Schéma de sauvegarde des checkpoints fragmentés. Chaque </a:t>
            </a:r>
            <a:r>
              <a:rPr lang="en-US" sz="93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Rank</a:t>
            </a:r>
            <a:r>
              <a:rPr lang="en-US" sz="930" b="0" i="0" u="none" strike="noStrike">
                <a:solidFill>
                  <a:srgbClr val="000000"/>
                </a:solidFill>
                <a:latin typeface="Calibri" panose="020F0502020204030204"/>
                <a:ea typeface="Arial" panose="020B0604020202020204"/>
                <a:cs typeface="Arial" panose="020B0604020202020204"/>
                <a:sym typeface="Arial" panose="020B0604020202020204"/>
              </a:rPr>
              <a:t> sauvegarde sa partie du modèle et de l'état de l'optimiseur dans un fichier dédié du répertoire de checkpoint sur le stockage partagé. Les métadonnées coordonnent ces fragments.</a:t>
            </a:r>
            <a:r>
              <a:rPr lang="en-US" sz="93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Sauvegarder les parties du modèle et l'état de l'optimiseur dans un fichier dédié du répertoire de checkpoint sur le stockage partagé. Les métadonnées coordonnent ces fragments.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Exemples de code de gestion des checkpoints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a:sym typeface="+mn-ea"/>
              </a:rPr>
              <a:t>Checkpoint </a:t>
            </a:r>
            <a:r>
              <a:rPr lang="en-US">
                <a:solidFill>
                  <a:srgbClr val="404040"/>
                </a:solidFill>
                <a:ea typeface="微软雅黑" panose="020B0503020204020204" charset="-122"/>
                <a:cs typeface="微软雅黑" panose="020B0503020204020204" charset="-122"/>
                <a:sym typeface="微软雅黑" panose="020B0503020204020204" charset="-122"/>
              </a:rPr>
              <a:t>DeepSpeed</a:t>
            </a:r>
            <a:r>
              <a:rPr lang="en-US" altLang="zh-CN">
                <a:sym typeface="+mn-ea"/>
              </a:rPr>
              <a:t> – exemple de syntaxe similaire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09625" y="1838960"/>
            <a:ext cx="5004435" cy="407162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57315" y="1844040"/>
            <a:ext cx="5049520" cy="4066540"/>
          </a:xfrm>
          <a:prstGeom prst="rect">
            <a:avLst/>
          </a:prstGeom>
          <a:ln w="12700">
            <a:noFill/>
            <a:prstDash val="solid"/>
          </a:ln>
        </p:spPr>
      </p:pic>
      <p:sp>
        <p:nvSpPr>
          <p:cNvPr id="8" name="AutoShape 8"/>
          <p:cNvSpPr/>
          <p:nvPr/>
        </p:nvSpPr>
        <p:spPr>
          <a:xfrm>
            <a:off x="471170" y="6028055"/>
            <a:ext cx="555371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06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Sauvegarde de checkpoint fragmenté : </a:t>
            </a:r>
            <a:r>
              <a:rPr lang="en-US" sz="1065" b="0" i="0" u="none" strike="noStrike">
                <a:solidFill>
                  <a:srgbClr val="000000"/>
                </a:solidFill>
                <a:latin typeface="Calibri" panose="020F0502020204030204"/>
                <a:ea typeface="Arial" panose="020B0604020202020204"/>
                <a:cs typeface="Arial" panose="020B0604020202020204"/>
                <a:sym typeface="Arial" panose="020B0604020202020204"/>
              </a:rPr>
              <a:t>DeepSpeed </a:t>
            </a:r>
            <a:r>
              <a:rPr lang="en-US" sz="10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sz="1065" b="0" i="0" u="none" strike="noStrike">
                <a:solidFill>
                  <a:srgbClr val="000000"/>
                </a:solidFill>
                <a:latin typeface="Calibri" panose="020F0502020204030204"/>
                <a:ea typeface="Arial" panose="020B0604020202020204"/>
                <a:cs typeface="Arial" panose="020B0604020202020204"/>
                <a:sym typeface="Arial" panose="020B0604020202020204"/>
              </a:rPr>
              <a:t> Megatron-LM </a:t>
            </a:r>
            <a:r>
              <a:rPr lang="en-US" sz="10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offrent des </a:t>
            </a:r>
            <a:r>
              <a:rPr lang="en-US" sz="1065" b="0" i="0" u="none" strike="noStrike">
                <a:solidFill>
                  <a:srgbClr val="000000"/>
                </a:solidFill>
                <a:latin typeface="Calibri" panose="020F0502020204030204"/>
                <a:ea typeface="Arial" panose="020B0604020202020204"/>
                <a:cs typeface="Arial" panose="020B0604020202020204"/>
                <a:sym typeface="Arial" panose="020B0604020202020204"/>
              </a:rPr>
              <a:t> API</a:t>
            </a:r>
            <a:r>
              <a:rPr lang="en-US" sz="10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haut niveau, simplifiant la complexité de gestion des checkpoints fragmentés, gérant la synchronisation.</a:t>
            </a:r>
            <a:endParaRPr lang="en-US" sz="1100"/>
          </a:p>
        </p:txBody>
      </p:sp>
      <p:sp>
        <p:nvSpPr>
          <p:cNvPr id="9" name="AutoShape 9"/>
          <p:cNvSpPr/>
          <p:nvPr/>
        </p:nvSpPr>
        <p:spPr>
          <a:xfrm>
            <a:off x="6151880" y="6028055"/>
            <a:ext cx="555371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Chargement de checkpoint fragmenté : </a:t>
            </a:r>
            <a:r>
              <a:rPr lang="en-US" sz="1100" b="0" i="0" u="none" strike="noStrike">
                <a:solidFill>
                  <a:srgbClr val="000000"/>
                </a:solidFill>
                <a:latin typeface="Calibri" panose="020F0502020204030204"/>
                <a:ea typeface="Arial" panose="020B0604020202020204"/>
                <a:cs typeface="Arial" panose="020B0604020202020204"/>
                <a:sym typeface="Arial" panose="020B0604020202020204"/>
              </a:rPr>
              <a:t>DeepSpeed </a:t>
            </a:r>
            <a:r>
              <a:rPr lang="en-US" sz="11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et autres bibliothèques similaires gèrent la lecture du fragment approprié pour chaque </a:t>
            </a:r>
            <a:r>
              <a:rPr lang="en-US" sz="1100" b="0" i="0" u="none" strike="noStrike">
                <a:solidFill>
                  <a:srgbClr val="000000"/>
                </a:solidFill>
                <a:latin typeface="Calibri" panose="020F0502020204030204"/>
                <a:ea typeface="Arial" panose="020B0604020202020204"/>
                <a:cs typeface="Arial" panose="020B0604020202020204"/>
                <a:sym typeface="Arial" panose="020B0604020202020204"/>
              </a:rPr>
              <a:t>Rank</a:t>
            </a:r>
            <a:r>
              <a:rPr lang="en-US" sz="11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et reconstruisent l'état distribué.</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6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Exemples de besoins de stockage pour checkpoints dans l'entra</a:t>
            </a:r>
            <a:r>
              <a:rPr lang="en-US" altLang="en-US" sz="26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6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nement des LLM</a:t>
            </a:r>
            <a:endParaRPr lang="en-US" altLang="zh-CN" sz="26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046470" cy="5043805"/>
          </a:xfrm>
          <a:prstGeom prst="rect">
            <a:avLst/>
          </a:prstGeom>
        </p:spPr>
        <p:txBody>
          <a:bodyPr wrap="square" lIns="91440" tIns="45720" rIns="91440" bIns="45720" anchor="t">
            <a:noAutofit/>
          </a:bodyPr>
          <a:lstStyle>
            <a:lvl1pPr algn="l">
              <a:lnSpc>
                <a:spcPct val="92000"/>
              </a:lnSpc>
              <a:defRPr sz="2000" b="1" i="0" u="none" strike="noStrike" spc="0">
                <a:solidFill>
                  <a:srgbClr val="404040">
                    <a:alpha val="100000"/>
                  </a:srgbClr>
                </a:solidFill>
                <a:latin typeface="Calibri" panose="020F0502020204030204"/>
              </a:defRPr>
            </a:lvl1pPr>
          </a:lstStyle>
          <a:p>
            <a:pPr marL="254000" indent="-254000" algn="l">
              <a:lnSpc>
                <a:spcPct val="92000"/>
              </a:lnSpc>
              <a:spcBef>
                <a:spcPts val="150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besoins énormes en capacité de stockage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GPT-3: 175B =&gt; 2.4 TB Checkpoint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LLaMA: 544B =&gt; 6-7 TB Checkpoint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GPT-4: &gt; 1 Trillion =&gt; 13.8 TB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92000"/>
              </a:lnSpc>
              <a:spcBef>
                <a:spcPts val="150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besoins énormes en bande passante de stockage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 passante d'écriture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Le temps de sauvegarde du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Checkpoint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doit être maintenu sous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5%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du temps total.</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Besoin</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Checkpoint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2.4 TB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doit être écrit en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60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secondes, il faut au moins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40 GB/s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bande passante d'écriture soutenue.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Défis des clusters à grande échelle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l'augmentation du nombre de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GPU</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écrit indépendamment en parallèle, créant une pression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I/O</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concurrente énorme sur le système de fichiers parallèle (comme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Lustre, GPFS, JuiceFS</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 passante de lecture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63600" lvl="2"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Bien que la fréquence de lecture soit faible (uniquement lors de la reprise d'entraînement ou du démarrage de tâche), une bande passante de lecture élevée peut réduire significativement le temps de récupération après panne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MTTR</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évitant que des milliers de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restent inactifs à attendre le chargement des données.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85800" lvl="2" indent="0" algn="l">
              <a:lnSpc>
                <a:spcPct val="92000"/>
              </a:lnSpc>
              <a:spcBef>
                <a:spcPts val="750"/>
              </a:spcBef>
            </a:pPr>
            <a:endParaRPr sz="1600"/>
          </a:p>
          <a:p>
            <a:pPr marL="342900" lvl="1" indent="0" algn="l">
              <a:lnSpc>
                <a:spcPct val="92000"/>
              </a:lnSpc>
              <a:spcBef>
                <a:spcPts val="750"/>
              </a:spcBef>
            </a:pPr>
            <a:endParaRPr sz="1600"/>
          </a:p>
          <a:p>
            <a:pPr marL="342900" lvl="1" indent="0" algn="l">
              <a:lnSpc>
                <a:spcPct val="92000"/>
              </a:lnSpc>
              <a:spcBef>
                <a:spcPts val="750"/>
              </a:spcBef>
            </a:pPr>
            <a:endParaRPr sz="1600"/>
          </a:p>
          <a:p>
            <a:pPr marL="342900" lvl="1" indent="0" algn="l">
              <a:lnSpc>
                <a:spcPct val="92000"/>
              </a:lnSpc>
              <a:spcBef>
                <a:spcPts val="750"/>
              </a:spcBef>
            </a:pPr>
            <a:endParaRPr sz="1600"/>
          </a:p>
          <a:p>
            <a:pPr marL="342900" lvl="1" indent="0" algn="l">
              <a:lnSpc>
                <a:spcPct val="92000"/>
              </a:lnSpc>
              <a:spcBef>
                <a:spcPts val="75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custDataLst>
              <p:tags r:id="rId1"/>
            </p:custDataLst>
          </p:nvPr>
        </p:nvGraphicFramePr>
        <p:xfrm>
          <a:off x="6866255" y="3180715"/>
          <a:ext cx="5217795" cy="3316605"/>
        </p:xfrm>
        <a:graphic>
          <a:graphicData uri="http://schemas.openxmlformats.org/drawingml/2006/table">
            <a:tbl>
              <a:tblPr>
                <a:effectLst/>
              </a:tblPr>
              <a:tblGrid>
                <a:gridCol w="2945130"/>
                <a:gridCol w="1045845"/>
                <a:gridCol w="1226820"/>
              </a:tblGrid>
              <a:tr h="366395">
                <a:tc>
                  <a:txBody>
                    <a:bodyPr rtlCol="0"/>
                    <a:lstStyle/>
                    <a:p>
                      <a:r>
                        <a:t>Composant</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Calcul</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r>
                        <a:t>Taille</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1635">
                <a:tc>
                  <a:txBody>
                    <a:bodyPr rtlCol="0"/>
                    <a:lstStyle/>
                    <a:p>
                      <a:r>
                        <a:t>Paramètres du modèle (BF16)</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175B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2B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350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21970">
                <a:tc>
                  <a:txBody>
                    <a:bodyPr rtlCol="0"/>
                    <a:lstStyle/>
                    <a:p>
                      <a:r>
                        <a:t>Paramètres maîtres de l'optimiseur (FP32)</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175B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521970">
                <a:tc>
                  <a:txBody>
                    <a:bodyPr rtlCol="0"/>
                    <a:lstStyle/>
                    <a:p>
                      <a:r>
                        <a:t>Moment du premier ordre m_t (FP32)</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175B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0365">
                <a:tc>
                  <a:txBody>
                    <a:bodyPr rtlCol="0"/>
                    <a:lstStyle/>
                    <a:p>
                      <a:r>
                        <a:t>Moment du second ordre v_t (FP32)</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175B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635">
                <a:tc>
                  <a:txBody>
                    <a:bodyPr rtlCol="0"/>
                    <a:lstStyle/>
                    <a:p>
                      <a:r>
                        <a:t>Autres états (étapes, RNG, etc.)</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r>
                        <a:t>Total</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~2.4TB</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635">
                <a:tc>
                  <a:txBody>
                    <a:bodyPr rtlCol="0"/>
                    <a:lstStyle/>
                    <a:p>
                      <a:r>
                        <a:t>Total par rang après partition</a:t>
                      </a: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2.4TB / 8</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~300GB</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7" name="AutoShape 7"/>
          <p:cNvSpPr/>
          <p:nvPr/>
        </p:nvSpPr>
        <p:spPr>
          <a:xfrm>
            <a:off x="6511290" y="1323975"/>
            <a:ext cx="5572125" cy="1717675"/>
          </a:xfrm>
          <a:prstGeom prst="rect">
            <a:avLst/>
          </a:prstGeom>
          <a:noFill/>
          <a:ln w="12700">
            <a:noFill/>
            <a:prstDash val="solid"/>
          </a:ln>
        </p:spPr>
        <p:txBody>
          <a:bodyPr vert="horz" wrap="square" lIns="91440" tIns="45720" rIns="91440" bIns="45720" rtlCol="0" anchor="t">
            <a:normAutofit/>
          </a:bodyPr>
          <a:lstStyle/>
          <a:p>
            <a:pPr marL="254000" indent="-254000" algn="l">
              <a:lnSpc>
                <a:spcPct val="100000"/>
              </a:lnSpc>
              <a:spcBef>
                <a:spcPts val="1500"/>
              </a:spcBef>
              <a:buClr>
                <a:srgbClr val="404040"/>
              </a:buClr>
              <a:buChar char="•"/>
              <a:defRPr/>
            </a:pP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avec le modèle </a:t>
            </a:r>
            <a:r>
              <a:rPr lang="en-US" sz="1640" b="0" i="0" u="none" strike="noStrike">
                <a:solidFill>
                  <a:srgbClr val="404040"/>
                </a:solidFill>
                <a:latin typeface="Calibri" panose="020F0502020204030204"/>
                <a:ea typeface="Calibri" panose="020F0502020204030204"/>
                <a:cs typeface="Calibri" panose="020F0502020204030204"/>
                <a:sym typeface="Calibri" panose="020F0502020204030204"/>
              </a:rPr>
              <a:t> GPT-3 175B</a:t>
            </a: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 comme exemple</a:t>
            </a:r>
            <a:endParaRPr lang="en-US" sz="1100"/>
          </a:p>
          <a:p>
            <a:pPr marL="571500" lvl="1" indent="-2286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Optimiseur</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 AdamW</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Précision d'entraînement</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 BF16</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 ZeRO-3 (8 GPUs)</a:t>
            </a:r>
            <a:endPar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Checkpoint synchrone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518900"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Lorsqu’un checkpoint est d</a:t>
            </a:r>
            <a:r>
              <a:rPr lang="en-US" alt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a:t>
            </a:r>
            <a:r>
              <a:rPr lang="en-US" alt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processus d’entra</a:t>
            </a:r>
            <a:r>
              <a:rPr lang="en-US" alt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suspend explicitement tous les calculs et collecte les composants d’</a:t>
            </a:r>
            <a:r>
              <a:rPr lang="en-US" alt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n</a:t>
            </a:r>
            <a:r>
              <a:rPr lang="en-US" alt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cessaires.</a:t>
            </a:r>
            <a:endParaRPr 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un environnement d’entra</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distribu</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checkpoint synchrone n</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une coordination entre tous les n</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de travail participants, en utilisant une barri</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pour synchroniser avant la sauvegarde</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Simplicité</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facile à implémenter et à comprendre. Sauvegarde un point précis dans l'entraînement, garantissant la cohérence entre tous les nœuds de travail.</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Garantie de cohérence</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checkpoint reflète l'état exact de la tâche d'entraînement au moment où il a été déclenché. En cas de récupération, l'entraînement reprend exactement à ce point.</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Inconvénients</a:t>
            </a:r>
            <a:endParaRPr lang="en-US" sz="15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Surcoût de performance</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s’arr</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pendant la sauvegarde. L’</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de checkpoints volumineux vers le stockage prend un temps consid</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 laissant les ressources de calcul largement inutilis</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3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Blocage</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l'ensemble du processus d'entraînement est bloqué, </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 qui r</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le d</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global d’entra</a:t>
            </a:r>
            <a:r>
              <a:rPr lang="en-US" alt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descr="E:/BAAI/COURSE/i18n/fr/Checkpoint-synchrone.pngCheckpoint-synchrone"/>
          <p:cNvPicPr>
            <a:picLocks noChangeAspect="1"/>
          </p:cNvPicPr>
          <p:nvPr/>
        </p:nvPicPr>
        <p:blipFill>
          <a:blip r:embed="rId1"/>
          <a:srcRect t="62" b="62"/>
          <a:stretch>
            <a:fillRect/>
          </a:stretch>
        </p:blipFill>
        <p:spPr>
          <a:xfrm>
            <a:off x="1726565" y="5414010"/>
            <a:ext cx="9433560" cy="13989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Checkpoint asynchrone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du surco</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performance de la sauvegarde synchrone</a:t>
            </a:r>
            <a:r>
              <a:rPr 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parer l’op</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du checkpoint (co</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teuse en calcul, I/O) de la boucle d’entra</a:t>
            </a:r>
            <a:r>
              <a:rPr lang="en-US" alt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principale</a:t>
            </a:r>
            <a:r>
              <a:rPr 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Lorsqu'un checkpoint est déclenché, le processus d'entraînement principal lance l'opération de sauvegarde, mais n'attend pas qu'elle se termine.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b="1" i="0" u="none" strike="noStrike">
                <a:solidFill>
                  <a:srgbClr val="404040"/>
                </a:solidFill>
                <a:latin typeface="Calibri" panose="020F0502020204030204"/>
                <a:ea typeface="Calibri" panose="020F0502020204030204"/>
                <a:cs typeface="Calibri" panose="020F0502020204030204"/>
                <a:sym typeface="Calibri" panose="020F0502020204030204"/>
              </a:rPr>
              <a:t>1&gt; </a:t>
            </a: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Copier l'état</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copier rapidement l'état nécessaire en mémoire. </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 op</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est rapide par rapport aux I/O disque</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b="1" i="0" u="none" strike="noStrike">
                <a:solidFill>
                  <a:srgbClr val="404040"/>
                </a:solidFill>
                <a:latin typeface="Calibri" panose="020F0502020204030204"/>
                <a:ea typeface="Calibri" panose="020F0502020204030204"/>
                <a:cs typeface="Calibri" panose="020F0502020204030204"/>
                <a:sym typeface="Calibri" panose="020F0502020204030204"/>
              </a:rPr>
              <a:t>2&gt; </a:t>
            </a: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Décharger l'</a:t>
            </a:r>
            <a:r>
              <a:rPr lang="en-US" b="1" i="0" u="none" strike="noStrike">
                <a:solidFill>
                  <a:srgbClr val="404040"/>
                </a:solidFill>
                <a:latin typeface="Calibri" panose="020F0502020204030204"/>
                <a:ea typeface="Calibri" panose="020F0502020204030204"/>
                <a:cs typeface="Calibri" panose="020F0502020204030204"/>
                <a:sym typeface="Calibri" panose="020F0502020204030204"/>
              </a:rPr>
              <a:t>I/O</a:t>
            </a: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copi</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un thread / processus ind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ou vers un n</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I/O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qui effectue en arri</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re‑plan la s</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rialisation et l’</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vers le stockage persistant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b="1" i="0" u="none" strike="noStrike">
                <a:solidFill>
                  <a:srgbClr val="404040"/>
                </a:solidFill>
                <a:latin typeface="Calibri" panose="020F0502020204030204"/>
                <a:ea typeface="Calibri" panose="020F0502020204030204"/>
                <a:cs typeface="Calibri" panose="020F0502020204030204"/>
                <a:sym typeface="Calibri" panose="020F0502020204030204"/>
              </a:rPr>
              <a:t>3&gt; </a:t>
            </a: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Continuer l'entraînement</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boucle principale reprend le calcul presque imm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diatement apr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le lancement de la copie ou du transfert, permettant ainsi aux I/O du checkpoint de se chevaucher avec le calcul</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descr="E:/BAAI/COURSE/i18n/fr/Checkpoint-asynchrone.pngCheckpoint-asynchrone"/>
          <p:cNvPicPr>
            <a:picLocks noChangeAspect="1"/>
          </p:cNvPicPr>
          <p:nvPr/>
        </p:nvPicPr>
        <p:blipFill>
          <a:blip r:embed="rId1"/>
          <a:srcRect t="34" b="34"/>
          <a:stretch>
            <a:fillRect/>
          </a:stretch>
        </p:blipFill>
        <p:spPr>
          <a:xfrm>
            <a:off x="1270635" y="4037330"/>
            <a:ext cx="9211310" cy="27508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Checkpoint synchrone</a:t>
            </a:r>
            <a:r>
              <a:rPr lang="en-US" sz="3020" b="0" i="0" u="none" strike="noStrike">
                <a:solidFill>
                  <a:srgbClr val="262626"/>
                </a:solidFill>
                <a:latin typeface="Calibri" panose="020F0502020204030204"/>
                <a:ea typeface="Calibri" panose="020F0502020204030204"/>
                <a:cs typeface="Calibri" panose="020F0502020204030204"/>
                <a:sym typeface="Calibri" panose="020F0502020204030204"/>
              </a:rPr>
              <a:t> vs </a:t>
            </a:r>
            <a:r>
              <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Checkpoint asynchrone</a:t>
            </a:r>
            <a:endPar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meilleure approche dépend de la configuration d'entraînement spécifique et des priorités</a:t>
            </a:r>
            <a:endPar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4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Simplicité vs Performance</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l'approche synchrone est plus simple mais a un surcoût plus élevé. L'approche asynchrone est plus complexe mais réduit significativement le temps d'inactivité.</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4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Vitesse de stockage</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si le stockage du checkpoint est extrêmement rapide (par exemple, un système de fichiers parallèle haute performance), le surcoût de la sauvegarde synchrone peut être acceptable. Si l'</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I/O</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stockage est le goulot d'étranglement, la sauvegarde asynchrone est plus attrayante.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4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Sensibilité aux pannes</a:t>
            </a:r>
            <a:r>
              <a:rPr lang="en-US" sz="1445"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si la récupération à l'état le plus récent en cas de panne est absolument importante, la cohérence garantie par le checkpoint synchrone est préférable. Si perdre quelques itérations de progression est acceptable en échange d'un meilleur débit, l'approche asynchrone est un bon choix.</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4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du framework</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les frameworks d'entraînement distribués modernes (comme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DeepSpeed</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ou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PyTorch FSDP</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offrent généralement un support de checkpoint optimisé intégré, incluant parfois des options asynchrones ou des méthodes synchrones hautement optimisées pour minimiser le temps de blocage.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254000" indent="-254000" algn="l">
              <a:lnSpc>
                <a:spcPct val="100000"/>
              </a:lnSpc>
              <a:spcBef>
                <a:spcPts val="1500"/>
              </a:spcBef>
              <a:buClr>
                <a:srgbClr val="404040"/>
              </a:buClr>
              <a:buChar char="•"/>
            </a:pPr>
            <a:r>
              <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concrète</a:t>
            </a:r>
            <a:endPar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les modèles très volumineux où le temps de checkpoint est long (plusieurs minutes ou plus), le checkpoint asynchrone est préféré pour maximiser l'utilisation des ressources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coûteuses. Une implémentation et un test minutieux sont nécessaires pour assurer la fiabilité du processus de sauvegarde asynchrone.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Stratégie de checkpoint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9" hasCustomPrompt="1"/>
          </p:nvPr>
        </p:nvSpPr>
        <p:spPr>
          <a:xfrm>
            <a:off x="603885" y="1132840"/>
            <a:ext cx="8991600" cy="4853305"/>
          </a:xfrm>
          <a:prstGeom prst="rect">
            <a:avLst/>
          </a:prstGeom>
        </p:spPr>
        <p:txBody>
          <a:bodyPr wrap="square" lIns="91440" tIns="45720" rIns="91440" bIns="45720" anchor="t">
            <a:noAutofit/>
          </a:bodyPr>
          <a:lstStyle>
            <a:lvl1pPr algn="l">
              <a:lnSpc>
                <a:spcPct val="92000"/>
              </a:lnSpc>
              <a:defRPr sz="1900" b="1" i="0" u="none" strike="noStrike" spc="0">
                <a:solidFill>
                  <a:srgbClr val="404040">
                    <a:alpha val="100000"/>
                  </a:srgbClr>
                </a:solidFill>
                <a:latin typeface="微软雅黑" panose="020B0503020204020204" charset="-122"/>
              </a:defRPr>
            </a:lvl1pPr>
          </a:lstStyle>
          <a:p>
            <a:pPr marL="241300" indent="-241300" algn="l">
              <a:lnSpc>
                <a:spcPct val="92000"/>
              </a:lnSpc>
              <a:spcBef>
                <a:spcPts val="150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Compromis : réduire la perte de travail en cas de panne</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vs </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réduire la surcharge liée à la sauvegarde des checkpoints</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Haute fréquence (par exemple, toutes les quelques centaines d'étapes) :</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a:t>
            </a: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Réduction de la perte de progression d'entraînement en cas d'interruption. Possibilité de redémarrer plus près du point de panne.</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Inconvénients :</a:t>
            </a: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surcharge cumulée des opérations de sauvegarde fréquentes augmente le temps d'entraînement total. Peut générer rapidement un grand nombre de fichiers checkpoint.</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Basse fréquence (par exemple, toutes les quelques milliers d'étapes ou toutes les quelques heures) :</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a:t>
            </a: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Minimisation de l'impact de la surcharge des checkpoints sur le débit global d'entraînement. Ralentissement de la vitesse de consommation de stockage.</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50900" lvl="2" indent="-165100" algn="l">
              <a:lnSpc>
                <a:spcPct val="92000"/>
              </a:lnSpc>
              <a:spcBef>
                <a:spcPts val="75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Inconvénients :</a:t>
            </a: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cas de panne entre deux checkpoints, une grande partie de la progression de calcul est perdue. Le redémarrage peut nécessiter la recomputation de plusieurs heures de travail.</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41300" indent="-241300" algn="l">
              <a:lnSpc>
                <a:spcPct val="92000"/>
              </a:lnSpc>
              <a:spcBef>
                <a:spcPts val="150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 de déclenchement des checkpoints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 les itérations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étapes d'entraînement sauvegarder une fois ;</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 le temps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heures sauvegarder une fois.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41300" indent="-241300" algn="l">
              <a:lnSpc>
                <a:spcPct val="92000"/>
              </a:lnSpc>
              <a:spcBef>
                <a:spcPts val="150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 de rétention des checkpoints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Conserver uniquement le plus récent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stratégie la plus simple. Après avoir sauvegardé un nouveau checkpoint, supprimer le précédent.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Conserver les</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derniers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Conserver les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K</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checkpoints les plus récents. Lors de la sauvegarde du checkpoint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supprimer le checkpoint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N-K.</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92000"/>
              </a:lnSpc>
              <a:spcBef>
                <a:spcPts val="750"/>
              </a:spcBef>
              <a:buClr>
                <a:srgbClr val="404040"/>
              </a:buClr>
              <a:buChar char="•"/>
            </a:pP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Conserver les meilleurs basés sur la validation</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derniers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Surveiller régulièrement les métriques de validation (par exemple, la perplexité), sauvegarder les meilleurs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descr="E:/BAAI/COURSE/i18n/fr/Checkpoint-Strategy.pngCheckpoint-Strategy"/>
          <p:cNvPicPr>
            <a:picLocks noChangeAspect="1"/>
          </p:cNvPicPr>
          <p:nvPr/>
        </p:nvPicPr>
        <p:blipFill>
          <a:blip r:embed="rId1"/>
          <a:srcRect t="66" b="66"/>
          <a:stretch>
            <a:fillRect/>
          </a:stretch>
        </p:blipFill>
        <p:spPr>
          <a:xfrm>
            <a:off x="9798050" y="1132840"/>
            <a:ext cx="2393950" cy="45745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du stockage des checkpoints : compression des checkpoints</a:t>
            </a:r>
            <a:endPar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7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Quantification numérique et compression par plan de bits</a:t>
            </a:r>
            <a:r>
              <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rPr>
              <a:t> (Quantization-based)</a:t>
            </a:r>
            <a:endPar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Quantification à faible nombre de bits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Comprimer l'état d'entraînement de</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BF16/FP32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INT8</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FP8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voire</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NF4</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NormalFloat</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Partage d'exposant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Partager l'exposant pour les blocs de tenseurs, ne stocker que la mantisse, réduisant considérablement l'empreinte mémoire.</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Instantanés en précision mixte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Maintenir les poids du modèle en haute précision, mais appliquer une compression avec perte aux états de l'optimiseur</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7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Encodage différentiel et incrémental</a:t>
            </a:r>
            <a:r>
              <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rPr>
              <a:t> (Differential/Delta Encoding)</a:t>
            </a:r>
            <a:endPar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résiduel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Enregistrer uniquement les changements entre l'étape actuelle et l'étape précédente.</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Décomposition de faible rang</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(LoRA-style)</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Modéliser les changements de poids comme le produit de matrices de faible rang, ne sauvegarder que ces petites matrices.</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7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Techniques d'éparpillement et de masquage</a:t>
            </a:r>
            <a:r>
              <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rPr>
              <a:t> (Sparsity-based)</a:t>
            </a:r>
            <a:endParaRPr lang="en-US" sz="177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Top-K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Filtrage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Identifier les paramètres avec les plus faibles mises à jour et les mettre à zéro, ne stocker que les mises à jour de gradient au-dessus du seuil.</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Élagage structuré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de la sauvegarde, supprimer les lignes ou colonnes entières de neurones ayant une faible contribution à la sortie.</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du stockage des checkpoints : stockage hiérarchisé</a:t>
            </a:r>
            <a:endParaRPr lang="en-US" sz="2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83000"/>
              </a:lnSpc>
              <a:defRPr sz="1900" b="1" i="0" u="none" strike="noStrike" spc="0">
                <a:solidFill>
                  <a:srgbClr val="404040">
                    <a:alpha val="100000"/>
                  </a:srgbClr>
                </a:solidFill>
                <a:latin typeface="微软雅黑" panose="020B0503020204020204" charset="-122"/>
              </a:defRPr>
            </a:lvl1pPr>
          </a:lstStyle>
          <a:p>
            <a:pPr marL="241300" indent="-241300" algn="l">
              <a:lnSpc>
                <a:spcPct val="83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Architecture logique du stockage hiérarchisé</a:t>
            </a:r>
            <a:endPar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 supports de stockage présentent des différences d'ordre de grandeur en bande passante et latence. Faire évoluer</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Checkpoint </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écriture disque en une seule étape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tampon multi-niveaux</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sz="1400"/>
          </a:p>
          <a:p>
            <a:pPr marL="342900" lvl="1" indent="0" algn="l">
              <a:lnSpc>
                <a:spcPct val="83000"/>
              </a:lnSpc>
              <a:spcBef>
                <a:spcPts val="750"/>
              </a:spcBef>
            </a:pPr>
            <a:endParaRPr sz="1400"/>
          </a:p>
          <a:p>
            <a:pPr marL="342900" lvl="1" indent="0" algn="l">
              <a:lnSpc>
                <a:spcPct val="83000"/>
              </a:lnSpc>
              <a:spcBef>
                <a:spcPts val="750"/>
              </a:spcBef>
            </a:pPr>
            <a:endParaRPr sz="1400"/>
          </a:p>
          <a:p>
            <a:pPr marL="342900" lvl="1" indent="0" algn="l">
              <a:lnSpc>
                <a:spcPct val="83000"/>
              </a:lnSpc>
              <a:spcBef>
                <a:spcPts val="750"/>
              </a:spcBef>
            </a:pP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83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DeepSpeed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Concentré sur l'utilisation des supports de stockage multi-niveaux au sein d'une seule machine, résolvant le goulot d'étranglement de capacité mémoire.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 + NVMe Offload</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vidéo</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hôte</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(CPU DRAM)→</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SSD local haute vitesse</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SSD (NVMe)→</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Distant</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PFS</a:t>
            </a:r>
            <a:endPar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83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Megatron-LM</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Concentré sur la résolution de l'impact réseau et disque causé par les écritures simultanées de milliers de nœuds dans des clusters à très grande échelle.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83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Distributed Checkpoint (Dist-CP)</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:Niveau local au nœud</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Buffer →</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Système de fichiers parallèle</a:t>
            </a: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 (Lustre/GPFS) →</a:t>
            </a:r>
            <a:r>
              <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 froide distante</a:t>
            </a:r>
            <a:endParaRPr lang="en-US" sz="14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099820" y="2246630"/>
          <a:ext cx="10483850" cy="1798320"/>
        </p:xfrm>
        <a:graphic>
          <a:graphicData uri="http://schemas.openxmlformats.org/drawingml/2006/table">
            <a:tbl>
              <a:tblPr>
                <a:effectLst/>
              </a:tblPr>
              <a:tblGrid>
                <a:gridCol w="2096770"/>
                <a:gridCol w="2096770"/>
                <a:gridCol w="2096770"/>
                <a:gridCol w="1536065"/>
                <a:gridCol w="2657475"/>
              </a:tblGrid>
              <a:tr h="272018">
                <a:tc>
                  <a:txBody>
                    <a:bodyPr rtlCol="0"/>
                    <a:lstStyle/>
                    <a:p>
                      <a:r>
                        <a:t>Niveau de stockage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Type de support</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Vitesse (Bande passante)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Capacité</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Rôle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473075">
                <a:tc>
                  <a:txBody>
                    <a:bodyPr rtlCol="0"/>
                    <a:lstStyle/>
                    <a:p>
                      <a:r>
                        <a:t>L1 : Niveau mémoire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GPU HBM / RAM hôte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Extrêmement rapide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Limitée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Récupération : redémarrage à chaud en secondes</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473075">
                <a:tc>
                  <a:txBody>
                    <a:bodyPr rtlCol="0"/>
                    <a:lstStyle/>
                    <a:p>
                      <a:r>
                        <a:t>L2 : Niveau local</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NVMe SSD local au nœud</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Rapide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Moyenne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Tampon : tremplin pour écriture asynchrone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473075">
                <a:tc>
                  <a:txBody>
                    <a:bodyPr rtlCol="0"/>
                    <a:lstStyle/>
                    <a:p>
                      <a:r>
                        <a:t>L3 : Niveau persistant</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PFS (Lustre/HDFS) / Stockage objet</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Lent</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Illimitée</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r>
                        <a:t>Archivage final : sauvegarde long terme et publication</a:t>
                      </a: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微软雅黑" panose="020B0503020204020204" charset="-122"/>
              </a:defRPr>
            </a:lvl1pPr>
          </a:lstStyle>
          <a:p>
            <a:pPr indent="0" algn="l">
              <a:lnSpc>
                <a:spcPct val="100000"/>
              </a:lnSpc>
            </a:pPr>
            <a:r>
              <a:rPr lang="en-US" sz="23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Exemples industriels de pointe</a:t>
            </a:r>
            <a:r>
              <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rPr>
              <a:t>: Robust LLM Training Infrastructure at ByteDance</a:t>
            </a:r>
            <a:endPar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110" b="0" i="0" u="none" strike="noStrike">
                <a:solidFill>
                  <a:srgbClr val="A5A5A5"/>
                </a:solidFill>
                <a:latin typeface="Calibri" panose="020F0502020204030204"/>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endParaRPr lang="en-US" sz="111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Control Plane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Robust Controller</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:Planificateur central d'atténuation des pannes. Basé sur des données de télémétrie multidimensionnelles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Telemetry</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exécute des algorithmes d'atténuation automatiques (tels que : exclusion de nœuds, planification de sauvegardes tièdes, redémarrage par mise à jour à chaud).</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Runtime Analyzer</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:Moteur d'analyse approfondi pour les anomalies non déterministes (comme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Job Hang</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agrégeant les informations de pile globales, permet l'</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isolement précis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l'</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exclusion excessive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855460" y="3099435"/>
            <a:ext cx="5095875" cy="2818765"/>
          </a:xfrm>
          <a:prstGeom prst="rect">
            <a:avLst/>
          </a:prstGeom>
          <a:ln w="12700">
            <a:noFill/>
            <a:prstDash val="solid"/>
          </a:ln>
        </p:spPr>
      </p:pic>
      <p:sp>
        <p:nvSpPr>
          <p:cNvPr id="7" name="AutoShape 7"/>
          <p:cNvSpPr/>
          <p:nvPr/>
        </p:nvSpPr>
        <p:spPr>
          <a:xfrm>
            <a:off x="523875" y="3099435"/>
            <a:ext cx="6331585" cy="3121660"/>
          </a:xfrm>
          <a:prstGeom prst="rect">
            <a:avLst/>
          </a:prstGeom>
          <a:noFill/>
          <a:ln w="12700">
            <a:noFill/>
            <a:prstDash val="solid"/>
          </a:ln>
        </p:spPr>
        <p:txBody>
          <a:bodyPr vert="horz" wrap="square" lIns="91440" tIns="45720" rIns="91440" bIns="45720" rtlCol="0" anchor="t">
            <a:normAutofit lnSpcReduction="20000"/>
          </a:bodyPr>
          <a:lstStyle/>
          <a:p>
            <a:pPr marL="254000" indent="-254000" algn="l">
              <a:lnSpc>
                <a:spcPct val="100000"/>
              </a:lnSpc>
              <a:spcBef>
                <a:spcPts val="1500"/>
              </a:spcBef>
              <a:buClr>
                <a:srgbClr val="404040"/>
              </a:buClr>
              <a:buChar char="•"/>
              <a:defRP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Data Plane</a:t>
            </a:r>
            <a:endParaRPr lang="en-US" sz="1800"/>
          </a:p>
          <a:p>
            <a:pPr marL="558800" lvl="1" indent="-2159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Robust Agent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:Fonctionne comme daemon dans chaque conteneur de calcul.</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Monitor</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:Auto-vérification en temps réel à granularité fine, prend en charge les alertes de panne sous-seconde.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Diagnoser</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:Chaîne d'outils de diagnostic in situ intégrant plusieurs niveaux de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Benchmark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Benchmarks.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CKPT Manager</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:Gestionnaire de checkpoints asynchrones haute performance pour la sauvegarde inter-groupes parallèles.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b="1" i="0" u="none" strike="noStrike">
                <a:solidFill>
                  <a:srgbClr val="404040"/>
                </a:solidFill>
                <a:latin typeface="Calibri" panose="020F0502020204030204"/>
                <a:ea typeface="Calibri" panose="020F0502020204030204"/>
                <a:cs typeface="Calibri" panose="020F0502020204030204"/>
                <a:sym typeface="Calibri" panose="020F0502020204030204"/>
              </a:rPr>
              <a:t>Warm Standby Pods</a:t>
            </a:r>
            <a:r>
              <a:rPr lang="en-US"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Pool de nœuds de secours pré-lancés dans le cluster et validés en santé. En éliminant le temps de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démarrage à froid</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scheduling de ressources et de l'initialisation de l'environnement, combiné au mécanisme de mise à jour à chaud, permet le remplacement transparent des nœuds défaillants en quelques minutes.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微软雅黑" panose="020B0503020204020204" charset="-122"/>
              </a:defRPr>
            </a:lvl1pPr>
          </a:lstStyle>
          <a:p>
            <a:pPr indent="0" algn="l">
              <a:lnSpc>
                <a:spcPct val="100000"/>
              </a:lnSpc>
            </a:pPr>
            <a:r>
              <a:rPr lang="en-US" sz="23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Exemples industriels de pointe</a:t>
            </a:r>
            <a:r>
              <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rPr>
              <a:t>: Robust LLM Training Infrastructure at ByteDance</a:t>
            </a:r>
            <a:endPar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110" b="0" i="0" u="none" strike="noStrike">
                <a:solidFill>
                  <a:srgbClr val="A5A5A5"/>
                </a:solidFill>
                <a:latin typeface="Calibri" panose="020F0502020204030204"/>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endParaRPr lang="en-US" sz="111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186815"/>
            <a:ext cx="11277601" cy="4852988"/>
          </a:xfrm>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Multi-niveaux</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Checkpoint (Tiered Storage)</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 sur disque local : placer le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Checkpoint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d'abord dans la mémoire des machines voisines ou sur le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SSD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local pour un temps d'écriture de l'ordre de la seconde.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 distante : transférer asynchronement les données vers le stockage persistant.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60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Sauvegarde tiède et mise à jour à chaud</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(Warm Standby &amp; Hot-update)</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une seule machine tombe en panne, ne pas redémarrer toute la tâche de 10 000 cartes.</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ByteRobust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système réserve une petite quantité de </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machines de remplacement</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remplace uniquement la machine défaillante, réalisant une récupération rapide de style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hot-swap</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Vitesse de récupération après panne améliorée de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10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 ou plus, le ratio de temps d'entraînement effectif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ETTR</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atteint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97%</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211580" y="4064000"/>
            <a:ext cx="9768840" cy="23787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dirty="0" err="1">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dirty="0">
                <a:solidFill>
                  <a:srgbClr val="262626"/>
                </a:solidFill>
                <a:latin typeface="Calibri" panose="020F0502020204030204"/>
                <a:ea typeface="Calibri" panose="020F0502020204030204"/>
                <a:cs typeface="Calibri" panose="020F0502020204030204"/>
                <a:sym typeface="Calibri" panose="020F0502020204030204"/>
              </a:rPr>
              <a:t> 35</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Techniques </a:t>
            </a:r>
            <a:r>
              <a:rPr lang="en-US" sz="51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d'optimisation</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51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51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vidéo</a:t>
            </a:r>
            <a:endParaRPr lang="en-US" sz="51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Contenu principal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5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a:t>
            </a:r>
            <a:endParaRPr lang="en-US" sz="195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L'occupation</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grands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énorme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Méthodes</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d'optimisation</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Gradient Checkpointing (</a:t>
            </a:r>
            <a:r>
              <a:rPr lang="en-US" sz="195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a:t>
            </a:r>
            <a:r>
              <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5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Abandonner</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activations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intermédiaires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propagation avant (Forward), les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recalculer</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depuis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point de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(checkpoint) le plus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proche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(Backward)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besoin</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Méthodes</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d'optimisation</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5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95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Offloading (</a:t>
            </a:r>
            <a:r>
              <a:rPr lang="en-US" sz="195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déchargement</a:t>
            </a:r>
            <a:r>
              <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données)</a:t>
            </a:r>
            <a:endParaRPr lang="en-US" sz="195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Utiliser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hôte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(Host Memory)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comme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extension de la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vidéo</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-Offload :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décharger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états de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l'optimiseur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et les gradients vers le CPU.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Utiliser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le CPU pour la mise à jour des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poids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opération</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peu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coûteuse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en</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calcul</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mais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occupant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une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grande part de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-Infinity :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décharger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également</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paramètres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vers un SSD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Grâce à la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prélecture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asynchrone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(prefetching) et à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l'optimisation</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la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bande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passante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il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permet</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d'entraîner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à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l'échelle</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du trillion de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paramètres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662713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1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a:t>
            </a:r>
            <a:r>
              <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Occupation </a:t>
            </a:r>
            <a:r>
              <a:rPr lang="en-US" sz="21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lors</a:t>
            </a:r>
            <a:r>
              <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1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LLM</a:t>
            </a:r>
            <a:endParaRPr lang="en-US" sz="21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http://deepseekpro.org/guide/the-carbon-footprint-of-gpt-4/</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7631430" cy="4981575"/>
          </a:xfrm>
          <a:prstGeom prst="rect">
            <a:avLst/>
          </a:prstGeom>
        </p:spPr>
        <p:txBody>
          <a:bodyPr wrap="square" lIns="91440" tIns="45720" rIns="91440" bIns="45720" anchor="t">
            <a:noAutofit/>
          </a:bodyPr>
          <a:lstStyle>
            <a:lvl1pPr algn="l">
              <a:lnSpc>
                <a:spcPct val="92000"/>
              </a:lnSpc>
              <a:defRPr sz="1900" b="1" i="0" u="none" strike="noStrike" spc="0">
                <a:solidFill>
                  <a:srgbClr val="404040">
                    <a:alpha val="100000"/>
                  </a:srgbClr>
                </a:solidFill>
                <a:latin typeface="微软雅黑" panose="020B0503020204020204" charset="-122"/>
              </a:defRPr>
            </a:lvl1pPr>
          </a:lstStyle>
          <a:p>
            <a:pPr marL="241300" indent="-241300" algn="l">
              <a:lnSpc>
                <a:spcPct val="92000"/>
              </a:lnSpc>
              <a:spcBef>
                <a:spcPts val="1500"/>
              </a:spcBef>
              <a:buClr>
                <a:srgbClr val="404040"/>
              </a:buClr>
              <a:buChar char="•"/>
            </a:pPr>
            <a:r>
              <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taille des </a:t>
            </a:r>
            <a:r>
              <a:rPr lang="en-US" sz="1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croît</a:t>
            </a:r>
            <a:r>
              <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façon </a:t>
            </a:r>
            <a:r>
              <a:rPr lang="en-US" sz="1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exponentielle</a:t>
            </a:r>
            <a:endPar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200" dirty="0">
                <a:solidFill>
                  <a:srgbClr val="404040"/>
                </a:solidFill>
                <a:latin typeface="Calibri" panose="020F0502020204030204"/>
                <a:ea typeface="微软雅黑" panose="020B0503020204020204" charset="-122"/>
              </a:rPr>
              <a:t>De GPT‑3 (175 milliards de paramètres) à GPT‑4 (milliers de milliards)</a:t>
            </a:r>
            <a:endParaRPr lang="en-US" sz="1200" dirty="0">
              <a:solidFill>
                <a:srgbClr val="404040"/>
              </a:solidFill>
              <a:latin typeface="Calibri" panose="020F0502020204030204"/>
              <a:ea typeface="微软雅黑" panose="020B0503020204020204" charset="-122"/>
            </a:endParaRPr>
          </a:p>
          <a:p>
            <a:pPr marL="558800" lvl="1" indent="-215900" algn="l">
              <a:lnSpc>
                <a:spcPct val="92000"/>
              </a:lnSpc>
              <a:spcBef>
                <a:spcPts val="750"/>
              </a:spcBef>
              <a:buClr>
                <a:srgbClr val="404040"/>
              </a:buClr>
              <a:buChar char="•"/>
            </a:pPr>
            <a:r>
              <a:rPr lang="en-US" sz="1200" dirty="0">
                <a:solidFill>
                  <a:srgbClr val="404040"/>
                </a:solidFill>
                <a:latin typeface="Calibri" panose="020F0502020204030204"/>
                <a:ea typeface="微软雅黑" panose="020B0503020204020204" charset="-122"/>
              </a:rPr>
              <a:t>Par exemple, un modèle 100 B : paramètres = 200 Go ; l’entraînement complet nécessite environ 1,6 To à 2 To de mémoire vidéo.</a:t>
            </a:r>
            <a:endParaRPr sz="1200" dirty="0">
              <a:solidFill>
                <a:srgbClr val="404040"/>
              </a:solidFill>
              <a:latin typeface="Calibri" panose="020F0502020204030204"/>
              <a:ea typeface="微软雅黑" panose="020B0503020204020204" charset="-122"/>
            </a:endParaRPr>
          </a:p>
          <a:p>
            <a:pPr marL="342900" lvl="1" indent="0" algn="l">
              <a:lnSpc>
                <a:spcPct val="92000"/>
              </a:lnSpc>
              <a:spcBef>
                <a:spcPts val="750"/>
              </a:spcBef>
            </a:pPr>
            <a:endParaRPr sz="1400" dirty="0"/>
          </a:p>
          <a:p>
            <a:pPr marL="342900" lvl="1" indent="0" algn="l">
              <a:lnSpc>
                <a:spcPct val="92000"/>
              </a:lnSpc>
              <a:spcBef>
                <a:spcPts val="750"/>
              </a:spcBef>
            </a:pPr>
            <a:endParaRPr sz="1400" dirty="0"/>
          </a:p>
          <a:p>
            <a:pPr marL="342900" lvl="1" indent="0" algn="l">
              <a:lnSpc>
                <a:spcPct val="92000"/>
              </a:lnSpc>
              <a:spcBef>
                <a:spcPts val="750"/>
              </a:spcBef>
            </a:pPr>
            <a:endParaRPr sz="1400" dirty="0"/>
          </a:p>
          <a:p>
            <a:pPr marL="342900" lvl="1" indent="0" algn="l">
              <a:lnSpc>
                <a:spcPct val="92000"/>
              </a:lnSpc>
              <a:spcBef>
                <a:spcPts val="750"/>
              </a:spcBef>
            </a:pPr>
            <a:endParaRPr sz="1400" dirty="0"/>
          </a:p>
          <a:p>
            <a:pPr marL="342900" lvl="1" indent="0" algn="l">
              <a:lnSpc>
                <a:spcPct val="92000"/>
              </a:lnSpc>
              <a:spcBef>
                <a:spcPts val="750"/>
              </a:spcBef>
            </a:pPr>
            <a:endPar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41300" indent="-241300" algn="l">
              <a:lnSpc>
                <a:spcPct val="92000"/>
              </a:lnSpc>
              <a:spcBef>
                <a:spcPts val="1500"/>
              </a:spcBef>
              <a:buClr>
                <a:srgbClr val="404040"/>
              </a:buClr>
              <a:buSzTx/>
              <a:buChar char="•"/>
            </a:pPr>
            <a:endPar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41300" indent="-241300" algn="l">
              <a:lnSpc>
                <a:spcPct val="92000"/>
              </a:lnSpc>
              <a:spcBef>
                <a:spcPts val="1500"/>
              </a:spcBef>
              <a:buClr>
                <a:srgbClr val="404040"/>
              </a:buClr>
              <a:buSzTx/>
              <a:buChar char="•"/>
            </a:pPr>
            <a:r>
              <a:rPr lang="en-US" sz="14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Conséquences</a:t>
            </a:r>
            <a:r>
              <a:rPr lang="en-US" sz="14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pratiques </a:t>
            </a:r>
            <a:r>
              <a:rPr lang="en-US" sz="14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d’une</a:t>
            </a:r>
            <a:r>
              <a:rPr lang="en-US" sz="14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4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4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insuffisante</a:t>
            </a:r>
            <a:endParaRPr lang="en-US" sz="14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Entraînement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impossible :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seule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carte ne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charger le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recours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obligatoire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explosif</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multi‑carte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augmente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rendant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difficile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l’atteinte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d’une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accélération</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Longueur de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séquence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limitée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les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longs (&gt;8k tokens),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l’occupation</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croît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quadratiquement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Itérations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lentes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impossible de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valider</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rapidement</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nouvelles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architectures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2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nouvelles</a:t>
            </a:r>
            <a:r>
              <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données.</a:t>
            </a:r>
            <a:endParaRPr lang="en-US" sz="12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custDataLst>
              <p:tags r:id="rId1"/>
            </p:custDataLst>
          </p:nvPr>
        </p:nvGraphicFramePr>
        <p:xfrm>
          <a:off x="823595" y="2222897"/>
          <a:ext cx="7107555" cy="1963895"/>
        </p:xfrm>
        <a:graphic>
          <a:graphicData uri="http://schemas.openxmlformats.org/drawingml/2006/table">
            <a:tbl>
              <a:tblPr>
                <a:effectLst/>
              </a:tblPr>
              <a:tblGrid>
                <a:gridCol w="1911350"/>
                <a:gridCol w="1287145"/>
                <a:gridCol w="3909060"/>
              </a:tblGrid>
              <a:tr h="320607">
                <a:tc>
                  <a:txBody>
                    <a:bodyPr/>
                    <a:lstStyle/>
                    <a:p>
                      <a:r>
                        <a:rPr sz="1200" dirty="0" err="1"/>
                        <a:t>Composant</a:t>
                      </a:r>
                      <a:endParaRPr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r>
                        <a:rPr sz="1200" dirty="0"/>
                        <a:t>Estimation </a:t>
                      </a:r>
                      <a:endParaRPr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r>
                        <a:rPr lang="en-US" sz="1200" dirty="0"/>
                        <a:t>Explication</a:t>
                      </a:r>
                      <a:endParaRPr lang="en-US"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60000">
                <a:tc>
                  <a:txBody>
                    <a:bodyPr/>
                    <a:lstStyle/>
                    <a:p>
                      <a:r>
                        <a:rPr sz="1200"/>
                        <a:t>Paramètres du modèle</a:t>
                      </a:r>
                      <a:endParaRPr sz="120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2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r>
                        <a:rPr sz="1200"/>
                        <a:t>Matrice de poids (précision FP16/BF16)</a:t>
                      </a:r>
                      <a:endParaRPr sz="120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60000">
                <a:tc>
                  <a:txBody>
                    <a:bodyPr/>
                    <a:lstStyle/>
                    <a:p>
                      <a:r>
                        <a:rPr sz="1200"/>
                        <a:t>État de l'optimiseur</a:t>
                      </a:r>
                      <a:endParaRPr sz="120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2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~40-60%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r>
                        <a:rPr lang="en-US" sz="1200" dirty="0"/>
                        <a:t>Adam nécessite de stocker le moment et le second moment (FP32)</a:t>
                      </a:r>
                      <a:endParaRPr lang="en-US"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60000">
                <a:tc>
                  <a:txBody>
                    <a:bodyPr/>
                    <a:lstStyle/>
                    <a:p>
                      <a:r>
                        <a:rPr sz="1200" dirty="0"/>
                        <a:t>Gradient</a:t>
                      </a:r>
                      <a:r>
                        <a:rPr lang="en-US" altLang="zh-CN" sz="1200" dirty="0"/>
                        <a:t>s</a:t>
                      </a:r>
                      <a:endParaRPr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2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r>
                        <a:rPr lang="en-US" sz="1200" dirty="0"/>
                        <a:t>Cache des gradients pour la rétropropagation</a:t>
                      </a:r>
                      <a:endParaRPr lang="en-US"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461010">
                <a:tc>
                  <a:txBody>
                    <a:bodyPr/>
                    <a:lstStyle/>
                    <a:p>
                      <a:r>
                        <a:rPr lang="en-US" sz="1200" dirty="0"/>
                        <a:t>Activations</a:t>
                      </a:r>
                      <a:endParaRPr lang="en-US"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r>
                        <a:rPr sz="1200" dirty="0"/>
                        <a:t>Variable</a:t>
                      </a:r>
                      <a:endParaRPr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r>
                        <a:rPr lang="en-US" sz="1200" dirty="0"/>
                        <a:t>Dominant pour les longues séquences (proportionnel au carré de la longueur de séquence)</a:t>
                      </a:r>
                      <a:endParaRPr lang="en-US" sz="1200" dirty="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graphicFrame>
        <p:nvGraphicFramePr>
          <p:cNvPr id="7" name="Table 7"/>
          <p:cNvGraphicFramePr>
            <a:graphicFrameLocks noGrp="1"/>
          </p:cNvGraphicFramePr>
          <p:nvPr/>
        </p:nvGraphicFramePr>
        <p:xfrm>
          <a:off x="8286750" y="692785"/>
          <a:ext cx="3606165" cy="2443472"/>
        </p:xfrm>
        <a:graphic>
          <a:graphicData uri="http://schemas.openxmlformats.org/drawingml/2006/table">
            <a:tbl>
              <a:tblPr>
                <a:effectLst/>
              </a:tblPr>
              <a:tblGrid>
                <a:gridCol w="1880870"/>
                <a:gridCol w="1725295"/>
              </a:tblGrid>
              <a:tr h="252000">
                <a:tc>
                  <a:txBody>
                    <a:bodyPr/>
                    <a:lstStyle/>
                    <a:p>
                      <a:r>
                        <a:rPr sz="1200"/>
                        <a:t>Dimension</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GPT-3 (175B)</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Échelle GPU</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~10 000 A100</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Durée d'entraînement</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~34 jours</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Consommation totale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~128,7 MWh</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Émissions de carbone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~502 tonnes CO2e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Overhead mémoire de base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~350 Go (paramètres)</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Mémoire totale d'entraînement</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dirty="0">
                          <a:solidFill>
                            <a:srgbClr val="404040"/>
                          </a:solidFill>
                          <a:latin typeface="Calibri" panose="020F0502020204030204"/>
                          <a:ea typeface="Calibri" panose="020F0502020204030204"/>
                          <a:cs typeface="Calibri" panose="020F0502020204030204"/>
                          <a:sym typeface="Calibri" panose="020F0502020204030204"/>
                        </a:rPr>
                        <a:t>~2.8 TB</a:t>
                      </a:r>
                      <a:endParaRPr lang="en-US" sz="12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Coût total estimé</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dirty="0"/>
                        <a:t>~10-20 millions $</a:t>
                      </a:r>
                      <a:endParaRPr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graphicFrame>
        <p:nvGraphicFramePr>
          <p:cNvPr id="8" name="Table 8"/>
          <p:cNvGraphicFramePr>
            <a:graphicFrameLocks noGrp="1"/>
          </p:cNvGraphicFramePr>
          <p:nvPr/>
        </p:nvGraphicFramePr>
        <p:xfrm>
          <a:off x="8229600" y="3729990"/>
          <a:ext cx="3871595" cy="2443472"/>
        </p:xfrm>
        <a:graphic>
          <a:graphicData uri="http://schemas.openxmlformats.org/drawingml/2006/table">
            <a:tbl>
              <a:tblPr>
                <a:effectLst/>
              </a:tblPr>
              <a:tblGrid>
                <a:gridCol w="1610995"/>
                <a:gridCol w="2260600"/>
              </a:tblGrid>
              <a:tr h="252000">
                <a:tc>
                  <a:txBody>
                    <a:bodyPr/>
                    <a:lstStyle/>
                    <a:p>
                      <a:r>
                        <a:rPr sz="1200"/>
                        <a:t>Dimension</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GPT-4 (1.8T rumeur)</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Échelle GPU</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~25 000 A100</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Durée d'entraînement</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90-100 jours</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Consommation totale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~51,77-62,31 GWh</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Émissions de carbone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~1 035-14 994 tonnes CO2e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Overhead mémoire de base</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~3 600 Go (paramètres)</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Mémoire totale d'entraînement</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 TB+</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252000">
                <a:tc>
                  <a:txBody>
                    <a:bodyPr/>
                    <a:lstStyle/>
                    <a:p>
                      <a:r>
                        <a:rPr sz="1200"/>
                        <a:t>Coût total estimé</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a:t>100-500 millions $</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
        <p:nvSpPr>
          <p:cNvPr id="9" name="AutoShape 9"/>
          <p:cNvSpPr/>
          <p:nvPr/>
        </p:nvSpPr>
        <p:spPr>
          <a:xfrm>
            <a:off x="7931150" y="3204845"/>
            <a:ext cx="42271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GPT-3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Estimation du coût d'entraînement</a:t>
            </a:r>
            <a:endParaRPr lang="en-US" sz="1100"/>
          </a:p>
        </p:txBody>
      </p:sp>
      <p:sp>
        <p:nvSpPr>
          <p:cNvPr id="10" name="AutoShape 10"/>
          <p:cNvSpPr/>
          <p:nvPr/>
        </p:nvSpPr>
        <p:spPr>
          <a:xfrm>
            <a:off x="8085455" y="6198235"/>
            <a:ext cx="410654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GPT-4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Estimation du coût d'entraînement</a:t>
            </a:r>
            <a:endParaRPr lang="en-US" sz="1100"/>
          </a:p>
        </p:txBody>
      </p:sp>
    </p:spTree>
  </p:cSld>
  <p:clrMapOvr>
    <a:masterClrMapping/>
  </p:clrMapOvr>
  <p:transition spd="slow">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Mécanisme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endPar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705"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70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standard (Vanilla)</a:t>
            </a:r>
            <a:endParaRPr lang="en-US" sz="1705"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demande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croît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le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couches du réseau.</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70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a:t>
            </a:r>
            <a:r>
              <a:rPr lang="en-US" sz="170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causes</a:t>
            </a:r>
            <a:endParaRPr lang="en-US" sz="170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Conservation des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activations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intermédiaires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générées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propagation avant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doivent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être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conservées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Dépendances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gradient de la couche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 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besoin</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l’entrée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 la sortie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Libération : la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libérée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qu’après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enfants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dépendances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été</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traités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70815" y="3659717"/>
            <a:ext cx="6080760" cy="1641475"/>
          </a:xfrm>
          <a:prstGeom prst="rect">
            <a:avLst/>
          </a:prstGeom>
          <a:ln w="12700">
            <a:noFill/>
            <a:prstDash val="solid"/>
          </a:ln>
        </p:spPr>
      </p:pic>
      <p:pic>
        <p:nvPicPr>
          <p:cNvPr id="7" name="Picture 7"/>
          <p:cNvPicPr>
            <a:picLocks noChangeAspect="1"/>
          </p:cNvPicPr>
          <p:nvPr/>
        </p:nvPicPr>
        <p:blipFill>
          <a:blip r:embed="rId2"/>
          <a:srcRect t="22264"/>
          <a:stretch>
            <a:fillRect/>
          </a:stretch>
        </p:blipFill>
        <p:spPr>
          <a:xfrm>
            <a:off x="6376035" y="3837517"/>
            <a:ext cx="5694045" cy="1463675"/>
          </a:xfrm>
          <a:prstGeom prst="rect">
            <a:avLst/>
          </a:prstGeom>
          <a:ln w="12700">
            <a:noFill/>
            <a:prstDash val="solid"/>
          </a:ln>
        </p:spPr>
      </p:pic>
      <p:sp>
        <p:nvSpPr>
          <p:cNvPr id="8" name="AutoShape 8"/>
          <p:cNvSpPr/>
          <p:nvPr/>
        </p:nvSpPr>
        <p:spPr>
          <a:xfrm>
            <a:off x="173776" y="5664838"/>
            <a:ext cx="5553710" cy="4616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dirty="0"/>
              <a:t>Propagation avant : </a:t>
            </a:r>
            <a:r>
              <a:rPr lang="en-US" sz="1200" dirty="0" err="1"/>
              <a:t>toutes</a:t>
            </a:r>
            <a:r>
              <a:rPr lang="en-US" sz="1200" dirty="0"/>
              <a:t> les activations </a:t>
            </a:r>
            <a:r>
              <a:rPr lang="en-US" sz="1200" dirty="0" err="1"/>
              <a:t>intermédiaires</a:t>
            </a:r>
            <a:r>
              <a:rPr lang="en-US" sz="1200" dirty="0"/>
              <a:t> </a:t>
            </a:r>
            <a:r>
              <a:rPr lang="en-US" sz="1200" dirty="0" err="1"/>
              <a:t>doivent</a:t>
            </a:r>
            <a:r>
              <a:rPr lang="en-US" sz="1200" dirty="0"/>
              <a:t> </a:t>
            </a:r>
            <a:r>
              <a:rPr lang="en-US" sz="1200" dirty="0" err="1"/>
              <a:t>être</a:t>
            </a:r>
            <a:r>
              <a:rPr lang="en-US" sz="1200" dirty="0"/>
              <a:t> </a:t>
            </a:r>
            <a:r>
              <a:rPr lang="en-US" sz="1200" dirty="0" err="1"/>
              <a:t>stockées</a:t>
            </a:r>
            <a:r>
              <a:rPr lang="en-US" sz="1200" dirty="0"/>
              <a:t> </a:t>
            </a:r>
            <a:r>
              <a:rPr lang="en-US" sz="1200" dirty="0" err="1"/>
              <a:t>en</a:t>
            </a:r>
            <a:r>
              <a:rPr lang="en-US" sz="1200" dirty="0"/>
              <a:t> </a:t>
            </a:r>
            <a:r>
              <a:rPr lang="en-US" sz="1200" dirty="0" err="1"/>
              <a:t>mémoire</a:t>
            </a:r>
            <a:r>
              <a:rPr lang="en-US" sz="1200" dirty="0"/>
              <a:t>.</a:t>
            </a:r>
            <a:endParaRPr lang="en-US" sz="1200" dirty="0"/>
          </a:p>
        </p:txBody>
      </p:sp>
      <p:sp>
        <p:nvSpPr>
          <p:cNvPr id="9" name="AutoShape 9"/>
          <p:cNvSpPr/>
          <p:nvPr/>
        </p:nvSpPr>
        <p:spPr>
          <a:xfrm>
            <a:off x="5950371" y="5664838"/>
            <a:ext cx="5553710" cy="461665"/>
          </a:xfrm>
          <a:prstGeom prst="rect">
            <a:avLst/>
          </a:prstGeom>
          <a:noFill/>
          <a:ln w="12700">
            <a:noFill/>
            <a:prstDash val="solid"/>
          </a:ln>
        </p:spPr>
        <p:txBody>
          <a:bodyPr wrap="square" lIns="91440" tIns="45720" rIns="91440" bIns="45720" rtlCol="0" anchor="t">
            <a:spAutoFit/>
          </a:bodyPr>
          <a:lstStyle/>
          <a:p>
            <a:pPr algn="ctr">
              <a:defRPr/>
            </a:pPr>
            <a:r>
              <a:rPr lang="en-US" altLang="zh-CN" sz="1200" b="1" dirty="0" err="1"/>
              <a:t>Rétropropagation</a:t>
            </a:r>
            <a:r>
              <a:rPr lang="en-US" altLang="zh-CN" sz="1200" b="1" dirty="0"/>
              <a:t> : </a:t>
            </a:r>
            <a:r>
              <a:rPr lang="en-US" altLang="zh-CN" sz="1200" dirty="0"/>
              <a:t>l</a:t>
            </a:r>
            <a:r>
              <a:rPr lang="en-US" sz="1200" dirty="0"/>
              <a:t>a </a:t>
            </a:r>
            <a:r>
              <a:rPr lang="en-US" sz="1200" dirty="0" err="1"/>
              <a:t>mémoire</a:t>
            </a:r>
            <a:r>
              <a:rPr lang="en-US" sz="1200" dirty="0"/>
              <a:t> est </a:t>
            </a:r>
            <a:r>
              <a:rPr lang="en-US" sz="1200" dirty="0" err="1"/>
              <a:t>libérée</a:t>
            </a:r>
            <a:r>
              <a:rPr lang="en-US" sz="1200" dirty="0"/>
              <a:t> </a:t>
            </a:r>
            <a:r>
              <a:rPr lang="en-US" sz="1200" dirty="0" err="1"/>
              <a:t>une</a:t>
            </a:r>
            <a:r>
              <a:rPr lang="en-US" sz="1200" dirty="0"/>
              <a:t> </a:t>
            </a:r>
            <a:r>
              <a:rPr lang="en-US" sz="1200" dirty="0" err="1"/>
              <a:t>fois</a:t>
            </a:r>
            <a:r>
              <a:rPr lang="en-US" sz="1200" dirty="0"/>
              <a:t> </a:t>
            </a:r>
            <a:r>
              <a:rPr lang="en-US" sz="1200" dirty="0" err="1"/>
              <a:t>que</a:t>
            </a:r>
            <a:r>
              <a:rPr lang="en-US" sz="1200" dirty="0"/>
              <a:t> les </a:t>
            </a:r>
            <a:r>
              <a:rPr lang="en-US" sz="1200" dirty="0" err="1"/>
              <a:t>noeuds</a:t>
            </a:r>
            <a:r>
              <a:rPr lang="en-US" sz="1200" dirty="0"/>
              <a:t> enfants </a:t>
            </a:r>
            <a:r>
              <a:rPr lang="en-US" sz="1200" dirty="0" err="1"/>
              <a:t>sont</a:t>
            </a:r>
            <a:r>
              <a:rPr lang="en-US" sz="1200" dirty="0"/>
              <a:t> </a:t>
            </a:r>
            <a:r>
              <a:rPr lang="en-US" sz="1200" dirty="0" err="1"/>
              <a:t>traités</a:t>
            </a:r>
            <a:r>
              <a:rPr lang="en-US" sz="1200" dirty="0"/>
              <a:t>.</a:t>
            </a:r>
            <a:endParaRPr lang="en-US" sz="1200" dirty="0"/>
          </a:p>
        </p:txBody>
      </p:sp>
    </p:spTree>
  </p:cSld>
  <p:clrMapOvr>
    <a:masterClrMapping/>
  </p:clrMapOvr>
  <p:transition spd="slow">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Mécanisme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284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endParaRPr lang="en-US" sz="284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88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Retropropagation</a:t>
            </a:r>
            <a:r>
              <a:rPr lang="en-US" sz="18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88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a:t>
            </a:r>
            <a:r>
              <a:rPr lang="en-US" sz="18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8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endParaRPr lang="en-US" sz="18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spcBef>
                <a:spcPts val="750"/>
              </a:spcBef>
              <a:buClr>
                <a:srgbClr val="404040"/>
              </a:buClr>
              <a:buFont typeface="Arial" panose="020B0604020202020204"/>
              <a:buChar char="•"/>
            </a:pP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Abandonner</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intermédiaires</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recalculer</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demande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88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de base</a:t>
            </a:r>
            <a:endParaRPr lang="en-US" sz="188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plus stocker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toutes</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valeurs</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dactivation</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propagation avant.</a:t>
            </a:r>
            <a:endPar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besoin</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d'une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réexécuter</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avant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depuis</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point de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plus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proche</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7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7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passe de O(n)  à</a:t>
            </a:r>
            <a:r>
              <a:rPr lang="en-US" sz="1700" b="0" i="0" u="none" strike="noStrike" dirty="0">
                <a:solidFill>
                  <a:srgbClr val="404040"/>
                </a:solidFill>
                <a:latin typeface="Calibri" panose="020F0502020204030204"/>
                <a:ea typeface="Calibri" panose="020F0502020204030204"/>
                <a:cs typeface="Calibri" panose="020F0502020204030204"/>
                <a:sym typeface="Calibri" panose="020F0502020204030204"/>
              </a:rPr>
              <a:t> O(n^2)</a:t>
            </a:r>
            <a:endParaRPr lang="en-US" sz="17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85090" y="5806440"/>
            <a:ext cx="5553710" cy="276999"/>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dirty="0"/>
              <a:t>Propagation avant : </a:t>
            </a:r>
            <a:r>
              <a:rPr lang="en-US" sz="1200" dirty="0"/>
              <a:t>Ne pas stocker les activations </a:t>
            </a:r>
            <a:r>
              <a:rPr lang="en-US" sz="1200" dirty="0" err="1"/>
              <a:t>en</a:t>
            </a:r>
            <a:r>
              <a:rPr lang="en-US" sz="1200" dirty="0"/>
              <a:t> </a:t>
            </a:r>
            <a:r>
              <a:rPr lang="en-US" sz="1200" dirty="0" err="1"/>
              <a:t>mémoire</a:t>
            </a:r>
            <a:r>
              <a:rPr lang="en-US" sz="1200" dirty="0"/>
              <a:t>.</a:t>
            </a:r>
            <a:endParaRPr lang="en-US" sz="1200" dirty="0"/>
          </a:p>
        </p:txBody>
      </p:sp>
      <p:sp>
        <p:nvSpPr>
          <p:cNvPr id="7" name="AutoShape 7"/>
          <p:cNvSpPr/>
          <p:nvPr/>
        </p:nvSpPr>
        <p:spPr>
          <a:xfrm>
            <a:off x="6153785" y="5827395"/>
            <a:ext cx="5553710" cy="4616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dirty="0" err="1"/>
              <a:t>Rétropropagation</a:t>
            </a:r>
            <a:r>
              <a:rPr lang="en-US" sz="1200" b="1" dirty="0"/>
              <a:t> : </a:t>
            </a:r>
            <a:r>
              <a:rPr lang="en-US" sz="1200" dirty="0" err="1"/>
              <a:t>Réexécuter</a:t>
            </a:r>
            <a:r>
              <a:rPr lang="en-US" sz="1200" dirty="0"/>
              <a:t> le </a:t>
            </a:r>
            <a:r>
              <a:rPr lang="en-US" sz="1200" dirty="0" err="1"/>
              <a:t>calcul</a:t>
            </a:r>
            <a:r>
              <a:rPr lang="en-US" sz="1200" dirty="0"/>
              <a:t> avant </a:t>
            </a:r>
            <a:r>
              <a:rPr lang="en-US" sz="1200" dirty="0" err="1"/>
              <a:t>depuis</a:t>
            </a:r>
            <a:r>
              <a:rPr lang="en-US" sz="1200" dirty="0"/>
              <a:t> le point de </a:t>
            </a:r>
            <a:r>
              <a:rPr lang="en-US" sz="1200" dirty="0" err="1"/>
              <a:t>contrôle</a:t>
            </a:r>
            <a:r>
              <a:rPr lang="en-US" sz="1200" dirty="0"/>
              <a:t> le plus </a:t>
            </a:r>
            <a:r>
              <a:rPr lang="en-US" sz="1200" dirty="0" err="1"/>
              <a:t>proche</a:t>
            </a:r>
            <a:r>
              <a:rPr lang="en-US" sz="1200" dirty="0"/>
              <a:t>.</a:t>
            </a:r>
            <a:endParaRPr lang="en-US" sz="1200" dirty="0"/>
          </a:p>
        </p:txBody>
      </p:sp>
      <p:pic>
        <p:nvPicPr>
          <p:cNvPr id="8" name="Picture 8"/>
          <p:cNvPicPr>
            <a:picLocks noChangeAspect="1"/>
          </p:cNvPicPr>
          <p:nvPr/>
        </p:nvPicPr>
        <p:blipFill>
          <a:blip r:embed="rId1"/>
          <a:srcRect/>
          <a:stretch>
            <a:fillRect/>
          </a:stretch>
        </p:blipFill>
        <p:spPr>
          <a:xfrm>
            <a:off x="85090" y="3839210"/>
            <a:ext cx="6132830" cy="1598930"/>
          </a:xfrm>
          <a:prstGeom prst="rect">
            <a:avLst/>
          </a:prstGeom>
          <a:ln w="12700">
            <a:noFill/>
            <a:prstDash val="solid"/>
          </a:ln>
        </p:spPr>
      </p:pic>
      <p:pic>
        <p:nvPicPr>
          <p:cNvPr id="9" name="Picture 9"/>
          <p:cNvPicPr>
            <a:picLocks noChangeAspect="1"/>
          </p:cNvPicPr>
          <p:nvPr/>
        </p:nvPicPr>
        <p:blipFill>
          <a:blip r:embed="rId2"/>
          <a:srcRect/>
          <a:stretch>
            <a:fillRect/>
          </a:stretch>
        </p:blipFill>
        <p:spPr>
          <a:xfrm>
            <a:off x="6217920" y="3860165"/>
            <a:ext cx="5688965" cy="1671320"/>
          </a:xfrm>
          <a:prstGeom prst="rect">
            <a:avLst/>
          </a:prstGeom>
          <a:ln w="12700">
            <a:noFill/>
            <a:prstDash val="solid"/>
          </a:ln>
        </p:spPr>
      </p:pic>
      <p:sp>
        <p:nvSpPr>
          <p:cNvPr id="10"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a:ln>
                  <a:noFill/>
                </a:ln>
                <a:solidFill>
                  <a:srgbClr val="0F1115"/>
                </a:solidFill>
                <a:effectLst/>
                <a:latin typeface="Arial" panose="020B0604020202020204" pitchFamily="34" charset="0"/>
                <a:ea typeface="quote-cjk-patch"/>
              </a:rPr>
              <a:t>activations</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slow">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Point de </a:t>
            </a:r>
            <a:r>
              <a:rPr lang="en-US" sz="23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contrôle</a:t>
            </a:r>
            <a:r>
              <a:rPr lang="en-US" sz="23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du gradient (Gradient Checkpointing)</a:t>
            </a:r>
            <a:endParaRPr lang="en-US" sz="23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Entre la </a:t>
            </a:r>
            <a:r>
              <a:rPr lang="en-US" sz="16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standard et la </a:t>
            </a:r>
            <a:r>
              <a:rPr lang="en-US" sz="16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6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a:t>
            </a: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9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certaines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couches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clés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maintient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volume de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des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raisonnables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tout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réduisant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significativement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non‑checkpoint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recalculés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localement</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partir</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point de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plus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proche</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5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Choix optimal</a:t>
            </a:r>
            <a:endParaRPr lang="en-US" sz="169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équilibrer</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solution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mathématique</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optimale</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de placer un point de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___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O(___)</a:t>
            </a:r>
            <a:endPar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O(n), environ 1,5× la </a:t>
            </a:r>
            <a:r>
              <a:rPr lang="en-US" sz="153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standard.</a:t>
            </a:r>
            <a:endParaRPr lang="en-US" sz="153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50 % de temps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pour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réduire</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l’occupation</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n à ___ (gain </a:t>
            </a:r>
            <a:r>
              <a:rPr lang="en-US" sz="153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considérable</a:t>
            </a:r>
            <a:r>
              <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97815" y="4576873"/>
            <a:ext cx="6009640" cy="15684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07455" y="4518453"/>
            <a:ext cx="5761990" cy="1715135"/>
          </a:xfrm>
          <a:prstGeom prst="rect">
            <a:avLst/>
          </a:prstGeom>
          <a:ln w="12700">
            <a:noFill/>
            <a:prstDash val="solid"/>
          </a:ln>
        </p:spPr>
      </p:pic>
      <p:sp>
        <p:nvSpPr>
          <p:cNvPr id="8" name="AutoShape 8"/>
          <p:cNvSpPr/>
          <p:nvPr/>
        </p:nvSpPr>
        <p:spPr>
          <a:xfrm>
            <a:off x="-43180" y="6407785"/>
            <a:ext cx="5553710" cy="276999"/>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dirty="0"/>
              <a:t>Propagation avant : </a:t>
            </a:r>
            <a:r>
              <a:rPr lang="en-US" sz="1200" dirty="0"/>
              <a:t>stocker </a:t>
            </a:r>
            <a:r>
              <a:rPr lang="en-US" sz="1200" dirty="0" err="1"/>
              <a:t>certaines</a:t>
            </a:r>
            <a:r>
              <a:rPr lang="en-US" sz="1200" dirty="0"/>
              <a:t> couches </a:t>
            </a:r>
            <a:r>
              <a:rPr lang="en-US" sz="1200" dirty="0" err="1"/>
              <a:t>clés</a:t>
            </a:r>
            <a:r>
              <a:rPr lang="en-US" sz="1200" dirty="0"/>
              <a:t>.</a:t>
            </a:r>
            <a:endParaRPr lang="en-US" sz="1200" dirty="0"/>
          </a:p>
        </p:txBody>
      </p:sp>
      <p:sp>
        <p:nvSpPr>
          <p:cNvPr id="9" name="AutoShape 9"/>
          <p:cNvSpPr/>
          <p:nvPr/>
        </p:nvSpPr>
        <p:spPr>
          <a:xfrm>
            <a:off x="6025515" y="6428740"/>
            <a:ext cx="5553710" cy="461665"/>
          </a:xfrm>
          <a:prstGeom prst="rect">
            <a:avLst/>
          </a:prstGeom>
          <a:noFill/>
          <a:ln w="12700">
            <a:noFill/>
            <a:prstDash val="solid"/>
          </a:ln>
        </p:spPr>
        <p:txBody>
          <a:bodyPr wrap="square" lIns="91440" tIns="45720" rIns="91440" bIns="45720" rtlCol="0" anchor="t">
            <a:spAutoFit/>
          </a:bodyPr>
          <a:lstStyle/>
          <a:p>
            <a:pPr algn="ctr">
              <a:defRPr/>
            </a:pPr>
            <a:r>
              <a:rPr lang="en-US" altLang="zh-CN" sz="1200" b="1" dirty="0"/>
              <a:t>Rétropropagation : </a:t>
            </a:r>
            <a:r>
              <a:rPr lang="en-US" altLang="zh-CN" sz="1200" dirty="0"/>
              <a:t>recalcul local à partir du point de contrôle (checkpoint) le plus proche.</a:t>
            </a:r>
            <a:endParaRPr lang="en-US" altLang="zh-CN" sz="1200" dirty="0"/>
          </a:p>
        </p:txBody>
      </p:sp>
    </p:spTree>
  </p:cSld>
  <p:clrMapOvr>
    <a:masterClrMapping/>
  </p:clrMapOvr>
  <p:transition spd="slow">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570304" y="373380"/>
            <a:ext cx="8690464"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en-US" altLang="zh-CN" b="1" dirty="0"/>
              <a:t>Implémentation de Gradient Checkpointing</a:t>
            </a:r>
            <a:endParaRPr lang="en-US" altLang="zh-CN" dirty="0"/>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dirty="0"/>
          </a:p>
        </p:txBody>
      </p:sp>
      <p:pic>
        <p:nvPicPr>
          <p:cNvPr id="6" name="Picture 6"/>
          <p:cNvPicPr>
            <a:picLocks noChangeAspect="1"/>
          </p:cNvPicPr>
          <p:nvPr/>
        </p:nvPicPr>
        <p:blipFill>
          <a:blip r:embed="rId1"/>
          <a:srcRect/>
          <a:stretch>
            <a:fillRect/>
          </a:stretch>
        </p:blipFill>
        <p:spPr>
          <a:xfrm>
            <a:off x="6664325" y="4195445"/>
            <a:ext cx="5062220" cy="2216785"/>
          </a:xfrm>
          <a:prstGeom prst="rect">
            <a:avLst/>
          </a:prstGeom>
          <a:ln w="12700">
            <a:noFill/>
            <a:prstDash val="solid"/>
          </a:ln>
        </p:spPr>
      </p:pic>
      <p:sp>
        <p:nvSpPr>
          <p:cNvPr id="7" name="AutoShape 7"/>
          <p:cNvSpPr/>
          <p:nvPr/>
        </p:nvSpPr>
        <p:spPr>
          <a:xfrm>
            <a:off x="523875" y="1390650"/>
            <a:ext cx="592391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196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196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native</a:t>
            </a:r>
            <a:r>
              <a:rPr lang="en-US" sz="1960" b="1"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6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PyTorch</a:t>
            </a:r>
            <a:r>
              <a:rPr lang="en-US" sz="1960" b="1"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96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personnalisée</a:t>
            </a:r>
            <a:endParaRPr lang="en-US" sz="1100" dirty="0"/>
          </a:p>
          <a:p>
            <a:pPr marL="596900" lvl="1" indent="-254000" algn="l">
              <a:lnSpc>
                <a:spcPct val="100000"/>
              </a:lnSpc>
              <a:spcBef>
                <a:spcPts val="750"/>
              </a:spcBef>
              <a:buClr>
                <a:srgbClr val="404040"/>
              </a:buClr>
              <a:buChar char="•"/>
            </a:pP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Module principal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torch.utils.checkpoint</a:t>
            </a:r>
            <a:endPar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généraux</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checkpoint </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envelopper</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n'importe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quel</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nn.Module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les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séquentiels</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checkpoint_sequential</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conçu</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nn.Sequential</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prise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charge de la segmentation </a:t>
            </a:r>
            <a:r>
              <a:rPr lang="en-US" sz="16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automatique</a:t>
            </a:r>
            <a:r>
              <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Intégration</a:t>
            </a:r>
            <a:r>
              <a:rPr lang="en-US" sz="196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simple avec Hugging Face</a:t>
            </a:r>
            <a:endParaRPr lang="en-US" sz="196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Activer</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le flag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gradient_checkpointing</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dans les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paramètres</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d’entraînement</a:t>
            </a:r>
            <a:r>
              <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Picture 8"/>
          <p:cNvPicPr>
            <a:picLocks noChangeAspect="1"/>
          </p:cNvPicPr>
          <p:nvPr/>
        </p:nvPicPr>
        <p:blipFill>
          <a:blip r:embed="rId2"/>
          <a:srcRect/>
          <a:stretch>
            <a:fillRect/>
          </a:stretch>
        </p:blipFill>
        <p:spPr>
          <a:xfrm>
            <a:off x="7636933" y="929139"/>
            <a:ext cx="3113299" cy="2990715"/>
          </a:xfrm>
          <a:prstGeom prst="rect">
            <a:avLst/>
          </a:prstGeom>
          <a:ln w="12700">
            <a:noFill/>
            <a:prstDash val="solid"/>
          </a:ln>
        </p:spPr>
      </p:pic>
      <p:sp>
        <p:nvSpPr>
          <p:cNvPr id="9" name="AutoShape 9"/>
          <p:cNvSpPr/>
          <p:nvPr/>
        </p:nvSpPr>
        <p:spPr>
          <a:xfrm>
            <a:off x="6330315" y="3921125"/>
            <a:ext cx="5553710" cy="2813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124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native </a:t>
            </a:r>
            <a:r>
              <a:rPr lang="en-US" sz="1240" b="0" i="0" u="none" strike="noStrike" dirty="0" err="1">
                <a:solidFill>
                  <a:srgbClr val="000000"/>
                </a:solidFill>
                <a:latin typeface="Calibri" panose="020F0502020204030204"/>
                <a:ea typeface="Arial" panose="020B0604020202020204"/>
                <a:cs typeface="Arial" panose="020B0604020202020204"/>
                <a:sym typeface="Arial" panose="020B0604020202020204"/>
              </a:rPr>
              <a:t>Pytorch</a:t>
            </a:r>
            <a:r>
              <a:rPr lang="en-US" sz="1240" b="0" i="0" u="none" strike="noStrike" dirty="0">
                <a:solidFill>
                  <a:srgbClr val="000000"/>
                </a:solidFill>
                <a:latin typeface="Calibri" panose="020F0502020204030204"/>
                <a:ea typeface="Arial" panose="020B0604020202020204"/>
                <a:cs typeface="Arial" panose="020B0604020202020204"/>
                <a:sym typeface="Arial" panose="020B0604020202020204"/>
              </a:rPr>
              <a:t> </a:t>
            </a:r>
            <a:r>
              <a:rPr lang="en-US" sz="124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du </a:t>
            </a:r>
            <a:r>
              <a:rPr lang="en-US" sz="1240" b="0" i="0" u="none" strike="noStrike" dirty="0">
                <a:solidFill>
                  <a:srgbClr val="000000"/>
                </a:solidFill>
                <a:latin typeface="Calibri" panose="020F0502020204030204"/>
                <a:ea typeface="Arial" panose="020B0604020202020204"/>
                <a:cs typeface="Arial" panose="020B0604020202020204"/>
                <a:sym typeface="Arial" panose="020B0604020202020204"/>
              </a:rPr>
              <a:t>Checkpoint</a:t>
            </a:r>
            <a:endParaRPr lang="en-US" sz="1100" dirty="0"/>
          </a:p>
        </p:txBody>
      </p:sp>
      <p:sp>
        <p:nvSpPr>
          <p:cNvPr id="10" name="AutoShape 10"/>
          <p:cNvSpPr/>
          <p:nvPr/>
        </p:nvSpPr>
        <p:spPr>
          <a:xfrm>
            <a:off x="6247765" y="6438900"/>
            <a:ext cx="5553710" cy="2813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dirty="0" err="1">
                <a:solidFill>
                  <a:srgbClr val="000000"/>
                </a:solidFill>
                <a:latin typeface="Calibri" panose="020F0502020204030204"/>
                <a:ea typeface="Arial" panose="020B0604020202020204"/>
                <a:cs typeface="Arial" panose="020B0604020202020204"/>
                <a:sym typeface="Arial" panose="020B0604020202020204"/>
              </a:rPr>
              <a:t>HF</a:t>
            </a:r>
            <a:r>
              <a:rPr lang="en-US" sz="124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intégration</a:t>
            </a:r>
            <a:r>
              <a:rPr lang="en-US" sz="124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simple du </a:t>
            </a:r>
            <a:r>
              <a:rPr lang="en-US" sz="1240" b="0" i="0" u="none" strike="noStrike" dirty="0" err="1">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1240" b="0" i="0" u="none" strike="noStrike" dirty="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40" b="0" i="0" u="none" strike="noStrike" dirty="0">
                <a:solidFill>
                  <a:srgbClr val="000000"/>
                </a:solidFill>
                <a:latin typeface="Calibri" panose="020F0502020204030204"/>
                <a:ea typeface="Arial" panose="020B0604020202020204"/>
                <a:cs typeface="Arial" panose="020B0604020202020204"/>
                <a:sym typeface="Arial" panose="020B0604020202020204"/>
              </a:rPr>
              <a:t>Checkpoint</a:t>
            </a:r>
            <a:endParaRPr lang="en-US" sz="1100" dirty="0"/>
          </a:p>
        </p:txBody>
      </p:sp>
    </p:spTree>
  </p:cSld>
  <p:clrMapOvr>
    <a:masterClrMapping/>
  </p:clrMapOvr>
  <p:transition spd="slow">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Offloading</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Déchargement</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Éviction</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0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[1] Ren J, Rajbhandari S, Aminabadi R Y, et al. {Zero-offload}: Democratizing {billion-scale} model training[C]//2021 USENIX Annual Technical Conference (USENIX ATC 21). 2021: 551-564.</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[2] Rajbhandari S, Ruwase O, Rasley J, et al. Zero-infinity: Breaking the gpu memory wall for extreme scale deep learning[C]//Proceedings of the international conference for high performance computing, networking, storage and analysis. 2021: 1-14.</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459930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migrant les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états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activations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depuis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la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CPU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stockage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dépasse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permettant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grands.</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Motivation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principale</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Décharger</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inactifs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CPU/</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disque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Hiérarchie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altLang="zh-CN"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échange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dynamique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00000"/>
              </a:lnSpc>
              <a:spcBef>
                <a:spcPts val="150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Technologies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clés</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spcBef>
                <a:spcPts val="750"/>
              </a:spcBef>
              <a:buClr>
                <a:srgbClr val="404040"/>
              </a:buClr>
              <a:buFont typeface="Arial" panose="020B0604020202020204"/>
              <a:buChar char="•"/>
            </a:pP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-Offload</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DeepSpeed</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états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gradients vers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la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CPU.</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spcBef>
                <a:spcPts val="750"/>
              </a:spcBef>
              <a:buClr>
                <a:srgbClr val="404040"/>
              </a:buClr>
              <a:buFont typeface="Arial" panose="020B0604020202020204"/>
              <a:buChar char="•"/>
            </a:pP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ZeRO</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-Infinity: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étendu</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au SSD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permet</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l'entraînement</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de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à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l'échelle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du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téraoctet</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FSDP + CPU Offload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PyTorch</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Fully Sharded Data Parallel</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partiel</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après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5002319" y="2356167"/>
          <a:ext cx="7011670" cy="2788920"/>
        </p:xfrm>
        <a:graphic>
          <a:graphicData uri="http://schemas.openxmlformats.org/drawingml/2006/table">
            <a:tbl>
              <a:tblPr>
                <a:effectLst/>
              </a:tblPr>
              <a:tblGrid>
                <a:gridCol w="1644015"/>
                <a:gridCol w="2141220"/>
                <a:gridCol w="3226435"/>
              </a:tblGrid>
              <a:tr h="381000">
                <a:tc>
                  <a:txBody>
                    <a:bodyPr/>
                    <a:lstStyle/>
                    <a:p>
                      <a:r>
                        <a:t>Dimension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r>
                        <a:t>Impact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r>
                        <a:t>Stratégie d'optimisation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1000">
                <a:tc>
                  <a:txBody>
                    <a:bodyPr/>
                    <a:lstStyle/>
                    <a:p>
                      <a:r>
                        <a:rPr lang="en-US" dirty="0"/>
                        <a:t>Coût de communication</a:t>
                      </a:r>
                      <a:endParaRPr lang="en-US"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dirty="0"/>
                        <a:t>Bande </a:t>
                      </a:r>
                      <a:r>
                        <a:rPr dirty="0" err="1"/>
                        <a:t>passante</a:t>
                      </a:r>
                      <a:r>
                        <a:rPr dirty="0"/>
                        <a:t> CPU↔GPU bien </a:t>
                      </a:r>
                      <a:r>
                        <a:rPr dirty="0" err="1"/>
                        <a:t>inférieure</a:t>
                      </a:r>
                      <a:r>
                        <a:rPr dirty="0"/>
                        <a:t> à </a:t>
                      </a:r>
                      <a:r>
                        <a:rPr lang="en-US" dirty="0"/>
                        <a:t>celle de</a:t>
                      </a:r>
                      <a:r>
                        <a:rPr lang="zh-CN" altLang="en-US" dirty="0"/>
                        <a:t> </a:t>
                      </a:r>
                      <a:r>
                        <a:rPr dirty="0"/>
                        <a:t>la </a:t>
                      </a:r>
                      <a:r>
                        <a:rPr dirty="0" err="1"/>
                        <a:t>mémoire</a:t>
                      </a:r>
                      <a:r>
                        <a:rPr lang="zh-CN" altLang="en-US" dirty="0"/>
                        <a:t> </a:t>
                      </a:r>
                      <a:r>
                        <a:rPr lang="en-US" altLang="zh-CN" dirty="0"/>
                        <a:t>vidéo</a:t>
                      </a:r>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dirty="0"/>
                        <a:t>Prélecture (prefetching), chevauchement calcul-communication</a:t>
                      </a:r>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a:lstStyle/>
                    <a:p>
                      <a:r>
                        <a:t>Latence de calcul</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r>
                        <a:t>CPU plus lent que GPU</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dirty="0"/>
                        <a:t>Décharger uniquement l'état de l'optimiseur (ex. calcul Adam) ; conserver la passe avant/arrière sur GPU</a:t>
                      </a:r>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a:lstStyle/>
                    <a:p>
                      <a:r>
                        <a:t>Évolutivité</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r>
                        <a:t>Limite de bande passante NVMe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r>
                        <a:rPr dirty="0"/>
                        <a:t>SSD multiples </a:t>
                      </a:r>
                      <a:r>
                        <a:rPr dirty="0" err="1"/>
                        <a:t>parallèles</a:t>
                      </a:r>
                      <a:r>
                        <a:rPr dirty="0"/>
                        <a:t>, I/O </a:t>
                      </a:r>
                      <a:r>
                        <a:rPr dirty="0" err="1"/>
                        <a:t>asynchrone</a:t>
                      </a:r>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p:transition spd="slow">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Offloading pour grands </a:t>
            </a:r>
            <a:r>
              <a:rPr lang="en-US" sz="24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24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comparaison</a:t>
            </a:r>
            <a:r>
              <a:rPr lang="en-US" sz="24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technologies</a:t>
            </a:r>
            <a:endParaRPr lang="en-US" sz="24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descr="E:/BAAI/COURSE/i18n/fr/lecture-35-Large Model Training Offloading Technology Comparison.pnglecture-35-Large Model Training Offloading Technology Comparison"/>
          <p:cNvPicPr>
            <a:picLocks noChangeAspect="1"/>
          </p:cNvPicPr>
          <p:nvPr/>
        </p:nvPicPr>
        <p:blipFill>
          <a:blip r:embed="rId1"/>
          <a:srcRect l="98" r="98"/>
          <a:stretch>
            <a:fillRect/>
          </a:stretch>
        </p:blipFill>
        <p:spPr>
          <a:xfrm>
            <a:off x="1024255" y="1327785"/>
            <a:ext cx="10276205" cy="5530215"/>
          </a:xfrm>
          <a:prstGeom prst="rect">
            <a:avLst/>
          </a:prstGeom>
          <a:ln w="12700">
            <a:noFill/>
            <a:prstDash val="solid"/>
          </a:ln>
        </p:spPr>
      </p:pic>
    </p:spTree>
  </p:cSld>
  <p:clrMapOvr>
    <a:masterClrMapping/>
  </p:clrMapOvr>
  <p:transition spd="slow">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DeepSpeed ZeRO-Offloading</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523875" y="1323975"/>
            <a:ext cx="11591925" cy="4853305"/>
          </a:xfrm>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 : Limiter le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CPU</a:t>
            </a:r>
            <a:endPar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CPU est bien plus lent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GPU : ne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lui</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déléguer</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 GPU : propagation avant et arrière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O(MB),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où</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 est la taille de lot).</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 CPU : mise à jour des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O(M)),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norme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mise à jour des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etc.</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2 :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Minimiser</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communication</a:t>
            </a:r>
            <a:endPar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spcBef>
                <a:spcPts val="750"/>
              </a:spcBef>
              <a:buClr>
                <a:srgbClr val="404040"/>
              </a:buClr>
              <a:buFont typeface="Arial" panose="020B0604020202020204"/>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volume de communication minimal pour tout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d’état du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de 4M.</a:t>
            </a:r>
            <a:endPar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p32, m32, v32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fusionnés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la “mise à jour des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0000"/>
              </a:lnSpc>
              <a:spcBef>
                <a:spcPts val="750"/>
              </a:spcBef>
              <a:buClr>
                <a:srgbClr val="404040"/>
              </a:buClr>
              <a:buChar char="•"/>
            </a:pP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p16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reste</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GPU avec le super-</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noeud</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FWD-BWD. </a:t>
            </a:r>
            <a:endPar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659245" y="3542030"/>
            <a:ext cx="5354320" cy="3179445"/>
          </a:xfrm>
          <a:prstGeom prst="rect">
            <a:avLst/>
          </a:prstGeom>
          <a:ln w="12700">
            <a:noFill/>
            <a:prstDash val="solid"/>
          </a:ln>
        </p:spPr>
      </p:pic>
      <p:graphicFrame>
        <p:nvGraphicFramePr>
          <p:cNvPr id="7" name="Table 7"/>
          <p:cNvGraphicFramePr>
            <a:graphicFrameLocks noGrp="1"/>
          </p:cNvGraphicFramePr>
          <p:nvPr/>
        </p:nvGraphicFramePr>
        <p:xfrm>
          <a:off x="741404" y="4089678"/>
          <a:ext cx="5455920" cy="2558138"/>
        </p:xfrm>
        <a:graphic>
          <a:graphicData uri="http://schemas.openxmlformats.org/drawingml/2006/table">
            <a:tbl>
              <a:tblPr>
                <a:effectLst/>
              </a:tblPr>
              <a:tblGrid>
                <a:gridCol w="1590040"/>
                <a:gridCol w="1066165"/>
                <a:gridCol w="2799715"/>
              </a:tblGrid>
              <a:tr h="368935">
                <a:tc>
                  <a:txBody>
                    <a:bodyPr/>
                    <a:lstStyle/>
                    <a:p>
                      <a:r>
                        <a:rPr sz="1200"/>
                        <a:t>Type de nœud</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lang="en-US" sz="1200" dirty="0"/>
                        <a:t>Périphérique</a:t>
                      </a:r>
                      <a:endParaRPr lang="en-US"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lang="en-US" sz="1200" dirty="0"/>
                        <a:t>Justification</a:t>
                      </a:r>
                      <a:endParaRPr lang="en-US"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520998">
                <a:tc>
                  <a:txBody>
                    <a:bodyPr/>
                    <a:lstStyle/>
                    <a:p>
                      <a:r>
                        <a:rPr sz="1200"/>
                        <a:t>Super-nœud FWD-BWD</a:t>
                      </a:r>
                      <a:endParaRPr sz="12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lang="en-US" sz="1200" dirty="0"/>
                        <a:t>Exigence de calcul extrêmement élevée (O(MB))</a:t>
                      </a:r>
                      <a:endParaRPr lang="en-US"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473075">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p16</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lang="en-US" sz="1200" dirty="0"/>
                        <a:t>Réduire les communications avec les noeuds de calcul</a:t>
                      </a:r>
                      <a:endParaRPr lang="en-US"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722055">
                <a:tc>
                  <a:txBody>
                    <a:bodyPr/>
                    <a:lstStyle/>
                    <a:p>
                      <a:r>
                        <a:rPr sz="1200" dirty="0"/>
                        <a:t>Super-</a:t>
                      </a:r>
                      <a:r>
                        <a:rPr sz="1200" dirty="0" err="1"/>
                        <a:t>nœud</a:t>
                      </a:r>
                      <a:endParaRPr sz="1200" dirty="0"/>
                    </a:p>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sz="1200" dirty="0"/>
                        <a:t> </a:t>
                      </a:r>
                      <a:r>
                        <a:rPr lang="en-US" sz="1200" dirty="0"/>
                        <a:t>Update </a:t>
                      </a:r>
                      <a:r>
                        <a:rPr sz="1200" dirty="0"/>
                        <a:t>(p32, m32, v32)</a:t>
                      </a:r>
                      <a:endParaRPr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dirty="0"/>
                        <a:t>Occupation </a:t>
                      </a:r>
                      <a:r>
                        <a:rPr sz="1200" dirty="0" err="1"/>
                        <a:t>mémoire</a:t>
                      </a:r>
                      <a:r>
                        <a:rPr sz="1200" dirty="0"/>
                        <a:t> </a:t>
                      </a:r>
                      <a:r>
                        <a:rPr sz="1200" dirty="0" err="1"/>
                        <a:t>maximale</a:t>
                      </a:r>
                      <a:r>
                        <a:rPr sz="1200" dirty="0"/>
                        <a:t>, </a:t>
                      </a:r>
                      <a:r>
                        <a:rPr sz="1200" dirty="0" err="1"/>
                        <a:t>complexité</a:t>
                      </a:r>
                      <a:r>
                        <a:rPr lang="en-US" sz="1200" dirty="0"/>
                        <a:t>, </a:t>
                      </a:r>
                      <a:r>
                        <a:rPr sz="1200" dirty="0" err="1"/>
                        <a:t>faible</a:t>
                      </a:r>
                      <a:endParaRPr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473075">
                <a:tc>
                  <a:txBody>
                    <a:bodyPr/>
                    <a:lstStyle/>
                    <a:p>
                      <a:pPr indent="0" algn="l">
                        <a:lnSpc>
                          <a:spcPct val="100000"/>
                        </a:lnSpc>
                        <a:defRPr/>
                      </a:pPr>
                      <a:r>
                        <a:rPr lang="en-US" sz="1200" b="0" i="0" u="none" strike="noStrike" dirty="0">
                          <a:solidFill>
                            <a:srgbClr val="404040"/>
                          </a:solidFill>
                          <a:latin typeface="Calibri" panose="020F0502020204030204"/>
                          <a:ea typeface="Calibri" panose="020F0502020204030204"/>
                          <a:cs typeface="Calibri" panose="020F0502020204030204"/>
                          <a:sym typeface="Calibri" panose="020F0502020204030204"/>
                        </a:rPr>
                        <a:t>g16</a:t>
                      </a:r>
                      <a:endParaRPr lang="en-US" sz="12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r>
                        <a:rPr sz="1200" dirty="0" err="1"/>
                        <a:t>Réduire</a:t>
                      </a:r>
                      <a:r>
                        <a:rPr sz="1200" dirty="0"/>
                        <a:t> </a:t>
                      </a:r>
                      <a:r>
                        <a:rPr sz="1200" dirty="0" err="1"/>
                        <a:t>l'overhead</a:t>
                      </a:r>
                      <a:r>
                        <a:rPr sz="1200" dirty="0"/>
                        <a:t> de communication avec les </a:t>
                      </a:r>
                      <a:r>
                        <a:rPr sz="1200" dirty="0" err="1"/>
                        <a:t>nœuds</a:t>
                      </a:r>
                      <a:r>
                        <a:rPr sz="1200" dirty="0"/>
                        <a:t> de </a:t>
                      </a:r>
                      <a:r>
                        <a:rPr sz="1200" dirty="0" err="1"/>
                        <a:t>calcul</a:t>
                      </a:r>
                      <a:endParaRPr sz="1200" dirty="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Tree>
  </p:cSld>
  <p:clrMapOvr>
    <a:masterClrMapping/>
  </p:clrMapOvr>
  <p:transition spd="slow">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70"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ZeRO</a:t>
            </a:r>
            <a:r>
              <a:rPr lang="en-US" sz="2870" b="0" i="0" u="none" strike="noStrike" dirty="0">
                <a:solidFill>
                  <a:srgbClr val="262626"/>
                </a:solidFill>
                <a:latin typeface="Calibri" panose="020F0502020204030204"/>
                <a:ea typeface="Calibri" panose="020F0502020204030204"/>
                <a:cs typeface="Calibri" panose="020F0502020204030204"/>
                <a:sym typeface="Calibri" panose="020F0502020204030204"/>
              </a:rPr>
              <a:t>-Offloading </a:t>
            </a:r>
            <a:r>
              <a:rPr lang="en-US" sz="28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ordonnancement</a:t>
            </a:r>
            <a:r>
              <a:rPr lang="en-US" sz="28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28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28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87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seule</a:t>
            </a:r>
            <a:r>
              <a:rPr lang="en-US" sz="28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carte</a:t>
            </a:r>
            <a:endParaRPr lang="en-US" sz="287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5103496" cy="4852988"/>
          </a:xfrm>
          <a:prstGeom prst="rect">
            <a:avLst/>
          </a:prstGeom>
        </p:spPr>
        <p:txBody>
          <a:bodyPr wrap="square" lIns="91440" tIns="45720" rIns="91440" bIns="45720" anchor="t">
            <a:normAutofit lnSpcReduction="10000"/>
          </a:bodyPr>
          <a:lstStyle>
            <a:lvl1pPr algn="l">
              <a:lnSpc>
                <a:spcPct val="100000"/>
              </a:lnSpc>
              <a:defRPr sz="2400" b="1"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58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8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a:t>
            </a:r>
            <a:endPar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Propagation avant</a:t>
            </a:r>
            <a:r>
              <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rPr>
              <a:t> (FWD)</a:t>
            </a:r>
            <a:endPar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Les </a:t>
            </a:r>
            <a:r>
              <a:rPr lang="en-US"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paramètres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FP16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déjà sur</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de communication avec</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le CPU </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Propagation arrière</a:t>
            </a:r>
            <a:r>
              <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rPr>
              <a:t> (BWD)</a:t>
            </a:r>
            <a:endPar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Transmission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immédiate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les gradients (</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Gradient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calculés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transmis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immédiatement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petits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groupes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le CPU</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pipeline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transmission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asynchrone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chevaucher</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retour des gradients avec le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reste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arrière,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masquant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58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Phase de mise à jour</a:t>
            </a:r>
            <a:r>
              <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rPr>
              <a:t> (Update)</a:t>
            </a:r>
            <a:endParaRPr lang="en-US" sz="1585"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le CPU, </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mise à jour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directe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états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FP32 </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moment, variance).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Après la  mise à jour, seuls les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FP32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renvoyés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le GPU </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convertis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b="0" i="0" u="none" strike="noStrike" dirty="0">
                <a:solidFill>
                  <a:srgbClr val="404040"/>
                </a:solidFill>
                <a:latin typeface="Calibri" panose="020F0502020204030204"/>
                <a:ea typeface="Calibri" panose="020F0502020204030204"/>
                <a:cs typeface="Calibri" panose="020F0502020204030204"/>
                <a:sym typeface="Calibri" panose="020F0502020204030204"/>
              </a:rPr>
              <a:t> FP16</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017895" y="1442085"/>
            <a:ext cx="6174105" cy="2094865"/>
          </a:xfrm>
          <a:prstGeom prst="rect">
            <a:avLst/>
          </a:prstGeom>
          <a:ln w="12700">
            <a:noFill/>
            <a:prstDash val="solid"/>
          </a:ln>
        </p:spPr>
      </p:pic>
    </p:spTree>
  </p:cSld>
  <p:clrMapOvr>
    <a:masterClrMapping/>
  </p:clrMapOvr>
  <p:transition spd="slow">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ZeRO-Offloading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extension multi-cartes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6640831" cy="4852988"/>
          </a:xfrm>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Idée </a:t>
            </a:r>
            <a:r>
              <a:rPr lang="en-US" sz="18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principale</a:t>
            </a:r>
            <a:endPar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Combiner le “</a:t>
            </a:r>
            <a:r>
              <a:rPr lang="en-US" sz="15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états” de ZeRO-2 avec le “</a:t>
            </a:r>
            <a:r>
              <a:rPr lang="en-US" sz="15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transfert</a:t>
            </a:r>
            <a:r>
              <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chemin” du </a:t>
            </a:r>
            <a:r>
              <a:rPr lang="en-US" sz="15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déchargement</a:t>
            </a:r>
            <a:r>
              <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(offloading).</a:t>
            </a:r>
            <a:endPar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5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des données :</a:t>
            </a:r>
            <a:endPar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responsable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uniquement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d'une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gradients et états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partition</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Offload </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 la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 qui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lui</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connectée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a:t>
            </a:r>
            <a:r>
              <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84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4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constante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le volume total de communication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n'augmente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pas avec le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Accélération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mise à jour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côté</a:t>
            </a:r>
            <a:r>
              <a:rPr lang="en-US" sz="1535" b="0" i="0" u="none" strike="noStrike" dirty="0">
                <a:solidFill>
                  <a:srgbClr val="404040"/>
                </a:solidFill>
                <a:latin typeface="Calibri" panose="020F0502020204030204"/>
                <a:ea typeface="Calibri" panose="020F0502020204030204"/>
                <a:cs typeface="Calibri" panose="020F0502020204030204"/>
                <a:sym typeface="Calibri" panose="020F0502020204030204"/>
              </a:rPr>
              <a:t> CPU </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traitée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parallèle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plusieurs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cœurs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Extensibilité</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élevée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plus il y a de GPU,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moins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 à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164705" y="2257425"/>
            <a:ext cx="4989195" cy="2551430"/>
          </a:xfrm>
          <a:prstGeom prst="rect">
            <a:avLst/>
          </a:prstGeom>
          <a:ln w="12700">
            <a:noFill/>
            <a:prstDash val="solid"/>
          </a:ln>
        </p:spPr>
      </p:pic>
    </p:spTree>
  </p:cSld>
  <p:clrMapOvr>
    <a:masterClrMapping/>
  </p:clrMapOvr>
  <p:transition spd="slow">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a:t>
            </a:r>
            <a:r>
              <a:rPr 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caractéristiques et fonctionnalités</a:t>
            </a:r>
            <a:endParaRPr 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Caractéristiques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principales</a:t>
            </a:r>
            <a:endPar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Échelle</a:t>
            </a:r>
            <a:r>
              <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infinie</a:t>
            </a:r>
            <a:r>
              <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permet</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d’entraîner</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des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modèles</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de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plusieurs</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dizaines</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de billions de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paramètres</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sur des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ressources</a:t>
            </a:r>
            <a:r>
              <a:rPr lang="en-US" sz="1400" b="1"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4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limitées</a:t>
            </a:r>
            <a:endPar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entraîner</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plus de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1 </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billion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un seul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GPU</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Exploitation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hétérogène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extrême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considère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vidéo</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(HBM),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vive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(DRAM) et le SSD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une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hiérarchie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unifiée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moteur</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Infinity Offload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compense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l’impact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faible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bande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passante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/PCIe.</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Facilité</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d'utilisation</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sans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refonte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du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développeurs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peuvent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entraîner</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très grands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avec du code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PyTorch</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standard.</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Fonctionnalités</a:t>
            </a:r>
            <a:r>
              <a:rPr lang="en-US" sz="18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principales</a:t>
            </a:r>
            <a:r>
              <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complète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ZeRO-3 :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élimine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toute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redondance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gradients et états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supports de stockage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hétérogènes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stockage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les états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dépassant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ainsi</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capacité</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DRAM.</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préchargement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avant de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couche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suivante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récupère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nécessaires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depuis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stockage lent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/CPU).</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et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charge le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automatique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très grands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garantissant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qu’une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seule</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carte GPU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contenir</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couches réseau </a:t>
            </a:r>
            <a:r>
              <a:rPr lang="en-US" sz="1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géantes</a:t>
            </a:r>
            <a:r>
              <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Processus global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5920106" cy="4852988"/>
          </a:xfrm>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微软雅黑" panose="020B0503020204020204" charset="-122"/>
              </a:defRPr>
            </a:lvl1pPr>
          </a:lstStyle>
          <a:p>
            <a:pPr marL="254000" indent="-254000" algn="l">
              <a:lnSpc>
                <a:spcPct val="100000"/>
              </a:lnSpc>
              <a:spcBef>
                <a:spcPts val="1500"/>
              </a:spcBef>
              <a:buClr>
                <a:srgbClr val="404040"/>
              </a:buClr>
              <a:buChar char="•"/>
            </a:pP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rPr>
              <a:t> 1</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7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Récupération</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7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parametres</a:t>
            </a:r>
            <a:endPar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possede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quune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petite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parametres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couche.</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parametres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fragmentes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deplaces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stockage lent vers la memoire</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correspondante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rPr>
              <a:t>2</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rPr>
              <a:t>All-Gather</a:t>
            </a:r>
            <a:endPar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parametres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couche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temporairement</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rassembles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rPr>
              <a:t>3</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7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7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rétropropagation</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gradients</a:t>
            </a:r>
            <a:endPar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retropropagation</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les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parametres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générer</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gradients.</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conserve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finalement</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 propre fragment de gradient.</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1500"/>
              </a:spcBef>
              <a:buClr>
                <a:srgbClr val="404040"/>
              </a:buClr>
              <a:buChar char="•"/>
            </a:pP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735" b="1" i="0" u="none" strike="noStrike" dirty="0">
                <a:solidFill>
                  <a:srgbClr val="404040"/>
                </a:solidFill>
                <a:latin typeface="Calibri" panose="020F0502020204030204"/>
                <a:ea typeface="Calibri" panose="020F0502020204030204"/>
                <a:cs typeface="Calibri" panose="020F0502020204030204"/>
                <a:sym typeface="Calibri" panose="020F0502020204030204"/>
              </a:rPr>
              <a:t>4</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735"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Écriture</a:t>
            </a:r>
            <a:r>
              <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gradients</a:t>
            </a:r>
            <a:endParaRPr lang="en-US" sz="1735"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fragments de gradients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agreges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6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ecrits</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memoire</a:t>
            </a:r>
            <a:r>
              <a:rPr lang="en-US" sz="1565"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 le stockage lent.</a:t>
            </a:r>
            <a:endParaRPr lang="en-US" sz="156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43980" y="1071245"/>
            <a:ext cx="5357495" cy="5285105"/>
          </a:xfrm>
          <a:prstGeom prst="rect">
            <a:avLst/>
          </a:prstGeom>
          <a:ln w="12700">
            <a:noFill/>
            <a:prstDash val="solid"/>
          </a:ln>
        </p:spPr>
      </p:pic>
    </p:spTree>
  </p:cSld>
  <p:clrMapOvr>
    <a:masterClrMapping/>
  </p:clrMapOvr>
  <p:transition spd="slow">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ZeRO</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-Infinity :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Optimisation</a:t>
            </a:r>
            <a:r>
              <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rPr>
              <a:t> de </a:t>
            </a:r>
            <a:r>
              <a:rPr lang="en-US" sz="3075"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l’efficacité</a:t>
            </a:r>
            <a:endParaRPr lang="en-US" sz="3075"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9523731" cy="4852988"/>
          </a:xfrm>
          <a:prstGeom prst="rect">
            <a:avLst/>
          </a:prstGeom>
        </p:spPr>
        <p:txBody>
          <a:bodyPr wrap="square" lIns="91440" tIns="45720" rIns="91440" bIns="45720" anchor="t">
            <a:normAutofit fontScale="77500" lnSpcReduction="20000"/>
          </a:bodyPr>
          <a:lstStyle>
            <a:lvl1pPr algn="l">
              <a:lnSpc>
                <a:spcPct val="92000"/>
              </a:lnSpc>
              <a:defRPr sz="1900" b="1" i="0" u="none" strike="noStrike" spc="0">
                <a:solidFill>
                  <a:srgbClr val="404040">
                    <a:alpha val="100000"/>
                  </a:srgbClr>
                </a:solidFill>
                <a:latin typeface="Calibri" panose="020F0502020204030204"/>
              </a:defRPr>
            </a:lvl1pPr>
          </a:lstStyle>
          <a:p>
            <a:pPr marL="241300" indent="-241300" algn="l">
              <a:lnSpc>
                <a:spcPct val="92000"/>
              </a:lnSpc>
              <a:spcBef>
                <a:spcPts val="1500"/>
              </a:spcBef>
              <a:buClr>
                <a:srgbClr val="404040"/>
              </a:buClr>
              <a:buChar char="•"/>
            </a:pPr>
            <a:r>
              <a:rPr lang="en-US" sz="1800" b="1" i="0" u="none" strike="noStrike" dirty="0">
                <a:solidFill>
                  <a:srgbClr val="404040"/>
                </a:solidFill>
                <a:latin typeface="Calibri" panose="020F0502020204030204"/>
                <a:ea typeface="Calibri" panose="020F0502020204030204"/>
                <a:cs typeface="Calibri" panose="020F0502020204030204"/>
                <a:sym typeface="Calibri" panose="020F0502020204030204"/>
              </a:rPr>
              <a:t>1.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centré</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la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passante</a:t>
            </a:r>
            <a:r>
              <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(Bandwidth-Centric Partitioning)</a:t>
            </a:r>
            <a:endParaRPr lang="en-US" sz="18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 du mode « propriétaire unique / broadcast »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ZeRO</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-Offload :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fragment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rangs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données (DP).</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Débit</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PCIe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activation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canaux</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PCIe de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lecture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parallèle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bande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effective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augmente</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linéairement</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le </a:t>
            </a:r>
            <a:r>
              <a:rPr lang="en-US" sz="16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degré</a:t>
            </a:r>
            <a:r>
              <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DP.</a:t>
            </a:r>
            <a:endParaRPr lang="en-US" sz="16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sz="1400" dirty="0"/>
          </a:p>
          <a:p>
            <a:pPr marL="241300" indent="-241300" algn="l">
              <a:lnSpc>
                <a:spcPct val="92000"/>
              </a:lnSpc>
              <a:spcBef>
                <a:spcPts val="1500"/>
              </a:spcBef>
              <a:buClr>
                <a:srgbClr val="404040"/>
              </a:buClr>
              <a:buChar char="•"/>
            </a:pP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2. </a:t>
            </a:r>
            <a:r>
              <a:rPr lang="en-US" sz="20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Conception à </a:t>
            </a:r>
            <a:r>
              <a:rPr lang="en-US" sz="20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chevauchement</a:t>
            </a:r>
            <a:r>
              <a:rPr lang="en-US" sz="20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20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toute la </a:t>
            </a:r>
            <a:r>
              <a:rPr lang="en-US" sz="20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chaîne</a:t>
            </a:r>
            <a:r>
              <a:rPr lang="en-US" sz="20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(Overlap Centric Design)</a:t>
            </a:r>
            <a:endParaRPr lang="en-US" sz="20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Moteur</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préchargement</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trois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niveaux</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l’asynchronisme</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parallèle</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trois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transferts</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b="1"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NVMe</a:t>
            </a:r>
            <a:r>
              <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CPU, CPU → GPU et GPU → GPU.</a:t>
            </a:r>
            <a:endParaRPr lang="en-US" sz="16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28650" lvl="1" indent="-285750" algn="l">
              <a:lnSpc>
                <a:spcPct val="92000"/>
              </a:lnSpc>
              <a:spcBef>
                <a:spcPts val="750"/>
              </a:spcBef>
              <a:buClr>
                <a:srgbClr val="404040"/>
              </a:buClr>
              <a:buFont typeface="Arial" panose="020B0604020202020204" pitchFamily="34" charset="0"/>
              <a:buChar char="•"/>
            </a:pP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l’exécution</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i‑ème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précharger</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simultanément</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communication GPU pour i+1, la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copie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i+2 et la lecture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disque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i+3.</a:t>
            </a:r>
            <a:endPar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Détection</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dynamique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flux : construction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temps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réel</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d’une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table de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mappage</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prenant</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charge les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graphes</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complexes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dynamiques</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masquant</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coûts</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60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déplacement</a:t>
            </a:r>
            <a:r>
              <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a:t>
            </a:r>
            <a:endParaRPr lang="en-US" sz="160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sz="1400" dirty="0"/>
          </a:p>
          <a:p>
            <a:pPr marL="241300" indent="-241300">
              <a:spcBef>
                <a:spcPts val="1500"/>
              </a:spcBef>
              <a:buClr>
                <a:srgbClr val="404040"/>
              </a:buClr>
              <a:buFont typeface="Arial" panose="020B0604020202020204"/>
              <a:buChar char="•"/>
            </a:pP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3. </a:t>
            </a:r>
            <a:r>
              <a:rPr lang="en-US" sz="20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Moteur</a:t>
            </a: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 Infinity Offload et </a:t>
            </a:r>
            <a:r>
              <a:rPr lang="en-US" sz="20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optimisations</a:t>
            </a: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 bas </a:t>
            </a:r>
            <a:r>
              <a:rPr lang="en-US" sz="2000" b="1" i="0" u="none" strike="noStrike" dirty="0" err="1">
                <a:solidFill>
                  <a:srgbClr val="404040"/>
                </a:solidFill>
                <a:latin typeface="Calibri" panose="020F0502020204030204"/>
                <a:ea typeface="Calibri" panose="020F0502020204030204"/>
                <a:cs typeface="Calibri" panose="020F0502020204030204"/>
                <a:sym typeface="Calibri" panose="020F0502020204030204"/>
              </a:rPr>
              <a:t>niveau</a:t>
            </a:r>
            <a:endParaRPr lang="en-US" sz="1400" b="1"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Bibliothèque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DeepNVMe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 bibliothèque C++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asynchrone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haute performance pour E/S. Grâce à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parallélisation</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requêtes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à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l’ordonnancement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intelligent et à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technologie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zéro‑copie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elle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maximise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performances de lecture/</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écriture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NVMe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92000"/>
              </a:lnSpc>
              <a:spcBef>
                <a:spcPts val="750"/>
              </a:spcBef>
              <a:buClr>
                <a:srgbClr val="404040"/>
              </a:buClr>
              <a:buChar char="•"/>
            </a:pP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Gestion de la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épinglée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(Pinned Memory Management) :</a:t>
            </a:r>
            <a:endPar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628650" lvl="1" indent="-285750" algn="l">
              <a:lnSpc>
                <a:spcPct val="92000"/>
              </a:lnSpc>
              <a:spcBef>
                <a:spcPts val="750"/>
              </a:spcBef>
              <a:buClr>
                <a:srgbClr val="404040"/>
              </a:buClr>
              <a:buFont typeface="Arial" panose="020B0604020202020204" pitchFamily="34" charset="0"/>
              <a:buChar char="•"/>
            </a:pP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Empreinte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minimale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quelques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Go de tampon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épinglé</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suffisent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pour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gérer</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dizaines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To d’état du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modèle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éliminant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complètement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fragmentation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628650" lvl="1" indent="-285750" algn="l">
              <a:lnSpc>
                <a:spcPct val="92000"/>
              </a:lnSpc>
              <a:spcBef>
                <a:spcPts val="750"/>
              </a:spcBef>
              <a:buClr>
                <a:srgbClr val="404040"/>
              </a:buClr>
              <a:buFont typeface="Arial" panose="020B0604020202020204" pitchFamily="34" charset="0"/>
              <a:buChar char="•"/>
            </a:pP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Calcul</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sur place (In‑place) :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permet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la mise à jour de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l’optimiseur</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directement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dans le tampon,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supprimant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les copies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inutiles</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et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améliorant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le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débit</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bout </a:t>
            </a:r>
            <a:r>
              <a:rPr lang="en-US" sz="1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en</a:t>
            </a:r>
            <a:r>
              <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rPr>
              <a:t> bout.</a:t>
            </a:r>
            <a:endParaRPr lang="en-US" sz="1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0047605" y="2437765"/>
            <a:ext cx="2049145" cy="2486660"/>
          </a:xfrm>
          <a:prstGeom prst="rect">
            <a:avLst/>
          </a:prstGeom>
          <a:ln w="12700">
            <a:noFill/>
            <a:prstDash val="solid"/>
          </a:ln>
        </p:spPr>
      </p:pic>
    </p:spTree>
  </p:cSld>
  <p:clrMapOvr>
    <a:masterClrMapping/>
  </p:clrMapOvr>
  <p:transition spd="slow">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DeepSpeed</a:t>
            </a:r>
            <a:r>
              <a:rPr lang="en-US" sz="2800" b="0" i="0" u="none" strike="noStrike" dirty="0">
                <a:solidFill>
                  <a:srgbClr val="262626"/>
                </a:solidFill>
                <a:latin typeface="Calibri" panose="020F0502020204030204"/>
                <a:ea typeface="Calibri" panose="020F0502020204030204"/>
                <a:cs typeface="Calibri" panose="020F0502020204030204"/>
                <a:sym typeface="Calibri" panose="020F0502020204030204"/>
              </a:rPr>
              <a:t> </a:t>
            </a:r>
            <a:r>
              <a:rPr lang="en-US" sz="2800" b="0" i="0" u="none" strike="noStrike" dirty="0" err="1">
                <a:solidFill>
                  <a:srgbClr val="262626"/>
                </a:solidFill>
                <a:latin typeface="Calibri" panose="020F0502020204030204"/>
                <a:ea typeface="Calibri" panose="020F0502020204030204"/>
                <a:cs typeface="Calibri" panose="020F0502020204030204"/>
                <a:sym typeface="Calibri" panose="020F0502020204030204"/>
              </a:rPr>
              <a:t>ZeRO</a:t>
            </a:r>
            <a:r>
              <a:rPr lang="en-US" sz="2800" b="0" i="0" u="none" strike="noStrike" dirty="0">
                <a:solidFill>
                  <a:srgbClr val="262626"/>
                </a:solidFill>
                <a:latin typeface="Calibri" panose="020F0502020204030204"/>
                <a:ea typeface="Calibri" panose="020F0502020204030204"/>
                <a:cs typeface="Calibri" panose="020F0502020204030204"/>
                <a:sym typeface="Calibri" panose="020F0502020204030204"/>
              </a:rPr>
              <a:t>-Offloading &amp; Infinity </a:t>
            </a:r>
            <a:r>
              <a:rPr lang="en-US" sz="2800"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28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code</a:t>
            </a:r>
            <a:endParaRPr lang="en-US" sz="2800"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5" name="Picture 5"/>
          <p:cNvPicPr>
            <a:picLocks noChangeAspect="1"/>
          </p:cNvPicPr>
          <p:nvPr/>
        </p:nvPicPr>
        <p:blipFill>
          <a:blip r:embed="rId1"/>
          <a:srcRect/>
          <a:stretch>
            <a:fillRect/>
          </a:stretch>
        </p:blipFill>
        <p:spPr>
          <a:xfrm>
            <a:off x="823595" y="1751330"/>
            <a:ext cx="2653665" cy="4114800"/>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3910330" y="2318385"/>
            <a:ext cx="3242945" cy="298132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7586345" y="1219200"/>
            <a:ext cx="3828415" cy="4813935"/>
          </a:xfrm>
          <a:prstGeom prst="rect">
            <a:avLst/>
          </a:prstGeom>
          <a:ln w="12700">
            <a:noFill/>
            <a:prstDash val="solid"/>
          </a:ln>
        </p:spPr>
      </p:pic>
      <p:sp>
        <p:nvSpPr>
          <p:cNvPr id="8" name="AutoShape 8"/>
          <p:cNvSpPr/>
          <p:nvPr/>
        </p:nvSpPr>
        <p:spPr>
          <a:xfrm>
            <a:off x="889635" y="5996940"/>
            <a:ext cx="25215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Configuration</a:t>
            </a:r>
            <a:r>
              <a:rPr lang="en-US" sz="124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DeepSpeed</a:t>
            </a:r>
            <a:endParaRPr lang="en-US" sz="1100"/>
          </a:p>
          <a:p>
            <a:pPr indent="0" algn="ctr">
              <a:lnSpc>
                <a:spcPct val="100000"/>
              </a:lnSpc>
            </a:pPr>
            <a:r>
              <a:rPr lang="en-US" sz="1240" b="1" i="0" u="none" strike="noStrike">
                <a:solidFill>
                  <a:srgbClr val="000000"/>
                </a:solidFill>
                <a:latin typeface="Calibri" panose="020F0502020204030204"/>
                <a:ea typeface="Arial" panose="020B0604020202020204"/>
                <a:cs typeface="Arial" panose="020B0604020202020204"/>
                <a:sym typeface="Arial" panose="020B0604020202020204"/>
              </a:rPr>
              <a:t>ZeRO-Offload (Stage 2)</a:t>
            </a:r>
            <a:endParaRPr lang="en-US" sz="1240"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9" name="AutoShape 9"/>
          <p:cNvSpPr/>
          <p:nvPr/>
        </p:nvSpPr>
        <p:spPr>
          <a:xfrm>
            <a:off x="3910330" y="5996940"/>
            <a:ext cx="32200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Configuration</a:t>
            </a:r>
            <a:r>
              <a:rPr lang="en-US" sz="124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DeepSpeed </a:t>
            </a:r>
            <a:endParaRPr lang="en-US" sz="1100"/>
          </a:p>
          <a:p>
            <a:pPr indent="0" algn="ctr">
              <a:lnSpc>
                <a:spcPct val="100000"/>
              </a:lnSpc>
            </a:pPr>
            <a:r>
              <a:rPr lang="en-US" sz="1240" b="1" i="0" u="none" strike="noStrike">
                <a:solidFill>
                  <a:srgbClr val="000000"/>
                </a:solidFill>
                <a:latin typeface="Calibri" panose="020F0502020204030204"/>
                <a:ea typeface="Arial" panose="020B0604020202020204"/>
                <a:cs typeface="Arial" panose="020B0604020202020204"/>
                <a:sym typeface="Arial" panose="020B0604020202020204"/>
              </a:rPr>
              <a:t>ZeRO-Infinity (Stage 3 + NVMe)</a:t>
            </a:r>
            <a:endParaRPr lang="en-US" sz="1240"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0" name="AutoShape 10"/>
          <p:cNvSpPr/>
          <p:nvPr/>
        </p:nvSpPr>
        <p:spPr>
          <a:xfrm>
            <a:off x="7780655" y="6155690"/>
            <a:ext cx="3220085" cy="26161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dirty="0" err="1"/>
              <a:t>Exemple</a:t>
            </a:r>
            <a:r>
              <a:rPr lang="en-US" sz="1100" dirty="0"/>
              <a:t> de code </a:t>
            </a:r>
            <a:r>
              <a:rPr lang="en-US" sz="1100"/>
              <a:t>d’entraînement</a:t>
            </a:r>
            <a:endParaRPr lang="en-US" sz="1100"/>
          </a:p>
        </p:txBody>
      </p:sp>
    </p:spTree>
  </p:cSld>
  <p:clrMapOvr>
    <a:masterClrMapping/>
  </p:clrMapOvr>
  <p:transition spd="slow">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935" dirty="0" err="1">
                <a:solidFill>
                  <a:srgbClr val="262626"/>
                </a:solidFill>
                <a:latin typeface="Calibri" panose="020F0502020204030204"/>
                <a:ea typeface="Calibri" panose="020F0502020204030204"/>
                <a:cs typeface="Calibri" panose="020F0502020204030204"/>
                <a:sym typeface="Calibri" panose="020F0502020204030204"/>
              </a:rPr>
              <a:t>Leçon</a:t>
            </a:r>
            <a:r>
              <a:rPr lang="en-US" sz="4935" dirty="0">
                <a:solidFill>
                  <a:srgbClr val="262626"/>
                </a:solidFill>
                <a:latin typeface="Calibri" panose="020F0502020204030204"/>
                <a:ea typeface="Calibri" panose="020F0502020204030204"/>
                <a:cs typeface="Calibri" panose="020F0502020204030204"/>
                <a:sym typeface="Calibri" panose="020F0502020204030204"/>
              </a:rPr>
              <a:t> 36 : Module IV - </a:t>
            </a:r>
            <a:r>
              <a:rPr lang="en-US" sz="4935" dirty="0" err="1">
                <a:solidFill>
                  <a:srgbClr val="262626"/>
                </a:solidFill>
                <a:latin typeface="Calibri" panose="020F0502020204030204"/>
                <a:ea typeface="Calibri" panose="020F0502020204030204"/>
                <a:cs typeface="Calibri" panose="020F0502020204030204"/>
                <a:sym typeface="Calibri" panose="020F0502020204030204"/>
              </a:rPr>
              <a:t>Projet</a:t>
            </a:r>
            <a:r>
              <a:rPr lang="en-US" sz="4935" dirty="0">
                <a:solidFill>
                  <a:srgbClr val="262626"/>
                </a:solidFill>
                <a:latin typeface="Calibri" panose="020F0502020204030204"/>
                <a:ea typeface="Calibri" panose="020F0502020204030204"/>
                <a:cs typeface="Calibri" panose="020F0502020204030204"/>
                <a:sym typeface="Calibri" panose="020F0502020204030204"/>
              </a:rPr>
              <a:t> final - </a:t>
            </a:r>
            <a:r>
              <a:rPr lang="en-US" sz="4935" dirty="0" err="1">
                <a:solidFill>
                  <a:srgbClr val="262626"/>
                </a:solidFill>
                <a:latin typeface="Calibri" panose="020F0502020204030204"/>
                <a:ea typeface="Calibri" panose="020F0502020204030204"/>
                <a:cs typeface="Calibri" panose="020F0502020204030204"/>
                <a:sym typeface="Calibri" panose="020F0502020204030204"/>
              </a:rPr>
              <a:t>Entraînement</a:t>
            </a:r>
            <a:r>
              <a:rPr lang="en-US" sz="4935" dirty="0">
                <a:solidFill>
                  <a:srgbClr val="262626"/>
                </a:solidFill>
                <a:ea typeface="Calibri" panose="020F0502020204030204"/>
                <a:cs typeface="Calibri" panose="020F0502020204030204"/>
                <a:sym typeface="Calibri" panose="020F0502020204030204"/>
              </a:rPr>
              <a:t> </a:t>
            </a:r>
            <a:r>
              <a:rPr lang="en-US" sz="4935" dirty="0" err="1">
                <a:solidFill>
                  <a:srgbClr val="262626"/>
                </a:solidFill>
                <a:latin typeface="Calibri" panose="020F0502020204030204"/>
                <a:ea typeface="Calibri" panose="020F0502020204030204"/>
                <a:cs typeface="Calibri" panose="020F0502020204030204"/>
                <a:sym typeface="Calibri" panose="020F0502020204030204"/>
              </a:rPr>
              <a:t>distribué</a:t>
            </a:r>
            <a:r>
              <a:rPr lang="en-US" sz="4935" dirty="0">
                <a:solidFill>
                  <a:srgbClr val="262626"/>
                </a:solidFill>
                <a:latin typeface="Calibri" panose="020F0502020204030204"/>
                <a:ea typeface="Calibri" panose="020F0502020204030204"/>
                <a:cs typeface="Calibri" panose="020F0502020204030204"/>
                <a:sym typeface="Calibri" panose="020F0502020204030204"/>
              </a:rPr>
              <a:t> multi-</a:t>
            </a:r>
            <a:r>
              <a:rPr lang="en-US" sz="4935" dirty="0" err="1">
                <a:solidFill>
                  <a:srgbClr val="262626"/>
                </a:solidFill>
                <a:latin typeface="Calibri" panose="020F0502020204030204"/>
                <a:ea typeface="Calibri" panose="020F0502020204030204"/>
                <a:cs typeface="Calibri" panose="020F0502020204030204"/>
                <a:sym typeface="Calibri" panose="020F0502020204030204"/>
              </a:rPr>
              <a:t>nœuds</a:t>
            </a:r>
            <a:r>
              <a:rPr lang="en-US" sz="4935" dirty="0">
                <a:solidFill>
                  <a:srgbClr val="262626"/>
                </a:solidFill>
                <a:latin typeface="Calibri" panose="020F0502020204030204"/>
                <a:ea typeface="Calibri" panose="020F0502020204030204"/>
                <a:cs typeface="Calibri" panose="020F0502020204030204"/>
                <a:sym typeface="Calibri" panose="020F0502020204030204"/>
              </a:rPr>
              <a:t> du </a:t>
            </a:r>
            <a:r>
              <a:rPr lang="en-US" sz="4935" dirty="0" err="1">
                <a:solidFill>
                  <a:srgbClr val="262626"/>
                </a:solidFill>
                <a:latin typeface="Calibri" panose="020F0502020204030204"/>
                <a:ea typeface="Calibri" panose="020F0502020204030204"/>
                <a:cs typeface="Calibri" panose="020F0502020204030204"/>
                <a:sym typeface="Calibri" panose="020F0502020204030204"/>
              </a:rPr>
              <a:t>modèle</a:t>
            </a:r>
            <a:r>
              <a:rPr lang="en-US" sz="4935" dirty="0">
                <a:solidFill>
                  <a:srgbClr val="262626"/>
                </a:solidFill>
                <a:latin typeface="Calibri" panose="020F0502020204030204"/>
                <a:ea typeface="Calibri" panose="020F0502020204030204"/>
                <a:cs typeface="Calibri" panose="020F0502020204030204"/>
                <a:sym typeface="Calibri" panose="020F0502020204030204"/>
              </a:rPr>
              <a:t> 7B</a:t>
            </a:r>
            <a:endParaRPr lang="en-US" sz="4935" dirty="0">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Apercu des Projets du Cours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nvGraphicFramePr>
        <p:xfrm>
          <a:off x="882015" y="1676575"/>
          <a:ext cx="10427970" cy="4643755"/>
        </p:xfrm>
        <a:graphic>
          <a:graphicData uri="http://schemas.openxmlformats.org/drawingml/2006/table">
            <a:tbl>
              <a:tblPr>
                <a:effectLst/>
              </a:tblPr>
              <a:tblGrid>
                <a:gridCol w="992505"/>
                <a:gridCol w="4205605"/>
                <a:gridCol w="1414145"/>
                <a:gridCol w="3815715"/>
              </a:tblGrid>
              <a:tr h="583565">
                <a:tc>
                  <a:txBody>
                    <a:bodyPr/>
                    <a:lstStyle/>
                    <a:p>
                      <a:r>
                        <a:rPr lang="en-US" sz="1400">
                          <a:solidFill>
                            <a:srgbClr val="262626"/>
                          </a:solidFill>
                          <a:ea typeface="Calibri" panose="020F0502020204030204"/>
                          <a:cs typeface="Calibri" panose="020F0502020204030204"/>
                          <a:sym typeface="Calibri" panose="020F0502020204030204"/>
                        </a:rPr>
                        <a:t>Leçon</a:t>
                      </a:r>
                      <a:endParaRPr lang="en-US" sz="1400">
                        <a:solidFill>
                          <a:srgbClr val="262626"/>
                        </a:solidFill>
                        <a:ea typeface="Calibri" panose="020F0502020204030204"/>
                        <a:cs typeface="Calibri" panose="020F0502020204030204"/>
                        <a:sym typeface="Calibri" panose="020F0502020204030204"/>
                      </a:endParaRPr>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r>
                        <a:t>Nom du projet</a:t>
                      </a:r>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r>
                        <a:t>Type</a:t>
                      </a:r>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Points d'évaluation principaux</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5</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Mise en place de l'environnement et chaîne d'outils</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Travaux pratiques</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Validation des opérations en quatre étapes + rapport de laboratoire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9</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Noyau Softmax (mi‑semestre)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t>Projet individuel</a:t>
                      </a:r>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Correction 40 points + seuil de performance 70 %</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18</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Fusion RMSNorm + Residual (fin de semestre)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t>Projet individuel</a:t>
                      </a:r>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La performance doit atteindre 90 % de la référence FlagGems</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84709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27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Contribution FlagTree Pass (fin de semestre)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dirty="0" err="1"/>
                        <a:t>Projet</a:t>
                      </a:r>
                      <a:r>
                        <a:rPr dirty="0"/>
                        <a:t> </a:t>
                      </a:r>
                      <a:r>
                        <a:rPr dirty="0" err="1"/>
                        <a:t>individuel</a:t>
                      </a:r>
                      <a:endParaRPr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Trois directions au choix, validation par tests FileCheck</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36</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Entraînement distribué multi‑noeuds d’un modèle 7B (fin de semestre)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Groupe de 3 personnes</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Comparaison de trois stratégies de parallélisme + accélération linéaire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46-47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Soutenance du projet final</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Soutenance en groupe</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r>
                        <a:rPr lang="en-US" dirty="0"/>
                        <a:t>Faisabilité de la solution + authenticité de l’avancement</a:t>
                      </a:r>
                      <a:endParaRPr lang="en-US" dirty="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spd="slow">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Apercu du Projet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a:t>
            </a:r>
            <a:r>
              <a:rPr lang="en-US" sz="18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8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Projet</a:t>
            </a:r>
            <a:endParaRPr lang="en-US" sz="18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grande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échelle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 test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compétences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ingénierie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systèmes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projet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étudiants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groupes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trois,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doivent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déployer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d’entraînement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LLM de 7 milliards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paramètres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LLaMA-2-7B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architecture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équivalente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un cluster GPU multi‑</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FlagScale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FlagCX</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profondeur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l’impact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débit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l’occupation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coûts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communication.</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Objectifs</a:t>
            </a:r>
            <a:r>
              <a:rPr lang="en-US" sz="18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a:t>
            </a:r>
            <a:r>
              <a:rPr lang="en-US" sz="184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Projet</a:t>
            </a:r>
            <a:endParaRPr lang="en-US" sz="184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Démarrer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succès un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entraînement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distribué</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au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moins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deux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(chacun avec ≥ 8 GPU).</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comparer au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moins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deux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combinaisons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 DP=8 vs TP=4+PP=2).</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Remplacer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backend de communication par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défaut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FlagCX</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mesurer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variations de performance de communication.</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Mesurer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rapporter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débit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d’entraînement</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(tokens/s/GPU),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accélération</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pic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Avancé</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Simuler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panne de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noeud</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vérifier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restauration à </a:t>
            </a:r>
            <a:r>
              <a:rPr lang="en-US" sz="1535"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partir</a:t>
            </a:r>
            <a:r>
              <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checkpoint.</a:t>
            </a:r>
            <a:endParaRPr lang="en-US" sz="1535"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Décomposition</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Tâches</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Obligatoires</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- 1</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 : </a:t>
            </a: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Déploiement</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l'environnement</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configuration du cluster</a:t>
            </a:r>
            <a:endPar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Configurer</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confiance</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SSH multi-</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 stockage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partagé</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NFS</a:t>
            </a:r>
            <a:endPar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Installer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FlagScale</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vérifier</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bon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fonctionnement</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l'entraînement</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seule</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carte GPU</a:t>
            </a:r>
            <a:endPar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Configurer</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backend de communication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FlagCX</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valider</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fonctionnalités</a:t>
            </a:r>
            <a:r>
              <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base </a:t>
            </a:r>
            <a:r>
              <a:rPr lang="en-US" sz="186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d'AllReduce</a:t>
            </a:r>
            <a:endParaRPr lang="en-US" sz="186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2 : Configuration des </a:t>
            </a: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2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expérimentation</a:t>
            </a:r>
            <a:endParaRPr lang="en-US" sz="22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dirty="0">
                <a:solidFill>
                  <a:srgbClr val="404040"/>
                </a:solidFill>
                <a:latin typeface="Calibri" panose="020F0502020204030204"/>
                <a:ea typeface="微软雅黑" panose="020B0503020204020204" charset="-122"/>
                <a:sym typeface="Calibri" panose="020F0502020204030204"/>
              </a:rPr>
              <a:t>Groupe </a:t>
            </a:r>
            <a:r>
              <a:rPr lang="en-US" sz="1860" dirty="0" err="1">
                <a:solidFill>
                  <a:srgbClr val="404040"/>
                </a:solidFill>
                <a:latin typeface="Calibri" panose="020F0502020204030204"/>
                <a:ea typeface="微软雅黑" panose="020B0503020204020204" charset="-122"/>
                <a:sym typeface="Calibri" panose="020F0502020204030204"/>
              </a:rPr>
              <a:t>expérimental</a:t>
            </a:r>
            <a:r>
              <a:rPr lang="en-US" sz="1860" dirty="0">
                <a:solidFill>
                  <a:srgbClr val="404040"/>
                </a:solidFill>
                <a:latin typeface="Calibri" panose="020F0502020204030204"/>
                <a:ea typeface="微软雅黑" panose="020B0503020204020204" charset="-122"/>
                <a:sym typeface="Calibri" panose="020F0502020204030204"/>
              </a:rPr>
              <a:t> 1 :** </a:t>
            </a:r>
            <a:r>
              <a:rPr lang="en-US" sz="1860" dirty="0" err="1">
                <a:solidFill>
                  <a:srgbClr val="404040"/>
                </a:solidFill>
                <a:latin typeface="Calibri" panose="020F0502020204030204"/>
                <a:ea typeface="微软雅黑" panose="020B0503020204020204" charset="-122"/>
                <a:sym typeface="Calibri" panose="020F0502020204030204"/>
              </a:rPr>
              <a:t>Parallélisme</a:t>
            </a:r>
            <a:r>
              <a:rPr lang="en-US" sz="1860" dirty="0">
                <a:solidFill>
                  <a:srgbClr val="404040"/>
                </a:solidFill>
                <a:latin typeface="Calibri" panose="020F0502020204030204"/>
                <a:ea typeface="微软雅黑" panose="020B0503020204020204" charset="-122"/>
                <a:sym typeface="Calibri" panose="020F0502020204030204"/>
              </a:rPr>
              <a:t> de données </a:t>
            </a:r>
            <a:r>
              <a:rPr lang="en-US" sz="1860" dirty="0" err="1">
                <a:solidFill>
                  <a:srgbClr val="404040"/>
                </a:solidFill>
                <a:latin typeface="Calibri" panose="020F0502020204030204"/>
                <a:ea typeface="微软雅黑" panose="020B0503020204020204" charset="-122"/>
                <a:sym typeface="Calibri" panose="020F0502020204030204"/>
              </a:rPr>
              <a:t>pur</a:t>
            </a:r>
            <a:r>
              <a:rPr lang="en-US" sz="1860" dirty="0">
                <a:solidFill>
                  <a:srgbClr val="404040"/>
                </a:solidFill>
                <a:latin typeface="Calibri" panose="020F0502020204030204"/>
                <a:ea typeface="微软雅黑" panose="020B0503020204020204" charset="-122"/>
                <a:sym typeface="Calibri" panose="020F0502020204030204"/>
              </a:rPr>
              <a:t> (DP=16, total GPU=16)</a:t>
            </a:r>
            <a:endParaRPr lang="en-US" sz="1860" dirty="0">
              <a:solidFill>
                <a:srgbClr val="404040"/>
              </a:solidFill>
              <a:latin typeface="Calibri" panose="020F0502020204030204"/>
              <a:ea typeface="微软雅黑" panose="020B0503020204020204" charset="-122"/>
              <a:sym typeface="Calibri" panose="020F0502020204030204"/>
            </a:endParaRPr>
          </a:p>
          <a:p>
            <a:pPr marL="596900" lvl="1" indent="-254000" algn="l">
              <a:lnSpc>
                <a:spcPct val="100000"/>
              </a:lnSpc>
              <a:spcBef>
                <a:spcPts val="750"/>
              </a:spcBef>
              <a:buClr>
                <a:srgbClr val="404040"/>
              </a:buClr>
              <a:buChar char="•"/>
            </a:pPr>
            <a:r>
              <a:rPr lang="en-US" sz="1860" dirty="0">
                <a:solidFill>
                  <a:srgbClr val="404040"/>
                </a:solidFill>
                <a:latin typeface="Calibri" panose="020F0502020204030204"/>
                <a:ea typeface="微软雅黑" panose="020B0503020204020204" charset="-122"/>
                <a:sym typeface="Calibri" panose="020F0502020204030204"/>
              </a:rPr>
              <a:t>Groupe </a:t>
            </a:r>
            <a:r>
              <a:rPr lang="en-US" sz="1860" dirty="0" err="1">
                <a:solidFill>
                  <a:srgbClr val="404040"/>
                </a:solidFill>
                <a:latin typeface="Calibri" panose="020F0502020204030204"/>
                <a:ea typeface="微软雅黑" panose="020B0503020204020204" charset="-122"/>
                <a:sym typeface="Calibri" panose="020F0502020204030204"/>
              </a:rPr>
              <a:t>expérimental</a:t>
            </a:r>
            <a:r>
              <a:rPr lang="en-US" sz="1860" dirty="0">
                <a:solidFill>
                  <a:srgbClr val="404040"/>
                </a:solidFill>
                <a:latin typeface="Calibri" panose="020F0502020204030204"/>
                <a:ea typeface="微软雅黑" panose="020B0503020204020204" charset="-122"/>
                <a:sym typeface="Calibri" panose="020F0502020204030204"/>
              </a:rPr>
              <a:t> 2 :** </a:t>
            </a:r>
            <a:r>
              <a:rPr lang="en-US" sz="1860" dirty="0" err="1">
                <a:solidFill>
                  <a:srgbClr val="404040"/>
                </a:solidFill>
                <a:latin typeface="Calibri" panose="020F0502020204030204"/>
                <a:ea typeface="微软雅黑" panose="020B0503020204020204" charset="-122"/>
                <a:sym typeface="Calibri" panose="020F0502020204030204"/>
              </a:rPr>
              <a:t>Parallélisme</a:t>
            </a:r>
            <a:r>
              <a:rPr lang="en-US" sz="1860" dirty="0">
                <a:solidFill>
                  <a:srgbClr val="404040"/>
                </a:solidFill>
                <a:latin typeface="Calibri" panose="020F0502020204030204"/>
                <a:ea typeface="微软雅黑" panose="020B0503020204020204" charset="-122"/>
                <a:sym typeface="Calibri" panose="020F0502020204030204"/>
              </a:rPr>
              <a:t> </a:t>
            </a:r>
            <a:r>
              <a:rPr lang="en-US" sz="1860" dirty="0" err="1">
                <a:solidFill>
                  <a:srgbClr val="404040"/>
                </a:solidFill>
                <a:latin typeface="Calibri" panose="020F0502020204030204"/>
                <a:ea typeface="微软雅黑" panose="020B0503020204020204" charset="-122"/>
                <a:sym typeface="Calibri" panose="020F0502020204030204"/>
              </a:rPr>
              <a:t>tensoriel</a:t>
            </a:r>
            <a:r>
              <a:rPr lang="en-US" sz="1860" dirty="0">
                <a:solidFill>
                  <a:srgbClr val="404040"/>
                </a:solidFill>
                <a:latin typeface="Calibri" panose="020F0502020204030204"/>
                <a:ea typeface="微软雅黑" panose="020B0503020204020204" charset="-122"/>
                <a:sym typeface="Calibri" panose="020F0502020204030204"/>
              </a:rPr>
              <a:t> + </a:t>
            </a:r>
            <a:r>
              <a:rPr lang="en-US" sz="1860" dirty="0" err="1">
                <a:solidFill>
                  <a:srgbClr val="404040"/>
                </a:solidFill>
                <a:latin typeface="Calibri" panose="020F0502020204030204"/>
                <a:ea typeface="微软雅黑" panose="020B0503020204020204" charset="-122"/>
                <a:sym typeface="Calibri" panose="020F0502020204030204"/>
              </a:rPr>
              <a:t>parallélisme</a:t>
            </a:r>
            <a:r>
              <a:rPr lang="en-US" sz="1860" dirty="0">
                <a:solidFill>
                  <a:srgbClr val="404040"/>
                </a:solidFill>
                <a:latin typeface="Calibri" panose="020F0502020204030204"/>
                <a:ea typeface="微软雅黑" panose="020B0503020204020204" charset="-122"/>
                <a:sym typeface="Calibri" panose="020F0502020204030204"/>
              </a:rPr>
              <a:t> pipeline (TP=4, PP=2, DP=2)</a:t>
            </a:r>
            <a:endParaRPr lang="en-US" sz="1860" dirty="0">
              <a:solidFill>
                <a:srgbClr val="404040"/>
              </a:solidFill>
              <a:latin typeface="Calibri" panose="020F0502020204030204"/>
              <a:ea typeface="微软雅黑" panose="020B0503020204020204" charset="-122"/>
              <a:sym typeface="Calibri" panose="020F0502020204030204"/>
            </a:endParaRPr>
          </a:p>
          <a:p>
            <a:pPr marL="596900" lvl="1" indent="-254000" algn="l">
              <a:lnSpc>
                <a:spcPct val="100000"/>
              </a:lnSpc>
              <a:spcBef>
                <a:spcPts val="750"/>
              </a:spcBef>
              <a:buClr>
                <a:srgbClr val="404040"/>
              </a:buClr>
              <a:buChar char="•"/>
            </a:pPr>
            <a:r>
              <a:rPr lang="en-US" sz="1860" dirty="0">
                <a:solidFill>
                  <a:srgbClr val="404040"/>
                </a:solidFill>
                <a:latin typeface="Calibri" panose="020F0502020204030204"/>
                <a:ea typeface="微软雅黑" panose="020B0503020204020204" charset="-122"/>
                <a:sym typeface="Calibri" panose="020F0502020204030204"/>
              </a:rPr>
              <a:t>Groupe </a:t>
            </a:r>
            <a:r>
              <a:rPr lang="en-US" sz="1860" dirty="0" err="1">
                <a:solidFill>
                  <a:srgbClr val="404040"/>
                </a:solidFill>
                <a:latin typeface="Calibri" panose="020F0502020204030204"/>
                <a:ea typeface="微软雅黑" panose="020B0503020204020204" charset="-122"/>
                <a:sym typeface="Calibri" panose="020F0502020204030204"/>
              </a:rPr>
              <a:t>expérimental</a:t>
            </a:r>
            <a:r>
              <a:rPr lang="en-US" sz="1860" dirty="0">
                <a:solidFill>
                  <a:srgbClr val="404040"/>
                </a:solidFill>
                <a:latin typeface="Calibri" panose="020F0502020204030204"/>
                <a:ea typeface="微软雅黑" panose="020B0503020204020204" charset="-122"/>
                <a:sym typeface="Calibri" panose="020F0502020204030204"/>
              </a:rPr>
              <a:t> 3 :** Configuration </a:t>
            </a:r>
            <a:r>
              <a:rPr lang="en-US" sz="1860" dirty="0" err="1">
                <a:solidFill>
                  <a:srgbClr val="404040"/>
                </a:solidFill>
                <a:latin typeface="Calibri" panose="020F0502020204030204"/>
                <a:ea typeface="微软雅黑" panose="020B0503020204020204" charset="-122"/>
                <a:sym typeface="Calibri" panose="020F0502020204030204"/>
              </a:rPr>
              <a:t>automatique</a:t>
            </a:r>
            <a:r>
              <a:rPr lang="en-US" sz="1860" dirty="0">
                <a:solidFill>
                  <a:srgbClr val="404040"/>
                </a:solidFill>
                <a:latin typeface="Calibri" panose="020F0502020204030204"/>
                <a:ea typeface="微软雅黑" panose="020B0503020204020204" charset="-122"/>
                <a:sym typeface="Calibri" panose="020F0502020204030204"/>
              </a:rPr>
              <a:t> du </a:t>
            </a:r>
            <a:r>
              <a:rPr lang="en-US" sz="1860" dirty="0" err="1">
                <a:solidFill>
                  <a:srgbClr val="404040"/>
                </a:solidFill>
                <a:latin typeface="Calibri" panose="020F0502020204030204"/>
                <a:ea typeface="微软雅黑" panose="020B0503020204020204" charset="-122"/>
                <a:sym typeface="Calibri" panose="020F0502020204030204"/>
              </a:rPr>
              <a:t>parallélisme</a:t>
            </a:r>
            <a:r>
              <a:rPr lang="en-US" sz="1860" dirty="0">
                <a:solidFill>
                  <a:srgbClr val="404040"/>
                </a:solidFill>
                <a:latin typeface="Calibri" panose="020F0502020204030204"/>
                <a:ea typeface="微软雅黑" panose="020B0503020204020204" charset="-122"/>
                <a:sym typeface="Calibri" panose="020F0502020204030204"/>
              </a:rPr>
              <a:t> </a:t>
            </a:r>
            <a:r>
              <a:rPr lang="en-US" sz="1860" dirty="0" err="1">
                <a:solidFill>
                  <a:srgbClr val="404040"/>
                </a:solidFill>
                <a:latin typeface="Calibri" panose="020F0502020204030204"/>
                <a:ea typeface="微软雅黑" panose="020B0503020204020204" charset="-122"/>
                <a:sym typeface="Calibri" panose="020F0502020204030204"/>
              </a:rPr>
              <a:t>hybride</a:t>
            </a:r>
            <a:r>
              <a:rPr lang="en-US" sz="1860" dirty="0">
                <a:solidFill>
                  <a:srgbClr val="404040"/>
                </a:solidFill>
                <a:latin typeface="Calibri" panose="020F0502020204030204"/>
                <a:ea typeface="微软雅黑" panose="020B0503020204020204" charset="-122"/>
                <a:sym typeface="Calibri" panose="020F0502020204030204"/>
              </a:rPr>
              <a:t> (</a:t>
            </a:r>
            <a:r>
              <a:rPr lang="en-US" sz="1860" dirty="0" err="1">
                <a:solidFill>
                  <a:srgbClr val="404040"/>
                </a:solidFill>
                <a:latin typeface="Calibri" panose="020F0502020204030204"/>
                <a:ea typeface="微软雅黑" panose="020B0503020204020204" charset="-122"/>
                <a:sym typeface="Calibri" panose="020F0502020204030204"/>
              </a:rPr>
              <a:t>en</a:t>
            </a:r>
            <a:r>
              <a:rPr lang="en-US" sz="1860" dirty="0">
                <a:solidFill>
                  <a:srgbClr val="404040"/>
                </a:solidFill>
                <a:latin typeface="Calibri" panose="020F0502020204030204"/>
                <a:ea typeface="微软雅黑" panose="020B0503020204020204" charset="-122"/>
                <a:sym typeface="Calibri" panose="020F0502020204030204"/>
              </a:rPr>
              <a:t> </a:t>
            </a:r>
            <a:r>
              <a:rPr lang="en-US" sz="1860" dirty="0" err="1">
                <a:solidFill>
                  <a:srgbClr val="404040"/>
                </a:solidFill>
                <a:latin typeface="Calibri" panose="020F0502020204030204"/>
                <a:ea typeface="微软雅黑" panose="020B0503020204020204" charset="-122"/>
                <a:sym typeface="Calibri" panose="020F0502020204030204"/>
              </a:rPr>
              <a:t>utilisant</a:t>
            </a:r>
            <a:r>
              <a:rPr lang="en-US" sz="1860" dirty="0">
                <a:solidFill>
                  <a:srgbClr val="404040"/>
                </a:solidFill>
                <a:latin typeface="Calibri" panose="020F0502020204030204"/>
                <a:ea typeface="微软雅黑" panose="020B0503020204020204" charset="-122"/>
                <a:sym typeface="Calibri" panose="020F0502020204030204"/>
              </a:rPr>
              <a:t> la </a:t>
            </a:r>
            <a:r>
              <a:rPr lang="en-US" sz="1860" dirty="0" err="1">
                <a:solidFill>
                  <a:srgbClr val="404040"/>
                </a:solidFill>
                <a:latin typeface="Calibri" panose="020F0502020204030204"/>
                <a:ea typeface="微软雅黑" panose="020B0503020204020204" charset="-122"/>
                <a:sym typeface="Calibri" panose="020F0502020204030204"/>
              </a:rPr>
              <a:t>fonction</a:t>
            </a:r>
            <a:r>
              <a:rPr lang="en-US" sz="1860" dirty="0">
                <a:solidFill>
                  <a:srgbClr val="404040"/>
                </a:solidFill>
                <a:latin typeface="Calibri" panose="020F0502020204030204"/>
                <a:ea typeface="微软雅黑" panose="020B0503020204020204" charset="-122"/>
                <a:sym typeface="Calibri" panose="020F0502020204030204"/>
              </a:rPr>
              <a:t> de </a:t>
            </a:r>
            <a:r>
              <a:rPr lang="en-US" sz="1860" dirty="0" err="1">
                <a:solidFill>
                  <a:srgbClr val="404040"/>
                </a:solidFill>
                <a:latin typeface="Calibri" panose="020F0502020204030204"/>
                <a:ea typeface="微软雅黑" panose="020B0503020204020204" charset="-122"/>
                <a:sym typeface="Calibri" panose="020F0502020204030204"/>
              </a:rPr>
              <a:t>partitionnement</a:t>
            </a:r>
            <a:r>
              <a:rPr lang="en-US" sz="1860" dirty="0">
                <a:solidFill>
                  <a:srgbClr val="404040"/>
                </a:solidFill>
                <a:latin typeface="Calibri" panose="020F0502020204030204"/>
                <a:ea typeface="微软雅黑" panose="020B0503020204020204" charset="-122"/>
                <a:sym typeface="Calibri" panose="020F0502020204030204"/>
              </a:rPr>
              <a:t> </a:t>
            </a:r>
            <a:r>
              <a:rPr lang="en-US" sz="1860" dirty="0" err="1">
                <a:solidFill>
                  <a:srgbClr val="404040"/>
                </a:solidFill>
                <a:latin typeface="Calibri" panose="020F0502020204030204"/>
                <a:ea typeface="微软雅黑" panose="020B0503020204020204" charset="-122"/>
                <a:sym typeface="Calibri" panose="020F0502020204030204"/>
              </a:rPr>
              <a:t>automatique</a:t>
            </a:r>
            <a:r>
              <a:rPr lang="en-US" sz="1860" dirty="0">
                <a:solidFill>
                  <a:srgbClr val="404040"/>
                </a:solidFill>
                <a:latin typeface="Calibri" panose="020F0502020204030204"/>
                <a:ea typeface="微软雅黑" panose="020B0503020204020204" charset="-122"/>
                <a:sym typeface="Calibri" panose="020F0502020204030204"/>
              </a:rPr>
              <a:t> de </a:t>
            </a:r>
            <a:r>
              <a:rPr lang="en-US" sz="1860" dirty="0" err="1">
                <a:solidFill>
                  <a:srgbClr val="404040"/>
                </a:solidFill>
                <a:latin typeface="Calibri" panose="020F0502020204030204"/>
                <a:ea typeface="微软雅黑" panose="020B0503020204020204" charset="-122"/>
                <a:sym typeface="Calibri" panose="020F0502020204030204"/>
              </a:rPr>
              <a:t>FlagScale</a:t>
            </a:r>
            <a:r>
              <a:rPr lang="en-US" sz="1860" dirty="0">
                <a:solidFill>
                  <a:srgbClr val="404040"/>
                </a:solidFill>
                <a:latin typeface="Calibri" panose="020F0502020204030204"/>
                <a:ea typeface="微软雅黑" panose="020B0503020204020204" charset="-122"/>
                <a:sym typeface="Calibri" panose="020F0502020204030204"/>
              </a:rPr>
              <a:t>)</a:t>
            </a:r>
            <a:endParaRPr lang="en-US" sz="1860" dirty="0">
              <a:solidFill>
                <a:srgbClr val="404040"/>
              </a:solidFill>
              <a:latin typeface="Calibri" panose="020F0502020204030204"/>
              <a:ea typeface="微软雅黑" panose="020B0503020204020204" charset="-122"/>
              <a:sym typeface="Calibri" panose="020F0502020204030204"/>
            </a:endParaRPr>
          </a:p>
        </p:txBody>
      </p:sp>
    </p:spTree>
  </p:cSld>
  <p:clrMapOvr>
    <a:masterClrMapping/>
  </p:clrMapOvr>
  <p:transition spd="slow">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Décomposition</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Tâches</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Obligatoires</a:t>
            </a:r>
            <a:r>
              <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- 2</a:t>
            </a:r>
            <a:endParaRPr lang="en-US" sz="307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3 : Application de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l'optimisation</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Activer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 Checkpointing et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enregistrer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économies</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Optionnel</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Activer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 Offload,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évaluer</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l'impact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a:t>
            </a:r>
            <a:r>
              <a:rPr lang="en-US" sz="20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débit</a:t>
            </a:r>
            <a:r>
              <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Tâche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4 :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40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a:t>
            </a:r>
            <a:r>
              <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données de performance</a:t>
            </a:r>
            <a:endParaRPr lang="en-US" sz="240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spcBef>
                <a:spcPts val="750"/>
              </a:spcBef>
              <a:buClr>
                <a:srgbClr val="404040"/>
              </a:buClr>
              <a:buFont typeface="Arial" panose="020B0604020202020204"/>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Débit</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d'entraînement</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(tokens/s/GPU) × 3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stratégies</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Accélération</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linéaire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Accélération</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réelle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Accélération</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théorique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Pic de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mémoire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GPU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échantillonnage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via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nvidia-smi</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dmon</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spcBef>
                <a:spcPts val="750"/>
              </a:spcBef>
              <a:buClr>
                <a:srgbClr val="404040"/>
              </a:buClr>
              <a:buFont typeface="Arial" panose="020B0604020202020204"/>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Proportion des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coûts</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 communication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analyse</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des logs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FlagCX</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1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de </a:t>
            </a:r>
            <a:r>
              <a:rPr lang="en-US" sz="291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Soumission</a:t>
            </a:r>
            <a:r>
              <a:rPr lang="en-US" sz="291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91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Critères</a:t>
            </a:r>
            <a:r>
              <a:rPr lang="en-US" sz="291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915" b="0" i="0" u="none" strike="noStrike" dirty="0" err="1">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d’Évaluation</a:t>
            </a:r>
            <a:endParaRPr lang="en-US" sz="2915" b="0" i="0" u="none" strike="noStrike" dirty="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Liste</a:t>
            </a:r>
            <a:r>
              <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a:t>
            </a:r>
            <a:r>
              <a:rPr lang="en-US" sz="23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Éléments</a:t>
            </a:r>
            <a:r>
              <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330"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3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Soumettre</a:t>
            </a:r>
            <a:endPar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Dossier config/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fichiers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configuration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FlagScale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(3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Dossier scripts/ : scripts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lancement</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 surveillance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Dossier results/ : données de performance (CSV) et logs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report.pdf</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10 pages maximum (architecture,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graphiques</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conclusions)</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Avancé</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fault_recovery_demo.mp4 :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vidéo</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démonstration</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a:t>
            </a:r>
            <a:r>
              <a:rPr lang="en-US"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récupération</a:t>
            </a:r>
            <a:r>
              <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après panne</a:t>
            </a:r>
            <a:endParaRPr lang="en-US"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Critères</a:t>
            </a:r>
            <a:r>
              <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330" b="0" i="0" u="none" strike="noStrike" dirty="0" err="1">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d’Évaluation</a:t>
            </a:r>
            <a:endParaRPr lang="en-US" sz="2330" b="0" i="0" u="none" strike="noStrike" dirty="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855003" y="3864146"/>
          <a:ext cx="10481994" cy="2719705"/>
        </p:xfrm>
        <a:graphic>
          <a:graphicData uri="http://schemas.openxmlformats.org/drawingml/2006/table">
            <a:tbl>
              <a:tblPr>
                <a:effectLst/>
              </a:tblPr>
              <a:tblGrid>
                <a:gridCol w="3359916"/>
                <a:gridCol w="2015797"/>
                <a:gridCol w="5106281"/>
              </a:tblGrid>
              <a:tr h="393065">
                <a:tc>
                  <a:txBody>
                    <a:bodyPr/>
                    <a:lstStyle/>
                    <a:p>
                      <a:r>
                        <a:rPr lang="en-US" dirty="0"/>
                        <a:t>Dimension d’évaluation</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r>
                        <a:rPr dirty="0"/>
                        <a:t>Points</a:t>
                      </a:r>
                      <a:endParaRPr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r>
                        <a:t>Critères de notation</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70840">
                <a:tc>
                  <a:txBody>
                    <a:bodyPr/>
                    <a:lstStyle/>
                    <a:p>
                      <a:r>
                        <a:t>Tâche d'entraînement réussie</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r>
                        <a:t>25 pts</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dirty="0" err="1"/>
                        <a:t>Exécution</a:t>
                      </a:r>
                      <a:r>
                        <a:rPr dirty="0"/>
                        <a:t> stable &gt; 100 étapes </a:t>
                      </a:r>
                      <a:r>
                        <a:rPr lang="en-US" dirty="0"/>
                        <a:t>sur environnement multi-noeuds</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1475">
                <a:tc>
                  <a:txBody>
                    <a:bodyPr/>
                    <a:lstStyle/>
                    <a:p>
                      <a:r>
                        <a:rPr dirty="0" err="1"/>
                        <a:t>Analyse</a:t>
                      </a:r>
                      <a:r>
                        <a:rPr dirty="0"/>
                        <a:t> comparative des </a:t>
                      </a:r>
                      <a:r>
                        <a:rPr dirty="0" err="1"/>
                        <a:t>stratégies</a:t>
                      </a:r>
                      <a:endParaRPr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r>
                        <a:t>30 pts</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r>
                        <a:rPr lang="en-US" dirty="0"/>
                        <a:t>Données complètes pour les trois stratégies, analyse approfondie</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0840">
                <a:tc>
                  <a:txBody>
                    <a:bodyPr/>
                    <a:lstStyle/>
                    <a:p>
                      <a:r>
                        <a:t>Intégration et analyse FlagCX</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r>
                        <a:t>20 pts</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r>
                        <a:rPr lang="en-US" dirty="0"/>
                        <a:t>Quantification des coûts de communication, comparaison avec NCCL</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0840">
                <a:tc>
                  <a:txBody>
                    <a:bodyPr/>
                    <a:lstStyle/>
                    <a:p>
                      <a:r>
                        <a:t>Expérience d'optimisation mémoire</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r>
                        <a:t>15 pts</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r>
                        <a:rPr lang="en-US" dirty="0"/>
                        <a:t>Effet du gradient checkpointing quantifié, méthodologie correcte</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0840">
                <a:tc>
                  <a:txBody>
                    <a:bodyPr/>
                    <a:lstStyle/>
                    <a:p>
                      <a:r>
                        <a:rPr dirty="0" err="1"/>
                        <a:t>Qualité</a:t>
                      </a:r>
                      <a:r>
                        <a:rPr dirty="0"/>
                        <a:t> du rapport</a:t>
                      </a:r>
                      <a:endParaRPr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r>
                        <a:t>10 pts</a:t>
                      </a:r>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r>
                        <a:rPr lang="en-US" dirty="0"/>
                        <a:t>Graphiques clairs, conclusions fondées sur les données</a:t>
                      </a:r>
                      <a:endParaRPr lang="en-US" dirty="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spd="slow">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FlagOS</a:t>
            </a:r>
            <a:r>
              <a:rPr 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Pile logicielle IA unifi</a:t>
            </a:r>
            <a:r>
              <a:rPr lang="en-US" alt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xfrm>
            <a:off x="724535" y="6356350"/>
            <a:ext cx="11076940" cy="365125"/>
          </a:xfrm>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4" name="Picture 3" descr="imag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35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rPr>
              <a:t>Merci d'avoir regardé !</a:t>
            </a:r>
            <a:endParaRPr lang="en-US" sz="35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7" name="图片 6" descr="logo-africa"/>
          <p:cNvPicPr>
            <a:picLocks noChangeAspect="1"/>
          </p:cNvPicPr>
          <p:nvPr userDrawn="1"/>
        </p:nvPicPr>
        <p:blipFill>
          <a:blip r:embed="rId4"/>
          <a:stretch>
            <a:fillRect/>
          </a:stretch>
        </p:blipFill>
        <p:spPr>
          <a:xfrm>
            <a:off x="8076565" y="292735"/>
            <a:ext cx="897890" cy="374015"/>
          </a:xfrm>
          <a:prstGeom prst="rect">
            <a:avLst/>
          </a:prstGeom>
        </p:spPr>
      </p:pic>
    </p:spTree>
  </p:cSld>
  <p:clrMapOvr>
    <a:masterClrMapping/>
  </p:clrMapOvr>
</p:sld>
</file>

<file path=ppt/tags/tag1.xml><?xml version="1.0" encoding="utf-8"?>
<p:tagLst xmlns:p="http://schemas.openxmlformats.org/presentationml/2006/main">
  <p:tag name="TABLE_ENDDRAG_ORIGIN_RECT" val="530*192"/>
  <p:tag name="TABLE_ENDDRAG_RECT" val="74*304*530*192"/>
</p:tagLst>
</file>

<file path=ppt/tags/tag2.xml><?xml version="1.0" encoding="utf-8"?>
<p:tagLst xmlns:p="http://schemas.openxmlformats.org/presentationml/2006/main">
  <p:tag name="TABLE_ENDDRAG_ORIGIN_RECT" val="410*250"/>
  <p:tag name="TABLE_ENDDRAG_RECT" val="540*250*410*250"/>
</p:tagLst>
</file>

<file path=ppt/tags/tag3.xml><?xml version="1.0" encoding="utf-8"?>
<p:tagLst xmlns:p="http://schemas.openxmlformats.org/presentationml/2006/main">
  <p:tag name="TABLE_ENDDRAG_ORIGIN_RECT" val="559*190"/>
  <p:tag name="TABLE_ENDDRAG_RECT" val="72*203*559*1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79011</Words>
  <Application>WPS 演示</Application>
  <PresentationFormat/>
  <Paragraphs>2418</Paragraphs>
  <Slides>160</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160</vt:i4>
      </vt:variant>
    </vt:vector>
  </HeadingPairs>
  <TitlesOfParts>
    <vt:vector size="185"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Menlo</vt:lpstr>
      <vt:lpstr>Arial Unicode MS</vt:lpstr>
      <vt:lpstr>BatangChe</vt:lpstr>
      <vt:lpstr>Courier New Regular</vt:lpstr>
      <vt:lpstr>Courier New</vt:lpstr>
      <vt:lpstr>Ebrima</vt:lpstr>
      <vt:lpstr>Courier New</vt:lpstr>
      <vt:lpstr>Menlo</vt:lpstr>
      <vt:lpstr>-apple-system</vt:lpstr>
      <vt:lpstr>Cambria Math</vt:lpstr>
      <vt:lpstr>quote-cjk-patch</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9</cp:revision>
  <dcterms:created xsi:type="dcterms:W3CDTF">2026-04-12T09:02:00Z</dcterms:created>
  <dcterms:modified xsi:type="dcterms:W3CDTF">2026-04-24T02:23:43Z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DCB08CD6FB8544AC98CA590824FEEFCC_12</vt:lpwstr>
  </property>
  <property fmtid="{D5CDD505-2E9C-101B-9397-08002B2CF9AE}" pid="3" name="KSOProductBuildVer">
    <vt:lpwstr>2052-12.1.0.19302</vt:lpwstr>
  </property>
</Properties>
</file>