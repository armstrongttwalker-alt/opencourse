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60" y="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ver.png"/>
          <p:cNvPicPr>
            <a:picLocks noChangeAspect="1"/>
          </p:cNvPicPr>
          <p:nvPr/>
        </p:nvPicPr>
        <p:blipFill>
          <a:blip r:embed="rId2"/>
          <a:srcRect t="4858" b="4858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1051560"/>
            <a:ext cx="6035040" cy="206723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 spc="300" dirty="0">
                <a:solidFill>
                  <a:srgbClr val="B03A2E"/>
                </a:solidFill>
                <a:latin typeface="Georgia"/>
                <a:ea typeface="KaiTi"/>
              </a:rPr>
              <a:t>MY OPEN SOURCE JOURNEY</a:t>
            </a:r>
          </a:p>
          <a:p>
            <a:pPr>
              <a:spcAft>
                <a:spcPts val="600"/>
              </a:spcAft>
            </a:pPr>
            <a:r>
              <a:rPr sz="4000" b="1" i="0" dirty="0">
                <a:solidFill>
                  <a:srgbClr val="2B2B28"/>
                </a:solidFill>
                <a:latin typeface="Georgia"/>
                <a:ea typeface="KaiTi"/>
              </a:rPr>
              <a:t>My Open Source Journey</a:t>
            </a:r>
          </a:p>
          <a:p>
            <a:pPr>
              <a:spcAft>
                <a:spcPts val="1600"/>
              </a:spcAft>
            </a:pPr>
            <a:r>
              <a:rPr sz="2000" b="0" i="0" dirty="0" err="1">
                <a:solidFill>
                  <a:srgbClr val="2B2B28"/>
                </a:solidFill>
                <a:latin typeface="Georgia"/>
                <a:ea typeface="KaiTi"/>
              </a:rPr>
              <a:t>我的开源之路</a:t>
            </a:r>
            <a:endParaRPr sz="2000" b="0" i="0" dirty="0">
              <a:solidFill>
                <a:srgbClr val="2B2B28"/>
              </a:solidFill>
              <a:latin typeface="Georgia"/>
              <a:ea typeface="KaiT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22960" y="5074920"/>
            <a:ext cx="1463040" cy="2794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5257800"/>
            <a:ext cx="6400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 i="0">
                <a:solidFill>
                  <a:srgbClr val="2B2B28"/>
                </a:solidFill>
                <a:latin typeface="Georgia"/>
                <a:ea typeface="KaiTi"/>
              </a:rPr>
              <a:t>Zhu Qigang  朱其罡</a:t>
            </a:r>
          </a:p>
          <a:p>
            <a:r>
              <a:rPr sz="1100" b="0" i="0">
                <a:solidFill>
                  <a:srgbClr val="6B6659"/>
                </a:solidFill>
                <a:latin typeface="Georgia"/>
                <a:ea typeface="KaiTi"/>
              </a:rPr>
              <a:t>Beijing Academy of Artificial Intelligence (BAAI)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292840" y="5989320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30" b="1" i="0" dirty="0">
                <a:solidFill>
                  <a:srgbClr val="FFFFFF"/>
                </a:solidFill>
                <a:latin typeface="KaiTi"/>
                <a:ea typeface="KaiTi"/>
              </a:rPr>
              <a:t>FOSS</a:t>
            </a:r>
            <a:endParaRPr sz="1430" b="1" i="0" dirty="0">
              <a:solidFill>
                <a:srgbClr val="FFFFFF"/>
              </a:solidFill>
              <a:latin typeface="KaiTi"/>
              <a:ea typeface="KaiT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640080"/>
            <a:ext cx="384048" cy="13970"/>
          </a:xfrm>
          <a:prstGeom prst="rect">
            <a:avLst/>
          </a:prstGeom>
          <a:solidFill>
            <a:srgbClr val="6B6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13970" cy="384048"/>
          </a:xfrm>
          <a:prstGeom prst="rect">
            <a:avLst/>
          </a:prstGeom>
          <a:solidFill>
            <a:srgbClr val="6B6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167567" y="640080"/>
            <a:ext cx="384048" cy="13970"/>
          </a:xfrm>
          <a:prstGeom prst="rect">
            <a:avLst/>
          </a:prstGeom>
          <a:solidFill>
            <a:srgbClr val="6B6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537645" y="640080"/>
            <a:ext cx="13970" cy="384048"/>
          </a:xfrm>
          <a:prstGeom prst="rect">
            <a:avLst/>
          </a:prstGeom>
          <a:solidFill>
            <a:srgbClr val="6B6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6217920"/>
            <a:ext cx="384048" cy="13970"/>
          </a:xfrm>
          <a:prstGeom prst="rect">
            <a:avLst/>
          </a:prstGeom>
          <a:solidFill>
            <a:srgbClr val="6B6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5833872"/>
            <a:ext cx="13970" cy="384048"/>
          </a:xfrm>
          <a:prstGeom prst="rect">
            <a:avLst/>
          </a:prstGeom>
          <a:solidFill>
            <a:srgbClr val="6B6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167567" y="6217920"/>
            <a:ext cx="384048" cy="13970"/>
          </a:xfrm>
          <a:prstGeom prst="rect">
            <a:avLst/>
          </a:prstGeom>
          <a:solidFill>
            <a:srgbClr val="6B6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537645" y="5833872"/>
            <a:ext cx="13970" cy="384048"/>
          </a:xfrm>
          <a:prstGeom prst="rect">
            <a:avLst/>
          </a:prstGeom>
          <a:solidFill>
            <a:srgbClr val="6B6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63040" y="1051560"/>
            <a:ext cx="9265615" cy="16414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600"/>
              </a:spcAft>
            </a:pPr>
            <a:r>
              <a:rPr sz="1400" b="1" i="0" spc="300" dirty="0">
                <a:solidFill>
                  <a:srgbClr val="B03A2E"/>
                </a:solidFill>
                <a:latin typeface="Georgia"/>
                <a:ea typeface="KaiTi"/>
              </a:rPr>
              <a:t>PROLOGUE  ·  序</a:t>
            </a:r>
          </a:p>
          <a:p>
            <a:pPr algn="ctr">
              <a:spcAft>
                <a:spcPts val="600"/>
              </a:spcAft>
            </a:pPr>
            <a:endParaRPr lang="en-US" altLang="zh-CN" sz="3000" b="1" i="0" dirty="0">
              <a:solidFill>
                <a:srgbClr val="2B2B28"/>
              </a:solidFill>
              <a:latin typeface="Georgia"/>
              <a:ea typeface="KaiTi"/>
            </a:endParaRPr>
          </a:p>
          <a:p>
            <a:pPr algn="ctr">
              <a:spcAft>
                <a:spcPts val="600"/>
              </a:spcAft>
            </a:pPr>
            <a:r>
              <a:rPr lang="en-US" altLang="zh-CN" sz="3000" b="1" i="0" dirty="0">
                <a:solidFill>
                  <a:srgbClr val="2B2B28"/>
                </a:solidFill>
                <a:latin typeface="Georgia"/>
                <a:ea typeface="KaiTi"/>
              </a:rPr>
              <a:t>The best gift is to share your real thoughts.</a:t>
            </a:r>
            <a:endParaRPr sz="1500" b="0" i="0" dirty="0">
              <a:solidFill>
                <a:srgbClr val="6B6659"/>
              </a:solidFill>
              <a:latin typeface="Georgia"/>
              <a:ea typeface="KaiT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64327" y="4892040"/>
            <a:ext cx="1463040" cy="2540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858103" y="5212080"/>
            <a:ext cx="475488" cy="475488"/>
          </a:xfrm>
          <a:prstGeom prst="roundRect">
            <a:avLst>
              <a:gd name="adj" fmla="val 12000"/>
            </a:avLst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52" b="1" dirty="0">
                <a:solidFill>
                  <a:srgbClr val="FFFFFF"/>
                </a:solidFill>
                <a:latin typeface="KaiTi"/>
                <a:ea typeface="KaiTi"/>
              </a:rPr>
              <a:t>FOSS</a:t>
            </a:r>
            <a:endParaRPr sz="1352" b="1" i="0" dirty="0">
              <a:solidFill>
                <a:srgbClr val="FFFFFF"/>
              </a:solidFill>
              <a:latin typeface="KaiTi"/>
              <a:ea typeface="KaiT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B6659"/>
                </a:solidFill>
                <a:latin typeface="Georgia"/>
                <a:ea typeface="KaiT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11112" y="1444752"/>
            <a:ext cx="5111496" cy="3511296"/>
          </a:xfrm>
          <a:prstGeom prst="rect">
            <a:avLst/>
          </a:prstGeom>
          <a:solidFill>
            <a:srgbClr val="EFE8D8"/>
          </a:solidFill>
          <a:ln w="12700">
            <a:solidFill>
              <a:srgbClr val="6B6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road.png"/>
          <p:cNvPicPr>
            <a:picLocks noChangeAspect="1"/>
          </p:cNvPicPr>
          <p:nvPr/>
        </p:nvPicPr>
        <p:blipFill>
          <a:blip r:embed="rId2"/>
          <a:srcRect l="3704" r="3704"/>
          <a:stretch>
            <a:fillRect/>
          </a:stretch>
        </p:blipFill>
        <p:spPr>
          <a:xfrm>
            <a:off x="6720840" y="1554480"/>
            <a:ext cx="4892040" cy="32918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720840" y="5138928"/>
            <a:ext cx="4892040" cy="10160"/>
          </a:xfrm>
          <a:prstGeom prst="rect">
            <a:avLst/>
          </a:prstGeom>
          <a:solidFill>
            <a:srgbClr val="6B6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548640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1300" b="1" i="0" spc="250">
                <a:solidFill>
                  <a:srgbClr val="B03A2E"/>
                </a:solidFill>
                <a:latin typeface="Georgia"/>
                <a:ea typeface="KaiTi"/>
              </a:rPr>
              <a:t>1952  ·  THE ROAD TO SCHOOL</a:t>
            </a:r>
            <a:r>
              <a:rPr sz="1300" b="0" i="0">
                <a:solidFill>
                  <a:srgbClr val="6B6659"/>
                </a:solidFill>
                <a:latin typeface="Georgia"/>
                <a:ea typeface="KaiTi"/>
              </a:rPr>
              <a:t>  母亲的上学路</a:t>
            </a:r>
          </a:p>
          <a:p>
            <a:pPr>
              <a:spcAft>
                <a:spcPts val="1200"/>
              </a:spcAft>
            </a:pPr>
            <a:r>
              <a:rPr sz="1500" b="1" i="0">
                <a:solidFill>
                  <a:srgbClr val="B03A2E"/>
                </a:solidFill>
                <a:latin typeface="Georgia"/>
                <a:ea typeface="KaiTi"/>
              </a:rPr>
              <a:t>—  </a:t>
            </a:r>
            <a:r>
              <a:rPr sz="1550" b="0" i="0">
                <a:solidFill>
                  <a:srgbClr val="2B2B28"/>
                </a:solidFill>
                <a:latin typeface="Georgia"/>
                <a:ea typeface="KaiTi"/>
              </a:rPr>
              <a:t>In 1952, my mother walked eighteen kilometres — four hours on foot — to reach her school.</a:t>
            </a:r>
          </a:p>
          <a:p>
            <a:pPr>
              <a:spcAft>
                <a:spcPts val="1200"/>
              </a:spcAft>
            </a:pPr>
            <a:r>
              <a:rPr sz="1500" b="1" i="0">
                <a:solidFill>
                  <a:srgbClr val="B03A2E"/>
                </a:solidFill>
                <a:latin typeface="Georgia"/>
                <a:ea typeface="KaiTi"/>
              </a:rPr>
              <a:t>—  </a:t>
            </a:r>
            <a:r>
              <a:rPr sz="1550" b="0" i="0">
                <a:solidFill>
                  <a:srgbClr val="2B2B28"/>
                </a:solidFill>
                <a:latin typeface="Georgia"/>
                <a:ea typeface="KaiTi"/>
              </a:rPr>
              <a:t>Her road taught me, before I was born: education is worth any distance.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8" y="4709160"/>
            <a:ext cx="1097280" cy="2540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4937760"/>
            <a:ext cx="5486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900" b="0" i="1">
                <a:solidFill>
                  <a:srgbClr val="44556B"/>
                </a:solidFill>
                <a:latin typeface="Georgia"/>
                <a:ea typeface="KaiTi"/>
              </a:rPr>
              <a:t>Education was worth every single step.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B6659"/>
                </a:solidFill>
                <a:latin typeface="Georgia"/>
                <a:ea typeface="KaiTi"/>
              </a:rPr>
              <a:t>03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8B3C81E3-F1CC-4935-77FB-BB170598E5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3703" y="2802836"/>
            <a:ext cx="1449359" cy="19317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11112" y="1444752"/>
            <a:ext cx="5111496" cy="3511296"/>
          </a:xfrm>
          <a:prstGeom prst="rect">
            <a:avLst/>
          </a:prstGeom>
          <a:solidFill>
            <a:srgbClr val="EFE8D8"/>
          </a:solidFill>
          <a:ln w="12700">
            <a:solidFill>
              <a:srgbClr val="6B6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plum_circuit.png"/>
          <p:cNvPicPr>
            <a:picLocks noChangeAspect="1"/>
          </p:cNvPicPr>
          <p:nvPr/>
        </p:nvPicPr>
        <p:blipFill>
          <a:blip r:embed="rId2"/>
          <a:srcRect l="3704" r="3704"/>
          <a:stretch>
            <a:fillRect/>
          </a:stretch>
        </p:blipFill>
        <p:spPr>
          <a:xfrm>
            <a:off x="6720840" y="1554480"/>
            <a:ext cx="4892040" cy="32918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720840" y="5138928"/>
            <a:ext cx="4892040" cy="10160"/>
          </a:xfrm>
          <a:prstGeom prst="rect">
            <a:avLst/>
          </a:prstGeom>
          <a:solidFill>
            <a:srgbClr val="6B6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548640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1300" b="1" i="0" spc="250">
                <a:solidFill>
                  <a:srgbClr val="B03A2E"/>
                </a:solidFill>
                <a:latin typeface="Georgia"/>
                <a:ea typeface="KaiTi"/>
              </a:rPr>
              <a:t>2013  ·  OPEN HARDWARE</a:t>
            </a:r>
            <a:r>
              <a:rPr sz="1300" b="0" i="0">
                <a:solidFill>
                  <a:srgbClr val="6B6659"/>
                </a:solidFill>
                <a:latin typeface="Georgia"/>
                <a:ea typeface="KaiTi"/>
              </a:rPr>
              <a:t>  一块开源开发板</a:t>
            </a:r>
          </a:p>
          <a:p>
            <a:pPr>
              <a:spcAft>
                <a:spcPts val="1200"/>
              </a:spcAft>
            </a:pPr>
            <a:r>
              <a:rPr sz="1500" b="1" i="0">
                <a:solidFill>
                  <a:srgbClr val="B03A2E"/>
                </a:solidFill>
                <a:latin typeface="Georgia"/>
                <a:ea typeface="KaiTi"/>
              </a:rPr>
              <a:t>—  </a:t>
            </a:r>
            <a:r>
              <a:rPr sz="1550" b="0" i="0">
                <a:solidFill>
                  <a:srgbClr val="2B2B28"/>
                </a:solidFill>
                <a:latin typeface="Georgia"/>
                <a:ea typeface="KaiTi"/>
              </a:rPr>
              <a:t>WRTnode: an open-source Linux board born from an ordinary home-router chip.</a:t>
            </a:r>
          </a:p>
          <a:p>
            <a:pPr>
              <a:spcAft>
                <a:spcPts val="1200"/>
              </a:spcAft>
            </a:pPr>
            <a:r>
              <a:rPr sz="1500" b="1" i="0">
                <a:solidFill>
                  <a:srgbClr val="B03A2E"/>
                </a:solidFill>
                <a:latin typeface="Georgia"/>
                <a:ea typeface="KaiTi"/>
              </a:rPr>
              <a:t>—  </a:t>
            </a:r>
            <a:r>
              <a:rPr sz="1550" b="0" i="0">
                <a:solidFill>
                  <a:srgbClr val="2B2B28"/>
                </a:solidFill>
                <a:latin typeface="Georgia"/>
                <a:ea typeface="KaiTi"/>
              </a:rPr>
              <a:t>The first open hardware platform publicly supported by OpenWrt.org.</a:t>
            </a:r>
          </a:p>
          <a:p>
            <a:pPr>
              <a:spcAft>
                <a:spcPts val="1200"/>
              </a:spcAft>
            </a:pPr>
            <a:r>
              <a:rPr sz="1500" b="1" i="0">
                <a:solidFill>
                  <a:srgbClr val="B03A2E"/>
                </a:solidFill>
                <a:latin typeface="Georgia"/>
                <a:ea typeface="KaiTi"/>
              </a:rPr>
              <a:t>—  </a:t>
            </a:r>
            <a:r>
              <a:rPr sz="1550" b="0" i="0">
                <a:solidFill>
                  <a:srgbClr val="2B2B28"/>
                </a:solidFill>
                <a:latin typeface="Georgia"/>
                <a:ea typeface="KaiTi"/>
              </a:rPr>
              <a:t>As capable as a server — for the price of a cup of latte.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8" y="4709160"/>
            <a:ext cx="1097280" cy="2540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4937760"/>
            <a:ext cx="5486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900" b="0" i="1">
                <a:solidFill>
                  <a:srgbClr val="44556B"/>
                </a:solidFill>
                <a:latin typeface="Georgia"/>
                <a:ea typeface="KaiTi"/>
              </a:rPr>
              <a:t>Openness turns a tiny chip into a worldwide community.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B6659"/>
                </a:solidFill>
                <a:latin typeface="Georgia"/>
                <a:ea typeface="KaiTi"/>
              </a:rPr>
              <a:t>04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01246A2-E2B2-02E2-9855-6B91170CC5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280" y="2936671"/>
            <a:ext cx="2395890" cy="179788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11112" y="1444752"/>
            <a:ext cx="5111496" cy="3511296"/>
          </a:xfrm>
          <a:prstGeom prst="rect">
            <a:avLst/>
          </a:prstGeom>
          <a:solidFill>
            <a:srgbClr val="EFE8D8"/>
          </a:solidFill>
          <a:ln w="12700">
            <a:solidFill>
              <a:srgbClr val="6B6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bamboo_arm.png"/>
          <p:cNvPicPr>
            <a:picLocks noChangeAspect="1"/>
          </p:cNvPicPr>
          <p:nvPr/>
        </p:nvPicPr>
        <p:blipFill>
          <a:blip r:embed="rId2"/>
          <a:srcRect l="3704" r="3704"/>
          <a:stretch>
            <a:fillRect/>
          </a:stretch>
        </p:blipFill>
        <p:spPr>
          <a:xfrm>
            <a:off x="6720840" y="1554480"/>
            <a:ext cx="4892040" cy="32918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720840" y="5138928"/>
            <a:ext cx="4892040" cy="10160"/>
          </a:xfrm>
          <a:prstGeom prst="rect">
            <a:avLst/>
          </a:prstGeom>
          <a:solidFill>
            <a:srgbClr val="6B6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548640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1300" b="1" i="0" spc="250">
                <a:solidFill>
                  <a:srgbClr val="B03A2E"/>
                </a:solidFill>
                <a:latin typeface="Georgia"/>
                <a:ea typeface="KaiTi"/>
              </a:rPr>
              <a:t>2014  ·  MAKER EDUCATION</a:t>
            </a:r>
            <a:r>
              <a:rPr sz="1300" b="0" i="0">
                <a:solidFill>
                  <a:srgbClr val="6B6659"/>
                </a:solidFill>
                <a:latin typeface="Georgia"/>
                <a:ea typeface="KaiTi"/>
              </a:rPr>
              <a:t>  创客教育</a:t>
            </a:r>
          </a:p>
          <a:p>
            <a:pPr>
              <a:spcAft>
                <a:spcPts val="1200"/>
              </a:spcAft>
            </a:pPr>
            <a:r>
              <a:rPr sz="1500" b="1" i="0">
                <a:solidFill>
                  <a:srgbClr val="B03A2E"/>
                </a:solidFill>
                <a:latin typeface="Georgia"/>
                <a:ea typeface="KaiTi"/>
              </a:rPr>
              <a:t>—  </a:t>
            </a:r>
            <a:r>
              <a:rPr sz="1550" b="0" i="0">
                <a:solidFill>
                  <a:srgbClr val="2B2B28"/>
                </a:solidFill>
                <a:latin typeface="Georgia"/>
                <a:ea typeface="KaiTi"/>
              </a:rPr>
              <a:t>A vision robotic arm for under 1,000 RMB — less than 150 dollars.</a:t>
            </a:r>
          </a:p>
          <a:p>
            <a:pPr>
              <a:spcAft>
                <a:spcPts val="1200"/>
              </a:spcAft>
            </a:pPr>
            <a:r>
              <a:rPr sz="1500" b="1" i="0">
                <a:solidFill>
                  <a:srgbClr val="B03A2E"/>
                </a:solidFill>
                <a:latin typeface="Georgia"/>
                <a:ea typeface="KaiTi"/>
              </a:rPr>
              <a:t>—  </a:t>
            </a:r>
            <a:r>
              <a:rPr sz="1550" b="0" i="0">
                <a:solidFill>
                  <a:srgbClr val="2B2B28"/>
                </a:solidFill>
                <a:latin typeface="Georgia"/>
                <a:ea typeface="KaiTi"/>
              </a:rPr>
              <a:t>We carried real engineering tools into children's classrooms.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8" y="4709160"/>
            <a:ext cx="1097280" cy="2540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4937760"/>
            <a:ext cx="5486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900" b="0" i="1">
                <a:solidFill>
                  <a:srgbClr val="44556B"/>
                </a:solidFill>
                <a:latin typeface="Georgia"/>
                <a:ea typeface="KaiTi"/>
              </a:rPr>
              <a:t>When tools become affordable, creativity becomes universal.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B6659"/>
                </a:solidFill>
                <a:latin typeface="Georgia"/>
                <a:ea typeface="KaiTi"/>
              </a:rPr>
              <a:t>05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03495D38-727E-D855-A6C1-393F4FAF75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280" y="2422594"/>
            <a:ext cx="3081417" cy="231196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640080"/>
            <a:ext cx="384048" cy="13970"/>
          </a:xfrm>
          <a:prstGeom prst="rect">
            <a:avLst/>
          </a:prstGeom>
          <a:solidFill>
            <a:srgbClr val="6B6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13970" cy="384048"/>
          </a:xfrm>
          <a:prstGeom prst="rect">
            <a:avLst/>
          </a:prstGeom>
          <a:solidFill>
            <a:srgbClr val="6B6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167567" y="640080"/>
            <a:ext cx="384048" cy="13970"/>
          </a:xfrm>
          <a:prstGeom prst="rect">
            <a:avLst/>
          </a:prstGeom>
          <a:solidFill>
            <a:srgbClr val="6B6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537645" y="640080"/>
            <a:ext cx="13970" cy="384048"/>
          </a:xfrm>
          <a:prstGeom prst="rect">
            <a:avLst/>
          </a:prstGeom>
          <a:solidFill>
            <a:srgbClr val="6B6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6217920"/>
            <a:ext cx="384048" cy="13970"/>
          </a:xfrm>
          <a:prstGeom prst="rect">
            <a:avLst/>
          </a:prstGeom>
          <a:solidFill>
            <a:srgbClr val="6B6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5833872"/>
            <a:ext cx="13970" cy="384048"/>
          </a:xfrm>
          <a:prstGeom prst="rect">
            <a:avLst/>
          </a:prstGeom>
          <a:solidFill>
            <a:srgbClr val="6B6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167567" y="6217920"/>
            <a:ext cx="384048" cy="13970"/>
          </a:xfrm>
          <a:prstGeom prst="rect">
            <a:avLst/>
          </a:prstGeom>
          <a:solidFill>
            <a:srgbClr val="6B6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537645" y="5833872"/>
            <a:ext cx="13970" cy="384048"/>
          </a:xfrm>
          <a:prstGeom prst="rect">
            <a:avLst/>
          </a:prstGeom>
          <a:solidFill>
            <a:srgbClr val="6B6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54480" y="960120"/>
            <a:ext cx="9082735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400"/>
              </a:spcAft>
            </a:pPr>
            <a:r>
              <a:rPr sz="1300" b="1" i="0" spc="250">
                <a:solidFill>
                  <a:srgbClr val="B03A2E"/>
                </a:solidFill>
                <a:latin typeface="Georgia"/>
                <a:ea typeface="KaiTi"/>
              </a:rPr>
              <a:t>ON INNOVATION</a:t>
            </a:r>
            <a:r>
              <a:rPr sz="1300" b="0" i="0">
                <a:solidFill>
                  <a:srgbClr val="6B6659"/>
                </a:solidFill>
                <a:latin typeface="Georgia"/>
                <a:ea typeface="KaiTi"/>
              </a:rPr>
              <a:t>  关于创新</a:t>
            </a:r>
          </a:p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2B2B28"/>
                </a:solidFill>
                <a:latin typeface="Georgia"/>
                <a:ea typeface="KaiTi"/>
              </a:rPr>
              <a:t>Innovation Has a Method</a:t>
            </a:r>
          </a:p>
          <a:p>
            <a:pPr algn="ctr">
              <a:spcBef>
                <a:spcPts val="1000"/>
              </a:spcBef>
            </a:pPr>
            <a:endParaRPr sz="2600" b="1" i="0">
              <a:solidFill>
                <a:srgbClr val="2B2B28"/>
              </a:solidFill>
              <a:latin typeface="Georgia"/>
              <a:ea typeface="KaiTi"/>
            </a:endParaRPr>
          </a:p>
          <a:p>
            <a:pPr algn="ctr">
              <a:spcAft>
                <a:spcPts val="800"/>
              </a:spcAft>
            </a:pPr>
            <a:r>
              <a:rPr sz="1500" b="0" i="0">
                <a:solidFill>
                  <a:srgbClr val="6B6659"/>
                </a:solidFill>
                <a:latin typeface="Georgia"/>
                <a:ea typeface="KaiTi"/>
              </a:rPr>
              <a:t>TRIZ — the theory of inventive problem solving.</a:t>
            </a:r>
          </a:p>
          <a:p>
            <a:pPr algn="ctr">
              <a:spcAft>
                <a:spcPts val="800"/>
              </a:spcAft>
            </a:pPr>
            <a:r>
              <a:rPr sz="1500" b="0" i="0">
                <a:solidFill>
                  <a:srgbClr val="6B6659"/>
                </a:solidFill>
                <a:latin typeface="Georgia"/>
                <a:ea typeface="KaiTi"/>
              </a:rPr>
              <a:t>Innovation follows patterns, and patterns can be taught.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55767" y="4617720"/>
            <a:ext cx="1280160" cy="2540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54480" y="4846320"/>
            <a:ext cx="908273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 i="1">
                <a:solidFill>
                  <a:srgbClr val="44556B"/>
                </a:solidFill>
                <a:latin typeface="Georgia"/>
                <a:ea typeface="KaiTi"/>
              </a:rPr>
              <a:t>Innovation is not magic; it is a method anyone can learn.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B6659"/>
                </a:solidFill>
                <a:latin typeface="Georgia"/>
                <a:ea typeface="KaiTi"/>
              </a:rPr>
              <a:t>06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F79B00BC-A95B-2882-97CE-7F790E8831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1300" y="2214009"/>
            <a:ext cx="4201755" cy="24439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11112" y="1444752"/>
            <a:ext cx="5111496" cy="3511296"/>
          </a:xfrm>
          <a:prstGeom prst="rect">
            <a:avLst/>
          </a:prstGeom>
          <a:solidFill>
            <a:srgbClr val="EFE8D8"/>
          </a:solidFill>
          <a:ln w="12700">
            <a:solidFill>
              <a:srgbClr val="6B6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boats.png"/>
          <p:cNvPicPr>
            <a:picLocks noChangeAspect="1"/>
          </p:cNvPicPr>
          <p:nvPr/>
        </p:nvPicPr>
        <p:blipFill>
          <a:blip r:embed="rId2"/>
          <a:srcRect l="3704" r="3704"/>
          <a:stretch>
            <a:fillRect/>
          </a:stretch>
        </p:blipFill>
        <p:spPr>
          <a:xfrm>
            <a:off x="6720840" y="1554480"/>
            <a:ext cx="4892040" cy="32918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720840" y="5138928"/>
            <a:ext cx="4892040" cy="10160"/>
          </a:xfrm>
          <a:prstGeom prst="rect">
            <a:avLst/>
          </a:prstGeom>
          <a:solidFill>
            <a:srgbClr val="6B6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548640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1300" b="1" i="0" spc="250">
                <a:solidFill>
                  <a:srgbClr val="B03A2E"/>
                </a:solidFill>
                <a:latin typeface="Georgia"/>
                <a:ea typeface="KaiTi"/>
              </a:rPr>
              <a:t>2020  ·  OPENHARMONY</a:t>
            </a:r>
            <a:r>
              <a:rPr sz="1300" b="0" i="0">
                <a:solidFill>
                  <a:srgbClr val="6B6659"/>
                </a:solidFill>
                <a:latin typeface="Georgia"/>
                <a:ea typeface="KaiTi"/>
              </a:rPr>
              <a:t>  共建开源鸿蒙</a:t>
            </a:r>
          </a:p>
          <a:p>
            <a:pPr>
              <a:spcAft>
                <a:spcPts val="1200"/>
              </a:spcAft>
            </a:pPr>
            <a:r>
              <a:rPr sz="1500" b="1" i="0">
                <a:solidFill>
                  <a:srgbClr val="B03A2E"/>
                </a:solidFill>
                <a:latin typeface="Georgia"/>
                <a:ea typeface="KaiTi"/>
              </a:rPr>
              <a:t>—  </a:t>
            </a:r>
            <a:r>
              <a:rPr sz="1550" b="0" i="0">
                <a:solidFill>
                  <a:srgbClr val="2B2B28"/>
                </a:solidFill>
                <a:latin typeface="Georgia"/>
                <a:ea typeface="KaiTi"/>
              </a:rPr>
              <a:t>A community 'battle map': hundreds of open tasks, claimed company by company.</a:t>
            </a:r>
          </a:p>
          <a:p>
            <a:pPr>
              <a:spcAft>
                <a:spcPts val="1200"/>
              </a:spcAft>
            </a:pPr>
            <a:r>
              <a:rPr sz="1500" b="1" i="0">
                <a:solidFill>
                  <a:srgbClr val="B03A2E"/>
                </a:solidFill>
                <a:latin typeface="Georgia"/>
                <a:ea typeface="KaiTi"/>
              </a:rPr>
              <a:t>—  </a:t>
            </a:r>
            <a:r>
              <a:rPr sz="1550" b="0" i="0">
                <a:solidFill>
                  <a:srgbClr val="2B2B28"/>
                </a:solidFill>
                <a:latin typeface="Georgia"/>
                <a:ea typeface="KaiTi"/>
              </a:rPr>
              <a:t>Dozens of enterprises building one operating system — together, in the open.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8" y="4709160"/>
            <a:ext cx="1097280" cy="2540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4937760"/>
            <a:ext cx="5486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900" b="0" i="1">
                <a:solidFill>
                  <a:srgbClr val="44556B"/>
                </a:solidFill>
                <a:latin typeface="Georgia"/>
                <a:ea typeface="KaiTi"/>
              </a:rPr>
              <a:t>Alone, we write code. Together, we build a world.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B6659"/>
                </a:solidFill>
                <a:latin typeface="Georgia"/>
                <a:ea typeface="KaiTi"/>
              </a:rPr>
              <a:t>07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03A6244-A89E-EB23-C243-B6014574DC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4127" y="2419201"/>
            <a:ext cx="4473249" cy="2427119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11112" y="1444752"/>
            <a:ext cx="5111496" cy="3511296"/>
          </a:xfrm>
          <a:prstGeom prst="rect">
            <a:avLst/>
          </a:prstGeom>
          <a:solidFill>
            <a:srgbClr val="EFE8D8"/>
          </a:solidFill>
          <a:ln w="12700">
            <a:solidFill>
              <a:srgbClr val="6B6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bridge.png"/>
          <p:cNvPicPr>
            <a:picLocks noChangeAspect="1"/>
          </p:cNvPicPr>
          <p:nvPr/>
        </p:nvPicPr>
        <p:blipFill>
          <a:blip r:embed="rId2"/>
          <a:srcRect l="3704" r="3704"/>
          <a:stretch>
            <a:fillRect/>
          </a:stretch>
        </p:blipFill>
        <p:spPr>
          <a:xfrm>
            <a:off x="6720840" y="1554480"/>
            <a:ext cx="4892040" cy="32918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720840" y="5138928"/>
            <a:ext cx="4892040" cy="10160"/>
          </a:xfrm>
          <a:prstGeom prst="rect">
            <a:avLst/>
          </a:prstGeom>
          <a:solidFill>
            <a:srgbClr val="6B6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548640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1300" b="1" i="0" spc="250">
                <a:solidFill>
                  <a:srgbClr val="B03A2E"/>
                </a:solidFill>
                <a:latin typeface="Georgia"/>
                <a:ea typeface="KaiTi"/>
              </a:rPr>
              <a:t>2023  ·  THE FOUNDATION</a:t>
            </a:r>
            <a:r>
              <a:rPr sz="1300" b="0" i="0">
                <a:solidFill>
                  <a:srgbClr val="6B6659"/>
                </a:solidFill>
                <a:latin typeface="Georgia"/>
                <a:ea typeface="KaiTi"/>
              </a:rPr>
              <a:t>  开放原子开源基金会</a:t>
            </a:r>
          </a:p>
          <a:p>
            <a:pPr>
              <a:spcAft>
                <a:spcPts val="1200"/>
              </a:spcAft>
            </a:pPr>
            <a:r>
              <a:rPr sz="1500" b="1" i="0">
                <a:solidFill>
                  <a:srgbClr val="B03A2E"/>
                </a:solidFill>
                <a:latin typeface="Georgia"/>
                <a:ea typeface="KaiTi"/>
              </a:rPr>
              <a:t>—  </a:t>
            </a:r>
            <a:r>
              <a:rPr sz="1550" b="0" i="0">
                <a:solidFill>
                  <a:srgbClr val="2B2B28"/>
                </a:solidFill>
                <a:latin typeface="Georgia"/>
                <a:ea typeface="KaiTi"/>
              </a:rPr>
              <a:t>Open source became digital infrastructure: operating systems, AI, RISC-V, blockchain.</a:t>
            </a:r>
          </a:p>
          <a:p>
            <a:pPr>
              <a:spcAft>
                <a:spcPts val="1200"/>
              </a:spcAft>
            </a:pPr>
            <a:r>
              <a:rPr sz="1500" b="1" i="0">
                <a:solidFill>
                  <a:srgbClr val="B03A2E"/>
                </a:solidFill>
                <a:latin typeface="Georgia"/>
                <a:ea typeface="KaiTi"/>
              </a:rPr>
              <a:t>—  </a:t>
            </a:r>
            <a:r>
              <a:rPr sz="1550" b="0" i="0">
                <a:solidFill>
                  <a:srgbClr val="2B2B28"/>
                </a:solidFill>
                <a:latin typeface="Georgia"/>
                <a:ea typeface="KaiTi"/>
              </a:rPr>
              <a:t>From writing code to building institutions — the commons as a public good.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8" y="4709160"/>
            <a:ext cx="1097280" cy="2540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4937760"/>
            <a:ext cx="5486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900" b="0" i="1">
                <a:solidFill>
                  <a:srgbClr val="44556B"/>
                </a:solidFill>
                <a:latin typeface="Georgia"/>
                <a:ea typeface="KaiTi"/>
              </a:rPr>
              <a:t>A foundation is a bridge between ideals and institutions.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B6659"/>
                </a:solidFill>
                <a:latin typeface="Georgia"/>
                <a:ea typeface="KaiTi"/>
              </a:rPr>
              <a:t>08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4BCC1415-ACA3-34BF-3335-98DFC8FAA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2536" y="2755537"/>
            <a:ext cx="4201789" cy="2088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640080"/>
            <a:ext cx="384048" cy="13970"/>
          </a:xfrm>
          <a:prstGeom prst="rect">
            <a:avLst/>
          </a:prstGeom>
          <a:solidFill>
            <a:srgbClr val="6B6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13970" cy="384048"/>
          </a:xfrm>
          <a:prstGeom prst="rect">
            <a:avLst/>
          </a:prstGeom>
          <a:solidFill>
            <a:srgbClr val="6B6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167567" y="640080"/>
            <a:ext cx="384048" cy="13970"/>
          </a:xfrm>
          <a:prstGeom prst="rect">
            <a:avLst/>
          </a:prstGeom>
          <a:solidFill>
            <a:srgbClr val="6B6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537645" y="640080"/>
            <a:ext cx="13970" cy="384048"/>
          </a:xfrm>
          <a:prstGeom prst="rect">
            <a:avLst/>
          </a:prstGeom>
          <a:solidFill>
            <a:srgbClr val="6B6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6217920"/>
            <a:ext cx="384048" cy="13970"/>
          </a:xfrm>
          <a:prstGeom prst="rect">
            <a:avLst/>
          </a:prstGeom>
          <a:solidFill>
            <a:srgbClr val="6B6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5833872"/>
            <a:ext cx="13970" cy="384048"/>
          </a:xfrm>
          <a:prstGeom prst="rect">
            <a:avLst/>
          </a:prstGeom>
          <a:solidFill>
            <a:srgbClr val="6B6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167567" y="6217920"/>
            <a:ext cx="384048" cy="13970"/>
          </a:xfrm>
          <a:prstGeom prst="rect">
            <a:avLst/>
          </a:prstGeom>
          <a:solidFill>
            <a:srgbClr val="6B6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537645" y="5833872"/>
            <a:ext cx="13970" cy="384048"/>
          </a:xfrm>
          <a:prstGeom prst="rect">
            <a:avLst/>
          </a:prstGeom>
          <a:solidFill>
            <a:srgbClr val="6B6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54480" y="960120"/>
            <a:ext cx="9082735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400"/>
              </a:spcAft>
            </a:pPr>
            <a:r>
              <a:rPr sz="1300" b="1" i="0" spc="250">
                <a:solidFill>
                  <a:srgbClr val="B03A2E"/>
                </a:solidFill>
                <a:latin typeface="Georgia"/>
                <a:ea typeface="KaiTi"/>
              </a:rPr>
              <a:t>UNDERSTANDING OPEN SOURCE</a:t>
            </a:r>
            <a:r>
              <a:rPr sz="1300" b="0" i="0">
                <a:solidFill>
                  <a:srgbClr val="6B6659"/>
                </a:solidFill>
                <a:latin typeface="Georgia"/>
                <a:ea typeface="KaiTi"/>
              </a:rPr>
              <a:t>  开源理论研究</a:t>
            </a:r>
          </a:p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2B2B28"/>
                </a:solidFill>
                <a:latin typeface="Georgia"/>
                <a:ea typeface="KaiTi"/>
              </a:rPr>
              <a:t>A New Economics of Sharing</a:t>
            </a:r>
          </a:p>
          <a:p>
            <a:pPr algn="ctr">
              <a:spcBef>
                <a:spcPts val="1000"/>
              </a:spcBef>
            </a:pPr>
            <a:endParaRPr sz="2600" b="1" i="0">
              <a:solidFill>
                <a:srgbClr val="2B2B28"/>
              </a:solidFill>
              <a:latin typeface="Georgia"/>
              <a:ea typeface="KaiTi"/>
            </a:endParaRPr>
          </a:p>
          <a:p>
            <a:pPr algn="ctr">
              <a:spcAft>
                <a:spcPts val="800"/>
              </a:spcAft>
            </a:pPr>
            <a:r>
              <a:rPr sz="1500" b="0" i="0">
                <a:solidFill>
                  <a:srgbClr val="6B6659"/>
                </a:solidFill>
                <a:latin typeface="Georgia"/>
                <a:ea typeface="KaiTi"/>
              </a:rPr>
              <a:t>Open source is reshaping the factors — and the relations — of production.</a:t>
            </a:r>
          </a:p>
          <a:p>
            <a:pPr algn="ctr">
              <a:spcAft>
                <a:spcPts val="800"/>
              </a:spcAft>
            </a:pPr>
            <a:r>
              <a:rPr sz="1500" b="0" i="0">
                <a:solidFill>
                  <a:srgbClr val="6B6659"/>
                </a:solidFill>
                <a:latin typeface="Georgia"/>
                <a:ea typeface="KaiTi"/>
              </a:rPr>
              <a:t>We study it not only as engineering, but as economics and philosophy.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55767" y="4617720"/>
            <a:ext cx="1280160" cy="2540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54480" y="4846320"/>
            <a:ext cx="908273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 i="1">
                <a:solidFill>
                  <a:srgbClr val="44556B"/>
                </a:solidFill>
                <a:latin typeface="Georgia"/>
                <a:ea typeface="KaiTi"/>
              </a:rPr>
              <a:t>Behind every line of code lies a new economics of sharing.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B6659"/>
                </a:solidFill>
                <a:latin typeface="Georgia"/>
                <a:ea typeface="KaiTi"/>
              </a:rPr>
              <a:t>09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2427C414-DF5C-850A-4A2B-FE8563933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0617" y="3075070"/>
            <a:ext cx="6747329" cy="37961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640080"/>
            <a:ext cx="384048" cy="13970"/>
          </a:xfrm>
          <a:prstGeom prst="rect">
            <a:avLst/>
          </a:prstGeom>
          <a:solidFill>
            <a:srgbClr val="6B6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13970" cy="384048"/>
          </a:xfrm>
          <a:prstGeom prst="rect">
            <a:avLst/>
          </a:prstGeom>
          <a:solidFill>
            <a:srgbClr val="6B6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167567" y="640080"/>
            <a:ext cx="384048" cy="13970"/>
          </a:xfrm>
          <a:prstGeom prst="rect">
            <a:avLst/>
          </a:prstGeom>
          <a:solidFill>
            <a:srgbClr val="6B6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537645" y="640080"/>
            <a:ext cx="13970" cy="384048"/>
          </a:xfrm>
          <a:prstGeom prst="rect">
            <a:avLst/>
          </a:prstGeom>
          <a:solidFill>
            <a:srgbClr val="6B6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6217920"/>
            <a:ext cx="384048" cy="13970"/>
          </a:xfrm>
          <a:prstGeom prst="rect">
            <a:avLst/>
          </a:prstGeom>
          <a:solidFill>
            <a:srgbClr val="6B6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5833872"/>
            <a:ext cx="13970" cy="384048"/>
          </a:xfrm>
          <a:prstGeom prst="rect">
            <a:avLst/>
          </a:prstGeom>
          <a:solidFill>
            <a:srgbClr val="6B6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167567" y="6217920"/>
            <a:ext cx="384048" cy="13970"/>
          </a:xfrm>
          <a:prstGeom prst="rect">
            <a:avLst/>
          </a:prstGeom>
          <a:solidFill>
            <a:srgbClr val="6B6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537645" y="5833872"/>
            <a:ext cx="13970" cy="384048"/>
          </a:xfrm>
          <a:prstGeom prst="rect">
            <a:avLst/>
          </a:prstGeom>
          <a:solidFill>
            <a:srgbClr val="6B6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54480" y="960120"/>
            <a:ext cx="9082735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400"/>
              </a:spcAft>
            </a:pPr>
            <a:r>
              <a:rPr sz="1300" b="1" i="0" spc="250">
                <a:solidFill>
                  <a:srgbClr val="B03A2E"/>
                </a:solidFill>
                <a:latin typeface="Georgia"/>
                <a:ea typeface="KaiTi"/>
              </a:rPr>
              <a:t>2024  ·  INTO THE ACADEMY</a:t>
            </a:r>
            <a:r>
              <a:rPr sz="1300" b="0" i="0">
                <a:solidFill>
                  <a:srgbClr val="6B6659"/>
                </a:solidFill>
                <a:latin typeface="Georgia"/>
                <a:ea typeface="KaiTi"/>
              </a:rPr>
              <a:t>  走进学术殿堂</a:t>
            </a:r>
          </a:p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2B2B28"/>
                </a:solidFill>
                <a:latin typeface="Georgia"/>
                <a:ea typeface="KaiTi"/>
              </a:rPr>
              <a:t>Open Source Enters the Classroom</a:t>
            </a:r>
          </a:p>
          <a:p>
            <a:pPr algn="ctr">
              <a:spcBef>
                <a:spcPts val="1000"/>
              </a:spcBef>
            </a:pPr>
            <a:endParaRPr sz="2600" b="1" i="0">
              <a:solidFill>
                <a:srgbClr val="2B2B28"/>
              </a:solidFill>
              <a:latin typeface="Georgia"/>
              <a:ea typeface="KaiTi"/>
            </a:endParaRPr>
          </a:p>
          <a:p>
            <a:pPr algn="ctr">
              <a:spcAft>
                <a:spcPts val="800"/>
              </a:spcAft>
            </a:pPr>
            <a:r>
              <a:rPr sz="1500" b="0" i="0">
                <a:solidFill>
                  <a:srgbClr val="6B6659"/>
                </a:solidFill>
                <a:latin typeface="Georgia"/>
                <a:ea typeface="KaiTi"/>
              </a:rPr>
              <a:t>The first national academic conference on open source in China.</a:t>
            </a:r>
          </a:p>
          <a:p>
            <a:pPr algn="ctr">
              <a:spcAft>
                <a:spcPts val="800"/>
              </a:spcAft>
            </a:pPr>
            <a:r>
              <a:rPr sz="1500" b="0" i="0">
                <a:solidFill>
                  <a:srgbClr val="6B6659"/>
                </a:solidFill>
                <a:latin typeface="Georgia"/>
                <a:ea typeface="KaiTi"/>
              </a:rPr>
              <a:t>The first master's programme dedicated to open source.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55767" y="4617720"/>
            <a:ext cx="1280160" cy="2540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54480" y="4846320"/>
            <a:ext cx="908273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 i="1">
                <a:solidFill>
                  <a:srgbClr val="44556B"/>
                </a:solidFill>
                <a:latin typeface="Georgia"/>
                <a:ea typeface="KaiTi"/>
              </a:rPr>
              <a:t>What began as a speech has become a discipline.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B6659"/>
                </a:solidFill>
                <a:latin typeface="Georgia"/>
                <a:ea typeface="KaiTi"/>
              </a:rPr>
              <a:t>10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0B2F5772-330C-5EC0-D475-D804D05826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8451" y="4439921"/>
            <a:ext cx="3224105" cy="2418079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DC787BEB-1E29-0FC2-E742-EE14F04F64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9007" y="2633241"/>
            <a:ext cx="3282992" cy="1516104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D89ECE78-8DE7-A51C-8498-EEEFCD413C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224" y="3121032"/>
            <a:ext cx="3337218" cy="2611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640080"/>
            <a:ext cx="384048" cy="13970"/>
          </a:xfrm>
          <a:prstGeom prst="rect">
            <a:avLst/>
          </a:prstGeom>
          <a:solidFill>
            <a:srgbClr val="6B6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13970" cy="384048"/>
          </a:xfrm>
          <a:prstGeom prst="rect">
            <a:avLst/>
          </a:prstGeom>
          <a:solidFill>
            <a:srgbClr val="6B6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167567" y="640080"/>
            <a:ext cx="384048" cy="13970"/>
          </a:xfrm>
          <a:prstGeom prst="rect">
            <a:avLst/>
          </a:prstGeom>
          <a:solidFill>
            <a:srgbClr val="6B6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537645" y="640080"/>
            <a:ext cx="13970" cy="384048"/>
          </a:xfrm>
          <a:prstGeom prst="rect">
            <a:avLst/>
          </a:prstGeom>
          <a:solidFill>
            <a:srgbClr val="6B6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6217920"/>
            <a:ext cx="384048" cy="13970"/>
          </a:xfrm>
          <a:prstGeom prst="rect">
            <a:avLst/>
          </a:prstGeom>
          <a:solidFill>
            <a:srgbClr val="6B6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5833872"/>
            <a:ext cx="13970" cy="384048"/>
          </a:xfrm>
          <a:prstGeom prst="rect">
            <a:avLst/>
          </a:prstGeom>
          <a:solidFill>
            <a:srgbClr val="6B6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167567" y="6217920"/>
            <a:ext cx="384048" cy="13970"/>
          </a:xfrm>
          <a:prstGeom prst="rect">
            <a:avLst/>
          </a:prstGeom>
          <a:solidFill>
            <a:srgbClr val="6B6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537645" y="5833872"/>
            <a:ext cx="13970" cy="384048"/>
          </a:xfrm>
          <a:prstGeom prst="rect">
            <a:avLst/>
          </a:prstGeom>
          <a:solidFill>
            <a:srgbClr val="6B6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54480" y="960120"/>
            <a:ext cx="9082735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400"/>
              </a:spcAft>
            </a:pPr>
            <a:r>
              <a:rPr sz="1300" b="1" i="0" spc="250" dirty="0">
                <a:solidFill>
                  <a:srgbClr val="B03A2E"/>
                </a:solidFill>
                <a:latin typeface="Georgia"/>
                <a:ea typeface="KaiTi"/>
              </a:rPr>
              <a:t>2026  ·  </a:t>
            </a:r>
            <a:r>
              <a:rPr lang="en-US" sz="1300" b="1" i="0" spc="250" dirty="0" err="1">
                <a:solidFill>
                  <a:srgbClr val="B03A2E"/>
                </a:solidFill>
                <a:latin typeface="Georgia"/>
                <a:ea typeface="KaiTi"/>
              </a:rPr>
              <a:t>OpenCompute</a:t>
            </a:r>
            <a:r>
              <a:rPr sz="1300" b="0" i="0" dirty="0">
                <a:solidFill>
                  <a:srgbClr val="6B6659"/>
                </a:solidFill>
                <a:latin typeface="Georgia"/>
                <a:ea typeface="KaiTi"/>
              </a:rPr>
              <a:t> </a:t>
            </a:r>
            <a:r>
              <a:rPr lang="zh-CN" altLang="en-US" sz="1300" dirty="0">
                <a:solidFill>
                  <a:srgbClr val="6B6659"/>
                </a:solidFill>
                <a:latin typeface="Georgia"/>
                <a:ea typeface="KaiTi"/>
              </a:rPr>
              <a:t>开放计算</a:t>
            </a:r>
            <a:endParaRPr sz="1300" b="0" i="0" dirty="0">
              <a:solidFill>
                <a:srgbClr val="6B6659"/>
              </a:solidFill>
              <a:latin typeface="Georgia"/>
              <a:ea typeface="KaiT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455767" y="4617720"/>
            <a:ext cx="1280160" cy="2540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54480" y="4846320"/>
            <a:ext cx="908273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 i="1">
                <a:solidFill>
                  <a:srgbClr val="44556B"/>
                </a:solidFill>
                <a:latin typeface="Georgia"/>
                <a:ea typeface="KaiTi"/>
              </a:rPr>
              <a:t>From one classroom in Beijing, to faculty everywhere.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B6659"/>
                </a:solidFill>
                <a:latin typeface="Georgia"/>
                <a:ea typeface="KaiTi"/>
              </a:rPr>
              <a:t>11</a:t>
            </a:r>
          </a:p>
        </p:txBody>
      </p:sp>
      <p:pic>
        <p:nvPicPr>
          <p:cNvPr id="15" name="cover-photo">
            <a:extLst>
              <a:ext uri="{FF2B5EF4-FFF2-40B4-BE49-F238E27FC236}">
                <a16:creationId xmlns:a16="http://schemas.microsoft.com/office/drawing/2014/main" id="{19F56C7C-DC2E-52D5-8300-39E06259C9D4}"/>
              </a:ext>
            </a:extLst>
          </p:cNvPr>
          <p:cNvPicPr/>
          <p:nvPr/>
        </p:nvPicPr>
        <p:blipFill>
          <a:blip r:embed="rId2"/>
          <a:srcRect t="11051" b="11051"/>
          <a:stretch>
            <a:fillRect/>
          </a:stretch>
        </p:blipFill>
        <p:spPr>
          <a:xfrm>
            <a:off x="2804770" y="4105295"/>
            <a:ext cx="6447180" cy="2434841"/>
          </a:xfrm>
          <a:prstGeom prst="rect">
            <a:avLst/>
          </a:prstGeom>
          <a:ln>
            <a:noFill/>
          </a:ln>
        </p:spPr>
      </p:pic>
      <p:pic>
        <p:nvPicPr>
          <p:cNvPr id="17" name="photo">
            <a:extLst>
              <a:ext uri="{FF2B5EF4-FFF2-40B4-BE49-F238E27FC236}">
                <a16:creationId xmlns:a16="http://schemas.microsoft.com/office/drawing/2014/main" id="{0DF80497-017A-2AAD-6C8E-3D4511771F07}"/>
              </a:ext>
            </a:extLst>
          </p:cNvPr>
          <p:cNvPicPr/>
          <p:nvPr/>
        </p:nvPicPr>
        <p:blipFill>
          <a:blip r:embed="rId3"/>
          <a:srcRect l="287" r="287"/>
          <a:stretch>
            <a:fillRect/>
          </a:stretch>
        </p:blipFill>
        <p:spPr>
          <a:xfrm>
            <a:off x="6095847" y="1522742"/>
            <a:ext cx="3831924" cy="2371441"/>
          </a:xfrm>
          <a:prstGeom prst="rect">
            <a:avLst/>
          </a:prstGeom>
          <a:ln>
            <a:noFill/>
          </a:ln>
        </p:spPr>
      </p:pic>
      <p:pic>
        <p:nvPicPr>
          <p:cNvPr id="19" name="photo-indoor">
            <a:extLst>
              <a:ext uri="{FF2B5EF4-FFF2-40B4-BE49-F238E27FC236}">
                <a16:creationId xmlns:a16="http://schemas.microsoft.com/office/drawing/2014/main" id="{7B0DCA3B-9090-D28A-85F9-802BDB1DFE9B}"/>
              </a:ext>
            </a:extLst>
          </p:cNvPr>
          <p:cNvPicPr/>
          <p:nvPr/>
        </p:nvPicPr>
        <p:blipFill>
          <a:blip r:embed="rId4"/>
          <a:srcRect t="5722" b="5722"/>
          <a:stretch>
            <a:fillRect/>
          </a:stretch>
        </p:blipFill>
        <p:spPr>
          <a:xfrm>
            <a:off x="1024128" y="1516743"/>
            <a:ext cx="4275908" cy="23774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unrise.png"/>
          <p:cNvPicPr>
            <a:picLocks noChangeAspect="1"/>
          </p:cNvPicPr>
          <p:nvPr/>
        </p:nvPicPr>
        <p:blipFill>
          <a:blip r:embed="rId2"/>
          <a:srcRect t="4858" b="4858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377440" y="685800"/>
            <a:ext cx="7436815" cy="2834640"/>
          </a:xfrm>
          <a:prstGeom prst="roundRect">
            <a:avLst>
              <a:gd name="adj" fmla="val 8000"/>
            </a:avLst>
          </a:prstGeom>
          <a:solidFill>
            <a:srgbClr val="F7F2E7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868680"/>
            <a:ext cx="9997135" cy="149784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lang="en-US" altLang="zh-CN" sz="3200" b="1" dirty="0">
                <a:solidFill>
                  <a:srgbClr val="2B2B28"/>
                </a:solidFill>
                <a:latin typeface="Georgia"/>
                <a:ea typeface="KaiTi"/>
              </a:rPr>
              <a:t>Make a better world </a:t>
            </a:r>
          </a:p>
          <a:p>
            <a:pPr algn="ctr">
              <a:spcAft>
                <a:spcPts val="800"/>
              </a:spcAft>
            </a:pPr>
            <a:endParaRPr lang="en-US" altLang="zh-CN" sz="1050" b="1" dirty="0">
              <a:solidFill>
                <a:srgbClr val="2B2B28"/>
              </a:solidFill>
              <a:latin typeface="Georgia"/>
              <a:ea typeface="KaiTi"/>
            </a:endParaRPr>
          </a:p>
          <a:p>
            <a:pPr algn="ctr">
              <a:spcAft>
                <a:spcPts val="800"/>
              </a:spcAft>
            </a:pPr>
            <a:r>
              <a:rPr lang="en-US" altLang="zh-CN" sz="3200" b="1" dirty="0">
                <a:solidFill>
                  <a:srgbClr val="2B2B28"/>
                </a:solidFill>
                <a:latin typeface="Georgia"/>
                <a:ea typeface="KaiTi"/>
              </a:rPr>
              <a:t>                             with Open Source</a:t>
            </a:r>
            <a:endParaRPr sz="3200" b="1" i="0" dirty="0">
              <a:solidFill>
                <a:srgbClr val="2B2B28"/>
              </a:solidFill>
              <a:latin typeface="Georgia"/>
              <a:ea typeface="KaiT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64327" y="2514600"/>
            <a:ext cx="1463040" cy="2794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2697480"/>
            <a:ext cx="999713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 i="0">
                <a:solidFill>
                  <a:srgbClr val="B03A2E"/>
                </a:solidFill>
                <a:latin typeface="Georgia"/>
                <a:ea typeface="KaiTi"/>
              </a:rPr>
              <a:t>Thank you  ·  谢谢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63240"/>
            <a:ext cx="9997135" cy="269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 i="0" dirty="0">
                <a:solidFill>
                  <a:srgbClr val="2B2B28"/>
                </a:solidFill>
                <a:latin typeface="Georgia"/>
                <a:ea typeface="KaiTi"/>
              </a:rPr>
              <a:t>Zhu </a:t>
            </a:r>
            <a:r>
              <a:rPr sz="1150" b="0" i="0" dirty="0" err="1">
                <a:solidFill>
                  <a:srgbClr val="2B2B28"/>
                </a:solidFill>
                <a:latin typeface="Georgia"/>
                <a:ea typeface="KaiTi"/>
              </a:rPr>
              <a:t>Qigang</a:t>
            </a:r>
            <a:r>
              <a:rPr sz="1150" b="0" i="0" dirty="0">
                <a:solidFill>
                  <a:srgbClr val="2B2B28"/>
                </a:solidFill>
                <a:latin typeface="Georgia"/>
                <a:ea typeface="KaiTi"/>
              </a:rPr>
              <a:t> </a:t>
            </a:r>
            <a:r>
              <a:rPr sz="1150" b="0" i="0" dirty="0" err="1">
                <a:solidFill>
                  <a:srgbClr val="2B2B28"/>
                </a:solidFill>
                <a:latin typeface="Georgia"/>
                <a:ea typeface="KaiTi"/>
              </a:rPr>
              <a:t>朱其罡</a:t>
            </a:r>
            <a:r>
              <a:rPr sz="1150" b="0" i="0" dirty="0">
                <a:solidFill>
                  <a:srgbClr val="2B2B28"/>
                </a:solidFill>
                <a:latin typeface="Georgia"/>
                <a:ea typeface="KaiTi"/>
              </a:rPr>
              <a:t>   ·   Qgzhu@baai.ac.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411480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30" b="1" dirty="0">
                <a:solidFill>
                  <a:srgbClr val="FFFFFF"/>
                </a:solidFill>
                <a:latin typeface="KaiTi"/>
                <a:ea typeface="KaiTi"/>
              </a:rPr>
              <a:t>FOSS</a:t>
            </a:r>
            <a:endParaRPr sz="1430" b="1" i="0" dirty="0">
              <a:solidFill>
                <a:srgbClr val="FFFFFF"/>
              </a:solidFill>
              <a:latin typeface="KaiTi"/>
              <a:ea typeface="KaiT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B6659"/>
                </a:solidFill>
                <a:latin typeface="Georgia"/>
                <a:ea typeface="KaiT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457</Words>
  <Application>Microsoft Office PowerPoint</Application>
  <PresentationFormat>宽屏</PresentationFormat>
  <Paragraphs>68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7" baseType="lpstr">
      <vt:lpstr>KaiTi</vt:lpstr>
      <vt:lpstr>Arial</vt:lpstr>
      <vt:lpstr>Calibri</vt:lpstr>
      <vt:lpstr>Georgia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orix zhu</cp:lastModifiedBy>
  <cp:revision>5</cp:revision>
  <dcterms:created xsi:type="dcterms:W3CDTF">2013-01-27T09:14:16Z</dcterms:created>
  <dcterms:modified xsi:type="dcterms:W3CDTF">2026-10-22T20:38:22Z</dcterms:modified>
  <cp:category/>
</cp:coreProperties>
</file>