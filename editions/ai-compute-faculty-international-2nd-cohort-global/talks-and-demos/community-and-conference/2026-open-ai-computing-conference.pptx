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1417320"/>
            <a:ext cx="6309360" cy="3977639"/>
          </a:xfrm>
          <a:prstGeom prst="roundRect">
            <a:avLst>
              <a:gd name="adj" fmla="val 4000"/>
            </a:avLst>
          </a:prstGeom>
          <a:solidFill>
            <a:srgbClr val="F7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1907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E822F"/>
                </a:solidFill>
                <a:latin typeface="Arial"/>
              </a:rPr>
              <a:t>OCTOBER 17–18, 2026 · BEIJING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84831"/>
            <a:ext cx="5669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600" b="1">
                <a:solidFill>
                  <a:srgbClr val="1F3864"/>
                </a:solidFill>
                <a:latin typeface="Arial"/>
              </a:rPr>
              <a:t>2026 Open AI Computing Conference</a:t>
            </a:r>
          </a:p>
          <a:p>
            <a:pPr algn="l">
              <a:lnSpc>
                <a:spcPct val="104000"/>
              </a:lnSpc>
            </a:pPr>
            <a:r>
              <a:rPr sz="2600" b="1">
                <a:solidFill>
                  <a:srgbClr val="365798"/>
                </a:solidFill>
                <a:latin typeface="Arial"/>
              </a:rPr>
              <a:t>&amp; FlagOS Technology Conference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3767328"/>
            <a:ext cx="2011680" cy="27432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1363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96A1E"/>
                </a:solidFill>
                <a:latin typeface="Arial"/>
              </a:rPr>
              <a:t>One Stack, Boundless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8056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Zhongguancun National Independent Innovation Demonstration Zone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Exhibition Center · Beijing, 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98932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5A5A5A"/>
                </a:solidFill>
                <a:latin typeface="Arial"/>
              </a:rPr>
              <a:t>Hosted by Zhongzhi FlagOS Community · Beijing Academy of Artificial Intelligence (BAAI)</a:t>
            </a:r>
          </a:p>
          <a:p>
            <a:pPr algn="l"/>
            <a:r>
              <a:rPr sz="1050" b="0">
                <a:solidFill>
                  <a:srgbClr val="5A5A5A"/>
                </a:solidFill>
                <a:latin typeface="Arial"/>
              </a:rPr>
              <a:t>Beijing Academy of Quantum Information Sciences · Zhongguancun AI Open Source Alliance (preparatory)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Why Open Compute,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Computing demand is surging — openness is the way 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744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62626"/>
                </a:solidFill>
                <a:latin typeface="Arial"/>
              </a:rPr>
              <a:t>Computing demand is surging, yet incompatible chip protocols make cross-chip migration costly. As AI agents, embodied intelligence, scientific computing and world models drive the next leap, </a:t>
            </a:r>
            <a:r>
              <a:rPr sz="1350" b="1">
                <a:solidFill>
                  <a:srgbClr val="1F3864"/>
                </a:solidFill>
                <a:latin typeface="Arial"/>
              </a:rPr>
              <a:t>open compute is the key to breaking through.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5257800" cy="2651760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46120"/>
            <a:ext cx="5257800" cy="9144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472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B03A2E"/>
                </a:solidFill>
                <a:latin typeface="Arial"/>
              </a:rPr>
              <a:t>The Challenge: A Fragmented Compute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67911"/>
            <a:ext cx="48006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Hundreds of AI chip vendors ship incompatible programming models, operator implementations and communication protocols. Migrating one model across chips means rebuilding the wheel — again and again. Meanwhile, agents, world models, embodied AI and quantum computing keep redrawing what "compute" even means.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246120"/>
            <a:ext cx="5257800" cy="2651760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246120"/>
            <a:ext cx="5257800" cy="91440"/>
          </a:xfrm>
          <a:prstGeom prst="rect">
            <a:avLst/>
          </a:prstGeom>
          <a:solidFill>
            <a:srgbClr val="365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4728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65798"/>
                </a:solidFill>
                <a:latin typeface="Arial"/>
              </a:rPr>
              <a:t>The FlagOS Answer: One Stack, Boundless Compute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67911"/>
            <a:ext cx="480060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FlagOS is an open-source, cross-chip system software stack for heterogeneous AI hardware — large operator libraries, a cross-chip AI compiler, parallel training &amp; inference frameworks, and a cross-chip communication library. Write once, run on many chips. Backed by a community of 100+ member organizations.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74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262626"/>
                </a:solidFill>
                <a:latin typeface="Arial"/>
              </a:rPr>
              <a:t>This conference is where the stack meets the ecosystem — </a:t>
            </a:r>
            <a:r>
              <a:rPr sz="1250" b="1">
                <a:solidFill>
                  <a:srgbClr val="1F3864"/>
                </a:solidFill>
                <a:latin typeface="Arial"/>
              </a:rPr>
              <a:t>nearly 1,000 developers and industry partners co-building standards, sharing breakthroughs, growing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The Conference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Two days · one main forum · six sub-forums · one all-day hands-on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03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1700784" cy="1371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42032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E822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272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65798"/>
                </a:solidFill>
                <a:latin typeface="Arial"/>
              </a:rPr>
              <a:t>Keynote Main Forum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32888" y="2331720"/>
            <a:ext cx="1700784" cy="1371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2542032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E822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272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65798"/>
                </a:solidFill>
                <a:latin typeface="Arial"/>
              </a:rPr>
              <a:t>Topical Sub-forums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2331720"/>
            <a:ext cx="1700784" cy="1371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2542032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E822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1272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65798"/>
                </a:solidFill>
                <a:latin typeface="Arial"/>
              </a:rPr>
              <a:t>All-day Hands-on Workshop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2331720"/>
            <a:ext cx="1700784" cy="1371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2542032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E822F"/>
                </a:solidFill>
                <a:latin typeface="Arial"/>
              </a:rPr>
              <a:t>40+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31272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65798"/>
                </a:solidFill>
                <a:latin typeface="Arial"/>
              </a:rPr>
              <a:t>Tech Talks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6992" y="2331720"/>
            <a:ext cx="1700784" cy="1371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36992" y="2542032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E822F"/>
                </a:solidFill>
                <a:latin typeface="Arial"/>
              </a:rPr>
              <a:t>100+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0144" y="31272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65798"/>
                </a:solidFill>
                <a:latin typeface="Arial"/>
              </a:rPr>
              <a:t>Speakers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2331720"/>
            <a:ext cx="1700784" cy="13716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2542032"/>
            <a:ext cx="17007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E822F"/>
                </a:solidFill>
                <a:latin typeface="Arial"/>
              </a:rPr>
              <a:t>~1,000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3127248"/>
            <a:ext cx="1554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365798"/>
                </a:solidFill>
                <a:latin typeface="Arial"/>
              </a:rPr>
              <a:t>Developers &amp; Partners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69080"/>
            <a:ext cx="10744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Arial"/>
              </a:rPr>
              <a:t>Only-here highlights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26280"/>
            <a:ext cx="5257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526280"/>
            <a:ext cx="64008" cy="84124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617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65798"/>
                </a:solidFill>
                <a:latin typeface="Arial"/>
              </a:rPr>
              <a:t>FlagOS 2.2 — released on 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9103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First in-person deep dive into the new release: from the token economy toward physical AI.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526280"/>
            <a:ext cx="5257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4526280"/>
            <a:ext cx="64008" cy="84124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617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65798"/>
                </a:solidFill>
                <a:latin typeface="Arial"/>
              </a:rPr>
              <a:t>Quantum-AI Cloud Platform launch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3368" y="49103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The Quantum-Intelligence Cloud plan goes live at the Quantum-AI Integration forum.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40680"/>
            <a:ext cx="5257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5440680"/>
            <a:ext cx="64008" cy="84124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5321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65798"/>
                </a:solidFill>
                <a:latin typeface="Arial"/>
              </a:rPr>
              <a:t>SoulAgent digital-twin concierge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824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Hold multi-round technical dialogues with FlagOS expert digital twins — beyond face-to-face time limits.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5440680"/>
            <a:ext cx="5257800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5440680"/>
            <a:ext cx="64008" cy="84124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55321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365798"/>
                </a:solidFill>
                <a:latin typeface="Arial"/>
              </a:rPr>
              <a:t>Live demos &amp; 1:1 project clinics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5824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Bring your own project; debug it with FlagOS core engineers at the workshop and booths.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Two Days, One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From big-picture keynotes to deep-dive forums and hands-on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04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5257800" cy="56692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0487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1 · Saturday, Oct 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35808"/>
            <a:ext cx="5257800" cy="9692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154679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822F"/>
                </a:solidFill>
                <a:latin typeface="Arial"/>
              </a:rPr>
              <a:t>09:00</a:t>
            </a:r>
          </a:p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– 11:55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82112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1F3864"/>
                </a:solidFill>
                <a:latin typeface="Arial"/>
              </a:rPr>
              <a:t>Main Forum — keynotes &amp; roundtable</a:t>
            </a:r>
          </a:p>
          <a:p>
            <a:pPr algn="l"/>
            <a:r>
              <a:rPr sz="950" b="0">
                <a:solidFill>
                  <a:srgbClr val="5A5A5A"/>
                </a:solidFill>
                <a:latin typeface="Arial"/>
              </a:rPr>
              <a:t>Yihe Hall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257800" cy="9692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33672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822F"/>
                </a:solidFill>
                <a:latin typeface="Arial"/>
              </a:rPr>
              <a:t>13:30</a:t>
            </a:r>
          </a:p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– 17:40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261104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1F3864"/>
                </a:solidFill>
                <a:latin typeface="Arial"/>
              </a:rPr>
              <a:t>Open Computing &amp; AI System Forum</a:t>
            </a:r>
          </a:p>
          <a:p>
            <a:pPr algn="l"/>
            <a:r>
              <a:rPr sz="950" b="0">
                <a:solidFill>
                  <a:srgbClr val="5A5A5A"/>
                </a:solidFill>
                <a:latin typeface="Arial"/>
              </a:rPr>
              <a:t>Yihe Hall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93792"/>
            <a:ext cx="5257800" cy="969264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12664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E822F"/>
                </a:solidFill>
                <a:latin typeface="Arial"/>
              </a:rPr>
              <a:t>13:30</a:t>
            </a:r>
          </a:p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– 17:40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340096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1F3864"/>
                </a:solidFill>
                <a:latin typeface="Arial"/>
              </a:rPr>
              <a:t>In-Vehicle Intelligent Computing Forum</a:t>
            </a:r>
          </a:p>
          <a:p>
            <a:pPr algn="l"/>
            <a:r>
              <a:rPr sz="950" b="0">
                <a:solidFill>
                  <a:srgbClr val="5A5A5A"/>
                </a:solidFill>
                <a:latin typeface="Arial"/>
              </a:rPr>
              <a:t>parallel session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286000"/>
            <a:ext cx="5257800" cy="566928"/>
          </a:xfrm>
          <a:prstGeom prst="roundRect">
            <a:avLst>
              <a:gd name="adj" fmla="val 12000"/>
            </a:avLst>
          </a:prstGeom>
          <a:solidFill>
            <a:srgbClr val="365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40487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DAY 2 · Sunday, Oct 18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035808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118103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E822F"/>
                </a:solidFill>
                <a:latin typeface="Arial"/>
              </a:rPr>
              <a:t>09:00–12:05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3108960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Quantum-AI Integration Forum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Jingyi Hall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803904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86200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E822F"/>
                </a:solidFill>
                <a:latin typeface="Arial"/>
              </a:rPr>
              <a:t>09:00–12:00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877056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International AI Computing Cooperation Forum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Yinghe Hall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572000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654296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E822F"/>
                </a:solidFill>
                <a:latin typeface="Arial"/>
              </a:rPr>
              <a:t>PM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645152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Embodied Intelligence Forum  ·  AI Agent Forum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parallel sessions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5340096"/>
            <a:ext cx="5257800" cy="658368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5422392"/>
            <a:ext cx="1234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E822F"/>
                </a:solidFill>
                <a:latin typeface="Arial"/>
              </a:rPr>
              <a:t>10:00–17:00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5413248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  <a:latin typeface="Arial"/>
              </a:rPr>
              <a:t>Open Computing Hands-on Workshop (all day)</a:t>
            </a:r>
          </a:p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Jingming Hall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217920"/>
            <a:ext cx="10744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5A5A5A"/>
                </a:solidFill>
                <a:latin typeface="Arial"/>
              </a:rPr>
              <a:t>Agenda as of mid-October 2026; final arrangements subject to on-site announcement.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Main Forum — Setting the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1 morning · 09:00–11:55 · Yihe Hall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05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10744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Arial"/>
              </a:rPr>
              <a:t>The centerpiece of the conference. Academic leaders, open-source pioneers, quantum scholars and industry executives take one stage: from the era-defining case for open compute to the first in-person deep dive into </a:t>
            </a:r>
            <a:r>
              <a:rPr sz="1250" b="1">
                <a:solidFill>
                  <a:srgbClr val="EE822F"/>
                </a:solidFill>
                <a:latin typeface="Arial"/>
              </a:rPr>
              <a:t>FlagOS 2.2</a:t>
            </a:r>
            <a:r>
              <a:rPr sz="1250" b="0">
                <a:solidFill>
                  <a:srgbClr val="262626"/>
                </a:solidFill>
                <a:latin typeface="Arial"/>
              </a:rPr>
              <a:t>, the compute bill of trillion-token and world-model eras, and physical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EE822F"/>
                </a:solidFill>
                <a:latin typeface="Arial"/>
              </a:rPr>
              <a:t>▪ </a:t>
            </a:r>
            <a:r>
              <a:rPr sz="1250" b="1">
                <a:solidFill>
                  <a:srgbClr val="2E4A7A"/>
                </a:solidFill>
                <a:latin typeface="Arial"/>
              </a:rPr>
              <a:t>Opening: The Era Mission of Open Intelligent Computing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   Huang Tiejun · Chairman, BAAI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246120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EE822F"/>
                </a:solidFill>
                <a:latin typeface="Arial"/>
              </a:rPr>
              <a:t>▪ </a:t>
            </a:r>
            <a:r>
              <a:rPr sz="1250" b="1">
                <a:solidFill>
                  <a:srgbClr val="2E4A7A"/>
                </a:solidFill>
                <a:latin typeface="Arial"/>
              </a:rPr>
              <a:t>FlagOS 2.2: From Token Economy Toward Physical AI  ★ on-site release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   Lin Yonghua · VP &amp; Chief Engineer, BAAI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78808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EE822F"/>
                </a:solidFill>
                <a:latin typeface="Arial"/>
              </a:rPr>
              <a:t>▪ </a:t>
            </a:r>
            <a:r>
              <a:rPr sz="1250" b="1">
                <a:solidFill>
                  <a:srgbClr val="2E4A7A"/>
                </a:solidFill>
                <a:latin typeface="Arial"/>
              </a:rPr>
              <a:t>Computing Evolution in the Era of Trillion Tokens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   Hu Weiqi · Head of China Commercialization, MiniMax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78808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EE822F"/>
                </a:solidFill>
                <a:latin typeface="Arial"/>
              </a:rPr>
              <a:t>▪ </a:t>
            </a:r>
            <a:r>
              <a:rPr sz="1250" b="1">
                <a:solidFill>
                  <a:srgbClr val="2E4A7A"/>
                </a:solidFill>
                <a:latin typeface="Arial"/>
              </a:rPr>
              <a:t>BAAI Embodied Intelligence × FlagOS: Technical Synergy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   Yang Huan · Head of Embodied Intelligence Research, BAAI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11496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EE822F"/>
                </a:solidFill>
                <a:latin typeface="Arial"/>
              </a:rPr>
              <a:t>▪ </a:t>
            </a:r>
            <a:r>
              <a:rPr sz="1250" b="1">
                <a:solidFill>
                  <a:srgbClr val="2E4A7A"/>
                </a:solidFill>
                <a:latin typeface="Arial"/>
              </a:rPr>
              <a:t>Fully Domestic TeleChat Model: R&amp;D and Practice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   China Telecom Xingchen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111496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50" b="1">
                <a:solidFill>
                  <a:srgbClr val="EE822F"/>
                </a:solidFill>
                <a:latin typeface="Arial"/>
              </a:rPr>
              <a:t>▪ </a:t>
            </a:r>
            <a:r>
              <a:rPr sz="1250" b="1">
                <a:solidFill>
                  <a:srgbClr val="2E4A7A"/>
                </a:solidFill>
                <a:latin typeface="Arial"/>
              </a:rPr>
              <a:t>iSoftStone: AI Infrastructure in Industry Practice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Arial"/>
              </a:rPr>
              <a:t>   Liu Huifu · Director &amp; CTO, iSoftStone Group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97880"/>
            <a:ext cx="10698480" cy="475488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9893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96A1E"/>
                </a:solidFill>
                <a:latin typeface="Arial"/>
              </a:rPr>
              <a:t>Roundtable: A Decade-Long Debate on Next-Generation AI Compute Infrastructure</a:t>
            </a:r>
            <a:r>
              <a:rPr sz="1100" b="0">
                <a:solidFill>
                  <a:srgbClr val="5A5A5A"/>
                </a:solidFill>
                <a:latin typeface="Arial"/>
              </a:rPr>
              <a:t>  — with guests from MiniMax, ModelBest, Hunyuan, iSoftStone and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Sub-forum ① Open Computing &amp; AI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1 afternoon · 13:30–17:40 · Yihe Hall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06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8321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Full-stack AI system optimization and collaborative framework plug-in development: industrial-grade compilers and operator libraries, RISC-V and ARM edge inference, multi-chip training, and the "token factory" business of compute.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Developer-Centric: Full Upgrade of the Ascend Operator Development Experience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Li Shouping · GM of Basic Software, Ascend Computing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0215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Agentic Reinforcement Learning Training in Practice for TeleChat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Yu Kaidong · Head of RL, Xingchen Lab, China Telecom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Unified IR: Breaking the Triton Programming Paradigm for Multi-Chip Peak Performance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Yuan Sheng · Compiler Optimization System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0799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FlagOS on RISC-V AI Chips: Adaptation Innovation &amp; Edge-Agent Software Practices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Tang Linpeng · Chief AI Scientist, SpacemiT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1091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Compiler Software Stack for 3D-Stacked Multi-Die Compute-in-Memory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Jiang Guoyue · VP of R&amp;D, TsingMicro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13831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Token Factory in Practice on FlagOS + Roundtable: AI System Software for Token Factories at Scale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Zhang Xianyi · Founder, Pengfeng Technology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16752"/>
            <a:ext cx="8503920" cy="43891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089904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96A1E"/>
                </a:solidFill>
                <a:latin typeface="Arial"/>
              </a:rPr>
              <a:t>Why it draws a crowd:  </a:t>
            </a:r>
            <a:r>
              <a:rPr sz="1050" b="0">
                <a:solidFill>
                  <a:srgbClr val="262626"/>
                </a:solidFill>
                <a:latin typeface="Arial"/>
              </a:rPr>
              <a:t>the hardest multi-chip adaptation problems, answered in production code.</a:t>
            </a:r>
          </a:p>
        </p:txBody>
      </p:sp>
      <p:pic>
        <p:nvPicPr>
          <p:cNvPr id="19" name="Picture 18" descr="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48840"/>
            <a:ext cx="2148840" cy="24242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Sub-forum ② In-Vehicle Intelligent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1 afternoon · parallel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07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8321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FlagOS-driven automotive open-source innovation: from smart cockpit to AI cockpit. The full chain — silicon, compiler, model, scenario — with carmakers, Tier-1s and chip vendors on one stage.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Edge Intelligence: In-Vehicle LLM Deployment Based on Yuanjing AI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Zheng Xinfen · VP, BAIC Research 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0215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The Evolution of Li Auto's “Lixiang Tongxue” Livis Agent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Zeng Huan · Head of Software Systems &amp; Ecosystem Products, Li Auto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Edge AI for Automotive &amp; NXP Solutions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Yuan Taichun · Senior FAE Manager, NXP Semiconductors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0799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Backend Integration of FlagOS's Unified Multi-Chip Compiler into Automotive Silicon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Men Chunlei · Team Lead, AI Systems Research, BAAI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1091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From Model Iteration to Cross-Silicon Deployment: AI Infra in Autonomous Driving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Gu Jiasheng · Head of AI Infrastructure, Desay 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513831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AI Cockpit &amp; Foundation-Model Business Models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StarChip · ModelBest · ByteDance Volcano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16752"/>
            <a:ext cx="8503920" cy="43891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089904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96A1E"/>
                </a:solidFill>
                <a:latin typeface="Arial"/>
              </a:rPr>
              <a:t>Why it draws a crowd:  </a:t>
            </a:r>
            <a:r>
              <a:rPr sz="1050" b="0">
                <a:solidFill>
                  <a:srgbClr val="262626"/>
                </a:solidFill>
                <a:latin typeface="Arial"/>
              </a:rPr>
              <a:t>the open computing base for the next million smart vehicles.</a:t>
            </a:r>
          </a:p>
        </p:txBody>
      </p:sp>
      <p:pic>
        <p:nvPicPr>
          <p:cNvPr id="19" name="Picture 18" descr="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48840"/>
            <a:ext cx="2148840" cy="24242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Sub-forum ③ Quantum-AI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2 morning · 09:00–12:05 · Jingyi Hall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8321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Quantum computing meets AI at the system level: the Quantum-AI Stack, the FlagOS × FlagQuantum × FlagQAI unified software stack — and the on-site launch of the Quantum-Intelligence Cloud Platform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Development Roadmap for Quantum Technology × AI Integration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Chang Kai · Executive Director, BAQIS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0215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High-Performance Quantum Cloud Computing Platform: A Bridge to Practical Quantum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22776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Quantum Cloud Platform Plan — Launch Ceremony 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FlagOS × FlagQuantum × FlagQAI: A Unified System Stack for Quantum-AI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64024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Panel: When Will Quantum Processors Join AI Infrastructure?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Bose Quantum · LiangKun · ZhongQi WuLiang · YaoZheng Quantum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16752"/>
            <a:ext cx="8503920" cy="43891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6089904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96A1E"/>
                </a:solidFill>
                <a:latin typeface="Arial"/>
              </a:rPr>
              <a:t>Why it draws a crowd:  </a:t>
            </a:r>
            <a:r>
              <a:rPr sz="1050" b="0">
                <a:solidFill>
                  <a:srgbClr val="262626"/>
                </a:solidFill>
                <a:latin typeface="Arial"/>
              </a:rPr>
              <a:t>a platform launch you can only witness on site, plus a roadmap debate across the quantum industry.</a:t>
            </a:r>
          </a:p>
        </p:txBody>
      </p:sp>
      <p:pic>
        <p:nvPicPr>
          <p:cNvPr id="18" name="Picture 17" descr="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48840"/>
            <a:ext cx="2148840" cy="2424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Sub-forum ④ International AI Computing Cooperation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2 morning · 09:00–12:00 · Yinghe Hall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09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8321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Global AI talent development and research collaboration: open Earth foundation models, open-source co-designed courses, and FlagOS practice reports from classrooms and labs across Southeast Asia, Africa, South America and Europe.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Fostering Inclusive Agentic AI for Cities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Serge Stinckwich · Research Lead, UN University Institute in Macau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0215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Hardware-Software Co-design &amp; Open-source Curriculum: “Fundamentals of Intelligent Computing Systems” on FlagOS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Luo Guojie · Tenured Associate Professor, Peking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0507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Enabling AI to Observe the Earth: Open Foundation Models for Earth &amp; Global Research Collaboration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Feng Zhengpeng · PhD, University of Cambridge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0799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AI Empowerment in Thailand · Building AI Capacity in Botswana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Regional practice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1091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Competition-Education Integrated Reform of “AI Computing Systems” Powered by FlagOS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Wang Jing · Professor, Renmin University of China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16752"/>
            <a:ext cx="8503920" cy="43891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6089904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96A1E"/>
                </a:solidFill>
                <a:latin typeface="Arial"/>
              </a:rPr>
              <a:t>Why it draws a crowd:  </a:t>
            </a:r>
            <a:r>
              <a:rPr sz="1050" b="0">
                <a:solidFill>
                  <a:srgbClr val="262626"/>
                </a:solidFill>
                <a:latin typeface="Arial"/>
              </a:rPr>
              <a:t>AI for good — and a direct line into the global open-compute talent network.</a:t>
            </a:r>
          </a:p>
        </p:txBody>
      </p:sp>
      <p:pic>
        <p:nvPicPr>
          <p:cNvPr id="18" name="Picture 17" descr="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48840"/>
            <a:ext cx="2148840" cy="24242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Sub-forum ⑤ Embodied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2 afternoon · parallel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8321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Humanoid robots and physical AI push compute to its real-time limits. Foundation models, world models, physics engines and cross-modal generalization — from chips and frameworks to on-robot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Foundation Models for Embodied Intelligence: Perception-Cognition-Action Loop to Cross-Modal Generalization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19856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ORCA: A Multimodal Representational World Model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Wang Pengwei · Head of Embodied Intelligence Team, BAAI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22776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Methods and Systems for Efficient World Models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Gong Ruihao · Assistant Professor, Beihang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25696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Towards a New Era of General World Models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Zhao Guosheng · Algorithm Researcher, GigaAI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28616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Embodied World Models × Hardware Foundations  ·  A Domestic Physics Engine Bridging Virtual and Real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Ouyang Yao (TermiTech) · Liu Gang (Motphys)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31536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Real2Real: A Quantum Physical-AI Paradigm Without the Sim2Real Gap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Qiu Dicong · Co-founder &amp; CTO, Shuyao Liangsheng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16752"/>
            <a:ext cx="8503920" cy="43891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089904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96A1E"/>
                </a:solidFill>
                <a:latin typeface="Arial"/>
              </a:rPr>
              <a:t>Why it draws a crowd:  </a:t>
            </a:r>
            <a:r>
              <a:rPr sz="1050" b="0">
                <a:solidFill>
                  <a:srgbClr val="262626"/>
                </a:solidFill>
                <a:latin typeface="Arial"/>
              </a:rPr>
              <a:t>the complete chain for physical AI — silicon, framework, world model, body.</a:t>
            </a:r>
          </a:p>
        </p:txBody>
      </p:sp>
      <p:pic>
        <p:nvPicPr>
          <p:cNvPr id="19" name="Picture 18" descr="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48840"/>
            <a:ext cx="2148840" cy="242425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Sub-forum ⑥ AI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2 afternoon · parallel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76272"/>
            <a:ext cx="8321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62626"/>
                </a:solidFill>
                <a:latin typeface="Arial"/>
              </a:rPr>
              <a:t>Agents are no longer just applications — they are becoming builders of the infrastructure itself. Kernel engineering, AI-aided code generation, cross-chip model migration, evaluation benchmarks and enterprise toolchains.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KernelGen: Design Principles &amp; Engineering Practice of an Operator Auto-Generation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19856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Revolution and Implementation of the Human-AI Collaborative Native Development Paradigm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Multi-End Practice of a Native Secure AgentOS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Design and Practice of the Bagua Furnace Intelligent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81728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FlagScale-Agent: Agent Architecture for AI Infrastructure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Li Yuzhuo · Researcher, AI Framework Team, BAAI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84648"/>
            <a:ext cx="8503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200" b="1">
                <a:solidFill>
                  <a:srgbClr val="EE822F"/>
                </a:solidFill>
                <a:latin typeface="Arial"/>
              </a:rPr>
              <a:t>▪ </a:t>
            </a:r>
            <a:r>
              <a:rPr sz="1200" b="1">
                <a:solidFill>
                  <a:srgbClr val="2E4A7A"/>
                </a:solidFill>
                <a:latin typeface="Arial"/>
              </a:rPr>
              <a:t>FlagQAI: A Quantum Scientific-Research Agent for Quantum-AI Convergence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5A5A"/>
                </a:solidFill>
                <a:latin typeface="Arial"/>
              </a:rPr>
              <a:t>   Liu Wei · Researcher, Quantum &amp; AI Fusion Systems, BAAI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016752"/>
            <a:ext cx="8503920" cy="438912"/>
          </a:xfrm>
          <a:prstGeom prst="roundRect">
            <a:avLst>
              <a:gd name="adj" fmla="val 14000"/>
            </a:avLst>
          </a:prstGeom>
          <a:solidFill>
            <a:srgbClr val="FDF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6089904"/>
            <a:ext cx="8138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C96A1E"/>
                </a:solidFill>
                <a:latin typeface="Arial"/>
              </a:rPr>
              <a:t>Why it draws a crowd:  </a:t>
            </a:r>
            <a:r>
              <a:rPr sz="1050" b="0">
                <a:solidFill>
                  <a:srgbClr val="262626"/>
                </a:solidFill>
                <a:latin typeface="Arial"/>
              </a:rPr>
              <a:t>watch agents write operators, migrate models and run the compute stack itself.</a:t>
            </a:r>
          </a:p>
        </p:txBody>
      </p:sp>
      <p:pic>
        <p:nvPicPr>
          <p:cNvPr id="19" name="Picture 18" descr="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148840"/>
            <a:ext cx="2148840" cy="24242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Open Computing Hands-on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Day 2 · 10:00–17:00 · Jingming Hall — bring your laptop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12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10744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626"/>
                </a:solidFill>
                <a:latin typeface="Arial"/>
              </a:rPr>
              <a:t>No passive listening — a full day of guided coding across the complete FlagOS workflow: AI-aided operator generation, compiler chip-backend integration, on-device LLM deployment and model optimization. </a:t>
            </a:r>
            <a:r>
              <a:rPr sz="1250" b="1">
                <a:solidFill>
                  <a:srgbClr val="1F3864"/>
                </a:solidFill>
                <a:latin typeface="Arial"/>
              </a:rPr>
              <a:t>Five one-hour battles, taught by the engineers who build the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64408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E822F"/>
                </a:solidFill>
                <a:latin typeface="Arial"/>
              </a:rPr>
              <a:t>10:00–11:00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264408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Arial"/>
              </a:rPr>
              <a:t>KernelGen: Empowering AI from Code Generation to High-Performance Operator Engineering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862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E822F"/>
                </a:solidFill>
                <a:latin typeface="Arial"/>
              </a:rPr>
              <a:t>11:00–12:00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8862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Arial"/>
              </a:rPr>
              <a:t>Practical Deployment of FlagOS On-Device LLM Inference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98264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507992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E822F"/>
                </a:solidFill>
                <a:latin typeface="Arial"/>
              </a:rPr>
              <a:t>14:00–15:00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507992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Arial"/>
              </a:rPr>
              <a:t>Quantum-AI Integration: Hands-on Quantum AI Programming on Quantum Intelligence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0055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29783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E822F"/>
                </a:solidFill>
                <a:latin typeface="Arial"/>
              </a:rPr>
              <a:t>15:00–16:00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29783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Arial"/>
              </a:rPr>
              <a:t>Hands-on Optimization of Novel Attention Kernels with Triton-TLE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41847"/>
            <a:ext cx="7863840" cy="530352"/>
          </a:xfrm>
          <a:prstGeom prst="roundRect">
            <a:avLst>
              <a:gd name="adj" fmla="val 12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751575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EE822F"/>
                </a:solidFill>
                <a:latin typeface="Arial"/>
              </a:rPr>
              <a:t>16:00–17:00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5751575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3864"/>
                </a:solidFill>
                <a:latin typeface="Arial"/>
              </a:rPr>
              <a:t>FlagScale-Agent: Architecture Design and Hands-on Practice of Agents for AI Infrastructure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309360"/>
            <a:ext cx="7863840" cy="9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2926080"/>
            <a:ext cx="2148840" cy="242425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15400" y="553212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A5A5A"/>
                </a:solidFill>
                <a:latin typeface="Arial"/>
              </a:rPr>
              <a:t>Bring your own project for a 1:1 “clinic” with FlagOS core engineers — and experience “write once, run on many chips” yourself.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9692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Arial"/>
              </a:rPr>
              <a:t>2026 OPEN AI COMPUTING CONFERENCE &amp; FLAGOS TECHNOLOGY CONFERENCE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82296" cy="475488"/>
          </a:xfrm>
          <a:prstGeom prst="rect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789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65798"/>
                </a:solidFill>
                <a:latin typeface="Arial"/>
              </a:rPr>
              <a:t>Why You Should Be There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4708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5A5A"/>
                </a:solidFill>
                <a:latin typeface="Arial"/>
              </a:rPr>
              <a:t>Two days to take in the year’s most consequential shifts in open 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83112" cy="10972"/>
          </a:xfrm>
          <a:prstGeom prst="rect">
            <a:avLst/>
          </a:prstGeom>
          <a:solidFill>
            <a:srgbClr val="D0D6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A5A5A"/>
                </a:solidFill>
                <a:latin typeface="Arial"/>
              </a:rPr>
              <a:t>One Stack, Boundless Compute · October 17–18, 2026 · Beijing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6539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A5A5A"/>
                </a:solidFill>
                <a:latin typeface="Arial"/>
              </a:rPr>
              <a:t>13 /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31720"/>
            <a:ext cx="3465576" cy="2148840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3465576" cy="91440"/>
          </a:xfrm>
          <a:prstGeom prst="rect">
            <a:avLst/>
          </a:prstGeom>
          <a:solidFill>
            <a:srgbClr val="365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32888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65798"/>
                </a:solidFill>
                <a:latin typeface="Arial"/>
              </a:rPr>
              <a:t>For Researchers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53512"/>
            <a:ext cx="30083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rial"/>
              </a:rPr>
              <a:t>Frontier results across heterogeneous compute, quantum-AI convergence, world models and embodied intelligence — plus platform releases you can cite and build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331720"/>
            <a:ext cx="3465576" cy="2148840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331720"/>
            <a:ext cx="3465576" cy="91440"/>
          </a:xfrm>
          <a:prstGeom prst="rect">
            <a:avLst/>
          </a:prstGeom>
          <a:solidFill>
            <a:srgbClr val="365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2532888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65798"/>
                </a:solidFill>
                <a:latin typeface="Arial"/>
              </a:rPr>
              <a:t>For Industry Developers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953512"/>
            <a:ext cx="30083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rial"/>
              </a:rPr>
              <a:t>Production-grade answers to multi-chip adaptation: compilers, operator libraries, token factories, in-vehicle stacks — and 1:1 clinics for your own project.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1856" y="2331720"/>
            <a:ext cx="3465576" cy="2148840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2331720"/>
            <a:ext cx="3465576" cy="91440"/>
          </a:xfrm>
          <a:prstGeom prst="rect">
            <a:avLst/>
          </a:prstGeom>
          <a:solidFill>
            <a:srgbClr val="3657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2532888"/>
            <a:ext cx="30083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365798"/>
                </a:solidFill>
                <a:latin typeface="Arial"/>
              </a:rPr>
              <a:t>For Students &amp; Faculty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953512"/>
            <a:ext cx="300837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262626"/>
                </a:solidFill>
                <a:latin typeface="Arial"/>
              </a:rPr>
              <a:t>Open-source courses, competition-education programs and a global collaboration network — a fast track from classroom to core-code contribution.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10698480" cy="71323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55464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100+ speakers face to face — BAAI, CAS, Tsinghua, PKU, Li Auto, Baidu, Tencent, NVIDIA and more.  Some announcements you will only hear on site.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3864"/>
                </a:solidFill>
                <a:latin typeface="Arial"/>
              </a:rPr>
              <a:t>Register: </a:t>
            </a:r>
            <a:r>
              <a:rPr sz="1200" b="1">
                <a:solidFill>
                  <a:srgbClr val="EE822F"/>
                </a:solidFill>
                <a:latin typeface="Arial"/>
              </a:rPr>
              <a:t>bagevent.com/event/FlagOS2026</a:t>
            </a:r>
            <a:r>
              <a:rPr sz="1150" b="0">
                <a:solidFill>
                  <a:srgbClr val="262626"/>
                </a:solidFill>
                <a:latin typeface="Arial"/>
              </a:rPr>
              <a:t>    ·    October 17–18, 2026, Zhongguancun Exhibition Center, 2 Xinjian Gongmen Road, Haidian, Beijing</a:t>
            </a:r>
          </a:p>
          <a:p>
            <a:pPr algn="ctr"/>
            <a:r>
              <a:rPr sz="1200" b="1">
                <a:solidFill>
                  <a:srgbClr val="C96A1E"/>
                </a:solidFill>
                <a:latin typeface="Arial"/>
              </a:rPr>
              <a:t>See you in Beijing — let’s push the boundary of intelligent computing,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