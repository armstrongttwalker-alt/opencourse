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notesSlides/notesSlide1.xml" ContentType="application/vnd.openxmlformats-officedocument.presentationml.notesSlide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2"/>
  </p:notesMasterIdLst>
  <p:sldIdLst>
    <p:sldId id="277" r:id="rId2"/>
    <p:sldId id="403" r:id="rId3"/>
    <p:sldId id="412" r:id="rId4"/>
    <p:sldId id="418" r:id="rId5"/>
    <p:sldId id="417" r:id="rId6"/>
    <p:sldId id="409" r:id="rId7"/>
    <p:sldId id="419" r:id="rId8"/>
    <p:sldId id="413" r:id="rId9"/>
    <p:sldId id="410" r:id="rId10"/>
    <p:sldId id="420" r:id="rId11"/>
    <p:sldId id="421" r:id="rId12"/>
    <p:sldId id="422" r:id="rId13"/>
    <p:sldId id="423" r:id="rId14"/>
    <p:sldId id="424" r:id="rId15"/>
    <p:sldId id="414" r:id="rId16"/>
    <p:sldId id="427" r:id="rId17"/>
    <p:sldId id="411" r:id="rId18"/>
    <p:sldId id="415" r:id="rId19"/>
    <p:sldId id="428" r:id="rId20"/>
    <p:sldId id="407" r:id="rId21"/>
  </p:sldIdLst>
  <p:sldSz cx="12192000" cy="6858000"/>
  <p:notesSz cx="6858000" cy="9144000"/>
  <p:defaultTextStyle>
    <a:defPPr>
      <a:defRPr lang="en-US"/>
    </a:defPPr>
    <a:lvl1pPr marL="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006" userDrawn="1">
          <p15:clr>
            <a:srgbClr val="A4A3A4"/>
          </p15:clr>
        </p15:guide>
        <p15:guide id="2" orient="horz" pos="217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Animation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44B5"/>
    <a:srgbClr val="005BEF"/>
    <a:srgbClr val="040510"/>
    <a:srgbClr val="010C25"/>
    <a:srgbClr val="1174E5"/>
    <a:srgbClr val="A091D7"/>
    <a:srgbClr val="F1A76F"/>
    <a:srgbClr val="A592D6"/>
    <a:srgbClr val="256ED7"/>
    <a:srgbClr val="3348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568"/>
    <p:restoredTop sz="94580"/>
  </p:normalViewPr>
  <p:slideViewPr>
    <p:cSldViewPr snapToGrid="0" snapToObjects="1" showGuides="1">
      <p:cViewPr varScale="1">
        <p:scale>
          <a:sx n="83" d="100"/>
          <a:sy n="83" d="100"/>
        </p:scale>
        <p:origin x="152" y="52"/>
      </p:cViewPr>
      <p:guideLst>
        <p:guide pos="4006"/>
        <p:guide orient="horz" pos="217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8FE3A-4567-CC47-A2F3-80A5548FAED9}" type="datetimeFigureOut">
              <a:rPr kumimoji="1" lang="zh-CN" altLang="en-US" smtClean="0"/>
              <a:t>2026/10/21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530" y="1143000"/>
            <a:ext cx="548694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22896A-6A2F-0347-B88F-97C054CF038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/>
          <a:srcRect l="11180"/>
          <a:stretch>
            <a:fillRect/>
          </a:stretch>
        </p:blipFill>
        <p:spPr>
          <a:xfrm>
            <a:off x="0" y="-6288"/>
            <a:ext cx="12192000" cy="686428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150" y="1122363"/>
            <a:ext cx="91449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150" y="3602038"/>
            <a:ext cx="91449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C871C-BD04-DB43-BB0E-83B59DD633E5}" type="datetimeFigureOut">
              <a:rPr kumimoji="1" lang="zh-CN" altLang="en-US" smtClean="0"/>
              <a:t>2026/10/21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6060A-1DEF-9546-87AB-92B5309E5312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pic>
        <p:nvPicPr>
          <p:cNvPr id="8" name="图形 7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2367" y="230188"/>
            <a:ext cx="1123579" cy="346987"/>
          </a:xfrm>
          <a:prstGeom prst="rect">
            <a:avLst/>
          </a:prstGeom>
        </p:spPr>
      </p:pic>
      <p:pic>
        <p:nvPicPr>
          <p:cNvPr id="9" name="图形 8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69346" y="275749"/>
            <a:ext cx="1550890" cy="287794"/>
          </a:xfrm>
          <a:prstGeom prst="rect">
            <a:avLst/>
          </a:prstGeom>
        </p:spPr>
      </p:pic>
      <p:cxnSp>
        <p:nvCxnSpPr>
          <p:cNvPr id="10" name="直线连接符 9"/>
          <p:cNvCxnSpPr/>
          <p:nvPr userDrawn="1"/>
        </p:nvCxnSpPr>
        <p:spPr>
          <a:xfrm>
            <a:off x="10373773" y="252968"/>
            <a:ext cx="0" cy="301426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 userDrawn="1"/>
        </p:nvSpPr>
        <p:spPr>
          <a:xfrm>
            <a:off x="1913799" y="1427233"/>
            <a:ext cx="8555547" cy="52322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/>
            <a:r>
              <a:rPr lang="en-US" altLang="zh-CN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charset="0"/>
                <a:sym typeface="+mn-ea"/>
              </a:rPr>
              <a:t>2026</a:t>
            </a: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charset="0"/>
                <a:sym typeface="+mn-ea"/>
              </a:rPr>
              <a:t>人工智能开放计算大会暨众智 </a:t>
            </a:r>
            <a:r>
              <a:rPr lang="en-GB" sz="28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charset="0"/>
                <a:sym typeface="+mn-ea"/>
              </a:rPr>
              <a:t>FlagOS</a:t>
            </a:r>
            <a:r>
              <a:rPr lang="en-GB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charset="0"/>
                <a:sym typeface="+mn-ea"/>
              </a:rPr>
              <a:t> </a:t>
            </a: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charset="0"/>
                <a:sym typeface="+mn-ea"/>
              </a:rPr>
              <a:t>技术大会</a:t>
            </a:r>
          </a:p>
        </p:txBody>
      </p:sp>
      <p:cxnSp>
        <p:nvCxnSpPr>
          <p:cNvPr id="11" name="直线连接符 10"/>
          <p:cNvCxnSpPr/>
          <p:nvPr userDrawn="1"/>
        </p:nvCxnSpPr>
        <p:spPr>
          <a:xfrm>
            <a:off x="-63062" y="2131475"/>
            <a:ext cx="12318124" cy="0"/>
          </a:xfrm>
          <a:prstGeom prst="line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5400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660000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396684" y="1326122"/>
            <a:ext cx="737482" cy="80535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150" y="1122363"/>
            <a:ext cx="91449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150" y="3602038"/>
            <a:ext cx="91449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C871C-BD04-DB43-BB0E-83B59DD633E5}" type="datetimeFigureOut">
              <a:rPr kumimoji="1" lang="zh-CN" altLang="en-US" smtClean="0"/>
              <a:t>2026/10/21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6060A-1DEF-9546-87AB-92B5309E5312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rcRect l="12305" t="134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图形 7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2367" y="230188"/>
            <a:ext cx="1123579" cy="346987"/>
          </a:xfrm>
          <a:prstGeom prst="rect">
            <a:avLst/>
          </a:prstGeom>
        </p:spPr>
      </p:pic>
      <p:pic>
        <p:nvPicPr>
          <p:cNvPr id="9" name="图形 8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69346" y="275749"/>
            <a:ext cx="1550890" cy="287794"/>
          </a:xfrm>
          <a:prstGeom prst="rect">
            <a:avLst/>
          </a:prstGeom>
        </p:spPr>
      </p:pic>
      <p:cxnSp>
        <p:nvCxnSpPr>
          <p:cNvPr id="10" name="直线连接符 9"/>
          <p:cNvCxnSpPr/>
          <p:nvPr userDrawn="1"/>
        </p:nvCxnSpPr>
        <p:spPr>
          <a:xfrm>
            <a:off x="10373773" y="252968"/>
            <a:ext cx="0" cy="301426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线连接符 11"/>
          <p:cNvCxnSpPr/>
          <p:nvPr userDrawn="1"/>
        </p:nvCxnSpPr>
        <p:spPr>
          <a:xfrm>
            <a:off x="-63062" y="2131475"/>
            <a:ext cx="12318124" cy="0"/>
          </a:xfrm>
          <a:prstGeom prst="line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5400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660000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396684" y="1326122"/>
            <a:ext cx="737482" cy="80535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C871C-BD04-DB43-BB0E-83B59DD633E5}" type="datetimeFigureOut">
              <a:rPr kumimoji="1" lang="zh-CN" altLang="en-US" smtClean="0"/>
              <a:t>2026/10/21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6060A-1DEF-9546-87AB-92B5309E531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932" y="1709738"/>
            <a:ext cx="1051663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932" y="4589463"/>
            <a:ext cx="1051663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C871C-BD04-DB43-BB0E-83B59DD633E5}" type="datetimeFigureOut">
              <a:rPr kumimoji="1" lang="zh-CN" altLang="en-US" smtClean="0"/>
              <a:t>2026/10/21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6060A-1DEF-9546-87AB-92B5309E531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83" y="1825625"/>
            <a:ext cx="518211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808" y="1825625"/>
            <a:ext cx="518211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C871C-BD04-DB43-BB0E-83B59DD633E5}" type="datetimeFigureOut">
              <a:rPr kumimoji="1" lang="zh-CN" altLang="en-US" smtClean="0"/>
              <a:t>2026/10/21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6060A-1DEF-9546-87AB-92B5309E531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871" y="365125"/>
            <a:ext cx="10516635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871" y="1681163"/>
            <a:ext cx="515829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871" y="2505075"/>
            <a:ext cx="5158295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808" y="1681163"/>
            <a:ext cx="518369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808" y="2505075"/>
            <a:ext cx="518369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C871C-BD04-DB43-BB0E-83B59DD633E5}" type="datetimeFigureOut">
              <a:rPr kumimoji="1" lang="zh-CN" altLang="en-US" smtClean="0"/>
              <a:t>2026/10/21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6060A-1DEF-9546-87AB-92B5309E531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形 5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33984" y="237680"/>
            <a:ext cx="937812" cy="289618"/>
          </a:xfrm>
          <a:prstGeom prst="rect">
            <a:avLst/>
          </a:prstGeom>
        </p:spPr>
      </p:pic>
      <p:pic>
        <p:nvPicPr>
          <p:cNvPr id="7" name="图形 6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45987" y="267275"/>
            <a:ext cx="1294476" cy="240212"/>
          </a:xfrm>
          <a:prstGeom prst="rect">
            <a:avLst/>
          </a:prstGeom>
        </p:spPr>
      </p:pic>
      <p:cxnSp>
        <p:nvCxnSpPr>
          <p:cNvPr id="8" name="直线连接符 7"/>
          <p:cNvCxnSpPr/>
          <p:nvPr userDrawn="1"/>
        </p:nvCxnSpPr>
        <p:spPr>
          <a:xfrm>
            <a:off x="10658891" y="260459"/>
            <a:ext cx="1" cy="25159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线连接符 8"/>
          <p:cNvCxnSpPr/>
          <p:nvPr userDrawn="1"/>
        </p:nvCxnSpPr>
        <p:spPr>
          <a:xfrm>
            <a:off x="0" y="772808"/>
            <a:ext cx="12192000" cy="0"/>
          </a:xfrm>
          <a:prstGeom prst="line">
            <a:avLst/>
          </a:prstGeom>
          <a:ln w="25400">
            <a:gradFill>
              <a:gsLst>
                <a:gs pos="0">
                  <a:srgbClr val="005BEF">
                    <a:alpha val="0"/>
                  </a:srgbClr>
                </a:gs>
                <a:gs pos="54000">
                  <a:srgbClr val="A592D6"/>
                </a:gs>
                <a:gs pos="100000">
                  <a:srgbClr val="F1A76F">
                    <a:alpha val="0"/>
                  </a:srgbClr>
                </a:gs>
              </a:gsLst>
              <a:lin ang="660000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形 5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33984" y="237680"/>
            <a:ext cx="937812" cy="289618"/>
          </a:xfrm>
          <a:prstGeom prst="rect">
            <a:avLst/>
          </a:prstGeom>
        </p:spPr>
      </p:pic>
      <p:pic>
        <p:nvPicPr>
          <p:cNvPr id="7" name="图形 6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45987" y="267275"/>
            <a:ext cx="1294476" cy="240212"/>
          </a:xfrm>
          <a:prstGeom prst="rect">
            <a:avLst/>
          </a:prstGeom>
        </p:spPr>
      </p:pic>
      <p:cxnSp>
        <p:nvCxnSpPr>
          <p:cNvPr id="8" name="直线连接符 7"/>
          <p:cNvCxnSpPr/>
          <p:nvPr userDrawn="1"/>
        </p:nvCxnSpPr>
        <p:spPr>
          <a:xfrm>
            <a:off x="10658891" y="260459"/>
            <a:ext cx="1" cy="25159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线连接符 8"/>
          <p:cNvCxnSpPr/>
          <p:nvPr userDrawn="1"/>
        </p:nvCxnSpPr>
        <p:spPr>
          <a:xfrm>
            <a:off x="0" y="772808"/>
            <a:ext cx="12192000" cy="0"/>
          </a:xfrm>
          <a:prstGeom prst="line">
            <a:avLst/>
          </a:prstGeom>
          <a:ln w="25400">
            <a:gradFill>
              <a:gsLst>
                <a:gs pos="0">
                  <a:srgbClr val="005BEF">
                    <a:alpha val="0"/>
                  </a:srgbClr>
                </a:gs>
                <a:gs pos="54000">
                  <a:srgbClr val="A592D6"/>
                </a:gs>
                <a:gs pos="100000">
                  <a:srgbClr val="F1A76F">
                    <a:alpha val="0"/>
                  </a:srgbClr>
                </a:gs>
              </a:gsLst>
              <a:lin ang="660000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4051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7" name="图片 16"/>
          <p:cNvPicPr>
            <a:picLocks noChangeAspect="1"/>
          </p:cNvPicPr>
          <p:nvPr userDrawn="1"/>
        </p:nvPicPr>
        <p:blipFill>
          <a:blip r:embed="rId2">
            <a:alphaModFix amt="30000"/>
          </a:blip>
          <a:srcRect l="11180"/>
          <a:stretch>
            <a:fillRect/>
          </a:stretch>
        </p:blipFill>
        <p:spPr>
          <a:xfrm>
            <a:off x="0" y="0"/>
            <a:ext cx="12192000" cy="6864288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3">
            <a:alphaModFix amt="17000"/>
          </a:blip>
          <a:stretch>
            <a:fillRect/>
          </a:stretch>
        </p:blipFill>
        <p:spPr>
          <a:xfrm>
            <a:off x="0" y="-25410"/>
            <a:ext cx="12192000" cy="815798"/>
          </a:xfrm>
          <a:prstGeom prst="rect">
            <a:avLst/>
          </a:prstGeom>
        </p:spPr>
      </p:pic>
      <p:cxnSp>
        <p:nvCxnSpPr>
          <p:cNvPr id="15" name="直线连接符 14"/>
          <p:cNvCxnSpPr/>
          <p:nvPr userDrawn="1"/>
        </p:nvCxnSpPr>
        <p:spPr>
          <a:xfrm>
            <a:off x="0" y="772808"/>
            <a:ext cx="12192000" cy="0"/>
          </a:xfrm>
          <a:prstGeom prst="line">
            <a:avLst/>
          </a:prstGeom>
          <a:ln w="25400">
            <a:gradFill>
              <a:gsLst>
                <a:gs pos="0">
                  <a:srgbClr val="005BEF">
                    <a:alpha val="0"/>
                  </a:srgbClr>
                </a:gs>
                <a:gs pos="51000">
                  <a:schemeClr val="bg1">
                    <a:alpha val="59000"/>
                  </a:schemeClr>
                </a:gs>
                <a:gs pos="100000">
                  <a:srgbClr val="F1A76F">
                    <a:alpha val="0"/>
                  </a:srgbClr>
                </a:gs>
              </a:gsLst>
              <a:lin ang="660000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图形 17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33984" y="237680"/>
            <a:ext cx="937812" cy="289618"/>
          </a:xfrm>
          <a:prstGeom prst="rect">
            <a:avLst/>
          </a:prstGeom>
        </p:spPr>
      </p:pic>
      <p:pic>
        <p:nvPicPr>
          <p:cNvPr id="19" name="图形 18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45987" y="267275"/>
            <a:ext cx="1294476" cy="240212"/>
          </a:xfrm>
          <a:prstGeom prst="rect">
            <a:avLst/>
          </a:prstGeom>
        </p:spPr>
      </p:pic>
      <p:cxnSp>
        <p:nvCxnSpPr>
          <p:cNvPr id="20" name="直线连接符 19"/>
          <p:cNvCxnSpPr/>
          <p:nvPr userDrawn="1"/>
        </p:nvCxnSpPr>
        <p:spPr>
          <a:xfrm>
            <a:off x="10658891" y="260459"/>
            <a:ext cx="1" cy="25159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bg>
      <p:bgPr>
        <a:solidFill>
          <a:schemeClr val="bg1"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4051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7" name="图片 16"/>
          <p:cNvPicPr>
            <a:picLocks noChangeAspect="1"/>
          </p:cNvPicPr>
          <p:nvPr userDrawn="1"/>
        </p:nvPicPr>
        <p:blipFill>
          <a:blip r:embed="rId2">
            <a:alphaModFix amt="28000"/>
          </a:blip>
          <a:srcRect l="11180"/>
          <a:stretch>
            <a:fillRect/>
          </a:stretch>
        </p:blipFill>
        <p:spPr>
          <a:xfrm>
            <a:off x="0" y="0"/>
            <a:ext cx="12192000" cy="6864288"/>
          </a:xfrm>
          <a:prstGeom prst="rect">
            <a:avLst/>
          </a:prstGeom>
        </p:spPr>
      </p:pic>
      <p:cxnSp>
        <p:nvCxnSpPr>
          <p:cNvPr id="15" name="直线连接符 14"/>
          <p:cNvCxnSpPr/>
          <p:nvPr userDrawn="1"/>
        </p:nvCxnSpPr>
        <p:spPr>
          <a:xfrm>
            <a:off x="0" y="772808"/>
            <a:ext cx="12192000" cy="0"/>
          </a:xfrm>
          <a:prstGeom prst="line">
            <a:avLst/>
          </a:prstGeom>
          <a:ln w="25400">
            <a:gradFill>
              <a:gsLst>
                <a:gs pos="0">
                  <a:srgbClr val="005BEF">
                    <a:alpha val="0"/>
                  </a:srgbClr>
                </a:gs>
                <a:gs pos="51000">
                  <a:schemeClr val="bg1">
                    <a:alpha val="59000"/>
                  </a:schemeClr>
                </a:gs>
                <a:gs pos="100000">
                  <a:srgbClr val="F1A76F">
                    <a:alpha val="0"/>
                  </a:srgbClr>
                </a:gs>
              </a:gsLst>
              <a:lin ang="660000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图形 17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33984" y="237680"/>
            <a:ext cx="937812" cy="289618"/>
          </a:xfrm>
          <a:prstGeom prst="rect">
            <a:avLst/>
          </a:prstGeom>
        </p:spPr>
      </p:pic>
      <p:pic>
        <p:nvPicPr>
          <p:cNvPr id="19" name="图形 18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45987" y="267275"/>
            <a:ext cx="1294476" cy="240212"/>
          </a:xfrm>
          <a:prstGeom prst="rect">
            <a:avLst/>
          </a:prstGeom>
        </p:spPr>
      </p:pic>
      <p:cxnSp>
        <p:nvCxnSpPr>
          <p:cNvPr id="20" name="直线连接符 19"/>
          <p:cNvCxnSpPr/>
          <p:nvPr userDrawn="1"/>
        </p:nvCxnSpPr>
        <p:spPr>
          <a:xfrm>
            <a:off x="10658891" y="260459"/>
            <a:ext cx="1" cy="25159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alphaModFix amt="29000"/>
          </a:blip>
          <a:stretch>
            <a:fillRect/>
          </a:stretch>
        </p:blipFill>
        <p:spPr>
          <a:xfrm>
            <a:off x="0" y="-25410"/>
            <a:ext cx="12192000" cy="815798"/>
          </a:xfrm>
          <a:prstGeom prst="rect">
            <a:avLst/>
          </a:prstGeom>
        </p:spPr>
      </p:pic>
      <p:pic>
        <p:nvPicPr>
          <p:cNvPr id="9" name="图形 8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33984" y="237680"/>
            <a:ext cx="937812" cy="289618"/>
          </a:xfrm>
          <a:prstGeom prst="rect">
            <a:avLst/>
          </a:prstGeom>
        </p:spPr>
      </p:pic>
      <p:pic>
        <p:nvPicPr>
          <p:cNvPr id="10" name="图形 9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45987" y="267275"/>
            <a:ext cx="1294476" cy="240212"/>
          </a:xfrm>
          <a:prstGeom prst="rect">
            <a:avLst/>
          </a:prstGeom>
        </p:spPr>
      </p:pic>
      <p:cxnSp>
        <p:nvCxnSpPr>
          <p:cNvPr id="11" name="直线连接符 10"/>
          <p:cNvCxnSpPr/>
          <p:nvPr userDrawn="1"/>
        </p:nvCxnSpPr>
        <p:spPr>
          <a:xfrm>
            <a:off x="10658891" y="260459"/>
            <a:ext cx="1" cy="25159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线连接符 11"/>
          <p:cNvCxnSpPr/>
          <p:nvPr userDrawn="1"/>
        </p:nvCxnSpPr>
        <p:spPr>
          <a:xfrm>
            <a:off x="0" y="772808"/>
            <a:ext cx="12192000" cy="0"/>
          </a:xfrm>
          <a:prstGeom prst="line">
            <a:avLst/>
          </a:prstGeom>
          <a:ln w="25400">
            <a:gradFill>
              <a:gsLst>
                <a:gs pos="0">
                  <a:srgbClr val="005BEF">
                    <a:alpha val="0"/>
                  </a:srgbClr>
                </a:gs>
                <a:gs pos="54000">
                  <a:srgbClr val="A592D6"/>
                </a:gs>
                <a:gs pos="100000">
                  <a:srgbClr val="F1A76F">
                    <a:alpha val="0"/>
                  </a:srgbClr>
                </a:gs>
              </a:gsLst>
              <a:lin ang="660000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alphaModFix amt="29000"/>
          </a:blip>
          <a:stretch>
            <a:fillRect/>
          </a:stretch>
        </p:blipFill>
        <p:spPr>
          <a:xfrm>
            <a:off x="0" y="-25410"/>
            <a:ext cx="12192000" cy="815798"/>
          </a:xfrm>
          <a:prstGeom prst="rect">
            <a:avLst/>
          </a:prstGeom>
        </p:spPr>
      </p:pic>
      <p:pic>
        <p:nvPicPr>
          <p:cNvPr id="9" name="图形 8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33984" y="237680"/>
            <a:ext cx="937812" cy="289618"/>
          </a:xfrm>
          <a:prstGeom prst="rect">
            <a:avLst/>
          </a:prstGeom>
        </p:spPr>
      </p:pic>
      <p:pic>
        <p:nvPicPr>
          <p:cNvPr id="10" name="图形 9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45987" y="267275"/>
            <a:ext cx="1294476" cy="240212"/>
          </a:xfrm>
          <a:prstGeom prst="rect">
            <a:avLst/>
          </a:prstGeom>
        </p:spPr>
      </p:pic>
      <p:cxnSp>
        <p:nvCxnSpPr>
          <p:cNvPr id="11" name="直线连接符 10"/>
          <p:cNvCxnSpPr/>
          <p:nvPr userDrawn="1"/>
        </p:nvCxnSpPr>
        <p:spPr>
          <a:xfrm>
            <a:off x="10658891" y="260459"/>
            <a:ext cx="1" cy="25159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线连接符 11"/>
          <p:cNvCxnSpPr/>
          <p:nvPr userDrawn="1"/>
        </p:nvCxnSpPr>
        <p:spPr>
          <a:xfrm>
            <a:off x="0" y="772808"/>
            <a:ext cx="12192000" cy="0"/>
          </a:xfrm>
          <a:prstGeom prst="line">
            <a:avLst/>
          </a:prstGeom>
          <a:ln w="25400">
            <a:gradFill>
              <a:gsLst>
                <a:gs pos="0">
                  <a:srgbClr val="005BEF">
                    <a:alpha val="0"/>
                  </a:srgbClr>
                </a:gs>
                <a:gs pos="54000">
                  <a:srgbClr val="A592D6"/>
                </a:gs>
                <a:gs pos="100000">
                  <a:srgbClr val="F1A76F">
                    <a:alpha val="0"/>
                  </a:srgbClr>
                </a:gs>
              </a:gsLst>
              <a:lin ang="660000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58749" y="237680"/>
            <a:ext cx="937812" cy="289618"/>
          </a:xfrm>
          <a:prstGeom prst="rect">
            <a:avLst/>
          </a:prstGeom>
        </p:spPr>
      </p:pic>
      <p:pic>
        <p:nvPicPr>
          <p:cNvPr id="9" name="图形 8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70752" y="267275"/>
            <a:ext cx="1294476" cy="240212"/>
          </a:xfrm>
          <a:prstGeom prst="rect">
            <a:avLst/>
          </a:prstGeom>
        </p:spPr>
      </p:pic>
      <p:cxnSp>
        <p:nvCxnSpPr>
          <p:cNvPr id="10" name="直线连接符 9"/>
          <p:cNvCxnSpPr/>
          <p:nvPr userDrawn="1"/>
        </p:nvCxnSpPr>
        <p:spPr>
          <a:xfrm>
            <a:off x="10683656" y="260459"/>
            <a:ext cx="1" cy="25159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/>
          <a:srcRect l="63365"/>
          <a:stretch>
            <a:fillRect/>
          </a:stretch>
        </p:blipFill>
        <p:spPr>
          <a:xfrm>
            <a:off x="0" y="-7492"/>
            <a:ext cx="4975554" cy="6865492"/>
          </a:xfrm>
          <a:prstGeom prst="rect">
            <a:avLst/>
          </a:prstGeom>
        </p:spPr>
      </p:pic>
      <p:sp>
        <p:nvSpPr>
          <p:cNvPr id="12" name="矩形 11"/>
          <p:cNvSpPr/>
          <p:nvPr userDrawn="1"/>
        </p:nvSpPr>
        <p:spPr>
          <a:xfrm>
            <a:off x="763011" y="912899"/>
            <a:ext cx="2371643" cy="734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zh-CN" altLang="en-US" sz="3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Gautami" panose="020B0502040204020203" pitchFamily="34" charset="0"/>
                <a:sym typeface="微软雅黑" panose="020B0503020204020204" pitchFamily="34" charset="-122"/>
              </a:rPr>
              <a:t>Contents</a:t>
            </a: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413374" y="1641149"/>
            <a:ext cx="1960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/</a:t>
            </a:r>
            <a:r>
              <a:rPr kumimoji="1" lang="zh-CN" altLang="en-US" sz="1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目录 </a:t>
            </a:r>
            <a:r>
              <a:rPr kumimoji="1" lang="en-US" altLang="zh-CN" sz="1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/</a:t>
            </a:r>
            <a:endParaRPr kumimoji="1" lang="zh-CN" altLang="en-US" sz="18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/>
          <a:srcRect l="63584"/>
          <a:stretch>
            <a:fillRect/>
          </a:stretch>
        </p:blipFill>
        <p:spPr>
          <a:xfrm>
            <a:off x="0" y="-6288"/>
            <a:ext cx="4998686" cy="6864288"/>
          </a:xfrm>
          <a:prstGeom prst="rect">
            <a:avLst/>
          </a:prstGeom>
        </p:spPr>
      </p:pic>
      <p:pic>
        <p:nvPicPr>
          <p:cNvPr id="8" name="图形 7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33984" y="237680"/>
            <a:ext cx="937812" cy="289618"/>
          </a:xfrm>
          <a:prstGeom prst="rect">
            <a:avLst/>
          </a:prstGeom>
        </p:spPr>
      </p:pic>
      <p:pic>
        <p:nvPicPr>
          <p:cNvPr id="9" name="图形 8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45987" y="267275"/>
            <a:ext cx="1294476" cy="240212"/>
          </a:xfrm>
          <a:prstGeom prst="rect">
            <a:avLst/>
          </a:prstGeom>
        </p:spPr>
      </p:pic>
      <p:cxnSp>
        <p:nvCxnSpPr>
          <p:cNvPr id="10" name="直线连接符 9"/>
          <p:cNvCxnSpPr/>
          <p:nvPr userDrawn="1"/>
        </p:nvCxnSpPr>
        <p:spPr>
          <a:xfrm>
            <a:off x="10658891" y="260459"/>
            <a:ext cx="1" cy="25159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 userDrawn="1"/>
        </p:nvSpPr>
        <p:spPr>
          <a:xfrm>
            <a:off x="763011" y="912899"/>
            <a:ext cx="2371643" cy="734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zh-CN" altLang="en-US" sz="3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Gautami" panose="020B0502040204020203" pitchFamily="34" charset="0"/>
                <a:sym typeface="微软雅黑" panose="020B0503020204020204" pitchFamily="34" charset="-122"/>
              </a:rPr>
              <a:t>Contents</a:t>
            </a: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413374" y="1641149"/>
            <a:ext cx="1960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/</a:t>
            </a:r>
            <a:r>
              <a:rPr kumimoji="1" lang="zh-CN" altLang="en-US" sz="1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目录 </a:t>
            </a:r>
            <a:r>
              <a:rPr kumimoji="1" lang="en-US" altLang="zh-CN" sz="1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/</a:t>
            </a:r>
            <a:endParaRPr kumimoji="1" lang="zh-CN" altLang="en-US" sz="18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604237" y="5053491"/>
            <a:ext cx="1694582" cy="18505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C871C-BD04-DB43-BB0E-83B59DD633E5}" type="datetimeFigureOut">
              <a:rPr kumimoji="1" lang="zh-CN" altLang="en-US" smtClean="0"/>
              <a:t>2026/10/21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6060A-1DEF-9546-87AB-92B5309E531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5759" y="365125"/>
            <a:ext cx="2629159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83" y="365125"/>
            <a:ext cx="7735062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C871C-BD04-DB43-BB0E-83B59DD633E5}" type="datetimeFigureOut">
              <a:rPr kumimoji="1" lang="zh-CN" altLang="en-US" smtClean="0"/>
              <a:t>2026/10/21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6060A-1DEF-9546-87AB-92B5309E531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83" y="365125"/>
            <a:ext cx="1051663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83" y="1825625"/>
            <a:ext cx="1051663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83" y="6356350"/>
            <a:ext cx="2743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7C871C-BD04-DB43-BB0E-83B59DD633E5}" type="datetimeFigureOut">
              <a:rPr kumimoji="1" lang="zh-CN" altLang="en-US" smtClean="0"/>
              <a:t>2026/10/21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998" y="6356350"/>
            <a:ext cx="41152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1448" y="6356350"/>
            <a:ext cx="2743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86060A-1DEF-9546-87AB-92B5309E531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image" Target="../media/image4.png"/><Relationship Id="rId5" Type="http://schemas.openxmlformats.org/officeDocument/2006/relationships/tags" Target="../tags/tag5.xml"/><Relationship Id="rId10" Type="http://schemas.openxmlformats.org/officeDocument/2006/relationships/slideLayout" Target="../slideLayouts/slideLayout13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10.xml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tags" Target="../tags/tag1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19.xml"/><Relationship Id="rId3" Type="http://schemas.openxmlformats.org/officeDocument/2006/relationships/tags" Target="../tags/tag14.xml"/><Relationship Id="rId7" Type="http://schemas.openxmlformats.org/officeDocument/2006/relationships/tags" Target="../tags/tag18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tags" Target="../tags/tag17.xml"/><Relationship Id="rId11" Type="http://schemas.openxmlformats.org/officeDocument/2006/relationships/image" Target="../media/image4.png"/><Relationship Id="rId5" Type="http://schemas.openxmlformats.org/officeDocument/2006/relationships/tags" Target="../tags/tag16.xml"/><Relationship Id="rId10" Type="http://schemas.openxmlformats.org/officeDocument/2006/relationships/slideLayout" Target="../slideLayouts/slideLayout13.xml"/><Relationship Id="rId4" Type="http://schemas.openxmlformats.org/officeDocument/2006/relationships/tags" Target="../tags/tag15.xml"/><Relationship Id="rId9" Type="http://schemas.openxmlformats.org/officeDocument/2006/relationships/tags" Target="../tags/tag2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tiff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28.xml"/><Relationship Id="rId13" Type="http://schemas.openxmlformats.org/officeDocument/2006/relationships/slideLayout" Target="../slideLayouts/slideLayout13.xml"/><Relationship Id="rId3" Type="http://schemas.openxmlformats.org/officeDocument/2006/relationships/tags" Target="../tags/tag23.xml"/><Relationship Id="rId7" Type="http://schemas.openxmlformats.org/officeDocument/2006/relationships/tags" Target="../tags/tag27.xml"/><Relationship Id="rId12" Type="http://schemas.openxmlformats.org/officeDocument/2006/relationships/tags" Target="../tags/tag32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tags" Target="../tags/tag26.xml"/><Relationship Id="rId11" Type="http://schemas.openxmlformats.org/officeDocument/2006/relationships/tags" Target="../tags/tag31.xml"/><Relationship Id="rId5" Type="http://schemas.openxmlformats.org/officeDocument/2006/relationships/tags" Target="../tags/tag25.xml"/><Relationship Id="rId10" Type="http://schemas.openxmlformats.org/officeDocument/2006/relationships/tags" Target="../tags/tag30.xml"/><Relationship Id="rId4" Type="http://schemas.openxmlformats.org/officeDocument/2006/relationships/tags" Target="../tags/tag24.xml"/><Relationship Id="rId9" Type="http://schemas.openxmlformats.org/officeDocument/2006/relationships/tags" Target="../tags/tag29.xml"/><Relationship Id="rId1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40.xml"/><Relationship Id="rId13" Type="http://schemas.openxmlformats.org/officeDocument/2006/relationships/tags" Target="../tags/tag45.xml"/><Relationship Id="rId18" Type="http://schemas.openxmlformats.org/officeDocument/2006/relationships/tags" Target="../tags/tag50.xml"/><Relationship Id="rId26" Type="http://schemas.openxmlformats.org/officeDocument/2006/relationships/tags" Target="../tags/tag58.xml"/><Relationship Id="rId3" Type="http://schemas.openxmlformats.org/officeDocument/2006/relationships/tags" Target="../tags/tag35.xml"/><Relationship Id="rId21" Type="http://schemas.openxmlformats.org/officeDocument/2006/relationships/tags" Target="../tags/tag53.xml"/><Relationship Id="rId7" Type="http://schemas.openxmlformats.org/officeDocument/2006/relationships/tags" Target="../tags/tag39.xml"/><Relationship Id="rId12" Type="http://schemas.openxmlformats.org/officeDocument/2006/relationships/tags" Target="../tags/tag44.xml"/><Relationship Id="rId17" Type="http://schemas.openxmlformats.org/officeDocument/2006/relationships/tags" Target="../tags/tag49.xml"/><Relationship Id="rId25" Type="http://schemas.openxmlformats.org/officeDocument/2006/relationships/tags" Target="../tags/tag57.xml"/><Relationship Id="rId2" Type="http://schemas.openxmlformats.org/officeDocument/2006/relationships/tags" Target="../tags/tag34.xml"/><Relationship Id="rId16" Type="http://schemas.openxmlformats.org/officeDocument/2006/relationships/tags" Target="../tags/tag48.xml"/><Relationship Id="rId20" Type="http://schemas.openxmlformats.org/officeDocument/2006/relationships/tags" Target="../tags/tag52.xml"/><Relationship Id="rId29" Type="http://schemas.openxmlformats.org/officeDocument/2006/relationships/tags" Target="../tags/tag61.xml"/><Relationship Id="rId1" Type="http://schemas.openxmlformats.org/officeDocument/2006/relationships/tags" Target="../tags/tag33.xml"/><Relationship Id="rId6" Type="http://schemas.openxmlformats.org/officeDocument/2006/relationships/tags" Target="../tags/tag38.xml"/><Relationship Id="rId11" Type="http://schemas.openxmlformats.org/officeDocument/2006/relationships/tags" Target="../tags/tag43.xml"/><Relationship Id="rId24" Type="http://schemas.openxmlformats.org/officeDocument/2006/relationships/tags" Target="../tags/tag56.xml"/><Relationship Id="rId32" Type="http://schemas.openxmlformats.org/officeDocument/2006/relationships/image" Target="../media/image16.tiff"/><Relationship Id="rId5" Type="http://schemas.openxmlformats.org/officeDocument/2006/relationships/tags" Target="../tags/tag37.xml"/><Relationship Id="rId15" Type="http://schemas.openxmlformats.org/officeDocument/2006/relationships/tags" Target="../tags/tag47.xml"/><Relationship Id="rId23" Type="http://schemas.openxmlformats.org/officeDocument/2006/relationships/tags" Target="../tags/tag55.xml"/><Relationship Id="rId28" Type="http://schemas.openxmlformats.org/officeDocument/2006/relationships/tags" Target="../tags/tag60.xml"/><Relationship Id="rId10" Type="http://schemas.openxmlformats.org/officeDocument/2006/relationships/tags" Target="../tags/tag42.xml"/><Relationship Id="rId19" Type="http://schemas.openxmlformats.org/officeDocument/2006/relationships/tags" Target="../tags/tag51.xml"/><Relationship Id="rId31" Type="http://schemas.openxmlformats.org/officeDocument/2006/relationships/slideLayout" Target="../slideLayouts/slideLayout11.xml"/><Relationship Id="rId4" Type="http://schemas.openxmlformats.org/officeDocument/2006/relationships/tags" Target="../tags/tag36.xml"/><Relationship Id="rId9" Type="http://schemas.openxmlformats.org/officeDocument/2006/relationships/tags" Target="../tags/tag41.xml"/><Relationship Id="rId14" Type="http://schemas.openxmlformats.org/officeDocument/2006/relationships/tags" Target="../tags/tag46.xml"/><Relationship Id="rId22" Type="http://schemas.openxmlformats.org/officeDocument/2006/relationships/tags" Target="../tags/tag54.xml"/><Relationship Id="rId27" Type="http://schemas.openxmlformats.org/officeDocument/2006/relationships/tags" Target="../tags/tag59.xml"/><Relationship Id="rId30" Type="http://schemas.openxmlformats.org/officeDocument/2006/relationships/tags" Target="../tags/tag6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tags" Target="../tags/tag70.xml"/><Relationship Id="rId13" Type="http://schemas.openxmlformats.org/officeDocument/2006/relationships/slideLayout" Target="../slideLayouts/slideLayout13.xml"/><Relationship Id="rId3" Type="http://schemas.openxmlformats.org/officeDocument/2006/relationships/tags" Target="../tags/tag65.xml"/><Relationship Id="rId7" Type="http://schemas.openxmlformats.org/officeDocument/2006/relationships/tags" Target="../tags/tag69.xml"/><Relationship Id="rId12" Type="http://schemas.openxmlformats.org/officeDocument/2006/relationships/tags" Target="../tags/tag74.xm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6" Type="http://schemas.openxmlformats.org/officeDocument/2006/relationships/tags" Target="../tags/tag68.xml"/><Relationship Id="rId11" Type="http://schemas.openxmlformats.org/officeDocument/2006/relationships/tags" Target="../tags/tag73.xml"/><Relationship Id="rId5" Type="http://schemas.openxmlformats.org/officeDocument/2006/relationships/tags" Target="../tags/tag67.xml"/><Relationship Id="rId10" Type="http://schemas.openxmlformats.org/officeDocument/2006/relationships/tags" Target="../tags/tag72.xml"/><Relationship Id="rId4" Type="http://schemas.openxmlformats.org/officeDocument/2006/relationships/tags" Target="../tags/tag66.xml"/><Relationship Id="rId9" Type="http://schemas.openxmlformats.org/officeDocument/2006/relationships/tags" Target="../tags/tag71.xml"/><Relationship Id="rId1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/>
        </p:nvSpPr>
        <p:spPr>
          <a:xfrm>
            <a:off x="1876382" y="2336829"/>
            <a:ext cx="8599170" cy="64516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r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3D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多芯粒存算一体架构的编译软件栈技术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charset="0"/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759816" y="4105832"/>
            <a:ext cx="267208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r"/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演讲人：</a:t>
            </a:r>
            <a:r>
              <a:rPr lang="zh-CN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蒋国跃</a:t>
            </a:r>
            <a:endParaRPr lang="en-US" altLang="zh-CN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76" name="图像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7010" y="4804410"/>
            <a:ext cx="1635760" cy="37401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" name="文本框 1"/>
          <p:cNvSpPr txBox="1"/>
          <p:nvPr/>
        </p:nvSpPr>
        <p:spPr>
          <a:xfrm>
            <a:off x="2452644" y="3017549"/>
            <a:ext cx="7368540" cy="95313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charset="0"/>
                <a:sym typeface="+mn-ea"/>
              </a:rPr>
              <a:t>Compiler Software Stack Technology for</a:t>
            </a:r>
          </a:p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charset="0"/>
                <a:sym typeface="+mn-ea"/>
              </a:rPr>
              <a:t>3D Multi-Chiplet PIM Architectures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5835015" y="1410970"/>
            <a:ext cx="5634990" cy="521970"/>
            <a:chOff x="4929969" y="1026723"/>
            <a:chExt cx="3118713" cy="391477"/>
          </a:xfrm>
        </p:grpSpPr>
        <p:sp>
          <p:nvSpPr>
            <p:cNvPr id="7" name="文本框 6"/>
            <p:cNvSpPr txBox="1"/>
            <p:nvPr/>
          </p:nvSpPr>
          <p:spPr>
            <a:xfrm>
              <a:off x="5500517" y="1026723"/>
              <a:ext cx="2548165" cy="3914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defRPr/>
              </a:pPr>
              <a:r>
                <a:rPr kumimoji="1" lang="en-US" altLang="zh-CN" sz="2800" dirty="0">
                  <a:solidFill>
                    <a:srgbClr val="256ED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3D Chip Architectures</a:t>
              </a:r>
              <a:endParaRPr kumimoji="1" lang="zh-CN" altLang="en-US" sz="2800" dirty="0">
                <a:solidFill>
                  <a:srgbClr val="256ED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4929969" y="1046506"/>
              <a:ext cx="647856" cy="315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kumimoji="1" lang="en-US" altLang="zh-CN" sz="2135" dirty="0">
                  <a:solidFill>
                    <a:srgbClr val="256ED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微软雅黑" panose="020B0503020204020204" pitchFamily="34" charset="-122"/>
                </a:rPr>
                <a:t>01</a:t>
              </a:r>
              <a:r>
                <a:rPr kumimoji="1" lang="zh-CN" altLang="en-US" sz="2135" dirty="0">
                  <a:solidFill>
                    <a:srgbClr val="256ED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微软雅黑" panose="020B0503020204020204" pitchFamily="34" charset="-122"/>
                </a:rPr>
                <a:t> </a:t>
              </a:r>
              <a:r>
                <a:rPr kumimoji="1" lang="en-US" altLang="zh-CN" sz="2135" dirty="0">
                  <a:solidFill>
                    <a:srgbClr val="256ED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微软雅黑" panose="020B0503020204020204" pitchFamily="34" charset="-122"/>
                </a:rPr>
                <a:t>/</a:t>
              </a:r>
            </a:p>
          </p:txBody>
        </p:sp>
      </p:grpSp>
      <p:grpSp>
        <p:nvGrpSpPr>
          <p:cNvPr id="10" name="组合 9"/>
          <p:cNvGrpSpPr/>
          <p:nvPr>
            <p:custDataLst>
              <p:tags r:id="rId1"/>
            </p:custDataLst>
          </p:nvPr>
        </p:nvGrpSpPr>
        <p:grpSpPr>
          <a:xfrm>
            <a:off x="5870362" y="2420126"/>
            <a:ext cx="5990590" cy="829945"/>
            <a:chOff x="4929969" y="1026723"/>
            <a:chExt cx="4492943" cy="622459"/>
          </a:xfrm>
        </p:grpSpPr>
        <p:sp>
          <p:nvSpPr>
            <p:cNvPr id="11" name="文本框 10"/>
            <p:cNvSpPr txBox="1"/>
            <p:nvPr>
              <p:custDataLst>
                <p:tags r:id="rId8"/>
              </p:custDataLst>
            </p:nvPr>
          </p:nvSpPr>
          <p:spPr>
            <a:xfrm>
              <a:off x="5500517" y="1026723"/>
              <a:ext cx="3922395" cy="622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defRPr/>
              </a:pPr>
              <a:r>
                <a:rPr kumimoji="1" lang="en-US" altLang="zh-CN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What kind of software technoloy is requied?</a:t>
              </a:r>
            </a:p>
          </p:txBody>
        </p:sp>
        <p:sp>
          <p:nvSpPr>
            <p:cNvPr id="12" name="文本框 11"/>
            <p:cNvSpPr txBox="1"/>
            <p:nvPr>
              <p:custDataLst>
                <p:tags r:id="rId9"/>
              </p:custDataLst>
            </p:nvPr>
          </p:nvSpPr>
          <p:spPr>
            <a:xfrm>
              <a:off x="4929969" y="1046506"/>
              <a:ext cx="647856" cy="3152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kumimoji="1" lang="en-US" altLang="zh-CN" sz="2135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微软雅黑" panose="020B0503020204020204" pitchFamily="34" charset="-122"/>
                </a:rPr>
                <a:t>02</a:t>
              </a:r>
              <a:r>
                <a:rPr kumimoji="1" lang="zh-CN" altLang="en-US" sz="2135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微软雅黑" panose="020B0503020204020204" pitchFamily="34" charset="-122"/>
                </a:rPr>
                <a:t> </a:t>
              </a:r>
              <a:r>
                <a:rPr kumimoji="1" lang="en-US" altLang="zh-CN" sz="2135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微软雅黑" panose="020B0503020204020204" pitchFamily="34" charset="-122"/>
                </a:rPr>
                <a:t>/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5577824" y="1319041"/>
              <a:ext cx="3172925" cy="21207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endParaRPr lang="zh-CN" altLang="en-US" sz="935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15" name="组合 14"/>
          <p:cNvGrpSpPr/>
          <p:nvPr>
            <p:custDataLst>
              <p:tags r:id="rId2"/>
            </p:custDataLst>
          </p:nvPr>
        </p:nvGrpSpPr>
        <p:grpSpPr>
          <a:xfrm>
            <a:off x="5835015" y="3651250"/>
            <a:ext cx="6054090" cy="829945"/>
            <a:chOff x="4929969" y="1026723"/>
            <a:chExt cx="4203859" cy="622459"/>
          </a:xfrm>
        </p:grpSpPr>
        <p:sp>
          <p:nvSpPr>
            <p:cNvPr id="16" name="文本框 15"/>
            <p:cNvSpPr txBox="1"/>
            <p:nvPr>
              <p:custDataLst>
                <p:tags r:id="rId6"/>
              </p:custDataLst>
            </p:nvPr>
          </p:nvSpPr>
          <p:spPr>
            <a:xfrm>
              <a:off x="5500517" y="1026723"/>
              <a:ext cx="3633311" cy="622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defRPr/>
              </a:pPr>
              <a:r>
                <a:rPr kumimoji="1" lang="en-US" altLang="zh-CN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Compiler Software Technology for 3D Architectures </a:t>
              </a:r>
            </a:p>
          </p:txBody>
        </p:sp>
        <p:sp>
          <p:nvSpPr>
            <p:cNvPr id="17" name="文本框 16"/>
            <p:cNvSpPr txBox="1"/>
            <p:nvPr>
              <p:custDataLst>
                <p:tags r:id="rId7"/>
              </p:custDataLst>
            </p:nvPr>
          </p:nvSpPr>
          <p:spPr>
            <a:xfrm>
              <a:off x="4929969" y="1036981"/>
              <a:ext cx="647856" cy="3152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kumimoji="1" lang="en-US" altLang="zh-CN" sz="2135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微软雅黑" panose="020B0503020204020204" pitchFamily="34" charset="-122"/>
                </a:rPr>
                <a:t>03</a:t>
              </a:r>
              <a:r>
                <a:rPr kumimoji="1" lang="zh-CN" altLang="en-US" sz="2135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微软雅黑" panose="020B0503020204020204" pitchFamily="34" charset="-122"/>
                </a:rPr>
                <a:t> </a:t>
              </a:r>
              <a:r>
                <a:rPr kumimoji="1" lang="en-US" altLang="zh-CN" sz="2135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微软雅黑" panose="020B0503020204020204" pitchFamily="34" charset="-122"/>
                </a:rPr>
                <a:t>/</a:t>
              </a:r>
            </a:p>
          </p:txBody>
        </p:sp>
        <p:sp>
          <p:nvSpPr>
            <p:cNvPr id="18" name="矩形 17"/>
            <p:cNvSpPr/>
            <p:nvPr/>
          </p:nvSpPr>
          <p:spPr>
            <a:xfrm>
              <a:off x="5577824" y="1319041"/>
              <a:ext cx="3172925" cy="21207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endParaRPr lang="zh-CN" altLang="en-US" sz="935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19" name="组合 18"/>
          <p:cNvGrpSpPr/>
          <p:nvPr>
            <p:custDataLst>
              <p:tags r:id="rId3"/>
            </p:custDataLst>
          </p:nvPr>
        </p:nvGrpSpPr>
        <p:grpSpPr>
          <a:xfrm>
            <a:off x="5808345" y="4847590"/>
            <a:ext cx="5972809" cy="672465"/>
            <a:chOff x="4929969" y="1026723"/>
            <a:chExt cx="3832596" cy="504396"/>
          </a:xfrm>
        </p:grpSpPr>
        <p:sp>
          <p:nvSpPr>
            <p:cNvPr id="20" name="文本框 19"/>
            <p:cNvSpPr txBox="1"/>
            <p:nvPr>
              <p:custDataLst>
                <p:tags r:id="rId4"/>
              </p:custDataLst>
            </p:nvPr>
          </p:nvSpPr>
          <p:spPr>
            <a:xfrm>
              <a:off x="5500417" y="1026723"/>
              <a:ext cx="3262148" cy="3453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buClrTx/>
                <a:buSzTx/>
                <a:buFontTx/>
                <a:defRPr/>
              </a:pPr>
              <a:r>
                <a:rPr kumimoji="1" lang="en-US" altLang="zh-CN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LLM Inference on 3D Chips</a:t>
              </a:r>
            </a:p>
          </p:txBody>
        </p:sp>
        <p:sp>
          <p:nvSpPr>
            <p:cNvPr id="21" name="文本框 20"/>
            <p:cNvSpPr txBox="1"/>
            <p:nvPr>
              <p:custDataLst>
                <p:tags r:id="rId5"/>
              </p:custDataLst>
            </p:nvPr>
          </p:nvSpPr>
          <p:spPr>
            <a:xfrm>
              <a:off x="4929969" y="1046506"/>
              <a:ext cx="647856" cy="315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kumimoji="1" lang="en-US" altLang="zh-CN" sz="2135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微软雅黑" panose="020B0503020204020204" pitchFamily="34" charset="-122"/>
                </a:rPr>
                <a:t>04</a:t>
              </a:r>
              <a:r>
                <a:rPr kumimoji="1" lang="zh-CN" altLang="en-US" sz="2135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微软雅黑" panose="020B0503020204020204" pitchFamily="34" charset="-122"/>
                </a:rPr>
                <a:t> </a:t>
              </a:r>
              <a:r>
                <a:rPr kumimoji="1" lang="en-US" altLang="zh-CN" sz="2135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微软雅黑" panose="020B0503020204020204" pitchFamily="34" charset="-122"/>
                </a:rPr>
                <a:t>/</a:t>
              </a:r>
            </a:p>
          </p:txBody>
        </p:sp>
        <p:sp>
          <p:nvSpPr>
            <p:cNvPr id="22" name="矩形 21"/>
            <p:cNvSpPr/>
            <p:nvPr/>
          </p:nvSpPr>
          <p:spPr>
            <a:xfrm>
              <a:off x="5577824" y="1319041"/>
              <a:ext cx="3172925" cy="21207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endParaRPr lang="zh-CN" altLang="en-US" sz="935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41" name="图片 4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04237" y="5053491"/>
            <a:ext cx="1694582" cy="18505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矩形 35"/>
          <p:cNvSpPr/>
          <p:nvPr/>
        </p:nvSpPr>
        <p:spPr>
          <a:xfrm>
            <a:off x="334645" y="120650"/>
            <a:ext cx="9036685" cy="5257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Gautami" panose="020B0502040204020203" pitchFamily="34" charset="0"/>
                <a:sym typeface="微软雅黑" panose="020B0503020204020204" pitchFamily="34" charset="-122"/>
              </a:rPr>
              <a:t>3D Chip Architectures</a:t>
            </a:r>
            <a:endParaRPr kumimoji="1" lang="en-US" altLang="zh-CN" sz="2800" b="1" dirty="0">
              <a:solidFill>
                <a:srgbClr val="256ED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Gautami" panose="020B0502040204020203" pitchFamily="34" charset="0"/>
              <a:sym typeface="微软雅黑" panose="020B0503020204020204" pitchFamily="34" charset="-122"/>
            </a:endParaRPr>
          </a:p>
        </p:txBody>
      </p:sp>
      <p:pic>
        <p:nvPicPr>
          <p:cNvPr id="21" name="Image 1" descr="/home/claude/v9/figB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82930" y="2608580"/>
            <a:ext cx="4187190" cy="278574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4495" y="2889250"/>
            <a:ext cx="6349365" cy="222504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069590" y="5394325"/>
            <a:ext cx="538861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3DDRAM + Multi-Chiplet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517524" y="1166558"/>
            <a:ext cx="1109535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defRPr/>
            </a:pPr>
            <a:r>
              <a:rPr kumimoji="1" lang="en-US" altLang="zh-CN" sz="1800" b="1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3D DRAM-based chip architectures are gaining significant international momentum as the semiconductor industry confronts the escalating memory bandwidth and capacity demands of AI workloads.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701165" y="6015355"/>
            <a:ext cx="8963025" cy="4375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lnSpc>
                <a:spcPts val="2700"/>
              </a:lnSpc>
              <a:spcBef>
                <a:spcPct val="1000"/>
              </a:spcBef>
              <a:spcAft>
                <a:spcPct val="1000"/>
              </a:spcAft>
            </a:pPr>
            <a:r>
              <a:rPr lang="en-GB" sz="1800" b="1" i="0">
                <a:solidFill>
                  <a:srgbClr val="1F1F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Compared to 2.5D HBM, bandwidth is increased by more than 10 times.</a:t>
            </a:r>
            <a:endParaRPr lang="en-GB" altLang="zh-CN" sz="1800" b="1" i="0">
              <a:solidFill>
                <a:srgbClr val="1F1F1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矩形 35"/>
          <p:cNvSpPr/>
          <p:nvPr/>
        </p:nvSpPr>
        <p:spPr>
          <a:xfrm>
            <a:off x="334645" y="120650"/>
            <a:ext cx="9036685" cy="5257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Gautami" panose="020B0502040204020203" pitchFamily="34" charset="0"/>
                <a:sym typeface="微软雅黑" panose="020B0503020204020204" pitchFamily="34" charset="-122"/>
              </a:rPr>
              <a:t>3D Chip Architectures</a:t>
            </a:r>
            <a:endParaRPr kumimoji="1" lang="en-US" altLang="zh-CN" sz="2800" b="1" dirty="0">
              <a:solidFill>
                <a:srgbClr val="256ED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Gautami" panose="020B0502040204020203" pitchFamily="34" charset="0"/>
              <a:sym typeface="微软雅黑" panose="020B0503020204020204" pitchFamily="34" charset="-122"/>
            </a:endParaRPr>
          </a:p>
        </p:txBody>
      </p:sp>
      <p:pic>
        <p:nvPicPr>
          <p:cNvPr id="165" name="图片 23" descr="图片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0309" y="1827593"/>
            <a:ext cx="8428355" cy="43573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" name="文本框 1"/>
          <p:cNvSpPr txBox="1"/>
          <p:nvPr/>
        </p:nvSpPr>
        <p:spPr>
          <a:xfrm>
            <a:off x="3046448" y="6123117"/>
            <a:ext cx="5080000" cy="33718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 algn="ctr"/>
            <a:r>
              <a:rPr lang="en-US" altLang="zh-CN" sz="1600" b="1" i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 common 3D chip architecture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517524" y="905573"/>
            <a:ext cx="1109535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defRPr/>
            </a:pPr>
            <a:r>
              <a:rPr kumimoji="1" lang="en-US" altLang="zh-CN" sz="1800" b="1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To achieve optimal 3D DRAM bandwidth utilization, the 3DDRAM-based architecture is used by compute cores through a distributed memory scheme based on near-memory computing or processing-in-memory (PIM).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862317" y="6519446"/>
            <a:ext cx="39443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* </a:t>
            </a:r>
            <a:r>
              <a:rPr kumimoji="1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N3D:</a:t>
            </a:r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Near-compute</a:t>
            </a:r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3D-DRAM</a:t>
            </a:r>
            <a:endParaRPr kumimoji="1"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矩形 35"/>
          <p:cNvSpPr/>
          <p:nvPr/>
        </p:nvSpPr>
        <p:spPr>
          <a:xfrm>
            <a:off x="334645" y="120650"/>
            <a:ext cx="9036685" cy="5257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Gautami" panose="020B0502040204020203" pitchFamily="34" charset="0"/>
                <a:sym typeface="微软雅黑" panose="020B0503020204020204" pitchFamily="34" charset="-122"/>
              </a:rPr>
              <a:t>3D Chip Architectures</a:t>
            </a:r>
            <a:endParaRPr kumimoji="1" lang="en-US" altLang="zh-CN" sz="2800" b="1" dirty="0">
              <a:solidFill>
                <a:srgbClr val="256ED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Gautami" panose="020B0502040204020203" pitchFamily="34" charset="0"/>
              <a:sym typeface="微软雅黑" panose="020B0503020204020204" pitchFamily="34" charset="-122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775335" y="1511935"/>
          <a:ext cx="10640695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8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49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7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0574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Dimension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BEF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HBM-Based Chips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BEF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3DDRAM-Based Chips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BEF">
                        <a:alpha val="7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466">
                <a:tc>
                  <a:txBody>
                    <a:bodyPr/>
                    <a:lstStyle/>
                    <a:p>
                      <a:r>
                        <a:rPr lang="en-US" altLang="zh-CN" sz="16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Memory Organization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Centralized</a:t>
                      </a:r>
                      <a:r>
                        <a:rPr lang="en-US" altLang="zh-CN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pool shared by all compute cores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Distributed</a:t>
                      </a:r>
                      <a:r>
                        <a:rPr lang="en-US" altLang="zh-CN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with dedicated memory banks per core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466"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Data Movement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6C5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Via a limited number of channels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6C5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Massive vertical interconnect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6C5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345"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Bandwidth Mechanism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High-frequency serial signaling over interposer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Wide, parallel vertical buses (e.g., 256-bit per bank)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466"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Effective Bandwidth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6C5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~8-16 TB/s per package</a:t>
                      </a:r>
                      <a:r>
                        <a:rPr lang="en-US" altLang="zh-CN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(Rubin HBM4)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6C5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~100 TB/s per card</a:t>
                      </a:r>
                      <a:r>
                        <a:rPr lang="en-US" altLang="zh-CN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(Raptor)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6C5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466"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Latency Characteristics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Non-deterministic</a:t>
                      </a:r>
                      <a:r>
                        <a:rPr lang="en-US" altLang="zh-CN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(bank conflicts, contention)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Deterministic</a:t>
                      </a:r>
                      <a:r>
                        <a:rPr lang="en-US" altLang="zh-CN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, SRAM-like access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775335" y="5159375"/>
            <a:ext cx="10640695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/>
            <a:r>
              <a:rPr lang="en-US" altLang="zh-CN" sz="1600" b="1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Current programming models, compilers, and operator libraries are all designed for centralized memory, which makes them problematic on 3D DRAM-base</a:t>
            </a:r>
            <a:r>
              <a:rPr lang="en-US" altLang="zh-CN" sz="1600" b="1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 </a:t>
            </a:r>
            <a:r>
              <a:rPr kumimoji="1"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processing-in-memory</a:t>
            </a:r>
            <a:r>
              <a:rPr lang="en-US" altLang="zh-CN" sz="1600" b="1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b="1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architectures.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5835015" y="2353310"/>
            <a:ext cx="6159500" cy="953135"/>
            <a:chOff x="4929969" y="1026723"/>
            <a:chExt cx="3118713" cy="714850"/>
          </a:xfrm>
        </p:grpSpPr>
        <p:sp>
          <p:nvSpPr>
            <p:cNvPr id="7" name="文本框 6"/>
            <p:cNvSpPr txBox="1"/>
            <p:nvPr/>
          </p:nvSpPr>
          <p:spPr>
            <a:xfrm>
              <a:off x="5500517" y="1026723"/>
              <a:ext cx="2548165" cy="7148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defRPr/>
              </a:pPr>
              <a:r>
                <a:rPr kumimoji="1" lang="en-US" altLang="zh-CN" sz="2800" dirty="0">
                  <a:solidFill>
                    <a:srgbClr val="256ED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What kind of software technology is required</a:t>
              </a: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4929969" y="1046506"/>
              <a:ext cx="647856" cy="315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kumimoji="1" lang="en-US" altLang="zh-CN" sz="2135" dirty="0">
                  <a:solidFill>
                    <a:srgbClr val="256ED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微软雅黑" panose="020B0503020204020204" pitchFamily="34" charset="-122"/>
                </a:rPr>
                <a:t>02</a:t>
              </a:r>
              <a:r>
                <a:rPr kumimoji="1" lang="zh-CN" altLang="en-US" sz="2135" dirty="0">
                  <a:solidFill>
                    <a:srgbClr val="256ED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微软雅黑" panose="020B0503020204020204" pitchFamily="34" charset="-122"/>
                </a:rPr>
                <a:t> </a:t>
              </a:r>
              <a:r>
                <a:rPr kumimoji="1" lang="en-US" altLang="zh-CN" sz="2135" dirty="0">
                  <a:solidFill>
                    <a:srgbClr val="256ED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微软雅黑" panose="020B0503020204020204" pitchFamily="34" charset="-122"/>
                </a:rPr>
                <a:t>/</a:t>
              </a:r>
            </a:p>
          </p:txBody>
        </p:sp>
      </p:grpSp>
      <p:grpSp>
        <p:nvGrpSpPr>
          <p:cNvPr id="10" name="组合 9"/>
          <p:cNvGrpSpPr/>
          <p:nvPr>
            <p:custDataLst>
              <p:tags r:id="rId1"/>
            </p:custDataLst>
          </p:nvPr>
        </p:nvGrpSpPr>
        <p:grpSpPr>
          <a:xfrm>
            <a:off x="5883062" y="1443496"/>
            <a:ext cx="5990590" cy="672528"/>
            <a:chOff x="4929969" y="1026723"/>
            <a:chExt cx="4492943" cy="504396"/>
          </a:xfrm>
        </p:grpSpPr>
        <p:sp>
          <p:nvSpPr>
            <p:cNvPr id="11" name="文本框 10"/>
            <p:cNvSpPr txBox="1"/>
            <p:nvPr>
              <p:custDataLst>
                <p:tags r:id="rId8"/>
              </p:custDataLst>
            </p:nvPr>
          </p:nvSpPr>
          <p:spPr>
            <a:xfrm>
              <a:off x="5500517" y="1026723"/>
              <a:ext cx="3922395" cy="3452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defRPr/>
              </a:pPr>
              <a:r>
                <a:rPr kumimoji="1" lang="en-US" altLang="zh-CN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3D Chip Architectures</a:t>
              </a:r>
            </a:p>
          </p:txBody>
        </p:sp>
        <p:sp>
          <p:nvSpPr>
            <p:cNvPr id="12" name="文本框 11"/>
            <p:cNvSpPr txBox="1"/>
            <p:nvPr>
              <p:custDataLst>
                <p:tags r:id="rId9"/>
              </p:custDataLst>
            </p:nvPr>
          </p:nvSpPr>
          <p:spPr>
            <a:xfrm>
              <a:off x="4929969" y="1046506"/>
              <a:ext cx="647856" cy="3152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kumimoji="1" lang="en-US" altLang="zh-CN" sz="2135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微软雅黑" panose="020B0503020204020204" pitchFamily="34" charset="-122"/>
                </a:rPr>
                <a:t>01</a:t>
              </a:r>
              <a:r>
                <a:rPr kumimoji="1" lang="zh-CN" altLang="en-US" sz="2135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微软雅黑" panose="020B0503020204020204" pitchFamily="34" charset="-122"/>
                </a:rPr>
                <a:t> </a:t>
              </a:r>
              <a:r>
                <a:rPr kumimoji="1" lang="en-US" altLang="zh-CN" sz="2135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微软雅黑" panose="020B0503020204020204" pitchFamily="34" charset="-122"/>
                </a:rPr>
                <a:t>/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5577824" y="1319041"/>
              <a:ext cx="3172925" cy="21207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endParaRPr lang="zh-CN" altLang="en-US" sz="935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15" name="组合 14"/>
          <p:cNvGrpSpPr/>
          <p:nvPr>
            <p:custDataLst>
              <p:tags r:id="rId2"/>
            </p:custDataLst>
          </p:nvPr>
        </p:nvGrpSpPr>
        <p:grpSpPr>
          <a:xfrm>
            <a:off x="5835015" y="3651250"/>
            <a:ext cx="6054090" cy="829945"/>
            <a:chOff x="4929969" y="1026723"/>
            <a:chExt cx="4203859" cy="622459"/>
          </a:xfrm>
        </p:grpSpPr>
        <p:sp>
          <p:nvSpPr>
            <p:cNvPr id="16" name="文本框 15"/>
            <p:cNvSpPr txBox="1"/>
            <p:nvPr>
              <p:custDataLst>
                <p:tags r:id="rId6"/>
              </p:custDataLst>
            </p:nvPr>
          </p:nvSpPr>
          <p:spPr>
            <a:xfrm>
              <a:off x="5500517" y="1026723"/>
              <a:ext cx="3633311" cy="622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defRPr/>
              </a:pPr>
              <a:r>
                <a:rPr kumimoji="1" lang="en-US" altLang="zh-CN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Compiler Software Technology for 3D Architectures </a:t>
              </a:r>
            </a:p>
          </p:txBody>
        </p:sp>
        <p:sp>
          <p:nvSpPr>
            <p:cNvPr id="17" name="文本框 16"/>
            <p:cNvSpPr txBox="1"/>
            <p:nvPr>
              <p:custDataLst>
                <p:tags r:id="rId7"/>
              </p:custDataLst>
            </p:nvPr>
          </p:nvSpPr>
          <p:spPr>
            <a:xfrm>
              <a:off x="4929969" y="1036981"/>
              <a:ext cx="647856" cy="3152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kumimoji="1" lang="en-US" altLang="zh-CN" sz="2135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微软雅黑" panose="020B0503020204020204" pitchFamily="34" charset="-122"/>
                </a:rPr>
                <a:t>03</a:t>
              </a:r>
              <a:r>
                <a:rPr kumimoji="1" lang="zh-CN" altLang="en-US" sz="2135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微软雅黑" panose="020B0503020204020204" pitchFamily="34" charset="-122"/>
                </a:rPr>
                <a:t> </a:t>
              </a:r>
              <a:r>
                <a:rPr kumimoji="1" lang="en-US" altLang="zh-CN" sz="2135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微软雅黑" panose="020B0503020204020204" pitchFamily="34" charset="-122"/>
                </a:rPr>
                <a:t>/</a:t>
              </a:r>
            </a:p>
          </p:txBody>
        </p:sp>
        <p:sp>
          <p:nvSpPr>
            <p:cNvPr id="18" name="矩形 17"/>
            <p:cNvSpPr/>
            <p:nvPr/>
          </p:nvSpPr>
          <p:spPr>
            <a:xfrm>
              <a:off x="5577824" y="1319041"/>
              <a:ext cx="3172925" cy="21207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endParaRPr lang="zh-CN" altLang="en-US" sz="935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19" name="组合 18"/>
          <p:cNvGrpSpPr/>
          <p:nvPr>
            <p:custDataLst>
              <p:tags r:id="rId3"/>
            </p:custDataLst>
          </p:nvPr>
        </p:nvGrpSpPr>
        <p:grpSpPr>
          <a:xfrm>
            <a:off x="5808345" y="4847590"/>
            <a:ext cx="5954395" cy="672465"/>
            <a:chOff x="4929969" y="1026723"/>
            <a:chExt cx="3820780" cy="504396"/>
          </a:xfrm>
        </p:grpSpPr>
        <p:sp>
          <p:nvSpPr>
            <p:cNvPr id="20" name="文本框 19"/>
            <p:cNvSpPr txBox="1"/>
            <p:nvPr>
              <p:custDataLst>
                <p:tags r:id="rId4"/>
              </p:custDataLst>
            </p:nvPr>
          </p:nvSpPr>
          <p:spPr>
            <a:xfrm>
              <a:off x="5500517" y="1026723"/>
              <a:ext cx="2986564" cy="3453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buClrTx/>
                <a:buSzTx/>
                <a:buFontTx/>
                <a:defRPr/>
              </a:pPr>
              <a:r>
                <a:rPr kumimoji="1" lang="en-US" altLang="zh-CN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LLM Inference on 3D Chips</a:t>
              </a:r>
            </a:p>
          </p:txBody>
        </p:sp>
        <p:sp>
          <p:nvSpPr>
            <p:cNvPr id="21" name="文本框 20"/>
            <p:cNvSpPr txBox="1"/>
            <p:nvPr>
              <p:custDataLst>
                <p:tags r:id="rId5"/>
              </p:custDataLst>
            </p:nvPr>
          </p:nvSpPr>
          <p:spPr>
            <a:xfrm>
              <a:off x="4929969" y="1046506"/>
              <a:ext cx="647856" cy="315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kumimoji="1" lang="en-US" altLang="zh-CN" sz="2135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微软雅黑" panose="020B0503020204020204" pitchFamily="34" charset="-122"/>
                </a:rPr>
                <a:t>04</a:t>
              </a:r>
              <a:r>
                <a:rPr kumimoji="1" lang="zh-CN" altLang="en-US" sz="2135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微软雅黑" panose="020B0503020204020204" pitchFamily="34" charset="-122"/>
                </a:rPr>
                <a:t> </a:t>
              </a:r>
              <a:r>
                <a:rPr kumimoji="1" lang="en-US" altLang="zh-CN" sz="2135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微软雅黑" panose="020B0503020204020204" pitchFamily="34" charset="-122"/>
                </a:rPr>
                <a:t>/</a:t>
              </a:r>
            </a:p>
          </p:txBody>
        </p:sp>
        <p:sp>
          <p:nvSpPr>
            <p:cNvPr id="22" name="矩形 21"/>
            <p:cNvSpPr/>
            <p:nvPr/>
          </p:nvSpPr>
          <p:spPr>
            <a:xfrm>
              <a:off x="5577824" y="1319041"/>
              <a:ext cx="3172925" cy="21207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endParaRPr lang="zh-CN" altLang="en-US" sz="935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41" name="图片 4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04237" y="5053491"/>
            <a:ext cx="1694582" cy="185053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圆角矩形 231"/>
          <p:cNvSpPr/>
          <p:nvPr/>
        </p:nvSpPr>
        <p:spPr>
          <a:xfrm>
            <a:off x="4185285" y="1859280"/>
            <a:ext cx="2997835" cy="3258820"/>
          </a:xfrm>
          <a:prstGeom prst="roundRect">
            <a:avLst>
              <a:gd name="adj" fmla="val 876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0" name="圆角矩形 229"/>
          <p:cNvSpPr/>
          <p:nvPr/>
        </p:nvSpPr>
        <p:spPr>
          <a:xfrm>
            <a:off x="588645" y="1859280"/>
            <a:ext cx="2997835" cy="3258820"/>
          </a:xfrm>
          <a:prstGeom prst="roundRect">
            <a:avLst>
              <a:gd name="adj" fmla="val 876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334645" y="120650"/>
            <a:ext cx="9036685" cy="5257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defRPr/>
            </a:pPr>
            <a:r>
              <a:rPr kumimoji="1"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What kind of software technoloy is requied?</a:t>
            </a:r>
            <a:endParaRPr kumimoji="1" lang="en-US" altLang="zh-CN" sz="2800" b="1" dirty="0">
              <a:solidFill>
                <a:srgbClr val="256ED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Gautami" panose="020B0502040204020203" pitchFamily="34" charset="0"/>
              <a:sym typeface="微软雅黑" panose="020B0503020204020204" pitchFamily="34" charset="-122"/>
            </a:endParaRPr>
          </a:p>
        </p:txBody>
      </p:sp>
      <p:grpSp>
        <p:nvGrpSpPr>
          <p:cNvPr id="117" name="组合 116"/>
          <p:cNvGrpSpPr/>
          <p:nvPr/>
        </p:nvGrpSpPr>
        <p:grpSpPr>
          <a:xfrm>
            <a:off x="603250" y="2007870"/>
            <a:ext cx="2974340" cy="2936240"/>
            <a:chOff x="1822" y="2602"/>
            <a:chExt cx="4684" cy="4624"/>
          </a:xfrm>
        </p:grpSpPr>
        <p:grpSp>
          <p:nvGrpSpPr>
            <p:cNvPr id="28" name="组合 27"/>
            <p:cNvGrpSpPr/>
            <p:nvPr/>
          </p:nvGrpSpPr>
          <p:grpSpPr>
            <a:xfrm>
              <a:off x="1830" y="2602"/>
              <a:ext cx="4666" cy="1085"/>
              <a:chOff x="1984" y="2602"/>
              <a:chExt cx="4666" cy="1085"/>
            </a:xfrm>
          </p:grpSpPr>
          <p:grpSp>
            <p:nvGrpSpPr>
              <p:cNvPr id="9" name="组合 8"/>
              <p:cNvGrpSpPr/>
              <p:nvPr/>
            </p:nvGrpSpPr>
            <p:grpSpPr>
              <a:xfrm>
                <a:off x="1984" y="2625"/>
                <a:ext cx="1154" cy="1063"/>
                <a:chOff x="2404" y="2625"/>
                <a:chExt cx="1154" cy="1063"/>
              </a:xfrm>
            </p:grpSpPr>
            <p:sp>
              <p:nvSpPr>
                <p:cNvPr id="5" name="平行四边形 4"/>
                <p:cNvSpPr/>
                <p:nvPr/>
              </p:nvSpPr>
              <p:spPr>
                <a:xfrm>
                  <a:off x="2607" y="2965"/>
                  <a:ext cx="868" cy="665"/>
                </a:xfrm>
                <a:prstGeom prst="parallelogram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3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zh-CN" sz="1200"/>
                </a:p>
              </p:txBody>
            </p:sp>
            <p:sp>
              <p:nvSpPr>
                <p:cNvPr id="4" name="平行四边形 3"/>
                <p:cNvSpPr/>
                <p:nvPr/>
              </p:nvSpPr>
              <p:spPr>
                <a:xfrm>
                  <a:off x="2551" y="2625"/>
                  <a:ext cx="868" cy="665"/>
                </a:xfrm>
                <a:prstGeom prst="parallelogram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3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zh-CN" sz="1200">
                    <a:solidFill>
                      <a:schemeClr val="bg1">
                        <a:lumMod val="75000"/>
                      </a:schemeClr>
                    </a:solidFill>
                  </a:endParaRPr>
                </a:p>
              </p:txBody>
            </p:sp>
            <p:sp>
              <p:nvSpPr>
                <p:cNvPr id="6" name="文本框 5"/>
                <p:cNvSpPr txBox="1"/>
                <p:nvPr/>
              </p:nvSpPr>
              <p:spPr>
                <a:xfrm>
                  <a:off x="2432" y="3206"/>
                  <a:ext cx="1127" cy="4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400"/>
                    <a:t>Core</a:t>
                  </a:r>
                </a:p>
              </p:txBody>
            </p:sp>
            <p:sp>
              <p:nvSpPr>
                <p:cNvPr id="8" name="文本框 7"/>
                <p:cNvSpPr txBox="1"/>
                <p:nvPr/>
              </p:nvSpPr>
              <p:spPr>
                <a:xfrm>
                  <a:off x="2404" y="2723"/>
                  <a:ext cx="1127" cy="4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400"/>
                    <a:t>N3D</a:t>
                  </a:r>
                </a:p>
              </p:txBody>
            </p:sp>
          </p:grpSp>
          <p:grpSp>
            <p:nvGrpSpPr>
              <p:cNvPr id="10" name="组合 9"/>
              <p:cNvGrpSpPr/>
              <p:nvPr/>
            </p:nvGrpSpPr>
            <p:grpSpPr>
              <a:xfrm>
                <a:off x="3157" y="2605"/>
                <a:ext cx="1154" cy="1063"/>
                <a:chOff x="2404" y="2625"/>
                <a:chExt cx="1154" cy="1063"/>
              </a:xfrm>
            </p:grpSpPr>
            <p:sp>
              <p:nvSpPr>
                <p:cNvPr id="11" name="平行四边形 10"/>
                <p:cNvSpPr/>
                <p:nvPr/>
              </p:nvSpPr>
              <p:spPr>
                <a:xfrm>
                  <a:off x="2607" y="2965"/>
                  <a:ext cx="868" cy="665"/>
                </a:xfrm>
                <a:prstGeom prst="parallelogram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3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zh-CN" sz="1200"/>
                </a:p>
              </p:txBody>
            </p:sp>
            <p:sp>
              <p:nvSpPr>
                <p:cNvPr id="12" name="平行四边形 11"/>
                <p:cNvSpPr/>
                <p:nvPr/>
              </p:nvSpPr>
              <p:spPr>
                <a:xfrm>
                  <a:off x="2551" y="2625"/>
                  <a:ext cx="868" cy="665"/>
                </a:xfrm>
                <a:prstGeom prst="parallelogram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3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zh-CN" sz="1200">
                    <a:solidFill>
                      <a:schemeClr val="bg1">
                        <a:lumMod val="75000"/>
                      </a:schemeClr>
                    </a:solidFill>
                  </a:endParaRPr>
                </a:p>
              </p:txBody>
            </p:sp>
            <p:sp>
              <p:nvSpPr>
                <p:cNvPr id="13" name="文本框 12"/>
                <p:cNvSpPr txBox="1"/>
                <p:nvPr/>
              </p:nvSpPr>
              <p:spPr>
                <a:xfrm>
                  <a:off x="2432" y="3206"/>
                  <a:ext cx="1127" cy="4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400"/>
                    <a:t>Core</a:t>
                  </a:r>
                </a:p>
              </p:txBody>
            </p:sp>
            <p:sp>
              <p:nvSpPr>
                <p:cNvPr id="14" name="文本框 13"/>
                <p:cNvSpPr txBox="1"/>
                <p:nvPr/>
              </p:nvSpPr>
              <p:spPr>
                <a:xfrm>
                  <a:off x="2404" y="2723"/>
                  <a:ext cx="1127" cy="4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400"/>
                    <a:t>N3D</a:t>
                  </a:r>
                </a:p>
              </p:txBody>
            </p:sp>
          </p:grpSp>
          <p:grpSp>
            <p:nvGrpSpPr>
              <p:cNvPr id="15" name="组合 14"/>
              <p:cNvGrpSpPr/>
              <p:nvPr/>
            </p:nvGrpSpPr>
            <p:grpSpPr>
              <a:xfrm>
                <a:off x="4309" y="2605"/>
                <a:ext cx="1154" cy="1063"/>
                <a:chOff x="2404" y="2625"/>
                <a:chExt cx="1154" cy="1063"/>
              </a:xfrm>
            </p:grpSpPr>
            <p:sp>
              <p:nvSpPr>
                <p:cNvPr id="16" name="平行四边形 15"/>
                <p:cNvSpPr/>
                <p:nvPr/>
              </p:nvSpPr>
              <p:spPr>
                <a:xfrm>
                  <a:off x="2607" y="2965"/>
                  <a:ext cx="868" cy="665"/>
                </a:xfrm>
                <a:prstGeom prst="parallelogram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3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zh-CN" sz="1200"/>
                </a:p>
              </p:txBody>
            </p:sp>
            <p:sp>
              <p:nvSpPr>
                <p:cNvPr id="17" name="平行四边形 16"/>
                <p:cNvSpPr/>
                <p:nvPr/>
              </p:nvSpPr>
              <p:spPr>
                <a:xfrm>
                  <a:off x="2551" y="2625"/>
                  <a:ext cx="868" cy="665"/>
                </a:xfrm>
                <a:prstGeom prst="parallelogram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3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zh-CN" sz="1200">
                    <a:solidFill>
                      <a:schemeClr val="bg1">
                        <a:lumMod val="75000"/>
                      </a:schemeClr>
                    </a:solidFill>
                  </a:endParaRPr>
                </a:p>
              </p:txBody>
            </p:sp>
            <p:sp>
              <p:nvSpPr>
                <p:cNvPr id="18" name="文本框 17"/>
                <p:cNvSpPr txBox="1"/>
                <p:nvPr/>
              </p:nvSpPr>
              <p:spPr>
                <a:xfrm>
                  <a:off x="2432" y="3206"/>
                  <a:ext cx="1127" cy="4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400"/>
                    <a:t>Core</a:t>
                  </a:r>
                </a:p>
              </p:txBody>
            </p:sp>
            <p:sp>
              <p:nvSpPr>
                <p:cNvPr id="19" name="文本框 18"/>
                <p:cNvSpPr txBox="1"/>
                <p:nvPr/>
              </p:nvSpPr>
              <p:spPr>
                <a:xfrm>
                  <a:off x="2404" y="2723"/>
                  <a:ext cx="1127" cy="4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400"/>
                    <a:t>N3D</a:t>
                  </a:r>
                </a:p>
              </p:txBody>
            </p:sp>
          </p:grpSp>
          <p:grpSp>
            <p:nvGrpSpPr>
              <p:cNvPr id="20" name="组合 19"/>
              <p:cNvGrpSpPr/>
              <p:nvPr/>
            </p:nvGrpSpPr>
            <p:grpSpPr>
              <a:xfrm>
                <a:off x="5496" y="2602"/>
                <a:ext cx="1154" cy="1063"/>
                <a:chOff x="2404" y="2625"/>
                <a:chExt cx="1154" cy="1063"/>
              </a:xfrm>
            </p:grpSpPr>
            <p:sp>
              <p:nvSpPr>
                <p:cNvPr id="21" name="平行四边形 20"/>
                <p:cNvSpPr/>
                <p:nvPr/>
              </p:nvSpPr>
              <p:spPr>
                <a:xfrm>
                  <a:off x="2607" y="2965"/>
                  <a:ext cx="868" cy="665"/>
                </a:xfrm>
                <a:prstGeom prst="parallelogram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3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zh-CN" sz="1200"/>
                </a:p>
              </p:txBody>
            </p:sp>
            <p:sp>
              <p:nvSpPr>
                <p:cNvPr id="22" name="平行四边形 21"/>
                <p:cNvSpPr/>
                <p:nvPr/>
              </p:nvSpPr>
              <p:spPr>
                <a:xfrm>
                  <a:off x="2551" y="2625"/>
                  <a:ext cx="868" cy="665"/>
                </a:xfrm>
                <a:prstGeom prst="parallelogram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3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zh-CN" sz="1200">
                    <a:solidFill>
                      <a:schemeClr val="bg1">
                        <a:lumMod val="75000"/>
                      </a:schemeClr>
                    </a:solidFill>
                  </a:endParaRPr>
                </a:p>
              </p:txBody>
            </p:sp>
            <p:sp>
              <p:nvSpPr>
                <p:cNvPr id="23" name="文本框 22"/>
                <p:cNvSpPr txBox="1"/>
                <p:nvPr/>
              </p:nvSpPr>
              <p:spPr>
                <a:xfrm>
                  <a:off x="2432" y="3206"/>
                  <a:ext cx="1127" cy="4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400"/>
                    <a:t>Core</a:t>
                  </a:r>
                </a:p>
              </p:txBody>
            </p:sp>
            <p:sp>
              <p:nvSpPr>
                <p:cNvPr id="24" name="文本框 23"/>
                <p:cNvSpPr txBox="1"/>
                <p:nvPr/>
              </p:nvSpPr>
              <p:spPr>
                <a:xfrm>
                  <a:off x="2404" y="2723"/>
                  <a:ext cx="1127" cy="4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400"/>
                    <a:t>N3D</a:t>
                  </a:r>
                </a:p>
              </p:txBody>
            </p:sp>
          </p:grpSp>
          <p:sp>
            <p:nvSpPr>
              <p:cNvPr id="25" name="左右箭头 24"/>
              <p:cNvSpPr/>
              <p:nvPr/>
            </p:nvSpPr>
            <p:spPr>
              <a:xfrm>
                <a:off x="2927" y="3337"/>
                <a:ext cx="477" cy="216"/>
              </a:xfrm>
              <a:prstGeom prst="leftRightArrow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" name="左右箭头 25"/>
              <p:cNvSpPr/>
              <p:nvPr/>
            </p:nvSpPr>
            <p:spPr>
              <a:xfrm>
                <a:off x="4093" y="3349"/>
                <a:ext cx="477" cy="216"/>
              </a:xfrm>
              <a:prstGeom prst="leftRightArrow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" name="左右箭头 26"/>
              <p:cNvSpPr/>
              <p:nvPr/>
            </p:nvSpPr>
            <p:spPr>
              <a:xfrm>
                <a:off x="5259" y="3349"/>
                <a:ext cx="477" cy="216"/>
              </a:xfrm>
              <a:prstGeom prst="leftRightArrow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8" name="组合 57"/>
            <p:cNvGrpSpPr/>
            <p:nvPr/>
          </p:nvGrpSpPr>
          <p:grpSpPr>
            <a:xfrm>
              <a:off x="1840" y="3602"/>
              <a:ext cx="4666" cy="1270"/>
              <a:chOff x="1840" y="3602"/>
              <a:chExt cx="4666" cy="1270"/>
            </a:xfrm>
          </p:grpSpPr>
          <p:sp>
            <p:nvSpPr>
              <p:cNvPr id="55" name="左右箭头 54"/>
              <p:cNvSpPr/>
              <p:nvPr/>
            </p:nvSpPr>
            <p:spPr>
              <a:xfrm rot="5400000">
                <a:off x="3425" y="3737"/>
                <a:ext cx="477" cy="216"/>
              </a:xfrm>
              <a:prstGeom prst="leftRightArrow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左右箭头 55"/>
              <p:cNvSpPr/>
              <p:nvPr/>
            </p:nvSpPr>
            <p:spPr>
              <a:xfrm rot="5400000">
                <a:off x="4633" y="3737"/>
                <a:ext cx="477" cy="216"/>
              </a:xfrm>
              <a:prstGeom prst="leftRightArrow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" name="左右箭头 56"/>
              <p:cNvSpPr/>
              <p:nvPr/>
            </p:nvSpPr>
            <p:spPr>
              <a:xfrm rot="5400000">
                <a:off x="5750" y="3732"/>
                <a:ext cx="477" cy="216"/>
              </a:xfrm>
              <a:prstGeom prst="leftRightArrow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左右箭头 53"/>
              <p:cNvSpPr/>
              <p:nvPr/>
            </p:nvSpPr>
            <p:spPr>
              <a:xfrm rot="5400000">
                <a:off x="2294" y="3755"/>
                <a:ext cx="477" cy="216"/>
              </a:xfrm>
              <a:prstGeom prst="leftRightArrow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29" name="组合 28"/>
              <p:cNvGrpSpPr/>
              <p:nvPr/>
            </p:nvGrpSpPr>
            <p:grpSpPr>
              <a:xfrm>
                <a:off x="1840" y="3787"/>
                <a:ext cx="4666" cy="1085"/>
                <a:chOff x="1984" y="2602"/>
                <a:chExt cx="4666" cy="1085"/>
              </a:xfrm>
            </p:grpSpPr>
            <p:grpSp>
              <p:nvGrpSpPr>
                <p:cNvPr id="30" name="组合 29"/>
                <p:cNvGrpSpPr/>
                <p:nvPr/>
              </p:nvGrpSpPr>
              <p:grpSpPr>
                <a:xfrm>
                  <a:off x="1984" y="2625"/>
                  <a:ext cx="1154" cy="1063"/>
                  <a:chOff x="2404" y="2625"/>
                  <a:chExt cx="1154" cy="1063"/>
                </a:xfrm>
              </p:grpSpPr>
              <p:sp>
                <p:nvSpPr>
                  <p:cNvPr id="31" name="平行四边形 30"/>
                  <p:cNvSpPr/>
                  <p:nvPr/>
                </p:nvSpPr>
                <p:spPr>
                  <a:xfrm>
                    <a:off x="2607" y="2965"/>
                    <a:ext cx="868" cy="665"/>
                  </a:xfrm>
                  <a:prstGeom prst="parallelogram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3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altLang="zh-CN" sz="1200"/>
                  </a:p>
                </p:txBody>
              </p:sp>
              <p:sp>
                <p:nvSpPr>
                  <p:cNvPr id="32" name="平行四边形 31"/>
                  <p:cNvSpPr/>
                  <p:nvPr/>
                </p:nvSpPr>
                <p:spPr>
                  <a:xfrm>
                    <a:off x="2551" y="2625"/>
                    <a:ext cx="868" cy="665"/>
                  </a:xfrm>
                  <a:prstGeom prst="parallelogram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3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altLang="zh-CN" sz="1200">
                      <a:solidFill>
                        <a:schemeClr val="bg1">
                          <a:lumMod val="75000"/>
                        </a:schemeClr>
                      </a:solidFill>
                    </a:endParaRPr>
                  </a:p>
                </p:txBody>
              </p:sp>
              <p:sp>
                <p:nvSpPr>
                  <p:cNvPr id="33" name="文本框 32"/>
                  <p:cNvSpPr txBox="1"/>
                  <p:nvPr/>
                </p:nvSpPr>
                <p:spPr>
                  <a:xfrm>
                    <a:off x="2432" y="3206"/>
                    <a:ext cx="1127" cy="48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1400"/>
                      <a:t>Core</a:t>
                    </a:r>
                  </a:p>
                </p:txBody>
              </p:sp>
              <p:sp>
                <p:nvSpPr>
                  <p:cNvPr id="34" name="文本框 33"/>
                  <p:cNvSpPr txBox="1"/>
                  <p:nvPr/>
                </p:nvSpPr>
                <p:spPr>
                  <a:xfrm>
                    <a:off x="2404" y="2723"/>
                    <a:ext cx="1127" cy="48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1400"/>
                      <a:t>N3D</a:t>
                    </a:r>
                  </a:p>
                </p:txBody>
              </p:sp>
            </p:grpSp>
            <p:grpSp>
              <p:nvGrpSpPr>
                <p:cNvPr id="35" name="组合 34"/>
                <p:cNvGrpSpPr/>
                <p:nvPr/>
              </p:nvGrpSpPr>
              <p:grpSpPr>
                <a:xfrm>
                  <a:off x="3157" y="2605"/>
                  <a:ext cx="1154" cy="1063"/>
                  <a:chOff x="2404" y="2625"/>
                  <a:chExt cx="1154" cy="1063"/>
                </a:xfrm>
              </p:grpSpPr>
              <p:sp>
                <p:nvSpPr>
                  <p:cNvPr id="37" name="平行四边形 36"/>
                  <p:cNvSpPr/>
                  <p:nvPr/>
                </p:nvSpPr>
                <p:spPr>
                  <a:xfrm>
                    <a:off x="2607" y="2965"/>
                    <a:ext cx="868" cy="665"/>
                  </a:xfrm>
                  <a:prstGeom prst="parallelogram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3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altLang="zh-CN" sz="1200"/>
                  </a:p>
                </p:txBody>
              </p:sp>
              <p:sp>
                <p:nvSpPr>
                  <p:cNvPr id="38" name="平行四边形 37"/>
                  <p:cNvSpPr/>
                  <p:nvPr/>
                </p:nvSpPr>
                <p:spPr>
                  <a:xfrm>
                    <a:off x="2551" y="2625"/>
                    <a:ext cx="868" cy="665"/>
                  </a:xfrm>
                  <a:prstGeom prst="parallelogram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3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altLang="zh-CN" sz="1200">
                      <a:solidFill>
                        <a:schemeClr val="bg1">
                          <a:lumMod val="75000"/>
                        </a:schemeClr>
                      </a:solidFill>
                    </a:endParaRPr>
                  </a:p>
                </p:txBody>
              </p:sp>
              <p:sp>
                <p:nvSpPr>
                  <p:cNvPr id="39" name="文本框 38"/>
                  <p:cNvSpPr txBox="1"/>
                  <p:nvPr/>
                </p:nvSpPr>
                <p:spPr>
                  <a:xfrm>
                    <a:off x="2432" y="3206"/>
                    <a:ext cx="1127" cy="48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1400"/>
                      <a:t>Core</a:t>
                    </a:r>
                  </a:p>
                </p:txBody>
              </p:sp>
              <p:sp>
                <p:nvSpPr>
                  <p:cNvPr id="40" name="文本框 39"/>
                  <p:cNvSpPr txBox="1"/>
                  <p:nvPr/>
                </p:nvSpPr>
                <p:spPr>
                  <a:xfrm>
                    <a:off x="2404" y="2723"/>
                    <a:ext cx="1127" cy="48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1400"/>
                      <a:t>N3D</a:t>
                    </a:r>
                  </a:p>
                </p:txBody>
              </p:sp>
            </p:grpSp>
            <p:grpSp>
              <p:nvGrpSpPr>
                <p:cNvPr id="41" name="组合 40"/>
                <p:cNvGrpSpPr/>
                <p:nvPr/>
              </p:nvGrpSpPr>
              <p:grpSpPr>
                <a:xfrm>
                  <a:off x="4309" y="2605"/>
                  <a:ext cx="1154" cy="1063"/>
                  <a:chOff x="2404" y="2625"/>
                  <a:chExt cx="1154" cy="1063"/>
                </a:xfrm>
              </p:grpSpPr>
              <p:sp>
                <p:nvSpPr>
                  <p:cNvPr id="42" name="平行四边形 41"/>
                  <p:cNvSpPr/>
                  <p:nvPr/>
                </p:nvSpPr>
                <p:spPr>
                  <a:xfrm>
                    <a:off x="2607" y="2965"/>
                    <a:ext cx="868" cy="665"/>
                  </a:xfrm>
                  <a:prstGeom prst="parallelogram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3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altLang="zh-CN" sz="1200"/>
                  </a:p>
                </p:txBody>
              </p:sp>
              <p:sp>
                <p:nvSpPr>
                  <p:cNvPr id="43" name="平行四边形 42"/>
                  <p:cNvSpPr/>
                  <p:nvPr/>
                </p:nvSpPr>
                <p:spPr>
                  <a:xfrm>
                    <a:off x="2551" y="2625"/>
                    <a:ext cx="868" cy="665"/>
                  </a:xfrm>
                  <a:prstGeom prst="parallelogram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3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altLang="zh-CN" sz="1200">
                      <a:solidFill>
                        <a:schemeClr val="bg1">
                          <a:lumMod val="75000"/>
                        </a:schemeClr>
                      </a:solidFill>
                    </a:endParaRPr>
                  </a:p>
                </p:txBody>
              </p:sp>
              <p:sp>
                <p:nvSpPr>
                  <p:cNvPr id="44" name="文本框 43"/>
                  <p:cNvSpPr txBox="1"/>
                  <p:nvPr/>
                </p:nvSpPr>
                <p:spPr>
                  <a:xfrm>
                    <a:off x="2432" y="3206"/>
                    <a:ext cx="1127" cy="48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1400"/>
                      <a:t>Core</a:t>
                    </a:r>
                  </a:p>
                </p:txBody>
              </p:sp>
              <p:sp>
                <p:nvSpPr>
                  <p:cNvPr id="45" name="文本框 44"/>
                  <p:cNvSpPr txBox="1"/>
                  <p:nvPr/>
                </p:nvSpPr>
                <p:spPr>
                  <a:xfrm>
                    <a:off x="2404" y="2723"/>
                    <a:ext cx="1127" cy="48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1400"/>
                      <a:t>N3D</a:t>
                    </a:r>
                  </a:p>
                </p:txBody>
              </p:sp>
            </p:grpSp>
            <p:grpSp>
              <p:nvGrpSpPr>
                <p:cNvPr id="46" name="组合 45"/>
                <p:cNvGrpSpPr/>
                <p:nvPr/>
              </p:nvGrpSpPr>
              <p:grpSpPr>
                <a:xfrm>
                  <a:off x="5496" y="2602"/>
                  <a:ext cx="1154" cy="1063"/>
                  <a:chOff x="2404" y="2625"/>
                  <a:chExt cx="1154" cy="1063"/>
                </a:xfrm>
              </p:grpSpPr>
              <p:sp>
                <p:nvSpPr>
                  <p:cNvPr id="47" name="平行四边形 46"/>
                  <p:cNvSpPr/>
                  <p:nvPr/>
                </p:nvSpPr>
                <p:spPr>
                  <a:xfrm>
                    <a:off x="2607" y="2965"/>
                    <a:ext cx="868" cy="665"/>
                  </a:xfrm>
                  <a:prstGeom prst="parallelogram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3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altLang="zh-CN" sz="1200"/>
                  </a:p>
                </p:txBody>
              </p:sp>
              <p:sp>
                <p:nvSpPr>
                  <p:cNvPr id="48" name="平行四边形 47"/>
                  <p:cNvSpPr/>
                  <p:nvPr/>
                </p:nvSpPr>
                <p:spPr>
                  <a:xfrm>
                    <a:off x="2551" y="2625"/>
                    <a:ext cx="868" cy="665"/>
                  </a:xfrm>
                  <a:prstGeom prst="parallelogram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3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altLang="zh-CN" sz="1200">
                      <a:solidFill>
                        <a:schemeClr val="bg1">
                          <a:lumMod val="75000"/>
                        </a:schemeClr>
                      </a:solidFill>
                    </a:endParaRPr>
                  </a:p>
                </p:txBody>
              </p:sp>
              <p:sp>
                <p:nvSpPr>
                  <p:cNvPr id="49" name="文本框 48"/>
                  <p:cNvSpPr txBox="1"/>
                  <p:nvPr/>
                </p:nvSpPr>
                <p:spPr>
                  <a:xfrm>
                    <a:off x="2432" y="3206"/>
                    <a:ext cx="1127" cy="48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1400"/>
                      <a:t>Core</a:t>
                    </a:r>
                  </a:p>
                </p:txBody>
              </p:sp>
              <p:sp>
                <p:nvSpPr>
                  <p:cNvPr id="50" name="文本框 49"/>
                  <p:cNvSpPr txBox="1"/>
                  <p:nvPr/>
                </p:nvSpPr>
                <p:spPr>
                  <a:xfrm>
                    <a:off x="2404" y="2723"/>
                    <a:ext cx="1127" cy="48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1400"/>
                      <a:t>N3D</a:t>
                    </a:r>
                  </a:p>
                </p:txBody>
              </p:sp>
            </p:grpSp>
            <p:sp>
              <p:nvSpPr>
                <p:cNvPr id="51" name="左右箭头 50"/>
                <p:cNvSpPr/>
                <p:nvPr/>
              </p:nvSpPr>
              <p:spPr>
                <a:xfrm>
                  <a:off x="2927" y="3337"/>
                  <a:ext cx="477" cy="216"/>
                </a:xfrm>
                <a:prstGeom prst="leftRightArrow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2" name="左右箭头 51"/>
                <p:cNvSpPr/>
                <p:nvPr/>
              </p:nvSpPr>
              <p:spPr>
                <a:xfrm>
                  <a:off x="4093" y="3349"/>
                  <a:ext cx="477" cy="216"/>
                </a:xfrm>
                <a:prstGeom prst="leftRightArrow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3" name="左右箭头 52"/>
                <p:cNvSpPr/>
                <p:nvPr/>
              </p:nvSpPr>
              <p:spPr>
                <a:xfrm>
                  <a:off x="5259" y="3349"/>
                  <a:ext cx="477" cy="216"/>
                </a:xfrm>
                <a:prstGeom prst="leftRightArrow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grpSp>
          <p:nvGrpSpPr>
            <p:cNvPr id="59" name="组合 58"/>
            <p:cNvGrpSpPr/>
            <p:nvPr/>
          </p:nvGrpSpPr>
          <p:grpSpPr>
            <a:xfrm>
              <a:off x="1836" y="4787"/>
              <a:ext cx="4666" cy="1270"/>
              <a:chOff x="1840" y="3602"/>
              <a:chExt cx="4666" cy="1270"/>
            </a:xfrm>
          </p:grpSpPr>
          <p:sp>
            <p:nvSpPr>
              <p:cNvPr id="60" name="左右箭头 59"/>
              <p:cNvSpPr/>
              <p:nvPr/>
            </p:nvSpPr>
            <p:spPr>
              <a:xfrm rot="5400000">
                <a:off x="3425" y="3737"/>
                <a:ext cx="477" cy="216"/>
              </a:xfrm>
              <a:prstGeom prst="leftRightArrow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左右箭头 60"/>
              <p:cNvSpPr/>
              <p:nvPr/>
            </p:nvSpPr>
            <p:spPr>
              <a:xfrm rot="5400000">
                <a:off x="4633" y="3737"/>
                <a:ext cx="477" cy="216"/>
              </a:xfrm>
              <a:prstGeom prst="leftRightArrow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2" name="左右箭头 61"/>
              <p:cNvSpPr/>
              <p:nvPr/>
            </p:nvSpPr>
            <p:spPr>
              <a:xfrm rot="5400000">
                <a:off x="5750" y="3732"/>
                <a:ext cx="477" cy="216"/>
              </a:xfrm>
              <a:prstGeom prst="leftRightArrow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" name="左右箭头 62"/>
              <p:cNvSpPr/>
              <p:nvPr/>
            </p:nvSpPr>
            <p:spPr>
              <a:xfrm rot="5400000">
                <a:off x="2294" y="3755"/>
                <a:ext cx="477" cy="216"/>
              </a:xfrm>
              <a:prstGeom prst="leftRightArrow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64" name="组合 63"/>
              <p:cNvGrpSpPr/>
              <p:nvPr/>
            </p:nvGrpSpPr>
            <p:grpSpPr>
              <a:xfrm>
                <a:off x="1840" y="3787"/>
                <a:ext cx="4666" cy="1085"/>
                <a:chOff x="1984" y="2602"/>
                <a:chExt cx="4666" cy="1085"/>
              </a:xfrm>
            </p:grpSpPr>
            <p:grpSp>
              <p:nvGrpSpPr>
                <p:cNvPr id="65" name="组合 64"/>
                <p:cNvGrpSpPr/>
                <p:nvPr/>
              </p:nvGrpSpPr>
              <p:grpSpPr>
                <a:xfrm>
                  <a:off x="1984" y="2625"/>
                  <a:ext cx="1154" cy="1063"/>
                  <a:chOff x="2404" y="2625"/>
                  <a:chExt cx="1154" cy="1063"/>
                </a:xfrm>
              </p:grpSpPr>
              <p:sp>
                <p:nvSpPr>
                  <p:cNvPr id="66" name="平行四边形 65"/>
                  <p:cNvSpPr/>
                  <p:nvPr/>
                </p:nvSpPr>
                <p:spPr>
                  <a:xfrm>
                    <a:off x="2607" y="2965"/>
                    <a:ext cx="868" cy="665"/>
                  </a:xfrm>
                  <a:prstGeom prst="parallelogram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3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altLang="zh-CN" sz="1200"/>
                  </a:p>
                </p:txBody>
              </p:sp>
              <p:sp>
                <p:nvSpPr>
                  <p:cNvPr id="67" name="平行四边形 66"/>
                  <p:cNvSpPr/>
                  <p:nvPr/>
                </p:nvSpPr>
                <p:spPr>
                  <a:xfrm>
                    <a:off x="2551" y="2625"/>
                    <a:ext cx="868" cy="665"/>
                  </a:xfrm>
                  <a:prstGeom prst="parallelogram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3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altLang="zh-CN" sz="1200">
                      <a:solidFill>
                        <a:schemeClr val="bg1">
                          <a:lumMod val="75000"/>
                        </a:schemeClr>
                      </a:solidFill>
                    </a:endParaRPr>
                  </a:p>
                </p:txBody>
              </p:sp>
              <p:sp>
                <p:nvSpPr>
                  <p:cNvPr id="68" name="文本框 67"/>
                  <p:cNvSpPr txBox="1"/>
                  <p:nvPr/>
                </p:nvSpPr>
                <p:spPr>
                  <a:xfrm>
                    <a:off x="2432" y="3206"/>
                    <a:ext cx="1127" cy="48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1400"/>
                      <a:t>Core</a:t>
                    </a:r>
                  </a:p>
                </p:txBody>
              </p:sp>
              <p:sp>
                <p:nvSpPr>
                  <p:cNvPr id="69" name="文本框 68"/>
                  <p:cNvSpPr txBox="1"/>
                  <p:nvPr/>
                </p:nvSpPr>
                <p:spPr>
                  <a:xfrm>
                    <a:off x="2404" y="2723"/>
                    <a:ext cx="1127" cy="48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1400"/>
                      <a:t>N3D</a:t>
                    </a:r>
                  </a:p>
                </p:txBody>
              </p:sp>
            </p:grpSp>
            <p:grpSp>
              <p:nvGrpSpPr>
                <p:cNvPr id="70" name="组合 69"/>
                <p:cNvGrpSpPr/>
                <p:nvPr/>
              </p:nvGrpSpPr>
              <p:grpSpPr>
                <a:xfrm>
                  <a:off x="3157" y="2605"/>
                  <a:ext cx="1154" cy="1063"/>
                  <a:chOff x="2404" y="2625"/>
                  <a:chExt cx="1154" cy="1063"/>
                </a:xfrm>
              </p:grpSpPr>
              <p:sp>
                <p:nvSpPr>
                  <p:cNvPr id="71" name="平行四边形 70"/>
                  <p:cNvSpPr/>
                  <p:nvPr/>
                </p:nvSpPr>
                <p:spPr>
                  <a:xfrm>
                    <a:off x="2607" y="2965"/>
                    <a:ext cx="868" cy="665"/>
                  </a:xfrm>
                  <a:prstGeom prst="parallelogram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3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altLang="zh-CN" sz="1200"/>
                  </a:p>
                </p:txBody>
              </p:sp>
              <p:sp>
                <p:nvSpPr>
                  <p:cNvPr id="72" name="平行四边形 71"/>
                  <p:cNvSpPr/>
                  <p:nvPr/>
                </p:nvSpPr>
                <p:spPr>
                  <a:xfrm>
                    <a:off x="2551" y="2625"/>
                    <a:ext cx="868" cy="665"/>
                  </a:xfrm>
                  <a:prstGeom prst="parallelogram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3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altLang="zh-CN" sz="1200">
                      <a:solidFill>
                        <a:schemeClr val="bg1">
                          <a:lumMod val="75000"/>
                        </a:schemeClr>
                      </a:solidFill>
                    </a:endParaRPr>
                  </a:p>
                </p:txBody>
              </p:sp>
              <p:sp>
                <p:nvSpPr>
                  <p:cNvPr id="73" name="文本框 72"/>
                  <p:cNvSpPr txBox="1"/>
                  <p:nvPr/>
                </p:nvSpPr>
                <p:spPr>
                  <a:xfrm>
                    <a:off x="2432" y="3206"/>
                    <a:ext cx="1127" cy="48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1400"/>
                      <a:t>Core</a:t>
                    </a:r>
                  </a:p>
                </p:txBody>
              </p:sp>
              <p:sp>
                <p:nvSpPr>
                  <p:cNvPr id="74" name="文本框 73"/>
                  <p:cNvSpPr txBox="1"/>
                  <p:nvPr/>
                </p:nvSpPr>
                <p:spPr>
                  <a:xfrm>
                    <a:off x="2404" y="2723"/>
                    <a:ext cx="1127" cy="48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1400"/>
                      <a:t>N3D</a:t>
                    </a:r>
                  </a:p>
                </p:txBody>
              </p:sp>
            </p:grpSp>
            <p:grpSp>
              <p:nvGrpSpPr>
                <p:cNvPr id="75" name="组合 74"/>
                <p:cNvGrpSpPr/>
                <p:nvPr/>
              </p:nvGrpSpPr>
              <p:grpSpPr>
                <a:xfrm>
                  <a:off x="4309" y="2605"/>
                  <a:ext cx="1154" cy="1063"/>
                  <a:chOff x="2404" y="2625"/>
                  <a:chExt cx="1154" cy="1063"/>
                </a:xfrm>
              </p:grpSpPr>
              <p:sp>
                <p:nvSpPr>
                  <p:cNvPr id="76" name="平行四边形 75"/>
                  <p:cNvSpPr/>
                  <p:nvPr/>
                </p:nvSpPr>
                <p:spPr>
                  <a:xfrm>
                    <a:off x="2607" y="2965"/>
                    <a:ext cx="868" cy="665"/>
                  </a:xfrm>
                  <a:prstGeom prst="parallelogram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3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altLang="zh-CN" sz="1200"/>
                  </a:p>
                </p:txBody>
              </p:sp>
              <p:sp>
                <p:nvSpPr>
                  <p:cNvPr id="77" name="平行四边形 76"/>
                  <p:cNvSpPr/>
                  <p:nvPr/>
                </p:nvSpPr>
                <p:spPr>
                  <a:xfrm>
                    <a:off x="2551" y="2625"/>
                    <a:ext cx="868" cy="665"/>
                  </a:xfrm>
                  <a:prstGeom prst="parallelogram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3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altLang="zh-CN" sz="1200">
                      <a:solidFill>
                        <a:schemeClr val="bg1">
                          <a:lumMod val="75000"/>
                        </a:schemeClr>
                      </a:solidFill>
                    </a:endParaRPr>
                  </a:p>
                </p:txBody>
              </p:sp>
              <p:sp>
                <p:nvSpPr>
                  <p:cNvPr id="78" name="文本框 77"/>
                  <p:cNvSpPr txBox="1"/>
                  <p:nvPr/>
                </p:nvSpPr>
                <p:spPr>
                  <a:xfrm>
                    <a:off x="2432" y="3206"/>
                    <a:ext cx="1127" cy="48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1400"/>
                      <a:t>Core</a:t>
                    </a:r>
                  </a:p>
                </p:txBody>
              </p:sp>
              <p:sp>
                <p:nvSpPr>
                  <p:cNvPr id="79" name="文本框 78"/>
                  <p:cNvSpPr txBox="1"/>
                  <p:nvPr/>
                </p:nvSpPr>
                <p:spPr>
                  <a:xfrm>
                    <a:off x="2404" y="2723"/>
                    <a:ext cx="1127" cy="48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1400"/>
                      <a:t>N3D</a:t>
                    </a:r>
                  </a:p>
                </p:txBody>
              </p:sp>
            </p:grpSp>
            <p:grpSp>
              <p:nvGrpSpPr>
                <p:cNvPr id="80" name="组合 79"/>
                <p:cNvGrpSpPr/>
                <p:nvPr/>
              </p:nvGrpSpPr>
              <p:grpSpPr>
                <a:xfrm>
                  <a:off x="5496" y="2602"/>
                  <a:ext cx="1154" cy="1063"/>
                  <a:chOff x="2404" y="2625"/>
                  <a:chExt cx="1154" cy="1063"/>
                </a:xfrm>
              </p:grpSpPr>
              <p:sp>
                <p:nvSpPr>
                  <p:cNvPr id="81" name="平行四边形 80"/>
                  <p:cNvSpPr/>
                  <p:nvPr/>
                </p:nvSpPr>
                <p:spPr>
                  <a:xfrm>
                    <a:off x="2607" y="2965"/>
                    <a:ext cx="868" cy="665"/>
                  </a:xfrm>
                  <a:prstGeom prst="parallelogram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3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altLang="zh-CN" sz="1200"/>
                  </a:p>
                </p:txBody>
              </p:sp>
              <p:sp>
                <p:nvSpPr>
                  <p:cNvPr id="82" name="平行四边形 81"/>
                  <p:cNvSpPr/>
                  <p:nvPr/>
                </p:nvSpPr>
                <p:spPr>
                  <a:xfrm>
                    <a:off x="2551" y="2625"/>
                    <a:ext cx="868" cy="665"/>
                  </a:xfrm>
                  <a:prstGeom prst="parallelogram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3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altLang="zh-CN" sz="1200">
                      <a:solidFill>
                        <a:schemeClr val="bg1">
                          <a:lumMod val="75000"/>
                        </a:schemeClr>
                      </a:solidFill>
                    </a:endParaRPr>
                  </a:p>
                </p:txBody>
              </p:sp>
              <p:sp>
                <p:nvSpPr>
                  <p:cNvPr id="83" name="文本框 82"/>
                  <p:cNvSpPr txBox="1"/>
                  <p:nvPr/>
                </p:nvSpPr>
                <p:spPr>
                  <a:xfrm>
                    <a:off x="2432" y="3206"/>
                    <a:ext cx="1127" cy="48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1400"/>
                      <a:t>Core</a:t>
                    </a:r>
                  </a:p>
                </p:txBody>
              </p:sp>
              <p:sp>
                <p:nvSpPr>
                  <p:cNvPr id="84" name="文本框 83"/>
                  <p:cNvSpPr txBox="1"/>
                  <p:nvPr/>
                </p:nvSpPr>
                <p:spPr>
                  <a:xfrm>
                    <a:off x="2404" y="2723"/>
                    <a:ext cx="1127" cy="48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1400"/>
                      <a:t>N3D</a:t>
                    </a:r>
                  </a:p>
                </p:txBody>
              </p:sp>
            </p:grpSp>
            <p:sp>
              <p:nvSpPr>
                <p:cNvPr id="85" name="左右箭头 84"/>
                <p:cNvSpPr/>
                <p:nvPr/>
              </p:nvSpPr>
              <p:spPr>
                <a:xfrm>
                  <a:off x="2927" y="3337"/>
                  <a:ext cx="477" cy="216"/>
                </a:xfrm>
                <a:prstGeom prst="leftRightArrow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6" name="左右箭头 85"/>
                <p:cNvSpPr/>
                <p:nvPr/>
              </p:nvSpPr>
              <p:spPr>
                <a:xfrm>
                  <a:off x="4093" y="3349"/>
                  <a:ext cx="477" cy="216"/>
                </a:xfrm>
                <a:prstGeom prst="leftRightArrow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7" name="左右箭头 86"/>
                <p:cNvSpPr/>
                <p:nvPr/>
              </p:nvSpPr>
              <p:spPr>
                <a:xfrm>
                  <a:off x="5259" y="3349"/>
                  <a:ext cx="477" cy="216"/>
                </a:xfrm>
                <a:prstGeom prst="leftRightArrow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grpSp>
          <p:nvGrpSpPr>
            <p:cNvPr id="88" name="组合 87"/>
            <p:cNvGrpSpPr/>
            <p:nvPr/>
          </p:nvGrpSpPr>
          <p:grpSpPr>
            <a:xfrm>
              <a:off x="1822" y="5956"/>
              <a:ext cx="4666" cy="1270"/>
              <a:chOff x="1840" y="3602"/>
              <a:chExt cx="4666" cy="1270"/>
            </a:xfrm>
          </p:grpSpPr>
          <p:sp>
            <p:nvSpPr>
              <p:cNvPr id="89" name="左右箭头 88"/>
              <p:cNvSpPr/>
              <p:nvPr/>
            </p:nvSpPr>
            <p:spPr>
              <a:xfrm rot="5400000">
                <a:off x="3425" y="3737"/>
                <a:ext cx="477" cy="216"/>
              </a:xfrm>
              <a:prstGeom prst="leftRightArrow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0" name="左右箭头 89"/>
              <p:cNvSpPr/>
              <p:nvPr/>
            </p:nvSpPr>
            <p:spPr>
              <a:xfrm rot="5400000">
                <a:off x="4633" y="3737"/>
                <a:ext cx="477" cy="216"/>
              </a:xfrm>
              <a:prstGeom prst="leftRightArrow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" name="左右箭头 90"/>
              <p:cNvSpPr/>
              <p:nvPr/>
            </p:nvSpPr>
            <p:spPr>
              <a:xfrm rot="5400000">
                <a:off x="5750" y="3732"/>
                <a:ext cx="477" cy="216"/>
              </a:xfrm>
              <a:prstGeom prst="leftRightArrow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2" name="左右箭头 91"/>
              <p:cNvSpPr/>
              <p:nvPr/>
            </p:nvSpPr>
            <p:spPr>
              <a:xfrm rot="5400000">
                <a:off x="2294" y="3755"/>
                <a:ext cx="477" cy="216"/>
              </a:xfrm>
              <a:prstGeom prst="leftRightArrow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93" name="组合 92"/>
              <p:cNvGrpSpPr/>
              <p:nvPr/>
            </p:nvGrpSpPr>
            <p:grpSpPr>
              <a:xfrm>
                <a:off x="1840" y="3787"/>
                <a:ext cx="4666" cy="1085"/>
                <a:chOff x="1984" y="2602"/>
                <a:chExt cx="4666" cy="1085"/>
              </a:xfrm>
            </p:grpSpPr>
            <p:grpSp>
              <p:nvGrpSpPr>
                <p:cNvPr id="94" name="组合 93"/>
                <p:cNvGrpSpPr/>
                <p:nvPr/>
              </p:nvGrpSpPr>
              <p:grpSpPr>
                <a:xfrm>
                  <a:off x="1984" y="2625"/>
                  <a:ext cx="1154" cy="1063"/>
                  <a:chOff x="2404" y="2625"/>
                  <a:chExt cx="1154" cy="1063"/>
                </a:xfrm>
              </p:grpSpPr>
              <p:sp>
                <p:nvSpPr>
                  <p:cNvPr id="95" name="平行四边形 94"/>
                  <p:cNvSpPr/>
                  <p:nvPr/>
                </p:nvSpPr>
                <p:spPr>
                  <a:xfrm>
                    <a:off x="2607" y="2965"/>
                    <a:ext cx="868" cy="665"/>
                  </a:xfrm>
                  <a:prstGeom prst="parallelogram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3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altLang="zh-CN" sz="1200"/>
                  </a:p>
                </p:txBody>
              </p:sp>
              <p:sp>
                <p:nvSpPr>
                  <p:cNvPr id="96" name="平行四边形 95"/>
                  <p:cNvSpPr/>
                  <p:nvPr/>
                </p:nvSpPr>
                <p:spPr>
                  <a:xfrm>
                    <a:off x="2551" y="2625"/>
                    <a:ext cx="868" cy="665"/>
                  </a:xfrm>
                  <a:prstGeom prst="parallelogram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3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altLang="zh-CN" sz="1200">
                      <a:solidFill>
                        <a:schemeClr val="bg1">
                          <a:lumMod val="75000"/>
                        </a:schemeClr>
                      </a:solidFill>
                    </a:endParaRPr>
                  </a:p>
                </p:txBody>
              </p:sp>
              <p:sp>
                <p:nvSpPr>
                  <p:cNvPr id="97" name="文本框 96"/>
                  <p:cNvSpPr txBox="1"/>
                  <p:nvPr/>
                </p:nvSpPr>
                <p:spPr>
                  <a:xfrm>
                    <a:off x="2432" y="3206"/>
                    <a:ext cx="1127" cy="48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1400"/>
                      <a:t>Core</a:t>
                    </a:r>
                  </a:p>
                </p:txBody>
              </p:sp>
              <p:sp>
                <p:nvSpPr>
                  <p:cNvPr id="98" name="文本框 97"/>
                  <p:cNvSpPr txBox="1"/>
                  <p:nvPr/>
                </p:nvSpPr>
                <p:spPr>
                  <a:xfrm>
                    <a:off x="2404" y="2723"/>
                    <a:ext cx="1127" cy="48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1400"/>
                      <a:t>N3D</a:t>
                    </a:r>
                  </a:p>
                </p:txBody>
              </p:sp>
            </p:grpSp>
            <p:grpSp>
              <p:nvGrpSpPr>
                <p:cNvPr id="99" name="组合 98"/>
                <p:cNvGrpSpPr/>
                <p:nvPr/>
              </p:nvGrpSpPr>
              <p:grpSpPr>
                <a:xfrm>
                  <a:off x="3157" y="2605"/>
                  <a:ext cx="1154" cy="1063"/>
                  <a:chOff x="2404" y="2625"/>
                  <a:chExt cx="1154" cy="1063"/>
                </a:xfrm>
              </p:grpSpPr>
              <p:sp>
                <p:nvSpPr>
                  <p:cNvPr id="100" name="平行四边形 99"/>
                  <p:cNvSpPr/>
                  <p:nvPr/>
                </p:nvSpPr>
                <p:spPr>
                  <a:xfrm>
                    <a:off x="2607" y="2965"/>
                    <a:ext cx="868" cy="665"/>
                  </a:xfrm>
                  <a:prstGeom prst="parallelogram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3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altLang="zh-CN" sz="1200"/>
                  </a:p>
                </p:txBody>
              </p:sp>
              <p:sp>
                <p:nvSpPr>
                  <p:cNvPr id="101" name="平行四边形 100"/>
                  <p:cNvSpPr/>
                  <p:nvPr/>
                </p:nvSpPr>
                <p:spPr>
                  <a:xfrm>
                    <a:off x="2551" y="2625"/>
                    <a:ext cx="868" cy="665"/>
                  </a:xfrm>
                  <a:prstGeom prst="parallelogram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3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altLang="zh-CN" sz="1200">
                      <a:solidFill>
                        <a:schemeClr val="bg1">
                          <a:lumMod val="75000"/>
                        </a:schemeClr>
                      </a:solidFill>
                    </a:endParaRPr>
                  </a:p>
                </p:txBody>
              </p:sp>
              <p:sp>
                <p:nvSpPr>
                  <p:cNvPr id="102" name="文本框 101"/>
                  <p:cNvSpPr txBox="1"/>
                  <p:nvPr/>
                </p:nvSpPr>
                <p:spPr>
                  <a:xfrm>
                    <a:off x="2432" y="3206"/>
                    <a:ext cx="1127" cy="48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1400"/>
                      <a:t>Core</a:t>
                    </a:r>
                  </a:p>
                </p:txBody>
              </p:sp>
              <p:sp>
                <p:nvSpPr>
                  <p:cNvPr id="103" name="文本框 102"/>
                  <p:cNvSpPr txBox="1"/>
                  <p:nvPr/>
                </p:nvSpPr>
                <p:spPr>
                  <a:xfrm>
                    <a:off x="2404" y="2723"/>
                    <a:ext cx="1127" cy="48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1400"/>
                      <a:t>N3D</a:t>
                    </a:r>
                  </a:p>
                </p:txBody>
              </p:sp>
            </p:grpSp>
            <p:grpSp>
              <p:nvGrpSpPr>
                <p:cNvPr id="104" name="组合 103"/>
                <p:cNvGrpSpPr/>
                <p:nvPr/>
              </p:nvGrpSpPr>
              <p:grpSpPr>
                <a:xfrm>
                  <a:off x="4309" y="2605"/>
                  <a:ext cx="1154" cy="1063"/>
                  <a:chOff x="2404" y="2625"/>
                  <a:chExt cx="1154" cy="1063"/>
                </a:xfrm>
              </p:grpSpPr>
              <p:sp>
                <p:nvSpPr>
                  <p:cNvPr id="105" name="平行四边形 104"/>
                  <p:cNvSpPr/>
                  <p:nvPr/>
                </p:nvSpPr>
                <p:spPr>
                  <a:xfrm>
                    <a:off x="2607" y="2965"/>
                    <a:ext cx="868" cy="665"/>
                  </a:xfrm>
                  <a:prstGeom prst="parallelogram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3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altLang="zh-CN" sz="1200"/>
                  </a:p>
                </p:txBody>
              </p:sp>
              <p:sp>
                <p:nvSpPr>
                  <p:cNvPr id="106" name="平行四边形 105"/>
                  <p:cNvSpPr/>
                  <p:nvPr/>
                </p:nvSpPr>
                <p:spPr>
                  <a:xfrm>
                    <a:off x="2551" y="2625"/>
                    <a:ext cx="868" cy="665"/>
                  </a:xfrm>
                  <a:prstGeom prst="parallelogram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3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altLang="zh-CN" sz="1200">
                      <a:solidFill>
                        <a:schemeClr val="bg1">
                          <a:lumMod val="75000"/>
                        </a:schemeClr>
                      </a:solidFill>
                    </a:endParaRPr>
                  </a:p>
                </p:txBody>
              </p:sp>
              <p:sp>
                <p:nvSpPr>
                  <p:cNvPr id="107" name="文本框 106"/>
                  <p:cNvSpPr txBox="1"/>
                  <p:nvPr/>
                </p:nvSpPr>
                <p:spPr>
                  <a:xfrm>
                    <a:off x="2432" y="3206"/>
                    <a:ext cx="1127" cy="48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1400"/>
                      <a:t>Core</a:t>
                    </a:r>
                  </a:p>
                </p:txBody>
              </p:sp>
              <p:sp>
                <p:nvSpPr>
                  <p:cNvPr id="108" name="文本框 107"/>
                  <p:cNvSpPr txBox="1"/>
                  <p:nvPr/>
                </p:nvSpPr>
                <p:spPr>
                  <a:xfrm>
                    <a:off x="2404" y="2723"/>
                    <a:ext cx="1127" cy="48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1400"/>
                      <a:t>N3D</a:t>
                    </a:r>
                  </a:p>
                </p:txBody>
              </p:sp>
            </p:grpSp>
            <p:grpSp>
              <p:nvGrpSpPr>
                <p:cNvPr id="109" name="组合 108"/>
                <p:cNvGrpSpPr/>
                <p:nvPr/>
              </p:nvGrpSpPr>
              <p:grpSpPr>
                <a:xfrm>
                  <a:off x="5496" y="2602"/>
                  <a:ext cx="1154" cy="1063"/>
                  <a:chOff x="2404" y="2625"/>
                  <a:chExt cx="1154" cy="1063"/>
                </a:xfrm>
              </p:grpSpPr>
              <p:sp>
                <p:nvSpPr>
                  <p:cNvPr id="110" name="平行四边形 109"/>
                  <p:cNvSpPr/>
                  <p:nvPr/>
                </p:nvSpPr>
                <p:spPr>
                  <a:xfrm>
                    <a:off x="2607" y="2965"/>
                    <a:ext cx="868" cy="665"/>
                  </a:xfrm>
                  <a:prstGeom prst="parallelogram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3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altLang="zh-CN" sz="1200"/>
                  </a:p>
                </p:txBody>
              </p:sp>
              <p:sp>
                <p:nvSpPr>
                  <p:cNvPr id="111" name="平行四边形 110"/>
                  <p:cNvSpPr/>
                  <p:nvPr/>
                </p:nvSpPr>
                <p:spPr>
                  <a:xfrm>
                    <a:off x="2551" y="2625"/>
                    <a:ext cx="868" cy="665"/>
                  </a:xfrm>
                  <a:prstGeom prst="parallelogram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3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altLang="zh-CN" sz="1200">
                      <a:solidFill>
                        <a:schemeClr val="bg1">
                          <a:lumMod val="75000"/>
                        </a:schemeClr>
                      </a:solidFill>
                    </a:endParaRPr>
                  </a:p>
                </p:txBody>
              </p:sp>
              <p:sp>
                <p:nvSpPr>
                  <p:cNvPr id="112" name="文本框 111"/>
                  <p:cNvSpPr txBox="1"/>
                  <p:nvPr/>
                </p:nvSpPr>
                <p:spPr>
                  <a:xfrm>
                    <a:off x="2432" y="3206"/>
                    <a:ext cx="1127" cy="48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1400"/>
                      <a:t>Core</a:t>
                    </a:r>
                  </a:p>
                </p:txBody>
              </p:sp>
              <p:sp>
                <p:nvSpPr>
                  <p:cNvPr id="113" name="文本框 112"/>
                  <p:cNvSpPr txBox="1"/>
                  <p:nvPr/>
                </p:nvSpPr>
                <p:spPr>
                  <a:xfrm>
                    <a:off x="2404" y="2723"/>
                    <a:ext cx="1127" cy="48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1400"/>
                      <a:t>N3D</a:t>
                    </a:r>
                  </a:p>
                </p:txBody>
              </p:sp>
            </p:grpSp>
            <p:sp>
              <p:nvSpPr>
                <p:cNvPr id="114" name="左右箭头 113"/>
                <p:cNvSpPr/>
                <p:nvPr/>
              </p:nvSpPr>
              <p:spPr>
                <a:xfrm>
                  <a:off x="2927" y="3337"/>
                  <a:ext cx="477" cy="216"/>
                </a:xfrm>
                <a:prstGeom prst="leftRightArrow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15" name="左右箭头 114"/>
                <p:cNvSpPr/>
                <p:nvPr/>
              </p:nvSpPr>
              <p:spPr>
                <a:xfrm>
                  <a:off x="4093" y="3349"/>
                  <a:ext cx="477" cy="216"/>
                </a:xfrm>
                <a:prstGeom prst="leftRightArrow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16" name="左右箭头 115"/>
                <p:cNvSpPr/>
                <p:nvPr/>
              </p:nvSpPr>
              <p:spPr>
                <a:xfrm>
                  <a:off x="5259" y="3349"/>
                  <a:ext cx="477" cy="216"/>
                </a:xfrm>
                <a:prstGeom prst="leftRightArrow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</p:grpSp>
      <p:grpSp>
        <p:nvGrpSpPr>
          <p:cNvPr id="118" name="组合 117"/>
          <p:cNvGrpSpPr/>
          <p:nvPr/>
        </p:nvGrpSpPr>
        <p:grpSpPr>
          <a:xfrm>
            <a:off x="4185285" y="2020570"/>
            <a:ext cx="2974340" cy="2936240"/>
            <a:chOff x="1822" y="2602"/>
            <a:chExt cx="4684" cy="4624"/>
          </a:xfrm>
        </p:grpSpPr>
        <p:grpSp>
          <p:nvGrpSpPr>
            <p:cNvPr id="119" name="组合 118"/>
            <p:cNvGrpSpPr/>
            <p:nvPr/>
          </p:nvGrpSpPr>
          <p:grpSpPr>
            <a:xfrm>
              <a:off x="1830" y="2602"/>
              <a:ext cx="4666" cy="1085"/>
              <a:chOff x="1984" y="2602"/>
              <a:chExt cx="4666" cy="1085"/>
            </a:xfrm>
          </p:grpSpPr>
          <p:grpSp>
            <p:nvGrpSpPr>
              <p:cNvPr id="120" name="组合 119"/>
              <p:cNvGrpSpPr/>
              <p:nvPr/>
            </p:nvGrpSpPr>
            <p:grpSpPr>
              <a:xfrm>
                <a:off x="1984" y="2625"/>
                <a:ext cx="1154" cy="1063"/>
                <a:chOff x="2404" y="2625"/>
                <a:chExt cx="1154" cy="1063"/>
              </a:xfrm>
            </p:grpSpPr>
            <p:sp>
              <p:nvSpPr>
                <p:cNvPr id="121" name="平行四边形 120"/>
                <p:cNvSpPr/>
                <p:nvPr/>
              </p:nvSpPr>
              <p:spPr>
                <a:xfrm>
                  <a:off x="2607" y="2965"/>
                  <a:ext cx="868" cy="665"/>
                </a:xfrm>
                <a:prstGeom prst="parallelogram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3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zh-CN" sz="1200"/>
                </a:p>
              </p:txBody>
            </p:sp>
            <p:sp>
              <p:nvSpPr>
                <p:cNvPr id="122" name="平行四边形 121"/>
                <p:cNvSpPr/>
                <p:nvPr/>
              </p:nvSpPr>
              <p:spPr>
                <a:xfrm>
                  <a:off x="2551" y="2625"/>
                  <a:ext cx="868" cy="665"/>
                </a:xfrm>
                <a:prstGeom prst="parallelogram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3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zh-CN" sz="1200">
                    <a:solidFill>
                      <a:schemeClr val="bg1">
                        <a:lumMod val="75000"/>
                      </a:schemeClr>
                    </a:solidFill>
                  </a:endParaRPr>
                </a:p>
              </p:txBody>
            </p:sp>
            <p:sp>
              <p:nvSpPr>
                <p:cNvPr id="123" name="文本框 122"/>
                <p:cNvSpPr txBox="1"/>
                <p:nvPr/>
              </p:nvSpPr>
              <p:spPr>
                <a:xfrm>
                  <a:off x="2432" y="3206"/>
                  <a:ext cx="1127" cy="4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400"/>
                    <a:t>Core</a:t>
                  </a:r>
                </a:p>
              </p:txBody>
            </p:sp>
            <p:sp>
              <p:nvSpPr>
                <p:cNvPr id="124" name="文本框 123"/>
                <p:cNvSpPr txBox="1"/>
                <p:nvPr/>
              </p:nvSpPr>
              <p:spPr>
                <a:xfrm>
                  <a:off x="2404" y="2723"/>
                  <a:ext cx="1127" cy="4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400"/>
                    <a:t>N3D</a:t>
                  </a:r>
                </a:p>
              </p:txBody>
            </p:sp>
          </p:grpSp>
          <p:grpSp>
            <p:nvGrpSpPr>
              <p:cNvPr id="125" name="组合 124"/>
              <p:cNvGrpSpPr/>
              <p:nvPr/>
            </p:nvGrpSpPr>
            <p:grpSpPr>
              <a:xfrm>
                <a:off x="3157" y="2605"/>
                <a:ext cx="1154" cy="1063"/>
                <a:chOff x="2404" y="2625"/>
                <a:chExt cx="1154" cy="1063"/>
              </a:xfrm>
            </p:grpSpPr>
            <p:sp>
              <p:nvSpPr>
                <p:cNvPr id="126" name="平行四边形 125"/>
                <p:cNvSpPr/>
                <p:nvPr/>
              </p:nvSpPr>
              <p:spPr>
                <a:xfrm>
                  <a:off x="2607" y="2965"/>
                  <a:ext cx="868" cy="665"/>
                </a:xfrm>
                <a:prstGeom prst="parallelogram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3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zh-CN" sz="1200"/>
                </a:p>
              </p:txBody>
            </p:sp>
            <p:sp>
              <p:nvSpPr>
                <p:cNvPr id="127" name="平行四边形 126"/>
                <p:cNvSpPr/>
                <p:nvPr/>
              </p:nvSpPr>
              <p:spPr>
                <a:xfrm>
                  <a:off x="2551" y="2625"/>
                  <a:ext cx="868" cy="665"/>
                </a:xfrm>
                <a:prstGeom prst="parallelogram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3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zh-CN" sz="1200">
                    <a:solidFill>
                      <a:schemeClr val="bg1">
                        <a:lumMod val="75000"/>
                      </a:schemeClr>
                    </a:solidFill>
                  </a:endParaRPr>
                </a:p>
              </p:txBody>
            </p:sp>
            <p:sp>
              <p:nvSpPr>
                <p:cNvPr id="128" name="文本框 127"/>
                <p:cNvSpPr txBox="1"/>
                <p:nvPr/>
              </p:nvSpPr>
              <p:spPr>
                <a:xfrm>
                  <a:off x="2432" y="3206"/>
                  <a:ext cx="1127" cy="4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400"/>
                    <a:t>Core</a:t>
                  </a:r>
                </a:p>
              </p:txBody>
            </p:sp>
            <p:sp>
              <p:nvSpPr>
                <p:cNvPr id="129" name="文本框 128"/>
                <p:cNvSpPr txBox="1"/>
                <p:nvPr/>
              </p:nvSpPr>
              <p:spPr>
                <a:xfrm>
                  <a:off x="2404" y="2723"/>
                  <a:ext cx="1127" cy="4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400"/>
                    <a:t>N3D</a:t>
                  </a:r>
                </a:p>
              </p:txBody>
            </p:sp>
          </p:grpSp>
          <p:grpSp>
            <p:nvGrpSpPr>
              <p:cNvPr id="130" name="组合 129"/>
              <p:cNvGrpSpPr/>
              <p:nvPr/>
            </p:nvGrpSpPr>
            <p:grpSpPr>
              <a:xfrm>
                <a:off x="4309" y="2605"/>
                <a:ext cx="1154" cy="1063"/>
                <a:chOff x="2404" y="2625"/>
                <a:chExt cx="1154" cy="1063"/>
              </a:xfrm>
            </p:grpSpPr>
            <p:sp>
              <p:nvSpPr>
                <p:cNvPr id="131" name="平行四边形 130"/>
                <p:cNvSpPr/>
                <p:nvPr/>
              </p:nvSpPr>
              <p:spPr>
                <a:xfrm>
                  <a:off x="2607" y="2965"/>
                  <a:ext cx="868" cy="665"/>
                </a:xfrm>
                <a:prstGeom prst="parallelogram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3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zh-CN" sz="1200"/>
                </a:p>
              </p:txBody>
            </p:sp>
            <p:sp>
              <p:nvSpPr>
                <p:cNvPr id="132" name="平行四边形 131"/>
                <p:cNvSpPr/>
                <p:nvPr/>
              </p:nvSpPr>
              <p:spPr>
                <a:xfrm>
                  <a:off x="2551" y="2625"/>
                  <a:ext cx="868" cy="665"/>
                </a:xfrm>
                <a:prstGeom prst="parallelogram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3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zh-CN" sz="1200">
                    <a:solidFill>
                      <a:schemeClr val="bg1">
                        <a:lumMod val="75000"/>
                      </a:schemeClr>
                    </a:solidFill>
                  </a:endParaRPr>
                </a:p>
              </p:txBody>
            </p:sp>
            <p:sp>
              <p:nvSpPr>
                <p:cNvPr id="133" name="文本框 132"/>
                <p:cNvSpPr txBox="1"/>
                <p:nvPr/>
              </p:nvSpPr>
              <p:spPr>
                <a:xfrm>
                  <a:off x="2432" y="3206"/>
                  <a:ext cx="1127" cy="4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400"/>
                    <a:t>Core</a:t>
                  </a:r>
                </a:p>
              </p:txBody>
            </p:sp>
            <p:sp>
              <p:nvSpPr>
                <p:cNvPr id="134" name="文本框 133"/>
                <p:cNvSpPr txBox="1"/>
                <p:nvPr/>
              </p:nvSpPr>
              <p:spPr>
                <a:xfrm>
                  <a:off x="2404" y="2723"/>
                  <a:ext cx="1127" cy="4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400"/>
                    <a:t>N3D</a:t>
                  </a:r>
                </a:p>
              </p:txBody>
            </p:sp>
          </p:grpSp>
          <p:grpSp>
            <p:nvGrpSpPr>
              <p:cNvPr id="135" name="组合 134"/>
              <p:cNvGrpSpPr/>
              <p:nvPr/>
            </p:nvGrpSpPr>
            <p:grpSpPr>
              <a:xfrm>
                <a:off x="5496" y="2602"/>
                <a:ext cx="1154" cy="1063"/>
                <a:chOff x="2404" y="2625"/>
                <a:chExt cx="1154" cy="1063"/>
              </a:xfrm>
            </p:grpSpPr>
            <p:sp>
              <p:nvSpPr>
                <p:cNvPr id="136" name="平行四边形 135"/>
                <p:cNvSpPr/>
                <p:nvPr/>
              </p:nvSpPr>
              <p:spPr>
                <a:xfrm>
                  <a:off x="2607" y="2965"/>
                  <a:ext cx="868" cy="665"/>
                </a:xfrm>
                <a:prstGeom prst="parallelogram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3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zh-CN" sz="1200"/>
                </a:p>
              </p:txBody>
            </p:sp>
            <p:sp>
              <p:nvSpPr>
                <p:cNvPr id="137" name="平行四边形 136"/>
                <p:cNvSpPr/>
                <p:nvPr/>
              </p:nvSpPr>
              <p:spPr>
                <a:xfrm>
                  <a:off x="2551" y="2625"/>
                  <a:ext cx="868" cy="665"/>
                </a:xfrm>
                <a:prstGeom prst="parallelogram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3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zh-CN" sz="1200">
                    <a:solidFill>
                      <a:schemeClr val="bg1">
                        <a:lumMod val="75000"/>
                      </a:schemeClr>
                    </a:solidFill>
                  </a:endParaRPr>
                </a:p>
              </p:txBody>
            </p:sp>
            <p:sp>
              <p:nvSpPr>
                <p:cNvPr id="138" name="文本框 137"/>
                <p:cNvSpPr txBox="1"/>
                <p:nvPr/>
              </p:nvSpPr>
              <p:spPr>
                <a:xfrm>
                  <a:off x="2432" y="3206"/>
                  <a:ext cx="1127" cy="4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400"/>
                    <a:t>Core</a:t>
                  </a:r>
                </a:p>
              </p:txBody>
            </p:sp>
            <p:sp>
              <p:nvSpPr>
                <p:cNvPr id="139" name="文本框 138"/>
                <p:cNvSpPr txBox="1"/>
                <p:nvPr/>
              </p:nvSpPr>
              <p:spPr>
                <a:xfrm>
                  <a:off x="2404" y="2723"/>
                  <a:ext cx="1127" cy="4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400"/>
                    <a:t>N3D</a:t>
                  </a:r>
                </a:p>
              </p:txBody>
            </p:sp>
          </p:grpSp>
          <p:sp>
            <p:nvSpPr>
              <p:cNvPr id="140" name="左右箭头 139"/>
              <p:cNvSpPr/>
              <p:nvPr/>
            </p:nvSpPr>
            <p:spPr>
              <a:xfrm>
                <a:off x="2927" y="3337"/>
                <a:ext cx="477" cy="216"/>
              </a:xfrm>
              <a:prstGeom prst="leftRightArrow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1" name="左右箭头 140"/>
              <p:cNvSpPr/>
              <p:nvPr/>
            </p:nvSpPr>
            <p:spPr>
              <a:xfrm>
                <a:off x="4093" y="3349"/>
                <a:ext cx="477" cy="216"/>
              </a:xfrm>
              <a:prstGeom prst="leftRightArrow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2" name="左右箭头 141"/>
              <p:cNvSpPr/>
              <p:nvPr/>
            </p:nvSpPr>
            <p:spPr>
              <a:xfrm>
                <a:off x="5259" y="3349"/>
                <a:ext cx="477" cy="216"/>
              </a:xfrm>
              <a:prstGeom prst="leftRightArrow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43" name="组合 142"/>
            <p:cNvGrpSpPr/>
            <p:nvPr/>
          </p:nvGrpSpPr>
          <p:grpSpPr>
            <a:xfrm>
              <a:off x="1840" y="3602"/>
              <a:ext cx="4666" cy="1270"/>
              <a:chOff x="1840" y="3602"/>
              <a:chExt cx="4666" cy="1270"/>
            </a:xfrm>
          </p:grpSpPr>
          <p:sp>
            <p:nvSpPr>
              <p:cNvPr id="144" name="左右箭头 143"/>
              <p:cNvSpPr/>
              <p:nvPr/>
            </p:nvSpPr>
            <p:spPr>
              <a:xfrm rot="5400000">
                <a:off x="3425" y="3737"/>
                <a:ext cx="477" cy="216"/>
              </a:xfrm>
              <a:prstGeom prst="leftRightArrow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5" name="左右箭头 144"/>
              <p:cNvSpPr/>
              <p:nvPr/>
            </p:nvSpPr>
            <p:spPr>
              <a:xfrm rot="5400000">
                <a:off x="4633" y="3737"/>
                <a:ext cx="477" cy="216"/>
              </a:xfrm>
              <a:prstGeom prst="leftRightArrow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6" name="左右箭头 145"/>
              <p:cNvSpPr/>
              <p:nvPr/>
            </p:nvSpPr>
            <p:spPr>
              <a:xfrm rot="5400000">
                <a:off x="5750" y="3732"/>
                <a:ext cx="477" cy="216"/>
              </a:xfrm>
              <a:prstGeom prst="leftRightArrow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7" name="左右箭头 146"/>
              <p:cNvSpPr/>
              <p:nvPr/>
            </p:nvSpPr>
            <p:spPr>
              <a:xfrm rot="5400000">
                <a:off x="2294" y="3755"/>
                <a:ext cx="477" cy="216"/>
              </a:xfrm>
              <a:prstGeom prst="leftRightArrow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48" name="组合 147"/>
              <p:cNvGrpSpPr/>
              <p:nvPr/>
            </p:nvGrpSpPr>
            <p:grpSpPr>
              <a:xfrm>
                <a:off x="1840" y="3787"/>
                <a:ext cx="4666" cy="1085"/>
                <a:chOff x="1984" y="2602"/>
                <a:chExt cx="4666" cy="1085"/>
              </a:xfrm>
            </p:grpSpPr>
            <p:grpSp>
              <p:nvGrpSpPr>
                <p:cNvPr id="149" name="组合 148"/>
                <p:cNvGrpSpPr/>
                <p:nvPr/>
              </p:nvGrpSpPr>
              <p:grpSpPr>
                <a:xfrm>
                  <a:off x="1984" y="2625"/>
                  <a:ext cx="1154" cy="1063"/>
                  <a:chOff x="2404" y="2625"/>
                  <a:chExt cx="1154" cy="1063"/>
                </a:xfrm>
              </p:grpSpPr>
              <p:sp>
                <p:nvSpPr>
                  <p:cNvPr id="150" name="平行四边形 149"/>
                  <p:cNvSpPr/>
                  <p:nvPr/>
                </p:nvSpPr>
                <p:spPr>
                  <a:xfrm>
                    <a:off x="2607" y="2965"/>
                    <a:ext cx="868" cy="665"/>
                  </a:xfrm>
                  <a:prstGeom prst="parallelogram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3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altLang="zh-CN" sz="1200"/>
                  </a:p>
                </p:txBody>
              </p:sp>
              <p:sp>
                <p:nvSpPr>
                  <p:cNvPr id="151" name="平行四边形 150"/>
                  <p:cNvSpPr/>
                  <p:nvPr/>
                </p:nvSpPr>
                <p:spPr>
                  <a:xfrm>
                    <a:off x="2551" y="2625"/>
                    <a:ext cx="868" cy="665"/>
                  </a:xfrm>
                  <a:prstGeom prst="parallelogram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3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altLang="zh-CN" sz="1200">
                      <a:solidFill>
                        <a:schemeClr val="bg1">
                          <a:lumMod val="75000"/>
                        </a:schemeClr>
                      </a:solidFill>
                    </a:endParaRPr>
                  </a:p>
                </p:txBody>
              </p:sp>
              <p:sp>
                <p:nvSpPr>
                  <p:cNvPr id="152" name="文本框 151"/>
                  <p:cNvSpPr txBox="1"/>
                  <p:nvPr/>
                </p:nvSpPr>
                <p:spPr>
                  <a:xfrm>
                    <a:off x="2432" y="3206"/>
                    <a:ext cx="1127" cy="48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1400"/>
                      <a:t>Core</a:t>
                    </a:r>
                  </a:p>
                </p:txBody>
              </p:sp>
              <p:sp>
                <p:nvSpPr>
                  <p:cNvPr id="153" name="文本框 152"/>
                  <p:cNvSpPr txBox="1"/>
                  <p:nvPr/>
                </p:nvSpPr>
                <p:spPr>
                  <a:xfrm>
                    <a:off x="2404" y="2723"/>
                    <a:ext cx="1127" cy="48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1400"/>
                      <a:t>N3D</a:t>
                    </a:r>
                  </a:p>
                </p:txBody>
              </p:sp>
            </p:grpSp>
            <p:grpSp>
              <p:nvGrpSpPr>
                <p:cNvPr id="154" name="组合 153"/>
                <p:cNvGrpSpPr/>
                <p:nvPr/>
              </p:nvGrpSpPr>
              <p:grpSpPr>
                <a:xfrm>
                  <a:off x="3157" y="2605"/>
                  <a:ext cx="1154" cy="1063"/>
                  <a:chOff x="2404" y="2625"/>
                  <a:chExt cx="1154" cy="1063"/>
                </a:xfrm>
              </p:grpSpPr>
              <p:sp>
                <p:nvSpPr>
                  <p:cNvPr id="155" name="平行四边形 154"/>
                  <p:cNvSpPr/>
                  <p:nvPr/>
                </p:nvSpPr>
                <p:spPr>
                  <a:xfrm>
                    <a:off x="2607" y="2965"/>
                    <a:ext cx="868" cy="665"/>
                  </a:xfrm>
                  <a:prstGeom prst="parallelogram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3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altLang="zh-CN" sz="1200"/>
                  </a:p>
                </p:txBody>
              </p:sp>
              <p:sp>
                <p:nvSpPr>
                  <p:cNvPr id="156" name="平行四边形 155"/>
                  <p:cNvSpPr/>
                  <p:nvPr/>
                </p:nvSpPr>
                <p:spPr>
                  <a:xfrm>
                    <a:off x="2551" y="2625"/>
                    <a:ext cx="868" cy="665"/>
                  </a:xfrm>
                  <a:prstGeom prst="parallelogram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3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altLang="zh-CN" sz="1200">
                      <a:solidFill>
                        <a:schemeClr val="bg1">
                          <a:lumMod val="75000"/>
                        </a:schemeClr>
                      </a:solidFill>
                    </a:endParaRPr>
                  </a:p>
                </p:txBody>
              </p:sp>
              <p:sp>
                <p:nvSpPr>
                  <p:cNvPr id="157" name="文本框 156"/>
                  <p:cNvSpPr txBox="1"/>
                  <p:nvPr/>
                </p:nvSpPr>
                <p:spPr>
                  <a:xfrm>
                    <a:off x="2432" y="3206"/>
                    <a:ext cx="1127" cy="48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1400"/>
                      <a:t>Core</a:t>
                    </a:r>
                  </a:p>
                </p:txBody>
              </p:sp>
              <p:sp>
                <p:nvSpPr>
                  <p:cNvPr id="158" name="文本框 157"/>
                  <p:cNvSpPr txBox="1"/>
                  <p:nvPr/>
                </p:nvSpPr>
                <p:spPr>
                  <a:xfrm>
                    <a:off x="2404" y="2723"/>
                    <a:ext cx="1127" cy="48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1400"/>
                      <a:t>N3D</a:t>
                    </a:r>
                  </a:p>
                </p:txBody>
              </p:sp>
            </p:grpSp>
            <p:grpSp>
              <p:nvGrpSpPr>
                <p:cNvPr id="159" name="组合 158"/>
                <p:cNvGrpSpPr/>
                <p:nvPr/>
              </p:nvGrpSpPr>
              <p:grpSpPr>
                <a:xfrm>
                  <a:off x="4309" y="2605"/>
                  <a:ext cx="1154" cy="1063"/>
                  <a:chOff x="2404" y="2625"/>
                  <a:chExt cx="1154" cy="1063"/>
                </a:xfrm>
              </p:grpSpPr>
              <p:sp>
                <p:nvSpPr>
                  <p:cNvPr id="160" name="平行四边形 159"/>
                  <p:cNvSpPr/>
                  <p:nvPr/>
                </p:nvSpPr>
                <p:spPr>
                  <a:xfrm>
                    <a:off x="2607" y="2965"/>
                    <a:ext cx="868" cy="665"/>
                  </a:xfrm>
                  <a:prstGeom prst="parallelogram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3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altLang="zh-CN" sz="1200"/>
                  </a:p>
                </p:txBody>
              </p:sp>
              <p:sp>
                <p:nvSpPr>
                  <p:cNvPr id="161" name="平行四边形 160"/>
                  <p:cNvSpPr/>
                  <p:nvPr/>
                </p:nvSpPr>
                <p:spPr>
                  <a:xfrm>
                    <a:off x="2551" y="2625"/>
                    <a:ext cx="868" cy="665"/>
                  </a:xfrm>
                  <a:prstGeom prst="parallelogram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3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altLang="zh-CN" sz="1200">
                      <a:solidFill>
                        <a:schemeClr val="bg1">
                          <a:lumMod val="75000"/>
                        </a:schemeClr>
                      </a:solidFill>
                    </a:endParaRPr>
                  </a:p>
                </p:txBody>
              </p:sp>
              <p:sp>
                <p:nvSpPr>
                  <p:cNvPr id="162" name="文本框 161"/>
                  <p:cNvSpPr txBox="1"/>
                  <p:nvPr/>
                </p:nvSpPr>
                <p:spPr>
                  <a:xfrm>
                    <a:off x="2432" y="3206"/>
                    <a:ext cx="1127" cy="48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1400"/>
                      <a:t>Core</a:t>
                    </a:r>
                  </a:p>
                </p:txBody>
              </p:sp>
              <p:sp>
                <p:nvSpPr>
                  <p:cNvPr id="163" name="文本框 162"/>
                  <p:cNvSpPr txBox="1"/>
                  <p:nvPr/>
                </p:nvSpPr>
                <p:spPr>
                  <a:xfrm>
                    <a:off x="2404" y="2723"/>
                    <a:ext cx="1127" cy="48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1400"/>
                      <a:t>N3D</a:t>
                    </a:r>
                  </a:p>
                </p:txBody>
              </p:sp>
            </p:grpSp>
            <p:grpSp>
              <p:nvGrpSpPr>
                <p:cNvPr id="164" name="组合 163"/>
                <p:cNvGrpSpPr/>
                <p:nvPr/>
              </p:nvGrpSpPr>
              <p:grpSpPr>
                <a:xfrm>
                  <a:off x="5496" y="2602"/>
                  <a:ext cx="1154" cy="1063"/>
                  <a:chOff x="2404" y="2625"/>
                  <a:chExt cx="1154" cy="1063"/>
                </a:xfrm>
              </p:grpSpPr>
              <p:sp>
                <p:nvSpPr>
                  <p:cNvPr id="165" name="平行四边形 164"/>
                  <p:cNvSpPr/>
                  <p:nvPr/>
                </p:nvSpPr>
                <p:spPr>
                  <a:xfrm>
                    <a:off x="2607" y="2965"/>
                    <a:ext cx="868" cy="665"/>
                  </a:xfrm>
                  <a:prstGeom prst="parallelogram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3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altLang="zh-CN" sz="1200"/>
                  </a:p>
                </p:txBody>
              </p:sp>
              <p:sp>
                <p:nvSpPr>
                  <p:cNvPr id="166" name="平行四边形 165"/>
                  <p:cNvSpPr/>
                  <p:nvPr/>
                </p:nvSpPr>
                <p:spPr>
                  <a:xfrm>
                    <a:off x="2551" y="2625"/>
                    <a:ext cx="868" cy="665"/>
                  </a:xfrm>
                  <a:prstGeom prst="parallelogram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3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altLang="zh-CN" sz="1200">
                      <a:solidFill>
                        <a:schemeClr val="bg1">
                          <a:lumMod val="75000"/>
                        </a:schemeClr>
                      </a:solidFill>
                    </a:endParaRPr>
                  </a:p>
                </p:txBody>
              </p:sp>
              <p:sp>
                <p:nvSpPr>
                  <p:cNvPr id="167" name="文本框 166"/>
                  <p:cNvSpPr txBox="1"/>
                  <p:nvPr/>
                </p:nvSpPr>
                <p:spPr>
                  <a:xfrm>
                    <a:off x="2432" y="3206"/>
                    <a:ext cx="1127" cy="48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1400"/>
                      <a:t>Core</a:t>
                    </a:r>
                  </a:p>
                </p:txBody>
              </p:sp>
              <p:sp>
                <p:nvSpPr>
                  <p:cNvPr id="168" name="文本框 167"/>
                  <p:cNvSpPr txBox="1"/>
                  <p:nvPr/>
                </p:nvSpPr>
                <p:spPr>
                  <a:xfrm>
                    <a:off x="2404" y="2723"/>
                    <a:ext cx="1127" cy="48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1400"/>
                      <a:t>N3D</a:t>
                    </a:r>
                  </a:p>
                </p:txBody>
              </p:sp>
            </p:grpSp>
            <p:sp>
              <p:nvSpPr>
                <p:cNvPr id="169" name="左右箭头 168"/>
                <p:cNvSpPr/>
                <p:nvPr/>
              </p:nvSpPr>
              <p:spPr>
                <a:xfrm>
                  <a:off x="2927" y="3337"/>
                  <a:ext cx="477" cy="216"/>
                </a:xfrm>
                <a:prstGeom prst="leftRightArrow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70" name="左右箭头 169"/>
                <p:cNvSpPr/>
                <p:nvPr/>
              </p:nvSpPr>
              <p:spPr>
                <a:xfrm>
                  <a:off x="4093" y="3349"/>
                  <a:ext cx="477" cy="216"/>
                </a:xfrm>
                <a:prstGeom prst="leftRightArrow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71" name="左右箭头 170"/>
                <p:cNvSpPr/>
                <p:nvPr/>
              </p:nvSpPr>
              <p:spPr>
                <a:xfrm>
                  <a:off x="5259" y="3349"/>
                  <a:ext cx="477" cy="216"/>
                </a:xfrm>
                <a:prstGeom prst="leftRightArrow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grpSp>
          <p:nvGrpSpPr>
            <p:cNvPr id="172" name="组合 171"/>
            <p:cNvGrpSpPr/>
            <p:nvPr/>
          </p:nvGrpSpPr>
          <p:grpSpPr>
            <a:xfrm>
              <a:off x="1836" y="4787"/>
              <a:ext cx="4666" cy="1270"/>
              <a:chOff x="1840" y="3602"/>
              <a:chExt cx="4666" cy="1270"/>
            </a:xfrm>
          </p:grpSpPr>
          <p:sp>
            <p:nvSpPr>
              <p:cNvPr id="173" name="左右箭头 172"/>
              <p:cNvSpPr/>
              <p:nvPr/>
            </p:nvSpPr>
            <p:spPr>
              <a:xfrm rot="5400000">
                <a:off x="3425" y="3737"/>
                <a:ext cx="477" cy="216"/>
              </a:xfrm>
              <a:prstGeom prst="leftRightArrow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4" name="左右箭头 173"/>
              <p:cNvSpPr/>
              <p:nvPr/>
            </p:nvSpPr>
            <p:spPr>
              <a:xfrm rot="5400000">
                <a:off x="4633" y="3737"/>
                <a:ext cx="477" cy="216"/>
              </a:xfrm>
              <a:prstGeom prst="leftRightArrow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5" name="左右箭头 174"/>
              <p:cNvSpPr/>
              <p:nvPr/>
            </p:nvSpPr>
            <p:spPr>
              <a:xfrm rot="5400000">
                <a:off x="5750" y="3732"/>
                <a:ext cx="477" cy="216"/>
              </a:xfrm>
              <a:prstGeom prst="leftRightArrow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6" name="左右箭头 175"/>
              <p:cNvSpPr/>
              <p:nvPr/>
            </p:nvSpPr>
            <p:spPr>
              <a:xfrm rot="5400000">
                <a:off x="2294" y="3755"/>
                <a:ext cx="477" cy="216"/>
              </a:xfrm>
              <a:prstGeom prst="leftRightArrow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77" name="组合 176"/>
              <p:cNvGrpSpPr/>
              <p:nvPr/>
            </p:nvGrpSpPr>
            <p:grpSpPr>
              <a:xfrm>
                <a:off x="1840" y="3787"/>
                <a:ext cx="4666" cy="1085"/>
                <a:chOff x="1984" y="2602"/>
                <a:chExt cx="4666" cy="1085"/>
              </a:xfrm>
            </p:grpSpPr>
            <p:grpSp>
              <p:nvGrpSpPr>
                <p:cNvPr id="178" name="组合 177"/>
                <p:cNvGrpSpPr/>
                <p:nvPr/>
              </p:nvGrpSpPr>
              <p:grpSpPr>
                <a:xfrm>
                  <a:off x="1984" y="2625"/>
                  <a:ext cx="1154" cy="1063"/>
                  <a:chOff x="2404" y="2625"/>
                  <a:chExt cx="1154" cy="1063"/>
                </a:xfrm>
              </p:grpSpPr>
              <p:sp>
                <p:nvSpPr>
                  <p:cNvPr id="179" name="平行四边形 178"/>
                  <p:cNvSpPr/>
                  <p:nvPr/>
                </p:nvSpPr>
                <p:spPr>
                  <a:xfrm>
                    <a:off x="2607" y="2965"/>
                    <a:ext cx="868" cy="665"/>
                  </a:xfrm>
                  <a:prstGeom prst="parallelogram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3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altLang="zh-CN" sz="1200"/>
                  </a:p>
                </p:txBody>
              </p:sp>
              <p:sp>
                <p:nvSpPr>
                  <p:cNvPr id="180" name="平行四边形 179"/>
                  <p:cNvSpPr/>
                  <p:nvPr/>
                </p:nvSpPr>
                <p:spPr>
                  <a:xfrm>
                    <a:off x="2551" y="2625"/>
                    <a:ext cx="868" cy="665"/>
                  </a:xfrm>
                  <a:prstGeom prst="parallelogram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3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altLang="zh-CN" sz="1200">
                      <a:solidFill>
                        <a:schemeClr val="bg1">
                          <a:lumMod val="75000"/>
                        </a:schemeClr>
                      </a:solidFill>
                    </a:endParaRPr>
                  </a:p>
                </p:txBody>
              </p:sp>
              <p:sp>
                <p:nvSpPr>
                  <p:cNvPr id="181" name="文本框 180"/>
                  <p:cNvSpPr txBox="1"/>
                  <p:nvPr/>
                </p:nvSpPr>
                <p:spPr>
                  <a:xfrm>
                    <a:off x="2432" y="3206"/>
                    <a:ext cx="1127" cy="48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1400"/>
                      <a:t>Core</a:t>
                    </a:r>
                  </a:p>
                </p:txBody>
              </p:sp>
              <p:sp>
                <p:nvSpPr>
                  <p:cNvPr id="182" name="文本框 181"/>
                  <p:cNvSpPr txBox="1"/>
                  <p:nvPr/>
                </p:nvSpPr>
                <p:spPr>
                  <a:xfrm>
                    <a:off x="2404" y="2723"/>
                    <a:ext cx="1127" cy="48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1400"/>
                      <a:t>N3D</a:t>
                    </a:r>
                  </a:p>
                </p:txBody>
              </p:sp>
            </p:grpSp>
            <p:grpSp>
              <p:nvGrpSpPr>
                <p:cNvPr id="183" name="组合 182"/>
                <p:cNvGrpSpPr/>
                <p:nvPr/>
              </p:nvGrpSpPr>
              <p:grpSpPr>
                <a:xfrm>
                  <a:off x="3157" y="2605"/>
                  <a:ext cx="1154" cy="1063"/>
                  <a:chOff x="2404" y="2625"/>
                  <a:chExt cx="1154" cy="1063"/>
                </a:xfrm>
              </p:grpSpPr>
              <p:sp>
                <p:nvSpPr>
                  <p:cNvPr id="184" name="平行四边形 183"/>
                  <p:cNvSpPr/>
                  <p:nvPr/>
                </p:nvSpPr>
                <p:spPr>
                  <a:xfrm>
                    <a:off x="2607" y="2965"/>
                    <a:ext cx="868" cy="665"/>
                  </a:xfrm>
                  <a:prstGeom prst="parallelogram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3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altLang="zh-CN" sz="1200"/>
                  </a:p>
                </p:txBody>
              </p:sp>
              <p:sp>
                <p:nvSpPr>
                  <p:cNvPr id="185" name="平行四边形 184"/>
                  <p:cNvSpPr/>
                  <p:nvPr/>
                </p:nvSpPr>
                <p:spPr>
                  <a:xfrm>
                    <a:off x="2551" y="2625"/>
                    <a:ext cx="868" cy="665"/>
                  </a:xfrm>
                  <a:prstGeom prst="parallelogram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3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altLang="zh-CN" sz="1200">
                      <a:solidFill>
                        <a:schemeClr val="bg1">
                          <a:lumMod val="75000"/>
                        </a:schemeClr>
                      </a:solidFill>
                    </a:endParaRPr>
                  </a:p>
                </p:txBody>
              </p:sp>
              <p:sp>
                <p:nvSpPr>
                  <p:cNvPr id="186" name="文本框 185"/>
                  <p:cNvSpPr txBox="1"/>
                  <p:nvPr/>
                </p:nvSpPr>
                <p:spPr>
                  <a:xfrm>
                    <a:off x="2432" y="3206"/>
                    <a:ext cx="1127" cy="48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1400"/>
                      <a:t>Core</a:t>
                    </a:r>
                  </a:p>
                </p:txBody>
              </p:sp>
              <p:sp>
                <p:nvSpPr>
                  <p:cNvPr id="187" name="文本框 186"/>
                  <p:cNvSpPr txBox="1"/>
                  <p:nvPr/>
                </p:nvSpPr>
                <p:spPr>
                  <a:xfrm>
                    <a:off x="2404" y="2723"/>
                    <a:ext cx="1127" cy="48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1400"/>
                      <a:t>N3D</a:t>
                    </a:r>
                  </a:p>
                </p:txBody>
              </p:sp>
            </p:grpSp>
            <p:grpSp>
              <p:nvGrpSpPr>
                <p:cNvPr id="188" name="组合 187"/>
                <p:cNvGrpSpPr/>
                <p:nvPr/>
              </p:nvGrpSpPr>
              <p:grpSpPr>
                <a:xfrm>
                  <a:off x="4309" y="2605"/>
                  <a:ext cx="1154" cy="1063"/>
                  <a:chOff x="2404" y="2625"/>
                  <a:chExt cx="1154" cy="1063"/>
                </a:xfrm>
              </p:grpSpPr>
              <p:sp>
                <p:nvSpPr>
                  <p:cNvPr id="189" name="平行四边形 188"/>
                  <p:cNvSpPr/>
                  <p:nvPr/>
                </p:nvSpPr>
                <p:spPr>
                  <a:xfrm>
                    <a:off x="2607" y="2965"/>
                    <a:ext cx="868" cy="665"/>
                  </a:xfrm>
                  <a:prstGeom prst="parallelogram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3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altLang="zh-CN" sz="1200"/>
                  </a:p>
                </p:txBody>
              </p:sp>
              <p:sp>
                <p:nvSpPr>
                  <p:cNvPr id="190" name="平行四边形 189"/>
                  <p:cNvSpPr/>
                  <p:nvPr/>
                </p:nvSpPr>
                <p:spPr>
                  <a:xfrm>
                    <a:off x="2551" y="2625"/>
                    <a:ext cx="868" cy="665"/>
                  </a:xfrm>
                  <a:prstGeom prst="parallelogram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3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altLang="zh-CN" sz="1200">
                      <a:solidFill>
                        <a:schemeClr val="bg1">
                          <a:lumMod val="75000"/>
                        </a:schemeClr>
                      </a:solidFill>
                    </a:endParaRPr>
                  </a:p>
                </p:txBody>
              </p:sp>
              <p:sp>
                <p:nvSpPr>
                  <p:cNvPr id="191" name="文本框 190"/>
                  <p:cNvSpPr txBox="1"/>
                  <p:nvPr/>
                </p:nvSpPr>
                <p:spPr>
                  <a:xfrm>
                    <a:off x="2432" y="3206"/>
                    <a:ext cx="1127" cy="48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1400"/>
                      <a:t>Core</a:t>
                    </a:r>
                  </a:p>
                </p:txBody>
              </p:sp>
              <p:sp>
                <p:nvSpPr>
                  <p:cNvPr id="192" name="文本框 191"/>
                  <p:cNvSpPr txBox="1"/>
                  <p:nvPr/>
                </p:nvSpPr>
                <p:spPr>
                  <a:xfrm>
                    <a:off x="2404" y="2723"/>
                    <a:ext cx="1127" cy="48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1400"/>
                      <a:t>N3D</a:t>
                    </a:r>
                  </a:p>
                </p:txBody>
              </p:sp>
            </p:grpSp>
            <p:grpSp>
              <p:nvGrpSpPr>
                <p:cNvPr id="193" name="组合 192"/>
                <p:cNvGrpSpPr/>
                <p:nvPr/>
              </p:nvGrpSpPr>
              <p:grpSpPr>
                <a:xfrm>
                  <a:off x="5496" y="2602"/>
                  <a:ext cx="1154" cy="1063"/>
                  <a:chOff x="2404" y="2625"/>
                  <a:chExt cx="1154" cy="1063"/>
                </a:xfrm>
              </p:grpSpPr>
              <p:sp>
                <p:nvSpPr>
                  <p:cNvPr id="194" name="平行四边形 193"/>
                  <p:cNvSpPr/>
                  <p:nvPr/>
                </p:nvSpPr>
                <p:spPr>
                  <a:xfrm>
                    <a:off x="2607" y="2965"/>
                    <a:ext cx="868" cy="665"/>
                  </a:xfrm>
                  <a:prstGeom prst="parallelogram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3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altLang="zh-CN" sz="1200"/>
                  </a:p>
                </p:txBody>
              </p:sp>
              <p:sp>
                <p:nvSpPr>
                  <p:cNvPr id="195" name="平行四边形 194"/>
                  <p:cNvSpPr/>
                  <p:nvPr/>
                </p:nvSpPr>
                <p:spPr>
                  <a:xfrm>
                    <a:off x="2551" y="2625"/>
                    <a:ext cx="868" cy="665"/>
                  </a:xfrm>
                  <a:prstGeom prst="parallelogram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3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altLang="zh-CN" sz="1200">
                      <a:solidFill>
                        <a:schemeClr val="bg1">
                          <a:lumMod val="75000"/>
                        </a:schemeClr>
                      </a:solidFill>
                    </a:endParaRPr>
                  </a:p>
                </p:txBody>
              </p:sp>
              <p:sp>
                <p:nvSpPr>
                  <p:cNvPr id="196" name="文本框 195"/>
                  <p:cNvSpPr txBox="1"/>
                  <p:nvPr/>
                </p:nvSpPr>
                <p:spPr>
                  <a:xfrm>
                    <a:off x="2432" y="3206"/>
                    <a:ext cx="1127" cy="48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1400"/>
                      <a:t>Core</a:t>
                    </a:r>
                  </a:p>
                </p:txBody>
              </p:sp>
              <p:sp>
                <p:nvSpPr>
                  <p:cNvPr id="197" name="文本框 196"/>
                  <p:cNvSpPr txBox="1"/>
                  <p:nvPr/>
                </p:nvSpPr>
                <p:spPr>
                  <a:xfrm>
                    <a:off x="2404" y="2723"/>
                    <a:ext cx="1127" cy="48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1400"/>
                      <a:t>N3D</a:t>
                    </a:r>
                  </a:p>
                </p:txBody>
              </p:sp>
            </p:grpSp>
            <p:sp>
              <p:nvSpPr>
                <p:cNvPr id="198" name="左右箭头 197"/>
                <p:cNvSpPr/>
                <p:nvPr/>
              </p:nvSpPr>
              <p:spPr>
                <a:xfrm>
                  <a:off x="2927" y="3337"/>
                  <a:ext cx="477" cy="216"/>
                </a:xfrm>
                <a:prstGeom prst="leftRightArrow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99" name="左右箭头 198"/>
                <p:cNvSpPr/>
                <p:nvPr/>
              </p:nvSpPr>
              <p:spPr>
                <a:xfrm>
                  <a:off x="4093" y="3349"/>
                  <a:ext cx="477" cy="216"/>
                </a:xfrm>
                <a:prstGeom prst="leftRightArrow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00" name="左右箭头 199"/>
                <p:cNvSpPr/>
                <p:nvPr/>
              </p:nvSpPr>
              <p:spPr>
                <a:xfrm>
                  <a:off x="5259" y="3349"/>
                  <a:ext cx="477" cy="216"/>
                </a:xfrm>
                <a:prstGeom prst="leftRightArrow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grpSp>
          <p:nvGrpSpPr>
            <p:cNvPr id="201" name="组合 200"/>
            <p:cNvGrpSpPr/>
            <p:nvPr/>
          </p:nvGrpSpPr>
          <p:grpSpPr>
            <a:xfrm>
              <a:off x="1822" y="5956"/>
              <a:ext cx="4666" cy="1270"/>
              <a:chOff x="1840" y="3602"/>
              <a:chExt cx="4666" cy="1270"/>
            </a:xfrm>
          </p:grpSpPr>
          <p:sp>
            <p:nvSpPr>
              <p:cNvPr id="202" name="左右箭头 201"/>
              <p:cNvSpPr/>
              <p:nvPr/>
            </p:nvSpPr>
            <p:spPr>
              <a:xfrm rot="5400000">
                <a:off x="3425" y="3737"/>
                <a:ext cx="477" cy="216"/>
              </a:xfrm>
              <a:prstGeom prst="leftRightArrow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3" name="左右箭头 202"/>
              <p:cNvSpPr/>
              <p:nvPr/>
            </p:nvSpPr>
            <p:spPr>
              <a:xfrm rot="5400000">
                <a:off x="4633" y="3737"/>
                <a:ext cx="477" cy="216"/>
              </a:xfrm>
              <a:prstGeom prst="leftRightArrow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4" name="左右箭头 203"/>
              <p:cNvSpPr/>
              <p:nvPr/>
            </p:nvSpPr>
            <p:spPr>
              <a:xfrm rot="5400000">
                <a:off x="5750" y="3732"/>
                <a:ext cx="477" cy="216"/>
              </a:xfrm>
              <a:prstGeom prst="leftRightArrow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5" name="左右箭头 204"/>
              <p:cNvSpPr/>
              <p:nvPr/>
            </p:nvSpPr>
            <p:spPr>
              <a:xfrm rot="5400000">
                <a:off x="2294" y="3755"/>
                <a:ext cx="477" cy="216"/>
              </a:xfrm>
              <a:prstGeom prst="leftRightArrow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206" name="组合 205"/>
              <p:cNvGrpSpPr/>
              <p:nvPr/>
            </p:nvGrpSpPr>
            <p:grpSpPr>
              <a:xfrm>
                <a:off x="1840" y="3787"/>
                <a:ext cx="4666" cy="1085"/>
                <a:chOff x="1984" y="2602"/>
                <a:chExt cx="4666" cy="1085"/>
              </a:xfrm>
            </p:grpSpPr>
            <p:grpSp>
              <p:nvGrpSpPr>
                <p:cNvPr id="207" name="组合 206"/>
                <p:cNvGrpSpPr/>
                <p:nvPr/>
              </p:nvGrpSpPr>
              <p:grpSpPr>
                <a:xfrm>
                  <a:off x="1984" y="2625"/>
                  <a:ext cx="1154" cy="1063"/>
                  <a:chOff x="2404" y="2625"/>
                  <a:chExt cx="1154" cy="1063"/>
                </a:xfrm>
              </p:grpSpPr>
              <p:sp>
                <p:nvSpPr>
                  <p:cNvPr id="208" name="平行四边形 207"/>
                  <p:cNvSpPr/>
                  <p:nvPr/>
                </p:nvSpPr>
                <p:spPr>
                  <a:xfrm>
                    <a:off x="2607" y="2965"/>
                    <a:ext cx="868" cy="665"/>
                  </a:xfrm>
                  <a:prstGeom prst="parallelogram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3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altLang="zh-CN" sz="1200"/>
                  </a:p>
                </p:txBody>
              </p:sp>
              <p:sp>
                <p:nvSpPr>
                  <p:cNvPr id="209" name="平行四边形 208"/>
                  <p:cNvSpPr/>
                  <p:nvPr/>
                </p:nvSpPr>
                <p:spPr>
                  <a:xfrm>
                    <a:off x="2551" y="2625"/>
                    <a:ext cx="868" cy="665"/>
                  </a:xfrm>
                  <a:prstGeom prst="parallelogram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3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altLang="zh-CN" sz="1200">
                      <a:solidFill>
                        <a:schemeClr val="bg1">
                          <a:lumMod val="75000"/>
                        </a:schemeClr>
                      </a:solidFill>
                    </a:endParaRPr>
                  </a:p>
                </p:txBody>
              </p:sp>
              <p:sp>
                <p:nvSpPr>
                  <p:cNvPr id="210" name="文本框 209"/>
                  <p:cNvSpPr txBox="1"/>
                  <p:nvPr/>
                </p:nvSpPr>
                <p:spPr>
                  <a:xfrm>
                    <a:off x="2432" y="3206"/>
                    <a:ext cx="1127" cy="48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1400"/>
                      <a:t>Core</a:t>
                    </a:r>
                  </a:p>
                </p:txBody>
              </p:sp>
              <p:sp>
                <p:nvSpPr>
                  <p:cNvPr id="211" name="文本框 210"/>
                  <p:cNvSpPr txBox="1"/>
                  <p:nvPr/>
                </p:nvSpPr>
                <p:spPr>
                  <a:xfrm>
                    <a:off x="2404" y="2723"/>
                    <a:ext cx="1127" cy="48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1400"/>
                      <a:t>N3D</a:t>
                    </a:r>
                  </a:p>
                </p:txBody>
              </p:sp>
            </p:grpSp>
            <p:grpSp>
              <p:nvGrpSpPr>
                <p:cNvPr id="212" name="组合 211"/>
                <p:cNvGrpSpPr/>
                <p:nvPr/>
              </p:nvGrpSpPr>
              <p:grpSpPr>
                <a:xfrm>
                  <a:off x="3157" y="2605"/>
                  <a:ext cx="1154" cy="1063"/>
                  <a:chOff x="2404" y="2625"/>
                  <a:chExt cx="1154" cy="1063"/>
                </a:xfrm>
              </p:grpSpPr>
              <p:sp>
                <p:nvSpPr>
                  <p:cNvPr id="213" name="平行四边形 212"/>
                  <p:cNvSpPr/>
                  <p:nvPr/>
                </p:nvSpPr>
                <p:spPr>
                  <a:xfrm>
                    <a:off x="2607" y="2965"/>
                    <a:ext cx="868" cy="665"/>
                  </a:xfrm>
                  <a:prstGeom prst="parallelogram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3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altLang="zh-CN" sz="1200"/>
                  </a:p>
                </p:txBody>
              </p:sp>
              <p:sp>
                <p:nvSpPr>
                  <p:cNvPr id="214" name="平行四边形 213"/>
                  <p:cNvSpPr/>
                  <p:nvPr/>
                </p:nvSpPr>
                <p:spPr>
                  <a:xfrm>
                    <a:off x="2551" y="2625"/>
                    <a:ext cx="868" cy="665"/>
                  </a:xfrm>
                  <a:prstGeom prst="parallelogram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3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altLang="zh-CN" sz="1200">
                      <a:solidFill>
                        <a:schemeClr val="bg1">
                          <a:lumMod val="75000"/>
                        </a:schemeClr>
                      </a:solidFill>
                    </a:endParaRPr>
                  </a:p>
                </p:txBody>
              </p:sp>
              <p:sp>
                <p:nvSpPr>
                  <p:cNvPr id="215" name="文本框 214"/>
                  <p:cNvSpPr txBox="1"/>
                  <p:nvPr/>
                </p:nvSpPr>
                <p:spPr>
                  <a:xfrm>
                    <a:off x="2432" y="3206"/>
                    <a:ext cx="1127" cy="48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1400"/>
                      <a:t>Core</a:t>
                    </a:r>
                  </a:p>
                </p:txBody>
              </p:sp>
              <p:sp>
                <p:nvSpPr>
                  <p:cNvPr id="216" name="文本框 215"/>
                  <p:cNvSpPr txBox="1"/>
                  <p:nvPr/>
                </p:nvSpPr>
                <p:spPr>
                  <a:xfrm>
                    <a:off x="2404" y="2723"/>
                    <a:ext cx="1127" cy="48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1400"/>
                      <a:t>N3D</a:t>
                    </a:r>
                  </a:p>
                </p:txBody>
              </p:sp>
            </p:grpSp>
            <p:grpSp>
              <p:nvGrpSpPr>
                <p:cNvPr id="217" name="组合 216"/>
                <p:cNvGrpSpPr/>
                <p:nvPr/>
              </p:nvGrpSpPr>
              <p:grpSpPr>
                <a:xfrm>
                  <a:off x="4309" y="2605"/>
                  <a:ext cx="1154" cy="1063"/>
                  <a:chOff x="2404" y="2625"/>
                  <a:chExt cx="1154" cy="1063"/>
                </a:xfrm>
              </p:grpSpPr>
              <p:sp>
                <p:nvSpPr>
                  <p:cNvPr id="218" name="平行四边形 217"/>
                  <p:cNvSpPr/>
                  <p:nvPr/>
                </p:nvSpPr>
                <p:spPr>
                  <a:xfrm>
                    <a:off x="2607" y="2965"/>
                    <a:ext cx="868" cy="665"/>
                  </a:xfrm>
                  <a:prstGeom prst="parallelogram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3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altLang="zh-CN" sz="1200"/>
                  </a:p>
                </p:txBody>
              </p:sp>
              <p:sp>
                <p:nvSpPr>
                  <p:cNvPr id="219" name="平行四边形 218"/>
                  <p:cNvSpPr/>
                  <p:nvPr/>
                </p:nvSpPr>
                <p:spPr>
                  <a:xfrm>
                    <a:off x="2551" y="2625"/>
                    <a:ext cx="868" cy="665"/>
                  </a:xfrm>
                  <a:prstGeom prst="parallelogram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3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altLang="zh-CN" sz="1200">
                      <a:solidFill>
                        <a:schemeClr val="bg1">
                          <a:lumMod val="75000"/>
                        </a:schemeClr>
                      </a:solidFill>
                    </a:endParaRPr>
                  </a:p>
                </p:txBody>
              </p:sp>
              <p:sp>
                <p:nvSpPr>
                  <p:cNvPr id="220" name="文本框 219"/>
                  <p:cNvSpPr txBox="1"/>
                  <p:nvPr/>
                </p:nvSpPr>
                <p:spPr>
                  <a:xfrm>
                    <a:off x="2432" y="3206"/>
                    <a:ext cx="1127" cy="48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1400"/>
                      <a:t>Core</a:t>
                    </a:r>
                  </a:p>
                </p:txBody>
              </p:sp>
              <p:sp>
                <p:nvSpPr>
                  <p:cNvPr id="221" name="文本框 220"/>
                  <p:cNvSpPr txBox="1"/>
                  <p:nvPr/>
                </p:nvSpPr>
                <p:spPr>
                  <a:xfrm>
                    <a:off x="2404" y="2723"/>
                    <a:ext cx="1127" cy="48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1400"/>
                      <a:t>N3D</a:t>
                    </a:r>
                  </a:p>
                </p:txBody>
              </p:sp>
            </p:grpSp>
            <p:grpSp>
              <p:nvGrpSpPr>
                <p:cNvPr id="222" name="组合 221"/>
                <p:cNvGrpSpPr/>
                <p:nvPr/>
              </p:nvGrpSpPr>
              <p:grpSpPr>
                <a:xfrm>
                  <a:off x="5496" y="2602"/>
                  <a:ext cx="1154" cy="1063"/>
                  <a:chOff x="2404" y="2625"/>
                  <a:chExt cx="1154" cy="1063"/>
                </a:xfrm>
              </p:grpSpPr>
              <p:sp>
                <p:nvSpPr>
                  <p:cNvPr id="223" name="平行四边形 222"/>
                  <p:cNvSpPr/>
                  <p:nvPr/>
                </p:nvSpPr>
                <p:spPr>
                  <a:xfrm>
                    <a:off x="2607" y="2965"/>
                    <a:ext cx="868" cy="665"/>
                  </a:xfrm>
                  <a:prstGeom prst="parallelogram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3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altLang="zh-CN" sz="1200"/>
                  </a:p>
                </p:txBody>
              </p:sp>
              <p:sp>
                <p:nvSpPr>
                  <p:cNvPr id="224" name="平行四边形 223"/>
                  <p:cNvSpPr/>
                  <p:nvPr/>
                </p:nvSpPr>
                <p:spPr>
                  <a:xfrm>
                    <a:off x="2551" y="2625"/>
                    <a:ext cx="868" cy="665"/>
                  </a:xfrm>
                  <a:prstGeom prst="parallelogram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3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altLang="zh-CN" sz="1200">
                      <a:solidFill>
                        <a:schemeClr val="bg1">
                          <a:lumMod val="75000"/>
                        </a:schemeClr>
                      </a:solidFill>
                    </a:endParaRPr>
                  </a:p>
                </p:txBody>
              </p:sp>
              <p:sp>
                <p:nvSpPr>
                  <p:cNvPr id="225" name="文本框 224"/>
                  <p:cNvSpPr txBox="1"/>
                  <p:nvPr/>
                </p:nvSpPr>
                <p:spPr>
                  <a:xfrm>
                    <a:off x="2432" y="3206"/>
                    <a:ext cx="1127" cy="48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1400"/>
                      <a:t>Core</a:t>
                    </a:r>
                  </a:p>
                </p:txBody>
              </p:sp>
              <p:sp>
                <p:nvSpPr>
                  <p:cNvPr id="226" name="文本框 225"/>
                  <p:cNvSpPr txBox="1"/>
                  <p:nvPr/>
                </p:nvSpPr>
                <p:spPr>
                  <a:xfrm>
                    <a:off x="2404" y="2723"/>
                    <a:ext cx="1127" cy="48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1400"/>
                      <a:t>N3D</a:t>
                    </a:r>
                  </a:p>
                </p:txBody>
              </p:sp>
            </p:grpSp>
            <p:sp>
              <p:nvSpPr>
                <p:cNvPr id="227" name="左右箭头 226"/>
                <p:cNvSpPr/>
                <p:nvPr/>
              </p:nvSpPr>
              <p:spPr>
                <a:xfrm>
                  <a:off x="2927" y="3337"/>
                  <a:ext cx="477" cy="216"/>
                </a:xfrm>
                <a:prstGeom prst="leftRightArrow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28" name="左右箭头 227"/>
                <p:cNvSpPr/>
                <p:nvPr/>
              </p:nvSpPr>
              <p:spPr>
                <a:xfrm>
                  <a:off x="4093" y="3349"/>
                  <a:ext cx="477" cy="216"/>
                </a:xfrm>
                <a:prstGeom prst="leftRightArrow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29" name="左右箭头 228"/>
                <p:cNvSpPr/>
                <p:nvPr/>
              </p:nvSpPr>
              <p:spPr>
                <a:xfrm>
                  <a:off x="5259" y="3349"/>
                  <a:ext cx="477" cy="216"/>
                </a:xfrm>
                <a:prstGeom prst="leftRightArrow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</p:grpSp>
      <p:sp>
        <p:nvSpPr>
          <p:cNvPr id="231" name="文本框 230"/>
          <p:cNvSpPr txBox="1"/>
          <p:nvPr/>
        </p:nvSpPr>
        <p:spPr>
          <a:xfrm>
            <a:off x="1381125" y="4847590"/>
            <a:ext cx="143192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Die</a:t>
            </a:r>
          </a:p>
        </p:txBody>
      </p:sp>
      <p:sp>
        <p:nvSpPr>
          <p:cNvPr id="233" name="文本框 232"/>
          <p:cNvSpPr txBox="1"/>
          <p:nvPr/>
        </p:nvSpPr>
        <p:spPr>
          <a:xfrm>
            <a:off x="5008245" y="4843145"/>
            <a:ext cx="143192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Die</a:t>
            </a:r>
          </a:p>
        </p:txBody>
      </p:sp>
      <p:sp>
        <p:nvSpPr>
          <p:cNvPr id="234" name="左右箭头 233"/>
          <p:cNvSpPr/>
          <p:nvPr/>
        </p:nvSpPr>
        <p:spPr>
          <a:xfrm>
            <a:off x="3586480" y="3316605"/>
            <a:ext cx="598170" cy="210820"/>
          </a:xfrm>
          <a:prstGeom prst="left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5" name="下箭头 234"/>
          <p:cNvSpPr/>
          <p:nvPr/>
        </p:nvSpPr>
        <p:spPr>
          <a:xfrm>
            <a:off x="873125" y="2364105"/>
            <a:ext cx="238760" cy="201930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6" name="下箭头 235"/>
          <p:cNvSpPr/>
          <p:nvPr/>
        </p:nvSpPr>
        <p:spPr>
          <a:xfrm>
            <a:off x="1591310" y="2346325"/>
            <a:ext cx="238760" cy="201930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7" name="圆角矩形 236"/>
          <p:cNvSpPr/>
          <p:nvPr/>
        </p:nvSpPr>
        <p:spPr>
          <a:xfrm>
            <a:off x="742950" y="2301875"/>
            <a:ext cx="1249045" cy="309880"/>
          </a:xfrm>
          <a:prstGeom prst="roundRect">
            <a:avLst/>
          </a:prstGeom>
          <a:noFill/>
          <a:ln w="28575">
            <a:solidFill>
              <a:srgbClr val="C00000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8" name="文本框 237"/>
          <p:cNvSpPr txBox="1"/>
          <p:nvPr/>
        </p:nvSpPr>
        <p:spPr>
          <a:xfrm>
            <a:off x="287655" y="1122045"/>
            <a:ext cx="2507615" cy="73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buFont typeface="Arial" panose="020B0604020202020204" pitchFamily="34" charset="0"/>
              <a:buNone/>
            </a:pPr>
            <a:r>
              <a:rPr lang="en-US" altLang="zh-CN" sz="1400" b="1" dirty="0">
                <a:ln>
                  <a:noFill/>
                </a:ln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Vertical Interconnect: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400" b="1" dirty="0">
                <a:ln>
                  <a:noFill/>
                </a:ln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High Bandwidth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400" b="1" dirty="0">
                <a:ln>
                  <a:noFill/>
                </a:ln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Low Latency</a:t>
            </a:r>
          </a:p>
        </p:txBody>
      </p:sp>
      <p:sp>
        <p:nvSpPr>
          <p:cNvPr id="239" name="文本框 238"/>
          <p:cNvSpPr txBox="1"/>
          <p:nvPr/>
        </p:nvSpPr>
        <p:spPr>
          <a:xfrm>
            <a:off x="287655" y="5184775"/>
            <a:ext cx="4222750" cy="73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buFont typeface="Arial" panose="020B0604020202020204" pitchFamily="34" charset="0"/>
              <a:buNone/>
            </a:pPr>
            <a:r>
              <a:rPr lang="en-US" altLang="zh-CN" sz="1400" b="1" dirty="0">
                <a:ln>
                  <a:noFill/>
                </a:ln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Intra-Die N3D Remote Access: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400" b="1" dirty="0">
                <a:ln>
                  <a:noFill/>
                </a:ln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Limited Bandwidth due to the NoC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400" b="1" dirty="0">
                <a:ln>
                  <a:noFill/>
                </a:ln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Latency is somewhat higher</a:t>
            </a:r>
          </a:p>
        </p:txBody>
      </p:sp>
      <p:cxnSp>
        <p:nvCxnSpPr>
          <p:cNvPr id="241" name="直接连接符 240"/>
          <p:cNvCxnSpPr/>
          <p:nvPr/>
        </p:nvCxnSpPr>
        <p:spPr>
          <a:xfrm flipH="1">
            <a:off x="2428240" y="4625975"/>
            <a:ext cx="9525" cy="21717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2" name="直接箭头连接符 241"/>
          <p:cNvCxnSpPr/>
          <p:nvPr/>
        </p:nvCxnSpPr>
        <p:spPr>
          <a:xfrm flipH="1">
            <a:off x="1111885" y="4843145"/>
            <a:ext cx="1325880" cy="0"/>
          </a:xfrm>
          <a:prstGeom prst="straightConnector1">
            <a:avLst/>
          </a:prstGeom>
          <a:ln w="38100">
            <a:solidFill>
              <a:srgbClr val="0070C0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43" name="圆角矩形 242"/>
          <p:cNvSpPr/>
          <p:nvPr/>
        </p:nvSpPr>
        <p:spPr>
          <a:xfrm>
            <a:off x="1007745" y="4596130"/>
            <a:ext cx="1601470" cy="361315"/>
          </a:xfrm>
          <a:prstGeom prst="roundRect">
            <a:avLst/>
          </a:prstGeom>
          <a:noFill/>
          <a:ln w="28575">
            <a:solidFill>
              <a:srgbClr val="C00000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44" name="直接连接符 243"/>
          <p:cNvCxnSpPr/>
          <p:nvPr/>
        </p:nvCxnSpPr>
        <p:spPr>
          <a:xfrm flipH="1">
            <a:off x="3190240" y="2379345"/>
            <a:ext cx="9525" cy="21717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5" name="直接箭头连接符 244"/>
          <p:cNvCxnSpPr/>
          <p:nvPr/>
        </p:nvCxnSpPr>
        <p:spPr>
          <a:xfrm flipV="1">
            <a:off x="3199765" y="2566035"/>
            <a:ext cx="1310640" cy="12700"/>
          </a:xfrm>
          <a:prstGeom prst="straightConnector1">
            <a:avLst/>
          </a:prstGeom>
          <a:ln w="19050">
            <a:solidFill>
              <a:srgbClr val="0070C0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46" name="圆角矩形 245"/>
          <p:cNvSpPr/>
          <p:nvPr/>
        </p:nvSpPr>
        <p:spPr>
          <a:xfrm>
            <a:off x="3092450" y="2339340"/>
            <a:ext cx="1601470" cy="334010"/>
          </a:xfrm>
          <a:prstGeom prst="roundRect">
            <a:avLst/>
          </a:prstGeom>
          <a:noFill/>
          <a:ln w="28575">
            <a:solidFill>
              <a:srgbClr val="C00000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8" name="文本框 247"/>
          <p:cNvSpPr txBox="1"/>
          <p:nvPr/>
        </p:nvSpPr>
        <p:spPr>
          <a:xfrm>
            <a:off x="4184650" y="1122045"/>
            <a:ext cx="2851785" cy="73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buFont typeface="Arial" panose="020B0604020202020204" pitchFamily="34" charset="0"/>
              <a:buNone/>
            </a:pPr>
            <a:r>
              <a:rPr lang="en-US" altLang="zh-CN" sz="1400" b="1" dirty="0">
                <a:ln>
                  <a:noFill/>
                </a:ln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Inter-Die N3D Remote Access: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400" b="1" dirty="0">
                <a:ln>
                  <a:noFill/>
                </a:ln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Low Bandwidth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400" b="1" dirty="0">
                <a:ln>
                  <a:noFill/>
                </a:ln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High Latency</a:t>
            </a:r>
          </a:p>
        </p:txBody>
      </p:sp>
      <p:sp>
        <p:nvSpPr>
          <p:cNvPr id="250" name="文本框 249"/>
          <p:cNvSpPr txBox="1"/>
          <p:nvPr/>
        </p:nvSpPr>
        <p:spPr>
          <a:xfrm>
            <a:off x="7376795" y="1323975"/>
            <a:ext cx="4708525" cy="4799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Wingdings" panose="05000000000000000000" charset="0"/>
              <a:buChar char="Ø"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Data in N3D memory needs to be </a:t>
            </a:r>
            <a:r>
              <a:rPr lang="en-US" altLang="zh-CN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stored in a sharded manner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. Who shards the data, and how to shard data?</a:t>
            </a:r>
          </a:p>
          <a:p>
            <a:pPr marL="342900" indent="-342900" algn="l">
              <a:buFont typeface="Wingdings" panose="05000000000000000000" charset="0"/>
              <a:buChar char="Ø"/>
            </a:pP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algn="l">
              <a:buFont typeface="Wingdings" panose="05000000000000000000" charset="0"/>
              <a:buChar char="Ø"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Existing </a:t>
            </a:r>
            <a:r>
              <a:rPr lang="en-US" altLang="zh-CN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Operator programming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Models assume centralized data. How can they </a:t>
            </a:r>
            <a:r>
              <a:rPr lang="en-US" altLang="zh-CN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adapt to sharded storage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?</a:t>
            </a:r>
          </a:p>
          <a:p>
            <a:pPr marL="342900" indent="-342900" algn="l">
              <a:buFont typeface="Wingdings" panose="05000000000000000000" charset="0"/>
              <a:buChar char="Ø"/>
            </a:pP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algn="l">
              <a:buFont typeface="Wingdings" panose="05000000000000000000" charset="0"/>
              <a:buChar char="Ø"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Local vertical access is significantly more efficient than remote access. How can </a:t>
            </a:r>
            <a:r>
              <a:rPr lang="en-US" altLang="zh-CN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data accesses be kept local to N3D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as much as possible?</a:t>
            </a:r>
          </a:p>
          <a:p>
            <a:pPr marL="342900" indent="-342900" algn="l">
              <a:buFont typeface="Wingdings" panose="05000000000000000000" charset="0"/>
              <a:buChar char="Ø"/>
            </a:pP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algn="l">
              <a:buFont typeface="Wingdings" panose="05000000000000000000" charset="0"/>
              <a:buChar char="Ø"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How can </a:t>
            </a:r>
            <a:r>
              <a:rPr lang="en-US" altLang="zh-CN" sz="1800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PyTorch's</a:t>
            </a:r>
            <a:r>
              <a:rPr lang="en-US" altLang="zh-CN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mainstream Eager Mode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achieve high performance on N3D?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矩形 35"/>
          <p:cNvSpPr/>
          <p:nvPr/>
        </p:nvSpPr>
        <p:spPr>
          <a:xfrm>
            <a:off x="334645" y="120650"/>
            <a:ext cx="9036685" cy="5257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defRPr/>
            </a:pPr>
            <a:r>
              <a:rPr kumimoji="1"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What kind of software technoloy is requied?</a:t>
            </a:r>
            <a:endParaRPr kumimoji="1" lang="en-US" altLang="zh-CN" sz="2800" b="1" dirty="0">
              <a:solidFill>
                <a:srgbClr val="256ED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Gautami" panose="020B0502040204020203" pitchFamily="34" charset="0"/>
              <a:sym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17245" y="1049020"/>
            <a:ext cx="10745470" cy="706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/>
            <a:r>
              <a:rPr lang="en-US" altLang="zh-CN" sz="2000" b="1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The 3D DRAM-based chip architectures require new software technologies, but it must also remain compatible with the current software ecosystem.</a:t>
            </a:r>
          </a:p>
        </p:txBody>
      </p:sp>
      <p:pic>
        <p:nvPicPr>
          <p:cNvPr id="407" name="图像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6605" y="2103120"/>
            <a:ext cx="2202815" cy="317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" name="文本框 3"/>
          <p:cNvSpPr txBox="1"/>
          <p:nvPr/>
        </p:nvSpPr>
        <p:spPr>
          <a:xfrm>
            <a:off x="882015" y="2941955"/>
            <a:ext cx="10495915" cy="31381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/>
            <a:r>
              <a:rPr lang="en-US" altLang="zh-CN" sz="1800" b="1" i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Open3D-PIMC</a:t>
            </a:r>
            <a:r>
              <a:rPr lang="en-US" altLang="zh-CN" sz="1800" b="0" i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is an Open-source Compiler Framework for 3D-DRAM based Processing-In-Memory Architecture. It takes mainstream frameworks such as PyTorch as the frontend, uses Graph/Eager hybrid execution for dynamic models.</a:t>
            </a:r>
          </a:p>
          <a:p>
            <a:pPr marL="0" indent="0"/>
            <a:endParaRPr lang="en-US" altLang="zh-CN" sz="1800" b="0" i="0">
              <a:solidFill>
                <a:srgbClr val="1F232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zh-CN" sz="1800" b="0" i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N3D Graph Compile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800" b="0" i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N3D tensor sharding, N3D residency, Weight Preload, KV Cache Flush/Fetch, et al.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800" b="0" i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From the graph perspective, ensure data access locality.</a:t>
            </a:r>
          </a:p>
          <a:p>
            <a:pPr marL="0" indent="0"/>
            <a:endParaRPr lang="en-US" altLang="zh-CN" sz="1800" b="0" i="0">
              <a:solidFill>
                <a:srgbClr val="1F232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zh-CN" sz="1800" b="0" i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N3D Eager Mode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800" b="0" i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Handle </a:t>
            </a:r>
            <a:r>
              <a:rPr lang="en-US" altLang="zh-CN" sz="180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specific operators with strong dynamism</a:t>
            </a:r>
            <a:r>
              <a:rPr lang="en-US" altLang="zh-CN" sz="1800" b="0" i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Flash Decoding, MOE, et al.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800" b="0" i="0">
                <a:solidFill>
                  <a:srgbClr val="1F23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Provide N3D operator programming capabilities as well.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>
            <p:custDataLst>
              <p:tags r:id="rId1"/>
            </p:custDataLst>
          </p:nvPr>
        </p:nvGrpSpPr>
        <p:grpSpPr>
          <a:xfrm>
            <a:off x="5835015" y="3624580"/>
            <a:ext cx="6159500" cy="891540"/>
            <a:chOff x="4929969" y="1026723"/>
            <a:chExt cx="3118713" cy="668654"/>
          </a:xfrm>
        </p:grpSpPr>
        <p:sp>
          <p:nvSpPr>
            <p:cNvPr id="7" name="文本框 6"/>
            <p:cNvSpPr txBox="1"/>
            <p:nvPr>
              <p:custDataLst>
                <p:tags r:id="rId11"/>
              </p:custDataLst>
            </p:nvPr>
          </p:nvSpPr>
          <p:spPr>
            <a:xfrm>
              <a:off x="5500517" y="1026723"/>
              <a:ext cx="2548165" cy="6686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buClrTx/>
                <a:buSzTx/>
                <a:buFontTx/>
                <a:defRPr/>
              </a:pPr>
              <a:r>
                <a:rPr kumimoji="1" lang="en-US" altLang="zh-CN" sz="2600" dirty="0">
                  <a:solidFill>
                    <a:srgbClr val="256ED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Compiler Software Technology for 3D Architectures</a:t>
              </a:r>
            </a:p>
          </p:txBody>
        </p:sp>
        <p:sp>
          <p:nvSpPr>
            <p:cNvPr id="8" name="文本框 7"/>
            <p:cNvSpPr txBox="1"/>
            <p:nvPr>
              <p:custDataLst>
                <p:tags r:id="rId12"/>
              </p:custDataLst>
            </p:nvPr>
          </p:nvSpPr>
          <p:spPr>
            <a:xfrm>
              <a:off x="4929969" y="1046506"/>
              <a:ext cx="647856" cy="315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kumimoji="1" lang="en-US" altLang="zh-CN" sz="2135" dirty="0">
                  <a:solidFill>
                    <a:srgbClr val="256ED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微软雅黑" panose="020B0503020204020204" pitchFamily="34" charset="-122"/>
                </a:rPr>
                <a:t>03</a:t>
              </a:r>
              <a:r>
                <a:rPr kumimoji="1" lang="zh-CN" altLang="en-US" sz="2135" dirty="0">
                  <a:solidFill>
                    <a:srgbClr val="256ED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微软雅黑" panose="020B0503020204020204" pitchFamily="34" charset="-122"/>
                </a:rPr>
                <a:t> </a:t>
              </a:r>
              <a:r>
                <a:rPr kumimoji="1" lang="en-US" altLang="zh-CN" sz="2135" dirty="0">
                  <a:solidFill>
                    <a:srgbClr val="256ED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微软雅黑" panose="020B0503020204020204" pitchFamily="34" charset="-122"/>
                </a:rPr>
                <a:t>/</a:t>
              </a:r>
            </a:p>
          </p:txBody>
        </p:sp>
      </p:grpSp>
      <p:grpSp>
        <p:nvGrpSpPr>
          <p:cNvPr id="10" name="组合 9"/>
          <p:cNvGrpSpPr/>
          <p:nvPr>
            <p:custDataLst>
              <p:tags r:id="rId2"/>
            </p:custDataLst>
          </p:nvPr>
        </p:nvGrpSpPr>
        <p:grpSpPr>
          <a:xfrm>
            <a:off x="5883062" y="1443496"/>
            <a:ext cx="5990590" cy="672528"/>
            <a:chOff x="4929969" y="1026723"/>
            <a:chExt cx="4492943" cy="504396"/>
          </a:xfrm>
        </p:grpSpPr>
        <p:sp>
          <p:nvSpPr>
            <p:cNvPr id="11" name="文本框 10"/>
            <p:cNvSpPr txBox="1"/>
            <p:nvPr>
              <p:custDataLst>
                <p:tags r:id="rId9"/>
              </p:custDataLst>
            </p:nvPr>
          </p:nvSpPr>
          <p:spPr>
            <a:xfrm>
              <a:off x="5500517" y="1026723"/>
              <a:ext cx="3922395" cy="3452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defRPr/>
              </a:pPr>
              <a:r>
                <a:rPr kumimoji="1" lang="en-US" altLang="zh-CN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3D Chip Architectures</a:t>
              </a:r>
            </a:p>
          </p:txBody>
        </p:sp>
        <p:sp>
          <p:nvSpPr>
            <p:cNvPr id="12" name="文本框 11"/>
            <p:cNvSpPr txBox="1"/>
            <p:nvPr>
              <p:custDataLst>
                <p:tags r:id="rId10"/>
              </p:custDataLst>
            </p:nvPr>
          </p:nvSpPr>
          <p:spPr>
            <a:xfrm>
              <a:off x="4929969" y="1046506"/>
              <a:ext cx="647856" cy="3152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kumimoji="1" lang="en-US" altLang="zh-CN" sz="2135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微软雅黑" panose="020B0503020204020204" pitchFamily="34" charset="-122"/>
                </a:rPr>
                <a:t>01</a:t>
              </a:r>
              <a:r>
                <a:rPr kumimoji="1" lang="zh-CN" altLang="en-US" sz="2135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微软雅黑" panose="020B0503020204020204" pitchFamily="34" charset="-122"/>
                </a:rPr>
                <a:t> </a:t>
              </a:r>
              <a:r>
                <a:rPr kumimoji="1" lang="en-US" altLang="zh-CN" sz="2135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微软雅黑" panose="020B0503020204020204" pitchFamily="34" charset="-122"/>
                </a:rPr>
                <a:t>/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5577824" y="1319041"/>
              <a:ext cx="3172925" cy="21207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endParaRPr lang="zh-CN" altLang="en-US" sz="935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19" name="组合 18"/>
          <p:cNvGrpSpPr/>
          <p:nvPr>
            <p:custDataLst>
              <p:tags r:id="rId3"/>
            </p:custDataLst>
          </p:nvPr>
        </p:nvGrpSpPr>
        <p:grpSpPr>
          <a:xfrm>
            <a:off x="5808345" y="4847590"/>
            <a:ext cx="5954395" cy="672465"/>
            <a:chOff x="4929969" y="1026723"/>
            <a:chExt cx="3820780" cy="504396"/>
          </a:xfrm>
        </p:grpSpPr>
        <p:sp>
          <p:nvSpPr>
            <p:cNvPr id="20" name="文本框 19"/>
            <p:cNvSpPr txBox="1"/>
            <p:nvPr>
              <p:custDataLst>
                <p:tags r:id="rId7"/>
              </p:custDataLst>
            </p:nvPr>
          </p:nvSpPr>
          <p:spPr>
            <a:xfrm>
              <a:off x="5500517" y="1026723"/>
              <a:ext cx="2986564" cy="3453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buClrTx/>
                <a:buSzTx/>
                <a:buFontTx/>
                <a:defRPr/>
              </a:pPr>
              <a:r>
                <a:rPr kumimoji="1" lang="en-US" altLang="zh-CN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LLM Inference on 3D Chips</a:t>
              </a:r>
            </a:p>
          </p:txBody>
        </p:sp>
        <p:sp>
          <p:nvSpPr>
            <p:cNvPr id="21" name="文本框 20"/>
            <p:cNvSpPr txBox="1"/>
            <p:nvPr>
              <p:custDataLst>
                <p:tags r:id="rId8"/>
              </p:custDataLst>
            </p:nvPr>
          </p:nvSpPr>
          <p:spPr>
            <a:xfrm>
              <a:off x="4929969" y="1046506"/>
              <a:ext cx="647856" cy="315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kumimoji="1" lang="en-US" altLang="zh-CN" sz="2135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微软雅黑" panose="020B0503020204020204" pitchFamily="34" charset="-122"/>
                </a:rPr>
                <a:t>04</a:t>
              </a:r>
              <a:r>
                <a:rPr kumimoji="1" lang="zh-CN" altLang="en-US" sz="2135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微软雅黑" panose="020B0503020204020204" pitchFamily="34" charset="-122"/>
                </a:rPr>
                <a:t> </a:t>
              </a:r>
              <a:r>
                <a:rPr kumimoji="1" lang="en-US" altLang="zh-CN" sz="2135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微软雅黑" panose="020B0503020204020204" pitchFamily="34" charset="-122"/>
                </a:rPr>
                <a:t>/</a:t>
              </a:r>
            </a:p>
          </p:txBody>
        </p:sp>
        <p:sp>
          <p:nvSpPr>
            <p:cNvPr id="22" name="矩形 21"/>
            <p:cNvSpPr/>
            <p:nvPr/>
          </p:nvSpPr>
          <p:spPr>
            <a:xfrm>
              <a:off x="5577824" y="1319041"/>
              <a:ext cx="3172925" cy="21207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endParaRPr lang="zh-CN" altLang="en-US" sz="935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41" name="图片 40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604237" y="5053491"/>
            <a:ext cx="1694582" cy="1850535"/>
          </a:xfrm>
          <a:prstGeom prst="rect">
            <a:avLst/>
          </a:prstGeom>
        </p:spPr>
      </p:pic>
      <p:grpSp>
        <p:nvGrpSpPr>
          <p:cNvPr id="14" name="组合 13"/>
          <p:cNvGrpSpPr/>
          <p:nvPr>
            <p:custDataLst>
              <p:tags r:id="rId4"/>
            </p:custDataLst>
          </p:nvPr>
        </p:nvGrpSpPr>
        <p:grpSpPr>
          <a:xfrm>
            <a:off x="5879252" y="2420126"/>
            <a:ext cx="5990590" cy="829945"/>
            <a:chOff x="4929969" y="1026723"/>
            <a:chExt cx="4492943" cy="622459"/>
          </a:xfrm>
        </p:grpSpPr>
        <p:sp>
          <p:nvSpPr>
            <p:cNvPr id="23" name="文本框 22"/>
            <p:cNvSpPr txBox="1"/>
            <p:nvPr>
              <p:custDataLst>
                <p:tags r:id="rId5"/>
              </p:custDataLst>
            </p:nvPr>
          </p:nvSpPr>
          <p:spPr>
            <a:xfrm>
              <a:off x="5500517" y="1026723"/>
              <a:ext cx="3922395" cy="622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defRPr/>
              </a:pPr>
              <a:r>
                <a:rPr kumimoji="1" lang="en-US" altLang="zh-CN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What kind of software technoloy is requied?</a:t>
              </a:r>
            </a:p>
          </p:txBody>
        </p:sp>
        <p:sp>
          <p:nvSpPr>
            <p:cNvPr id="24" name="文本框 23"/>
            <p:cNvSpPr txBox="1"/>
            <p:nvPr>
              <p:custDataLst>
                <p:tags r:id="rId6"/>
              </p:custDataLst>
            </p:nvPr>
          </p:nvSpPr>
          <p:spPr>
            <a:xfrm>
              <a:off x="4929969" y="1046506"/>
              <a:ext cx="647856" cy="3152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kumimoji="1" lang="en-US" altLang="zh-CN" sz="2135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微软雅黑" panose="020B0503020204020204" pitchFamily="34" charset="-122"/>
                </a:rPr>
                <a:t>02</a:t>
              </a:r>
              <a:r>
                <a:rPr kumimoji="1" lang="zh-CN" altLang="en-US" sz="2135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微软雅黑" panose="020B0503020204020204" pitchFamily="34" charset="-122"/>
                </a:rPr>
                <a:t> </a:t>
              </a:r>
              <a:r>
                <a:rPr kumimoji="1" lang="en-US" altLang="zh-CN" sz="2135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微软雅黑" panose="020B0503020204020204" pitchFamily="34" charset="-122"/>
                </a:rPr>
                <a:t>/</a:t>
              </a:r>
            </a:p>
          </p:txBody>
        </p:sp>
        <p:sp>
          <p:nvSpPr>
            <p:cNvPr id="25" name="矩形 24"/>
            <p:cNvSpPr/>
            <p:nvPr/>
          </p:nvSpPr>
          <p:spPr>
            <a:xfrm>
              <a:off x="5577824" y="1319041"/>
              <a:ext cx="3172925" cy="21207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endParaRPr lang="zh-CN" altLang="en-US" sz="935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矩形 35"/>
          <p:cNvSpPr/>
          <p:nvPr/>
        </p:nvSpPr>
        <p:spPr>
          <a:xfrm>
            <a:off x="334645" y="120650"/>
            <a:ext cx="9036685" cy="5257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defRPr/>
            </a:pPr>
            <a:r>
              <a:rPr kumimoji="1"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Compiler Software Technology for 3D Architectures </a:t>
            </a:r>
            <a:endParaRPr kumimoji="1" lang="en-US" altLang="zh-CN" sz="2800" b="1" dirty="0">
              <a:solidFill>
                <a:srgbClr val="256ED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Gautami" panose="020B0502040204020203" pitchFamily="34" charset="0"/>
              <a:sym typeface="微软雅黑" panose="020B0503020204020204" pitchFamily="34" charset="-122"/>
            </a:endParaRPr>
          </a:p>
        </p:txBody>
      </p:sp>
      <p:sp>
        <p:nvSpPr>
          <p:cNvPr id="2" name="圆角矩形 1"/>
          <p:cNvSpPr/>
          <p:nvPr>
            <p:custDataLst>
              <p:tags r:id="rId1"/>
            </p:custDataLst>
          </p:nvPr>
        </p:nvSpPr>
        <p:spPr>
          <a:xfrm>
            <a:off x="353060" y="1108710"/>
            <a:ext cx="7766050" cy="47307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353060" y="1167130"/>
            <a:ext cx="269176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Framework Adapters</a:t>
            </a: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3270885" y="1212850"/>
            <a:ext cx="46380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PyTorch FX, Torch compile, JAX, XLA, et al.</a:t>
            </a:r>
          </a:p>
        </p:txBody>
      </p:sp>
      <p:sp>
        <p:nvSpPr>
          <p:cNvPr id="5" name="圆角矩形 4"/>
          <p:cNvSpPr/>
          <p:nvPr>
            <p:custDataLst>
              <p:tags r:id="rId4"/>
            </p:custDataLst>
          </p:nvPr>
        </p:nvSpPr>
        <p:spPr>
          <a:xfrm>
            <a:off x="353060" y="1872615"/>
            <a:ext cx="7766050" cy="47307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353060" y="1936115"/>
            <a:ext cx="269176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Capture &amp; Partition</a:t>
            </a: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3270885" y="1952625"/>
            <a:ext cx="46380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Graph/Eager Regions, Dynamic Buckets </a:t>
            </a:r>
          </a:p>
        </p:txBody>
      </p:sp>
      <p:sp>
        <p:nvSpPr>
          <p:cNvPr id="9" name="圆角矩形 8"/>
          <p:cNvSpPr/>
          <p:nvPr>
            <p:custDataLst>
              <p:tags r:id="rId7"/>
            </p:custDataLst>
          </p:nvPr>
        </p:nvSpPr>
        <p:spPr>
          <a:xfrm>
            <a:off x="353060" y="2635885"/>
            <a:ext cx="7766050" cy="47307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10" name="文本框 9"/>
          <p:cNvSpPr txBox="1"/>
          <p:nvPr>
            <p:custDataLst>
              <p:tags r:id="rId8"/>
            </p:custDataLst>
          </p:nvPr>
        </p:nvSpPr>
        <p:spPr>
          <a:xfrm>
            <a:off x="353060" y="2705735"/>
            <a:ext cx="269176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PIM Graph IR</a:t>
            </a:r>
          </a:p>
        </p:txBody>
      </p:sp>
      <p:sp>
        <p:nvSpPr>
          <p:cNvPr id="11" name="圆角矩形 10"/>
          <p:cNvSpPr/>
          <p:nvPr>
            <p:custDataLst>
              <p:tags r:id="rId9"/>
            </p:custDataLst>
          </p:nvPr>
        </p:nvSpPr>
        <p:spPr>
          <a:xfrm>
            <a:off x="353060" y="3417570"/>
            <a:ext cx="7766050" cy="47307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12" name="文本框 11"/>
          <p:cNvSpPr txBox="1"/>
          <p:nvPr>
            <p:custDataLst>
              <p:tags r:id="rId10"/>
            </p:custDataLst>
          </p:nvPr>
        </p:nvSpPr>
        <p:spPr>
          <a:xfrm>
            <a:off x="353060" y="3481070"/>
            <a:ext cx="269176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Tile Sharding</a:t>
            </a:r>
          </a:p>
        </p:txBody>
      </p:sp>
      <p:sp>
        <p:nvSpPr>
          <p:cNvPr id="13" name="圆角矩形 12"/>
          <p:cNvSpPr/>
          <p:nvPr>
            <p:custDataLst>
              <p:tags r:id="rId11"/>
            </p:custDataLst>
          </p:nvPr>
        </p:nvSpPr>
        <p:spPr>
          <a:xfrm>
            <a:off x="353060" y="4248150"/>
            <a:ext cx="7766050" cy="47307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14" name="文本框 13"/>
          <p:cNvSpPr txBox="1"/>
          <p:nvPr>
            <p:custDataLst>
              <p:tags r:id="rId12"/>
            </p:custDataLst>
          </p:nvPr>
        </p:nvSpPr>
        <p:spPr>
          <a:xfrm>
            <a:off x="353060" y="4305935"/>
            <a:ext cx="269176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L1/L0 Grouping</a:t>
            </a:r>
          </a:p>
        </p:txBody>
      </p:sp>
      <p:sp>
        <p:nvSpPr>
          <p:cNvPr id="16" name="圆角矩形 15"/>
          <p:cNvSpPr/>
          <p:nvPr>
            <p:custDataLst>
              <p:tags r:id="rId13"/>
            </p:custDataLst>
          </p:nvPr>
        </p:nvSpPr>
        <p:spPr>
          <a:xfrm>
            <a:off x="353060" y="5026025"/>
            <a:ext cx="7766050" cy="47307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17" name="文本框 16"/>
          <p:cNvSpPr txBox="1"/>
          <p:nvPr>
            <p:custDataLst>
              <p:tags r:id="rId14"/>
            </p:custDataLst>
          </p:nvPr>
        </p:nvSpPr>
        <p:spPr>
          <a:xfrm>
            <a:off x="353060" y="5066665"/>
            <a:ext cx="269176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Parallel Scheduling</a:t>
            </a:r>
          </a:p>
        </p:txBody>
      </p:sp>
      <p:sp>
        <p:nvSpPr>
          <p:cNvPr id="18" name="圆角矩形 17"/>
          <p:cNvSpPr/>
          <p:nvPr>
            <p:custDataLst>
              <p:tags r:id="rId15"/>
            </p:custDataLst>
          </p:nvPr>
        </p:nvSpPr>
        <p:spPr>
          <a:xfrm>
            <a:off x="353060" y="5799455"/>
            <a:ext cx="7766050" cy="47307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19" name="文本框 18"/>
          <p:cNvSpPr txBox="1"/>
          <p:nvPr>
            <p:custDataLst>
              <p:tags r:id="rId16"/>
            </p:custDataLst>
          </p:nvPr>
        </p:nvSpPr>
        <p:spPr>
          <a:xfrm>
            <a:off x="353060" y="5869940"/>
            <a:ext cx="269176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Multi-Kernel CodeGen</a:t>
            </a:r>
          </a:p>
        </p:txBody>
      </p:sp>
      <p:sp>
        <p:nvSpPr>
          <p:cNvPr id="20" name="文本框 19"/>
          <p:cNvSpPr txBox="1"/>
          <p:nvPr>
            <p:custDataLst>
              <p:tags r:id="rId17"/>
            </p:custDataLst>
          </p:nvPr>
        </p:nvSpPr>
        <p:spPr>
          <a:xfrm>
            <a:off x="3270885" y="2740660"/>
            <a:ext cx="46380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Tensor semantics, Symbolic shapes, Fusion </a:t>
            </a:r>
          </a:p>
        </p:txBody>
      </p:sp>
      <p:sp>
        <p:nvSpPr>
          <p:cNvPr id="21" name="文本框 20"/>
          <p:cNvSpPr txBox="1"/>
          <p:nvPr>
            <p:custDataLst>
              <p:tags r:id="rId18"/>
            </p:custDataLst>
          </p:nvPr>
        </p:nvSpPr>
        <p:spPr>
          <a:xfrm>
            <a:off x="3270885" y="3509010"/>
            <a:ext cx="480822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Multi-dimension N3D Sharding, Communications </a:t>
            </a:r>
          </a:p>
        </p:txBody>
      </p:sp>
      <p:sp>
        <p:nvSpPr>
          <p:cNvPr id="22" name="文本框 21"/>
          <p:cNvSpPr txBox="1"/>
          <p:nvPr>
            <p:custDataLst>
              <p:tags r:id="rId19"/>
            </p:custDataLst>
          </p:nvPr>
        </p:nvSpPr>
        <p:spPr>
          <a:xfrm>
            <a:off x="3270885" y="4347210"/>
            <a:ext cx="46380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Layout, N3D Whole Group, SRAM Residency </a:t>
            </a:r>
          </a:p>
        </p:txBody>
      </p:sp>
      <p:sp>
        <p:nvSpPr>
          <p:cNvPr id="23" name="文本框 22"/>
          <p:cNvSpPr txBox="1"/>
          <p:nvPr>
            <p:custDataLst>
              <p:tags r:id="rId20"/>
            </p:custDataLst>
          </p:nvPr>
        </p:nvSpPr>
        <p:spPr>
          <a:xfrm>
            <a:off x="3270885" y="5119370"/>
            <a:ext cx="480822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Compute, Communication, N3D Access, Parallel</a:t>
            </a:r>
          </a:p>
        </p:txBody>
      </p:sp>
      <p:sp>
        <p:nvSpPr>
          <p:cNvPr id="24" name="文本框 23"/>
          <p:cNvSpPr txBox="1"/>
          <p:nvPr>
            <p:custDataLst>
              <p:tags r:id="rId21"/>
            </p:custDataLst>
          </p:nvPr>
        </p:nvSpPr>
        <p:spPr>
          <a:xfrm>
            <a:off x="3270885" y="5884545"/>
            <a:ext cx="480822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N3D Compute, Weight Preload, KV Cache Flush/Fetch </a:t>
            </a:r>
          </a:p>
        </p:txBody>
      </p:sp>
      <p:cxnSp>
        <p:nvCxnSpPr>
          <p:cNvPr id="26" name="直接箭头连接符 25"/>
          <p:cNvCxnSpPr>
            <a:stCxn id="2" idx="2"/>
            <a:endCxn id="5" idx="0"/>
          </p:cNvCxnSpPr>
          <p:nvPr>
            <p:custDataLst>
              <p:tags r:id="rId22"/>
            </p:custDataLst>
          </p:nvPr>
        </p:nvCxnSpPr>
        <p:spPr>
          <a:xfrm>
            <a:off x="4236085" y="1581785"/>
            <a:ext cx="0" cy="290830"/>
          </a:xfrm>
          <a:prstGeom prst="straightConnector1">
            <a:avLst/>
          </a:prstGeom>
          <a:ln w="28575"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>
            <a:stCxn id="5" idx="2"/>
            <a:endCxn id="9" idx="0"/>
          </p:cNvCxnSpPr>
          <p:nvPr>
            <p:custDataLst>
              <p:tags r:id="rId23"/>
            </p:custDataLst>
          </p:nvPr>
        </p:nvCxnSpPr>
        <p:spPr>
          <a:xfrm>
            <a:off x="4236085" y="2345690"/>
            <a:ext cx="0" cy="290195"/>
          </a:xfrm>
          <a:prstGeom prst="straightConnector1">
            <a:avLst/>
          </a:prstGeom>
          <a:ln w="28575"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>
            <a:stCxn id="9" idx="2"/>
            <a:endCxn id="11" idx="0"/>
          </p:cNvCxnSpPr>
          <p:nvPr>
            <p:custDataLst>
              <p:tags r:id="rId24"/>
            </p:custDataLst>
          </p:nvPr>
        </p:nvCxnSpPr>
        <p:spPr>
          <a:xfrm>
            <a:off x="4236085" y="3108960"/>
            <a:ext cx="0" cy="308610"/>
          </a:xfrm>
          <a:prstGeom prst="straightConnector1">
            <a:avLst/>
          </a:prstGeom>
          <a:ln w="28575"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>
            <a:stCxn id="11" idx="2"/>
            <a:endCxn id="13" idx="0"/>
          </p:cNvCxnSpPr>
          <p:nvPr>
            <p:custDataLst>
              <p:tags r:id="rId25"/>
            </p:custDataLst>
          </p:nvPr>
        </p:nvCxnSpPr>
        <p:spPr>
          <a:xfrm>
            <a:off x="4236085" y="3890645"/>
            <a:ext cx="0" cy="357505"/>
          </a:xfrm>
          <a:prstGeom prst="straightConnector1">
            <a:avLst/>
          </a:prstGeom>
          <a:ln w="28575"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>
            <a:stCxn id="13" idx="2"/>
            <a:endCxn id="16" idx="0"/>
          </p:cNvCxnSpPr>
          <p:nvPr>
            <p:custDataLst>
              <p:tags r:id="rId26"/>
            </p:custDataLst>
          </p:nvPr>
        </p:nvCxnSpPr>
        <p:spPr>
          <a:xfrm>
            <a:off x="4236085" y="4721225"/>
            <a:ext cx="0" cy="304800"/>
          </a:xfrm>
          <a:prstGeom prst="straightConnector1">
            <a:avLst/>
          </a:prstGeom>
          <a:ln w="28575"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>
            <a:stCxn id="16" idx="2"/>
            <a:endCxn id="18" idx="0"/>
          </p:cNvCxnSpPr>
          <p:nvPr>
            <p:custDataLst>
              <p:tags r:id="rId27"/>
            </p:custDataLst>
          </p:nvPr>
        </p:nvCxnSpPr>
        <p:spPr>
          <a:xfrm>
            <a:off x="4236085" y="5499100"/>
            <a:ext cx="0" cy="300355"/>
          </a:xfrm>
          <a:prstGeom prst="straightConnector1">
            <a:avLst/>
          </a:prstGeom>
          <a:ln w="28575"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2" name="矩形 31"/>
          <p:cNvSpPr/>
          <p:nvPr>
            <p:custDataLst>
              <p:tags r:id="rId28"/>
            </p:custDataLst>
          </p:nvPr>
        </p:nvSpPr>
        <p:spPr>
          <a:xfrm>
            <a:off x="170180" y="915670"/>
            <a:ext cx="8068945" cy="1563370"/>
          </a:xfrm>
          <a:prstGeom prst="rect">
            <a:avLst/>
          </a:prstGeom>
          <a:noFill/>
          <a:ln w="19050">
            <a:solidFill>
              <a:srgbClr val="C00000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8382000" y="1289050"/>
            <a:ext cx="336931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600" b="1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Compatible with the current software ecosystem</a:t>
            </a:r>
          </a:p>
        </p:txBody>
      </p:sp>
      <p:sp>
        <p:nvSpPr>
          <p:cNvPr id="34" name="文本框 33"/>
          <p:cNvSpPr txBox="1"/>
          <p:nvPr/>
        </p:nvSpPr>
        <p:spPr>
          <a:xfrm>
            <a:off x="8382000" y="2540635"/>
            <a:ext cx="368998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600" b="1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Middle End IR with Tile-level</a:t>
            </a:r>
            <a:r>
              <a:rPr lang="zh-CN" altLang="en-US" sz="1600" b="1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en-US" altLang="zh-CN" sz="1600" b="1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Distribution Information</a:t>
            </a:r>
          </a:p>
        </p:txBody>
      </p:sp>
      <p:pic>
        <p:nvPicPr>
          <p:cNvPr id="407" name="图像" descr="图像"/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32"/>
          <a:stretch>
            <a:fillRect/>
          </a:stretch>
        </p:blipFill>
        <p:spPr>
          <a:xfrm>
            <a:off x="3270885" y="6405245"/>
            <a:ext cx="1927860" cy="27813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5" name="矩形 34"/>
          <p:cNvSpPr/>
          <p:nvPr>
            <p:custDataLst>
              <p:tags r:id="rId30"/>
            </p:custDataLst>
          </p:nvPr>
        </p:nvSpPr>
        <p:spPr>
          <a:xfrm>
            <a:off x="168275" y="3305175"/>
            <a:ext cx="8068945" cy="2273935"/>
          </a:xfrm>
          <a:prstGeom prst="rect">
            <a:avLst/>
          </a:prstGeom>
          <a:noFill/>
          <a:ln w="19050">
            <a:solidFill>
              <a:srgbClr val="C00000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/>
        </p:nvSpPr>
        <p:spPr>
          <a:xfrm>
            <a:off x="8444865" y="4178300"/>
            <a:ext cx="336931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600" b="1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3D Graph Compiler Back</a:t>
            </a:r>
            <a:r>
              <a:rPr lang="zh-CN" altLang="en-US" sz="1600" b="1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en-US" altLang="zh-CN" sz="1600" b="1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End</a:t>
            </a:r>
          </a:p>
        </p:txBody>
      </p:sp>
      <p:sp>
        <p:nvSpPr>
          <p:cNvPr id="38" name="文本框 37"/>
          <p:cNvSpPr txBox="1"/>
          <p:nvPr/>
        </p:nvSpPr>
        <p:spPr>
          <a:xfrm>
            <a:off x="8444865" y="5854065"/>
            <a:ext cx="336931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600" b="1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Generate Multiple Kernels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矩形 35"/>
          <p:cNvSpPr/>
          <p:nvPr/>
        </p:nvSpPr>
        <p:spPr>
          <a:xfrm>
            <a:off x="334645" y="120650"/>
            <a:ext cx="9036685" cy="5257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defRPr/>
            </a:pPr>
            <a:r>
              <a:rPr kumimoji="1"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Compiler Software Technology for 3D Architectures </a:t>
            </a:r>
            <a:endParaRPr kumimoji="1" lang="en-US" altLang="zh-CN" sz="2800" b="1" dirty="0">
              <a:solidFill>
                <a:srgbClr val="256ED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Gautami" panose="020B0502040204020203" pitchFamily="34" charset="0"/>
              <a:sym typeface="微软雅黑" panose="020B0503020204020204" pitchFamily="34" charset="-122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408305" y="1548130"/>
            <a:ext cx="5495290" cy="4604385"/>
            <a:chOff x="643" y="1920"/>
            <a:chExt cx="8654" cy="7251"/>
          </a:xfrm>
        </p:grpSpPr>
        <p:sp>
          <p:nvSpPr>
            <p:cNvPr id="2" name="圆角矩形 1"/>
            <p:cNvSpPr/>
            <p:nvPr/>
          </p:nvSpPr>
          <p:spPr>
            <a:xfrm>
              <a:off x="3590" y="1920"/>
              <a:ext cx="2675" cy="1116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RmsNorm</a:t>
              </a:r>
              <a:endParaRPr lang="en-US" altLang="zh-CN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en-US" altLang="zh-CN" sz="1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shape: [B, S, H]</a:t>
              </a:r>
            </a:p>
            <a:p>
              <a:pPr algn="ctr"/>
              <a:r>
                <a:rPr lang="en-US" altLang="zh-CN" sz="140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shard: [1, 32, 1]</a:t>
              </a:r>
            </a:p>
          </p:txBody>
        </p:sp>
        <p:sp>
          <p:nvSpPr>
            <p:cNvPr id="3" name="圆角矩形 2"/>
            <p:cNvSpPr/>
            <p:nvPr/>
          </p:nvSpPr>
          <p:spPr>
            <a:xfrm>
              <a:off x="3590" y="3753"/>
              <a:ext cx="2675" cy="1116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Tile All Gather</a:t>
              </a:r>
              <a:endParaRPr lang="en-US" altLang="zh-CN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en-US" altLang="zh-CN" sz="1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shape: [B, S, H]</a:t>
              </a:r>
            </a:p>
            <a:p>
              <a:pPr algn="ctr"/>
              <a:r>
                <a:rPr lang="en-US" altLang="zh-CN" sz="140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shard: [1, 1, 1]</a:t>
              </a:r>
            </a:p>
          </p:txBody>
        </p:sp>
        <p:sp>
          <p:nvSpPr>
            <p:cNvPr id="4" name="圆角矩形 3"/>
            <p:cNvSpPr/>
            <p:nvPr/>
          </p:nvSpPr>
          <p:spPr>
            <a:xfrm>
              <a:off x="643" y="5586"/>
              <a:ext cx="2675" cy="1116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Q Gemm</a:t>
              </a:r>
            </a:p>
            <a:p>
              <a:pPr algn="ctr"/>
              <a:r>
                <a:rPr lang="en-US" altLang="zh-CN" sz="1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shape: [B, S, H]</a:t>
              </a:r>
            </a:p>
            <a:p>
              <a:pPr algn="ctr"/>
              <a:r>
                <a:rPr lang="en-US" altLang="zh-CN" sz="140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shard: [1, 4, 8]</a:t>
              </a:r>
            </a:p>
          </p:txBody>
        </p:sp>
        <p:sp>
          <p:nvSpPr>
            <p:cNvPr id="5" name="圆角矩形 4"/>
            <p:cNvSpPr/>
            <p:nvPr/>
          </p:nvSpPr>
          <p:spPr>
            <a:xfrm>
              <a:off x="3590" y="5586"/>
              <a:ext cx="2675" cy="1116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V Gemm</a:t>
              </a:r>
            </a:p>
            <a:p>
              <a:pPr algn="ctr"/>
              <a:r>
                <a:rPr lang="en-US" altLang="zh-CN" sz="1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shape: [B, S, H1]</a:t>
              </a:r>
            </a:p>
            <a:p>
              <a:pPr algn="ctr"/>
              <a:r>
                <a:rPr lang="en-US" altLang="zh-CN" sz="140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shard: [1, 4, 8]</a:t>
              </a:r>
            </a:p>
          </p:txBody>
        </p:sp>
        <p:sp>
          <p:nvSpPr>
            <p:cNvPr id="6" name="圆角矩形 5"/>
            <p:cNvSpPr/>
            <p:nvPr/>
          </p:nvSpPr>
          <p:spPr>
            <a:xfrm>
              <a:off x="6623" y="5586"/>
              <a:ext cx="2675" cy="1116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K Gemm</a:t>
              </a:r>
            </a:p>
            <a:p>
              <a:pPr algn="ctr"/>
              <a:r>
                <a:rPr lang="en-US" altLang="zh-CN" sz="1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shape: [B, S, H2]</a:t>
              </a:r>
            </a:p>
            <a:p>
              <a:pPr algn="ctr"/>
              <a:r>
                <a:rPr lang="en-US" altLang="zh-CN" sz="140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shard: [1, 4, 8]</a:t>
              </a:r>
            </a:p>
          </p:txBody>
        </p:sp>
        <p:sp>
          <p:nvSpPr>
            <p:cNvPr id="7" name="圆角矩形 6"/>
            <p:cNvSpPr/>
            <p:nvPr/>
          </p:nvSpPr>
          <p:spPr>
            <a:xfrm>
              <a:off x="3590" y="7333"/>
              <a:ext cx="2675" cy="1116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RoPE</a:t>
              </a:r>
            </a:p>
            <a:p>
              <a:pPr algn="ctr"/>
              <a:r>
                <a:rPr lang="en-US" altLang="zh-CN" sz="1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shape: [B, S, H1]</a:t>
              </a:r>
            </a:p>
            <a:p>
              <a:pPr algn="ctr"/>
              <a:r>
                <a:rPr lang="en-US" altLang="zh-CN" sz="140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shard: [1, 4, 8]</a:t>
              </a:r>
            </a:p>
          </p:txBody>
        </p:sp>
        <p:sp>
          <p:nvSpPr>
            <p:cNvPr id="8" name="圆角矩形 7"/>
            <p:cNvSpPr/>
            <p:nvPr/>
          </p:nvSpPr>
          <p:spPr>
            <a:xfrm>
              <a:off x="6623" y="7333"/>
              <a:ext cx="2675" cy="1116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RoPE</a:t>
              </a:r>
            </a:p>
            <a:p>
              <a:pPr algn="ctr"/>
              <a:r>
                <a:rPr lang="en-US" altLang="zh-CN" sz="1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shape: [B, S, H2]</a:t>
              </a:r>
            </a:p>
            <a:p>
              <a:pPr algn="ctr"/>
              <a:r>
                <a:rPr lang="en-US" altLang="zh-CN" sz="140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shard: [1, 4, 8]</a:t>
              </a:r>
            </a:p>
          </p:txBody>
        </p:sp>
        <p:cxnSp>
          <p:nvCxnSpPr>
            <p:cNvPr id="9" name="直接箭头连接符 8"/>
            <p:cNvCxnSpPr>
              <a:stCxn id="2" idx="2"/>
              <a:endCxn id="3" idx="0"/>
            </p:cNvCxnSpPr>
            <p:nvPr/>
          </p:nvCxnSpPr>
          <p:spPr>
            <a:xfrm>
              <a:off x="4928" y="3036"/>
              <a:ext cx="0" cy="717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0" name="直接箭头连接符 9"/>
            <p:cNvCxnSpPr>
              <a:stCxn id="3" idx="2"/>
              <a:endCxn id="5" idx="0"/>
            </p:cNvCxnSpPr>
            <p:nvPr/>
          </p:nvCxnSpPr>
          <p:spPr>
            <a:xfrm>
              <a:off x="4928" y="4869"/>
              <a:ext cx="0" cy="717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1" name="直接箭头连接符 10"/>
            <p:cNvCxnSpPr>
              <a:stCxn id="3" idx="2"/>
              <a:endCxn id="4" idx="0"/>
            </p:cNvCxnSpPr>
            <p:nvPr/>
          </p:nvCxnSpPr>
          <p:spPr>
            <a:xfrm flipH="1">
              <a:off x="1981" y="4869"/>
              <a:ext cx="2947" cy="717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" name="直接箭头连接符 11"/>
            <p:cNvCxnSpPr>
              <a:endCxn id="6" idx="0"/>
            </p:cNvCxnSpPr>
            <p:nvPr/>
          </p:nvCxnSpPr>
          <p:spPr>
            <a:xfrm>
              <a:off x="4928" y="4869"/>
              <a:ext cx="3033" cy="717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3" name="直接箭头连接符 12"/>
            <p:cNvCxnSpPr>
              <a:stCxn id="5" idx="2"/>
              <a:endCxn id="7" idx="0"/>
            </p:cNvCxnSpPr>
            <p:nvPr/>
          </p:nvCxnSpPr>
          <p:spPr>
            <a:xfrm>
              <a:off x="4928" y="6702"/>
              <a:ext cx="0" cy="631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4" name="直接箭头连接符 13"/>
            <p:cNvCxnSpPr>
              <a:stCxn id="6" idx="2"/>
              <a:endCxn id="8" idx="0"/>
            </p:cNvCxnSpPr>
            <p:nvPr/>
          </p:nvCxnSpPr>
          <p:spPr>
            <a:xfrm>
              <a:off x="7961" y="6702"/>
              <a:ext cx="0" cy="631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5" name="直接箭头连接符 14"/>
            <p:cNvCxnSpPr>
              <a:stCxn id="4" idx="2"/>
            </p:cNvCxnSpPr>
            <p:nvPr/>
          </p:nvCxnSpPr>
          <p:spPr>
            <a:xfrm>
              <a:off x="1981" y="6702"/>
              <a:ext cx="0" cy="2469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6" name="直接箭头连接符 15"/>
            <p:cNvCxnSpPr>
              <a:stCxn id="7" idx="2"/>
            </p:cNvCxnSpPr>
            <p:nvPr/>
          </p:nvCxnSpPr>
          <p:spPr>
            <a:xfrm>
              <a:off x="4928" y="8449"/>
              <a:ext cx="0" cy="722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8" name="直接箭头连接符 17"/>
            <p:cNvCxnSpPr>
              <a:stCxn id="8" idx="2"/>
            </p:cNvCxnSpPr>
            <p:nvPr/>
          </p:nvCxnSpPr>
          <p:spPr>
            <a:xfrm>
              <a:off x="7961" y="8449"/>
              <a:ext cx="0" cy="722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20" name="文本框 19"/>
          <p:cNvSpPr txBox="1"/>
          <p:nvPr/>
        </p:nvSpPr>
        <p:spPr>
          <a:xfrm>
            <a:off x="6568440" y="1382712"/>
            <a:ext cx="514096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charset="0"/>
              <a:buChar char="Ø"/>
            </a:pP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PIM Graph IR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Not only the conventional ops and shape information, but also the tile-level distributed 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sharding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information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568440" y="2465695"/>
            <a:ext cx="514096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charset="0"/>
              <a:buChar char="Ø"/>
            </a:pP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Tile </a:t>
            </a:r>
            <a:r>
              <a:rPr lang="en-US" altLang="zh-CN" sz="18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Sharding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Sharding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can be either specified by frontend users or searched by the backend compiler. 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2078037" y="1147516"/>
            <a:ext cx="210185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PIM Graph IR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6568440" y="4740175"/>
            <a:ext cx="514096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charset="0"/>
              <a:buChar char="Ø"/>
            </a:pP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N3D Data Layout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To maximize the memory access bandwidth of 3D DRAM, the data layout arrangement also needs to be considered alongside tile sharding.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6568440" y="3420745"/>
            <a:ext cx="537019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charset="0"/>
              <a:buChar char="Ø"/>
            </a:pP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Tile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Collective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Communication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Sharding changes, tile-level collective communication needs to be inserted. More frequently than card-level communications.</a:t>
            </a:r>
          </a:p>
          <a:p>
            <a:pPr marL="342900" indent="-342900">
              <a:buFont typeface="Wingdings" panose="05000000000000000000" charset="0"/>
              <a:buChar char="Ø"/>
            </a:pP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Wingdings" panose="05000000000000000000" charset="0"/>
              <a:buChar char="Ø"/>
            </a:pP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34645" y="120650"/>
            <a:ext cx="9036685" cy="5257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defRPr/>
            </a:pPr>
            <a:r>
              <a:rPr kumimoji="1"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Compiler Software Technology for 3D Architectures </a:t>
            </a:r>
            <a:endParaRPr kumimoji="1" lang="en-US" altLang="zh-CN" sz="2800" b="1" dirty="0">
              <a:solidFill>
                <a:srgbClr val="256ED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Gautami" panose="020B0502040204020203" pitchFamily="34" charset="0"/>
              <a:sym typeface="微软雅黑" panose="020B0503020204020204" pitchFamily="3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408305" y="1219200"/>
            <a:ext cx="5495290" cy="4604385"/>
            <a:chOff x="643" y="1920"/>
            <a:chExt cx="8654" cy="7251"/>
          </a:xfrm>
        </p:grpSpPr>
        <p:sp>
          <p:nvSpPr>
            <p:cNvPr id="4" name="圆角矩形 3"/>
            <p:cNvSpPr/>
            <p:nvPr/>
          </p:nvSpPr>
          <p:spPr>
            <a:xfrm>
              <a:off x="3590" y="1920"/>
              <a:ext cx="2675" cy="1116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RmsNorm</a:t>
              </a:r>
              <a:endParaRPr lang="en-US" altLang="zh-CN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en-US" altLang="zh-CN" sz="1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shape: [B, S, H]</a:t>
              </a:r>
            </a:p>
            <a:p>
              <a:pPr algn="ctr"/>
              <a:r>
                <a:rPr lang="en-US" altLang="zh-CN" sz="1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shard: [1, 32, 1]</a:t>
              </a:r>
            </a:p>
          </p:txBody>
        </p:sp>
        <p:sp>
          <p:nvSpPr>
            <p:cNvPr id="5" name="圆角矩形 4"/>
            <p:cNvSpPr/>
            <p:nvPr/>
          </p:nvSpPr>
          <p:spPr>
            <a:xfrm>
              <a:off x="3590" y="3753"/>
              <a:ext cx="2675" cy="1116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Tile All Gather</a:t>
              </a:r>
              <a:endParaRPr lang="en-US" altLang="zh-CN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en-US" altLang="zh-CN" sz="1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shape: [B, S, H]</a:t>
              </a:r>
            </a:p>
            <a:p>
              <a:pPr algn="ctr"/>
              <a:r>
                <a:rPr lang="en-US" altLang="zh-CN" sz="1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shard: [1, 1, 1]</a:t>
              </a:r>
            </a:p>
          </p:txBody>
        </p:sp>
        <p:sp>
          <p:nvSpPr>
            <p:cNvPr id="6" name="圆角矩形 5"/>
            <p:cNvSpPr/>
            <p:nvPr/>
          </p:nvSpPr>
          <p:spPr>
            <a:xfrm>
              <a:off x="643" y="5586"/>
              <a:ext cx="2675" cy="1116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Q Gemm</a:t>
              </a:r>
            </a:p>
            <a:p>
              <a:pPr algn="ctr"/>
              <a:r>
                <a:rPr lang="en-US" altLang="zh-CN" sz="1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shape: [B, S, H]</a:t>
              </a:r>
            </a:p>
            <a:p>
              <a:pPr algn="ctr"/>
              <a:r>
                <a:rPr lang="en-US" altLang="zh-CN" sz="1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shard: [1, 4, 8]</a:t>
              </a:r>
            </a:p>
          </p:txBody>
        </p:sp>
        <p:sp>
          <p:nvSpPr>
            <p:cNvPr id="7" name="圆角矩形 6"/>
            <p:cNvSpPr/>
            <p:nvPr/>
          </p:nvSpPr>
          <p:spPr>
            <a:xfrm>
              <a:off x="3590" y="5586"/>
              <a:ext cx="2675" cy="1116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V Gemm</a:t>
              </a:r>
            </a:p>
            <a:p>
              <a:pPr algn="ctr"/>
              <a:r>
                <a:rPr lang="en-US" altLang="zh-CN" sz="1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shape: [B, S, H1]</a:t>
              </a:r>
            </a:p>
            <a:p>
              <a:pPr algn="ctr"/>
              <a:r>
                <a:rPr lang="en-US" altLang="zh-CN" sz="1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shard: [1, 4, 8]</a:t>
              </a:r>
            </a:p>
          </p:txBody>
        </p:sp>
        <p:sp>
          <p:nvSpPr>
            <p:cNvPr id="8" name="圆角矩形 7"/>
            <p:cNvSpPr/>
            <p:nvPr/>
          </p:nvSpPr>
          <p:spPr>
            <a:xfrm>
              <a:off x="6623" y="5586"/>
              <a:ext cx="2675" cy="1116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K Gemm</a:t>
              </a:r>
            </a:p>
            <a:p>
              <a:pPr algn="ctr"/>
              <a:r>
                <a:rPr lang="en-US" altLang="zh-CN" sz="1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shape: [B, S, H2]</a:t>
              </a:r>
            </a:p>
            <a:p>
              <a:pPr algn="ctr"/>
              <a:r>
                <a:rPr lang="en-US" altLang="zh-CN" sz="1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shard: [1, 4, 8]</a:t>
              </a:r>
            </a:p>
          </p:txBody>
        </p:sp>
        <p:sp>
          <p:nvSpPr>
            <p:cNvPr id="9" name="圆角矩形 8"/>
            <p:cNvSpPr/>
            <p:nvPr/>
          </p:nvSpPr>
          <p:spPr>
            <a:xfrm>
              <a:off x="3590" y="7333"/>
              <a:ext cx="2675" cy="1116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RoPE</a:t>
              </a:r>
            </a:p>
            <a:p>
              <a:pPr algn="ctr"/>
              <a:r>
                <a:rPr lang="en-US" altLang="zh-CN" sz="1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shape: [B, S, H1]</a:t>
              </a:r>
            </a:p>
            <a:p>
              <a:pPr algn="ctr"/>
              <a:r>
                <a:rPr lang="en-US" altLang="zh-CN" sz="1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shard: [1, 4, 8]</a:t>
              </a:r>
            </a:p>
          </p:txBody>
        </p:sp>
        <p:sp>
          <p:nvSpPr>
            <p:cNvPr id="10" name="圆角矩形 9"/>
            <p:cNvSpPr/>
            <p:nvPr/>
          </p:nvSpPr>
          <p:spPr>
            <a:xfrm>
              <a:off x="6623" y="7333"/>
              <a:ext cx="2675" cy="1116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RoPE</a:t>
              </a:r>
            </a:p>
            <a:p>
              <a:pPr algn="ctr"/>
              <a:r>
                <a:rPr lang="en-US" altLang="zh-CN" sz="1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shape: [B, S, H2]</a:t>
              </a:r>
            </a:p>
            <a:p>
              <a:pPr algn="ctr"/>
              <a:r>
                <a:rPr lang="en-US" altLang="zh-CN" sz="1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shard: [1, 4, 8]</a:t>
              </a:r>
            </a:p>
          </p:txBody>
        </p:sp>
        <p:cxnSp>
          <p:nvCxnSpPr>
            <p:cNvPr id="11" name="直接箭头连接符 8"/>
            <p:cNvCxnSpPr>
              <a:stCxn id="4" idx="2"/>
              <a:endCxn id="5" idx="0"/>
            </p:cNvCxnSpPr>
            <p:nvPr/>
          </p:nvCxnSpPr>
          <p:spPr>
            <a:xfrm>
              <a:off x="4928" y="3036"/>
              <a:ext cx="0" cy="717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" name="直接箭头连接符 9"/>
            <p:cNvCxnSpPr>
              <a:stCxn id="5" idx="2"/>
              <a:endCxn id="7" idx="0"/>
            </p:cNvCxnSpPr>
            <p:nvPr/>
          </p:nvCxnSpPr>
          <p:spPr>
            <a:xfrm>
              <a:off x="4928" y="4869"/>
              <a:ext cx="0" cy="717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3" name="直接箭头连接符 10"/>
            <p:cNvCxnSpPr>
              <a:stCxn id="5" idx="2"/>
              <a:endCxn id="6" idx="0"/>
            </p:cNvCxnSpPr>
            <p:nvPr/>
          </p:nvCxnSpPr>
          <p:spPr>
            <a:xfrm flipH="1">
              <a:off x="1981" y="4869"/>
              <a:ext cx="2947" cy="717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4" name="直接箭头连接符 11"/>
            <p:cNvCxnSpPr>
              <a:endCxn id="8" idx="0"/>
            </p:cNvCxnSpPr>
            <p:nvPr/>
          </p:nvCxnSpPr>
          <p:spPr>
            <a:xfrm>
              <a:off x="4928" y="4869"/>
              <a:ext cx="3033" cy="717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5" name="直接箭头连接符 12"/>
            <p:cNvCxnSpPr>
              <a:stCxn id="7" idx="2"/>
              <a:endCxn id="9" idx="0"/>
            </p:cNvCxnSpPr>
            <p:nvPr/>
          </p:nvCxnSpPr>
          <p:spPr>
            <a:xfrm>
              <a:off x="4928" y="6702"/>
              <a:ext cx="0" cy="631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6" name="直接箭头连接符 13"/>
            <p:cNvCxnSpPr>
              <a:stCxn id="8" idx="2"/>
              <a:endCxn id="10" idx="0"/>
            </p:cNvCxnSpPr>
            <p:nvPr/>
          </p:nvCxnSpPr>
          <p:spPr>
            <a:xfrm>
              <a:off x="7961" y="6702"/>
              <a:ext cx="0" cy="631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7" name="直接箭头连接符 14"/>
            <p:cNvCxnSpPr>
              <a:stCxn id="6" idx="2"/>
            </p:cNvCxnSpPr>
            <p:nvPr/>
          </p:nvCxnSpPr>
          <p:spPr>
            <a:xfrm>
              <a:off x="1981" y="6702"/>
              <a:ext cx="0" cy="2469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8" name="直接箭头连接符 15"/>
            <p:cNvCxnSpPr>
              <a:stCxn id="9" idx="2"/>
            </p:cNvCxnSpPr>
            <p:nvPr/>
          </p:nvCxnSpPr>
          <p:spPr>
            <a:xfrm>
              <a:off x="4928" y="8449"/>
              <a:ext cx="0" cy="722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9" name="直接箭头连接符 17"/>
            <p:cNvCxnSpPr>
              <a:stCxn id="10" idx="2"/>
            </p:cNvCxnSpPr>
            <p:nvPr/>
          </p:nvCxnSpPr>
          <p:spPr>
            <a:xfrm>
              <a:off x="7961" y="8449"/>
              <a:ext cx="0" cy="722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20" name="文本框 19"/>
          <p:cNvSpPr txBox="1"/>
          <p:nvPr/>
        </p:nvSpPr>
        <p:spPr>
          <a:xfrm>
            <a:off x="2078037" y="818586"/>
            <a:ext cx="210185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PIM Graph IR</a:t>
            </a:r>
          </a:p>
        </p:txBody>
      </p:sp>
      <p:sp>
        <p:nvSpPr>
          <p:cNvPr id="21" name="矩形 20"/>
          <p:cNvSpPr/>
          <p:nvPr/>
        </p:nvSpPr>
        <p:spPr>
          <a:xfrm>
            <a:off x="158044" y="1155771"/>
            <a:ext cx="6197600" cy="4770896"/>
          </a:xfrm>
          <a:prstGeom prst="rect">
            <a:avLst/>
          </a:pr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1763660" y="5996911"/>
            <a:ext cx="28376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/>
              <a:t>L1</a:t>
            </a:r>
            <a:r>
              <a:rPr kumimoji="1" lang="zh-CN" altLang="en-US" dirty="0"/>
              <a:t> </a:t>
            </a:r>
            <a:r>
              <a:rPr kumimoji="1" lang="en-US" altLang="zh-CN" dirty="0"/>
              <a:t>Group</a:t>
            </a:r>
            <a:endParaRPr kumimoji="1" lang="zh-CN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2166302" y="1167553"/>
            <a:ext cx="1925955" cy="2027203"/>
          </a:xfrm>
          <a:prstGeom prst="rect">
            <a:avLst/>
          </a:prstGeom>
          <a:solidFill>
            <a:schemeClr val="accent6">
              <a:lumMod val="20000"/>
              <a:lumOff val="80000"/>
              <a:alpha val="3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2242981" y="3479341"/>
            <a:ext cx="1878963" cy="2027203"/>
          </a:xfrm>
          <a:prstGeom prst="rect">
            <a:avLst/>
          </a:prstGeom>
          <a:solidFill>
            <a:schemeClr val="accent6">
              <a:lumMod val="20000"/>
              <a:lumOff val="80000"/>
              <a:alpha val="3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4179887" y="3483644"/>
            <a:ext cx="1813401" cy="2027203"/>
          </a:xfrm>
          <a:prstGeom prst="rect">
            <a:avLst/>
          </a:prstGeom>
          <a:solidFill>
            <a:schemeClr val="accent6">
              <a:lumMod val="20000"/>
              <a:lumOff val="80000"/>
              <a:alpha val="3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7" name="矩形 26"/>
          <p:cNvSpPr/>
          <p:nvPr/>
        </p:nvSpPr>
        <p:spPr>
          <a:xfrm>
            <a:off x="265272" y="3479342"/>
            <a:ext cx="1878963" cy="879370"/>
          </a:xfrm>
          <a:prstGeom prst="rect">
            <a:avLst/>
          </a:prstGeom>
          <a:solidFill>
            <a:schemeClr val="accent6">
              <a:lumMod val="20000"/>
              <a:lumOff val="80000"/>
              <a:alpha val="3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8" name="文本框 27"/>
          <p:cNvSpPr txBox="1"/>
          <p:nvPr/>
        </p:nvSpPr>
        <p:spPr>
          <a:xfrm>
            <a:off x="3763450" y="1871531"/>
            <a:ext cx="1532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800" dirty="0"/>
              <a:t>L0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Group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0</a:t>
            </a:r>
            <a:endParaRPr kumimoji="1" lang="zh-CN" altLang="en-US" sz="1800" dirty="0"/>
          </a:p>
        </p:txBody>
      </p:sp>
      <p:sp>
        <p:nvSpPr>
          <p:cNvPr id="29" name="文本框 28"/>
          <p:cNvSpPr txBox="1"/>
          <p:nvPr/>
        </p:nvSpPr>
        <p:spPr>
          <a:xfrm>
            <a:off x="74841" y="4271446"/>
            <a:ext cx="1418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800" dirty="0"/>
              <a:t>L0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Group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1</a:t>
            </a:r>
            <a:endParaRPr kumimoji="1" lang="zh-CN" altLang="en-US" sz="1800" dirty="0"/>
          </a:p>
        </p:txBody>
      </p:sp>
      <p:sp>
        <p:nvSpPr>
          <p:cNvPr id="30" name="文本框 29"/>
          <p:cNvSpPr txBox="1"/>
          <p:nvPr/>
        </p:nvSpPr>
        <p:spPr>
          <a:xfrm>
            <a:off x="1627162" y="5394382"/>
            <a:ext cx="1418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800" dirty="0"/>
              <a:t>L0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Group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2</a:t>
            </a:r>
            <a:endParaRPr kumimoji="1" lang="zh-CN" altLang="en-US" sz="1800" dirty="0"/>
          </a:p>
        </p:txBody>
      </p:sp>
      <p:sp>
        <p:nvSpPr>
          <p:cNvPr id="31" name="文本框 30"/>
          <p:cNvSpPr txBox="1"/>
          <p:nvPr/>
        </p:nvSpPr>
        <p:spPr>
          <a:xfrm>
            <a:off x="3820220" y="5421797"/>
            <a:ext cx="1418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800" dirty="0"/>
              <a:t>L0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Group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3</a:t>
            </a:r>
            <a:endParaRPr kumimoji="1" lang="zh-CN" altLang="en-US" sz="1800" dirty="0"/>
          </a:p>
        </p:txBody>
      </p:sp>
      <p:sp>
        <p:nvSpPr>
          <p:cNvPr id="32" name="文本框 31"/>
          <p:cNvSpPr txBox="1"/>
          <p:nvPr/>
        </p:nvSpPr>
        <p:spPr>
          <a:xfrm>
            <a:off x="6528435" y="1141095"/>
            <a:ext cx="5471160" cy="2338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charset="0"/>
              <a:buChar char="Ø"/>
            </a:pP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L1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Grouping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The compiler searches for L1-level operator groups based on the distributed storage capacity of N3D, ensuring that all data interactions among the operators within a group can be kept in N3D.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Since N3D has a very large capacity, the entire graph can often be searched and fused into a single L1 Group.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6528381" y="3605456"/>
            <a:ext cx="5140960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charset="0"/>
              <a:buChar char="Ø"/>
            </a:pP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L0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Grouping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Based on the SRAM capacity within a compute core, the compiler searches for L0-level operator combinations within an L1 Group, so that data interactions among the operators in the L0 Group occur only in SRAM.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Since SRAM offers higher bandwidth and lower latency than N3D, this further improves the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performance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矩形 35"/>
          <p:cNvSpPr/>
          <p:nvPr/>
        </p:nvSpPr>
        <p:spPr>
          <a:xfrm>
            <a:off x="334645" y="120650"/>
            <a:ext cx="9036685" cy="5257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defRPr/>
            </a:pPr>
            <a:r>
              <a:rPr kumimoji="1"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Compiler Software Technology for 3D Architectures </a:t>
            </a:r>
            <a:endParaRPr kumimoji="1" lang="en-US" altLang="zh-CN" sz="2800" b="1" dirty="0">
              <a:solidFill>
                <a:srgbClr val="256ED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Gautami" panose="020B0502040204020203" pitchFamily="34" charset="0"/>
              <a:sym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81025" y="1263650"/>
            <a:ext cx="4662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800" b="1">
                <a:latin typeface="微软雅黑" panose="020B0503020204020204" pitchFamily="34" charset="-122"/>
                <a:ea typeface="微软雅黑" panose="020B0503020204020204" pitchFamily="34" charset="-122"/>
              </a:rPr>
              <a:t>Computation-communication Parallel</a:t>
            </a:r>
          </a:p>
        </p:txBody>
      </p:sp>
      <p:grpSp>
        <p:nvGrpSpPr>
          <p:cNvPr id="165" name="组合 164"/>
          <p:cNvGrpSpPr/>
          <p:nvPr/>
        </p:nvGrpSpPr>
        <p:grpSpPr>
          <a:xfrm>
            <a:off x="1365885" y="1781810"/>
            <a:ext cx="2974340" cy="2936240"/>
            <a:chOff x="2641" y="3049"/>
            <a:chExt cx="4684" cy="4624"/>
          </a:xfrm>
        </p:grpSpPr>
        <p:grpSp>
          <p:nvGrpSpPr>
            <p:cNvPr id="117" name="组合 116"/>
            <p:cNvGrpSpPr/>
            <p:nvPr/>
          </p:nvGrpSpPr>
          <p:grpSpPr>
            <a:xfrm>
              <a:off x="2641" y="3049"/>
              <a:ext cx="4684" cy="4624"/>
              <a:chOff x="1822" y="2602"/>
              <a:chExt cx="4684" cy="4624"/>
            </a:xfrm>
          </p:grpSpPr>
          <p:grpSp>
            <p:nvGrpSpPr>
              <p:cNvPr id="28" name="组合 27"/>
              <p:cNvGrpSpPr/>
              <p:nvPr/>
            </p:nvGrpSpPr>
            <p:grpSpPr>
              <a:xfrm>
                <a:off x="1830" y="2602"/>
                <a:ext cx="4666" cy="1085"/>
                <a:chOff x="1984" y="2602"/>
                <a:chExt cx="4666" cy="1085"/>
              </a:xfrm>
            </p:grpSpPr>
            <p:grpSp>
              <p:nvGrpSpPr>
                <p:cNvPr id="9" name="组合 8"/>
                <p:cNvGrpSpPr/>
                <p:nvPr/>
              </p:nvGrpSpPr>
              <p:grpSpPr>
                <a:xfrm>
                  <a:off x="1984" y="2625"/>
                  <a:ext cx="1154" cy="1063"/>
                  <a:chOff x="2404" y="2625"/>
                  <a:chExt cx="1154" cy="1063"/>
                </a:xfrm>
              </p:grpSpPr>
              <p:sp>
                <p:nvSpPr>
                  <p:cNvPr id="5" name="平行四边形 4"/>
                  <p:cNvSpPr/>
                  <p:nvPr/>
                </p:nvSpPr>
                <p:spPr>
                  <a:xfrm>
                    <a:off x="2607" y="2965"/>
                    <a:ext cx="868" cy="665"/>
                  </a:xfrm>
                  <a:prstGeom prst="parallelogram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3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altLang="zh-CN" sz="1200"/>
                  </a:p>
                </p:txBody>
              </p:sp>
              <p:sp>
                <p:nvSpPr>
                  <p:cNvPr id="4" name="平行四边形 3"/>
                  <p:cNvSpPr/>
                  <p:nvPr/>
                </p:nvSpPr>
                <p:spPr>
                  <a:xfrm>
                    <a:off x="2551" y="2625"/>
                    <a:ext cx="868" cy="665"/>
                  </a:xfrm>
                  <a:prstGeom prst="parallelogram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3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altLang="zh-CN" sz="1200">
                      <a:solidFill>
                        <a:schemeClr val="bg1">
                          <a:lumMod val="75000"/>
                        </a:schemeClr>
                      </a:solidFill>
                    </a:endParaRPr>
                  </a:p>
                </p:txBody>
              </p:sp>
              <p:sp>
                <p:nvSpPr>
                  <p:cNvPr id="6" name="文本框 5"/>
                  <p:cNvSpPr txBox="1"/>
                  <p:nvPr/>
                </p:nvSpPr>
                <p:spPr>
                  <a:xfrm>
                    <a:off x="2432" y="3206"/>
                    <a:ext cx="1127" cy="48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1400"/>
                      <a:t>Core</a:t>
                    </a:r>
                  </a:p>
                </p:txBody>
              </p:sp>
              <p:sp>
                <p:nvSpPr>
                  <p:cNvPr id="8" name="文本框 7"/>
                  <p:cNvSpPr txBox="1"/>
                  <p:nvPr/>
                </p:nvSpPr>
                <p:spPr>
                  <a:xfrm>
                    <a:off x="2404" y="2723"/>
                    <a:ext cx="1127" cy="48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1400"/>
                      <a:t>N3D</a:t>
                    </a:r>
                  </a:p>
                </p:txBody>
              </p:sp>
            </p:grpSp>
            <p:grpSp>
              <p:nvGrpSpPr>
                <p:cNvPr id="10" name="组合 9"/>
                <p:cNvGrpSpPr/>
                <p:nvPr/>
              </p:nvGrpSpPr>
              <p:grpSpPr>
                <a:xfrm>
                  <a:off x="3157" y="2605"/>
                  <a:ext cx="1154" cy="1063"/>
                  <a:chOff x="2404" y="2625"/>
                  <a:chExt cx="1154" cy="1063"/>
                </a:xfrm>
              </p:grpSpPr>
              <p:sp>
                <p:nvSpPr>
                  <p:cNvPr id="11" name="平行四边形 10"/>
                  <p:cNvSpPr/>
                  <p:nvPr/>
                </p:nvSpPr>
                <p:spPr>
                  <a:xfrm>
                    <a:off x="2607" y="2965"/>
                    <a:ext cx="868" cy="665"/>
                  </a:xfrm>
                  <a:prstGeom prst="parallelogram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3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altLang="zh-CN" sz="1200"/>
                  </a:p>
                </p:txBody>
              </p:sp>
              <p:sp>
                <p:nvSpPr>
                  <p:cNvPr id="12" name="平行四边形 11"/>
                  <p:cNvSpPr/>
                  <p:nvPr/>
                </p:nvSpPr>
                <p:spPr>
                  <a:xfrm>
                    <a:off x="2551" y="2625"/>
                    <a:ext cx="868" cy="665"/>
                  </a:xfrm>
                  <a:prstGeom prst="parallelogram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3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altLang="zh-CN" sz="1200">
                      <a:solidFill>
                        <a:schemeClr val="bg1">
                          <a:lumMod val="75000"/>
                        </a:schemeClr>
                      </a:solidFill>
                    </a:endParaRPr>
                  </a:p>
                </p:txBody>
              </p:sp>
              <p:sp>
                <p:nvSpPr>
                  <p:cNvPr id="13" name="文本框 12"/>
                  <p:cNvSpPr txBox="1"/>
                  <p:nvPr/>
                </p:nvSpPr>
                <p:spPr>
                  <a:xfrm>
                    <a:off x="2432" y="3206"/>
                    <a:ext cx="1127" cy="48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1400"/>
                      <a:t>Core</a:t>
                    </a:r>
                  </a:p>
                </p:txBody>
              </p:sp>
              <p:sp>
                <p:nvSpPr>
                  <p:cNvPr id="14" name="文本框 13"/>
                  <p:cNvSpPr txBox="1"/>
                  <p:nvPr/>
                </p:nvSpPr>
                <p:spPr>
                  <a:xfrm>
                    <a:off x="2404" y="2723"/>
                    <a:ext cx="1127" cy="48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1400"/>
                      <a:t>N3D</a:t>
                    </a:r>
                  </a:p>
                </p:txBody>
              </p:sp>
            </p:grpSp>
            <p:grpSp>
              <p:nvGrpSpPr>
                <p:cNvPr id="15" name="组合 14"/>
                <p:cNvGrpSpPr/>
                <p:nvPr/>
              </p:nvGrpSpPr>
              <p:grpSpPr>
                <a:xfrm>
                  <a:off x="4309" y="2605"/>
                  <a:ext cx="1154" cy="1063"/>
                  <a:chOff x="2404" y="2625"/>
                  <a:chExt cx="1154" cy="1063"/>
                </a:xfrm>
              </p:grpSpPr>
              <p:sp>
                <p:nvSpPr>
                  <p:cNvPr id="16" name="平行四边形 15"/>
                  <p:cNvSpPr/>
                  <p:nvPr/>
                </p:nvSpPr>
                <p:spPr>
                  <a:xfrm>
                    <a:off x="2607" y="2965"/>
                    <a:ext cx="868" cy="665"/>
                  </a:xfrm>
                  <a:prstGeom prst="parallelogram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3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altLang="zh-CN" sz="1200"/>
                  </a:p>
                </p:txBody>
              </p:sp>
              <p:sp>
                <p:nvSpPr>
                  <p:cNvPr id="17" name="平行四边形 16"/>
                  <p:cNvSpPr/>
                  <p:nvPr/>
                </p:nvSpPr>
                <p:spPr>
                  <a:xfrm>
                    <a:off x="2551" y="2625"/>
                    <a:ext cx="868" cy="665"/>
                  </a:xfrm>
                  <a:prstGeom prst="parallelogram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3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altLang="zh-CN" sz="1200">
                      <a:solidFill>
                        <a:schemeClr val="bg1">
                          <a:lumMod val="75000"/>
                        </a:schemeClr>
                      </a:solidFill>
                    </a:endParaRPr>
                  </a:p>
                </p:txBody>
              </p:sp>
              <p:sp>
                <p:nvSpPr>
                  <p:cNvPr id="18" name="文本框 17"/>
                  <p:cNvSpPr txBox="1"/>
                  <p:nvPr/>
                </p:nvSpPr>
                <p:spPr>
                  <a:xfrm>
                    <a:off x="2432" y="3206"/>
                    <a:ext cx="1127" cy="48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1400"/>
                      <a:t>Core</a:t>
                    </a:r>
                  </a:p>
                </p:txBody>
              </p:sp>
              <p:sp>
                <p:nvSpPr>
                  <p:cNvPr id="19" name="文本框 18"/>
                  <p:cNvSpPr txBox="1"/>
                  <p:nvPr/>
                </p:nvSpPr>
                <p:spPr>
                  <a:xfrm>
                    <a:off x="2404" y="2723"/>
                    <a:ext cx="1127" cy="48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1400"/>
                      <a:t>N3D</a:t>
                    </a:r>
                  </a:p>
                </p:txBody>
              </p:sp>
            </p:grpSp>
            <p:grpSp>
              <p:nvGrpSpPr>
                <p:cNvPr id="20" name="组合 19"/>
                <p:cNvGrpSpPr/>
                <p:nvPr/>
              </p:nvGrpSpPr>
              <p:grpSpPr>
                <a:xfrm>
                  <a:off x="5496" y="2602"/>
                  <a:ext cx="1154" cy="1063"/>
                  <a:chOff x="2404" y="2625"/>
                  <a:chExt cx="1154" cy="1063"/>
                </a:xfrm>
              </p:grpSpPr>
              <p:sp>
                <p:nvSpPr>
                  <p:cNvPr id="21" name="平行四边形 20"/>
                  <p:cNvSpPr/>
                  <p:nvPr/>
                </p:nvSpPr>
                <p:spPr>
                  <a:xfrm>
                    <a:off x="2607" y="2965"/>
                    <a:ext cx="868" cy="665"/>
                  </a:xfrm>
                  <a:prstGeom prst="parallelogram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3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altLang="zh-CN" sz="1200"/>
                  </a:p>
                </p:txBody>
              </p:sp>
              <p:sp>
                <p:nvSpPr>
                  <p:cNvPr id="22" name="平行四边形 21"/>
                  <p:cNvSpPr/>
                  <p:nvPr/>
                </p:nvSpPr>
                <p:spPr>
                  <a:xfrm>
                    <a:off x="2551" y="2625"/>
                    <a:ext cx="868" cy="665"/>
                  </a:xfrm>
                  <a:prstGeom prst="parallelogram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3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altLang="zh-CN" sz="1200">
                      <a:solidFill>
                        <a:schemeClr val="bg1">
                          <a:lumMod val="75000"/>
                        </a:schemeClr>
                      </a:solidFill>
                    </a:endParaRPr>
                  </a:p>
                </p:txBody>
              </p:sp>
              <p:sp>
                <p:nvSpPr>
                  <p:cNvPr id="23" name="文本框 22"/>
                  <p:cNvSpPr txBox="1"/>
                  <p:nvPr/>
                </p:nvSpPr>
                <p:spPr>
                  <a:xfrm>
                    <a:off x="2432" y="3206"/>
                    <a:ext cx="1127" cy="48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1400"/>
                      <a:t>Core</a:t>
                    </a:r>
                  </a:p>
                </p:txBody>
              </p:sp>
              <p:sp>
                <p:nvSpPr>
                  <p:cNvPr id="24" name="文本框 23"/>
                  <p:cNvSpPr txBox="1"/>
                  <p:nvPr/>
                </p:nvSpPr>
                <p:spPr>
                  <a:xfrm>
                    <a:off x="2404" y="2723"/>
                    <a:ext cx="1127" cy="48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1400"/>
                      <a:t>N3D</a:t>
                    </a:r>
                  </a:p>
                </p:txBody>
              </p:sp>
            </p:grpSp>
            <p:sp>
              <p:nvSpPr>
                <p:cNvPr id="25" name="左右箭头 24"/>
                <p:cNvSpPr/>
                <p:nvPr/>
              </p:nvSpPr>
              <p:spPr>
                <a:xfrm>
                  <a:off x="2927" y="3337"/>
                  <a:ext cx="477" cy="216"/>
                </a:xfrm>
                <a:prstGeom prst="leftRightArrow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6" name="左右箭头 25"/>
                <p:cNvSpPr/>
                <p:nvPr/>
              </p:nvSpPr>
              <p:spPr>
                <a:xfrm>
                  <a:off x="4093" y="3349"/>
                  <a:ext cx="477" cy="216"/>
                </a:xfrm>
                <a:prstGeom prst="leftRightArrow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7" name="左右箭头 26"/>
                <p:cNvSpPr/>
                <p:nvPr/>
              </p:nvSpPr>
              <p:spPr>
                <a:xfrm>
                  <a:off x="5259" y="3349"/>
                  <a:ext cx="477" cy="216"/>
                </a:xfrm>
                <a:prstGeom prst="leftRightArrow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58" name="组合 57"/>
              <p:cNvGrpSpPr/>
              <p:nvPr/>
            </p:nvGrpSpPr>
            <p:grpSpPr>
              <a:xfrm>
                <a:off x="1840" y="3602"/>
                <a:ext cx="4666" cy="1270"/>
                <a:chOff x="1840" y="3602"/>
                <a:chExt cx="4666" cy="1270"/>
              </a:xfrm>
            </p:grpSpPr>
            <p:sp>
              <p:nvSpPr>
                <p:cNvPr id="55" name="左右箭头 54"/>
                <p:cNvSpPr/>
                <p:nvPr/>
              </p:nvSpPr>
              <p:spPr>
                <a:xfrm rot="5400000">
                  <a:off x="3425" y="3737"/>
                  <a:ext cx="477" cy="216"/>
                </a:xfrm>
                <a:prstGeom prst="leftRightArrow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6" name="左右箭头 55"/>
                <p:cNvSpPr/>
                <p:nvPr/>
              </p:nvSpPr>
              <p:spPr>
                <a:xfrm rot="5400000">
                  <a:off x="4633" y="3737"/>
                  <a:ext cx="477" cy="216"/>
                </a:xfrm>
                <a:prstGeom prst="leftRightArrow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7" name="左右箭头 56"/>
                <p:cNvSpPr/>
                <p:nvPr/>
              </p:nvSpPr>
              <p:spPr>
                <a:xfrm rot="5400000">
                  <a:off x="5750" y="3732"/>
                  <a:ext cx="477" cy="216"/>
                </a:xfrm>
                <a:prstGeom prst="leftRightArrow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4" name="左右箭头 53"/>
                <p:cNvSpPr/>
                <p:nvPr/>
              </p:nvSpPr>
              <p:spPr>
                <a:xfrm rot="5400000">
                  <a:off x="2294" y="3755"/>
                  <a:ext cx="477" cy="216"/>
                </a:xfrm>
                <a:prstGeom prst="leftRightArrow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29" name="组合 28"/>
                <p:cNvGrpSpPr/>
                <p:nvPr/>
              </p:nvGrpSpPr>
              <p:grpSpPr>
                <a:xfrm>
                  <a:off x="1840" y="3787"/>
                  <a:ext cx="4666" cy="1085"/>
                  <a:chOff x="1984" y="2602"/>
                  <a:chExt cx="4666" cy="1085"/>
                </a:xfrm>
              </p:grpSpPr>
              <p:grpSp>
                <p:nvGrpSpPr>
                  <p:cNvPr id="30" name="组合 29"/>
                  <p:cNvGrpSpPr/>
                  <p:nvPr/>
                </p:nvGrpSpPr>
                <p:grpSpPr>
                  <a:xfrm>
                    <a:off x="1984" y="2625"/>
                    <a:ext cx="1154" cy="1063"/>
                    <a:chOff x="2404" y="2625"/>
                    <a:chExt cx="1154" cy="1063"/>
                  </a:xfrm>
                </p:grpSpPr>
                <p:sp>
                  <p:nvSpPr>
                    <p:cNvPr id="31" name="平行四边形 30"/>
                    <p:cNvSpPr/>
                    <p:nvPr/>
                  </p:nvSpPr>
                  <p:spPr>
                    <a:xfrm>
                      <a:off x="2607" y="2965"/>
                      <a:ext cx="868" cy="665"/>
                    </a:xfrm>
                    <a:prstGeom prst="parallelogram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3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altLang="zh-CN" sz="1200"/>
                    </a:p>
                  </p:txBody>
                </p:sp>
                <p:sp>
                  <p:nvSpPr>
                    <p:cNvPr id="32" name="平行四边形 31"/>
                    <p:cNvSpPr/>
                    <p:nvPr/>
                  </p:nvSpPr>
                  <p:spPr>
                    <a:xfrm>
                      <a:off x="2551" y="2625"/>
                      <a:ext cx="868" cy="665"/>
                    </a:xfrm>
                    <a:prstGeom prst="parallelogram">
                      <a:avLst/>
                    </a:prstGeom>
                    <a:solidFill>
                      <a:schemeClr val="accent6">
                        <a:lumMod val="40000"/>
                        <a:lumOff val="6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3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altLang="zh-CN" sz="120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p:txBody>
                </p:sp>
                <p:sp>
                  <p:nvSpPr>
                    <p:cNvPr id="33" name="文本框 32"/>
                    <p:cNvSpPr txBox="1"/>
                    <p:nvPr/>
                  </p:nvSpPr>
                  <p:spPr>
                    <a:xfrm>
                      <a:off x="2432" y="3206"/>
                      <a:ext cx="1127" cy="48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altLang="zh-CN" sz="1400"/>
                        <a:t>Core</a:t>
                      </a:r>
                    </a:p>
                  </p:txBody>
                </p:sp>
                <p:sp>
                  <p:nvSpPr>
                    <p:cNvPr id="34" name="文本框 33"/>
                    <p:cNvSpPr txBox="1"/>
                    <p:nvPr/>
                  </p:nvSpPr>
                  <p:spPr>
                    <a:xfrm>
                      <a:off x="2404" y="2723"/>
                      <a:ext cx="1127" cy="48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altLang="zh-CN" sz="1400"/>
                        <a:t>N3D</a:t>
                      </a:r>
                    </a:p>
                  </p:txBody>
                </p:sp>
              </p:grpSp>
              <p:grpSp>
                <p:nvGrpSpPr>
                  <p:cNvPr id="35" name="组合 34"/>
                  <p:cNvGrpSpPr/>
                  <p:nvPr/>
                </p:nvGrpSpPr>
                <p:grpSpPr>
                  <a:xfrm>
                    <a:off x="3157" y="2605"/>
                    <a:ext cx="1154" cy="1063"/>
                    <a:chOff x="2404" y="2625"/>
                    <a:chExt cx="1154" cy="1063"/>
                  </a:xfrm>
                </p:grpSpPr>
                <p:sp>
                  <p:nvSpPr>
                    <p:cNvPr id="37" name="平行四边形 36"/>
                    <p:cNvSpPr/>
                    <p:nvPr/>
                  </p:nvSpPr>
                  <p:spPr>
                    <a:xfrm>
                      <a:off x="2607" y="2965"/>
                      <a:ext cx="868" cy="665"/>
                    </a:xfrm>
                    <a:prstGeom prst="parallelogram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3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altLang="zh-CN" sz="1200"/>
                    </a:p>
                  </p:txBody>
                </p:sp>
                <p:sp>
                  <p:nvSpPr>
                    <p:cNvPr id="38" name="平行四边形 37"/>
                    <p:cNvSpPr/>
                    <p:nvPr/>
                  </p:nvSpPr>
                  <p:spPr>
                    <a:xfrm>
                      <a:off x="2551" y="2625"/>
                      <a:ext cx="868" cy="665"/>
                    </a:xfrm>
                    <a:prstGeom prst="parallelogram">
                      <a:avLst/>
                    </a:prstGeom>
                    <a:solidFill>
                      <a:schemeClr val="accent6">
                        <a:lumMod val="40000"/>
                        <a:lumOff val="6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3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altLang="zh-CN" sz="120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p:txBody>
                </p:sp>
                <p:sp>
                  <p:nvSpPr>
                    <p:cNvPr id="39" name="文本框 38"/>
                    <p:cNvSpPr txBox="1"/>
                    <p:nvPr/>
                  </p:nvSpPr>
                  <p:spPr>
                    <a:xfrm>
                      <a:off x="2432" y="3206"/>
                      <a:ext cx="1127" cy="48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altLang="zh-CN" sz="1400"/>
                        <a:t>Core</a:t>
                      </a:r>
                    </a:p>
                  </p:txBody>
                </p:sp>
                <p:sp>
                  <p:nvSpPr>
                    <p:cNvPr id="40" name="文本框 39"/>
                    <p:cNvSpPr txBox="1"/>
                    <p:nvPr/>
                  </p:nvSpPr>
                  <p:spPr>
                    <a:xfrm>
                      <a:off x="2404" y="2723"/>
                      <a:ext cx="1127" cy="48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altLang="zh-CN" sz="1400"/>
                        <a:t>N3D</a:t>
                      </a:r>
                    </a:p>
                  </p:txBody>
                </p:sp>
              </p:grpSp>
              <p:grpSp>
                <p:nvGrpSpPr>
                  <p:cNvPr id="41" name="组合 40"/>
                  <p:cNvGrpSpPr/>
                  <p:nvPr/>
                </p:nvGrpSpPr>
                <p:grpSpPr>
                  <a:xfrm>
                    <a:off x="4309" y="2605"/>
                    <a:ext cx="1154" cy="1063"/>
                    <a:chOff x="2404" y="2625"/>
                    <a:chExt cx="1154" cy="1063"/>
                  </a:xfrm>
                </p:grpSpPr>
                <p:sp>
                  <p:nvSpPr>
                    <p:cNvPr id="42" name="平行四边形 41"/>
                    <p:cNvSpPr/>
                    <p:nvPr/>
                  </p:nvSpPr>
                  <p:spPr>
                    <a:xfrm>
                      <a:off x="2607" y="2965"/>
                      <a:ext cx="868" cy="665"/>
                    </a:xfrm>
                    <a:prstGeom prst="parallelogram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3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altLang="zh-CN" sz="1200"/>
                    </a:p>
                  </p:txBody>
                </p:sp>
                <p:sp>
                  <p:nvSpPr>
                    <p:cNvPr id="43" name="平行四边形 42"/>
                    <p:cNvSpPr/>
                    <p:nvPr/>
                  </p:nvSpPr>
                  <p:spPr>
                    <a:xfrm>
                      <a:off x="2551" y="2625"/>
                      <a:ext cx="868" cy="665"/>
                    </a:xfrm>
                    <a:prstGeom prst="parallelogram">
                      <a:avLst/>
                    </a:prstGeom>
                    <a:solidFill>
                      <a:schemeClr val="accent6">
                        <a:lumMod val="40000"/>
                        <a:lumOff val="6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3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altLang="zh-CN" sz="120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p:txBody>
                </p:sp>
                <p:sp>
                  <p:nvSpPr>
                    <p:cNvPr id="44" name="文本框 43"/>
                    <p:cNvSpPr txBox="1"/>
                    <p:nvPr/>
                  </p:nvSpPr>
                  <p:spPr>
                    <a:xfrm>
                      <a:off x="2432" y="3206"/>
                      <a:ext cx="1127" cy="48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altLang="zh-CN" sz="1400"/>
                        <a:t>Core</a:t>
                      </a:r>
                    </a:p>
                  </p:txBody>
                </p:sp>
                <p:sp>
                  <p:nvSpPr>
                    <p:cNvPr id="45" name="文本框 44"/>
                    <p:cNvSpPr txBox="1"/>
                    <p:nvPr/>
                  </p:nvSpPr>
                  <p:spPr>
                    <a:xfrm>
                      <a:off x="2404" y="2723"/>
                      <a:ext cx="1127" cy="48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altLang="zh-CN" sz="1400"/>
                        <a:t>N3D</a:t>
                      </a:r>
                    </a:p>
                  </p:txBody>
                </p:sp>
              </p:grpSp>
              <p:grpSp>
                <p:nvGrpSpPr>
                  <p:cNvPr id="46" name="组合 45"/>
                  <p:cNvGrpSpPr/>
                  <p:nvPr/>
                </p:nvGrpSpPr>
                <p:grpSpPr>
                  <a:xfrm>
                    <a:off x="5496" y="2602"/>
                    <a:ext cx="1154" cy="1063"/>
                    <a:chOff x="2404" y="2625"/>
                    <a:chExt cx="1154" cy="1063"/>
                  </a:xfrm>
                </p:grpSpPr>
                <p:sp>
                  <p:nvSpPr>
                    <p:cNvPr id="47" name="平行四边形 46"/>
                    <p:cNvSpPr/>
                    <p:nvPr/>
                  </p:nvSpPr>
                  <p:spPr>
                    <a:xfrm>
                      <a:off x="2607" y="2965"/>
                      <a:ext cx="868" cy="665"/>
                    </a:xfrm>
                    <a:prstGeom prst="parallelogram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3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altLang="zh-CN" sz="1200"/>
                    </a:p>
                  </p:txBody>
                </p:sp>
                <p:sp>
                  <p:nvSpPr>
                    <p:cNvPr id="48" name="平行四边形 47"/>
                    <p:cNvSpPr/>
                    <p:nvPr/>
                  </p:nvSpPr>
                  <p:spPr>
                    <a:xfrm>
                      <a:off x="2551" y="2625"/>
                      <a:ext cx="868" cy="665"/>
                    </a:xfrm>
                    <a:prstGeom prst="parallelogram">
                      <a:avLst/>
                    </a:prstGeom>
                    <a:solidFill>
                      <a:schemeClr val="accent6">
                        <a:lumMod val="40000"/>
                        <a:lumOff val="6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3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altLang="zh-CN" sz="120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p:txBody>
                </p:sp>
                <p:sp>
                  <p:nvSpPr>
                    <p:cNvPr id="49" name="文本框 48"/>
                    <p:cNvSpPr txBox="1"/>
                    <p:nvPr/>
                  </p:nvSpPr>
                  <p:spPr>
                    <a:xfrm>
                      <a:off x="2432" y="3206"/>
                      <a:ext cx="1127" cy="48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altLang="zh-CN" sz="1400"/>
                        <a:t>Core</a:t>
                      </a:r>
                    </a:p>
                  </p:txBody>
                </p:sp>
                <p:sp>
                  <p:nvSpPr>
                    <p:cNvPr id="50" name="文本框 49"/>
                    <p:cNvSpPr txBox="1"/>
                    <p:nvPr/>
                  </p:nvSpPr>
                  <p:spPr>
                    <a:xfrm>
                      <a:off x="2404" y="2723"/>
                      <a:ext cx="1127" cy="48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altLang="zh-CN" sz="1400"/>
                        <a:t>N3D</a:t>
                      </a:r>
                    </a:p>
                  </p:txBody>
                </p:sp>
              </p:grpSp>
              <p:sp>
                <p:nvSpPr>
                  <p:cNvPr id="51" name="左右箭头 50"/>
                  <p:cNvSpPr/>
                  <p:nvPr/>
                </p:nvSpPr>
                <p:spPr>
                  <a:xfrm>
                    <a:off x="2927" y="3337"/>
                    <a:ext cx="477" cy="216"/>
                  </a:xfrm>
                  <a:prstGeom prst="leftRightArrow">
                    <a:avLst/>
                  </a:prstGeom>
                  <a:solidFill>
                    <a:schemeClr val="bg1"/>
                  </a:solidFill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2" name="左右箭头 51"/>
                  <p:cNvSpPr/>
                  <p:nvPr/>
                </p:nvSpPr>
                <p:spPr>
                  <a:xfrm>
                    <a:off x="4093" y="3349"/>
                    <a:ext cx="477" cy="216"/>
                  </a:xfrm>
                  <a:prstGeom prst="leftRightArrow">
                    <a:avLst/>
                  </a:prstGeom>
                  <a:solidFill>
                    <a:schemeClr val="bg1"/>
                  </a:solidFill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3" name="左右箭头 52"/>
                  <p:cNvSpPr/>
                  <p:nvPr/>
                </p:nvSpPr>
                <p:spPr>
                  <a:xfrm>
                    <a:off x="5259" y="3349"/>
                    <a:ext cx="477" cy="216"/>
                  </a:xfrm>
                  <a:prstGeom prst="leftRightArrow">
                    <a:avLst/>
                  </a:prstGeom>
                  <a:solidFill>
                    <a:schemeClr val="bg1"/>
                  </a:solidFill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</p:grpSp>
          <p:grpSp>
            <p:nvGrpSpPr>
              <p:cNvPr id="59" name="组合 58"/>
              <p:cNvGrpSpPr/>
              <p:nvPr/>
            </p:nvGrpSpPr>
            <p:grpSpPr>
              <a:xfrm>
                <a:off x="1836" y="4787"/>
                <a:ext cx="4666" cy="1270"/>
                <a:chOff x="1840" y="3602"/>
                <a:chExt cx="4666" cy="1270"/>
              </a:xfrm>
            </p:grpSpPr>
            <p:sp>
              <p:nvSpPr>
                <p:cNvPr id="60" name="左右箭头 59"/>
                <p:cNvSpPr/>
                <p:nvPr/>
              </p:nvSpPr>
              <p:spPr>
                <a:xfrm rot="5400000">
                  <a:off x="3425" y="3737"/>
                  <a:ext cx="477" cy="216"/>
                </a:xfrm>
                <a:prstGeom prst="leftRightArrow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1" name="左右箭头 60"/>
                <p:cNvSpPr/>
                <p:nvPr/>
              </p:nvSpPr>
              <p:spPr>
                <a:xfrm rot="5400000">
                  <a:off x="4633" y="3737"/>
                  <a:ext cx="477" cy="216"/>
                </a:xfrm>
                <a:prstGeom prst="leftRightArrow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2" name="左右箭头 61"/>
                <p:cNvSpPr/>
                <p:nvPr/>
              </p:nvSpPr>
              <p:spPr>
                <a:xfrm rot="5400000">
                  <a:off x="5750" y="3732"/>
                  <a:ext cx="477" cy="216"/>
                </a:xfrm>
                <a:prstGeom prst="leftRightArrow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3" name="左右箭头 62"/>
                <p:cNvSpPr/>
                <p:nvPr/>
              </p:nvSpPr>
              <p:spPr>
                <a:xfrm rot="5400000">
                  <a:off x="2294" y="3755"/>
                  <a:ext cx="477" cy="216"/>
                </a:xfrm>
                <a:prstGeom prst="leftRightArrow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64" name="组合 63"/>
                <p:cNvGrpSpPr/>
                <p:nvPr/>
              </p:nvGrpSpPr>
              <p:grpSpPr>
                <a:xfrm>
                  <a:off x="1840" y="3787"/>
                  <a:ext cx="4666" cy="1085"/>
                  <a:chOff x="1984" y="2602"/>
                  <a:chExt cx="4666" cy="1085"/>
                </a:xfrm>
              </p:grpSpPr>
              <p:grpSp>
                <p:nvGrpSpPr>
                  <p:cNvPr id="65" name="组合 64"/>
                  <p:cNvGrpSpPr/>
                  <p:nvPr/>
                </p:nvGrpSpPr>
                <p:grpSpPr>
                  <a:xfrm>
                    <a:off x="1984" y="2625"/>
                    <a:ext cx="1154" cy="1063"/>
                    <a:chOff x="2404" y="2625"/>
                    <a:chExt cx="1154" cy="1063"/>
                  </a:xfrm>
                </p:grpSpPr>
                <p:sp>
                  <p:nvSpPr>
                    <p:cNvPr id="66" name="平行四边形 65"/>
                    <p:cNvSpPr/>
                    <p:nvPr/>
                  </p:nvSpPr>
                  <p:spPr>
                    <a:xfrm>
                      <a:off x="2607" y="2965"/>
                      <a:ext cx="868" cy="665"/>
                    </a:xfrm>
                    <a:prstGeom prst="parallelogram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3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altLang="zh-CN" sz="1200"/>
                    </a:p>
                  </p:txBody>
                </p:sp>
                <p:sp>
                  <p:nvSpPr>
                    <p:cNvPr id="67" name="平行四边形 66"/>
                    <p:cNvSpPr/>
                    <p:nvPr/>
                  </p:nvSpPr>
                  <p:spPr>
                    <a:xfrm>
                      <a:off x="2551" y="2625"/>
                      <a:ext cx="868" cy="665"/>
                    </a:xfrm>
                    <a:prstGeom prst="parallelogram">
                      <a:avLst/>
                    </a:prstGeom>
                    <a:solidFill>
                      <a:schemeClr val="accent6">
                        <a:lumMod val="40000"/>
                        <a:lumOff val="6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3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altLang="zh-CN" sz="120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p:txBody>
                </p:sp>
                <p:sp>
                  <p:nvSpPr>
                    <p:cNvPr id="68" name="文本框 67"/>
                    <p:cNvSpPr txBox="1"/>
                    <p:nvPr/>
                  </p:nvSpPr>
                  <p:spPr>
                    <a:xfrm>
                      <a:off x="2432" y="3206"/>
                      <a:ext cx="1127" cy="48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altLang="zh-CN" sz="1400"/>
                        <a:t>Core</a:t>
                      </a:r>
                    </a:p>
                  </p:txBody>
                </p:sp>
                <p:sp>
                  <p:nvSpPr>
                    <p:cNvPr id="69" name="文本框 68"/>
                    <p:cNvSpPr txBox="1"/>
                    <p:nvPr/>
                  </p:nvSpPr>
                  <p:spPr>
                    <a:xfrm>
                      <a:off x="2404" y="2723"/>
                      <a:ext cx="1127" cy="48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altLang="zh-CN" sz="1400"/>
                        <a:t>N3D</a:t>
                      </a:r>
                    </a:p>
                  </p:txBody>
                </p:sp>
              </p:grpSp>
              <p:grpSp>
                <p:nvGrpSpPr>
                  <p:cNvPr id="70" name="组合 69"/>
                  <p:cNvGrpSpPr/>
                  <p:nvPr/>
                </p:nvGrpSpPr>
                <p:grpSpPr>
                  <a:xfrm>
                    <a:off x="3157" y="2605"/>
                    <a:ext cx="1154" cy="1063"/>
                    <a:chOff x="2404" y="2625"/>
                    <a:chExt cx="1154" cy="1063"/>
                  </a:xfrm>
                </p:grpSpPr>
                <p:sp>
                  <p:nvSpPr>
                    <p:cNvPr id="71" name="平行四边形 70"/>
                    <p:cNvSpPr/>
                    <p:nvPr/>
                  </p:nvSpPr>
                  <p:spPr>
                    <a:xfrm>
                      <a:off x="2607" y="2965"/>
                      <a:ext cx="868" cy="665"/>
                    </a:xfrm>
                    <a:prstGeom prst="parallelogram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3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altLang="zh-CN" sz="1200"/>
                    </a:p>
                  </p:txBody>
                </p:sp>
                <p:sp>
                  <p:nvSpPr>
                    <p:cNvPr id="72" name="平行四边形 71"/>
                    <p:cNvSpPr/>
                    <p:nvPr/>
                  </p:nvSpPr>
                  <p:spPr>
                    <a:xfrm>
                      <a:off x="2551" y="2625"/>
                      <a:ext cx="868" cy="665"/>
                    </a:xfrm>
                    <a:prstGeom prst="parallelogram">
                      <a:avLst/>
                    </a:prstGeom>
                    <a:solidFill>
                      <a:schemeClr val="accent6">
                        <a:lumMod val="40000"/>
                        <a:lumOff val="6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3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altLang="zh-CN" sz="120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p:txBody>
                </p:sp>
                <p:sp>
                  <p:nvSpPr>
                    <p:cNvPr id="73" name="文本框 72"/>
                    <p:cNvSpPr txBox="1"/>
                    <p:nvPr/>
                  </p:nvSpPr>
                  <p:spPr>
                    <a:xfrm>
                      <a:off x="2432" y="3206"/>
                      <a:ext cx="1127" cy="48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altLang="zh-CN" sz="1400"/>
                        <a:t>Core</a:t>
                      </a:r>
                    </a:p>
                  </p:txBody>
                </p:sp>
                <p:sp>
                  <p:nvSpPr>
                    <p:cNvPr id="74" name="文本框 73"/>
                    <p:cNvSpPr txBox="1"/>
                    <p:nvPr/>
                  </p:nvSpPr>
                  <p:spPr>
                    <a:xfrm>
                      <a:off x="2404" y="2723"/>
                      <a:ext cx="1127" cy="48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altLang="zh-CN" sz="1400"/>
                        <a:t>N3D</a:t>
                      </a:r>
                    </a:p>
                  </p:txBody>
                </p:sp>
              </p:grpSp>
              <p:grpSp>
                <p:nvGrpSpPr>
                  <p:cNvPr id="75" name="组合 74"/>
                  <p:cNvGrpSpPr/>
                  <p:nvPr/>
                </p:nvGrpSpPr>
                <p:grpSpPr>
                  <a:xfrm>
                    <a:off x="4309" y="2605"/>
                    <a:ext cx="1154" cy="1063"/>
                    <a:chOff x="2404" y="2625"/>
                    <a:chExt cx="1154" cy="1063"/>
                  </a:xfrm>
                </p:grpSpPr>
                <p:sp>
                  <p:nvSpPr>
                    <p:cNvPr id="76" name="平行四边形 75"/>
                    <p:cNvSpPr/>
                    <p:nvPr/>
                  </p:nvSpPr>
                  <p:spPr>
                    <a:xfrm>
                      <a:off x="2607" y="2965"/>
                      <a:ext cx="868" cy="665"/>
                    </a:xfrm>
                    <a:prstGeom prst="parallelogram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3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altLang="zh-CN" sz="1200"/>
                    </a:p>
                  </p:txBody>
                </p:sp>
                <p:sp>
                  <p:nvSpPr>
                    <p:cNvPr id="77" name="平行四边形 76"/>
                    <p:cNvSpPr/>
                    <p:nvPr/>
                  </p:nvSpPr>
                  <p:spPr>
                    <a:xfrm>
                      <a:off x="2551" y="2625"/>
                      <a:ext cx="868" cy="665"/>
                    </a:xfrm>
                    <a:prstGeom prst="parallelogram">
                      <a:avLst/>
                    </a:prstGeom>
                    <a:solidFill>
                      <a:schemeClr val="accent6">
                        <a:lumMod val="40000"/>
                        <a:lumOff val="6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3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altLang="zh-CN" sz="120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p:txBody>
                </p:sp>
                <p:sp>
                  <p:nvSpPr>
                    <p:cNvPr id="78" name="文本框 77"/>
                    <p:cNvSpPr txBox="1"/>
                    <p:nvPr/>
                  </p:nvSpPr>
                  <p:spPr>
                    <a:xfrm>
                      <a:off x="2432" y="3206"/>
                      <a:ext cx="1127" cy="48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altLang="zh-CN" sz="1400"/>
                        <a:t>Core</a:t>
                      </a:r>
                    </a:p>
                  </p:txBody>
                </p:sp>
                <p:sp>
                  <p:nvSpPr>
                    <p:cNvPr id="79" name="文本框 78"/>
                    <p:cNvSpPr txBox="1"/>
                    <p:nvPr/>
                  </p:nvSpPr>
                  <p:spPr>
                    <a:xfrm>
                      <a:off x="2404" y="2723"/>
                      <a:ext cx="1127" cy="48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altLang="zh-CN" sz="1400"/>
                        <a:t>N3D</a:t>
                      </a:r>
                    </a:p>
                  </p:txBody>
                </p:sp>
              </p:grpSp>
              <p:grpSp>
                <p:nvGrpSpPr>
                  <p:cNvPr id="80" name="组合 79"/>
                  <p:cNvGrpSpPr/>
                  <p:nvPr/>
                </p:nvGrpSpPr>
                <p:grpSpPr>
                  <a:xfrm>
                    <a:off x="5496" y="2602"/>
                    <a:ext cx="1154" cy="1063"/>
                    <a:chOff x="2404" y="2625"/>
                    <a:chExt cx="1154" cy="1063"/>
                  </a:xfrm>
                </p:grpSpPr>
                <p:sp>
                  <p:nvSpPr>
                    <p:cNvPr id="81" name="平行四边形 80"/>
                    <p:cNvSpPr/>
                    <p:nvPr/>
                  </p:nvSpPr>
                  <p:spPr>
                    <a:xfrm>
                      <a:off x="2607" y="2965"/>
                      <a:ext cx="868" cy="665"/>
                    </a:xfrm>
                    <a:prstGeom prst="parallelogram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3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altLang="zh-CN" sz="1200"/>
                    </a:p>
                  </p:txBody>
                </p:sp>
                <p:sp>
                  <p:nvSpPr>
                    <p:cNvPr id="82" name="平行四边形 81"/>
                    <p:cNvSpPr/>
                    <p:nvPr/>
                  </p:nvSpPr>
                  <p:spPr>
                    <a:xfrm>
                      <a:off x="2551" y="2625"/>
                      <a:ext cx="868" cy="665"/>
                    </a:xfrm>
                    <a:prstGeom prst="parallelogram">
                      <a:avLst/>
                    </a:prstGeom>
                    <a:solidFill>
                      <a:schemeClr val="accent6">
                        <a:lumMod val="40000"/>
                        <a:lumOff val="6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3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altLang="zh-CN" sz="120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p:txBody>
                </p:sp>
                <p:sp>
                  <p:nvSpPr>
                    <p:cNvPr id="83" name="文本框 82"/>
                    <p:cNvSpPr txBox="1"/>
                    <p:nvPr/>
                  </p:nvSpPr>
                  <p:spPr>
                    <a:xfrm>
                      <a:off x="2432" y="3206"/>
                      <a:ext cx="1127" cy="48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altLang="zh-CN" sz="1400"/>
                        <a:t>Core</a:t>
                      </a:r>
                    </a:p>
                  </p:txBody>
                </p:sp>
                <p:sp>
                  <p:nvSpPr>
                    <p:cNvPr id="84" name="文本框 83"/>
                    <p:cNvSpPr txBox="1"/>
                    <p:nvPr/>
                  </p:nvSpPr>
                  <p:spPr>
                    <a:xfrm>
                      <a:off x="2404" y="2723"/>
                      <a:ext cx="1127" cy="48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altLang="zh-CN" sz="1400"/>
                        <a:t>N3D</a:t>
                      </a:r>
                    </a:p>
                  </p:txBody>
                </p:sp>
              </p:grpSp>
              <p:sp>
                <p:nvSpPr>
                  <p:cNvPr id="85" name="左右箭头 84"/>
                  <p:cNvSpPr/>
                  <p:nvPr/>
                </p:nvSpPr>
                <p:spPr>
                  <a:xfrm>
                    <a:off x="2927" y="3337"/>
                    <a:ext cx="477" cy="216"/>
                  </a:xfrm>
                  <a:prstGeom prst="leftRightArrow">
                    <a:avLst/>
                  </a:prstGeom>
                  <a:solidFill>
                    <a:schemeClr val="bg1"/>
                  </a:solidFill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6" name="左右箭头 85"/>
                  <p:cNvSpPr/>
                  <p:nvPr/>
                </p:nvSpPr>
                <p:spPr>
                  <a:xfrm>
                    <a:off x="4093" y="3349"/>
                    <a:ext cx="477" cy="216"/>
                  </a:xfrm>
                  <a:prstGeom prst="leftRightArrow">
                    <a:avLst/>
                  </a:prstGeom>
                  <a:solidFill>
                    <a:schemeClr val="bg1"/>
                  </a:solidFill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7" name="左右箭头 86"/>
                  <p:cNvSpPr/>
                  <p:nvPr/>
                </p:nvSpPr>
                <p:spPr>
                  <a:xfrm>
                    <a:off x="5259" y="3349"/>
                    <a:ext cx="477" cy="216"/>
                  </a:xfrm>
                  <a:prstGeom prst="leftRightArrow">
                    <a:avLst/>
                  </a:prstGeom>
                  <a:solidFill>
                    <a:schemeClr val="bg1"/>
                  </a:solidFill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</p:grpSp>
          <p:grpSp>
            <p:nvGrpSpPr>
              <p:cNvPr id="88" name="组合 87"/>
              <p:cNvGrpSpPr/>
              <p:nvPr/>
            </p:nvGrpSpPr>
            <p:grpSpPr>
              <a:xfrm>
                <a:off x="1822" y="5956"/>
                <a:ext cx="4666" cy="1270"/>
                <a:chOff x="1840" y="3602"/>
                <a:chExt cx="4666" cy="1270"/>
              </a:xfrm>
            </p:grpSpPr>
            <p:sp>
              <p:nvSpPr>
                <p:cNvPr id="89" name="左右箭头 88"/>
                <p:cNvSpPr/>
                <p:nvPr/>
              </p:nvSpPr>
              <p:spPr>
                <a:xfrm rot="5400000">
                  <a:off x="3425" y="3737"/>
                  <a:ext cx="477" cy="216"/>
                </a:xfrm>
                <a:prstGeom prst="leftRightArrow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0" name="左右箭头 89"/>
                <p:cNvSpPr/>
                <p:nvPr/>
              </p:nvSpPr>
              <p:spPr>
                <a:xfrm rot="5400000">
                  <a:off x="4633" y="3737"/>
                  <a:ext cx="477" cy="216"/>
                </a:xfrm>
                <a:prstGeom prst="leftRightArrow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1" name="左右箭头 90"/>
                <p:cNvSpPr/>
                <p:nvPr/>
              </p:nvSpPr>
              <p:spPr>
                <a:xfrm rot="5400000">
                  <a:off x="5750" y="3732"/>
                  <a:ext cx="477" cy="216"/>
                </a:xfrm>
                <a:prstGeom prst="leftRightArrow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2" name="左右箭头 91"/>
                <p:cNvSpPr/>
                <p:nvPr/>
              </p:nvSpPr>
              <p:spPr>
                <a:xfrm rot="5400000">
                  <a:off x="2294" y="3755"/>
                  <a:ext cx="477" cy="216"/>
                </a:xfrm>
                <a:prstGeom prst="leftRightArrow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93" name="组合 92"/>
                <p:cNvGrpSpPr/>
                <p:nvPr/>
              </p:nvGrpSpPr>
              <p:grpSpPr>
                <a:xfrm>
                  <a:off x="1840" y="3787"/>
                  <a:ext cx="4666" cy="1085"/>
                  <a:chOff x="1984" y="2602"/>
                  <a:chExt cx="4666" cy="1085"/>
                </a:xfrm>
              </p:grpSpPr>
              <p:grpSp>
                <p:nvGrpSpPr>
                  <p:cNvPr id="94" name="组合 93"/>
                  <p:cNvGrpSpPr/>
                  <p:nvPr/>
                </p:nvGrpSpPr>
                <p:grpSpPr>
                  <a:xfrm>
                    <a:off x="1984" y="2625"/>
                    <a:ext cx="1154" cy="1063"/>
                    <a:chOff x="2404" y="2625"/>
                    <a:chExt cx="1154" cy="1063"/>
                  </a:xfrm>
                </p:grpSpPr>
                <p:sp>
                  <p:nvSpPr>
                    <p:cNvPr id="95" name="平行四边形 94"/>
                    <p:cNvSpPr/>
                    <p:nvPr/>
                  </p:nvSpPr>
                  <p:spPr>
                    <a:xfrm>
                      <a:off x="2607" y="2965"/>
                      <a:ext cx="868" cy="665"/>
                    </a:xfrm>
                    <a:prstGeom prst="parallelogram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3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altLang="zh-CN" sz="1200"/>
                    </a:p>
                  </p:txBody>
                </p:sp>
                <p:sp>
                  <p:nvSpPr>
                    <p:cNvPr id="96" name="平行四边形 95"/>
                    <p:cNvSpPr/>
                    <p:nvPr/>
                  </p:nvSpPr>
                  <p:spPr>
                    <a:xfrm>
                      <a:off x="2551" y="2625"/>
                      <a:ext cx="868" cy="665"/>
                    </a:xfrm>
                    <a:prstGeom prst="parallelogram">
                      <a:avLst/>
                    </a:prstGeom>
                    <a:solidFill>
                      <a:schemeClr val="accent6">
                        <a:lumMod val="40000"/>
                        <a:lumOff val="6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3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altLang="zh-CN" sz="120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p:txBody>
                </p:sp>
                <p:sp>
                  <p:nvSpPr>
                    <p:cNvPr id="97" name="文本框 96"/>
                    <p:cNvSpPr txBox="1"/>
                    <p:nvPr/>
                  </p:nvSpPr>
                  <p:spPr>
                    <a:xfrm>
                      <a:off x="2432" y="3206"/>
                      <a:ext cx="1127" cy="48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altLang="zh-CN" sz="1400"/>
                        <a:t>Core</a:t>
                      </a:r>
                    </a:p>
                  </p:txBody>
                </p:sp>
                <p:sp>
                  <p:nvSpPr>
                    <p:cNvPr id="98" name="文本框 97"/>
                    <p:cNvSpPr txBox="1"/>
                    <p:nvPr/>
                  </p:nvSpPr>
                  <p:spPr>
                    <a:xfrm>
                      <a:off x="2404" y="2723"/>
                      <a:ext cx="1127" cy="48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altLang="zh-CN" sz="1400"/>
                        <a:t>N3D</a:t>
                      </a:r>
                    </a:p>
                  </p:txBody>
                </p:sp>
              </p:grpSp>
              <p:grpSp>
                <p:nvGrpSpPr>
                  <p:cNvPr id="99" name="组合 98"/>
                  <p:cNvGrpSpPr/>
                  <p:nvPr/>
                </p:nvGrpSpPr>
                <p:grpSpPr>
                  <a:xfrm>
                    <a:off x="3157" y="2605"/>
                    <a:ext cx="1154" cy="1063"/>
                    <a:chOff x="2404" y="2625"/>
                    <a:chExt cx="1154" cy="1063"/>
                  </a:xfrm>
                </p:grpSpPr>
                <p:sp>
                  <p:nvSpPr>
                    <p:cNvPr id="100" name="平行四边形 99"/>
                    <p:cNvSpPr/>
                    <p:nvPr/>
                  </p:nvSpPr>
                  <p:spPr>
                    <a:xfrm>
                      <a:off x="2607" y="2965"/>
                      <a:ext cx="868" cy="665"/>
                    </a:xfrm>
                    <a:prstGeom prst="parallelogram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3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altLang="zh-CN" sz="1200"/>
                    </a:p>
                  </p:txBody>
                </p:sp>
                <p:sp>
                  <p:nvSpPr>
                    <p:cNvPr id="101" name="平行四边形 100"/>
                    <p:cNvSpPr/>
                    <p:nvPr/>
                  </p:nvSpPr>
                  <p:spPr>
                    <a:xfrm>
                      <a:off x="2551" y="2625"/>
                      <a:ext cx="868" cy="665"/>
                    </a:xfrm>
                    <a:prstGeom prst="parallelogram">
                      <a:avLst/>
                    </a:prstGeom>
                    <a:solidFill>
                      <a:schemeClr val="accent6">
                        <a:lumMod val="40000"/>
                        <a:lumOff val="6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3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altLang="zh-CN" sz="120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p:txBody>
                </p:sp>
                <p:sp>
                  <p:nvSpPr>
                    <p:cNvPr id="102" name="文本框 101"/>
                    <p:cNvSpPr txBox="1"/>
                    <p:nvPr/>
                  </p:nvSpPr>
                  <p:spPr>
                    <a:xfrm>
                      <a:off x="2432" y="3206"/>
                      <a:ext cx="1127" cy="48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altLang="zh-CN" sz="1400"/>
                        <a:t>Core</a:t>
                      </a:r>
                    </a:p>
                  </p:txBody>
                </p:sp>
                <p:sp>
                  <p:nvSpPr>
                    <p:cNvPr id="103" name="文本框 102"/>
                    <p:cNvSpPr txBox="1"/>
                    <p:nvPr/>
                  </p:nvSpPr>
                  <p:spPr>
                    <a:xfrm>
                      <a:off x="2404" y="2723"/>
                      <a:ext cx="1127" cy="48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altLang="zh-CN" sz="1400"/>
                        <a:t>N3D</a:t>
                      </a:r>
                    </a:p>
                  </p:txBody>
                </p:sp>
              </p:grpSp>
              <p:grpSp>
                <p:nvGrpSpPr>
                  <p:cNvPr id="104" name="组合 103"/>
                  <p:cNvGrpSpPr/>
                  <p:nvPr/>
                </p:nvGrpSpPr>
                <p:grpSpPr>
                  <a:xfrm>
                    <a:off x="4309" y="2605"/>
                    <a:ext cx="1154" cy="1063"/>
                    <a:chOff x="2404" y="2625"/>
                    <a:chExt cx="1154" cy="1063"/>
                  </a:xfrm>
                </p:grpSpPr>
                <p:sp>
                  <p:nvSpPr>
                    <p:cNvPr id="105" name="平行四边形 104"/>
                    <p:cNvSpPr/>
                    <p:nvPr/>
                  </p:nvSpPr>
                  <p:spPr>
                    <a:xfrm>
                      <a:off x="2607" y="2965"/>
                      <a:ext cx="868" cy="665"/>
                    </a:xfrm>
                    <a:prstGeom prst="parallelogram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3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altLang="zh-CN" sz="1200"/>
                    </a:p>
                  </p:txBody>
                </p:sp>
                <p:sp>
                  <p:nvSpPr>
                    <p:cNvPr id="106" name="平行四边形 105"/>
                    <p:cNvSpPr/>
                    <p:nvPr/>
                  </p:nvSpPr>
                  <p:spPr>
                    <a:xfrm>
                      <a:off x="2551" y="2625"/>
                      <a:ext cx="868" cy="665"/>
                    </a:xfrm>
                    <a:prstGeom prst="parallelogram">
                      <a:avLst/>
                    </a:prstGeom>
                    <a:solidFill>
                      <a:schemeClr val="accent6">
                        <a:lumMod val="40000"/>
                        <a:lumOff val="6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3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altLang="zh-CN" sz="120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p:txBody>
                </p:sp>
                <p:sp>
                  <p:nvSpPr>
                    <p:cNvPr id="107" name="文本框 106"/>
                    <p:cNvSpPr txBox="1"/>
                    <p:nvPr/>
                  </p:nvSpPr>
                  <p:spPr>
                    <a:xfrm>
                      <a:off x="2432" y="3206"/>
                      <a:ext cx="1127" cy="48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altLang="zh-CN" sz="1400"/>
                        <a:t>Core</a:t>
                      </a:r>
                    </a:p>
                  </p:txBody>
                </p:sp>
                <p:sp>
                  <p:nvSpPr>
                    <p:cNvPr id="108" name="文本框 107"/>
                    <p:cNvSpPr txBox="1"/>
                    <p:nvPr/>
                  </p:nvSpPr>
                  <p:spPr>
                    <a:xfrm>
                      <a:off x="2404" y="2723"/>
                      <a:ext cx="1127" cy="48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altLang="zh-CN" sz="1400"/>
                        <a:t>N3D</a:t>
                      </a:r>
                    </a:p>
                  </p:txBody>
                </p:sp>
              </p:grpSp>
              <p:grpSp>
                <p:nvGrpSpPr>
                  <p:cNvPr id="109" name="组合 108"/>
                  <p:cNvGrpSpPr/>
                  <p:nvPr/>
                </p:nvGrpSpPr>
                <p:grpSpPr>
                  <a:xfrm>
                    <a:off x="5496" y="2602"/>
                    <a:ext cx="1154" cy="1063"/>
                    <a:chOff x="2404" y="2625"/>
                    <a:chExt cx="1154" cy="1063"/>
                  </a:xfrm>
                </p:grpSpPr>
                <p:sp>
                  <p:nvSpPr>
                    <p:cNvPr id="110" name="平行四边形 109"/>
                    <p:cNvSpPr/>
                    <p:nvPr/>
                  </p:nvSpPr>
                  <p:spPr>
                    <a:xfrm>
                      <a:off x="2607" y="2965"/>
                      <a:ext cx="868" cy="665"/>
                    </a:xfrm>
                    <a:prstGeom prst="parallelogram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3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altLang="zh-CN" sz="1200"/>
                    </a:p>
                  </p:txBody>
                </p:sp>
                <p:sp>
                  <p:nvSpPr>
                    <p:cNvPr id="111" name="平行四边形 110"/>
                    <p:cNvSpPr/>
                    <p:nvPr/>
                  </p:nvSpPr>
                  <p:spPr>
                    <a:xfrm>
                      <a:off x="2551" y="2625"/>
                      <a:ext cx="868" cy="665"/>
                    </a:xfrm>
                    <a:prstGeom prst="parallelogram">
                      <a:avLst/>
                    </a:prstGeom>
                    <a:solidFill>
                      <a:schemeClr val="accent6">
                        <a:lumMod val="40000"/>
                        <a:lumOff val="6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3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altLang="zh-CN" sz="120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p:txBody>
                </p:sp>
                <p:sp>
                  <p:nvSpPr>
                    <p:cNvPr id="112" name="文本框 111"/>
                    <p:cNvSpPr txBox="1"/>
                    <p:nvPr/>
                  </p:nvSpPr>
                  <p:spPr>
                    <a:xfrm>
                      <a:off x="2432" y="3206"/>
                      <a:ext cx="1127" cy="48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altLang="zh-CN" sz="1400"/>
                        <a:t>Core</a:t>
                      </a:r>
                    </a:p>
                  </p:txBody>
                </p:sp>
                <p:sp>
                  <p:nvSpPr>
                    <p:cNvPr id="113" name="文本框 112"/>
                    <p:cNvSpPr txBox="1"/>
                    <p:nvPr/>
                  </p:nvSpPr>
                  <p:spPr>
                    <a:xfrm>
                      <a:off x="2404" y="2723"/>
                      <a:ext cx="1127" cy="48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altLang="zh-CN" sz="1400"/>
                        <a:t>N3D</a:t>
                      </a:r>
                    </a:p>
                  </p:txBody>
                </p:sp>
              </p:grpSp>
              <p:sp>
                <p:nvSpPr>
                  <p:cNvPr id="114" name="左右箭头 113"/>
                  <p:cNvSpPr/>
                  <p:nvPr/>
                </p:nvSpPr>
                <p:spPr>
                  <a:xfrm>
                    <a:off x="2927" y="3337"/>
                    <a:ext cx="477" cy="216"/>
                  </a:xfrm>
                  <a:prstGeom prst="leftRightArrow">
                    <a:avLst/>
                  </a:prstGeom>
                  <a:solidFill>
                    <a:schemeClr val="bg1"/>
                  </a:solidFill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15" name="左右箭头 114"/>
                  <p:cNvSpPr/>
                  <p:nvPr/>
                </p:nvSpPr>
                <p:spPr>
                  <a:xfrm>
                    <a:off x="4093" y="3349"/>
                    <a:ext cx="477" cy="216"/>
                  </a:xfrm>
                  <a:prstGeom prst="leftRightArrow">
                    <a:avLst/>
                  </a:prstGeom>
                  <a:solidFill>
                    <a:schemeClr val="bg1"/>
                  </a:solidFill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16" name="左右箭头 115"/>
                  <p:cNvSpPr/>
                  <p:nvPr/>
                </p:nvSpPr>
                <p:spPr>
                  <a:xfrm>
                    <a:off x="5259" y="3349"/>
                    <a:ext cx="477" cy="216"/>
                  </a:xfrm>
                  <a:prstGeom prst="leftRightArrow">
                    <a:avLst/>
                  </a:prstGeom>
                  <a:solidFill>
                    <a:schemeClr val="bg1"/>
                  </a:solidFill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</p:grpSp>
        </p:grpSp>
        <p:sp>
          <p:nvSpPr>
            <p:cNvPr id="3" name="右箭头 2"/>
            <p:cNvSpPr/>
            <p:nvPr/>
          </p:nvSpPr>
          <p:spPr>
            <a:xfrm>
              <a:off x="3460" y="3319"/>
              <a:ext cx="706" cy="120"/>
            </a:xfrm>
            <a:prstGeom prst="rightArrow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9" name="右箭头 118"/>
            <p:cNvSpPr/>
            <p:nvPr/>
          </p:nvSpPr>
          <p:spPr>
            <a:xfrm>
              <a:off x="4591" y="3319"/>
              <a:ext cx="706" cy="120"/>
            </a:xfrm>
            <a:prstGeom prst="rightArrow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0" name="右箭头 119"/>
            <p:cNvSpPr/>
            <p:nvPr/>
          </p:nvSpPr>
          <p:spPr>
            <a:xfrm>
              <a:off x="5799" y="3319"/>
              <a:ext cx="706" cy="120"/>
            </a:xfrm>
            <a:prstGeom prst="rightArrow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1" name="右箭头 120"/>
            <p:cNvSpPr/>
            <p:nvPr/>
          </p:nvSpPr>
          <p:spPr>
            <a:xfrm rot="5400000">
              <a:off x="6623" y="3919"/>
              <a:ext cx="706" cy="120"/>
            </a:xfrm>
            <a:prstGeom prst="rightArrow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2" name="右箭头 121"/>
            <p:cNvSpPr/>
            <p:nvPr/>
          </p:nvSpPr>
          <p:spPr>
            <a:xfrm rot="5400000">
              <a:off x="6619" y="5131"/>
              <a:ext cx="706" cy="120"/>
            </a:xfrm>
            <a:prstGeom prst="rightArrow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3" name="右箭头 122"/>
            <p:cNvSpPr/>
            <p:nvPr/>
          </p:nvSpPr>
          <p:spPr>
            <a:xfrm rot="5400000">
              <a:off x="6623" y="6273"/>
              <a:ext cx="706" cy="120"/>
            </a:xfrm>
            <a:prstGeom prst="rightArrow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4" name="右箭头 123"/>
            <p:cNvSpPr/>
            <p:nvPr/>
          </p:nvSpPr>
          <p:spPr>
            <a:xfrm rot="10800000">
              <a:off x="5781" y="6765"/>
              <a:ext cx="706" cy="120"/>
            </a:xfrm>
            <a:prstGeom prst="rightArrow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5" name="右箭头 124"/>
            <p:cNvSpPr/>
            <p:nvPr/>
          </p:nvSpPr>
          <p:spPr>
            <a:xfrm rot="10800000">
              <a:off x="4591" y="6760"/>
              <a:ext cx="706" cy="120"/>
            </a:xfrm>
            <a:prstGeom prst="rightArrow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6" name="右箭头 125"/>
            <p:cNvSpPr/>
            <p:nvPr/>
          </p:nvSpPr>
          <p:spPr>
            <a:xfrm rot="10800000">
              <a:off x="3442" y="6765"/>
              <a:ext cx="706" cy="120"/>
            </a:xfrm>
            <a:prstGeom prst="rightArrow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7" name="右箭头 126"/>
            <p:cNvSpPr/>
            <p:nvPr/>
          </p:nvSpPr>
          <p:spPr>
            <a:xfrm rot="16200000">
              <a:off x="2666" y="6293"/>
              <a:ext cx="706" cy="120"/>
            </a:xfrm>
            <a:prstGeom prst="rightArrow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8" name="右箭头 127"/>
            <p:cNvSpPr/>
            <p:nvPr/>
          </p:nvSpPr>
          <p:spPr>
            <a:xfrm>
              <a:off x="3460" y="5662"/>
              <a:ext cx="706" cy="120"/>
            </a:xfrm>
            <a:prstGeom prst="rightArrow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9" name="右箭头 128"/>
            <p:cNvSpPr/>
            <p:nvPr/>
          </p:nvSpPr>
          <p:spPr>
            <a:xfrm>
              <a:off x="4591" y="5711"/>
              <a:ext cx="706" cy="120"/>
            </a:xfrm>
            <a:prstGeom prst="rightArrow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0" name="右箭头 129"/>
            <p:cNvSpPr/>
            <p:nvPr/>
          </p:nvSpPr>
          <p:spPr>
            <a:xfrm rot="10800000">
              <a:off x="4591" y="4454"/>
              <a:ext cx="706" cy="120"/>
            </a:xfrm>
            <a:prstGeom prst="rightArrow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1" name="右箭头 130"/>
            <p:cNvSpPr/>
            <p:nvPr/>
          </p:nvSpPr>
          <p:spPr>
            <a:xfrm rot="10800000">
              <a:off x="3460" y="4477"/>
              <a:ext cx="706" cy="120"/>
            </a:xfrm>
            <a:prstGeom prst="rightArrow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2" name="右箭头 131"/>
            <p:cNvSpPr/>
            <p:nvPr/>
          </p:nvSpPr>
          <p:spPr>
            <a:xfrm rot="16200000">
              <a:off x="5488" y="5104"/>
              <a:ext cx="706" cy="120"/>
            </a:xfrm>
            <a:prstGeom prst="rightArrow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3" name="右箭头 132"/>
            <p:cNvSpPr/>
            <p:nvPr/>
          </p:nvSpPr>
          <p:spPr>
            <a:xfrm rot="16200000">
              <a:off x="2666" y="3919"/>
              <a:ext cx="706" cy="120"/>
            </a:xfrm>
            <a:prstGeom prst="rightArrow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4" name="上弧形箭头 133"/>
            <p:cNvSpPr/>
            <p:nvPr/>
          </p:nvSpPr>
          <p:spPr>
            <a:xfrm>
              <a:off x="3079" y="3807"/>
              <a:ext cx="319" cy="193"/>
            </a:xfrm>
            <a:prstGeom prst="curvedDownArrow">
              <a:avLst>
                <a:gd name="adj1" fmla="val 25000"/>
                <a:gd name="adj2" fmla="val 82642"/>
                <a:gd name="adj3" fmla="val 25000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C00000"/>
                </a:solidFill>
              </a:endParaRPr>
            </a:p>
          </p:txBody>
        </p:sp>
        <p:sp>
          <p:nvSpPr>
            <p:cNvPr id="135" name="上弧形箭头 134"/>
            <p:cNvSpPr/>
            <p:nvPr/>
          </p:nvSpPr>
          <p:spPr>
            <a:xfrm>
              <a:off x="4166" y="3796"/>
              <a:ext cx="319" cy="193"/>
            </a:xfrm>
            <a:prstGeom prst="curvedDownArrow">
              <a:avLst>
                <a:gd name="adj1" fmla="val 25000"/>
                <a:gd name="adj2" fmla="val 82642"/>
                <a:gd name="adj3" fmla="val 25000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C00000"/>
                </a:solidFill>
              </a:endParaRPr>
            </a:p>
          </p:txBody>
        </p:sp>
        <p:sp>
          <p:nvSpPr>
            <p:cNvPr id="136" name="上弧形箭头 135"/>
            <p:cNvSpPr/>
            <p:nvPr/>
          </p:nvSpPr>
          <p:spPr>
            <a:xfrm>
              <a:off x="5297" y="3784"/>
              <a:ext cx="319" cy="193"/>
            </a:xfrm>
            <a:prstGeom prst="curvedDownArrow">
              <a:avLst>
                <a:gd name="adj1" fmla="val 25000"/>
                <a:gd name="adj2" fmla="val 82642"/>
                <a:gd name="adj3" fmla="val 25000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C00000"/>
                </a:solidFill>
              </a:endParaRPr>
            </a:p>
          </p:txBody>
        </p:sp>
        <p:sp>
          <p:nvSpPr>
            <p:cNvPr id="137" name="上弧形箭头 136"/>
            <p:cNvSpPr/>
            <p:nvPr/>
          </p:nvSpPr>
          <p:spPr>
            <a:xfrm>
              <a:off x="6571" y="3784"/>
              <a:ext cx="319" cy="193"/>
            </a:xfrm>
            <a:prstGeom prst="curvedDownArrow">
              <a:avLst>
                <a:gd name="adj1" fmla="val 25000"/>
                <a:gd name="adj2" fmla="val 82642"/>
                <a:gd name="adj3" fmla="val 25000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C00000"/>
                </a:solidFill>
              </a:endParaRPr>
            </a:p>
          </p:txBody>
        </p:sp>
        <p:sp>
          <p:nvSpPr>
            <p:cNvPr id="138" name="上弧形箭头 137"/>
            <p:cNvSpPr/>
            <p:nvPr/>
          </p:nvSpPr>
          <p:spPr>
            <a:xfrm>
              <a:off x="6593" y="4969"/>
              <a:ext cx="319" cy="193"/>
            </a:xfrm>
            <a:prstGeom prst="curvedDownArrow">
              <a:avLst>
                <a:gd name="adj1" fmla="val 25000"/>
                <a:gd name="adj2" fmla="val 82642"/>
                <a:gd name="adj3" fmla="val 25000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C00000"/>
                </a:solidFill>
              </a:endParaRPr>
            </a:p>
          </p:txBody>
        </p:sp>
        <p:sp>
          <p:nvSpPr>
            <p:cNvPr id="139" name="上弧形箭头 138"/>
            <p:cNvSpPr/>
            <p:nvPr/>
          </p:nvSpPr>
          <p:spPr>
            <a:xfrm>
              <a:off x="5462" y="4981"/>
              <a:ext cx="319" cy="193"/>
            </a:xfrm>
            <a:prstGeom prst="curvedDownArrow">
              <a:avLst>
                <a:gd name="adj1" fmla="val 25000"/>
                <a:gd name="adj2" fmla="val 82642"/>
                <a:gd name="adj3" fmla="val 25000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C00000"/>
                </a:solidFill>
              </a:endParaRPr>
            </a:p>
          </p:txBody>
        </p:sp>
        <p:sp>
          <p:nvSpPr>
            <p:cNvPr id="140" name="上弧形箭头 139"/>
            <p:cNvSpPr/>
            <p:nvPr/>
          </p:nvSpPr>
          <p:spPr>
            <a:xfrm>
              <a:off x="4375" y="4969"/>
              <a:ext cx="319" cy="193"/>
            </a:xfrm>
            <a:prstGeom prst="curvedDownArrow">
              <a:avLst>
                <a:gd name="adj1" fmla="val 25000"/>
                <a:gd name="adj2" fmla="val 82642"/>
                <a:gd name="adj3" fmla="val 25000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C00000"/>
                </a:solidFill>
              </a:endParaRPr>
            </a:p>
          </p:txBody>
        </p:sp>
        <p:sp>
          <p:nvSpPr>
            <p:cNvPr id="141" name="上弧形箭头 140"/>
            <p:cNvSpPr/>
            <p:nvPr/>
          </p:nvSpPr>
          <p:spPr>
            <a:xfrm>
              <a:off x="3226" y="5004"/>
              <a:ext cx="319" cy="193"/>
            </a:xfrm>
            <a:prstGeom prst="curvedDownArrow">
              <a:avLst>
                <a:gd name="adj1" fmla="val 25000"/>
                <a:gd name="adj2" fmla="val 82642"/>
                <a:gd name="adj3" fmla="val 25000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C00000"/>
                </a:solidFill>
              </a:endParaRPr>
            </a:p>
          </p:txBody>
        </p:sp>
        <p:sp>
          <p:nvSpPr>
            <p:cNvPr id="142" name="上弧形箭头 141"/>
            <p:cNvSpPr/>
            <p:nvPr/>
          </p:nvSpPr>
          <p:spPr>
            <a:xfrm>
              <a:off x="3079" y="6177"/>
              <a:ext cx="319" cy="193"/>
            </a:xfrm>
            <a:prstGeom prst="curvedDownArrow">
              <a:avLst>
                <a:gd name="adj1" fmla="val 25000"/>
                <a:gd name="adj2" fmla="val 82642"/>
                <a:gd name="adj3" fmla="val 25000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C00000"/>
                </a:solidFill>
              </a:endParaRPr>
            </a:p>
          </p:txBody>
        </p:sp>
        <p:sp>
          <p:nvSpPr>
            <p:cNvPr id="143" name="上弧形箭头 142"/>
            <p:cNvSpPr/>
            <p:nvPr/>
          </p:nvSpPr>
          <p:spPr>
            <a:xfrm>
              <a:off x="4166" y="6154"/>
              <a:ext cx="319" cy="193"/>
            </a:xfrm>
            <a:prstGeom prst="curvedDownArrow">
              <a:avLst>
                <a:gd name="adj1" fmla="val 25000"/>
                <a:gd name="adj2" fmla="val 82642"/>
                <a:gd name="adj3" fmla="val 25000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C00000"/>
                </a:solidFill>
              </a:endParaRPr>
            </a:p>
          </p:txBody>
        </p:sp>
        <p:sp>
          <p:nvSpPr>
            <p:cNvPr id="144" name="上弧形箭头 143"/>
            <p:cNvSpPr/>
            <p:nvPr/>
          </p:nvSpPr>
          <p:spPr>
            <a:xfrm>
              <a:off x="5297" y="6154"/>
              <a:ext cx="319" cy="193"/>
            </a:xfrm>
            <a:prstGeom prst="curvedDownArrow">
              <a:avLst>
                <a:gd name="adj1" fmla="val 25000"/>
                <a:gd name="adj2" fmla="val 82642"/>
                <a:gd name="adj3" fmla="val 25000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C00000"/>
                </a:solidFill>
              </a:endParaRPr>
            </a:p>
          </p:txBody>
        </p:sp>
        <p:sp>
          <p:nvSpPr>
            <p:cNvPr id="145" name="上弧形箭头 144"/>
            <p:cNvSpPr/>
            <p:nvPr/>
          </p:nvSpPr>
          <p:spPr>
            <a:xfrm>
              <a:off x="6597" y="6154"/>
              <a:ext cx="319" cy="193"/>
            </a:xfrm>
            <a:prstGeom prst="curvedDownArrow">
              <a:avLst>
                <a:gd name="adj1" fmla="val 25000"/>
                <a:gd name="adj2" fmla="val 82642"/>
                <a:gd name="adj3" fmla="val 25000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C00000"/>
                </a:solidFill>
              </a:endParaRPr>
            </a:p>
          </p:txBody>
        </p:sp>
        <p:sp>
          <p:nvSpPr>
            <p:cNvPr id="146" name="上弧形箭头 145"/>
            <p:cNvSpPr/>
            <p:nvPr/>
          </p:nvSpPr>
          <p:spPr>
            <a:xfrm>
              <a:off x="6505" y="7323"/>
              <a:ext cx="319" cy="193"/>
            </a:xfrm>
            <a:prstGeom prst="curvedDownArrow">
              <a:avLst>
                <a:gd name="adj1" fmla="val 25000"/>
                <a:gd name="adj2" fmla="val 82642"/>
                <a:gd name="adj3" fmla="val 25000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C00000"/>
                </a:solidFill>
              </a:endParaRPr>
            </a:p>
          </p:txBody>
        </p:sp>
        <p:sp>
          <p:nvSpPr>
            <p:cNvPr id="147" name="上弧形箭头 146"/>
            <p:cNvSpPr/>
            <p:nvPr/>
          </p:nvSpPr>
          <p:spPr>
            <a:xfrm>
              <a:off x="5297" y="7323"/>
              <a:ext cx="319" cy="193"/>
            </a:xfrm>
            <a:prstGeom prst="curvedDownArrow">
              <a:avLst>
                <a:gd name="adj1" fmla="val 25000"/>
                <a:gd name="adj2" fmla="val 82642"/>
                <a:gd name="adj3" fmla="val 25000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C00000"/>
                </a:solidFill>
              </a:endParaRPr>
            </a:p>
          </p:txBody>
        </p:sp>
        <p:sp>
          <p:nvSpPr>
            <p:cNvPr id="148" name="上弧形箭头 147"/>
            <p:cNvSpPr/>
            <p:nvPr/>
          </p:nvSpPr>
          <p:spPr>
            <a:xfrm>
              <a:off x="4148" y="7346"/>
              <a:ext cx="319" cy="193"/>
            </a:xfrm>
            <a:prstGeom prst="curvedDownArrow">
              <a:avLst>
                <a:gd name="adj1" fmla="val 25000"/>
                <a:gd name="adj2" fmla="val 82642"/>
                <a:gd name="adj3" fmla="val 25000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C00000"/>
                </a:solidFill>
              </a:endParaRPr>
            </a:p>
          </p:txBody>
        </p:sp>
        <p:sp>
          <p:nvSpPr>
            <p:cNvPr id="149" name="上弧形箭头 148"/>
            <p:cNvSpPr/>
            <p:nvPr/>
          </p:nvSpPr>
          <p:spPr>
            <a:xfrm>
              <a:off x="2959" y="7323"/>
              <a:ext cx="319" cy="193"/>
            </a:xfrm>
            <a:prstGeom prst="curvedDownArrow">
              <a:avLst>
                <a:gd name="adj1" fmla="val 25000"/>
                <a:gd name="adj2" fmla="val 82642"/>
                <a:gd name="adj3" fmla="val 25000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C00000"/>
                </a:solidFill>
              </a:endParaRPr>
            </a:p>
          </p:txBody>
        </p:sp>
        <p:sp>
          <p:nvSpPr>
            <p:cNvPr id="235" name="下箭头 234"/>
            <p:cNvSpPr/>
            <p:nvPr/>
          </p:nvSpPr>
          <p:spPr>
            <a:xfrm>
              <a:off x="3278" y="3626"/>
              <a:ext cx="376" cy="318"/>
            </a:xfrm>
            <a:prstGeom prst="downArrow">
              <a:avLst/>
            </a:prstGeom>
            <a:solidFill>
              <a:srgbClr val="00B0F0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0" name="下箭头 149"/>
            <p:cNvSpPr/>
            <p:nvPr/>
          </p:nvSpPr>
          <p:spPr>
            <a:xfrm>
              <a:off x="4388" y="3626"/>
              <a:ext cx="376" cy="318"/>
            </a:xfrm>
            <a:prstGeom prst="downArrow">
              <a:avLst/>
            </a:prstGeom>
            <a:solidFill>
              <a:srgbClr val="00B0F0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1" name="下箭头 150"/>
            <p:cNvSpPr/>
            <p:nvPr/>
          </p:nvSpPr>
          <p:spPr>
            <a:xfrm>
              <a:off x="5540" y="3626"/>
              <a:ext cx="376" cy="318"/>
            </a:xfrm>
            <a:prstGeom prst="downArrow">
              <a:avLst/>
            </a:prstGeom>
            <a:solidFill>
              <a:srgbClr val="00B0F0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2" name="下箭头 151"/>
            <p:cNvSpPr/>
            <p:nvPr/>
          </p:nvSpPr>
          <p:spPr>
            <a:xfrm>
              <a:off x="6300" y="3653"/>
              <a:ext cx="376" cy="318"/>
            </a:xfrm>
            <a:prstGeom prst="downArrow">
              <a:avLst/>
            </a:prstGeom>
            <a:solidFill>
              <a:srgbClr val="00B0F0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3" name="下箭头 152"/>
            <p:cNvSpPr/>
            <p:nvPr/>
          </p:nvSpPr>
          <p:spPr>
            <a:xfrm>
              <a:off x="6324" y="4811"/>
              <a:ext cx="376" cy="318"/>
            </a:xfrm>
            <a:prstGeom prst="downArrow">
              <a:avLst/>
            </a:prstGeom>
            <a:solidFill>
              <a:srgbClr val="00B0F0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4" name="下箭头 153"/>
            <p:cNvSpPr/>
            <p:nvPr/>
          </p:nvSpPr>
          <p:spPr>
            <a:xfrm>
              <a:off x="5177" y="4811"/>
              <a:ext cx="376" cy="318"/>
            </a:xfrm>
            <a:prstGeom prst="downArrow">
              <a:avLst/>
            </a:prstGeom>
            <a:solidFill>
              <a:srgbClr val="00B0F0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5" name="下箭头 154"/>
            <p:cNvSpPr/>
            <p:nvPr/>
          </p:nvSpPr>
          <p:spPr>
            <a:xfrm>
              <a:off x="4061" y="4811"/>
              <a:ext cx="376" cy="318"/>
            </a:xfrm>
            <a:prstGeom prst="downArrow">
              <a:avLst/>
            </a:prstGeom>
            <a:solidFill>
              <a:srgbClr val="00B0F0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6" name="下箭头 155"/>
            <p:cNvSpPr/>
            <p:nvPr/>
          </p:nvSpPr>
          <p:spPr>
            <a:xfrm>
              <a:off x="2868" y="4818"/>
              <a:ext cx="376" cy="318"/>
            </a:xfrm>
            <a:prstGeom prst="downArrow">
              <a:avLst/>
            </a:prstGeom>
            <a:solidFill>
              <a:srgbClr val="00B0F0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7" name="下箭头 156"/>
            <p:cNvSpPr/>
            <p:nvPr/>
          </p:nvSpPr>
          <p:spPr>
            <a:xfrm>
              <a:off x="3278" y="6029"/>
              <a:ext cx="376" cy="318"/>
            </a:xfrm>
            <a:prstGeom prst="downArrow">
              <a:avLst/>
            </a:prstGeom>
            <a:solidFill>
              <a:srgbClr val="00B0F0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8" name="下箭头 157"/>
            <p:cNvSpPr/>
            <p:nvPr/>
          </p:nvSpPr>
          <p:spPr>
            <a:xfrm>
              <a:off x="4375" y="6000"/>
              <a:ext cx="376" cy="318"/>
            </a:xfrm>
            <a:prstGeom prst="downArrow">
              <a:avLst/>
            </a:prstGeom>
            <a:solidFill>
              <a:srgbClr val="00B0F0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9" name="下箭头 158"/>
            <p:cNvSpPr/>
            <p:nvPr/>
          </p:nvSpPr>
          <p:spPr>
            <a:xfrm>
              <a:off x="5525" y="5980"/>
              <a:ext cx="376" cy="318"/>
            </a:xfrm>
            <a:prstGeom prst="downArrow">
              <a:avLst/>
            </a:prstGeom>
            <a:solidFill>
              <a:srgbClr val="00B0F0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0" name="下箭头 159"/>
            <p:cNvSpPr/>
            <p:nvPr/>
          </p:nvSpPr>
          <p:spPr>
            <a:xfrm>
              <a:off x="6300" y="6003"/>
              <a:ext cx="376" cy="318"/>
            </a:xfrm>
            <a:prstGeom prst="downArrow">
              <a:avLst/>
            </a:prstGeom>
            <a:solidFill>
              <a:srgbClr val="00B0F0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1" name="下箭头 160"/>
            <p:cNvSpPr/>
            <p:nvPr/>
          </p:nvSpPr>
          <p:spPr>
            <a:xfrm>
              <a:off x="6700" y="7169"/>
              <a:ext cx="376" cy="318"/>
            </a:xfrm>
            <a:prstGeom prst="downArrow">
              <a:avLst/>
            </a:prstGeom>
            <a:solidFill>
              <a:srgbClr val="00B0F0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2" name="下箭头 161"/>
            <p:cNvSpPr/>
            <p:nvPr/>
          </p:nvSpPr>
          <p:spPr>
            <a:xfrm>
              <a:off x="5540" y="7169"/>
              <a:ext cx="376" cy="318"/>
            </a:xfrm>
            <a:prstGeom prst="downArrow">
              <a:avLst/>
            </a:prstGeom>
            <a:solidFill>
              <a:srgbClr val="00B0F0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3" name="下箭头 162"/>
            <p:cNvSpPr/>
            <p:nvPr/>
          </p:nvSpPr>
          <p:spPr>
            <a:xfrm>
              <a:off x="4382" y="7172"/>
              <a:ext cx="376" cy="318"/>
            </a:xfrm>
            <a:prstGeom prst="downArrow">
              <a:avLst/>
            </a:prstGeom>
            <a:solidFill>
              <a:srgbClr val="00B0F0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4" name="下箭头 163"/>
            <p:cNvSpPr/>
            <p:nvPr/>
          </p:nvSpPr>
          <p:spPr>
            <a:xfrm>
              <a:off x="3222" y="7198"/>
              <a:ext cx="376" cy="318"/>
            </a:xfrm>
            <a:prstGeom prst="downArrow">
              <a:avLst/>
            </a:prstGeom>
            <a:solidFill>
              <a:srgbClr val="00B0F0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66" name="右箭头 165"/>
          <p:cNvSpPr/>
          <p:nvPr/>
        </p:nvSpPr>
        <p:spPr>
          <a:xfrm>
            <a:off x="1734820" y="5088255"/>
            <a:ext cx="448310" cy="7620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8" name="下箭头 167"/>
          <p:cNvSpPr/>
          <p:nvPr/>
        </p:nvSpPr>
        <p:spPr>
          <a:xfrm>
            <a:off x="1851025" y="5448935"/>
            <a:ext cx="238760" cy="201930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9" name="上弧形箭头 168"/>
          <p:cNvSpPr/>
          <p:nvPr/>
        </p:nvSpPr>
        <p:spPr>
          <a:xfrm>
            <a:off x="1851025" y="5918835"/>
            <a:ext cx="202565" cy="122555"/>
          </a:xfrm>
          <a:prstGeom prst="curvedDownArrow">
            <a:avLst>
              <a:gd name="adj1" fmla="val 25000"/>
              <a:gd name="adj2" fmla="val 82642"/>
              <a:gd name="adj3" fmla="val 250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170" name="文本框 169"/>
          <p:cNvSpPr txBox="1"/>
          <p:nvPr/>
        </p:nvSpPr>
        <p:spPr>
          <a:xfrm>
            <a:off x="2215515" y="4916805"/>
            <a:ext cx="28943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N3D Communication</a:t>
            </a:r>
          </a:p>
        </p:txBody>
      </p:sp>
      <p:sp>
        <p:nvSpPr>
          <p:cNvPr id="171" name="文本框 170"/>
          <p:cNvSpPr txBox="1"/>
          <p:nvPr/>
        </p:nvSpPr>
        <p:spPr>
          <a:xfrm>
            <a:off x="2239645" y="5365750"/>
            <a:ext cx="24726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N3D Data Access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2" name="文本框 171"/>
          <p:cNvSpPr txBox="1"/>
          <p:nvPr/>
        </p:nvSpPr>
        <p:spPr>
          <a:xfrm>
            <a:off x="2251075" y="5861050"/>
            <a:ext cx="24726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Computation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3" name="文本框 172"/>
          <p:cNvSpPr txBox="1"/>
          <p:nvPr/>
        </p:nvSpPr>
        <p:spPr>
          <a:xfrm>
            <a:off x="5751195" y="2350452"/>
            <a:ext cx="514096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charset="0"/>
              <a:buChar char="Ø"/>
            </a:pP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Parallelism scheduling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Orchestrating the parallelism of Tensor computation, Vector computation, N3D memory access, and N3D communication</a:t>
            </a:r>
          </a:p>
        </p:txBody>
      </p:sp>
      <p:sp>
        <p:nvSpPr>
          <p:cNvPr id="174" name="文本框 173"/>
          <p:cNvSpPr txBox="1"/>
          <p:nvPr/>
        </p:nvSpPr>
        <p:spPr>
          <a:xfrm>
            <a:off x="5751195" y="4214495"/>
            <a:ext cx="5884545" cy="614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charset="0"/>
              <a:buChar char="Ø"/>
            </a:pP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Distributed computing paradigm for 3D-PIM: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Gemm, Flash Attention, et al.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矩形 35"/>
          <p:cNvSpPr/>
          <p:nvPr/>
        </p:nvSpPr>
        <p:spPr>
          <a:xfrm>
            <a:off x="334645" y="120650"/>
            <a:ext cx="9036685" cy="5257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defRPr/>
            </a:pPr>
            <a:r>
              <a:rPr kumimoji="1"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Compiler Software Technology for 3D Architectures </a:t>
            </a:r>
            <a:endParaRPr kumimoji="1" lang="en-US" altLang="zh-CN" sz="2800" b="1" dirty="0">
              <a:solidFill>
                <a:srgbClr val="256ED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Gautami" panose="020B0502040204020203" pitchFamily="34" charset="0"/>
              <a:sym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61085" y="1065530"/>
            <a:ext cx="21031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Compute Kernel </a:t>
            </a:r>
            <a:r>
              <a:rPr lang="en-US" altLang="zh-CN" sz="18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CodeGen</a:t>
            </a:r>
            <a:endParaRPr lang="en-US" altLang="zh-CN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089454" y="1097562"/>
            <a:ext cx="21577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800" b="1">
                <a:latin typeface="微软雅黑" panose="020B0503020204020204" pitchFamily="34" charset="-122"/>
                <a:ea typeface="微软雅黑" panose="020B0503020204020204" pitchFamily="34" charset="-122"/>
              </a:rPr>
              <a:t>Weight Preload CodeGen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8839200" y="1065530"/>
            <a:ext cx="26073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800" b="1">
                <a:latin typeface="微软雅黑" panose="020B0503020204020204" pitchFamily="34" charset="-122"/>
                <a:ea typeface="微软雅黑" panose="020B0503020204020204" pitchFamily="34" charset="-122"/>
              </a:rPr>
              <a:t>KV Flush/Fetch CodeGen</a:t>
            </a:r>
          </a:p>
        </p:txBody>
      </p:sp>
      <p:grpSp>
        <p:nvGrpSpPr>
          <p:cNvPr id="20" name="组合 19"/>
          <p:cNvGrpSpPr/>
          <p:nvPr/>
        </p:nvGrpSpPr>
        <p:grpSpPr>
          <a:xfrm>
            <a:off x="1171575" y="2024803"/>
            <a:ext cx="1684655" cy="659130"/>
            <a:chOff x="1845" y="2867"/>
            <a:chExt cx="2653" cy="1038"/>
          </a:xfrm>
        </p:grpSpPr>
        <p:sp>
          <p:nvSpPr>
            <p:cNvPr id="17" name="竖卷形 16"/>
            <p:cNvSpPr/>
            <p:nvPr/>
          </p:nvSpPr>
          <p:spPr>
            <a:xfrm>
              <a:off x="1845" y="2867"/>
              <a:ext cx="2533" cy="1038"/>
            </a:xfrm>
            <a:prstGeom prst="verticalScroll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1966" y="2978"/>
              <a:ext cx="2532" cy="8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>
                  <a:latin typeface="Comic Sans MS" panose="030F0702030302020204" charset="0"/>
                  <a:cs typeface="Comic Sans MS" panose="030F0702030302020204" charset="0"/>
                </a:rPr>
                <a:t>void CSA(void* args) {</a:t>
              </a:r>
            </a:p>
            <a:p>
              <a:r>
                <a:rPr lang="en-US" altLang="zh-CN" sz="1000">
                  <a:latin typeface="Comic Sans MS" panose="030F0702030302020204" charset="0"/>
                  <a:cs typeface="Comic Sans MS" panose="030F0702030302020204" charset="0"/>
                </a:rPr>
                <a:t>    ......</a:t>
              </a:r>
            </a:p>
            <a:p>
              <a:r>
                <a:rPr lang="en-US" altLang="zh-CN" sz="1000">
                  <a:latin typeface="Comic Sans MS" panose="030F0702030302020204" charset="0"/>
                  <a:cs typeface="Comic Sans MS" panose="030F0702030302020204" charset="0"/>
                </a:rPr>
                <a:t>}</a:t>
              </a:r>
            </a:p>
          </p:txBody>
        </p:sp>
      </p:grpSp>
      <p:sp>
        <p:nvSpPr>
          <p:cNvPr id="8" name="圆角矩形 7"/>
          <p:cNvSpPr/>
          <p:nvPr/>
        </p:nvSpPr>
        <p:spPr>
          <a:xfrm>
            <a:off x="117264" y="3421875"/>
            <a:ext cx="1826895" cy="1745615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450639" y="3555860"/>
            <a:ext cx="1351280" cy="47625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370629" y="3633330"/>
            <a:ext cx="1351280" cy="47625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291254" y="3713340"/>
            <a:ext cx="1351280" cy="4762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N3D DRAM Stack</a:t>
            </a:r>
          </a:p>
        </p:txBody>
      </p:sp>
      <p:sp>
        <p:nvSpPr>
          <p:cNvPr id="9" name="圆角矩形 8"/>
          <p:cNvSpPr/>
          <p:nvPr/>
        </p:nvSpPr>
        <p:spPr>
          <a:xfrm>
            <a:off x="291254" y="4316590"/>
            <a:ext cx="1351280" cy="47625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AI Core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363644" y="4859515"/>
            <a:ext cx="127889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Tile 0</a:t>
            </a:r>
          </a:p>
        </p:txBody>
      </p:sp>
      <p:sp>
        <p:nvSpPr>
          <p:cNvPr id="11" name="圆角矩形 10"/>
          <p:cNvSpPr/>
          <p:nvPr/>
        </p:nvSpPr>
        <p:spPr>
          <a:xfrm>
            <a:off x="2276899" y="3421875"/>
            <a:ext cx="1826895" cy="1745615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圆角矩形 11"/>
          <p:cNvSpPr/>
          <p:nvPr/>
        </p:nvSpPr>
        <p:spPr>
          <a:xfrm>
            <a:off x="2610274" y="3555860"/>
            <a:ext cx="1351280" cy="47625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2530264" y="3633330"/>
            <a:ext cx="1351280" cy="47625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2450889" y="3713340"/>
            <a:ext cx="1351280" cy="4762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N3D DRAM Stack</a:t>
            </a:r>
          </a:p>
        </p:txBody>
      </p:sp>
      <p:sp>
        <p:nvSpPr>
          <p:cNvPr id="15" name="圆角矩形 14"/>
          <p:cNvSpPr/>
          <p:nvPr/>
        </p:nvSpPr>
        <p:spPr>
          <a:xfrm>
            <a:off x="2450889" y="4316590"/>
            <a:ext cx="1351280" cy="47625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AI Core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2523279" y="4849990"/>
            <a:ext cx="127889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Tile N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1664759" y="4084815"/>
            <a:ext cx="8667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800"/>
              <a:t>...</a:t>
            </a:r>
          </a:p>
        </p:txBody>
      </p:sp>
      <p:sp>
        <p:nvSpPr>
          <p:cNvPr id="23" name="竖卷形 22"/>
          <p:cNvSpPr/>
          <p:nvPr/>
        </p:nvSpPr>
        <p:spPr>
          <a:xfrm>
            <a:off x="222039" y="4306430"/>
            <a:ext cx="310515" cy="211455"/>
          </a:xfrm>
          <a:prstGeom prst="verticalScroll">
            <a:avLst>
              <a:gd name="adj" fmla="val 25000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竖卷形 23"/>
          <p:cNvSpPr/>
          <p:nvPr/>
        </p:nvSpPr>
        <p:spPr>
          <a:xfrm>
            <a:off x="2384214" y="4277855"/>
            <a:ext cx="310515" cy="211455"/>
          </a:xfrm>
          <a:prstGeom prst="verticalScroll">
            <a:avLst>
              <a:gd name="adj" fmla="val 25000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9" name="组合 28"/>
          <p:cNvGrpSpPr/>
          <p:nvPr/>
        </p:nvGrpSpPr>
        <p:grpSpPr>
          <a:xfrm>
            <a:off x="370629" y="4084815"/>
            <a:ext cx="891540" cy="451485"/>
            <a:chOff x="2418" y="8926"/>
            <a:chExt cx="1404" cy="711"/>
          </a:xfrm>
        </p:grpSpPr>
        <p:sp>
          <p:nvSpPr>
            <p:cNvPr id="27" name="下箭头 26"/>
            <p:cNvSpPr/>
            <p:nvPr/>
          </p:nvSpPr>
          <p:spPr>
            <a:xfrm>
              <a:off x="2850" y="8947"/>
              <a:ext cx="524" cy="690"/>
            </a:xfrm>
            <a:prstGeom prst="downArrow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2418" y="8926"/>
              <a:ext cx="1404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>
                  <a:highlight>
                    <a:srgbClr val="C0C0C0"/>
                  </a:highlight>
                </a:rPr>
                <a:t>LD</a:t>
              </a: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2990004" y="4084815"/>
            <a:ext cx="891540" cy="448310"/>
            <a:chOff x="5538" y="8998"/>
            <a:chExt cx="1404" cy="706"/>
          </a:xfrm>
        </p:grpSpPr>
        <p:sp>
          <p:nvSpPr>
            <p:cNvPr id="31" name="下箭头 30"/>
            <p:cNvSpPr/>
            <p:nvPr/>
          </p:nvSpPr>
          <p:spPr>
            <a:xfrm rot="10800000">
              <a:off x="5978" y="8998"/>
              <a:ext cx="524" cy="690"/>
            </a:xfrm>
            <a:prstGeom prst="downArrow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5538" y="9174"/>
              <a:ext cx="1404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>
                  <a:highlight>
                    <a:srgbClr val="C0C0C0"/>
                  </a:highlight>
                </a:rPr>
                <a:t>ST</a:t>
              </a: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849419" y="4081640"/>
            <a:ext cx="891540" cy="448310"/>
            <a:chOff x="5538" y="8998"/>
            <a:chExt cx="1404" cy="706"/>
          </a:xfrm>
        </p:grpSpPr>
        <p:sp>
          <p:nvSpPr>
            <p:cNvPr id="35" name="下箭头 34"/>
            <p:cNvSpPr/>
            <p:nvPr/>
          </p:nvSpPr>
          <p:spPr>
            <a:xfrm rot="10800000">
              <a:off x="5978" y="8998"/>
              <a:ext cx="524" cy="690"/>
            </a:xfrm>
            <a:prstGeom prst="downArrow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5538" y="9174"/>
              <a:ext cx="1404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>
                  <a:highlight>
                    <a:srgbClr val="C0C0C0"/>
                  </a:highlight>
                </a:rPr>
                <a:t>ST</a:t>
              </a: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2497879" y="4078465"/>
            <a:ext cx="891540" cy="451485"/>
            <a:chOff x="2418" y="8926"/>
            <a:chExt cx="1404" cy="711"/>
          </a:xfrm>
        </p:grpSpPr>
        <p:sp>
          <p:nvSpPr>
            <p:cNvPr id="39" name="下箭头 38"/>
            <p:cNvSpPr/>
            <p:nvPr/>
          </p:nvSpPr>
          <p:spPr>
            <a:xfrm>
              <a:off x="2850" y="8947"/>
              <a:ext cx="524" cy="690"/>
            </a:xfrm>
            <a:prstGeom prst="downArrow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2418" y="8926"/>
              <a:ext cx="1404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>
                  <a:highlight>
                    <a:srgbClr val="C0C0C0"/>
                  </a:highlight>
                </a:rPr>
                <a:t>LD</a:t>
              </a:r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450639" y="4577575"/>
            <a:ext cx="1132840" cy="336550"/>
            <a:chOff x="8896" y="7370"/>
            <a:chExt cx="1784" cy="530"/>
          </a:xfrm>
        </p:grpSpPr>
        <p:sp>
          <p:nvSpPr>
            <p:cNvPr id="41" name="下弧形箭头 40"/>
            <p:cNvSpPr/>
            <p:nvPr/>
          </p:nvSpPr>
          <p:spPr>
            <a:xfrm>
              <a:off x="9477" y="7370"/>
              <a:ext cx="641" cy="531"/>
            </a:xfrm>
            <a:prstGeom prst="curvedUp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8896" y="7460"/>
              <a:ext cx="1785" cy="39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1000" b="1" dirty="0">
                  <a:highlight>
                    <a:srgbClr val="FFFF00"/>
                  </a:highlight>
                </a:rPr>
                <a:t>Compute</a:t>
              </a:r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2610274" y="4589005"/>
            <a:ext cx="1132840" cy="336550"/>
            <a:chOff x="8896" y="7370"/>
            <a:chExt cx="1784" cy="530"/>
          </a:xfrm>
        </p:grpSpPr>
        <p:sp>
          <p:nvSpPr>
            <p:cNvPr id="45" name="下弧形箭头 44"/>
            <p:cNvSpPr/>
            <p:nvPr/>
          </p:nvSpPr>
          <p:spPr>
            <a:xfrm>
              <a:off x="9477" y="7370"/>
              <a:ext cx="641" cy="531"/>
            </a:xfrm>
            <a:prstGeom prst="curvedUp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8896" y="7460"/>
              <a:ext cx="1785" cy="39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1000" b="1" dirty="0">
                  <a:highlight>
                    <a:srgbClr val="FFFF00"/>
                  </a:highlight>
                </a:rPr>
                <a:t>Compute</a:t>
              </a:r>
            </a:p>
          </p:txBody>
        </p:sp>
      </p:grpSp>
      <p:sp>
        <p:nvSpPr>
          <p:cNvPr id="285" name="直接连接符 11"/>
          <p:cNvSpPr/>
          <p:nvPr/>
        </p:nvSpPr>
        <p:spPr>
          <a:xfrm>
            <a:off x="4192904" y="1195070"/>
            <a:ext cx="29210" cy="5263515"/>
          </a:xfrm>
          <a:prstGeom prst="line">
            <a:avLst/>
          </a:prstGeom>
          <a:ln w="38100">
            <a:solidFill>
              <a:srgbClr val="18A7E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7" name="直接连接符 11"/>
          <p:cNvSpPr/>
          <p:nvPr/>
        </p:nvSpPr>
        <p:spPr>
          <a:xfrm>
            <a:off x="8390254" y="1195070"/>
            <a:ext cx="29210" cy="5263515"/>
          </a:xfrm>
          <a:prstGeom prst="line">
            <a:avLst/>
          </a:prstGeom>
          <a:ln w="38100">
            <a:solidFill>
              <a:srgbClr val="18A7E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8" name="文本框 47"/>
          <p:cNvSpPr txBox="1"/>
          <p:nvPr/>
        </p:nvSpPr>
        <p:spPr>
          <a:xfrm>
            <a:off x="491949" y="5952050"/>
            <a:ext cx="33851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charset="0"/>
              <a:buChar char="Ø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Directly Using N3D Data for Computation</a:t>
            </a:r>
          </a:p>
        </p:txBody>
      </p:sp>
      <p:grpSp>
        <p:nvGrpSpPr>
          <p:cNvPr id="49" name="组合 48"/>
          <p:cNvGrpSpPr/>
          <p:nvPr/>
        </p:nvGrpSpPr>
        <p:grpSpPr>
          <a:xfrm>
            <a:off x="5245623" y="1982224"/>
            <a:ext cx="1904365" cy="659130"/>
            <a:chOff x="1845" y="2867"/>
            <a:chExt cx="2653" cy="1038"/>
          </a:xfrm>
        </p:grpSpPr>
        <p:sp>
          <p:nvSpPr>
            <p:cNvPr id="50" name="竖卷形 49"/>
            <p:cNvSpPr/>
            <p:nvPr/>
          </p:nvSpPr>
          <p:spPr>
            <a:xfrm>
              <a:off x="1845" y="2867"/>
              <a:ext cx="2533" cy="1038"/>
            </a:xfrm>
            <a:prstGeom prst="verticalScroll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文本框 50"/>
            <p:cNvSpPr txBox="1"/>
            <p:nvPr/>
          </p:nvSpPr>
          <p:spPr>
            <a:xfrm>
              <a:off x="1966" y="2978"/>
              <a:ext cx="2532" cy="8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>
                  <a:latin typeface="Comic Sans MS" panose="030F0702030302020204" charset="0"/>
                  <a:cs typeface="Comic Sans MS" panose="030F0702030302020204" charset="0"/>
                </a:rPr>
                <a:t>void Preload(void* args) {</a:t>
              </a:r>
            </a:p>
            <a:p>
              <a:r>
                <a:rPr lang="en-US" altLang="zh-CN" sz="1000">
                  <a:latin typeface="Comic Sans MS" panose="030F0702030302020204" charset="0"/>
                  <a:cs typeface="Comic Sans MS" panose="030F0702030302020204" charset="0"/>
                </a:rPr>
                <a:t>    ......</a:t>
              </a:r>
            </a:p>
            <a:p>
              <a:r>
                <a:rPr lang="en-US" altLang="zh-CN" sz="1000">
                  <a:latin typeface="Comic Sans MS" panose="030F0702030302020204" charset="0"/>
                  <a:cs typeface="Comic Sans MS" panose="030F0702030302020204" charset="0"/>
                </a:rPr>
                <a:t>}</a:t>
              </a:r>
            </a:p>
          </p:txBody>
        </p:sp>
      </p:grpSp>
      <p:sp>
        <p:nvSpPr>
          <p:cNvPr id="18" name="右箭头 17"/>
          <p:cNvSpPr/>
          <p:nvPr/>
        </p:nvSpPr>
        <p:spPr>
          <a:xfrm>
            <a:off x="1768899" y="4059133"/>
            <a:ext cx="647065" cy="126083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1718170" y="3971080"/>
            <a:ext cx="7327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200" dirty="0">
                <a:highlight>
                  <a:srgbClr val="C0C0C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send</a:t>
            </a:r>
            <a:endParaRPr kumimoji="1" lang="zh-CN" altLang="en-US" sz="1200" dirty="0">
              <a:highlight>
                <a:srgbClr val="C0C0C0"/>
              </a:highlight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4" name="右箭头 53"/>
          <p:cNvSpPr/>
          <p:nvPr/>
        </p:nvSpPr>
        <p:spPr>
          <a:xfrm rot="10800000">
            <a:off x="1740957" y="4573551"/>
            <a:ext cx="659131" cy="137198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3" name="文本框 72"/>
          <p:cNvSpPr txBox="1"/>
          <p:nvPr/>
        </p:nvSpPr>
        <p:spPr>
          <a:xfrm>
            <a:off x="1681692" y="4515205"/>
            <a:ext cx="7327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200" dirty="0">
                <a:highlight>
                  <a:srgbClr val="C0C0C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send</a:t>
            </a:r>
            <a:endParaRPr kumimoji="1" lang="zh-CN" altLang="en-US" sz="1200" dirty="0">
              <a:highlight>
                <a:srgbClr val="C0C0C0"/>
              </a:highlight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56" name="组合 55"/>
          <p:cNvGrpSpPr/>
          <p:nvPr/>
        </p:nvGrpSpPr>
        <p:grpSpPr>
          <a:xfrm>
            <a:off x="4420252" y="3234339"/>
            <a:ext cx="3744595" cy="2211636"/>
            <a:chOff x="4429125" y="3229608"/>
            <a:chExt cx="3985895" cy="2545080"/>
          </a:xfrm>
        </p:grpSpPr>
        <p:grpSp>
          <p:nvGrpSpPr>
            <p:cNvPr id="121" name="组合 120"/>
            <p:cNvGrpSpPr/>
            <p:nvPr/>
          </p:nvGrpSpPr>
          <p:grpSpPr>
            <a:xfrm>
              <a:off x="4429125" y="4000498"/>
              <a:ext cx="3985895" cy="1774190"/>
              <a:chOff x="6974" y="5777"/>
              <a:chExt cx="6277" cy="2794"/>
            </a:xfrm>
          </p:grpSpPr>
          <p:sp>
            <p:nvSpPr>
              <p:cNvPr id="88" name="圆角矩形 87"/>
              <p:cNvSpPr/>
              <p:nvPr/>
            </p:nvSpPr>
            <p:spPr>
              <a:xfrm>
                <a:off x="6974" y="5777"/>
                <a:ext cx="2877" cy="2749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9" name="圆角矩形 88"/>
              <p:cNvSpPr/>
              <p:nvPr/>
            </p:nvSpPr>
            <p:spPr>
              <a:xfrm>
                <a:off x="7499" y="5988"/>
                <a:ext cx="2128" cy="750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0" name="圆角矩形 89"/>
              <p:cNvSpPr/>
              <p:nvPr/>
            </p:nvSpPr>
            <p:spPr>
              <a:xfrm>
                <a:off x="7373" y="6110"/>
                <a:ext cx="2128" cy="750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1" name="圆角矩形 90"/>
              <p:cNvSpPr/>
              <p:nvPr/>
            </p:nvSpPr>
            <p:spPr>
              <a:xfrm>
                <a:off x="7248" y="6236"/>
                <a:ext cx="2128" cy="750"/>
              </a:xfrm>
              <a:prstGeom prst="round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N3D DRAM Stack</a:t>
                </a:r>
              </a:p>
            </p:txBody>
          </p:sp>
          <p:sp>
            <p:nvSpPr>
              <p:cNvPr id="92" name="圆角矩形 91"/>
              <p:cNvSpPr/>
              <p:nvPr/>
            </p:nvSpPr>
            <p:spPr>
              <a:xfrm>
                <a:off x="7248" y="7186"/>
                <a:ext cx="2128" cy="750"/>
              </a:xfrm>
              <a:prstGeom prst="round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AI Core</a:t>
                </a:r>
              </a:p>
            </p:txBody>
          </p:sp>
          <p:sp>
            <p:nvSpPr>
              <p:cNvPr id="93" name="文本框 92"/>
              <p:cNvSpPr txBox="1"/>
              <p:nvPr/>
            </p:nvSpPr>
            <p:spPr>
              <a:xfrm>
                <a:off x="7362" y="8041"/>
                <a:ext cx="2014" cy="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6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Tile 0</a:t>
                </a:r>
              </a:p>
            </p:txBody>
          </p:sp>
          <p:sp>
            <p:nvSpPr>
              <p:cNvPr id="94" name="圆角矩形 93"/>
              <p:cNvSpPr/>
              <p:nvPr/>
            </p:nvSpPr>
            <p:spPr>
              <a:xfrm>
                <a:off x="10375" y="5777"/>
                <a:ext cx="2877" cy="2749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5" name="圆角矩形 94"/>
              <p:cNvSpPr/>
              <p:nvPr/>
            </p:nvSpPr>
            <p:spPr>
              <a:xfrm>
                <a:off x="10900" y="5988"/>
                <a:ext cx="2128" cy="750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6" name="圆角矩形 95"/>
              <p:cNvSpPr/>
              <p:nvPr/>
            </p:nvSpPr>
            <p:spPr>
              <a:xfrm>
                <a:off x="10774" y="6110"/>
                <a:ext cx="2128" cy="750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sz="12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7" name="圆角矩形 96"/>
              <p:cNvSpPr/>
              <p:nvPr/>
            </p:nvSpPr>
            <p:spPr>
              <a:xfrm>
                <a:off x="10649" y="6236"/>
                <a:ext cx="2128" cy="750"/>
              </a:xfrm>
              <a:prstGeom prst="round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N3D DRAM Stack</a:t>
                </a:r>
              </a:p>
            </p:txBody>
          </p:sp>
          <p:sp>
            <p:nvSpPr>
              <p:cNvPr id="98" name="圆角矩形 97"/>
              <p:cNvSpPr/>
              <p:nvPr/>
            </p:nvSpPr>
            <p:spPr>
              <a:xfrm>
                <a:off x="10649" y="7186"/>
                <a:ext cx="2128" cy="750"/>
              </a:xfrm>
              <a:prstGeom prst="round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AI Core</a:t>
                </a:r>
              </a:p>
            </p:txBody>
          </p:sp>
          <p:sp>
            <p:nvSpPr>
              <p:cNvPr id="99" name="文本框 98"/>
              <p:cNvSpPr txBox="1"/>
              <p:nvPr/>
            </p:nvSpPr>
            <p:spPr>
              <a:xfrm>
                <a:off x="10763" y="8026"/>
                <a:ext cx="2014" cy="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6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Tile N</a:t>
                </a:r>
              </a:p>
            </p:txBody>
          </p:sp>
          <p:sp>
            <p:nvSpPr>
              <p:cNvPr id="100" name="文本框 99"/>
              <p:cNvSpPr txBox="1"/>
              <p:nvPr/>
            </p:nvSpPr>
            <p:spPr>
              <a:xfrm>
                <a:off x="9411" y="6821"/>
                <a:ext cx="1365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800"/>
                  <a:t>...</a:t>
                </a:r>
              </a:p>
            </p:txBody>
          </p:sp>
          <p:sp>
            <p:nvSpPr>
              <p:cNvPr id="101" name="竖卷形 100"/>
              <p:cNvSpPr/>
              <p:nvPr/>
            </p:nvSpPr>
            <p:spPr>
              <a:xfrm>
                <a:off x="7139" y="7170"/>
                <a:ext cx="489" cy="333"/>
              </a:xfrm>
              <a:prstGeom prst="verticalScroll">
                <a:avLst>
                  <a:gd name="adj" fmla="val 25000"/>
                </a:avLst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2" name="竖卷形 101"/>
              <p:cNvSpPr/>
              <p:nvPr/>
            </p:nvSpPr>
            <p:spPr>
              <a:xfrm>
                <a:off x="10544" y="7125"/>
                <a:ext cx="489" cy="333"/>
              </a:xfrm>
              <a:prstGeom prst="verticalScroll">
                <a:avLst>
                  <a:gd name="adj" fmla="val 25000"/>
                </a:avLst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22" name="圆角矩形 121"/>
            <p:cNvSpPr/>
            <p:nvPr/>
          </p:nvSpPr>
          <p:spPr>
            <a:xfrm>
              <a:off x="4640580" y="3229608"/>
              <a:ext cx="3615055" cy="48641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800" b="1" dirty="0">
                  <a:solidFill>
                    <a:schemeClr val="tx1"/>
                  </a:solidFill>
                </a:rPr>
                <a:t>LPDDR/Host</a:t>
              </a:r>
              <a:r>
                <a:rPr lang="zh-CN" altLang="en-US" sz="1800" b="1" dirty="0">
                  <a:solidFill>
                    <a:schemeClr val="tx1"/>
                  </a:solidFill>
                </a:rPr>
                <a:t> </a:t>
              </a:r>
              <a:r>
                <a:rPr lang="en-US" altLang="zh-CN" sz="1800" b="1" dirty="0">
                  <a:solidFill>
                    <a:schemeClr val="tx1"/>
                  </a:solidFill>
                </a:rPr>
                <a:t>DDR</a:t>
              </a:r>
            </a:p>
          </p:txBody>
        </p:sp>
        <p:sp>
          <p:nvSpPr>
            <p:cNvPr id="74" name="下箭头 73"/>
            <p:cNvSpPr/>
            <p:nvPr/>
          </p:nvSpPr>
          <p:spPr>
            <a:xfrm>
              <a:off x="5217795" y="3657246"/>
              <a:ext cx="292307" cy="668654"/>
            </a:xfrm>
            <a:prstGeom prst="downArrow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" name="下箭头 74"/>
            <p:cNvSpPr/>
            <p:nvPr/>
          </p:nvSpPr>
          <p:spPr>
            <a:xfrm>
              <a:off x="7399090" y="3673156"/>
              <a:ext cx="292307" cy="668654"/>
            </a:xfrm>
            <a:prstGeom prst="downArrow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文本框 54"/>
            <p:cNvSpPr txBox="1"/>
            <p:nvPr/>
          </p:nvSpPr>
          <p:spPr>
            <a:xfrm>
              <a:off x="4689157" y="3714254"/>
              <a:ext cx="1243013" cy="4250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900" dirty="0">
                  <a:highlight>
                    <a:srgbClr val="FFFF00"/>
                  </a:highlight>
                  <a:latin typeface="微软雅黑" panose="020B0503020204020204" pitchFamily="34" charset="-122"/>
                  <a:ea typeface="微软雅黑" panose="020B0503020204020204" pitchFamily="34" charset="-122"/>
                </a:rPr>
                <a:t>Weight</a:t>
              </a:r>
              <a:r>
                <a:rPr kumimoji="1" lang="zh-CN" altLang="en-US" sz="900" dirty="0">
                  <a:highlight>
                    <a:srgbClr val="FFFF00"/>
                  </a:highlight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kumimoji="1" lang="en-US" altLang="zh-CN" sz="900" dirty="0">
                  <a:highlight>
                    <a:srgbClr val="FFFF00"/>
                  </a:highlight>
                  <a:latin typeface="微软雅黑" panose="020B0503020204020204" pitchFamily="34" charset="-122"/>
                  <a:ea typeface="微软雅黑" panose="020B0503020204020204" pitchFamily="34" charset="-122"/>
                </a:rPr>
                <a:t>Shard</a:t>
              </a:r>
              <a:r>
                <a:rPr kumimoji="1" lang="zh-CN" altLang="en-US" sz="900" dirty="0">
                  <a:highlight>
                    <a:srgbClr val="FFFF00"/>
                  </a:highlight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kumimoji="1" lang="en-US" altLang="zh-CN" sz="900" dirty="0">
                  <a:highlight>
                    <a:srgbClr val="FFFF00"/>
                  </a:highlight>
                  <a:latin typeface="微软雅黑" panose="020B0503020204020204" pitchFamily="34" charset="-122"/>
                  <a:ea typeface="微软雅黑" panose="020B0503020204020204" pitchFamily="34" charset="-122"/>
                </a:rPr>
                <a:t>Preload</a:t>
              </a:r>
              <a:endParaRPr kumimoji="1" lang="zh-CN" altLang="en-US" sz="9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7" name="文本框 76"/>
            <p:cNvSpPr txBox="1"/>
            <p:nvPr/>
          </p:nvSpPr>
          <p:spPr>
            <a:xfrm>
              <a:off x="6896258" y="3708001"/>
              <a:ext cx="1243013" cy="4250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900" dirty="0">
                  <a:highlight>
                    <a:srgbClr val="FFFF00"/>
                  </a:highlight>
                  <a:latin typeface="微软雅黑" panose="020B0503020204020204" pitchFamily="34" charset="-122"/>
                  <a:ea typeface="微软雅黑" panose="020B0503020204020204" pitchFamily="34" charset="-122"/>
                </a:rPr>
                <a:t>Weight</a:t>
              </a:r>
              <a:r>
                <a:rPr kumimoji="1" lang="zh-CN" altLang="en-US" sz="900" dirty="0">
                  <a:highlight>
                    <a:srgbClr val="FFFF00"/>
                  </a:highlight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kumimoji="1" lang="en-US" altLang="zh-CN" sz="900" dirty="0">
                  <a:highlight>
                    <a:srgbClr val="FFFF00"/>
                  </a:highlight>
                  <a:latin typeface="微软雅黑" panose="020B0503020204020204" pitchFamily="34" charset="-122"/>
                  <a:ea typeface="微软雅黑" panose="020B0503020204020204" pitchFamily="34" charset="-122"/>
                </a:rPr>
                <a:t>Shard</a:t>
              </a:r>
              <a:r>
                <a:rPr kumimoji="1" lang="zh-CN" altLang="en-US" sz="900" dirty="0">
                  <a:highlight>
                    <a:srgbClr val="FFFF00"/>
                  </a:highlight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kumimoji="1" lang="en-US" altLang="zh-CN" sz="900" dirty="0">
                  <a:highlight>
                    <a:srgbClr val="FFFF00"/>
                  </a:highlight>
                  <a:latin typeface="微软雅黑" panose="020B0503020204020204" pitchFamily="34" charset="-122"/>
                  <a:ea typeface="微软雅黑" panose="020B0503020204020204" pitchFamily="34" charset="-122"/>
                </a:rPr>
                <a:t>Preload</a:t>
              </a:r>
              <a:endParaRPr kumimoji="1" lang="zh-CN" altLang="en-US" sz="9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8" name="文本框 77"/>
          <p:cNvSpPr txBox="1"/>
          <p:nvPr/>
        </p:nvSpPr>
        <p:spPr>
          <a:xfrm>
            <a:off x="4403284" y="5952050"/>
            <a:ext cx="39113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charset="0"/>
              <a:buChar char="Ø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Preload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the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data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shards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before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the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formal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computation.</a:t>
            </a:r>
          </a:p>
        </p:txBody>
      </p:sp>
      <p:grpSp>
        <p:nvGrpSpPr>
          <p:cNvPr id="79" name="组合 78"/>
          <p:cNvGrpSpPr/>
          <p:nvPr/>
        </p:nvGrpSpPr>
        <p:grpSpPr>
          <a:xfrm>
            <a:off x="8521065" y="1890537"/>
            <a:ext cx="1904365" cy="659130"/>
            <a:chOff x="1845" y="2867"/>
            <a:chExt cx="2653" cy="1038"/>
          </a:xfrm>
        </p:grpSpPr>
        <p:sp>
          <p:nvSpPr>
            <p:cNvPr id="80" name="竖卷形 79"/>
            <p:cNvSpPr/>
            <p:nvPr/>
          </p:nvSpPr>
          <p:spPr>
            <a:xfrm>
              <a:off x="1845" y="2867"/>
              <a:ext cx="2533" cy="1038"/>
            </a:xfrm>
            <a:prstGeom prst="verticalScroll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文本框 80"/>
            <p:cNvSpPr txBox="1"/>
            <p:nvPr/>
          </p:nvSpPr>
          <p:spPr>
            <a:xfrm>
              <a:off x="1966" y="2978"/>
              <a:ext cx="2532" cy="8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latin typeface="Comic Sans MS" panose="030F0702030302020204" charset="0"/>
                  <a:cs typeface="Comic Sans MS" panose="030F0702030302020204" charset="0"/>
                </a:rPr>
                <a:t>void </a:t>
              </a:r>
              <a:r>
                <a:rPr lang="en-US" altLang="zh-CN" sz="1000" dirty="0" err="1">
                  <a:latin typeface="Comic Sans MS" panose="030F0702030302020204" charset="0"/>
                  <a:cs typeface="Comic Sans MS" panose="030F0702030302020204" charset="0"/>
                </a:rPr>
                <a:t>KVFlush</a:t>
              </a:r>
              <a:r>
                <a:rPr lang="en-US" altLang="zh-CN" sz="1000" dirty="0">
                  <a:latin typeface="Comic Sans MS" panose="030F0702030302020204" charset="0"/>
                  <a:cs typeface="Comic Sans MS" panose="030F0702030302020204" charset="0"/>
                </a:rPr>
                <a:t>(void* </a:t>
              </a:r>
              <a:r>
                <a:rPr lang="en-US" altLang="zh-CN" sz="1000" dirty="0" err="1">
                  <a:latin typeface="Comic Sans MS" panose="030F0702030302020204" charset="0"/>
                  <a:cs typeface="Comic Sans MS" panose="030F0702030302020204" charset="0"/>
                </a:rPr>
                <a:t>args</a:t>
              </a:r>
              <a:r>
                <a:rPr lang="en-US" altLang="zh-CN" sz="1000" dirty="0">
                  <a:latin typeface="Comic Sans MS" panose="030F0702030302020204" charset="0"/>
                  <a:cs typeface="Comic Sans MS" panose="030F0702030302020204" charset="0"/>
                </a:rPr>
                <a:t>) {</a:t>
              </a:r>
            </a:p>
            <a:p>
              <a:r>
                <a:rPr lang="en-US" altLang="zh-CN" sz="1000" dirty="0">
                  <a:latin typeface="Comic Sans MS" panose="030F0702030302020204" charset="0"/>
                  <a:cs typeface="Comic Sans MS" panose="030F0702030302020204" charset="0"/>
                </a:rPr>
                <a:t>    ......</a:t>
              </a:r>
            </a:p>
            <a:p>
              <a:r>
                <a:rPr lang="en-US" altLang="zh-CN" sz="1000" dirty="0">
                  <a:latin typeface="Comic Sans MS" panose="030F0702030302020204" charset="0"/>
                  <a:cs typeface="Comic Sans MS" panose="030F0702030302020204" charset="0"/>
                </a:rPr>
                <a:t>}</a:t>
              </a:r>
            </a:p>
          </p:txBody>
        </p:sp>
      </p:grpSp>
      <p:sp>
        <p:nvSpPr>
          <p:cNvPr id="83" name="竖卷形 82"/>
          <p:cNvSpPr/>
          <p:nvPr/>
        </p:nvSpPr>
        <p:spPr>
          <a:xfrm>
            <a:off x="10293421" y="1890537"/>
            <a:ext cx="1818227" cy="659130"/>
          </a:xfrm>
          <a:prstGeom prst="verticalScroll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文本框 83"/>
          <p:cNvSpPr txBox="1"/>
          <p:nvPr/>
        </p:nvSpPr>
        <p:spPr>
          <a:xfrm>
            <a:off x="10380277" y="1961022"/>
            <a:ext cx="1817509" cy="553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Comic Sans MS" panose="030F0702030302020204" charset="0"/>
                <a:cs typeface="Comic Sans MS" panose="030F0702030302020204" charset="0"/>
              </a:rPr>
              <a:t>void </a:t>
            </a:r>
            <a:r>
              <a:rPr lang="en-US" altLang="zh-CN" sz="1000" dirty="0" err="1">
                <a:latin typeface="Comic Sans MS" panose="030F0702030302020204" charset="0"/>
                <a:cs typeface="Comic Sans MS" panose="030F0702030302020204" charset="0"/>
              </a:rPr>
              <a:t>KVFetch</a:t>
            </a:r>
            <a:r>
              <a:rPr lang="en-US" altLang="zh-CN" sz="1000" dirty="0">
                <a:latin typeface="Comic Sans MS" panose="030F0702030302020204" charset="0"/>
                <a:cs typeface="Comic Sans MS" panose="030F0702030302020204" charset="0"/>
              </a:rPr>
              <a:t>(void* </a:t>
            </a:r>
            <a:r>
              <a:rPr lang="en-US" altLang="zh-CN" sz="1000" dirty="0" err="1">
                <a:latin typeface="Comic Sans MS" panose="030F0702030302020204" charset="0"/>
                <a:cs typeface="Comic Sans MS" panose="030F0702030302020204" charset="0"/>
              </a:rPr>
              <a:t>args</a:t>
            </a:r>
            <a:r>
              <a:rPr lang="en-US" altLang="zh-CN" sz="1000" dirty="0">
                <a:latin typeface="Comic Sans MS" panose="030F0702030302020204" charset="0"/>
                <a:cs typeface="Comic Sans MS" panose="030F0702030302020204" charset="0"/>
              </a:rPr>
              <a:t>) {</a:t>
            </a:r>
          </a:p>
          <a:p>
            <a:r>
              <a:rPr lang="en-US" altLang="zh-CN" sz="1000" dirty="0">
                <a:latin typeface="Comic Sans MS" panose="030F0702030302020204" charset="0"/>
                <a:cs typeface="Comic Sans MS" panose="030F0702030302020204" charset="0"/>
              </a:rPr>
              <a:t>    ......</a:t>
            </a:r>
          </a:p>
          <a:p>
            <a:r>
              <a:rPr lang="en-US" altLang="zh-CN" sz="1000" dirty="0">
                <a:latin typeface="Comic Sans MS" panose="030F0702030302020204" charset="0"/>
                <a:cs typeface="Comic Sans MS" panose="030F0702030302020204" charset="0"/>
              </a:rPr>
              <a:t>}</a:t>
            </a:r>
          </a:p>
        </p:txBody>
      </p:sp>
      <p:sp>
        <p:nvSpPr>
          <p:cNvPr id="87" name="圆角矩形 86"/>
          <p:cNvSpPr/>
          <p:nvPr/>
        </p:nvSpPr>
        <p:spPr>
          <a:xfrm>
            <a:off x="8568831" y="3992124"/>
            <a:ext cx="1623815" cy="1389686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" name="圆角矩形 102"/>
          <p:cNvSpPr/>
          <p:nvPr/>
        </p:nvSpPr>
        <p:spPr>
          <a:xfrm>
            <a:off x="8865148" y="4098790"/>
            <a:ext cx="1201070" cy="37914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" name="圆角矩形 103"/>
          <p:cNvSpPr/>
          <p:nvPr/>
        </p:nvSpPr>
        <p:spPr>
          <a:xfrm>
            <a:off x="8794032" y="4160464"/>
            <a:ext cx="1201070" cy="379143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5" name="圆角矩形 104"/>
          <p:cNvSpPr/>
          <p:nvPr/>
        </p:nvSpPr>
        <p:spPr>
          <a:xfrm>
            <a:off x="8723480" y="4224160"/>
            <a:ext cx="1201070" cy="379143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N3D DRAM Stack</a:t>
            </a:r>
          </a:p>
        </p:txBody>
      </p:sp>
      <p:sp>
        <p:nvSpPr>
          <p:cNvPr id="106" name="圆角矩形 105"/>
          <p:cNvSpPr/>
          <p:nvPr/>
        </p:nvSpPr>
        <p:spPr>
          <a:xfrm>
            <a:off x="8723480" y="4704408"/>
            <a:ext cx="1201070" cy="379143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AI Core</a:t>
            </a:r>
          </a:p>
        </p:txBody>
      </p:sp>
      <p:sp>
        <p:nvSpPr>
          <p:cNvPr id="107" name="文本框 106"/>
          <p:cNvSpPr txBox="1"/>
          <p:nvPr/>
        </p:nvSpPr>
        <p:spPr>
          <a:xfrm>
            <a:off x="8787823" y="5136631"/>
            <a:ext cx="1136727" cy="268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Tile 0</a:t>
            </a:r>
          </a:p>
        </p:txBody>
      </p:sp>
      <p:sp>
        <p:nvSpPr>
          <p:cNvPr id="108" name="圆角矩形 107"/>
          <p:cNvSpPr/>
          <p:nvPr/>
        </p:nvSpPr>
        <p:spPr>
          <a:xfrm>
            <a:off x="10488398" y="3992124"/>
            <a:ext cx="1623815" cy="1389686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" name="圆角矩形 108"/>
          <p:cNvSpPr/>
          <p:nvPr/>
        </p:nvSpPr>
        <p:spPr>
          <a:xfrm>
            <a:off x="10784714" y="4098790"/>
            <a:ext cx="1201070" cy="37914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0" name="圆角矩形 109"/>
          <p:cNvSpPr/>
          <p:nvPr/>
        </p:nvSpPr>
        <p:spPr>
          <a:xfrm>
            <a:off x="10713598" y="4160464"/>
            <a:ext cx="1201070" cy="379143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1" name="圆角矩形 110"/>
          <p:cNvSpPr/>
          <p:nvPr/>
        </p:nvSpPr>
        <p:spPr>
          <a:xfrm>
            <a:off x="10643047" y="4224160"/>
            <a:ext cx="1201070" cy="379143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N3D DRAM Stack</a:t>
            </a:r>
          </a:p>
        </p:txBody>
      </p:sp>
      <p:sp>
        <p:nvSpPr>
          <p:cNvPr id="112" name="圆角矩形 111"/>
          <p:cNvSpPr/>
          <p:nvPr/>
        </p:nvSpPr>
        <p:spPr>
          <a:xfrm>
            <a:off x="10643047" y="4704408"/>
            <a:ext cx="1201070" cy="379143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AI Core</a:t>
            </a:r>
          </a:p>
        </p:txBody>
      </p:sp>
      <p:sp>
        <p:nvSpPr>
          <p:cNvPr id="113" name="文本框 112"/>
          <p:cNvSpPr txBox="1"/>
          <p:nvPr/>
        </p:nvSpPr>
        <p:spPr>
          <a:xfrm>
            <a:off x="10707390" y="5129048"/>
            <a:ext cx="1136727" cy="268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Tile N</a:t>
            </a:r>
          </a:p>
        </p:txBody>
      </p:sp>
      <p:sp>
        <p:nvSpPr>
          <p:cNvPr id="114" name="文本框 113"/>
          <p:cNvSpPr txBox="1"/>
          <p:nvPr/>
        </p:nvSpPr>
        <p:spPr>
          <a:xfrm>
            <a:off x="9944304" y="4519891"/>
            <a:ext cx="770423" cy="293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800"/>
              <a:t>...</a:t>
            </a:r>
          </a:p>
        </p:txBody>
      </p:sp>
      <p:sp>
        <p:nvSpPr>
          <p:cNvPr id="115" name="竖卷形 114"/>
          <p:cNvSpPr/>
          <p:nvPr/>
        </p:nvSpPr>
        <p:spPr>
          <a:xfrm>
            <a:off x="8661959" y="4696319"/>
            <a:ext cx="275998" cy="168340"/>
          </a:xfrm>
          <a:prstGeom prst="verticalScroll">
            <a:avLst>
              <a:gd name="adj" fmla="val 25000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" name="竖卷形 115"/>
          <p:cNvSpPr/>
          <p:nvPr/>
        </p:nvSpPr>
        <p:spPr>
          <a:xfrm>
            <a:off x="10583783" y="4673571"/>
            <a:ext cx="275998" cy="168340"/>
          </a:xfrm>
          <a:prstGeom prst="verticalScroll">
            <a:avLst>
              <a:gd name="adj" fmla="val 25000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7" name="圆角矩形 116"/>
          <p:cNvSpPr/>
          <p:nvPr/>
        </p:nvSpPr>
        <p:spPr>
          <a:xfrm>
            <a:off x="8618164" y="3295953"/>
            <a:ext cx="3396205" cy="422683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00" b="1" dirty="0">
                <a:solidFill>
                  <a:schemeClr val="tx1"/>
                </a:solidFill>
              </a:rPr>
              <a:t>LPDDR/Host</a:t>
            </a:r>
            <a:r>
              <a:rPr lang="zh-CN" altLang="en-US" sz="1800" b="1" dirty="0">
                <a:solidFill>
                  <a:schemeClr val="tx1"/>
                </a:solidFill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</a:rPr>
              <a:t>DDR</a:t>
            </a:r>
          </a:p>
        </p:txBody>
      </p:sp>
      <p:sp>
        <p:nvSpPr>
          <p:cNvPr id="118" name="下箭头 117"/>
          <p:cNvSpPr/>
          <p:nvPr/>
        </p:nvSpPr>
        <p:spPr>
          <a:xfrm rot="10800000">
            <a:off x="8895626" y="3627136"/>
            <a:ext cx="279259" cy="568514"/>
          </a:xfrm>
          <a:prstGeom prst="down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" name="下箭头 118"/>
          <p:cNvSpPr/>
          <p:nvPr/>
        </p:nvSpPr>
        <p:spPr>
          <a:xfrm rot="10800000">
            <a:off x="10784714" y="3634567"/>
            <a:ext cx="279259" cy="568514"/>
          </a:xfrm>
          <a:prstGeom prst="down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" name="下箭头 119"/>
          <p:cNvSpPr/>
          <p:nvPr/>
        </p:nvSpPr>
        <p:spPr>
          <a:xfrm>
            <a:off x="9635643" y="3666415"/>
            <a:ext cx="279259" cy="568514"/>
          </a:xfrm>
          <a:prstGeom prst="down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4" name="下箭头 123"/>
          <p:cNvSpPr/>
          <p:nvPr/>
        </p:nvSpPr>
        <p:spPr>
          <a:xfrm>
            <a:off x="11594552" y="3627136"/>
            <a:ext cx="279259" cy="568514"/>
          </a:xfrm>
          <a:prstGeom prst="down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5" name="文本框 124"/>
          <p:cNvSpPr txBox="1"/>
          <p:nvPr/>
        </p:nvSpPr>
        <p:spPr>
          <a:xfrm>
            <a:off x="8614801" y="3761812"/>
            <a:ext cx="864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900" dirty="0">
                <a:highlight>
                  <a:srgbClr val="C0C0C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KV</a:t>
            </a:r>
            <a:r>
              <a:rPr kumimoji="1" lang="zh-CN" altLang="en-US" sz="900" dirty="0">
                <a:highlight>
                  <a:srgbClr val="C0C0C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900" dirty="0">
                <a:highlight>
                  <a:srgbClr val="C0C0C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Shard</a:t>
            </a:r>
            <a:r>
              <a:rPr kumimoji="1" lang="zh-CN" altLang="en-US" sz="900" dirty="0">
                <a:highlight>
                  <a:srgbClr val="C0C0C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900" dirty="0">
                <a:highlight>
                  <a:srgbClr val="C0C0C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Flush</a:t>
            </a:r>
            <a:endParaRPr kumimoji="1" lang="zh-CN" altLang="en-US" sz="900" dirty="0">
              <a:highlight>
                <a:srgbClr val="C0C0C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6" name="文本框 125"/>
          <p:cNvSpPr txBox="1"/>
          <p:nvPr/>
        </p:nvSpPr>
        <p:spPr>
          <a:xfrm>
            <a:off x="10470108" y="3780169"/>
            <a:ext cx="864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900" dirty="0">
                <a:highlight>
                  <a:srgbClr val="C0C0C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KV</a:t>
            </a:r>
            <a:r>
              <a:rPr kumimoji="1" lang="zh-CN" altLang="en-US" sz="900" dirty="0">
                <a:highlight>
                  <a:srgbClr val="C0C0C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900" dirty="0">
                <a:highlight>
                  <a:srgbClr val="C0C0C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Shard</a:t>
            </a:r>
            <a:r>
              <a:rPr kumimoji="1" lang="zh-CN" altLang="en-US" sz="900" dirty="0">
                <a:highlight>
                  <a:srgbClr val="C0C0C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900" dirty="0">
                <a:highlight>
                  <a:srgbClr val="C0C0C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Flush</a:t>
            </a:r>
            <a:endParaRPr kumimoji="1" lang="zh-CN" altLang="en-US" sz="900" dirty="0">
              <a:highlight>
                <a:srgbClr val="C0C0C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7" name="文本框 126"/>
          <p:cNvSpPr txBox="1"/>
          <p:nvPr/>
        </p:nvSpPr>
        <p:spPr>
          <a:xfrm>
            <a:off x="9334764" y="3718636"/>
            <a:ext cx="864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9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KV</a:t>
            </a:r>
            <a:r>
              <a:rPr kumimoji="1" lang="zh-CN" altLang="en-US" sz="9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9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Shard</a:t>
            </a:r>
            <a:r>
              <a:rPr kumimoji="1" lang="zh-CN" altLang="en-US" sz="9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9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Fetch</a:t>
            </a:r>
            <a:endParaRPr kumimoji="1" lang="zh-CN" altLang="en-US" sz="900" dirty="0"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8" name="文本框 127"/>
          <p:cNvSpPr txBox="1"/>
          <p:nvPr/>
        </p:nvSpPr>
        <p:spPr>
          <a:xfrm>
            <a:off x="11296237" y="3701481"/>
            <a:ext cx="864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9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KV</a:t>
            </a:r>
            <a:r>
              <a:rPr kumimoji="1" lang="zh-CN" altLang="en-US" sz="9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9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Shard</a:t>
            </a:r>
            <a:r>
              <a:rPr kumimoji="1" lang="zh-CN" altLang="en-US" sz="9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9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Fetch</a:t>
            </a:r>
            <a:endParaRPr kumimoji="1" lang="zh-CN" altLang="en-US" sz="900" dirty="0"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9" name="文本框 128"/>
          <p:cNvSpPr txBox="1"/>
          <p:nvPr/>
        </p:nvSpPr>
        <p:spPr>
          <a:xfrm>
            <a:off x="8521065" y="5682270"/>
            <a:ext cx="358677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charset="0"/>
              <a:buChar char="Ø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Flush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the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KV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from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N3D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to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LPDDR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or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host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memory.</a:t>
            </a:r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Fetch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the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KV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from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LPDDR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or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host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memory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to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N3D.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5832305" y="1679114"/>
            <a:ext cx="750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800" b="1" dirty="0">
                <a:latin typeface="Comic Sans MS" panose="030F0702030302020204" charset="0"/>
              </a:rPr>
              <a:t>Code</a:t>
            </a:r>
            <a:endParaRPr kumimoji="1" lang="zh-CN" altLang="en-US" sz="1800" b="1" dirty="0">
              <a:latin typeface="Comic Sans MS" panose="030F0702030302020204" charset="0"/>
            </a:endParaRPr>
          </a:p>
        </p:txBody>
      </p:sp>
      <p:sp>
        <p:nvSpPr>
          <p:cNvPr id="130" name="文本框 129"/>
          <p:cNvSpPr txBox="1"/>
          <p:nvPr/>
        </p:nvSpPr>
        <p:spPr>
          <a:xfrm>
            <a:off x="1677565" y="1734038"/>
            <a:ext cx="750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800" b="1" dirty="0">
                <a:latin typeface="Comic Sans MS" panose="030F0702030302020204" charset="0"/>
              </a:rPr>
              <a:t>Code</a:t>
            </a:r>
            <a:endParaRPr kumimoji="1" lang="zh-CN" altLang="en-US" sz="1800" b="1" dirty="0">
              <a:latin typeface="Comic Sans MS" panose="030F0702030302020204" charset="0"/>
            </a:endParaRPr>
          </a:p>
        </p:txBody>
      </p:sp>
      <p:sp>
        <p:nvSpPr>
          <p:cNvPr id="131" name="文本框 130"/>
          <p:cNvSpPr txBox="1"/>
          <p:nvPr/>
        </p:nvSpPr>
        <p:spPr>
          <a:xfrm>
            <a:off x="9054893" y="1611915"/>
            <a:ext cx="750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800" b="1" dirty="0">
                <a:latin typeface="Comic Sans MS" panose="030F0702030302020204" charset="0"/>
              </a:rPr>
              <a:t>Code</a:t>
            </a:r>
            <a:endParaRPr kumimoji="1" lang="zh-CN" altLang="en-US" sz="1800" b="1" dirty="0">
              <a:latin typeface="Comic Sans MS" panose="030F0702030302020204" charset="0"/>
            </a:endParaRPr>
          </a:p>
        </p:txBody>
      </p:sp>
      <p:sp>
        <p:nvSpPr>
          <p:cNvPr id="132" name="文本框 131"/>
          <p:cNvSpPr txBox="1"/>
          <p:nvPr/>
        </p:nvSpPr>
        <p:spPr>
          <a:xfrm>
            <a:off x="10888665" y="1611555"/>
            <a:ext cx="750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800" b="1" dirty="0">
                <a:latin typeface="Comic Sans MS" panose="030F0702030302020204" charset="0"/>
              </a:rPr>
              <a:t>Code</a:t>
            </a:r>
            <a:endParaRPr kumimoji="1" lang="zh-CN" altLang="en-US" sz="1800" b="1" dirty="0">
              <a:latin typeface="Comic Sans MS" panose="030F0702030302020204" charset="0"/>
            </a:endParaRPr>
          </a:p>
        </p:txBody>
      </p:sp>
      <p:cxnSp>
        <p:nvCxnSpPr>
          <p:cNvPr id="59" name="直线箭头连接符 58"/>
          <p:cNvCxnSpPr>
            <a:stCxn id="17" idx="2"/>
            <a:endCxn id="23" idx="0"/>
          </p:cNvCxnSpPr>
          <p:nvPr/>
        </p:nvCxnSpPr>
        <p:spPr>
          <a:xfrm flipH="1">
            <a:off x="377297" y="2683933"/>
            <a:ext cx="1598506" cy="16224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线箭头连接符 132"/>
          <p:cNvCxnSpPr>
            <a:stCxn id="17" idx="2"/>
          </p:cNvCxnSpPr>
          <p:nvPr/>
        </p:nvCxnSpPr>
        <p:spPr>
          <a:xfrm>
            <a:off x="1975803" y="2683933"/>
            <a:ext cx="634471" cy="16326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直线箭头连接符 133"/>
          <p:cNvCxnSpPr>
            <a:stCxn id="50" idx="2"/>
            <a:endCxn id="102" idx="0"/>
          </p:cNvCxnSpPr>
          <p:nvPr/>
        </p:nvCxnSpPr>
        <p:spPr>
          <a:xfrm>
            <a:off x="6154737" y="2641354"/>
            <a:ext cx="541086" cy="20067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直线箭头连接符 134"/>
          <p:cNvCxnSpPr>
            <a:stCxn id="50" idx="2"/>
            <a:endCxn id="101" idx="0"/>
          </p:cNvCxnSpPr>
          <p:nvPr/>
        </p:nvCxnSpPr>
        <p:spPr>
          <a:xfrm flipH="1">
            <a:off x="4664543" y="2641354"/>
            <a:ext cx="1490194" cy="20315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线箭头连接符 135"/>
          <p:cNvCxnSpPr>
            <a:stCxn id="80" idx="2"/>
            <a:endCxn id="115" idx="0"/>
          </p:cNvCxnSpPr>
          <p:nvPr/>
        </p:nvCxnSpPr>
        <p:spPr>
          <a:xfrm flipH="1">
            <a:off x="8799958" y="2549667"/>
            <a:ext cx="630221" cy="21466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直线箭头连接符 136"/>
          <p:cNvCxnSpPr>
            <a:stCxn id="80" idx="2"/>
            <a:endCxn id="116" idx="0"/>
          </p:cNvCxnSpPr>
          <p:nvPr/>
        </p:nvCxnSpPr>
        <p:spPr>
          <a:xfrm>
            <a:off x="9430179" y="2549667"/>
            <a:ext cx="1291603" cy="21239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直线箭头连接符 137"/>
          <p:cNvCxnSpPr>
            <a:stCxn id="83" idx="2"/>
            <a:endCxn id="115" idx="0"/>
          </p:cNvCxnSpPr>
          <p:nvPr/>
        </p:nvCxnSpPr>
        <p:spPr>
          <a:xfrm flipH="1">
            <a:off x="8799958" y="2549667"/>
            <a:ext cx="2402577" cy="21466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直线箭头连接符 140"/>
          <p:cNvCxnSpPr>
            <a:stCxn id="83" idx="2"/>
            <a:endCxn id="116" idx="0"/>
          </p:cNvCxnSpPr>
          <p:nvPr/>
        </p:nvCxnSpPr>
        <p:spPr>
          <a:xfrm flipH="1">
            <a:off x="10721782" y="2549667"/>
            <a:ext cx="480753" cy="21239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矩形 35"/>
          <p:cNvSpPr/>
          <p:nvPr/>
        </p:nvSpPr>
        <p:spPr>
          <a:xfrm>
            <a:off x="334645" y="120650"/>
            <a:ext cx="9036685" cy="5257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defRPr/>
            </a:pPr>
            <a:r>
              <a:rPr kumimoji="1"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Compiler Software Technology for 3D Architectures </a:t>
            </a:r>
            <a:endParaRPr kumimoji="1" lang="en-US" altLang="zh-CN" sz="2800" b="1" dirty="0">
              <a:solidFill>
                <a:srgbClr val="256ED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Gautami" panose="020B0502040204020203" pitchFamily="34" charset="0"/>
              <a:sym typeface="微软雅黑" panose="020B0503020204020204" pitchFamily="34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2154377" y="1209171"/>
            <a:ext cx="1492899" cy="596273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RmsNorm</a:t>
            </a:r>
            <a:endParaRPr lang="en-US" altLang="zh-CN" sz="1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shape: [B, S, H]</a:t>
            </a:r>
          </a:p>
          <a:p>
            <a:pPr algn="ctr"/>
            <a:r>
              <a:rPr lang="en-US" altLang="zh-CN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shard: [1, 32, 1]</a:t>
            </a:r>
          </a:p>
        </p:txBody>
      </p:sp>
      <p:sp>
        <p:nvSpPr>
          <p:cNvPr id="7" name="圆角矩形 6"/>
          <p:cNvSpPr/>
          <p:nvPr/>
        </p:nvSpPr>
        <p:spPr>
          <a:xfrm>
            <a:off x="2154606" y="2106169"/>
            <a:ext cx="1492899" cy="596273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Tile All Gather</a:t>
            </a:r>
            <a:endParaRPr lang="en-US" altLang="zh-CN" sz="1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shape: [B, S, H]</a:t>
            </a:r>
          </a:p>
          <a:p>
            <a:pPr algn="ctr"/>
            <a:r>
              <a:rPr lang="en-US" altLang="zh-CN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shard: [1, 1, 1]</a:t>
            </a:r>
          </a:p>
        </p:txBody>
      </p:sp>
      <p:sp>
        <p:nvSpPr>
          <p:cNvPr id="8" name="圆角矩形 7"/>
          <p:cNvSpPr/>
          <p:nvPr/>
        </p:nvSpPr>
        <p:spPr>
          <a:xfrm>
            <a:off x="509905" y="3085531"/>
            <a:ext cx="1492899" cy="596273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 Gemm</a:t>
            </a:r>
          </a:p>
          <a:p>
            <a:pPr algn="ctr"/>
            <a:r>
              <a:rPr lang="en-US" altLang="zh-CN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shape: [B, S, H]</a:t>
            </a:r>
          </a:p>
          <a:p>
            <a:pPr algn="ctr"/>
            <a:r>
              <a:rPr lang="en-US" altLang="zh-CN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shard: [1, 4, 8]</a:t>
            </a:r>
          </a:p>
        </p:txBody>
      </p:sp>
      <p:sp>
        <p:nvSpPr>
          <p:cNvPr id="9" name="圆角矩形 8"/>
          <p:cNvSpPr/>
          <p:nvPr/>
        </p:nvSpPr>
        <p:spPr>
          <a:xfrm>
            <a:off x="2154606" y="3085531"/>
            <a:ext cx="1492899" cy="596273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 Gemm</a:t>
            </a:r>
          </a:p>
          <a:p>
            <a:pPr algn="ctr"/>
            <a:r>
              <a:rPr lang="en-US" altLang="zh-CN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shape: [B, S, H1]</a:t>
            </a:r>
          </a:p>
          <a:p>
            <a:pPr algn="ctr"/>
            <a:r>
              <a:rPr lang="en-US" altLang="zh-CN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shard: [1, 4, 8]</a:t>
            </a:r>
          </a:p>
        </p:txBody>
      </p:sp>
      <p:sp>
        <p:nvSpPr>
          <p:cNvPr id="10" name="圆角矩形 9"/>
          <p:cNvSpPr/>
          <p:nvPr/>
        </p:nvSpPr>
        <p:spPr>
          <a:xfrm>
            <a:off x="3847303" y="3085531"/>
            <a:ext cx="1492899" cy="596273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 Gemm</a:t>
            </a:r>
          </a:p>
          <a:p>
            <a:pPr algn="ctr"/>
            <a:r>
              <a:rPr lang="en-US" altLang="zh-CN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shape: [B, S, H2]</a:t>
            </a:r>
          </a:p>
          <a:p>
            <a:pPr algn="ctr"/>
            <a:r>
              <a:rPr lang="en-US" altLang="zh-CN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shard: [1, 4, 8]</a:t>
            </a:r>
          </a:p>
        </p:txBody>
      </p:sp>
      <p:sp>
        <p:nvSpPr>
          <p:cNvPr id="11" name="圆角矩形 10"/>
          <p:cNvSpPr/>
          <p:nvPr/>
        </p:nvSpPr>
        <p:spPr>
          <a:xfrm>
            <a:off x="2154606" y="4018944"/>
            <a:ext cx="1492899" cy="596273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RoPE</a:t>
            </a:r>
          </a:p>
          <a:p>
            <a:pPr algn="ctr"/>
            <a:r>
              <a:rPr lang="en-US" altLang="zh-CN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shape: [B, S, H1]</a:t>
            </a:r>
          </a:p>
          <a:p>
            <a:pPr algn="ctr"/>
            <a:r>
              <a:rPr lang="en-US" altLang="zh-CN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shard: [1, 4, 8]</a:t>
            </a:r>
          </a:p>
        </p:txBody>
      </p:sp>
      <p:sp>
        <p:nvSpPr>
          <p:cNvPr id="12" name="圆角矩形 11"/>
          <p:cNvSpPr/>
          <p:nvPr/>
        </p:nvSpPr>
        <p:spPr>
          <a:xfrm>
            <a:off x="3847303" y="4018944"/>
            <a:ext cx="1492899" cy="596273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RoPE</a:t>
            </a:r>
          </a:p>
          <a:p>
            <a:pPr algn="ctr"/>
            <a:r>
              <a:rPr lang="en-US" altLang="zh-CN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shape: [B, S, H2]</a:t>
            </a:r>
          </a:p>
          <a:p>
            <a:pPr algn="ctr"/>
            <a:r>
              <a:rPr lang="en-US" altLang="zh-CN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shard: [1, 4, 8]</a:t>
            </a:r>
          </a:p>
        </p:txBody>
      </p:sp>
      <p:cxnSp>
        <p:nvCxnSpPr>
          <p:cNvPr id="13" name="直接箭头连接符 8"/>
          <p:cNvCxnSpPr>
            <a:stCxn id="6" idx="2"/>
            <a:endCxn id="7" idx="0"/>
          </p:cNvCxnSpPr>
          <p:nvPr/>
        </p:nvCxnSpPr>
        <p:spPr>
          <a:xfrm>
            <a:off x="2900827" y="1805444"/>
            <a:ext cx="229" cy="3007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箭头连接符 9"/>
          <p:cNvCxnSpPr>
            <a:stCxn id="7" idx="2"/>
            <a:endCxn id="9" idx="0"/>
          </p:cNvCxnSpPr>
          <p:nvPr/>
        </p:nvCxnSpPr>
        <p:spPr>
          <a:xfrm>
            <a:off x="2901335" y="2702442"/>
            <a:ext cx="0" cy="38308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箭头连接符 10"/>
          <p:cNvCxnSpPr>
            <a:stCxn id="7" idx="2"/>
            <a:endCxn id="8" idx="0"/>
          </p:cNvCxnSpPr>
          <p:nvPr/>
        </p:nvCxnSpPr>
        <p:spPr>
          <a:xfrm flipH="1">
            <a:off x="1256634" y="2702442"/>
            <a:ext cx="1644701" cy="38308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箭头连接符 11"/>
          <p:cNvCxnSpPr>
            <a:endCxn id="10" idx="0"/>
          </p:cNvCxnSpPr>
          <p:nvPr/>
        </p:nvCxnSpPr>
        <p:spPr>
          <a:xfrm>
            <a:off x="2901335" y="2702442"/>
            <a:ext cx="1692697" cy="38308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箭头连接符 12"/>
          <p:cNvCxnSpPr>
            <a:stCxn id="9" idx="2"/>
            <a:endCxn id="11" idx="0"/>
          </p:cNvCxnSpPr>
          <p:nvPr/>
        </p:nvCxnSpPr>
        <p:spPr>
          <a:xfrm>
            <a:off x="2901335" y="3681804"/>
            <a:ext cx="0" cy="3371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直接箭头连接符 13"/>
          <p:cNvCxnSpPr>
            <a:stCxn id="10" idx="2"/>
            <a:endCxn id="12" idx="0"/>
          </p:cNvCxnSpPr>
          <p:nvPr/>
        </p:nvCxnSpPr>
        <p:spPr>
          <a:xfrm>
            <a:off x="4594031" y="3681804"/>
            <a:ext cx="0" cy="3371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箭头连接符 14"/>
          <p:cNvCxnSpPr>
            <a:stCxn id="8" idx="2"/>
          </p:cNvCxnSpPr>
          <p:nvPr/>
        </p:nvCxnSpPr>
        <p:spPr>
          <a:xfrm flipH="1">
            <a:off x="1256354" y="3681804"/>
            <a:ext cx="1" cy="135100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直接箭头连接符 15"/>
          <p:cNvCxnSpPr>
            <a:stCxn id="11" idx="2"/>
            <a:endCxn id="22" idx="0"/>
          </p:cNvCxnSpPr>
          <p:nvPr/>
        </p:nvCxnSpPr>
        <p:spPr>
          <a:xfrm flipH="1">
            <a:off x="2901055" y="4615217"/>
            <a:ext cx="1" cy="4042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箭头连接符 17"/>
          <p:cNvCxnSpPr>
            <a:stCxn id="12" idx="2"/>
          </p:cNvCxnSpPr>
          <p:nvPr/>
        </p:nvCxnSpPr>
        <p:spPr>
          <a:xfrm flipH="1">
            <a:off x="4593752" y="4615217"/>
            <a:ext cx="1" cy="4042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2" name="圆角矩形 21"/>
          <p:cNvSpPr/>
          <p:nvPr/>
        </p:nvSpPr>
        <p:spPr>
          <a:xfrm>
            <a:off x="485906" y="5019481"/>
            <a:ext cx="4830297" cy="596273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Flash</a:t>
            </a: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Decoding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shape: [B, S, H]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shard: [1, 1, 1]</a:t>
            </a:r>
          </a:p>
        </p:txBody>
      </p:sp>
      <p:sp>
        <p:nvSpPr>
          <p:cNvPr id="33" name="圆角矩形 32"/>
          <p:cNvSpPr/>
          <p:nvPr/>
        </p:nvSpPr>
        <p:spPr>
          <a:xfrm>
            <a:off x="2154378" y="6020018"/>
            <a:ext cx="1492899" cy="596273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 </a:t>
            </a:r>
            <a:r>
              <a:rPr lang="en-US" altLang="zh-CN" sz="1200" b="1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Gemm</a:t>
            </a:r>
            <a:endParaRPr lang="en-US" altLang="zh-CN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shape: [B, S, H]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shard: [1, 4, 8]</a:t>
            </a:r>
          </a:p>
        </p:txBody>
      </p:sp>
      <p:cxnSp>
        <p:nvCxnSpPr>
          <p:cNvPr id="34" name="直接箭头连接符 15"/>
          <p:cNvCxnSpPr>
            <a:stCxn id="22" idx="2"/>
            <a:endCxn id="33" idx="0"/>
          </p:cNvCxnSpPr>
          <p:nvPr/>
        </p:nvCxnSpPr>
        <p:spPr>
          <a:xfrm flipH="1">
            <a:off x="2900828" y="5615754"/>
            <a:ext cx="227" cy="4042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8" name="文本框 37"/>
          <p:cNvSpPr txBox="1"/>
          <p:nvPr/>
        </p:nvSpPr>
        <p:spPr>
          <a:xfrm>
            <a:off x="6897512" y="880282"/>
            <a:ext cx="40865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Graph</a:t>
            </a:r>
            <a:r>
              <a: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Eager</a:t>
            </a:r>
            <a:r>
              <a: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Hybrid</a:t>
            </a:r>
            <a:endParaRPr kumimoji="1"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248358" y="1126807"/>
            <a:ext cx="5508975" cy="3591949"/>
          </a:xfrm>
          <a:prstGeom prst="rect">
            <a:avLst/>
          </a:prstGeom>
          <a:noFill/>
          <a:ln w="19050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42" name="直线连接符 41"/>
          <p:cNvCxnSpPr/>
          <p:nvPr/>
        </p:nvCxnSpPr>
        <p:spPr>
          <a:xfrm>
            <a:off x="248358" y="5817886"/>
            <a:ext cx="5508975" cy="0"/>
          </a:xfrm>
          <a:prstGeom prst="line">
            <a:avLst/>
          </a:prstGeom>
          <a:ln w="19050">
            <a:solidFill>
              <a:srgbClr val="FF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/>
          <p:cNvSpPr txBox="1"/>
          <p:nvPr/>
        </p:nvSpPr>
        <p:spPr>
          <a:xfrm>
            <a:off x="4672851" y="1832329"/>
            <a:ext cx="11633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400" b="1" dirty="0">
                <a:highlight>
                  <a:srgbClr val="C0C0C0"/>
                </a:highlight>
              </a:rPr>
              <a:t>N3D</a:t>
            </a:r>
            <a:r>
              <a:rPr kumimoji="1" lang="zh-CN" altLang="en-US" sz="1400" b="1" dirty="0">
                <a:highlight>
                  <a:srgbClr val="C0C0C0"/>
                </a:highlight>
              </a:rPr>
              <a:t> </a:t>
            </a:r>
            <a:r>
              <a:rPr kumimoji="1" lang="en-US" altLang="zh-CN" sz="1400" b="1" dirty="0">
                <a:highlight>
                  <a:srgbClr val="C0C0C0"/>
                </a:highlight>
              </a:rPr>
              <a:t>Graph</a:t>
            </a:r>
            <a:r>
              <a:rPr kumimoji="1" lang="zh-CN" altLang="en-US" sz="1400" b="1" dirty="0">
                <a:highlight>
                  <a:srgbClr val="C0C0C0"/>
                </a:highlight>
              </a:rPr>
              <a:t> </a:t>
            </a:r>
            <a:r>
              <a:rPr kumimoji="1" lang="en-US" altLang="zh-CN" sz="1400" b="1" dirty="0">
                <a:highlight>
                  <a:srgbClr val="C0C0C0"/>
                </a:highlight>
              </a:rPr>
              <a:t>Compile</a:t>
            </a:r>
          </a:p>
        </p:txBody>
      </p:sp>
      <p:sp>
        <p:nvSpPr>
          <p:cNvPr id="44" name="文本框 43"/>
          <p:cNvSpPr txBox="1"/>
          <p:nvPr/>
        </p:nvSpPr>
        <p:spPr>
          <a:xfrm>
            <a:off x="4672851" y="5056939"/>
            <a:ext cx="128670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400" b="1" dirty="0">
                <a:highlight>
                  <a:srgbClr val="C0C0C0"/>
                </a:highlight>
              </a:rPr>
              <a:t>N3D</a:t>
            </a:r>
            <a:r>
              <a:rPr kumimoji="1" lang="zh-CN" altLang="en-US" sz="1400" b="1" dirty="0">
                <a:highlight>
                  <a:srgbClr val="C0C0C0"/>
                </a:highlight>
              </a:rPr>
              <a:t> </a:t>
            </a:r>
            <a:r>
              <a:rPr kumimoji="1" lang="en-US" altLang="zh-CN" sz="1400" b="1" dirty="0">
                <a:highlight>
                  <a:srgbClr val="C0C0C0"/>
                </a:highlight>
              </a:rPr>
              <a:t>Eager</a:t>
            </a:r>
            <a:r>
              <a:rPr kumimoji="1" lang="zh-CN" altLang="en-US" sz="1400" b="1" dirty="0">
                <a:highlight>
                  <a:srgbClr val="C0C0C0"/>
                </a:highlight>
              </a:rPr>
              <a:t> </a:t>
            </a:r>
            <a:r>
              <a:rPr kumimoji="1" lang="en-US" altLang="zh-CN" sz="1400" b="1" dirty="0">
                <a:highlight>
                  <a:srgbClr val="C0C0C0"/>
                </a:highlight>
              </a:rPr>
              <a:t>Mode</a:t>
            </a:r>
          </a:p>
        </p:txBody>
      </p:sp>
      <p:sp>
        <p:nvSpPr>
          <p:cNvPr id="45" name="文本框 44"/>
          <p:cNvSpPr txBox="1"/>
          <p:nvPr/>
        </p:nvSpPr>
        <p:spPr>
          <a:xfrm>
            <a:off x="4718007" y="6056544"/>
            <a:ext cx="11633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400" b="1" dirty="0">
                <a:highlight>
                  <a:srgbClr val="C0C0C0"/>
                </a:highlight>
              </a:rPr>
              <a:t>N3D</a:t>
            </a:r>
            <a:r>
              <a:rPr kumimoji="1" lang="zh-CN" altLang="en-US" sz="1400" b="1" dirty="0">
                <a:highlight>
                  <a:srgbClr val="C0C0C0"/>
                </a:highlight>
              </a:rPr>
              <a:t> </a:t>
            </a:r>
            <a:r>
              <a:rPr kumimoji="1" lang="en-US" altLang="zh-CN" sz="1400" b="1" dirty="0">
                <a:highlight>
                  <a:srgbClr val="C0C0C0"/>
                </a:highlight>
              </a:rPr>
              <a:t>Graph</a:t>
            </a:r>
            <a:r>
              <a:rPr kumimoji="1" lang="zh-CN" altLang="en-US" sz="1400" b="1" dirty="0">
                <a:highlight>
                  <a:srgbClr val="C0C0C0"/>
                </a:highlight>
              </a:rPr>
              <a:t> </a:t>
            </a:r>
            <a:r>
              <a:rPr kumimoji="1" lang="en-US" altLang="zh-CN" sz="1400" b="1" dirty="0">
                <a:highlight>
                  <a:srgbClr val="C0C0C0"/>
                </a:highlight>
              </a:rPr>
              <a:t>Compile</a:t>
            </a:r>
          </a:p>
        </p:txBody>
      </p:sp>
      <p:sp>
        <p:nvSpPr>
          <p:cNvPr id="47" name="文本框 46"/>
          <p:cNvSpPr txBox="1"/>
          <p:nvPr/>
        </p:nvSpPr>
        <p:spPr>
          <a:xfrm>
            <a:off x="6078855" y="1458750"/>
            <a:ext cx="599555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altLang="zh-CN" sz="1800" b="0" i="0" u="none" strike="noStrike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Frameworks such as </a:t>
            </a:r>
            <a:r>
              <a:rPr lang="en-GB" altLang="zh-CN" sz="1800" b="0" i="0" u="none" strike="noStrike" dirty="0" err="1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torch.compile</a:t>
            </a:r>
            <a:r>
              <a:rPr lang="en-GB" altLang="zh-CN" sz="1800" b="0" i="0" u="none" strike="noStrike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and </a:t>
            </a:r>
            <a:r>
              <a:rPr lang="en-US" altLang="zh-CN" sz="1800" b="0" i="0" u="none" strike="noStrike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JAX/XLA</a:t>
            </a:r>
            <a:r>
              <a:rPr lang="zh-CN" altLang="en-US" sz="1800" b="0" i="0" u="none" strike="noStrike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GB" altLang="zh-CN" sz="1800" b="0" i="0" u="none" strike="noStrike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support hybrid execution combining graph compilation and eager mode.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6078911" y="2499130"/>
            <a:ext cx="5995553" cy="2030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altLang="zh-CN" sz="1800" b="0" i="0" u="none" strike="noStrike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Here we propose N3D Compile and N3D Eager Mode</a:t>
            </a:r>
            <a:r>
              <a:rPr lang="en-US" altLang="zh-CN" sz="18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en-GB" altLang="zh-CN" sz="1400" b="0" i="0" u="none" strike="noStrike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n-GB" altLang="zh-CN" sz="1800" b="0" i="0" u="none" strike="noStrike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At the switch point between graph compile and eager mode, the data still remains in N3D storage.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GB" altLang="zh-CN" sz="1800" dirty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altLang="zh-CN" sz="1800" b="0" i="0" u="none" strike="noStrike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Eager Mode allows hand-written operator optimizations</a:t>
            </a:r>
            <a:r>
              <a:rPr lang="en-US" altLang="en-GB" sz="1800" b="0" i="0" u="none" strike="noStrike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</p:txBody>
      </p:sp>
      <p:sp>
        <p:nvSpPr>
          <p:cNvPr id="50" name="文本框 49"/>
          <p:cNvSpPr txBox="1"/>
          <p:nvPr/>
        </p:nvSpPr>
        <p:spPr>
          <a:xfrm>
            <a:off x="6078867" y="4718764"/>
            <a:ext cx="610728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altLang="zh-CN" sz="1800" b="0" i="0" u="none" strike="noStrike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However, compared with ordinary Eager Mode, N3D Eager Mode has to consider various N3D data shards, which drastically increases the effort required for hand-written operators.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矩形 35"/>
          <p:cNvSpPr/>
          <p:nvPr/>
        </p:nvSpPr>
        <p:spPr>
          <a:xfrm>
            <a:off x="334645" y="120650"/>
            <a:ext cx="9036685" cy="5257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defRPr/>
            </a:pPr>
            <a:r>
              <a:rPr kumimoji="1"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Compiler Software Technology for 3D Architectures </a:t>
            </a:r>
            <a:endParaRPr kumimoji="1" lang="en-US" altLang="zh-CN" sz="2800" b="1" dirty="0">
              <a:solidFill>
                <a:srgbClr val="256ED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Gautami" panose="020B0502040204020203" pitchFamily="34" charset="0"/>
              <a:sym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400798" y="782530"/>
            <a:ext cx="50348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N3D Operator Programming Model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45909" y="793818"/>
            <a:ext cx="50348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 err="1"/>
              <a:t>Gmem</a:t>
            </a:r>
            <a:r>
              <a:rPr lang="en-US" altLang="zh-CN" b="1" dirty="0"/>
              <a:t> Operator Programming Model</a:t>
            </a:r>
          </a:p>
        </p:txBody>
      </p:sp>
      <p:sp>
        <p:nvSpPr>
          <p:cNvPr id="6" name="直接连接符 11"/>
          <p:cNvSpPr/>
          <p:nvPr/>
        </p:nvSpPr>
        <p:spPr>
          <a:xfrm flipH="1">
            <a:off x="5922096" y="906709"/>
            <a:ext cx="4075" cy="5058066"/>
          </a:xfrm>
          <a:prstGeom prst="line">
            <a:avLst/>
          </a:prstGeom>
          <a:ln w="38100">
            <a:solidFill>
              <a:srgbClr val="18A7E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7" name="矩形: 圆角 29"/>
          <p:cNvSpPr/>
          <p:nvPr/>
        </p:nvSpPr>
        <p:spPr>
          <a:xfrm>
            <a:off x="255620" y="1255095"/>
            <a:ext cx="5339559" cy="2809805"/>
          </a:xfrm>
          <a:prstGeom prst="roundRect">
            <a:avLst>
              <a:gd name="adj" fmla="val 734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0" bIns="0" rtlCol="0" anchor="ctr"/>
          <a:lstStyle/>
          <a:p>
            <a:pPr defTabSz="931545">
              <a:lnSpc>
                <a:spcPts val="1800"/>
              </a:lnSpc>
              <a:defRPr/>
            </a:pPr>
            <a:r>
              <a:rPr lang="en-US" altLang="zh-CN" sz="1600" dirty="0">
                <a:solidFill>
                  <a:prstClr val="black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int main() {</a:t>
            </a:r>
          </a:p>
          <a:p>
            <a:pPr defTabSz="931545">
              <a:lnSpc>
                <a:spcPts val="1800"/>
              </a:lnSpc>
              <a:defRPr/>
            </a:pPr>
            <a:r>
              <a:rPr lang="en-US" altLang="zh-CN" sz="1600" dirty="0">
                <a:solidFill>
                  <a:prstClr val="black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  …</a:t>
            </a:r>
          </a:p>
          <a:p>
            <a:pPr defTabSz="931545">
              <a:lnSpc>
                <a:spcPts val="1800"/>
              </a:lnSpc>
              <a:defRPr/>
            </a:pPr>
            <a:r>
              <a:rPr lang="en-US" altLang="zh-CN" sz="1600" dirty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  </a:t>
            </a:r>
            <a:r>
              <a:rPr lang="en-US" altLang="zh-CN" sz="1600" dirty="0" err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raisaMalloc</a:t>
            </a:r>
            <a:r>
              <a:rPr lang="en-US" altLang="zh-CN" sz="1600" dirty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(…);</a:t>
            </a:r>
          </a:p>
          <a:p>
            <a:pPr defTabSz="931545">
              <a:lnSpc>
                <a:spcPts val="1800"/>
              </a:lnSpc>
              <a:defRPr/>
            </a:pPr>
            <a:r>
              <a:rPr lang="en-US" altLang="zh-CN" sz="1600" dirty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  </a:t>
            </a:r>
            <a:r>
              <a:rPr lang="en-US" altLang="zh-CN" sz="1600" dirty="0" err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raisaMemcpy</a:t>
            </a:r>
            <a:r>
              <a:rPr lang="en-US" altLang="zh-CN" sz="1600" dirty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(…, </a:t>
            </a:r>
            <a:r>
              <a:rPr lang="en-US" altLang="zh-CN" sz="1600" dirty="0" err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raisaMemcpyHostToDevice</a:t>
            </a:r>
            <a:r>
              <a:rPr lang="en-US" altLang="zh-CN" sz="1600" dirty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);</a:t>
            </a:r>
          </a:p>
          <a:p>
            <a:pPr defTabSz="931545">
              <a:lnSpc>
                <a:spcPts val="1800"/>
              </a:lnSpc>
              <a:defRPr/>
            </a:pPr>
            <a:endParaRPr lang="en-US" altLang="zh-CN" sz="1600" dirty="0">
              <a:solidFill>
                <a:schemeClr val="tx1"/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  <a:p>
            <a:pPr defTabSz="931545">
              <a:lnSpc>
                <a:spcPts val="1800"/>
              </a:lnSpc>
              <a:defRPr/>
            </a:pPr>
            <a:r>
              <a:rPr lang="en-US" altLang="zh-CN" sz="1600" dirty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  dim3 grids = {8, 1, 1};</a:t>
            </a:r>
          </a:p>
          <a:p>
            <a:pPr defTabSz="931545">
              <a:lnSpc>
                <a:spcPts val="1800"/>
              </a:lnSpc>
              <a:defRPr/>
            </a:pPr>
            <a:r>
              <a:rPr lang="en-US" altLang="zh-CN" sz="1600" dirty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  dim3 blocks = {128, 1, 1}; </a:t>
            </a:r>
          </a:p>
          <a:p>
            <a:pPr defTabSz="931545">
              <a:lnSpc>
                <a:spcPts val="1800"/>
              </a:lnSpc>
              <a:defRPr/>
            </a:pPr>
            <a:r>
              <a:rPr lang="en-US" altLang="zh-CN" sz="1600" dirty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  </a:t>
            </a:r>
            <a:r>
              <a:rPr lang="en-US" altLang="zh-CN" sz="1600" dirty="0" err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kernel_func</a:t>
            </a:r>
            <a:r>
              <a:rPr lang="en-US" altLang="zh-CN" sz="1600" dirty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&lt;&lt;&lt;grids, blocks, </a:t>
            </a:r>
            <a:r>
              <a:rPr lang="en-US" altLang="zh-CN" sz="1600" dirty="0" err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dynamic_shared</a:t>
            </a:r>
            <a:r>
              <a:rPr lang="en-US" altLang="zh-CN" sz="1600" dirty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, stream&gt;&gt;&gt;(…);</a:t>
            </a:r>
          </a:p>
          <a:p>
            <a:pPr defTabSz="931545">
              <a:lnSpc>
                <a:spcPts val="1800"/>
              </a:lnSpc>
              <a:defRPr/>
            </a:pPr>
            <a:r>
              <a:rPr lang="en-US" altLang="zh-CN" sz="1600" dirty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  </a:t>
            </a:r>
            <a:r>
              <a:rPr lang="en-US" altLang="zh-CN" sz="1600" dirty="0" err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raisaMemcpy</a:t>
            </a:r>
            <a:r>
              <a:rPr lang="en-US" altLang="zh-CN" sz="1600" dirty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(…,</a:t>
            </a:r>
            <a:r>
              <a:rPr lang="zh-CN" altLang="en-US" sz="1600" dirty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 </a:t>
            </a:r>
            <a:r>
              <a:rPr lang="en-US" altLang="zh-CN" sz="1600" dirty="0" err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raisaMemcpyDeviceToHost</a:t>
            </a:r>
            <a:r>
              <a:rPr lang="en-US" altLang="zh-CN" sz="1600" dirty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);</a:t>
            </a:r>
          </a:p>
          <a:p>
            <a:pPr defTabSz="931545">
              <a:lnSpc>
                <a:spcPts val="1800"/>
              </a:lnSpc>
              <a:defRPr/>
            </a:pPr>
            <a:r>
              <a:rPr lang="en-US" altLang="zh-CN" sz="1600" dirty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  …</a:t>
            </a:r>
          </a:p>
          <a:p>
            <a:pPr defTabSz="931545">
              <a:lnSpc>
                <a:spcPts val="1800"/>
              </a:lnSpc>
              <a:defRPr/>
            </a:pPr>
            <a:r>
              <a:rPr lang="en-US" altLang="zh-CN" sz="1600" dirty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  </a:t>
            </a:r>
            <a:r>
              <a:rPr lang="en-US" altLang="zh-CN" sz="1600" dirty="0" err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raisaFree</a:t>
            </a:r>
            <a:r>
              <a:rPr lang="en-US" altLang="zh-CN" sz="1600" dirty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(…);</a:t>
            </a:r>
          </a:p>
          <a:p>
            <a:pPr defTabSz="931545">
              <a:lnSpc>
                <a:spcPts val="1800"/>
              </a:lnSpc>
              <a:defRPr/>
            </a:pPr>
            <a:r>
              <a:rPr lang="en-US" altLang="zh-CN" sz="1600" dirty="0">
                <a:solidFill>
                  <a:prstClr val="black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}</a:t>
            </a:r>
          </a:p>
        </p:txBody>
      </p:sp>
      <p:sp>
        <p:nvSpPr>
          <p:cNvPr id="8" name="矩形: 圆角 29"/>
          <p:cNvSpPr/>
          <p:nvPr/>
        </p:nvSpPr>
        <p:spPr>
          <a:xfrm>
            <a:off x="239154" y="4162259"/>
            <a:ext cx="5339559" cy="1802515"/>
          </a:xfrm>
          <a:prstGeom prst="roundRect">
            <a:avLst>
              <a:gd name="adj" fmla="val 734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0" bIns="0" rtlCol="0" anchor="ctr"/>
          <a:lstStyle/>
          <a:p>
            <a:pPr defTabSz="931545">
              <a:lnSpc>
                <a:spcPts val="1800"/>
              </a:lnSpc>
              <a:defRPr/>
            </a:pPr>
            <a:r>
              <a:rPr lang="en-US" altLang="zh-CN" sz="1600" dirty="0">
                <a:solidFill>
                  <a:prstClr val="black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__global__ void </a:t>
            </a:r>
            <a:r>
              <a:rPr lang="en-US" altLang="zh-CN" sz="1600" dirty="0" err="1">
                <a:solidFill>
                  <a:prstClr val="black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kernel_func</a:t>
            </a:r>
            <a:r>
              <a:rPr lang="en-US" altLang="zh-CN" sz="1600" dirty="0">
                <a:solidFill>
                  <a:prstClr val="black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(</a:t>
            </a:r>
            <a:r>
              <a:rPr lang="en-US" altLang="zh-CN" sz="1600" dirty="0">
                <a:solidFill>
                  <a:srgbClr val="FF0000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float *x, float *y, </a:t>
            </a:r>
            <a:r>
              <a:rPr lang="en-US" altLang="zh-CN" sz="1600" dirty="0">
                <a:solidFill>
                  <a:prstClr val="black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int nm, …) {</a:t>
            </a:r>
          </a:p>
          <a:p>
            <a:pPr defTabSz="931545">
              <a:lnSpc>
                <a:spcPts val="1800"/>
              </a:lnSpc>
              <a:defRPr/>
            </a:pPr>
            <a:r>
              <a:rPr lang="en-US" altLang="zh-CN" sz="1600" dirty="0">
                <a:solidFill>
                  <a:prstClr val="black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  uint32_t </a:t>
            </a:r>
            <a:r>
              <a:rPr lang="en-US" altLang="zh-CN" sz="1600" dirty="0" err="1">
                <a:solidFill>
                  <a:prstClr val="black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block_id</a:t>
            </a:r>
            <a:r>
              <a:rPr lang="en-US" altLang="zh-CN" sz="1600" dirty="0">
                <a:solidFill>
                  <a:prstClr val="black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 = </a:t>
            </a:r>
            <a:r>
              <a:rPr lang="en-US" altLang="zh-CN" sz="1600" dirty="0" err="1">
                <a:solidFill>
                  <a:prstClr val="black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blockIdx.x</a:t>
            </a:r>
            <a:r>
              <a:rPr lang="en-US" altLang="zh-CN" sz="1600" dirty="0">
                <a:solidFill>
                  <a:prstClr val="black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 + </a:t>
            </a:r>
            <a:r>
              <a:rPr lang="en-US" altLang="zh-CN" sz="1600" dirty="0" err="1">
                <a:solidFill>
                  <a:prstClr val="black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blockIdx.y</a:t>
            </a:r>
            <a:r>
              <a:rPr lang="en-US" altLang="zh-CN" sz="1600" dirty="0">
                <a:solidFill>
                  <a:prstClr val="black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 * </a:t>
            </a:r>
            <a:r>
              <a:rPr lang="en-US" altLang="zh-CN" sz="1600" dirty="0" err="1">
                <a:solidFill>
                  <a:prstClr val="black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gridDim.x</a:t>
            </a:r>
            <a:endParaRPr lang="en-US" altLang="zh-CN" sz="1600" dirty="0">
              <a:solidFill>
                <a:prstClr val="black"/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  <a:p>
            <a:pPr defTabSz="931545">
              <a:lnSpc>
                <a:spcPts val="1800"/>
              </a:lnSpc>
              <a:defRPr/>
            </a:pPr>
            <a:r>
              <a:rPr lang="en-US" altLang="zh-CN" sz="1600" dirty="0">
                <a:solidFill>
                  <a:prstClr val="black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                                     + </a:t>
            </a:r>
            <a:r>
              <a:rPr lang="en-US" altLang="zh-CN" sz="1600" dirty="0" err="1">
                <a:solidFill>
                  <a:prstClr val="black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blockIdx.z</a:t>
            </a:r>
            <a:r>
              <a:rPr lang="en-US" altLang="zh-CN" sz="1600" dirty="0">
                <a:solidFill>
                  <a:prstClr val="black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 * </a:t>
            </a:r>
            <a:r>
              <a:rPr lang="en-US" altLang="zh-CN" sz="1600" dirty="0" err="1">
                <a:solidFill>
                  <a:prstClr val="black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gridDim.x</a:t>
            </a:r>
            <a:r>
              <a:rPr lang="en-US" altLang="zh-CN" sz="1600" dirty="0">
                <a:solidFill>
                  <a:prstClr val="black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 * </a:t>
            </a:r>
            <a:r>
              <a:rPr lang="en-US" altLang="zh-CN" sz="1600" dirty="0" err="1">
                <a:solidFill>
                  <a:prstClr val="black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gridDim.y</a:t>
            </a:r>
            <a:r>
              <a:rPr lang="en-US" altLang="zh-CN" sz="1600" dirty="0">
                <a:solidFill>
                  <a:prstClr val="black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;</a:t>
            </a:r>
          </a:p>
          <a:p>
            <a:pPr defTabSz="931545">
              <a:lnSpc>
                <a:spcPts val="1800"/>
              </a:lnSpc>
              <a:defRPr/>
            </a:pPr>
            <a:r>
              <a:rPr lang="en-US" altLang="zh-CN" sz="1600" dirty="0">
                <a:solidFill>
                  <a:prstClr val="black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  for (int i = </a:t>
            </a:r>
            <a:r>
              <a:rPr lang="en-US" altLang="zh-CN" sz="1600" dirty="0" err="1">
                <a:solidFill>
                  <a:prstClr val="black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threadIdx.x</a:t>
            </a:r>
            <a:r>
              <a:rPr lang="en-US" altLang="zh-CN" sz="1600" dirty="0">
                <a:solidFill>
                  <a:prstClr val="black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; </a:t>
            </a:r>
            <a:r>
              <a:rPr lang="en-US" altLang="zh-CN" sz="1600" dirty="0" err="1">
                <a:solidFill>
                  <a:prstClr val="black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i</a:t>
            </a:r>
            <a:r>
              <a:rPr lang="en-US" altLang="zh-CN" sz="1600" dirty="0">
                <a:solidFill>
                  <a:prstClr val="black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 &lt; 2048; </a:t>
            </a:r>
            <a:r>
              <a:rPr lang="en-US" altLang="zh-CN" sz="1600" dirty="0" err="1">
                <a:solidFill>
                  <a:prstClr val="black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i</a:t>
            </a:r>
            <a:r>
              <a:rPr lang="en-US" altLang="zh-CN" sz="1600" dirty="0">
                <a:solidFill>
                  <a:prstClr val="black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 += </a:t>
            </a:r>
            <a:r>
              <a:rPr lang="en-US" altLang="zh-CN" sz="1600" dirty="0" err="1">
                <a:solidFill>
                  <a:prstClr val="black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blockDim.x</a:t>
            </a:r>
            <a:r>
              <a:rPr lang="en-US" altLang="zh-CN" sz="1600" dirty="0">
                <a:solidFill>
                  <a:prstClr val="black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) {</a:t>
            </a:r>
          </a:p>
          <a:p>
            <a:pPr defTabSz="931545">
              <a:lnSpc>
                <a:spcPts val="1800"/>
              </a:lnSpc>
              <a:defRPr/>
            </a:pPr>
            <a:r>
              <a:rPr lang="en-US" altLang="zh-CN" sz="1600" dirty="0">
                <a:solidFill>
                  <a:prstClr val="black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    …</a:t>
            </a:r>
          </a:p>
          <a:p>
            <a:pPr defTabSz="931545">
              <a:lnSpc>
                <a:spcPts val="1800"/>
              </a:lnSpc>
              <a:defRPr/>
            </a:pPr>
            <a:r>
              <a:rPr lang="en-US" altLang="zh-CN" sz="1600" dirty="0">
                <a:solidFill>
                  <a:prstClr val="black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  }</a:t>
            </a:r>
          </a:p>
          <a:p>
            <a:pPr defTabSz="931545">
              <a:lnSpc>
                <a:spcPts val="1800"/>
              </a:lnSpc>
              <a:defRPr/>
            </a:pPr>
            <a:r>
              <a:rPr lang="en-US" altLang="zh-CN" sz="1600" dirty="0">
                <a:solidFill>
                  <a:prstClr val="black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}</a:t>
            </a:r>
          </a:p>
        </p:txBody>
      </p:sp>
      <p:sp>
        <p:nvSpPr>
          <p:cNvPr id="9" name="矩形: 圆角 29"/>
          <p:cNvSpPr/>
          <p:nvPr/>
        </p:nvSpPr>
        <p:spPr>
          <a:xfrm>
            <a:off x="6286371" y="1232518"/>
            <a:ext cx="5666475" cy="2559644"/>
          </a:xfrm>
          <a:prstGeom prst="roundRect">
            <a:avLst>
              <a:gd name="adj" fmla="val 734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0" bIns="0" rtlCol="0" anchor="ctr"/>
          <a:lstStyle/>
          <a:p>
            <a:pPr defTabSz="931545">
              <a:lnSpc>
                <a:spcPts val="1800"/>
              </a:lnSpc>
              <a:defRPr/>
            </a:pPr>
            <a:r>
              <a:rPr lang="en-US" altLang="zh-CN" sz="1400" dirty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int main() {</a:t>
            </a:r>
          </a:p>
          <a:p>
            <a:pPr defTabSz="931545">
              <a:lnSpc>
                <a:spcPts val="1800"/>
              </a:lnSpc>
              <a:defRPr/>
            </a:pPr>
            <a:r>
              <a:rPr lang="en-US" altLang="zh-CN" sz="1400" dirty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  </a:t>
            </a:r>
            <a:r>
              <a:rPr lang="en-US" altLang="zh-CN" sz="1400" dirty="0" err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raisa</a:t>
            </a:r>
            <a:r>
              <a:rPr lang="en-US" altLang="zh-CN" sz="1400" dirty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::</a:t>
            </a:r>
            <a:r>
              <a:rPr lang="en-US" altLang="zh-CN" sz="1400" dirty="0" err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NearMemory</a:t>
            </a:r>
            <a:r>
              <a:rPr lang="en-US" altLang="zh-CN" sz="1400" dirty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 near(/*</a:t>
            </a:r>
            <a:r>
              <a:rPr lang="en-US" altLang="zh-CN" sz="1400" dirty="0" err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startRPCID</a:t>
            </a:r>
            <a:r>
              <a:rPr lang="en-US" altLang="zh-CN" sz="1400" dirty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*/0, /*</a:t>
            </a:r>
            <a:r>
              <a:rPr lang="en-US" altLang="zh-CN" sz="1400" dirty="0" err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RPCNum</a:t>
            </a:r>
            <a:r>
              <a:rPr lang="en-US" altLang="zh-CN" sz="1400" dirty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*/1, /*</a:t>
            </a:r>
            <a:r>
              <a:rPr lang="en-US" altLang="zh-CN" sz="1400" dirty="0" err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TileNumPerRPC</a:t>
            </a:r>
            <a:r>
              <a:rPr lang="en-US" altLang="zh-CN" sz="1400" dirty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*/8);</a:t>
            </a:r>
          </a:p>
          <a:p>
            <a:pPr defTabSz="931545">
              <a:lnSpc>
                <a:spcPts val="1800"/>
              </a:lnSpc>
              <a:defRPr/>
            </a:pPr>
            <a:r>
              <a:rPr lang="en-US" altLang="zh-CN" sz="1400" dirty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  </a:t>
            </a:r>
            <a:r>
              <a:rPr lang="en-US" altLang="zh-CN" sz="1400" dirty="0" err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raisaDeviceLocalMalloc</a:t>
            </a:r>
            <a:r>
              <a:rPr lang="en-US" altLang="zh-CN" sz="1400" dirty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(</a:t>
            </a:r>
            <a:r>
              <a:rPr lang="en-US" altLang="zh-CN" sz="1400" dirty="0" err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near_addrs</a:t>
            </a:r>
            <a:r>
              <a:rPr lang="en-US" altLang="zh-CN" sz="1400" dirty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, bytes, </a:t>
            </a:r>
            <a:r>
              <a:rPr lang="en-US" altLang="zh-CN" sz="1400" dirty="0" err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near.startRPC</a:t>
            </a:r>
            <a:r>
              <a:rPr lang="en-US" altLang="zh-CN" sz="1400" dirty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(), </a:t>
            </a:r>
            <a:r>
              <a:rPr lang="en-US" altLang="zh-CN" sz="1400" dirty="0" err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near.numRPCs</a:t>
            </a:r>
            <a:r>
              <a:rPr lang="en-US" altLang="zh-CN" sz="1400" dirty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());</a:t>
            </a:r>
          </a:p>
          <a:p>
            <a:pPr defTabSz="931545">
              <a:lnSpc>
                <a:spcPts val="1800"/>
              </a:lnSpc>
              <a:defRPr/>
            </a:pPr>
            <a:endParaRPr lang="en-US" altLang="zh-CN" sz="1400" dirty="0">
              <a:solidFill>
                <a:schemeClr val="tx1"/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  <a:p>
            <a:pPr defTabSz="931545">
              <a:lnSpc>
                <a:spcPts val="1800"/>
              </a:lnSpc>
              <a:defRPr/>
            </a:pPr>
            <a:r>
              <a:rPr lang="en-US" altLang="zh-CN" sz="1400" dirty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  </a:t>
            </a:r>
            <a:r>
              <a:rPr lang="en-US" altLang="zh-CN" sz="1400" dirty="0" err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kernel_func</a:t>
            </a:r>
            <a:r>
              <a:rPr lang="en-US" altLang="zh-CN" sz="1400" dirty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&lt;&lt;&lt;grids, blocks, </a:t>
            </a:r>
            <a:r>
              <a:rPr lang="en-US" altLang="zh-CN" sz="1400" dirty="0" err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near.startRPC</a:t>
            </a:r>
            <a:r>
              <a:rPr lang="en-US" altLang="zh-CN" sz="1400" dirty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(), </a:t>
            </a:r>
            <a:r>
              <a:rPr lang="en-US" altLang="zh-CN" sz="1400" dirty="0" err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dynamic_shared</a:t>
            </a:r>
            <a:r>
              <a:rPr lang="en-US" altLang="zh-CN" sz="1400" dirty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, stream&gt;&gt;&gt;(…, </a:t>
            </a:r>
            <a:r>
              <a:rPr lang="en-US" altLang="zh-CN" sz="1400" dirty="0" err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near_addrs</a:t>
            </a:r>
            <a:r>
              <a:rPr lang="en-US" altLang="zh-CN" sz="1400" dirty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);</a:t>
            </a:r>
          </a:p>
          <a:p>
            <a:pPr defTabSz="931545">
              <a:lnSpc>
                <a:spcPts val="1800"/>
              </a:lnSpc>
              <a:defRPr/>
            </a:pPr>
            <a:endParaRPr lang="en-US" altLang="zh-CN" sz="1400" dirty="0">
              <a:solidFill>
                <a:schemeClr val="tx1"/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  <a:p>
            <a:pPr defTabSz="931545">
              <a:lnSpc>
                <a:spcPts val="1800"/>
              </a:lnSpc>
              <a:defRPr/>
            </a:pPr>
            <a:r>
              <a:rPr lang="zh-CN" altLang="en-US" sz="1400" dirty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  </a:t>
            </a:r>
            <a:r>
              <a:rPr lang="en-US" altLang="zh-CN" sz="1400" dirty="0" err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raisaDeviceLocalFree</a:t>
            </a:r>
            <a:r>
              <a:rPr lang="en-US" altLang="zh-CN" sz="1400" dirty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(</a:t>
            </a:r>
            <a:r>
              <a:rPr lang="en-US" altLang="zh-CN" sz="1400" dirty="0" err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near_addrs</a:t>
            </a:r>
            <a:r>
              <a:rPr lang="en-US" altLang="zh-CN" sz="1400" dirty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, </a:t>
            </a:r>
            <a:r>
              <a:rPr lang="en-US" altLang="zh-CN" sz="1400" dirty="0" err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near.startRPC</a:t>
            </a:r>
            <a:r>
              <a:rPr lang="en-US" altLang="zh-CN" sz="1400" dirty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(), </a:t>
            </a:r>
            <a:r>
              <a:rPr lang="en-US" altLang="zh-CN" sz="1400" dirty="0" err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near.numRPCs</a:t>
            </a:r>
            <a:r>
              <a:rPr lang="en-US" altLang="zh-CN" sz="1400" dirty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());</a:t>
            </a:r>
          </a:p>
          <a:p>
            <a:pPr defTabSz="931545">
              <a:lnSpc>
                <a:spcPts val="1800"/>
              </a:lnSpc>
              <a:defRPr/>
            </a:pPr>
            <a:r>
              <a:rPr lang="en-US" altLang="zh-CN" sz="1400" dirty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  …</a:t>
            </a:r>
          </a:p>
          <a:p>
            <a:pPr defTabSz="931545">
              <a:lnSpc>
                <a:spcPts val="1800"/>
              </a:lnSpc>
              <a:defRPr/>
            </a:pPr>
            <a:r>
              <a:rPr lang="en-US" altLang="zh-CN" sz="1400" dirty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}</a:t>
            </a:r>
          </a:p>
        </p:txBody>
      </p:sp>
      <p:sp>
        <p:nvSpPr>
          <p:cNvPr id="10" name="矩形: 圆角 29"/>
          <p:cNvSpPr/>
          <p:nvPr/>
        </p:nvSpPr>
        <p:spPr>
          <a:xfrm>
            <a:off x="6269905" y="3864018"/>
            <a:ext cx="5666475" cy="2102805"/>
          </a:xfrm>
          <a:prstGeom prst="roundRect">
            <a:avLst>
              <a:gd name="adj" fmla="val 734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0" bIns="0" rtlCol="0" anchor="ctr"/>
          <a:lstStyle/>
          <a:p>
            <a:pPr defTabSz="931545">
              <a:lnSpc>
                <a:spcPts val="1800"/>
              </a:lnSpc>
              <a:defRPr/>
            </a:pPr>
            <a:r>
              <a:rPr lang="en-US" altLang="zh-CN" sz="1200" dirty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__global__ void </a:t>
            </a:r>
            <a:r>
              <a:rPr lang="en-US" altLang="zh-CN" sz="1200" dirty="0" err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kernel_func</a:t>
            </a:r>
            <a:r>
              <a:rPr lang="en-US" altLang="zh-CN" sz="1200" dirty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(</a:t>
            </a:r>
            <a:r>
              <a:rPr lang="en-US" altLang="zh-CN" sz="1200" dirty="0">
                <a:solidFill>
                  <a:srgbClr val="FF0000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const int64_t *</a:t>
            </a:r>
            <a:r>
              <a:rPr lang="en-US" altLang="zh-CN" sz="1200" dirty="0" err="1">
                <a:solidFill>
                  <a:srgbClr val="FF0000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NearAddrs</a:t>
            </a:r>
            <a:r>
              <a:rPr lang="en-US" altLang="zh-CN" sz="1200" dirty="0">
                <a:solidFill>
                  <a:srgbClr val="FF0000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 </a:t>
            </a:r>
            <a:r>
              <a:rPr lang="en-US" altLang="zh-CN" sz="1200" dirty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,</a:t>
            </a:r>
            <a:r>
              <a:rPr lang="zh-CN" altLang="en-US" sz="1200" dirty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 </a:t>
            </a:r>
            <a:r>
              <a:rPr lang="en-US" altLang="zh-CN" sz="1200" dirty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int</a:t>
            </a:r>
            <a:r>
              <a:rPr lang="zh-CN" altLang="en-US" sz="1200" dirty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 </a:t>
            </a:r>
            <a:r>
              <a:rPr lang="en-US" altLang="zh-CN" sz="1200" dirty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offset,</a:t>
            </a:r>
            <a:r>
              <a:rPr lang="zh-CN" altLang="en-US" sz="1200" dirty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 </a:t>
            </a:r>
            <a:r>
              <a:rPr lang="en-US" altLang="zh-CN" sz="1200" dirty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int</a:t>
            </a:r>
            <a:r>
              <a:rPr lang="zh-CN" altLang="en-US" sz="1200" dirty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 </a:t>
            </a:r>
            <a:r>
              <a:rPr lang="en-US" altLang="zh-CN" sz="1200" dirty="0" err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out_offset</a:t>
            </a:r>
            <a:r>
              <a:rPr lang="en-US" altLang="zh-CN" sz="1200" dirty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) {</a:t>
            </a:r>
          </a:p>
          <a:p>
            <a:pPr defTabSz="931545">
              <a:lnSpc>
                <a:spcPts val="1800"/>
              </a:lnSpc>
              <a:defRPr/>
            </a:pPr>
            <a:r>
              <a:rPr lang="en-US" altLang="zh-CN" sz="1200" dirty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  uint32_t </a:t>
            </a:r>
            <a:r>
              <a:rPr lang="en-US" altLang="zh-CN" sz="1200" dirty="0" err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block_id</a:t>
            </a:r>
            <a:r>
              <a:rPr lang="en-US" altLang="zh-CN" sz="1200" dirty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 = </a:t>
            </a:r>
            <a:r>
              <a:rPr lang="en-US" altLang="zh-CN" sz="1200" dirty="0" err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blockIdx.x</a:t>
            </a:r>
            <a:r>
              <a:rPr lang="en-US" altLang="zh-CN" sz="1200" dirty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 + </a:t>
            </a:r>
            <a:r>
              <a:rPr lang="en-US" altLang="zh-CN" sz="1200" dirty="0" err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blockIdx.y</a:t>
            </a:r>
            <a:r>
              <a:rPr lang="en-US" altLang="zh-CN" sz="1200" dirty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 * </a:t>
            </a:r>
            <a:r>
              <a:rPr lang="en-US" altLang="zh-CN" sz="1200" dirty="0" err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gridDim.x</a:t>
            </a:r>
            <a:r>
              <a:rPr lang="en-US" altLang="zh-CN" sz="1200" dirty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 + </a:t>
            </a:r>
            <a:r>
              <a:rPr lang="en-US" altLang="zh-CN" sz="1200" dirty="0" err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blockIdx.z</a:t>
            </a:r>
            <a:r>
              <a:rPr lang="en-US" altLang="zh-CN" sz="1200" dirty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 * </a:t>
            </a:r>
            <a:r>
              <a:rPr lang="en-US" altLang="zh-CN" sz="1200" dirty="0" err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gridDim.x</a:t>
            </a:r>
            <a:r>
              <a:rPr lang="en-US" altLang="zh-CN" sz="1200" dirty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* </a:t>
            </a:r>
            <a:r>
              <a:rPr lang="en-US" altLang="zh-CN" sz="1200" dirty="0" err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gridDim.y</a:t>
            </a:r>
            <a:r>
              <a:rPr lang="en-US" altLang="zh-CN" sz="1200" dirty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;</a:t>
            </a:r>
          </a:p>
          <a:p>
            <a:pPr defTabSz="931545">
              <a:lnSpc>
                <a:spcPts val="1800"/>
              </a:lnSpc>
              <a:defRPr/>
            </a:pPr>
            <a:r>
              <a:rPr lang="en-US" altLang="zh-CN" sz="1200" dirty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  _Float16 *</a:t>
            </a:r>
            <a:r>
              <a:rPr lang="en-US" altLang="zh-CN" sz="1200" dirty="0" err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near_memory</a:t>
            </a:r>
            <a:r>
              <a:rPr lang="en-US" altLang="zh-CN" sz="1200" dirty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 = </a:t>
            </a:r>
            <a:r>
              <a:rPr lang="en-US" altLang="zh-CN" sz="1200" dirty="0" err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raisa</a:t>
            </a:r>
            <a:r>
              <a:rPr lang="en-US" altLang="zh-CN" sz="1200" dirty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::</a:t>
            </a:r>
            <a:r>
              <a:rPr lang="en-US" altLang="zh-CN" sz="1200" dirty="0" err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this_near</a:t>
            </a:r>
            <a:r>
              <a:rPr lang="en-US" altLang="zh-CN" sz="1200" dirty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&lt;_Float16&gt;(</a:t>
            </a:r>
            <a:r>
              <a:rPr lang="en-US" altLang="zh-CN" sz="1200" dirty="0" err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NearAddrs</a:t>
            </a:r>
            <a:r>
              <a:rPr lang="en-US" altLang="zh-CN" sz="1200" dirty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);</a:t>
            </a:r>
          </a:p>
          <a:p>
            <a:pPr defTabSz="931545">
              <a:lnSpc>
                <a:spcPts val="1800"/>
              </a:lnSpc>
              <a:defRPr/>
            </a:pPr>
            <a:r>
              <a:rPr lang="en-US" altLang="zh-CN" sz="1200" dirty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  _Float16 *</a:t>
            </a:r>
            <a:r>
              <a:rPr lang="en-US" altLang="zh-CN" sz="1200" dirty="0" err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near_memory_a</a:t>
            </a:r>
            <a:r>
              <a:rPr lang="en-US" altLang="zh-CN" sz="1200" dirty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 = </a:t>
            </a:r>
            <a:r>
              <a:rPr lang="en-US" altLang="zh-CN" sz="1200" dirty="0" err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near_memory</a:t>
            </a:r>
            <a:r>
              <a:rPr lang="en-US" altLang="zh-CN" sz="1200" dirty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;</a:t>
            </a:r>
          </a:p>
          <a:p>
            <a:pPr defTabSz="931545">
              <a:lnSpc>
                <a:spcPts val="1800"/>
              </a:lnSpc>
              <a:defRPr/>
            </a:pPr>
            <a:r>
              <a:rPr lang="en-US" altLang="zh-CN" sz="1200" dirty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  _Float16 *</a:t>
            </a:r>
            <a:r>
              <a:rPr lang="en-US" altLang="zh-CN" sz="1200" dirty="0" err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near_memory_b</a:t>
            </a:r>
            <a:r>
              <a:rPr lang="en-US" altLang="zh-CN" sz="1200" dirty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 = </a:t>
            </a:r>
            <a:r>
              <a:rPr lang="en-US" altLang="zh-CN" sz="1200" dirty="0" err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near_memory</a:t>
            </a:r>
            <a:r>
              <a:rPr lang="en-US" altLang="zh-CN" sz="1200" dirty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 + offset;</a:t>
            </a:r>
          </a:p>
          <a:p>
            <a:pPr defTabSz="931545">
              <a:lnSpc>
                <a:spcPts val="1800"/>
              </a:lnSpc>
              <a:defRPr/>
            </a:pPr>
            <a:r>
              <a:rPr lang="en-US" altLang="zh-CN" sz="1200" dirty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  float *</a:t>
            </a:r>
            <a:r>
              <a:rPr lang="en-US" altLang="zh-CN" sz="1200" dirty="0" err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near_memory_d</a:t>
            </a:r>
            <a:r>
              <a:rPr lang="en-US" altLang="zh-CN" sz="1200" dirty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 = </a:t>
            </a:r>
            <a:r>
              <a:rPr lang="en-US" altLang="zh-CN" sz="1200" dirty="0" err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reinterpret_cast</a:t>
            </a:r>
            <a:r>
              <a:rPr lang="en-US" altLang="zh-CN" sz="1200" dirty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&lt;float*&gt;(</a:t>
            </a:r>
            <a:r>
              <a:rPr lang="en-US" altLang="zh-CN" sz="1200" dirty="0" err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near_memory</a:t>
            </a:r>
            <a:r>
              <a:rPr lang="en-US" altLang="zh-CN" sz="1200" dirty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) + </a:t>
            </a:r>
            <a:r>
              <a:rPr lang="en-US" altLang="zh-CN" sz="1200" dirty="0" err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out_offset</a:t>
            </a:r>
            <a:r>
              <a:rPr lang="en-US" altLang="zh-CN" sz="1200" dirty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; </a:t>
            </a:r>
          </a:p>
          <a:p>
            <a:pPr defTabSz="931545">
              <a:lnSpc>
                <a:spcPts val="1800"/>
              </a:lnSpc>
              <a:defRPr/>
            </a:pPr>
            <a:r>
              <a:rPr lang="en-US" altLang="zh-CN" sz="1200" dirty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  // read from </a:t>
            </a:r>
            <a:r>
              <a:rPr lang="en-US" altLang="zh-CN" sz="1200" dirty="0" err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near_memory</a:t>
            </a:r>
            <a:endParaRPr lang="en-US" altLang="zh-CN" sz="1200" dirty="0">
              <a:solidFill>
                <a:schemeClr val="tx1"/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  <a:p>
            <a:pPr defTabSz="931545">
              <a:lnSpc>
                <a:spcPts val="1800"/>
              </a:lnSpc>
              <a:defRPr/>
            </a:pPr>
            <a:r>
              <a:rPr lang="en-US" altLang="zh-CN" sz="1200" dirty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 …</a:t>
            </a:r>
          </a:p>
          <a:p>
            <a:pPr defTabSz="931545">
              <a:lnSpc>
                <a:spcPts val="1800"/>
              </a:lnSpc>
              <a:defRPr/>
            </a:pPr>
            <a:r>
              <a:rPr lang="en-US" altLang="zh-CN" sz="1200" dirty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}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1257935" y="6064250"/>
            <a:ext cx="9756775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sz="1800" b="0" i="0" u="none" strike="noStrike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We present a user-friendly programming model for 3D multi-</a:t>
            </a:r>
            <a:r>
              <a:rPr lang="en-GB" altLang="zh-CN" sz="1800" b="0" i="0" u="none" strike="noStrike" dirty="0" err="1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chiplet</a:t>
            </a:r>
            <a:r>
              <a:rPr lang="en-GB" altLang="zh-CN" sz="1800" b="0" i="0" u="none" strike="noStrike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800" b="0" i="0" u="none" strike="noStrike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PIM</a:t>
            </a:r>
            <a:r>
              <a:rPr lang="en-GB" altLang="zh-CN" sz="1800" b="0" i="0" u="none" strike="noStrike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architectures, allowing users to author N3D operators and optimize performance.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>
            <p:custDataLst>
              <p:tags r:id="rId1"/>
            </p:custDataLst>
          </p:nvPr>
        </p:nvGrpSpPr>
        <p:grpSpPr>
          <a:xfrm>
            <a:off x="5835015" y="4824730"/>
            <a:ext cx="6159500" cy="491490"/>
            <a:chOff x="4929969" y="1026723"/>
            <a:chExt cx="3118713" cy="368617"/>
          </a:xfrm>
        </p:grpSpPr>
        <p:sp>
          <p:nvSpPr>
            <p:cNvPr id="7" name="文本框 6"/>
            <p:cNvSpPr txBox="1"/>
            <p:nvPr>
              <p:custDataLst>
                <p:tags r:id="rId11"/>
              </p:custDataLst>
            </p:nvPr>
          </p:nvSpPr>
          <p:spPr>
            <a:xfrm>
              <a:off x="5500517" y="1026723"/>
              <a:ext cx="2548165" cy="3686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buClrTx/>
                <a:buSzTx/>
                <a:buFontTx/>
                <a:defRPr/>
              </a:pPr>
              <a:r>
                <a:rPr kumimoji="1" lang="en-US" altLang="zh-CN" sz="2600" dirty="0">
                  <a:solidFill>
                    <a:srgbClr val="256ED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LLM Inference on 3D Chips</a:t>
              </a:r>
            </a:p>
          </p:txBody>
        </p:sp>
        <p:sp>
          <p:nvSpPr>
            <p:cNvPr id="8" name="文本框 7"/>
            <p:cNvSpPr txBox="1"/>
            <p:nvPr>
              <p:custDataLst>
                <p:tags r:id="rId12"/>
              </p:custDataLst>
            </p:nvPr>
          </p:nvSpPr>
          <p:spPr>
            <a:xfrm>
              <a:off x="4929969" y="1046506"/>
              <a:ext cx="647856" cy="315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kumimoji="1" lang="en-US" altLang="zh-CN" sz="2135" dirty="0">
                  <a:solidFill>
                    <a:srgbClr val="256ED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微软雅黑" panose="020B0503020204020204" pitchFamily="34" charset="-122"/>
                </a:rPr>
                <a:t>04</a:t>
              </a:r>
              <a:r>
                <a:rPr kumimoji="1" lang="zh-CN" altLang="en-US" sz="2135" dirty="0">
                  <a:solidFill>
                    <a:srgbClr val="256ED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微软雅黑" panose="020B0503020204020204" pitchFamily="34" charset="-122"/>
                </a:rPr>
                <a:t> </a:t>
              </a:r>
              <a:r>
                <a:rPr kumimoji="1" lang="en-US" altLang="zh-CN" sz="2135" dirty="0">
                  <a:solidFill>
                    <a:srgbClr val="256ED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微软雅黑" panose="020B0503020204020204" pitchFamily="34" charset="-122"/>
                </a:rPr>
                <a:t>/</a:t>
              </a:r>
            </a:p>
          </p:txBody>
        </p:sp>
      </p:grpSp>
      <p:grpSp>
        <p:nvGrpSpPr>
          <p:cNvPr id="10" name="组合 9"/>
          <p:cNvGrpSpPr/>
          <p:nvPr>
            <p:custDataLst>
              <p:tags r:id="rId2"/>
            </p:custDataLst>
          </p:nvPr>
        </p:nvGrpSpPr>
        <p:grpSpPr>
          <a:xfrm>
            <a:off x="5883062" y="1443496"/>
            <a:ext cx="5990590" cy="672528"/>
            <a:chOff x="4929969" y="1026723"/>
            <a:chExt cx="4492943" cy="504396"/>
          </a:xfrm>
        </p:grpSpPr>
        <p:sp>
          <p:nvSpPr>
            <p:cNvPr id="11" name="文本框 10"/>
            <p:cNvSpPr txBox="1"/>
            <p:nvPr>
              <p:custDataLst>
                <p:tags r:id="rId9"/>
              </p:custDataLst>
            </p:nvPr>
          </p:nvSpPr>
          <p:spPr>
            <a:xfrm>
              <a:off x="5500517" y="1026723"/>
              <a:ext cx="3922395" cy="3452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defRPr/>
              </a:pPr>
              <a:r>
                <a:rPr kumimoji="1" lang="en-US" altLang="zh-CN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3D Chip Architectures</a:t>
              </a:r>
            </a:p>
          </p:txBody>
        </p:sp>
        <p:sp>
          <p:nvSpPr>
            <p:cNvPr id="12" name="文本框 11"/>
            <p:cNvSpPr txBox="1"/>
            <p:nvPr>
              <p:custDataLst>
                <p:tags r:id="rId10"/>
              </p:custDataLst>
            </p:nvPr>
          </p:nvSpPr>
          <p:spPr>
            <a:xfrm>
              <a:off x="4929969" y="1046506"/>
              <a:ext cx="647856" cy="3152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kumimoji="1" lang="en-US" altLang="zh-CN" sz="2135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微软雅黑" panose="020B0503020204020204" pitchFamily="34" charset="-122"/>
                </a:rPr>
                <a:t>01</a:t>
              </a:r>
              <a:r>
                <a:rPr kumimoji="1" lang="zh-CN" altLang="en-US" sz="2135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微软雅黑" panose="020B0503020204020204" pitchFamily="34" charset="-122"/>
                </a:rPr>
                <a:t> </a:t>
              </a:r>
              <a:r>
                <a:rPr kumimoji="1" lang="en-US" altLang="zh-CN" sz="2135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微软雅黑" panose="020B0503020204020204" pitchFamily="34" charset="-122"/>
                </a:rPr>
                <a:t>/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5577824" y="1319041"/>
              <a:ext cx="3172925" cy="21207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endParaRPr lang="zh-CN" altLang="en-US" sz="935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41" name="图片 40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604237" y="5053491"/>
            <a:ext cx="1694582" cy="1850535"/>
          </a:xfrm>
          <a:prstGeom prst="rect">
            <a:avLst/>
          </a:prstGeom>
        </p:spPr>
      </p:pic>
      <p:grpSp>
        <p:nvGrpSpPr>
          <p:cNvPr id="14" name="组合 13"/>
          <p:cNvGrpSpPr/>
          <p:nvPr>
            <p:custDataLst>
              <p:tags r:id="rId3"/>
            </p:custDataLst>
          </p:nvPr>
        </p:nvGrpSpPr>
        <p:grpSpPr>
          <a:xfrm>
            <a:off x="5879252" y="2420126"/>
            <a:ext cx="5990590" cy="829945"/>
            <a:chOff x="4929969" y="1026723"/>
            <a:chExt cx="4492943" cy="622459"/>
          </a:xfrm>
        </p:grpSpPr>
        <p:sp>
          <p:nvSpPr>
            <p:cNvPr id="23" name="文本框 22"/>
            <p:cNvSpPr txBox="1"/>
            <p:nvPr>
              <p:custDataLst>
                <p:tags r:id="rId7"/>
              </p:custDataLst>
            </p:nvPr>
          </p:nvSpPr>
          <p:spPr>
            <a:xfrm>
              <a:off x="5500517" y="1026723"/>
              <a:ext cx="3922395" cy="622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defRPr/>
              </a:pPr>
              <a:r>
                <a:rPr kumimoji="1" lang="en-US" altLang="zh-CN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What kind of software technoloy is requied?</a:t>
              </a:r>
            </a:p>
          </p:txBody>
        </p:sp>
        <p:sp>
          <p:nvSpPr>
            <p:cNvPr id="24" name="文本框 23"/>
            <p:cNvSpPr txBox="1"/>
            <p:nvPr>
              <p:custDataLst>
                <p:tags r:id="rId8"/>
              </p:custDataLst>
            </p:nvPr>
          </p:nvSpPr>
          <p:spPr>
            <a:xfrm>
              <a:off x="4929969" y="1046506"/>
              <a:ext cx="647856" cy="3152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kumimoji="1" lang="en-US" altLang="zh-CN" sz="2135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微软雅黑" panose="020B0503020204020204" pitchFamily="34" charset="-122"/>
                </a:rPr>
                <a:t>02</a:t>
              </a:r>
              <a:r>
                <a:rPr kumimoji="1" lang="zh-CN" altLang="en-US" sz="2135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微软雅黑" panose="020B0503020204020204" pitchFamily="34" charset="-122"/>
                </a:rPr>
                <a:t> </a:t>
              </a:r>
              <a:r>
                <a:rPr kumimoji="1" lang="en-US" altLang="zh-CN" sz="2135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微软雅黑" panose="020B0503020204020204" pitchFamily="34" charset="-122"/>
                </a:rPr>
                <a:t>/</a:t>
              </a:r>
            </a:p>
          </p:txBody>
        </p:sp>
        <p:sp>
          <p:nvSpPr>
            <p:cNvPr id="25" name="矩形 24"/>
            <p:cNvSpPr/>
            <p:nvPr/>
          </p:nvSpPr>
          <p:spPr>
            <a:xfrm>
              <a:off x="5577824" y="1319041"/>
              <a:ext cx="3172925" cy="21207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endParaRPr lang="zh-CN" altLang="en-US" sz="935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15" name="组合 14"/>
          <p:cNvGrpSpPr/>
          <p:nvPr>
            <p:custDataLst>
              <p:tags r:id="rId4"/>
            </p:custDataLst>
          </p:nvPr>
        </p:nvGrpSpPr>
        <p:grpSpPr>
          <a:xfrm>
            <a:off x="5835015" y="3651250"/>
            <a:ext cx="6054090" cy="829945"/>
            <a:chOff x="4929969" y="1026723"/>
            <a:chExt cx="4203859" cy="622459"/>
          </a:xfrm>
        </p:grpSpPr>
        <p:sp>
          <p:nvSpPr>
            <p:cNvPr id="16" name="文本框 15"/>
            <p:cNvSpPr txBox="1"/>
            <p:nvPr>
              <p:custDataLst>
                <p:tags r:id="rId5"/>
              </p:custDataLst>
            </p:nvPr>
          </p:nvSpPr>
          <p:spPr>
            <a:xfrm>
              <a:off x="5500517" y="1026723"/>
              <a:ext cx="3633311" cy="622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defRPr/>
              </a:pPr>
              <a:r>
                <a:rPr kumimoji="1" lang="en-US" altLang="zh-CN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Compiler Software Technology for 3D Architectures </a:t>
              </a:r>
            </a:p>
          </p:txBody>
        </p:sp>
        <p:sp>
          <p:nvSpPr>
            <p:cNvPr id="17" name="文本框 16"/>
            <p:cNvSpPr txBox="1"/>
            <p:nvPr>
              <p:custDataLst>
                <p:tags r:id="rId6"/>
              </p:custDataLst>
            </p:nvPr>
          </p:nvSpPr>
          <p:spPr>
            <a:xfrm>
              <a:off x="4929969" y="1036981"/>
              <a:ext cx="647856" cy="3152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kumimoji="1" lang="en-US" altLang="zh-CN" sz="2135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微软雅黑" panose="020B0503020204020204" pitchFamily="34" charset="-122"/>
                </a:rPr>
                <a:t>03</a:t>
              </a:r>
              <a:r>
                <a:rPr kumimoji="1" lang="zh-CN" altLang="en-US" sz="2135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微软雅黑" panose="020B0503020204020204" pitchFamily="34" charset="-122"/>
                </a:rPr>
                <a:t> </a:t>
              </a:r>
              <a:r>
                <a:rPr kumimoji="1" lang="en-US" altLang="zh-CN" sz="2135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微软雅黑" panose="020B0503020204020204" pitchFamily="34" charset="-122"/>
                </a:rPr>
                <a:t>/</a:t>
              </a:r>
            </a:p>
          </p:txBody>
        </p:sp>
        <p:sp>
          <p:nvSpPr>
            <p:cNvPr id="18" name="矩形 17"/>
            <p:cNvSpPr/>
            <p:nvPr/>
          </p:nvSpPr>
          <p:spPr>
            <a:xfrm>
              <a:off x="5577824" y="1319041"/>
              <a:ext cx="3172925" cy="21207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endParaRPr lang="zh-CN" altLang="en-US" sz="935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矩形 35"/>
          <p:cNvSpPr/>
          <p:nvPr/>
        </p:nvSpPr>
        <p:spPr>
          <a:xfrm>
            <a:off x="334645" y="120650"/>
            <a:ext cx="9394825" cy="5257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buClrTx/>
              <a:buSzTx/>
              <a:buFontTx/>
              <a:defRPr/>
            </a:pPr>
            <a:r>
              <a:rPr kumimoji="1"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LLM Inference on 3D Chips</a:t>
            </a:r>
            <a:endParaRPr kumimoji="1" lang="en-US" altLang="zh-CN" sz="2800" b="1" dirty="0">
              <a:solidFill>
                <a:srgbClr val="256ED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Gautami" panose="020B0502040204020203" pitchFamily="34" charset="0"/>
              <a:sym typeface="微软雅黑" panose="020B0503020204020204" pitchFamily="34" charset="-122"/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7799070" y="1312545"/>
            <a:ext cx="36779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charset="0"/>
              <a:buChar char="Ø"/>
            </a:pP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vLLM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SGLang/PyTorch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manages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N3D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memory </a:t>
            </a:r>
          </a:p>
        </p:txBody>
      </p:sp>
      <p:sp>
        <p:nvSpPr>
          <p:cNvPr id="70" name="文本框 69"/>
          <p:cNvSpPr txBox="1"/>
          <p:nvPr/>
        </p:nvSpPr>
        <p:spPr>
          <a:xfrm>
            <a:off x="7799249" y="2159942"/>
            <a:ext cx="4097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charset="0"/>
              <a:buChar char="Ø"/>
            </a:pPr>
            <a:r>
              <a:rPr lang="en-GB" altLang="zh-CN" sz="1800" i="0" u="none" strike="noStrike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Integrate with </a:t>
            </a:r>
            <a:r>
              <a:rPr lang="en-GB" altLang="zh-CN" sz="1800" i="0" u="none" strike="noStrike" dirty="0" err="1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torch.compile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文本框 70"/>
          <p:cNvSpPr txBox="1"/>
          <p:nvPr/>
        </p:nvSpPr>
        <p:spPr>
          <a:xfrm>
            <a:off x="7792194" y="2823068"/>
            <a:ext cx="40978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charset="0"/>
              <a:buChar char="Ø"/>
            </a:pPr>
            <a:r>
              <a:rPr lang="en-GB" altLang="zh-CN" sz="1800" i="0" u="none" strike="noStrike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If a compiled cache artifact exists, skip the compilation process</a:t>
            </a:r>
            <a:r>
              <a:rPr lang="en-US" altLang="zh-CN" sz="18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.</a:t>
            </a:r>
            <a:r>
              <a:rPr lang="zh-CN" altLang="en-US" sz="18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endParaRPr lang="en-US" altLang="zh-CN" i="0" u="none" strike="noStrike" dirty="0">
              <a:solidFill>
                <a:srgbClr val="0F1115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7782299" y="4040192"/>
            <a:ext cx="40978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charset="0"/>
              <a:buChar char="Ø"/>
            </a:pPr>
            <a:r>
              <a:rPr lang="en-GB" altLang="zh-CN" sz="1800" i="0" u="none" strike="noStrike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If</a:t>
            </a:r>
            <a:r>
              <a:rPr lang="zh-CN" altLang="en-US" sz="1800" i="0" u="none" strike="noStrike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800" i="0" u="none" strike="noStrike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weight</a:t>
            </a:r>
            <a:r>
              <a:rPr lang="zh-CN" altLang="en-US" sz="1800" i="0" u="none" strike="noStrike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had</a:t>
            </a:r>
            <a:r>
              <a:rPr lang="zh-CN" altLang="en-US" sz="18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been</a:t>
            </a:r>
            <a:r>
              <a:rPr lang="zh-CN" altLang="en-US" sz="18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preloaded,</a:t>
            </a:r>
            <a:r>
              <a:rPr lang="zh-CN" altLang="en-US" sz="18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skip</a:t>
            </a:r>
            <a:r>
              <a:rPr lang="zh-CN" altLang="en-US" sz="18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this</a:t>
            </a:r>
            <a:r>
              <a:rPr lang="zh-CN" altLang="en-US" sz="18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operation.</a:t>
            </a:r>
          </a:p>
        </p:txBody>
      </p:sp>
      <p:grpSp>
        <p:nvGrpSpPr>
          <p:cNvPr id="81" name="组合 80"/>
          <p:cNvGrpSpPr/>
          <p:nvPr/>
        </p:nvGrpSpPr>
        <p:grpSpPr>
          <a:xfrm>
            <a:off x="966609" y="1097110"/>
            <a:ext cx="5980291" cy="5298576"/>
            <a:chOff x="953908" y="873624"/>
            <a:chExt cx="6341575" cy="5910900"/>
          </a:xfrm>
        </p:grpSpPr>
        <p:sp>
          <p:nvSpPr>
            <p:cNvPr id="4" name="圆角矩形 3"/>
            <p:cNvSpPr/>
            <p:nvPr/>
          </p:nvSpPr>
          <p:spPr>
            <a:xfrm>
              <a:off x="2127959" y="873624"/>
              <a:ext cx="3973688" cy="564445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 err="1">
                  <a:solidFill>
                    <a:schemeClr val="tx1"/>
                  </a:solidFill>
                </a:rPr>
                <a:t>vLLM</a:t>
              </a:r>
              <a:r>
                <a:rPr kumimoji="1" lang="en-US" altLang="zh-CN" sz="2000" dirty="0">
                  <a:solidFill>
                    <a:schemeClr val="tx1"/>
                  </a:solidFill>
                </a:rPr>
                <a:t>/</a:t>
              </a:r>
              <a:r>
                <a:rPr kumimoji="1" lang="en-US" altLang="zh-CN" sz="2000" dirty="0" err="1">
                  <a:solidFill>
                    <a:schemeClr val="tx1"/>
                  </a:solidFill>
                </a:rPr>
                <a:t>SGLang</a:t>
              </a:r>
              <a:r>
                <a:rPr kumimoji="1" lang="zh-CN" altLang="en-US" sz="2000" dirty="0">
                  <a:solidFill>
                    <a:schemeClr val="tx1"/>
                  </a:solidFill>
                </a:rPr>
                <a:t> </a:t>
              </a:r>
              <a:r>
                <a:rPr kumimoji="1" lang="en-US" altLang="zh-CN" sz="2000" dirty="0">
                  <a:solidFill>
                    <a:schemeClr val="tx1"/>
                  </a:solidFill>
                </a:rPr>
                <a:t>Start</a:t>
              </a:r>
              <a:endParaRPr kumimoji="1" lang="zh-CN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6" name="圆角矩形 5"/>
            <p:cNvSpPr/>
            <p:nvPr/>
          </p:nvSpPr>
          <p:spPr>
            <a:xfrm>
              <a:off x="2127959" y="1595497"/>
              <a:ext cx="3973688" cy="564445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>
                  <a:solidFill>
                    <a:schemeClr val="tx1"/>
                  </a:solidFill>
                </a:rPr>
                <a:t>N3D</a:t>
              </a:r>
              <a:r>
                <a:rPr kumimoji="1" lang="zh-CN" altLang="en-US" sz="2000" dirty="0">
                  <a:solidFill>
                    <a:schemeClr val="tx1"/>
                  </a:solidFill>
                </a:rPr>
                <a:t> </a:t>
              </a:r>
              <a:r>
                <a:rPr kumimoji="1" lang="en-US" altLang="zh-CN" sz="2000" dirty="0">
                  <a:solidFill>
                    <a:schemeClr val="tx1"/>
                  </a:solidFill>
                </a:rPr>
                <a:t>Malloc</a:t>
              </a:r>
              <a:endParaRPr kumimoji="1" lang="zh-CN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7" name="圆角矩形 6"/>
            <p:cNvSpPr/>
            <p:nvPr/>
          </p:nvSpPr>
          <p:spPr>
            <a:xfrm>
              <a:off x="976489" y="3126799"/>
              <a:ext cx="2957688" cy="564445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>
                  <a:solidFill>
                    <a:schemeClr val="tx1"/>
                  </a:solidFill>
                </a:rPr>
                <a:t>N3D</a:t>
              </a:r>
              <a:r>
                <a:rPr kumimoji="1" lang="zh-CN" altLang="en-US" sz="2000" dirty="0">
                  <a:solidFill>
                    <a:schemeClr val="tx1"/>
                  </a:solidFill>
                </a:rPr>
                <a:t> </a:t>
              </a:r>
              <a:r>
                <a:rPr kumimoji="1" lang="en-US" altLang="zh-CN" sz="2000" dirty="0">
                  <a:solidFill>
                    <a:schemeClr val="tx1"/>
                  </a:solidFill>
                </a:rPr>
                <a:t>Graph</a:t>
              </a:r>
              <a:r>
                <a:rPr kumimoji="1" lang="zh-CN" altLang="en-US" sz="2000" dirty="0">
                  <a:solidFill>
                    <a:schemeClr val="tx1"/>
                  </a:solidFill>
                </a:rPr>
                <a:t> </a:t>
              </a:r>
              <a:r>
                <a:rPr kumimoji="1" lang="en-US" altLang="zh-CN" sz="2000" dirty="0">
                  <a:solidFill>
                    <a:schemeClr val="tx1"/>
                  </a:solidFill>
                </a:rPr>
                <a:t>Compile</a:t>
              </a:r>
              <a:endParaRPr kumimoji="1" lang="zh-CN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8" name="圆角矩形 7"/>
            <p:cNvSpPr/>
            <p:nvPr/>
          </p:nvSpPr>
          <p:spPr>
            <a:xfrm>
              <a:off x="965199" y="3841215"/>
              <a:ext cx="2980267" cy="564445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>
                  <a:solidFill>
                    <a:schemeClr val="tx1"/>
                  </a:solidFill>
                </a:rPr>
                <a:t>Weight</a:t>
              </a:r>
              <a:r>
                <a:rPr kumimoji="1" lang="zh-CN" altLang="en-US" sz="2000" dirty="0">
                  <a:solidFill>
                    <a:schemeClr val="tx1"/>
                  </a:solidFill>
                </a:rPr>
                <a:t> </a:t>
              </a:r>
              <a:r>
                <a:rPr kumimoji="1" lang="en-US" altLang="zh-CN" sz="2000" dirty="0">
                  <a:solidFill>
                    <a:schemeClr val="tx1"/>
                  </a:solidFill>
                </a:rPr>
                <a:t>Preload</a:t>
              </a:r>
              <a:endParaRPr kumimoji="1" lang="zh-CN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9" name="圆角矩形 8"/>
            <p:cNvSpPr/>
            <p:nvPr/>
          </p:nvSpPr>
          <p:spPr>
            <a:xfrm>
              <a:off x="2127957" y="2346863"/>
              <a:ext cx="3973688" cy="564445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>
                  <a:solidFill>
                    <a:schemeClr val="tx1"/>
                  </a:solidFill>
                </a:rPr>
                <a:t>Torch</a:t>
              </a:r>
              <a:r>
                <a:rPr kumimoji="1" lang="zh-CN" altLang="en-US" sz="2000" dirty="0">
                  <a:solidFill>
                    <a:schemeClr val="tx1"/>
                  </a:solidFill>
                </a:rPr>
                <a:t> </a:t>
              </a:r>
              <a:r>
                <a:rPr kumimoji="1" lang="en-US" altLang="zh-CN" sz="2000" dirty="0">
                  <a:solidFill>
                    <a:schemeClr val="tx1"/>
                  </a:solidFill>
                </a:rPr>
                <a:t>Compile</a:t>
              </a:r>
              <a:r>
                <a:rPr kumimoji="1" lang="zh-CN" altLang="en-US" sz="2000" dirty="0">
                  <a:solidFill>
                    <a:schemeClr val="tx1"/>
                  </a:solidFill>
                </a:rPr>
                <a:t> </a:t>
              </a:r>
              <a:r>
                <a:rPr kumimoji="1" lang="en-US" altLang="zh-CN" sz="2000" dirty="0">
                  <a:solidFill>
                    <a:schemeClr val="tx1"/>
                  </a:solidFill>
                </a:rPr>
                <a:t>or</a:t>
              </a:r>
              <a:r>
                <a:rPr kumimoji="1" lang="zh-CN" altLang="en-US" sz="2000" dirty="0">
                  <a:solidFill>
                    <a:schemeClr val="tx1"/>
                  </a:solidFill>
                </a:rPr>
                <a:t> </a:t>
              </a:r>
              <a:r>
                <a:rPr kumimoji="1" lang="en-US" altLang="zh-CN" sz="2000" dirty="0">
                  <a:solidFill>
                    <a:schemeClr val="tx1"/>
                  </a:solidFill>
                </a:rPr>
                <a:t>Eager</a:t>
              </a:r>
              <a:endParaRPr kumimoji="1" lang="zh-CN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10" name="圆角矩形 9"/>
            <p:cNvSpPr/>
            <p:nvPr/>
          </p:nvSpPr>
          <p:spPr>
            <a:xfrm>
              <a:off x="4316611" y="4146192"/>
              <a:ext cx="2957688" cy="564445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>
                  <a:solidFill>
                    <a:schemeClr val="tx1"/>
                  </a:solidFill>
                </a:rPr>
                <a:t>N3D</a:t>
              </a:r>
              <a:r>
                <a:rPr kumimoji="1" lang="zh-CN" altLang="en-US" sz="2000" dirty="0">
                  <a:solidFill>
                    <a:schemeClr val="tx1"/>
                  </a:solidFill>
                </a:rPr>
                <a:t> </a:t>
              </a:r>
              <a:r>
                <a:rPr kumimoji="1" lang="en-US" altLang="zh-CN" sz="2000" dirty="0">
                  <a:solidFill>
                    <a:schemeClr val="tx1"/>
                  </a:solidFill>
                </a:rPr>
                <a:t>Eager</a:t>
              </a:r>
              <a:r>
                <a:rPr kumimoji="1" lang="zh-CN" altLang="en-US" sz="2000" dirty="0">
                  <a:solidFill>
                    <a:schemeClr val="tx1"/>
                  </a:solidFill>
                </a:rPr>
                <a:t> </a:t>
              </a:r>
              <a:r>
                <a:rPr kumimoji="1" lang="en-US" altLang="zh-CN" sz="2000" dirty="0">
                  <a:solidFill>
                    <a:schemeClr val="tx1"/>
                  </a:solidFill>
                </a:rPr>
                <a:t>Compute</a:t>
              </a:r>
              <a:endParaRPr kumimoji="1" lang="zh-CN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11" name="圆角矩形 10"/>
            <p:cNvSpPr/>
            <p:nvPr/>
          </p:nvSpPr>
          <p:spPr>
            <a:xfrm>
              <a:off x="2444042" y="6220079"/>
              <a:ext cx="3361308" cy="564445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>
                  <a:solidFill>
                    <a:schemeClr val="tx1"/>
                  </a:solidFill>
                </a:rPr>
                <a:t>KV</a:t>
              </a:r>
              <a:r>
                <a:rPr kumimoji="1" lang="zh-CN" altLang="en-US" sz="2000" dirty="0">
                  <a:solidFill>
                    <a:schemeClr val="tx1"/>
                  </a:solidFill>
                </a:rPr>
                <a:t> </a:t>
              </a:r>
              <a:r>
                <a:rPr kumimoji="1" lang="en-US" altLang="zh-CN" sz="2000" dirty="0">
                  <a:solidFill>
                    <a:schemeClr val="tx1"/>
                  </a:solidFill>
                </a:rPr>
                <a:t>Flush/Fetch</a:t>
              </a:r>
              <a:endParaRPr kumimoji="1" lang="zh-CN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5" name="菱形 4"/>
            <p:cNvSpPr/>
            <p:nvPr/>
          </p:nvSpPr>
          <p:spPr>
            <a:xfrm>
              <a:off x="2878667" y="5293921"/>
              <a:ext cx="2472267" cy="770998"/>
            </a:xfrm>
            <a:prstGeom prst="diamond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000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3064933" y="5505000"/>
              <a:ext cx="209973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400" dirty="0">
                  <a:latin typeface="Comic Sans MS" panose="030F0702030302020204" charset="0"/>
                  <a:cs typeface="Times New Roman" panose="02020603050405020304" pitchFamily="18" charset="0"/>
                </a:rPr>
                <a:t>Multi-tier</a:t>
              </a:r>
              <a:r>
                <a:rPr kumimoji="1" lang="zh-CN" altLang="en-US" sz="1400" dirty="0">
                  <a:latin typeface="Comic Sans MS" panose="030F0702030302020204" charset="0"/>
                  <a:cs typeface="Times New Roman" panose="02020603050405020304" pitchFamily="18" charset="0"/>
                </a:rPr>
                <a:t> </a:t>
              </a:r>
              <a:r>
                <a:rPr kumimoji="1" lang="en-US" altLang="zh-CN" sz="1400" dirty="0">
                  <a:latin typeface="Comic Sans MS" panose="030F0702030302020204" charset="0"/>
                  <a:cs typeface="Times New Roman" panose="02020603050405020304" pitchFamily="18" charset="0"/>
                </a:rPr>
                <a:t>Cache</a:t>
              </a:r>
              <a:r>
                <a:rPr kumimoji="1" lang="zh-CN" altLang="en-US" sz="1400" dirty="0">
                  <a:latin typeface="Comic Sans MS" panose="030F0702030302020204" charset="0"/>
                  <a:cs typeface="Times New Roman" panose="02020603050405020304" pitchFamily="18" charset="0"/>
                </a:rPr>
                <a:t>？</a:t>
              </a:r>
            </a:p>
          </p:txBody>
        </p:sp>
        <p:sp>
          <p:nvSpPr>
            <p:cNvPr id="14" name="圆角矩形 13"/>
            <p:cNvSpPr/>
            <p:nvPr/>
          </p:nvSpPr>
          <p:spPr>
            <a:xfrm>
              <a:off x="953908" y="4553480"/>
              <a:ext cx="2980267" cy="564445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>
                  <a:solidFill>
                    <a:schemeClr val="tx1"/>
                  </a:solidFill>
                </a:rPr>
                <a:t>N3D</a:t>
              </a:r>
              <a:r>
                <a:rPr kumimoji="1" lang="zh-CN" altLang="en-US" sz="2000" dirty="0">
                  <a:solidFill>
                    <a:schemeClr val="tx1"/>
                  </a:solidFill>
                </a:rPr>
                <a:t> </a:t>
              </a:r>
              <a:r>
                <a:rPr kumimoji="1" lang="en-US" altLang="zh-CN" sz="2000" dirty="0">
                  <a:solidFill>
                    <a:schemeClr val="tx1"/>
                  </a:solidFill>
                </a:rPr>
                <a:t>Graph</a:t>
              </a:r>
              <a:r>
                <a:rPr kumimoji="1" lang="zh-CN" altLang="en-US" sz="2000" dirty="0">
                  <a:solidFill>
                    <a:schemeClr val="tx1"/>
                  </a:solidFill>
                </a:rPr>
                <a:t> </a:t>
              </a:r>
              <a:r>
                <a:rPr kumimoji="1" lang="en-US" altLang="zh-CN" sz="2000" dirty="0">
                  <a:solidFill>
                    <a:schemeClr val="tx1"/>
                  </a:solidFill>
                </a:rPr>
                <a:t>Compute</a:t>
              </a:r>
              <a:endParaRPr kumimoji="1" lang="zh-CN" altLang="en-US" sz="2000" dirty="0">
                <a:solidFill>
                  <a:schemeClr val="tx1"/>
                </a:solidFill>
              </a:endParaRPr>
            </a:p>
          </p:txBody>
        </p:sp>
        <p:cxnSp>
          <p:nvCxnSpPr>
            <p:cNvPr id="15" name="直线箭头连接符 14"/>
            <p:cNvCxnSpPr>
              <a:stCxn id="4" idx="2"/>
              <a:endCxn id="6" idx="0"/>
            </p:cNvCxnSpPr>
            <p:nvPr/>
          </p:nvCxnSpPr>
          <p:spPr>
            <a:xfrm>
              <a:off x="4114803" y="1438069"/>
              <a:ext cx="0" cy="15742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线箭头连接符 16"/>
            <p:cNvCxnSpPr>
              <a:stCxn id="6" idx="2"/>
              <a:endCxn id="9" idx="0"/>
            </p:cNvCxnSpPr>
            <p:nvPr/>
          </p:nvCxnSpPr>
          <p:spPr>
            <a:xfrm flipH="1">
              <a:off x="4114801" y="2159942"/>
              <a:ext cx="2" cy="18692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线箭头连接符 19"/>
            <p:cNvCxnSpPr>
              <a:stCxn id="9" idx="2"/>
              <a:endCxn id="7" idx="0"/>
            </p:cNvCxnSpPr>
            <p:nvPr/>
          </p:nvCxnSpPr>
          <p:spPr>
            <a:xfrm flipH="1">
              <a:off x="2455333" y="2911308"/>
              <a:ext cx="1659468" cy="21549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线箭头连接符 22"/>
            <p:cNvCxnSpPr>
              <a:stCxn id="7" idx="2"/>
              <a:endCxn id="8" idx="0"/>
            </p:cNvCxnSpPr>
            <p:nvPr/>
          </p:nvCxnSpPr>
          <p:spPr>
            <a:xfrm>
              <a:off x="2455333" y="3691244"/>
              <a:ext cx="0" cy="14997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线箭头连接符 26"/>
            <p:cNvCxnSpPr>
              <a:stCxn id="8" idx="2"/>
              <a:endCxn id="14" idx="0"/>
            </p:cNvCxnSpPr>
            <p:nvPr/>
          </p:nvCxnSpPr>
          <p:spPr>
            <a:xfrm flipH="1">
              <a:off x="2444042" y="4405660"/>
              <a:ext cx="11291" cy="14782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线箭头连接符 30"/>
            <p:cNvCxnSpPr>
              <a:stCxn id="9" idx="2"/>
              <a:endCxn id="75" idx="0"/>
            </p:cNvCxnSpPr>
            <p:nvPr/>
          </p:nvCxnSpPr>
          <p:spPr>
            <a:xfrm>
              <a:off x="4114801" y="2911308"/>
              <a:ext cx="1690549" cy="497713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线箭头连接符 33"/>
            <p:cNvCxnSpPr>
              <a:stCxn id="10" idx="2"/>
              <a:endCxn id="5" idx="0"/>
            </p:cNvCxnSpPr>
            <p:nvPr/>
          </p:nvCxnSpPr>
          <p:spPr>
            <a:xfrm flipH="1">
              <a:off x="4114801" y="4710637"/>
              <a:ext cx="1680654" cy="583284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线箭头连接符 36"/>
            <p:cNvCxnSpPr>
              <a:stCxn id="14" idx="2"/>
              <a:endCxn id="5" idx="0"/>
            </p:cNvCxnSpPr>
            <p:nvPr/>
          </p:nvCxnSpPr>
          <p:spPr>
            <a:xfrm>
              <a:off x="2444042" y="5117925"/>
              <a:ext cx="1670759" cy="17599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线箭头连接符 39"/>
            <p:cNvCxnSpPr>
              <a:stCxn id="5" idx="2"/>
              <a:endCxn id="11" idx="0"/>
            </p:cNvCxnSpPr>
            <p:nvPr/>
          </p:nvCxnSpPr>
          <p:spPr>
            <a:xfrm>
              <a:off x="4114801" y="6064919"/>
              <a:ext cx="9895" cy="15516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肘形连接符 44"/>
            <p:cNvCxnSpPr>
              <a:stCxn id="5" idx="1"/>
              <a:endCxn id="9" idx="1"/>
            </p:cNvCxnSpPr>
            <p:nvPr/>
          </p:nvCxnSpPr>
          <p:spPr>
            <a:xfrm rot="10800000">
              <a:off x="2127957" y="2629086"/>
              <a:ext cx="750710" cy="3050334"/>
            </a:xfrm>
            <a:prstGeom prst="bentConnector3">
              <a:avLst>
                <a:gd name="adj1" fmla="val 282331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肘形连接符 47"/>
            <p:cNvCxnSpPr>
              <a:stCxn id="11" idx="3"/>
              <a:endCxn id="9" idx="3"/>
            </p:cNvCxnSpPr>
            <p:nvPr/>
          </p:nvCxnSpPr>
          <p:spPr>
            <a:xfrm flipV="1">
              <a:off x="5805350" y="2629086"/>
              <a:ext cx="296295" cy="3873216"/>
            </a:xfrm>
            <a:prstGeom prst="bentConnector3">
              <a:avLst>
                <a:gd name="adj1" fmla="val 531485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圆角矩形 74"/>
            <p:cNvSpPr/>
            <p:nvPr/>
          </p:nvSpPr>
          <p:spPr>
            <a:xfrm>
              <a:off x="4315216" y="3409021"/>
              <a:ext cx="2980267" cy="564445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>
                  <a:solidFill>
                    <a:schemeClr val="tx1"/>
                  </a:solidFill>
                </a:rPr>
                <a:t>Weight</a:t>
              </a:r>
              <a:r>
                <a:rPr kumimoji="1" lang="zh-CN" altLang="en-US" sz="2000" dirty="0">
                  <a:solidFill>
                    <a:schemeClr val="tx1"/>
                  </a:solidFill>
                </a:rPr>
                <a:t> </a:t>
              </a:r>
              <a:r>
                <a:rPr kumimoji="1" lang="en-US" altLang="zh-CN" sz="2000" dirty="0">
                  <a:solidFill>
                    <a:schemeClr val="tx1"/>
                  </a:solidFill>
                </a:rPr>
                <a:t>Preload</a:t>
              </a:r>
              <a:endParaRPr kumimoji="1" lang="zh-CN" altLang="en-US" sz="2000" dirty="0">
                <a:solidFill>
                  <a:schemeClr val="tx1"/>
                </a:solidFill>
              </a:endParaRPr>
            </a:p>
          </p:txBody>
        </p:sp>
        <p:cxnSp>
          <p:nvCxnSpPr>
            <p:cNvPr id="77" name="直线箭头连接符 76"/>
            <p:cNvCxnSpPr>
              <a:stCxn id="75" idx="2"/>
              <a:endCxn id="10" idx="0"/>
            </p:cNvCxnSpPr>
            <p:nvPr/>
          </p:nvCxnSpPr>
          <p:spPr>
            <a:xfrm flipH="1">
              <a:off x="5795455" y="3973466"/>
              <a:ext cx="9895" cy="17272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0" name="文本框 79"/>
          <p:cNvSpPr txBox="1"/>
          <p:nvPr/>
        </p:nvSpPr>
        <p:spPr>
          <a:xfrm>
            <a:off x="7782560" y="4977765"/>
            <a:ext cx="368236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charset="0"/>
              <a:buChar char="Ø"/>
            </a:pPr>
            <a:r>
              <a:rPr lang="en-US" altLang="zh-CN" sz="18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When</a:t>
            </a:r>
            <a:r>
              <a:rPr lang="zh-CN" altLang="en-US" sz="18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need</a:t>
            </a:r>
            <a:r>
              <a:rPr lang="zh-CN" altLang="en-US" sz="18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multi-tier</a:t>
            </a:r>
            <a:r>
              <a:rPr lang="zh-CN" altLang="en-US" sz="18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cache</a:t>
            </a:r>
            <a:r>
              <a:rPr lang="zh-CN" altLang="en-US" sz="18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for</a:t>
            </a:r>
            <a:r>
              <a:rPr lang="zh-CN" altLang="en-US" sz="18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KV</a:t>
            </a:r>
            <a:r>
              <a:rPr lang="zh-CN" altLang="en-US" sz="18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Cache,</a:t>
            </a:r>
            <a:r>
              <a:rPr lang="zh-CN" altLang="en-US" sz="18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launch</a:t>
            </a:r>
            <a:r>
              <a:rPr lang="zh-CN" altLang="en-US" sz="18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KV</a:t>
            </a:r>
            <a:r>
              <a:rPr lang="zh-CN" altLang="en-US" sz="18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Flush/Fetch</a:t>
            </a:r>
            <a:r>
              <a:rPr lang="zh-CN" altLang="en-US" sz="18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kernels.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4136390" y="5598160"/>
            <a:ext cx="7067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Yes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073910" y="5097145"/>
            <a:ext cx="7067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No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矩形 35"/>
          <p:cNvSpPr/>
          <p:nvPr/>
        </p:nvSpPr>
        <p:spPr>
          <a:xfrm>
            <a:off x="334645" y="120650"/>
            <a:ext cx="9394825" cy="5257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buClrTx/>
              <a:buSzTx/>
              <a:buFontTx/>
              <a:defRPr/>
            </a:pPr>
            <a:r>
              <a:rPr kumimoji="1"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LLM Inference on 3D Chips</a:t>
            </a:r>
            <a:endParaRPr kumimoji="1" lang="en-US" altLang="zh-CN" sz="2800" b="1" dirty="0">
              <a:solidFill>
                <a:srgbClr val="256ED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Gautami" panose="020B0502040204020203" pitchFamily="34" charset="0"/>
              <a:sym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69630" y="1316279"/>
            <a:ext cx="45715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3D</a:t>
            </a:r>
            <a:r>
              <a:rPr lang="zh-CN" altLang="en-US" b="1" dirty="0"/>
              <a:t> </a:t>
            </a:r>
            <a:r>
              <a:rPr lang="en-US" altLang="zh-CN" b="1" dirty="0"/>
              <a:t>KV</a:t>
            </a:r>
            <a:r>
              <a:rPr lang="zh-CN" altLang="en-US" b="1" dirty="0"/>
              <a:t> </a:t>
            </a:r>
            <a:r>
              <a:rPr lang="en-US" altLang="zh-CN" b="1" dirty="0"/>
              <a:t>Cache</a:t>
            </a:r>
            <a:r>
              <a:rPr lang="zh-CN" altLang="en-US" b="1" dirty="0"/>
              <a:t> </a:t>
            </a:r>
            <a:r>
              <a:rPr lang="en-US" altLang="zh-CN" b="1" dirty="0"/>
              <a:t>Management</a:t>
            </a:r>
            <a:endParaRPr lang="zh-CN" altLang="en-US" b="1" dirty="0"/>
          </a:p>
        </p:txBody>
      </p:sp>
      <p:grpSp>
        <p:nvGrpSpPr>
          <p:cNvPr id="27" name="组合 26"/>
          <p:cNvGrpSpPr/>
          <p:nvPr/>
        </p:nvGrpSpPr>
        <p:grpSpPr>
          <a:xfrm>
            <a:off x="6357773" y="2438888"/>
            <a:ext cx="1716298" cy="1542296"/>
            <a:chOff x="3064192" y="2345374"/>
            <a:chExt cx="1716298" cy="1542296"/>
          </a:xfrm>
        </p:grpSpPr>
        <p:sp>
          <p:nvSpPr>
            <p:cNvPr id="12" name="圆角矩形 11"/>
            <p:cNvSpPr/>
            <p:nvPr/>
          </p:nvSpPr>
          <p:spPr>
            <a:xfrm>
              <a:off x="3064192" y="2345374"/>
              <a:ext cx="1716298" cy="15169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圆角矩形 12"/>
            <p:cNvSpPr/>
            <p:nvPr/>
          </p:nvSpPr>
          <p:spPr>
            <a:xfrm>
              <a:off x="3377385" y="2461805"/>
              <a:ext cx="1269476" cy="413854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圆角矩形 13"/>
            <p:cNvSpPr/>
            <p:nvPr/>
          </p:nvSpPr>
          <p:spPr>
            <a:xfrm>
              <a:off x="3302219" y="2529125"/>
              <a:ext cx="1269476" cy="413854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圆角矩形 14"/>
            <p:cNvSpPr/>
            <p:nvPr/>
          </p:nvSpPr>
          <p:spPr>
            <a:xfrm>
              <a:off x="3227649" y="2598653"/>
              <a:ext cx="1269476" cy="413854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N3D DRAM Stack</a:t>
              </a:r>
            </a:p>
          </p:txBody>
        </p:sp>
        <p:sp>
          <p:nvSpPr>
            <p:cNvPr id="16" name="圆角矩形 15"/>
            <p:cNvSpPr/>
            <p:nvPr/>
          </p:nvSpPr>
          <p:spPr>
            <a:xfrm>
              <a:off x="3227649" y="3122868"/>
              <a:ext cx="1269476" cy="413854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AI Core</a:t>
              </a: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3295657" y="3594661"/>
              <a:ext cx="1201468" cy="2930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Tile 0</a:t>
              </a:r>
            </a:p>
          </p:txBody>
        </p:sp>
        <p:sp>
          <p:nvSpPr>
            <p:cNvPr id="25" name="竖卷形 24"/>
            <p:cNvSpPr/>
            <p:nvPr/>
          </p:nvSpPr>
          <p:spPr>
            <a:xfrm>
              <a:off x="3162624" y="3114039"/>
              <a:ext cx="291717" cy="183751"/>
            </a:xfrm>
            <a:prstGeom prst="verticalScroll">
              <a:avLst>
                <a:gd name="adj" fmla="val 25000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6357773" y="4428171"/>
            <a:ext cx="1716298" cy="1579564"/>
            <a:chOff x="5093086" y="2345374"/>
            <a:chExt cx="1716298" cy="1579564"/>
          </a:xfrm>
        </p:grpSpPr>
        <p:sp>
          <p:nvSpPr>
            <p:cNvPr id="18" name="圆角矩形 17"/>
            <p:cNvSpPr/>
            <p:nvPr/>
          </p:nvSpPr>
          <p:spPr>
            <a:xfrm>
              <a:off x="5093086" y="2345374"/>
              <a:ext cx="1716298" cy="15169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圆角矩形 18"/>
            <p:cNvSpPr/>
            <p:nvPr/>
          </p:nvSpPr>
          <p:spPr>
            <a:xfrm>
              <a:off x="5406279" y="2461805"/>
              <a:ext cx="1269476" cy="413854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圆角矩形 19"/>
            <p:cNvSpPr/>
            <p:nvPr/>
          </p:nvSpPr>
          <p:spPr>
            <a:xfrm>
              <a:off x="5331113" y="2529125"/>
              <a:ext cx="1269476" cy="413854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圆角矩形 20"/>
            <p:cNvSpPr/>
            <p:nvPr/>
          </p:nvSpPr>
          <p:spPr>
            <a:xfrm>
              <a:off x="5256543" y="2598653"/>
              <a:ext cx="1269476" cy="413854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N3D DRAM Stack</a:t>
              </a:r>
            </a:p>
          </p:txBody>
        </p:sp>
        <p:sp>
          <p:nvSpPr>
            <p:cNvPr id="22" name="圆角矩形 21"/>
            <p:cNvSpPr/>
            <p:nvPr/>
          </p:nvSpPr>
          <p:spPr>
            <a:xfrm>
              <a:off x="5256543" y="3122868"/>
              <a:ext cx="1269476" cy="413854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AI Core</a:t>
              </a: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5324551" y="3586384"/>
              <a:ext cx="120146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Tile 2</a:t>
              </a:r>
            </a:p>
          </p:txBody>
        </p:sp>
        <p:sp>
          <p:nvSpPr>
            <p:cNvPr id="26" name="竖卷形 25"/>
            <p:cNvSpPr/>
            <p:nvPr/>
          </p:nvSpPr>
          <p:spPr>
            <a:xfrm>
              <a:off x="5193904" y="3089208"/>
              <a:ext cx="291717" cy="183751"/>
            </a:xfrm>
            <a:prstGeom prst="verticalScroll">
              <a:avLst>
                <a:gd name="adj" fmla="val 25000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8666851" y="2438888"/>
            <a:ext cx="1716298" cy="1587841"/>
            <a:chOff x="3064192" y="2345374"/>
            <a:chExt cx="1716298" cy="1587841"/>
          </a:xfrm>
        </p:grpSpPr>
        <p:sp>
          <p:nvSpPr>
            <p:cNvPr id="30" name="圆角矩形 29"/>
            <p:cNvSpPr/>
            <p:nvPr/>
          </p:nvSpPr>
          <p:spPr>
            <a:xfrm>
              <a:off x="3064192" y="2345374"/>
              <a:ext cx="1716298" cy="15169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圆角矩形 30"/>
            <p:cNvSpPr/>
            <p:nvPr/>
          </p:nvSpPr>
          <p:spPr>
            <a:xfrm>
              <a:off x="3377385" y="2461805"/>
              <a:ext cx="1269476" cy="413854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圆角矩形 31"/>
            <p:cNvSpPr/>
            <p:nvPr/>
          </p:nvSpPr>
          <p:spPr>
            <a:xfrm>
              <a:off x="3302219" y="2529125"/>
              <a:ext cx="1269476" cy="413854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圆角矩形 32"/>
            <p:cNvSpPr/>
            <p:nvPr/>
          </p:nvSpPr>
          <p:spPr>
            <a:xfrm>
              <a:off x="3227649" y="2598653"/>
              <a:ext cx="1269476" cy="413854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N3D DRAM Stack</a:t>
              </a:r>
            </a:p>
          </p:txBody>
        </p:sp>
        <p:sp>
          <p:nvSpPr>
            <p:cNvPr id="34" name="圆角矩形 33"/>
            <p:cNvSpPr/>
            <p:nvPr/>
          </p:nvSpPr>
          <p:spPr>
            <a:xfrm>
              <a:off x="3227649" y="3122868"/>
              <a:ext cx="1269476" cy="413854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AI Core</a:t>
              </a:r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3295657" y="3594661"/>
              <a:ext cx="120146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Tile 1</a:t>
              </a:r>
            </a:p>
          </p:txBody>
        </p:sp>
        <p:sp>
          <p:nvSpPr>
            <p:cNvPr id="37" name="竖卷形 36"/>
            <p:cNvSpPr/>
            <p:nvPr/>
          </p:nvSpPr>
          <p:spPr>
            <a:xfrm>
              <a:off x="3162624" y="3114039"/>
              <a:ext cx="291717" cy="183751"/>
            </a:xfrm>
            <a:prstGeom prst="verticalScroll">
              <a:avLst>
                <a:gd name="adj" fmla="val 25000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8681467" y="4428171"/>
            <a:ext cx="1716298" cy="1579564"/>
            <a:chOff x="5093086" y="2345374"/>
            <a:chExt cx="1716298" cy="1579564"/>
          </a:xfrm>
        </p:grpSpPr>
        <p:sp>
          <p:nvSpPr>
            <p:cNvPr id="39" name="圆角矩形 38"/>
            <p:cNvSpPr/>
            <p:nvPr/>
          </p:nvSpPr>
          <p:spPr>
            <a:xfrm>
              <a:off x="5093086" y="2345374"/>
              <a:ext cx="1716298" cy="15169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圆角矩形 39"/>
            <p:cNvSpPr/>
            <p:nvPr/>
          </p:nvSpPr>
          <p:spPr>
            <a:xfrm>
              <a:off x="5406279" y="2461805"/>
              <a:ext cx="1269476" cy="413854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圆角矩形 40"/>
            <p:cNvSpPr/>
            <p:nvPr/>
          </p:nvSpPr>
          <p:spPr>
            <a:xfrm>
              <a:off x="5331113" y="2529125"/>
              <a:ext cx="1269476" cy="413854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" name="圆角矩形 41"/>
            <p:cNvSpPr/>
            <p:nvPr/>
          </p:nvSpPr>
          <p:spPr>
            <a:xfrm>
              <a:off x="5256543" y="2598653"/>
              <a:ext cx="1269476" cy="413854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N3D DRAM Stack</a:t>
              </a:r>
            </a:p>
          </p:txBody>
        </p:sp>
        <p:sp>
          <p:nvSpPr>
            <p:cNvPr id="43" name="圆角矩形 42"/>
            <p:cNvSpPr/>
            <p:nvPr/>
          </p:nvSpPr>
          <p:spPr>
            <a:xfrm>
              <a:off x="5256543" y="3122868"/>
              <a:ext cx="1269476" cy="413854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AI Core</a:t>
              </a:r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5324551" y="3586384"/>
              <a:ext cx="120146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Tile 3</a:t>
              </a:r>
            </a:p>
          </p:txBody>
        </p:sp>
        <p:sp>
          <p:nvSpPr>
            <p:cNvPr id="45" name="竖卷形 44"/>
            <p:cNvSpPr/>
            <p:nvPr/>
          </p:nvSpPr>
          <p:spPr>
            <a:xfrm>
              <a:off x="5193904" y="3089208"/>
              <a:ext cx="291717" cy="183751"/>
            </a:xfrm>
            <a:prstGeom prst="verticalScroll">
              <a:avLst>
                <a:gd name="adj" fmla="val 25000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7513086" y="1027354"/>
            <a:ext cx="3087828" cy="754310"/>
            <a:chOff x="5963955" y="861242"/>
            <a:chExt cx="3087828" cy="754310"/>
          </a:xfrm>
        </p:grpSpPr>
        <p:sp>
          <p:nvSpPr>
            <p:cNvPr id="28" name="矩形 27"/>
            <p:cNvSpPr/>
            <p:nvPr/>
          </p:nvSpPr>
          <p:spPr>
            <a:xfrm>
              <a:off x="5963955" y="861242"/>
              <a:ext cx="770095" cy="7493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600" dirty="0">
                  <a:solidFill>
                    <a:sysClr val="windowText" lastClr="000000"/>
                  </a:solidFill>
                </a:rPr>
                <a:t>KV</a:t>
              </a:r>
              <a:r>
                <a:rPr kumimoji="1" lang="zh-CN" altLang="en-US" sz="1600" dirty="0">
                  <a:solidFill>
                    <a:sysClr val="windowText" lastClr="000000"/>
                  </a:solidFill>
                </a:rPr>
                <a:t> </a:t>
              </a:r>
              <a:r>
                <a:rPr kumimoji="1" lang="en-US" altLang="zh-CN" sz="1600" dirty="0">
                  <a:solidFill>
                    <a:sysClr val="windowText" lastClr="000000"/>
                  </a:solidFill>
                </a:rPr>
                <a:t>Page</a:t>
              </a:r>
              <a:r>
                <a:rPr kumimoji="1" lang="zh-CN" altLang="en-US" sz="1600" dirty="0">
                  <a:solidFill>
                    <a:sysClr val="windowText" lastClr="000000"/>
                  </a:solidFill>
                </a:rPr>
                <a:t> </a:t>
              </a:r>
              <a:r>
                <a:rPr kumimoji="1" lang="en-US" altLang="zh-CN" sz="1600" dirty="0">
                  <a:solidFill>
                    <a:sysClr val="windowText" lastClr="000000"/>
                  </a:solidFill>
                </a:rPr>
                <a:t>Part0</a:t>
              </a:r>
              <a:endParaRPr kumimoji="1" lang="zh-CN" altLang="en-US" sz="16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>
              <a:off x="6732476" y="861242"/>
              <a:ext cx="770095" cy="7493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600" dirty="0">
                  <a:solidFill>
                    <a:sysClr val="windowText" lastClr="000000"/>
                  </a:solidFill>
                </a:rPr>
                <a:t>KV</a:t>
              </a:r>
              <a:r>
                <a:rPr kumimoji="1" lang="zh-CN" altLang="en-US" sz="1600" dirty="0">
                  <a:solidFill>
                    <a:sysClr val="windowText" lastClr="000000"/>
                  </a:solidFill>
                </a:rPr>
                <a:t> </a:t>
              </a:r>
              <a:r>
                <a:rPr kumimoji="1" lang="en-US" altLang="zh-CN" sz="1600" dirty="0">
                  <a:solidFill>
                    <a:sysClr val="windowText" lastClr="000000"/>
                  </a:solidFill>
                </a:rPr>
                <a:t>Page</a:t>
              </a:r>
              <a:r>
                <a:rPr kumimoji="1" lang="zh-CN" altLang="en-US" sz="1600" dirty="0">
                  <a:solidFill>
                    <a:sysClr val="windowText" lastClr="000000"/>
                  </a:solidFill>
                </a:rPr>
                <a:t> </a:t>
              </a:r>
              <a:r>
                <a:rPr kumimoji="1" lang="en-US" altLang="zh-CN" sz="1600" dirty="0">
                  <a:solidFill>
                    <a:sysClr val="windowText" lastClr="000000"/>
                  </a:solidFill>
                </a:rPr>
                <a:t>Part1</a:t>
              </a:r>
              <a:endParaRPr kumimoji="1" lang="zh-CN" altLang="en-US" sz="16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7" name="矩形 46"/>
            <p:cNvSpPr/>
            <p:nvPr/>
          </p:nvSpPr>
          <p:spPr>
            <a:xfrm>
              <a:off x="7502571" y="866252"/>
              <a:ext cx="770095" cy="7493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600" dirty="0">
                  <a:solidFill>
                    <a:sysClr val="windowText" lastClr="000000"/>
                  </a:solidFill>
                </a:rPr>
                <a:t>KV</a:t>
              </a:r>
              <a:r>
                <a:rPr kumimoji="1" lang="zh-CN" altLang="en-US" sz="1600" dirty="0">
                  <a:solidFill>
                    <a:sysClr val="windowText" lastClr="000000"/>
                  </a:solidFill>
                </a:rPr>
                <a:t> </a:t>
              </a:r>
              <a:r>
                <a:rPr kumimoji="1" lang="en-US" altLang="zh-CN" sz="1600" dirty="0">
                  <a:solidFill>
                    <a:sysClr val="windowText" lastClr="000000"/>
                  </a:solidFill>
                </a:rPr>
                <a:t>Page</a:t>
              </a:r>
              <a:r>
                <a:rPr kumimoji="1" lang="zh-CN" altLang="en-US" sz="1600" dirty="0">
                  <a:solidFill>
                    <a:sysClr val="windowText" lastClr="000000"/>
                  </a:solidFill>
                </a:rPr>
                <a:t> </a:t>
              </a:r>
              <a:r>
                <a:rPr kumimoji="1" lang="en-US" altLang="zh-CN" sz="1600" dirty="0">
                  <a:solidFill>
                    <a:sysClr val="windowText" lastClr="000000"/>
                  </a:solidFill>
                </a:rPr>
                <a:t>Part2</a:t>
              </a:r>
              <a:endParaRPr kumimoji="1" lang="zh-CN" altLang="en-US" sz="16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8" name="矩形 47"/>
            <p:cNvSpPr/>
            <p:nvPr/>
          </p:nvSpPr>
          <p:spPr>
            <a:xfrm>
              <a:off x="8281688" y="863831"/>
              <a:ext cx="770095" cy="7493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600" dirty="0">
                  <a:solidFill>
                    <a:sysClr val="windowText" lastClr="000000"/>
                  </a:solidFill>
                </a:rPr>
                <a:t>KV</a:t>
              </a:r>
              <a:r>
                <a:rPr kumimoji="1" lang="zh-CN" altLang="en-US" sz="1600" dirty="0">
                  <a:solidFill>
                    <a:sysClr val="windowText" lastClr="000000"/>
                  </a:solidFill>
                </a:rPr>
                <a:t> </a:t>
              </a:r>
              <a:r>
                <a:rPr kumimoji="1" lang="en-US" altLang="zh-CN" sz="1600" dirty="0">
                  <a:solidFill>
                    <a:sysClr val="windowText" lastClr="000000"/>
                  </a:solidFill>
                </a:rPr>
                <a:t>Page</a:t>
              </a:r>
              <a:r>
                <a:rPr kumimoji="1" lang="zh-CN" altLang="en-US" sz="1600" dirty="0">
                  <a:solidFill>
                    <a:sysClr val="windowText" lastClr="000000"/>
                  </a:solidFill>
                </a:rPr>
                <a:t> </a:t>
              </a:r>
              <a:r>
                <a:rPr kumimoji="1" lang="en-US" altLang="zh-CN" sz="1600" dirty="0">
                  <a:solidFill>
                    <a:sysClr val="windowText" lastClr="000000"/>
                  </a:solidFill>
                </a:rPr>
                <a:t>Part3</a:t>
              </a:r>
              <a:endParaRPr kumimoji="1" lang="zh-CN" altLang="en-US" sz="1600" dirty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50" name="文本框 49"/>
          <p:cNvSpPr txBox="1"/>
          <p:nvPr/>
        </p:nvSpPr>
        <p:spPr>
          <a:xfrm>
            <a:off x="6111875" y="1027430"/>
            <a:ext cx="158813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KV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Block:</a:t>
            </a:r>
            <a:endParaRPr kumimoji="1"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2" name="直线箭头连接符 51"/>
          <p:cNvCxnSpPr>
            <a:stCxn id="28" idx="2"/>
            <a:endCxn id="15" idx="0"/>
          </p:cNvCxnSpPr>
          <p:nvPr/>
        </p:nvCxnSpPr>
        <p:spPr>
          <a:xfrm flipH="1">
            <a:off x="7155968" y="1776654"/>
            <a:ext cx="742166" cy="9155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线箭头连接符 52"/>
          <p:cNvCxnSpPr>
            <a:stCxn id="46" idx="2"/>
            <a:endCxn id="33" idx="0"/>
          </p:cNvCxnSpPr>
          <p:nvPr/>
        </p:nvCxnSpPr>
        <p:spPr>
          <a:xfrm>
            <a:off x="8666655" y="1776654"/>
            <a:ext cx="798391" cy="9155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线箭头连接符 55"/>
          <p:cNvCxnSpPr>
            <a:stCxn id="47" idx="2"/>
            <a:endCxn id="20" idx="0"/>
          </p:cNvCxnSpPr>
          <p:nvPr/>
        </p:nvCxnSpPr>
        <p:spPr>
          <a:xfrm flipH="1">
            <a:off x="7230538" y="1781664"/>
            <a:ext cx="2206212" cy="28302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线箭头连接符 58"/>
          <p:cNvCxnSpPr>
            <a:stCxn id="48" idx="2"/>
            <a:endCxn id="41" idx="0"/>
          </p:cNvCxnSpPr>
          <p:nvPr/>
        </p:nvCxnSpPr>
        <p:spPr>
          <a:xfrm flipH="1">
            <a:off x="9554232" y="1779243"/>
            <a:ext cx="661635" cy="28326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文本框 63"/>
          <p:cNvSpPr txBox="1"/>
          <p:nvPr/>
        </p:nvSpPr>
        <p:spPr>
          <a:xfrm>
            <a:off x="621927" y="2780083"/>
            <a:ext cx="5214758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kumimoji="1"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vLLM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or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SGLang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manages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the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distributed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KV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Blocks.</a:t>
            </a:r>
          </a:p>
        </p:txBody>
      </p:sp>
      <p:sp>
        <p:nvSpPr>
          <p:cNvPr id="65" name="文本框 64"/>
          <p:cNvSpPr txBox="1"/>
          <p:nvPr/>
        </p:nvSpPr>
        <p:spPr>
          <a:xfrm>
            <a:off x="621576" y="4063551"/>
            <a:ext cx="4895003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altLang="zh-CN" sz="2000" b="0" i="0" u="none" strike="noStrike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KV cache page blocks are evenly partitioned by token across N3D distributed tiles</a:t>
            </a:r>
            <a:r>
              <a:rPr lang="en-US" altLang="zh-CN" sz="2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endParaRPr kumimoji="1" lang="en-US" altLang="zh-CN" sz="2000" dirty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/>
        </p:nvSpPr>
        <p:spPr>
          <a:xfrm>
            <a:off x="4504422" y="3153815"/>
            <a:ext cx="3183156" cy="101566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Thanks</a:t>
            </a:r>
            <a:endParaRPr lang="zh-CN" altLang="en-US" sz="6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charset="0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1.3400787401574,&quot;left&quot;:457.35,&quot;top&quot;:190.56110236220474,&quot;width&quot;:480.5649606299212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1.3400787401574,&quot;left&quot;:457.35,&quot;top&quot;:190.56110236220474,&quot;width&quot;:480.5649606299212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1.3400787401574,&quot;left&quot;:457.35,&quot;top&quot;:190.56110236220474,&quot;width&quot;:480.5649606299212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1.3400787401574,&quot;left&quot;:457.35,&quot;top&quot;:190.56110236220474,&quot;width&quot;:480.5649606299212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1.3400787401574,&quot;left&quot;:457.35,&quot;top&quot;:190.56110236220474,&quot;width&quot;:480.5649606299212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1.3400787401574,&quot;left&quot;:457.35,&quot;top&quot;:190.56110236220474,&quot;width&quot;:480.5649606299212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1.3400787401574,&quot;left&quot;:457.35,&quot;top&quot;:190.56110236220474,&quot;width&quot;:480.5649606299212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1.3400787401574,&quot;left&quot;:457.35,&quot;top&quot;:190.56110236220474,&quot;width&quot;:480.5649606299212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1.3400787401574,&quot;left&quot;:457.35,&quot;top&quot;:190.56110236220474,&quot;width&quot;:480.5649606299212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9.6,&quot;left&quot;:51.839999999999996,&quot;top&quot;:132.48,&quot;width&quot;:596.88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37*259"/>
  <p:tag name="TABLE_ENDDRAG_RECT" val="68*132*837*259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1.3400787401574,&quot;left&quot;:459.4332283464566,&quot;top&quot;:190.56110236220474,&quot;width&quot;:478.48173228346457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1.3400787401574,&quot;left&quot;:459.4332283464566,&quot;top&quot;:190.56110236220474,&quot;width&quot;:478.48173228346457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1.3400787401574,&quot;left&quot;:459.4332283464566,&quot;top&quot;:190.56110236220474,&quot;width&quot;:478.48173228346457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1.3400787401574,&quot;left&quot;:459.4332283464566,&quot;top&quot;:190.56110236220474,&quot;width&quot;:478.48173228346457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1.3400787401574,&quot;left&quot;:459.4332283464566,&quot;top&quot;:190.56110236220474,&quot;width&quot;:478.48173228346457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1.3400787401574,&quot;left&quot;:459.4332283464566,&quot;top&quot;:190.56110236220474,&quot;width&quot;:478.48173228346457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1.3400787401574,&quot;left&quot;:459.4332283464566,&quot;top&quot;:190.56110236220474,&quot;width&quot;:478.48173228346457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1.3400787401574,&quot;left&quot;:459.4332283464566,&quot;top&quot;:190.56110236220474,&quot;width&quot;:478.48173228346457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1.3400787401574,&quot;left&quot;:459.4332283464566,&quot;top&quot;:190.56110236220474,&quot;width&quot;:478.48173228346457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1.3400787401574,&quot;left&quot;:457.35,&quot;top&quot;:190.56110236220474,&quot;width&quot;:487.1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1.3400787401574,&quot;left&quot;:459.4332283464566,&quot;top&quot;:190.56110236220474,&quot;width&quot;:478.48173228346457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1.3400787401574,&quot;left&quot;:457.35,&quot;top&quot;:190.56110236220474,&quot;width&quot;:487.1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1.3400787401574,&quot;left&quot;:457.35,&quot;top&quot;:190.56110236220474,&quot;width&quot;:487.1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1.3400787401574,&quot;left&quot;:457.35,&quot;top&quot;:190.56110236220474,&quot;width&quot;:487.1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1.3400787401574,&quot;left&quot;:457.35,&quot;top&quot;:190.56110236220474,&quot;width&quot;:487.1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1.3400787401574,&quot;left&quot;:457.35,&quot;top&quot;:190.56110236220474,&quot;width&quot;:487.1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1.3400787401574,&quot;left&quot;:457.35,&quot;top&quot;:190.56110236220474,&quot;width&quot;:487.1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1.3400787401574,&quot;left&quot;:459.4332283464566,&quot;top&quot;:190.56110236220474,&quot;width&quot;:478.48173228346457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1.3400787401574,&quot;left&quot;:459.4332283464566,&quot;top&quot;:190.56110236220474,&quot;width&quot;:478.48173228346457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1.3400787401574,&quot;left&quot;:457.35,&quot;top&quot;:190.56110236220474,&quot;width&quot;:487.1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1.3400787401574,&quot;left&quot;:457.35,&quot;top&quot;:190.56110236220474,&quot;width&quot;:487.1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2.6,&quot;left&quot;:13.4,&quot;top&quot;:72.1,&quot;width&quot;:933.95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2.6,&quot;left&quot;:13.4,&quot;top&quot;:72.1,&quot;width&quot;:933.95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2.6,&quot;left&quot;:13.4,&quot;top&quot;:72.1,&quot;width&quot;:933.95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2.6,&quot;left&quot;:13.4,&quot;top&quot;:72.1,&quot;width&quot;:933.95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2.6,&quot;left&quot;:13.4,&quot;top&quot;:72.1,&quot;width&quot;:933.95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2.6,&quot;left&quot;:13.4,&quot;top&quot;:72.1,&quot;width&quot;:933.95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2.6,&quot;left&quot;:13.4,&quot;top&quot;:72.1,&quot;width&quot;:933.95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2.6,&quot;left&quot;:13.4,&quot;top&quot;:72.1,&quot;width&quot;:933.95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2.6,&quot;left&quot;:13.4,&quot;top&quot;:72.1,&quot;width&quot;:933.95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2.6,&quot;left&quot;:13.4,&quot;top&quot;:72.1,&quot;width&quot;:933.95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2.6,&quot;left&quot;:13.4,&quot;top&quot;:72.1,&quot;width&quot;:933.95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2.6,&quot;left&quot;:13.4,&quot;top&quot;:72.1,&quot;width&quot;:933.95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2.6,&quot;left&quot;:13.4,&quot;top&quot;:72.1,&quot;width&quot;:933.95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2.6,&quot;left&quot;:13.4,&quot;top&quot;:72.1,&quot;width&quot;:933.95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2.6,&quot;left&quot;:13.4,&quot;top&quot;:72.1,&quot;width&quot;:933.95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2.6,&quot;left&quot;:13.4,&quot;top&quot;:72.1,&quot;width&quot;:933.95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2.6,&quot;left&quot;:13.4,&quot;top&quot;:72.1,&quot;width&quot;:933.95}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2.6,&quot;left&quot;:13.4,&quot;top&quot;:72.1,&quot;width&quot;:933.95}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2.6,&quot;left&quot;:13.4,&quot;top&quot;:72.1,&quot;width&quot;:933.95}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2.6,&quot;left&quot;:13.4,&quot;top&quot;:72.1,&quot;width&quot;:933.95}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2.6,&quot;left&quot;:13.4,&quot;top&quot;:72.1,&quot;width&quot;:933.95}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2.6,&quot;left&quot;:13.4,&quot;top&quot;:72.1,&quot;width&quot;:933.95}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2.6,&quot;left&quot;:13.4,&quot;top&quot;:72.1,&quot;width&quot;:933.95}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2.6,&quot;left&quot;:13.4,&quot;top&quot;:72.1,&quot;width&quot;:933.95}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2.6,&quot;left&quot;:13.4,&quot;top&quot;:72.1,&quot;width&quot;:933.95}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2.6,&quot;left&quot;:13.4,&quot;top&quot;:72.1,&quot;width&quot;:933.95}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2.6,&quot;left&quot;:13.4,&quot;top&quot;:72.1,&quot;width&quot;:933.95}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2.6,&quot;left&quot;:13.4,&quot;top&quot;:72.1,&quot;width&quot;:933.95}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52.8,&quot;left&quot;:13.4,&quot;top&quot;:81.9,&quot;width&quot;:933.95}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52.8,&quot;left&quot;:13.4,&quot;top&quot;:81.9,&quot;width&quot;:933.95}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1.3400787401574,&quot;left&quot;:459.4332283464566,&quot;top&quot;:190.56110236220474,&quot;width&quot;:485.0167716535434}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1.3400787401574,&quot;left&quot;:459.4332283464566,&quot;top&quot;:190.56110236220474,&quot;width&quot;:478.48173228346457}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1.3400787401574,&quot;left&quot;:459.4332283464566,&quot;top&quot;:190.56110236220474,&quot;width&quot;:485.0167716535434}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1.3400787401574,&quot;left&quot;:459.4332283464566,&quot;top&quot;:190.56110236220474,&quot;width&quot;:485.0167716535434}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1.3400787401574,&quot;left&quot;:459.4332283464566,&quot;top&quot;:190.56110236220474,&quot;width&quot;:485.0167716535434}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1.3400787401574,&quot;left&quot;:459.4332283464566,&quot;top&quot;:190.56110236220474,&quot;width&quot;:485.0167716535434}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1.3400787401574,&quot;left&quot;:459.4332283464566,&quot;top&quot;:190.56110236220474,&quot;width&quot;:485.0167716535434}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1.3400787401574,&quot;left&quot;:459.4332283464566,&quot;top&quot;:190.56110236220474,&quot;width&quot;:485.0167716535434}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1.3400787401574,&quot;left&quot;:459.4332283464566,&quot;top&quot;:190.56110236220474,&quot;width&quot;:478.48173228346457}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1.3400787401574,&quot;left&quot;:459.4332283464566,&quot;top&quot;:190.56110236220474,&quot;width&quot;:478.48173228346457}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1.3400787401574,&quot;left&quot;:459.4332283464566,&quot;top&quot;:190.56110236220474,&quot;width&quot;:485.0167716535434}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1.3400787401574,&quot;left&quot;:459.4332283464566,&quot;top&quot;:190.56110236220474,&quot;width&quot;:485.0167716535434}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2387</Words>
  <Application>Microsoft Office PowerPoint</Application>
  <PresentationFormat>宽屏</PresentationFormat>
  <Paragraphs>458</Paragraphs>
  <Slides>20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9" baseType="lpstr">
      <vt:lpstr>quote-cjk-patch</vt:lpstr>
      <vt:lpstr>等线</vt:lpstr>
      <vt:lpstr>微软雅黑</vt:lpstr>
      <vt:lpstr>Arial</vt:lpstr>
      <vt:lpstr>Calibri</vt:lpstr>
      <vt:lpstr>Calibri Light</vt:lpstr>
      <vt:lpstr>Comic Sans MS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orix zhu</cp:lastModifiedBy>
  <cp:revision>275</cp:revision>
  <dcterms:created xsi:type="dcterms:W3CDTF">2025-11-24T04:43:00Z</dcterms:created>
  <dcterms:modified xsi:type="dcterms:W3CDTF">2026-10-21T00:27:53Z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90FC4D77A9024D33A22277F03A3793B2_13</vt:lpwstr>
  </property>
  <property fmtid="{D5CDD505-2E9C-101B-9397-08002B2CF9AE}" pid="3" name="KSOProductBuildVer">
    <vt:lpwstr>2052-12.1.0.29158</vt:lpwstr>
  </property>
</Properties>
</file>