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2.webp" ContentType="image/webp"/>
  <Override PartName="/ppt/media/image3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3" r:id="rId3"/>
  </p:sldMasterIdLst>
  <p:notesMasterIdLst>
    <p:notesMasterId r:id="rId28"/>
  </p:notesMasterIdLst>
  <p:handoutMasterIdLst>
    <p:handoutMasterId r:id="rId44"/>
  </p:handoutMasterIdLst>
  <p:sldIdLst>
    <p:sldId id="1933" r:id="rId4"/>
    <p:sldId id="1934" r:id="rId5"/>
    <p:sldId id="1935" r:id="rId6"/>
    <p:sldId id="1936" r:id="rId7"/>
    <p:sldId id="1937" r:id="rId8"/>
    <p:sldId id="1938" r:id="rId9"/>
    <p:sldId id="1939" r:id="rId10"/>
    <p:sldId id="1940" r:id="rId11"/>
    <p:sldId id="1941" r:id="rId12"/>
    <p:sldId id="1942" r:id="rId13"/>
    <p:sldId id="1943" r:id="rId14"/>
    <p:sldId id="1944" r:id="rId15"/>
    <p:sldId id="1945" r:id="rId16"/>
    <p:sldId id="1946" r:id="rId17"/>
    <p:sldId id="1947" r:id="rId18"/>
    <p:sldId id="1948" r:id="rId19"/>
    <p:sldId id="1949" r:id="rId20"/>
    <p:sldId id="1950" r:id="rId21"/>
    <p:sldId id="1951" r:id="rId22"/>
    <p:sldId id="1954" r:id="rId23"/>
    <p:sldId id="1952" r:id="rId24"/>
    <p:sldId id="1953" r:id="rId25"/>
    <p:sldId id="1955" r:id="rId26"/>
    <p:sldId id="1956" r:id="rId27"/>
    <p:sldId id="1957" r:id="rId29"/>
    <p:sldId id="1958" r:id="rId30"/>
    <p:sldId id="1959" r:id="rId31"/>
    <p:sldId id="1964" r:id="rId32"/>
    <p:sldId id="1960" r:id="rId33"/>
    <p:sldId id="1961" r:id="rId34"/>
    <p:sldId id="1962" r:id="rId35"/>
    <p:sldId id="1963" r:id="rId36"/>
    <p:sldId id="1965" r:id="rId37"/>
    <p:sldId id="1966" r:id="rId38"/>
    <p:sldId id="1967" r:id="rId39"/>
    <p:sldId id="1968" r:id="rId40"/>
    <p:sldId id="1969" r:id="rId41"/>
    <p:sldId id="1974" r:id="rId42"/>
    <p:sldId id="1970" r:id="rId43"/>
  </p:sldIdLst>
  <p:sldSz cx="12192000" cy="6858000"/>
  <p:notesSz cx="6858000" cy="9144000"/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  <p:cmAuthor id="3" name="SHI BIZHAO" initials="Shi" lastIdx="0" clrIdx="2"/>
  <p:cmAuthor id="4" name="马瑞阳_Mj63q6ZJ" initials="authorId_1080340045" lastIdx="0" clrIdx="3"/>
  <p:cmAuthor id="5" name="WPS_1657951207_BbYbQFJj" initials="authorId_1392390105" lastIdx="0" clrIdx="4"/>
  <p:cmAuthor id="6" name="Alex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107" d="100"/>
          <a:sy n="107" d="100"/>
        </p:scale>
        <p:origin x="51" y="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gs" Target="tags/tag29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https://docs.nvidia.com/cuda/cuda-programming-guide/02-basics/writing-cuda-kernels.html</a:t>
            </a:r>
          </a:p>
          <a:p>
            <a:r>
              <a:t>- https://docs.nvidia.com/cuda/cuda-programming-guide/02-basics/writing-tile-kernels.html</a:t>
            </a:r>
          </a:p>
          <a:p>
            <a:r>
              <a:t>- https://www.hiascend.com/document/detail/zh/CANNCommunityEdition/latest/programug/Ascendcopdevg/docs/guide/%E5%85%A5%E9%97%A8%E6%95%99%E7%A8%8B/Ascend-C%E6%A6%82%E8%BF%B0%E4%B8%8E%E5%AD%A6%E4%B9%A0%E8%B7%AF%E5%BE%84.md</a:t>
            </a:r>
          </a:p>
          <a:p>
            <a:r>
              <a:t>- https://www.hiascend.com/document/detail/zh/CANNCommunityEdition/850/API/ascendcopapi/atlasascendc_api_07_0003.html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/Users/sunxt/projects/agibot-lab/agi-lab/student/day1/handout.md</a:t>
            </a:r>
          </a:p>
          <a:p>
            <a:r>
              <a:t>- https://triton-lang.org/main/getting-started/tutorials/01-vector-add.html</a:t>
            </a:r>
          </a:p>
          <a:p>
            <a:r>
              <a:t>- https://triton-lang.org/main/getting-started/tutorials/02-fused-softmax.html</a:t>
            </a:r>
          </a:p>
          <a:p>
            <a:r>
              <a:t>- https://triton-lang.org/main/getting-started/tutorials/03-matrix-multiplication.html</a:t>
            </a:r>
          </a:p>
          <a:p>
            <a:r>
              <a:t>- https://triton-lang.org/main/getting-started/tutorials/05-layer-norm.html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/Users/sunxt/projects/agibot-lab/agi-lab/student/day1/05_matmul_compare.py</a:t>
            </a:r>
          </a:p>
          <a:p>
            <a:r>
              <a:t>- /Users/sunxt/projects/agibot-lab/agi-lab/student/day1/handout.md</a:t>
            </a:r>
          </a:p>
          <a:p>
            <a:r>
              <a:t>- https://triton-lang.org/main/getting-started/tutorials/03-matrix-multiplication.html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/Users/sunxt/projects/agibot-lab/agi-lab/student/day2/handout.md</a:t>
            </a:r>
          </a:p>
          <a:p>
            <a:r>
              <a:t>- /Users/sunxt/projects/agibot-lab/agi-lab/student/day2/00_baseline.py</a:t>
            </a:r>
          </a:p>
          <a:p>
            <a:r>
              <a:t>- /Users/sunxt/projects/agibot-lab/agi-lab/student/day2/01_block_sweep.py</a:t>
            </a:r>
          </a:p>
          <a:p>
            <a:r>
              <a:t>- /Users/sunxt/projects/agibot-lab/agi-lab/student/day2/02_autotune.py</a:t>
            </a:r>
          </a:p>
          <a:p>
            <a:r>
              <a:t>- https://triton-lang.org/main/python-api/generated/triton.autotune.html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统一、开源</a:t>
            </a:r>
            <a:r>
              <a:rPr lang="en-US" altLang="zh-CN"/>
              <a:t> AI </a:t>
            </a:r>
            <a:r>
              <a:rPr lang="zh-CN" altLang="en-US"/>
              <a:t>系统软件栈</a:t>
            </a:r>
            <a:r>
              <a:rPr lang="en-US" altLang="zh-CN"/>
              <a:t> FlagOS </a:t>
            </a:r>
            <a:r>
              <a:rPr lang="zh-CN" altLang="en-US"/>
              <a:t>简介</a:t>
            </a:r>
            <a:endParaRPr lang="zh-CN" altLang="en-US"/>
          </a:p>
          <a:p>
            <a:r>
              <a:rPr lang="zh-CN" altLang="en-US"/>
              <a:t>面向多芯片的统一、开源</a:t>
            </a:r>
            <a:r>
              <a:rPr lang="en-US" altLang="zh-CN"/>
              <a:t> AI </a:t>
            </a:r>
            <a:r>
              <a:rPr lang="zh-CN" altLang="en-US"/>
              <a:t>系统软件栈</a:t>
            </a:r>
            <a:r>
              <a:rPr lang="en-US" altLang="zh-CN"/>
              <a:t> FlagOS </a:t>
            </a:r>
            <a:r>
              <a:rPr lang="zh-CN" altLang="en-US"/>
              <a:t>，是由芯片企业、系统厂商、算法和软件相关单位、非营利性组织、科研机构等十多家国内外机构共同发起并创立的，围绕多种</a:t>
            </a:r>
            <a:r>
              <a:rPr lang="en-US" altLang="zh-CN"/>
              <a:t> AI </a:t>
            </a:r>
            <a:r>
              <a:rPr lang="zh-CN" altLang="en-US"/>
              <a:t>芯片使用的核心痛点问题，打造的包括通用算子库</a:t>
            </a:r>
            <a:r>
              <a:rPr lang="en-US" altLang="zh-CN"/>
              <a:t> FlagGems</a:t>
            </a:r>
            <a:r>
              <a:rPr lang="zh-CN" altLang="en-US"/>
              <a:t>、统一编译器</a:t>
            </a:r>
            <a:r>
              <a:rPr lang="en-US" altLang="zh-CN"/>
              <a:t> FlagTree</a:t>
            </a:r>
            <a:r>
              <a:rPr lang="zh-CN" altLang="en-US"/>
              <a:t>、并行训推一体框架</a:t>
            </a:r>
            <a:r>
              <a:rPr lang="en-US" altLang="zh-CN"/>
              <a:t> FlagScale</a:t>
            </a:r>
            <a:r>
              <a:rPr lang="zh-CN" altLang="en-US"/>
              <a:t>、统一通信库</a:t>
            </a:r>
            <a:r>
              <a:rPr lang="en-US" altLang="zh-CN"/>
              <a:t> FlagCX</a:t>
            </a:r>
            <a:r>
              <a:rPr lang="zh-CN" altLang="en-US"/>
              <a:t>、自动迁移发版平台</a:t>
            </a:r>
            <a:r>
              <a:rPr lang="en-US" altLang="zh-CN"/>
              <a:t> FlagRelease</a:t>
            </a:r>
            <a:r>
              <a:rPr lang="zh-CN" altLang="en-US"/>
              <a:t>和多芯片评测工具</a:t>
            </a:r>
            <a:r>
              <a:rPr lang="en-US" altLang="zh-CN"/>
              <a:t> FlagPerf </a:t>
            </a:r>
            <a:r>
              <a:rPr lang="zh-CN" altLang="en-US"/>
              <a:t>的系统软件生态。</a:t>
            </a:r>
            <a:r>
              <a:rPr lang="en-US" altLang="zh-CN"/>
              <a:t>FlagOS </a:t>
            </a:r>
            <a:r>
              <a:rPr lang="zh-CN" altLang="en-US"/>
              <a:t>让我们看到了打破不同芯片软件栈之间生态隔离的可能性，将有效降低开发者的迁移成本。</a:t>
            </a:r>
            <a:endParaRPr lang="zh-CN" altLang="en-US"/>
          </a:p>
          <a:p>
            <a:r>
              <a:rPr lang="zh-CN" altLang="en-US"/>
              <a:t>官网：</a:t>
            </a:r>
            <a:endParaRPr lang="zh-CN" altLang="en-US"/>
          </a:p>
          <a:p>
            <a:r>
              <a:rPr lang="en-US" altLang="zh-CN"/>
              <a:t>https://flagos.io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交互式问答入口：</a:t>
            </a:r>
            <a:endParaRPr lang="zh-CN" altLang="en-US"/>
          </a:p>
          <a:p>
            <a:r>
              <a:rPr lang="en-US" altLang="zh-CN"/>
              <a:t>https://wiki.flagos.io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官方文档：</a:t>
            </a:r>
            <a:endParaRPr lang="zh-CN" altLang="en-US"/>
          </a:p>
          <a:p>
            <a:r>
              <a:rPr lang="en-US" altLang="zh-CN"/>
              <a:t>https://docs.flagos.io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最新</a:t>
            </a:r>
            <a:r>
              <a:rPr lang="en-US" altLang="zh-CN"/>
              <a:t>1.6</a:t>
            </a:r>
            <a:r>
              <a:rPr lang="zh-CN" altLang="en-US"/>
              <a:t>版本介绍：</a:t>
            </a:r>
            <a:endParaRPr lang="zh-CN" altLang="en-US"/>
          </a:p>
          <a:p>
            <a:r>
              <a:rPr lang="en-US" altLang="zh-CN"/>
              <a:t>https://mp.weixin.qq.com/s/eBgg6_5FJV-RuYk5fBQvOg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💕</a:t>
            </a:r>
            <a:r>
              <a:rPr lang="en-US" altLang="zh-CN"/>
              <a:t> </a:t>
            </a:r>
            <a:r>
              <a:rPr lang="zh-CN" altLang="en-US"/>
              <a:t>真诚开源，欢迎</a:t>
            </a:r>
            <a:r>
              <a:rPr lang="en-US" altLang="zh-CN"/>
              <a:t>Star-Watch-Fork</a:t>
            </a:r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、高性能通用</a:t>
            </a:r>
            <a:r>
              <a:rPr lang="en-US" altLang="zh-CN"/>
              <a:t>AI </a:t>
            </a:r>
            <a:r>
              <a:rPr lang="zh-CN" altLang="en-US"/>
              <a:t>算子库</a:t>
            </a:r>
            <a:r>
              <a:rPr lang="en-US" altLang="zh-CN"/>
              <a:t> FlagGems</a:t>
            </a:r>
            <a:r>
              <a:rPr lang="zh-CN" altLang="en-US"/>
              <a:t>：</a:t>
            </a:r>
            <a:r>
              <a:rPr lang="en-US" altLang="zh-CN"/>
              <a:t>https://github.com/flagos-ai/FlagGems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、统一</a:t>
            </a:r>
            <a:r>
              <a:rPr lang="en-US" altLang="zh-CN"/>
              <a:t> AI </a:t>
            </a:r>
            <a:r>
              <a:rPr lang="zh-CN" altLang="en-US"/>
              <a:t>编译器</a:t>
            </a:r>
            <a:r>
              <a:rPr lang="en-US" altLang="zh-CN"/>
              <a:t> FlagTree: https://github.com/flagos-ai/flagtree</a:t>
            </a:r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、并行训推一体框架</a:t>
            </a:r>
            <a:r>
              <a:rPr lang="en-US" altLang="zh-CN"/>
              <a:t> FlagScale</a:t>
            </a:r>
            <a:r>
              <a:rPr lang="zh-CN" altLang="en-US"/>
              <a:t>：</a:t>
            </a:r>
            <a:r>
              <a:rPr lang="en-US" altLang="zh-CN"/>
              <a:t>https://github.com/flagos-ai/FlagScale</a:t>
            </a:r>
            <a:endParaRPr lang="en-US" altLang="zh-CN"/>
          </a:p>
          <a:p>
            <a:r>
              <a:rPr lang="en-US" altLang="zh-CN"/>
              <a:t>4</a:t>
            </a:r>
            <a:r>
              <a:rPr lang="zh-CN" altLang="en-US"/>
              <a:t>、统一通信库</a:t>
            </a:r>
            <a:r>
              <a:rPr lang="en-US" altLang="zh-CN"/>
              <a:t> FlagCX</a:t>
            </a:r>
            <a:r>
              <a:rPr lang="zh-CN" altLang="en-US"/>
              <a:t>：</a:t>
            </a:r>
            <a:r>
              <a:rPr lang="en-US" altLang="zh-CN"/>
              <a:t>https://github.com/flagos-ai/FlagCX</a:t>
            </a:r>
            <a:endParaRPr lang="en-US" altLang="zh-CN"/>
          </a:p>
          <a:p>
            <a:r>
              <a:rPr lang="en-US" altLang="zh-CN"/>
              <a:t>5</a:t>
            </a:r>
            <a:r>
              <a:rPr lang="zh-CN" altLang="en-US"/>
              <a:t>、大模型评测工具</a:t>
            </a:r>
            <a:r>
              <a:rPr lang="en-US" altLang="zh-CN"/>
              <a:t> FlagPerf: https://github.com/flagos-ai/flagperf</a:t>
            </a:r>
            <a:endParaRPr lang="en-US" altLang="zh-CN"/>
          </a:p>
          <a:p>
            <a:r>
              <a:rPr lang="en-US" altLang="zh-CN"/>
              <a:t>6</a:t>
            </a:r>
            <a:r>
              <a:rPr lang="zh-CN" altLang="en-US"/>
              <a:t>、算子自动生成工具</a:t>
            </a:r>
            <a:r>
              <a:rPr lang="en-US" altLang="zh-CN"/>
              <a:t>KernelGen</a:t>
            </a:r>
            <a:r>
              <a:rPr lang="zh-CN" altLang="en-US"/>
              <a:t>：</a:t>
            </a:r>
            <a:r>
              <a:rPr lang="en-US" altLang="zh-CN"/>
              <a:t> https://kernelgen.flagos.io</a:t>
            </a:r>
            <a:endParaRPr lang="en-US" altLang="zh-CN"/>
          </a:p>
          <a:p>
            <a:r>
              <a:rPr lang="en-US" altLang="zh-CN"/>
              <a:t>7</a:t>
            </a:r>
            <a:r>
              <a:rPr lang="zh-CN" altLang="en-US"/>
              <a:t>、大模型发版工具</a:t>
            </a:r>
            <a:r>
              <a:rPr lang="en-US" altLang="zh-CN"/>
              <a:t>FlagRelease: </a:t>
            </a:r>
            <a:endParaRPr lang="en-US" altLang="zh-CN"/>
          </a:p>
          <a:p>
            <a:r>
              <a:rPr lang="en-US" altLang="zh-CN"/>
              <a:t>https://modelscope.cn/organization/FlagRelease</a:t>
            </a:r>
            <a:endParaRPr lang="en-US" altLang="zh-CN"/>
          </a:p>
          <a:p>
            <a:r>
              <a:rPr lang="en-US" altLang="zh-CN"/>
              <a:t>https://huggingface.co/FlagRelease/models</a:t>
            </a:r>
            <a:endParaRPr lang="en-US" altLang="zh-CN"/>
          </a:p>
          <a:p>
            <a:r>
              <a:rPr lang="en-US" altLang="zh-CN"/>
              <a:t>https://www.wisemodel.cn/models/FlagRelease</a:t>
            </a:r>
            <a:endParaRPr lang="en-US" altLang="zh-CN"/>
          </a:p>
          <a:p>
            <a:r>
              <a:rPr lang="en-US" altLang="zh-CN"/>
              <a:t>https://www.gpufree.cn</a:t>
            </a:r>
            <a:endParaRPr lang="en-US" altLang="zh-CN"/>
          </a:p>
          <a:p>
            <a:r>
              <a:rPr lang="en-US" altLang="zh-CN"/>
              <a:t>https://www.aihuanxin.cn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国内镜像站点：</a:t>
            </a:r>
            <a:endParaRPr lang="zh-CN" altLang="en-US"/>
          </a:p>
          <a:p>
            <a:r>
              <a:rPr lang="en-US" altLang="zh-CN"/>
              <a:t>https://gitcode.com/flagos-ai </a:t>
            </a:r>
            <a:endParaRPr lang="en-US" altLang="zh-CN"/>
          </a:p>
          <a:p>
            <a:r>
              <a:rPr lang="en-US" altLang="zh-CN"/>
              <a:t>https://gitee.com/flagos-ai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微信公众号：智源</a:t>
            </a:r>
            <a:r>
              <a:rPr lang="en-US" altLang="zh-CN"/>
              <a:t>FlagOpen</a:t>
            </a:r>
            <a:endParaRPr lang="en-US" altLang="zh-CN"/>
          </a:p>
          <a:p>
            <a:r>
              <a:rPr lang="zh-CN" altLang="en-US"/>
              <a:t>视频号：智源</a:t>
            </a:r>
            <a:r>
              <a:rPr lang="en-US" altLang="zh-CN"/>
              <a:t>FlagOpen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88820" y="5448300"/>
            <a:ext cx="9664065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450465" y="6356350"/>
            <a:ext cx="920242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2009140" y="4846320"/>
            <a:ext cx="9643110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 hasCustomPrompt="1"/>
            <p:custDataLst>
              <p:tags r:id="rId2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buClr>
                <a:srgbClr val="8B0012"/>
              </a:buClr>
              <a:buSzTx/>
              <a:buFontTx/>
              <a:buChar char="•"/>
              <a:defRPr sz="2800" baseline="0">
                <a:latin typeface="Arial" panose="020B0604020202020204" pitchFamily="34" charset="0"/>
              </a:defRPr>
            </a:lvl1pPr>
            <a:lvl2pPr algn="l">
              <a:lnSpc>
                <a:spcPct val="100000"/>
              </a:lnSpc>
              <a:buClr>
                <a:srgbClr val="8B0012"/>
              </a:buClr>
              <a:buSzTx/>
              <a:buFontTx/>
              <a:buChar char="◦"/>
              <a:defRPr sz="2400" baseline="0">
                <a:latin typeface="Arial" panose="020B0604020202020204" pitchFamily="34" charset="0"/>
              </a:defRPr>
            </a:lvl2pPr>
            <a:lvl3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2000" baseline="0">
                <a:latin typeface="Arial" panose="020B0604020202020204" pitchFamily="34" charset="0"/>
              </a:defRPr>
            </a:lvl3pPr>
            <a:lvl4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1600" baseline="0">
                <a:latin typeface="Arial" panose="020B0604020202020204" pitchFamily="34" charset="0"/>
              </a:defRPr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grpSp>
        <p:nvGrpSpPr>
          <p:cNvPr id="14" name="Group 7"/>
          <p:cNvGrpSpPr/>
          <p:nvPr userDrawn="1"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8B0012"/>
          </a:solidFill>
        </p:grpSpPr>
        <p:sp>
          <p:nvSpPr>
            <p:cNvPr id="15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16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7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1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2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3" name="内容占位符 22"/>
          <p:cNvSpPr>
            <a:spLocks noGrp="1"/>
          </p:cNvSpPr>
          <p:nvPr>
            <p:ph sz="quarter" idx="11" hasCustomPrompt="1"/>
            <p:custDataLst>
              <p:tags r:id="rId10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1680" y="431800"/>
            <a:ext cx="8620760" cy="7010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" y="593458"/>
            <a:ext cx="419099" cy="365125"/>
          </a:xfrm>
        </p:spPr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Tx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 hasCustomPrompt="1"/>
            <p:custDataLst>
              <p:tags r:id="rId2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buClr>
                <a:srgbClr val="8B0012"/>
              </a:buClr>
              <a:buSzTx/>
              <a:buFontTx/>
              <a:buChar char="•"/>
              <a:defRPr sz="2800" baseline="0">
                <a:latin typeface="Arial" panose="020B0604020202020204" pitchFamily="34" charset="0"/>
              </a:defRPr>
            </a:lvl1pPr>
            <a:lvl2pPr algn="l">
              <a:lnSpc>
                <a:spcPct val="100000"/>
              </a:lnSpc>
              <a:buClr>
                <a:srgbClr val="8B0012"/>
              </a:buClr>
              <a:buSzTx/>
              <a:buFontTx/>
              <a:buChar char="◦"/>
              <a:defRPr sz="2400" baseline="0">
                <a:latin typeface="Arial" panose="020B0604020202020204" pitchFamily="34" charset="0"/>
              </a:defRPr>
            </a:lvl2pPr>
            <a:lvl3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2000" baseline="0">
                <a:latin typeface="Arial" panose="020B0604020202020204" pitchFamily="34" charset="0"/>
              </a:defRPr>
            </a:lvl3pPr>
            <a:lvl4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1600" baseline="0">
                <a:latin typeface="Arial" panose="020B0604020202020204" pitchFamily="34" charset="0"/>
              </a:defRPr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grpSp>
        <p:nvGrpSpPr>
          <p:cNvPr id="14" name="Group 7"/>
          <p:cNvGrpSpPr/>
          <p:nvPr userDrawn="1"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8B0012"/>
          </a:solidFill>
        </p:grpSpPr>
        <p:sp>
          <p:nvSpPr>
            <p:cNvPr id="15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16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7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1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2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3" name="内容占位符 22"/>
          <p:cNvSpPr>
            <a:spLocks noGrp="1"/>
          </p:cNvSpPr>
          <p:nvPr>
            <p:ph sz="quarter" idx="11" hasCustomPrompt="1"/>
            <p:custDataLst>
              <p:tags r:id="rId10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5"/>
          <p:cNvGrpSpPr/>
          <p:nvPr userDrawn="1"/>
        </p:nvGrpSpPr>
        <p:grpSpPr>
          <a:xfrm>
            <a:off x="0" y="0"/>
            <a:ext cx="2212199" cy="6858001"/>
            <a:chOff x="0" y="0"/>
            <a:chExt cx="2305051" cy="6858001"/>
          </a:xfrm>
          <a:solidFill>
            <a:srgbClr val="8B0012"/>
          </a:soli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9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0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1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2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3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4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6" name="Group 2"/>
          <p:cNvGrpSpPr/>
          <p:nvPr userDrawn="1"/>
        </p:nvGrpSpPr>
        <p:grpSpPr>
          <a:xfrm>
            <a:off x="9489385" y="488041"/>
            <a:ext cx="2580450" cy="547850"/>
            <a:chOff x="9221415" y="158476"/>
            <a:chExt cx="2580450" cy="547850"/>
          </a:xfrm>
        </p:grpSpPr>
        <p:pic>
          <p:nvPicPr>
            <p:cNvPr id="9" name="Picture 3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10" name="Picture 4"/>
            <p:cNvPicPr>
              <a:picLocks noChangeAspect="1"/>
            </p:cNvPicPr>
            <p:nvPr/>
          </p:nvPicPr>
          <p:blipFill>
            <a:blip r:embed="rId7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sz="3600" b="0" i="0" kern="1200" baseline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Tx/>
        <a:buChar char="•"/>
        <a:defRPr lang="zh-CN" altLang="en-US" sz="2400" b="0" i="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◦"/>
        <a:defRPr lang="zh-CN" altLang="en-US" sz="2000" b="0" i="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lang="zh-CN" altLang="en-US" sz="160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lang="zh-CN" altLang="en-US" sz="120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1680" y="431800"/>
            <a:ext cx="8620760" cy="701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4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" name="Group 2"/>
          <p:cNvGrpSpPr/>
          <p:nvPr userDrawn="1"/>
        </p:nvGrpSpPr>
        <p:grpSpPr>
          <a:xfrm>
            <a:off x="9489385" y="488041"/>
            <a:ext cx="2580450" cy="547850"/>
            <a:chOff x="9221415" y="158476"/>
            <a:chExt cx="2580450" cy="547850"/>
          </a:xfrm>
        </p:grpSpPr>
        <p:pic>
          <p:nvPicPr>
            <p:cNvPr id="7" name="Picture 3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8" name="Picture 4"/>
            <p:cNvPicPr>
              <a:picLocks noChangeAspect="1"/>
            </p:cNvPicPr>
            <p:nvPr/>
          </p:nvPicPr>
          <p:blipFill>
            <a:blip r:embed="rId7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Tx/>
        <a:buChar char="•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Tx/>
        <a:buChar char="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7.GIF"/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2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2.webp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p>
            <a:pPr algn="ctr"/>
            <a:r>
              <a:rPr lang="en-US" altLang="zh-CN"/>
              <a:t>AI System Fundamentals &amp; Heterogeneous Computing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Guojie </a:t>
            </a:r>
            <a:r>
              <a:rPr lang="en-US" altLang="zh-CN"/>
              <a:t>Luo</a:t>
            </a:r>
            <a:endParaRPr lang="en-US" altLang="zh-CN"/>
          </a:p>
          <a:p>
            <a:r>
              <a:rPr lang="en-US" altLang="zh-CN">
                <a:sym typeface="+mn-ea"/>
              </a:rPr>
              <a:t>2026</a:t>
            </a:r>
            <a:r>
              <a:rPr lang="x-none">
                <a:sym typeface="+mn-ea"/>
              </a:rPr>
              <a:t>/</a:t>
            </a:r>
            <a:r>
              <a:rPr lang="en-US" altLang="zh-CN">
                <a:sym typeface="+mn-ea"/>
              </a:rPr>
              <a:t>8</a:t>
            </a:r>
            <a:r>
              <a:rPr lang="x-none">
                <a:sym typeface="+mn-ea"/>
              </a:rPr>
              <a:t>/</a:t>
            </a:r>
            <a:r>
              <a:rPr lang="en-US" altLang="zh-CN">
                <a:sym typeface="+mn-ea"/>
              </a:rPr>
              <a:t>4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93545" y="1615440"/>
            <a:ext cx="100177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Hardware and Software Fundamentals of Intelligent Computing Systems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solidFill>
                  <a:srgbClr val="C00000"/>
                </a:solidFill>
                <a:cs typeface="Arial" panose="020B0604020202020204" pitchFamily="34" charset="0"/>
              </a:rPr>
              <a:t>AI Computing and Heterogeneous Hardware</a:t>
            </a:r>
            <a:endParaRPr lang="en-US" altLang="zh-CN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r>
              <a:rPr lang="en-US" altLang="zh-CN"/>
              <a:t>Heterogeneous Programming Fundamentals</a:t>
            </a:r>
            <a:endParaRPr lang="en-US" altLang="zh-CN"/>
          </a:p>
          <a:p>
            <a:r>
              <a:rPr lang="en-US" altLang="zh-CN"/>
              <a:t>Triton Programming Basics</a:t>
            </a:r>
            <a:endParaRPr lang="en-US" altLang="zh-CN"/>
          </a:p>
          <a:p>
            <a:r>
              <a:rPr lang="en-US" altLang="zh-CN"/>
              <a:t>Lab: AI Operators and GEMM Tuning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/>
              <a:t>Token-Hungry Generative AI Applications</a:t>
            </a:r>
            <a:endParaRPr lang="en-US" altLang="zh-CN" sz="3200"/>
          </a:p>
        </p:txBody>
      </p:sp>
      <p:sp>
        <p:nvSpPr>
          <p:cNvPr id="16" name="AutoShape 6"/>
          <p:cNvSpPr/>
          <p:nvPr>
            <p:ph sz="quarter" idx="13" hasCustomPrompt="1"/>
          </p:nvPr>
        </p:nvSpPr>
        <p:spPr>
          <a:xfrm>
            <a:off x="6115049" y="1317625"/>
            <a:ext cx="11277601" cy="4852988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mobile phone and AI PC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  <a:buNone/>
            </a:p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Video generation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image source:  lilianweng.github.io,  openrouter.ai,  36kr.com (with doubao phone),  github.com/baaivision/URSA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AutoShape 4"/>
          <p:cNvSpPr/>
          <p:nvPr/>
        </p:nvSpPr>
        <p:spPr>
          <a:xfrm>
            <a:off x="638808" y="131762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LLM-powered autonomous agents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 consumption trends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1680" y="1856740"/>
            <a:ext cx="3921125" cy="15557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1680" y="3789680"/>
            <a:ext cx="4680000" cy="238761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78855" y="3971925"/>
            <a:ext cx="5722620" cy="17881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15050" y="1856740"/>
            <a:ext cx="2698750" cy="15189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Hardware Demands of AI/ML</a:t>
            </a:r>
            <a:endParaRPr lang="zh-CN" altLang="en-US"/>
          </a:p>
        </p:txBody>
      </p:sp>
      <p:sp>
        <p:nvSpPr>
          <p:cNvPr id="6" name="AutoShape 5"/>
          <p:cNvSpPr/>
          <p:nvPr>
            <p:ph sz="quarter" idx="13" hasCustomPrompt="1"/>
          </p:nvPr>
        </p:nvSpPr>
        <p:spPr>
          <a:xfrm>
            <a:off x="523875" y="1323975"/>
            <a:ext cx="537654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20000"/>
          </a:bodyPr>
          <a:lstStyle>
            <a:lvl1pPr algn="l">
              <a:lnSpc>
                <a:spcPct val="117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Parameters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exponential growth.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Computational Demand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Outpacing the Moore's Law.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 between compute cost and U.S GDP byOpenAI.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Scale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new critical bottleneck.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image:	https://medium.com/geekculture/business-analysis-ai-computational-cost-67a136957c95</a:t>
            </a:r>
            <a:endParaRPr lang="en-US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  <a:p>
            <a:pPr indent="457200" algn="l">
              <a:lnSpc>
                <a:spcPct val="100000"/>
              </a:lnSpc>
            </a:pPr>
            <a:r>
              <a:rPr lang="en-US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	https://ourworldindata.org/grapher/artificial-intelligence-parameter-count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b="27273"/>
          <a:stretch>
            <a:fillRect/>
          </a:stretch>
        </p:blipFill>
        <p:spPr>
          <a:xfrm>
            <a:off x="6054090" y="3467100"/>
            <a:ext cx="5261610" cy="28067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37580" y="1066800"/>
            <a:ext cx="5261610" cy="25996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General-Purpose CPUs Failed AI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572125" cy="4853305"/>
          </a:xfrm>
        </p:spPr>
        <p:txBody>
          <a:bodyPr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CPU's Legacy: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decades, the Central Processing Unit (CPU) was the universal engine of computing, designed for sequential, general-purpose tasks.  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Two Crises: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8B0012"/>
              </a:buClr>
              <a:buChar char="•"/>
            </a:pPr>
            <a:r>
              <a:rPr lang="en-US" sz="2400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Von Neumann Bottleneck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8B0012"/>
              </a:buClr>
              <a:buChar char="•"/>
            </a:pPr>
            <a:r>
              <a:rPr lang="en-US" sz="2400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 of Performance Scaling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A. Gholami, Z. Yao, S. Kim, C. Hooper, M. W. Mahoney and K. Keutzer, "AI and Memory Wall," in IEEE Micro, vol. 44, no. 3, pp. 33-39, May-June 2024, doi: 10.1109/MM.2024.3373763.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78880" y="1209675"/>
            <a:ext cx="4661535" cy="24511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50050" y="3551555"/>
            <a:ext cx="3581400" cy="26257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General-Purpose CPUs Failed AI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715635" cy="4853305"/>
          </a:xfrm>
        </p:spPr>
        <p:txBody>
          <a:bodyPr>
            <a:normAutofit fontScale="90000" lnSpcReduction="10000"/>
          </a:bodyPr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Mismatch: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CPUs' sequential design is fundamentally inefficient for the massive parallelism inherent in AI workloads like matrix multiplication.  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A5A5A5"/>
              </a:buClr>
              <a:buChar char="•"/>
            </a:pPr>
            <a:r>
              <a:rPr lang="en-US" sz="2400" i="1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CPUs achieve only 5-10% utilization on neural network workloads, delivering approximately 100 GFLOPS10 while consuming hundreds of watts*.</a:t>
            </a:r>
            <a:endParaRPr lang="en-US" sz="2400" b="0" i="1" u="none" strike="noStrike">
              <a:solidFill>
                <a:srgbClr val="A5A5A5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Conclusion: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AI's exponential demands exposed the limits of the general-purpose model, forcing a shift to specialized hardware.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indent="0" algn="l">
              <a:lnSpc>
                <a:spcPct val="100000"/>
              </a:lnSpc>
            </a:pPr>
            <a:r>
              <a:rPr lang="en-US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A. Gholami et al., "AI and Memory Wall," in IEEE Micro, vol. 44, no. 3, pp. 33-39, May-June 2024.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74435" y="1740535"/>
            <a:ext cx="5432425" cy="36595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Rise of the GPU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969635" cy="4853305"/>
          </a:xfrm>
        </p:spPr>
        <p:txBody>
          <a:bodyPr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Unlikely Hero: The Graphics Processing Unit (GPU) was born in the late 1990s for video game graphics, featuring thousands of simple cores for parallel tasks.   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Architectural Resonance: The core math of graphics (matrix and vector operations) was identical to the math of deep learning, making GPUs a perfect, albeit accidental, fit.   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J. D. Owens, M. Houston, D. Luebke, S. Green, J. E. Stone and J. C. Phillips, "GPU Computing," in Proceedings of the IEEE, vol. 96, no. 5, pp. 879-899, May 2008, doi: 10.1109/JPROC.2008.917757.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29400" y="674370"/>
            <a:ext cx="4105275" cy="50476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Rise of the GPU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014720" cy="4853305"/>
          </a:xfrm>
        </p:spPr>
        <p:txBody>
          <a:bodyPr>
            <a:normAutofit lnSpcReduction="10000"/>
          </a:bodyPr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Software Catalyst: CUDA: NVIDIA's CUDA platform (2007) unlocked the GPU for general-purpose computing, making its power accessible to AI researchers without deep graphics expertise.   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Result: Training times for AI models plummeted from weeks to hours, establishing the GPU as the de facto standard for AI training.   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J. D. Owens, M. Houston, D. Luebke, S. Green, J. E. Stone and J. C. Phillips, "GPU Computing," in Proceedings of the IEEE, vol. 96, no. 5, pp. 879-899, May 2008, doi: 10.1109/JPROC.2008.917757.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053580" y="1132840"/>
            <a:ext cx="4160520" cy="25082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34505" y="3641090"/>
            <a:ext cx="4379595" cy="24142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Hardware Spectrum: Key Examples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50504" y="3763828"/>
            <a:ext cx="4847835" cy="27214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6"/>
          <p:cNvSpPr/>
          <p:nvPr/>
        </p:nvSpPr>
        <p:spPr>
          <a:xfrm>
            <a:off x="419250" y="1978814"/>
            <a:ext cx="2160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Cloud ML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Huawei Ascend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Cambricon MLU370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etc.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9354070" y="1978586"/>
            <a:ext cx="2448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Edge ML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Iluvatar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TY1200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8"/>
          <p:cNvSpPr/>
          <p:nvPr/>
        </p:nvSpPr>
        <p:spPr>
          <a:xfrm>
            <a:off x="568475" y="4868975"/>
            <a:ext cx="2017265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Mobile ML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Kirin 9030 Pro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9292377" y="4869029"/>
            <a:ext cx="2448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Tiny ML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Arduino Nano 33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BLE Sense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74410" y="1403350"/>
            <a:ext cx="3600000" cy="17510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15945" y="3996055"/>
            <a:ext cx="2160000" cy="2160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755900" y="1266190"/>
            <a:ext cx="2880000" cy="202581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Architectures Evolve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series (+ Tensor cores)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TPU series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Ascend series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series:  Intel (+ matrix extension);  AMD (+ NPU) 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compute-in-memory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wafer-scale chip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Supernode and Hypercomputer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Different Processors Optimize Different Trade-offs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23875" y="1581785"/>
          <a:ext cx="10748010" cy="3579495"/>
        </p:xfrm>
        <a:graphic>
          <a:graphicData uri="http://schemas.openxmlformats.org/drawingml/2006/table">
            <a:tbl>
              <a:tblPr/>
              <a:tblGrid>
                <a:gridCol w="3582670"/>
                <a:gridCol w="3582670"/>
                <a:gridCol w="3582670"/>
              </a:tblGrid>
              <a:tr h="429895">
                <a:tc>
                  <a:txBody>
                    <a:bodyPr/>
                    <a:p>
                      <a:r>
                        <a:rPr lang="en-US" altLang="zh-CN" sz="2000"/>
                        <a:t>CPU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GPU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NPU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99135">
                <a:tc>
                  <a:txBody>
                    <a:bodyPr/>
                    <a:p>
                      <a:r>
                        <a:rPr lang="en-US" altLang="zh-CN" sz="2000"/>
                        <a:t>Optimized for low latency and complex control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Optimized for highly parallel throughput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Optimized for common AI dataflows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0405">
                <a:tc>
                  <a:txBody>
                    <a:bodyPr/>
                    <a:p>
                      <a:r>
                        <a:rPr lang="en-US" altLang="zh-CN" sz="2000"/>
                        <a:t>A small number of powerful cores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Many parallel execution lanes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Matrix and vector engines with on-chip buffers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0405">
                <a:tc>
                  <a:txBody>
                    <a:bodyPr/>
                    <a:p>
                      <a:r>
                        <a:rPr lang="en-US" altLang="zh-CN" sz="2000"/>
                        <a:t>Large caches and branch prediction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SIMT execution and high-bandwidth memory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High efficiency for supported operators and data types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49655">
                <a:tc>
                  <a:txBody>
                    <a:bodyPr/>
                    <a:p>
                      <a:r>
                        <a:rPr lang="en-US" altLang="zh-CN" sz="2000"/>
                        <a:t>Best suited for orchestration, preprocessing and control-heavy workloads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Best suited for tensor operations and programmable kernels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Usually driven by compiler, graph and framework toolchains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92785" y="5285105"/>
            <a:ext cx="104889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Modern AI systems combine CPUs and accelerators rather than relying on a single processor type.</a:t>
            </a:r>
            <a:endParaRPr lang="en-US" altLang="zh-CN" sz="240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Iluvatar BI-V150: A General-Purpose GPU for AI Computing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478145" cy="4853305"/>
          </a:xfrm>
        </p:spPr>
        <p:txBody>
          <a:bodyPr/>
          <a:p>
            <a:pPr marL="0" indent="0">
              <a:buNone/>
            </a:pPr>
            <a:r>
              <a:rPr lang="en-US" altLang="zh-CN"/>
              <a:t>1.Product Positioning</a:t>
            </a:r>
            <a:endParaRPr lang="en-US" altLang="zh-CN"/>
          </a:p>
          <a:p>
            <a:r>
              <a:rPr lang="en-US" altLang="zh-CN"/>
              <a:t>General-Purpose GPU</a:t>
            </a:r>
            <a:endParaRPr lang="en-US" altLang="zh-CN"/>
          </a:p>
          <a:p>
            <a:pPr lvl="1"/>
            <a:r>
              <a:rPr lang="en-US" altLang="zh-CN"/>
              <a:t>Developed by Iluvatar CoreX for AI training, inference and general-purpose computing</a:t>
            </a:r>
            <a:endParaRPr lang="en-US" altLang="zh-CN"/>
          </a:p>
          <a:p>
            <a:pPr lvl="1"/>
            <a:r>
              <a:rPr lang="en-US" altLang="zh-CN"/>
              <a:t>Available as an air-cooled PCIe accelerator card</a:t>
            </a:r>
            <a:endParaRPr lang="en-US" altLang="zh-CN"/>
          </a:p>
          <a:p>
            <a:pPr lvl="1"/>
            <a:r>
              <a:rPr lang="en-US" altLang="zh-CN"/>
              <a:t>Designed for deployment in multi-card and multi-node computing systems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6493510" y="1642110"/>
            <a:ext cx="5478780" cy="39770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Iluvatar BI-V150: A General-Purpose GPU for AI Computing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2.Hardware </a:t>
            </a:r>
            <a:r>
              <a:rPr lang="en-US" altLang="zh-CN"/>
              <a:t>Architecture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6493510" y="1642110"/>
            <a:ext cx="5478780" cy="3977005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741680" y="2446655"/>
          <a:ext cx="5161280" cy="2693670"/>
        </p:xfrm>
        <a:graphic>
          <a:graphicData uri="http://schemas.openxmlformats.org/drawingml/2006/table">
            <a:tbl>
              <a:tblPr/>
              <a:tblGrid>
                <a:gridCol w="2580640"/>
                <a:gridCol w="2580640"/>
              </a:tblGrid>
              <a:tr h="448945">
                <a:tc>
                  <a:txBody>
                    <a:bodyPr/>
                    <a:p>
                      <a:r>
                        <a:rPr lang="en-US" altLang="zh-CN" sz="2000"/>
                        <a:t>Specification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BI-V150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r>
                        <a:rPr lang="en-US" altLang="zh-CN" sz="2000"/>
                        <a:t>GPU architecture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ivcore11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r>
                        <a:rPr lang="en-US" altLang="zh-CN" sz="2000"/>
                        <a:t>Process technology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7 nm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r>
                        <a:rPr lang="en-US" altLang="zh-CN" sz="2000"/>
                        <a:t>Device memory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64 GB HBM2e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r>
                        <a:rPr lang="en-US" altLang="zh-CN" sz="2000"/>
                        <a:t>Host interface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PCIe 4.0 ×16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r>
                        <a:rPr lang="en-US" altLang="zh-CN" sz="2000"/>
                        <a:t>Peak board power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/>
                        <a:t>350 W</a:t>
                      </a:r>
                      <a:endParaRPr lang="en-US" altLang="zh-CN"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Iluvatar BI-V150: A General-Purpose GPU for AI Computing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980430" cy="485330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/>
              <a:t>3. Execution and Programming Model</a:t>
            </a:r>
            <a:endParaRPr lang="en-US" altLang="zh-CN"/>
          </a:p>
          <a:p>
            <a:r>
              <a:rPr lang="en-US" altLang="zh-CN"/>
              <a:t>CUDA-Compatible, but Architecturally Different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PyTorch / Triton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↓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CoreX-adapted framework and compiler packages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↓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IXUCA runtime and vendor libraries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↓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Driver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↓</a:t>
            </a:r>
            <a:endParaRPr lang="en-US" altLang="zh-CN"/>
          </a:p>
          <a:p>
            <a:pPr marL="342900" lvl="1" indent="0" algn="ctr">
              <a:buNone/>
            </a:pPr>
            <a:r>
              <a:rPr lang="en-US" altLang="zh-CN"/>
              <a:t>BI-V150</a:t>
            </a:r>
            <a:endParaRPr lang="en-US" altLang="zh-CN"/>
          </a:p>
          <a:p>
            <a:pPr lvl="0"/>
            <a:r>
              <a:rPr lang="en-US" altLang="zh-CN"/>
              <a:t>Grid -&gt; Thread Block -&gt; Warp (</a:t>
            </a:r>
            <a:r>
              <a:rPr lang="en-US" altLang="zh-CN" b="1">
                <a:solidFill>
                  <a:schemeClr val="tx1"/>
                </a:solidFill>
              </a:rPr>
              <a:t>64 threads</a:t>
            </a:r>
            <a:r>
              <a:rPr lang="en-US" altLang="zh-CN"/>
              <a:t>) -&gt; Thread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6493510" y="1642110"/>
            <a:ext cx="5478780" cy="39770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AI Computing and Heterogeneous Hardware</a:t>
            </a:r>
            <a:endParaRPr lang="en-US" altLang="zh-CN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altLang="zh-CN" b="1">
                <a:solidFill>
                  <a:srgbClr val="C00000"/>
                </a:solidFill>
                <a:cs typeface="Arial" panose="020B0604020202020204" pitchFamily="34" charset="0"/>
              </a:rPr>
              <a:t>Heterogeneous Programming Fundamentals</a:t>
            </a:r>
            <a:endParaRPr lang="en-US" altLang="zh-CN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r>
              <a:rPr lang="en-US" altLang="zh-CN"/>
              <a:t>Triton Programming Basics</a:t>
            </a:r>
            <a:endParaRPr lang="en-US" altLang="zh-CN"/>
          </a:p>
          <a:p>
            <a:r>
              <a:rPr lang="en-US" altLang="zh-CN"/>
              <a:t>Lab: AI Operators and GEMM Tuning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Questions on Heterogeneous Programming</a:t>
            </a:r>
            <a:endParaRPr lang="en-US" altLang="en-US" sz="32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compile the “kernel” code?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do CPU and GPU interact?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express parallelism?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express synchronization?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manage and access data?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is kernel code executed on GPU?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Hetergeneous Integration of CPU and XPUs</a:t>
            </a:r>
            <a:endParaRPr lang="en-US" altLang="en-US" sz="32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6"/>
          <p:cNvSpPr/>
          <p:nvPr>
            <p:ph sz="quarter" idx="13" hasCustomPrompt="1"/>
          </p:nvPr>
        </p:nvSpPr>
        <p:spPr>
          <a:xfrm>
            <a:off x="6115685" y="1323975"/>
            <a:ext cx="568579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0000" lnSpcReduction="2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Intra-chip integration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92000"/>
              </a:lnSpc>
              <a:spcBef>
                <a:spcPts val="750"/>
              </a:spcBef>
            </a:pP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protocols: one-way or two-way coherency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AutoShape 4"/>
          <p:cNvSpPr/>
          <p:nvPr/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 fontScale="90000" lnSpcReduction="20000"/>
          </a:bodyPr>
          <a:lstStyle>
            <a:lvl1pPr algn="l">
              <a:lnSpc>
                <a:spcPct val="83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Inter-chip (board-level) integration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342900" lvl="1" indent="0" algn="l">
              <a:lnSpc>
                <a:spcPct val="83000"/>
              </a:lnSpc>
              <a:spcBef>
                <a:spcPts val="750"/>
              </a:spcBef>
            </a:pPr>
          </a:p>
          <a:p>
            <a:pPr marL="596900" lvl="1" indent="-2540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protocols: PCIe, NVLink, etc.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54965" y="1708150"/>
            <a:ext cx="5760085" cy="3441700"/>
            <a:chOff x="354965" y="1708150"/>
            <a:chExt cx="5760085" cy="344170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354965" y="1708150"/>
              <a:ext cx="5760085" cy="3441700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10" name="AutoShape 9"/>
            <p:cNvSpPr/>
            <p:nvPr/>
          </p:nvSpPr>
          <p:spPr>
            <a:xfrm>
              <a:off x="1508125" y="2423795"/>
              <a:ext cx="575945" cy="539750"/>
            </a:xfrm>
            <a:prstGeom prst="rect">
              <a:avLst/>
            </a:prstGeom>
            <a:noFill/>
            <a:ln w="38100" cap="flat">
              <a:solidFill>
                <a:srgbClr val="7030A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1" name="AutoShape 10"/>
            <p:cNvSpPr/>
            <p:nvPr/>
          </p:nvSpPr>
          <p:spPr>
            <a:xfrm>
              <a:off x="523875" y="3928110"/>
              <a:ext cx="575945" cy="539750"/>
            </a:xfrm>
            <a:prstGeom prst="rect">
              <a:avLst/>
            </a:prstGeom>
            <a:noFill/>
            <a:ln w="38100" cap="flat">
              <a:solidFill>
                <a:srgbClr val="7030A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cxnSp>
          <p:nvCxnSpPr>
            <p:cNvPr id="12" name="Connector 11"/>
            <p:cNvCxnSpPr/>
            <p:nvPr/>
          </p:nvCxnSpPr>
          <p:spPr>
            <a:xfrm rot="10800000" flipV="1">
              <a:off x="812165" y="2963545"/>
              <a:ext cx="984250" cy="964565"/>
            </a:xfrm>
            <a:prstGeom prst="line">
              <a:avLst/>
            </a:prstGeom>
            <a:noFill/>
            <a:ln w="38100" cap="flat">
              <a:solidFill>
                <a:srgbClr val="7030A0">
                  <a:alpha val="100000"/>
                </a:srgbClr>
              </a:solidFill>
              <a:prstDash val="sysDot"/>
              <a:headEnd type="none" w="med" len="med"/>
              <a:tailEnd type="none" w="med" len="med"/>
            </a:ln>
          </p:spPr>
        </p:cxnSp>
        <p:sp>
          <p:nvSpPr>
            <p:cNvPr id="13" name="AutoShape 12"/>
            <p:cNvSpPr/>
            <p:nvPr/>
          </p:nvSpPr>
          <p:spPr>
            <a:xfrm>
              <a:off x="1245235" y="1840230"/>
              <a:ext cx="864235" cy="5219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7030A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CPU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400" b="1" i="0" u="none" strike="noStrike">
                  <a:solidFill>
                    <a:srgbClr val="7030A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“host”</a:t>
              </a:r>
              <a:endParaRPr lang="en-US" sz="1400" b="1" i="0" u="none" strike="noStrike">
                <a:solidFill>
                  <a:srgbClr val="703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" name="AutoShape 13"/>
            <p:cNvSpPr/>
            <p:nvPr/>
          </p:nvSpPr>
          <p:spPr>
            <a:xfrm>
              <a:off x="381000" y="4485005"/>
              <a:ext cx="864235" cy="5219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7030A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XPU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400" b="1" i="0" u="none" strike="noStrike">
                  <a:solidFill>
                    <a:srgbClr val="7030A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“device”</a:t>
              </a:r>
              <a:endParaRPr lang="en-US" sz="1400" b="1" i="0" u="none" strike="noStrike">
                <a:solidFill>
                  <a:srgbClr val="703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210300" y="1840230"/>
            <a:ext cx="5760085" cy="3224530"/>
            <a:chOff x="9780" y="2898"/>
            <a:chExt cx="9071" cy="5078"/>
          </a:xfrm>
          <a:solidFill>
            <a:schemeClr val="bg1"/>
          </a:solidFill>
        </p:grpSpPr>
        <p:grpSp>
          <p:nvGrpSpPr>
            <p:cNvPr id="23" name="组合 22"/>
            <p:cNvGrpSpPr/>
            <p:nvPr/>
          </p:nvGrpSpPr>
          <p:grpSpPr>
            <a:xfrm>
              <a:off x="9780" y="3544"/>
              <a:ext cx="9071" cy="4432"/>
              <a:chOff x="9780" y="3544"/>
              <a:chExt cx="9071" cy="4432"/>
            </a:xfrm>
            <a:grpFill/>
          </p:grpSpPr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80" y="3544"/>
                <a:ext cx="9071" cy="4432"/>
              </a:xfrm>
              <a:prstGeom prst="rect">
                <a:avLst/>
              </a:prstGeom>
              <a:grpFill/>
            </p:spPr>
          </p:pic>
          <p:sp>
            <p:nvSpPr>
              <p:cNvPr id="25" name="矩形 24"/>
              <p:cNvSpPr/>
              <p:nvPr/>
            </p:nvSpPr>
            <p:spPr>
              <a:xfrm>
                <a:off x="11053" y="4207"/>
                <a:ext cx="1417" cy="1417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12655" y="3863"/>
                <a:ext cx="1871" cy="1984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7" name="肘形连接符 26"/>
              <p:cNvCxnSpPr>
                <a:stCxn id="25" idx="2"/>
                <a:endCxn id="26" idx="2"/>
              </p:cNvCxnSpPr>
              <p:nvPr/>
            </p:nvCxnSpPr>
            <p:spPr>
              <a:xfrm rot="5400000" flipV="1">
                <a:off x="12565" y="4820"/>
                <a:ext cx="223" cy="1829"/>
              </a:xfrm>
              <a:prstGeom prst="bentConnector3">
                <a:avLst>
                  <a:gd name="adj1" fmla="val 597309"/>
                </a:avLst>
              </a:prstGeom>
              <a:grpFill/>
              <a:ln w="38100">
                <a:solidFill>
                  <a:srgbClr val="7030A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8" name="文本框 27"/>
            <p:cNvSpPr txBox="1"/>
            <p:nvPr/>
          </p:nvSpPr>
          <p:spPr>
            <a:xfrm>
              <a:off x="11053" y="3288"/>
              <a:ext cx="1361" cy="82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pPr algn="ctr"/>
              <a:r>
                <a:rPr lang="x-none" altLang="zh-CN" sz="1400" b="1">
                  <a:solidFill>
                    <a:srgbClr val="7030A0"/>
                  </a:solidFill>
                </a:rPr>
                <a:t>CPU</a:t>
              </a:r>
              <a:endParaRPr lang="x-none" altLang="zh-CN" sz="1400" b="1">
                <a:solidFill>
                  <a:srgbClr val="7030A0"/>
                </a:solidFill>
              </a:endParaRPr>
            </a:p>
            <a:p>
              <a:pPr algn="ctr"/>
              <a:r>
                <a:rPr lang="x-none" altLang="zh-CN" sz="1400" b="1">
                  <a:solidFill>
                    <a:srgbClr val="7030A0"/>
                  </a:solidFill>
                </a:rPr>
                <a:t>“host”</a:t>
              </a:r>
              <a:endParaRPr lang="x-none" altLang="zh-CN" sz="1400" b="1">
                <a:solidFill>
                  <a:srgbClr val="7030A0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2910" y="2898"/>
              <a:ext cx="1361" cy="82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pPr algn="ctr"/>
              <a:r>
                <a:rPr lang="x-none" altLang="zh-CN" sz="1400" b="1">
                  <a:solidFill>
                    <a:srgbClr val="7030A0"/>
                  </a:solidFill>
                </a:rPr>
                <a:t>XPU</a:t>
              </a:r>
              <a:endParaRPr lang="x-none" altLang="zh-CN" sz="1400" b="1">
                <a:solidFill>
                  <a:srgbClr val="7030A0"/>
                </a:solidFill>
              </a:endParaRPr>
            </a:p>
            <a:p>
              <a:pPr algn="ctr"/>
              <a:r>
                <a:rPr lang="x-none" altLang="zh-CN" sz="1400" b="1">
                  <a:solidFill>
                    <a:srgbClr val="7030A0"/>
                  </a:solidFill>
                </a:rPr>
                <a:t>“device”</a:t>
              </a:r>
              <a:endParaRPr lang="x-none" altLang="zh-CN" sz="1400" b="1">
                <a:solidFill>
                  <a:srgbClr val="7030A0"/>
                </a:solidFill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PCIe Role in AI: GPU-Host Connection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607300" cy="4853305"/>
          </a:xfrm>
        </p:spPr>
        <p:txBody>
          <a:bodyPr>
            <a:normAutofit lnSpcReduction="20000"/>
          </a:bodyPr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connect to most Host with PCIe</a:t>
            </a:r>
            <a:endParaRPr lang="en-US" sz="2400" b="0" i="1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Host-&gt;GPU: Commands (CUDA  kernels, OpenCL bin)</a:t>
            </a:r>
            <a:endParaRPr lang="en-US" sz="2400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0541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2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 data, Model weights...</a:t>
            </a:r>
            <a:endParaRPr lang="en-US" sz="192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GPU-&gt;Host: GPU status (kernel completion, CUDA events)</a:t>
            </a:r>
            <a:endParaRPr lang="en-US" sz="2400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0541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92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Computation results (gradients, inference output)...</a:t>
            </a:r>
            <a:endParaRPr lang="en-US" sz="192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Traditional Data Transfer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1st Copy: NVMe SSD -&gt; host Memory [with DMA]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2nd Copy: host Memory -&gt; GPU Memory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GPUDirect Storage (from 2020.06)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Only 1 Copy: NVMe SSD -&gt; GPU Memory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82355" y="880745"/>
            <a:ext cx="2948940" cy="19748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8"/>
          <p:cNvSpPr/>
          <p:nvPr/>
        </p:nvSpPr>
        <p:spPr>
          <a:xfrm>
            <a:off x="8512175" y="2912745"/>
            <a:ext cx="334645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GPUs to mainboard with PCIe</a:t>
            </a:r>
            <a:endParaRPr lang="en-US" sz="1100"/>
          </a:p>
        </p:txBody>
      </p:sp>
      <p:pic>
        <p:nvPicPr>
          <p:cNvPr id="10" name="Picture 2"/>
          <p:cNvPicPr>
            <a:picLocks noChangeAspect="1"/>
          </p:cNvPicPr>
          <p:nvPr/>
        </p:nvPicPr>
        <p:blipFill>
          <a:blip r:embed="rId2"/>
          <a:srcRect l="9531" t="17681" r="12704" b="9334"/>
          <a:stretch>
            <a:fillRect/>
          </a:stretch>
        </p:blipFill>
        <p:spPr>
          <a:xfrm>
            <a:off x="8131175" y="3964940"/>
            <a:ext cx="4060825" cy="20135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32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Hosts Submit Work; Streams Order Kernels</a:t>
            </a:r>
            <a:endParaRPr lang="zh-CN" altLang="en-US" sz="32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8" name="AutoShape 6"/>
          <p:cNvSpPr/>
          <p:nvPr>
            <p:ph sz="quarter" idx="13" hasCustomPrompt="1"/>
          </p:nvPr>
        </p:nvSpPr>
        <p:spPr>
          <a:xfrm>
            <a:off x="523875" y="1323975"/>
            <a:ext cx="509143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>
                <a:solidFill>
                  <a:srgbClr val="404040"/>
                </a:solidFill>
                <a:ea typeface="Calibri" panose="020F0502020204030204"/>
                <a:cs typeface="Calibri" panose="020F0502020204030204"/>
                <a:sym typeface="+mn-ea"/>
              </a:rPr>
              <a:t>KERNEL → KERNEL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>
                <a:solidFill>
                  <a:srgbClr val="404040"/>
                </a:solidFill>
                <a:ea typeface="Calibri" panose="020F0502020204030204"/>
                <a:cs typeface="Calibri" panose="020F0502020204030204"/>
                <a:sym typeface="+mn-ea"/>
              </a:rPr>
              <a:t>Kernel A writes an intermediate tensor</a:t>
            </a:r>
            <a:endParaRPr b="0" i="0" u="non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>
                <a:solidFill>
                  <a:srgbClr val="404040"/>
                </a:solidFill>
                <a:ea typeface="Calibri" panose="020F0502020204030204"/>
                <a:cs typeface="Calibri" panose="020F0502020204030204"/>
                <a:sym typeface="+mn-ea"/>
              </a:rPr>
              <a:t>Same stream: ordered dependency</a:t>
            </a:r>
            <a:endParaRPr b="0" i="0" u="non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>
                <a:solidFill>
                  <a:srgbClr val="404040"/>
                </a:solidFill>
                <a:ea typeface="Calibri" panose="020F0502020204030204"/>
                <a:cs typeface="Calibri" panose="020F0502020204030204"/>
                <a:sym typeface="+mn-ea"/>
              </a:rPr>
              <a:t>Kernel B reads the tensor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>
                <a:solidFill>
                  <a:srgbClr val="404040"/>
                </a:solidFill>
                <a:ea typeface="Calibri" panose="020F0502020204030204"/>
                <a:cs typeface="Calibri" panose="020F0502020204030204"/>
                <a:sym typeface="+mn-ea"/>
              </a:rPr>
              <a:t>Events express dependencies across streams.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AutoShape 4"/>
          <p:cNvSpPr/>
          <p:nvPr/>
        </p:nvSpPr>
        <p:spPr>
          <a:xfrm>
            <a:off x="5615303" y="1405891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HOST -&gt; KERNEL</a:t>
            </a:r>
            <a:endParaRPr lang="en-US" altLang="zh-CN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Allocate device tensors</a:t>
            </a:r>
            <a:endParaRPr lang="en-US" altLang="zh-CN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Enqueue copies and kernel launches</a:t>
            </a:r>
            <a:endParaRPr lang="en-US" altLang="zh-CN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Continue without waiting for completion</a:t>
            </a:r>
            <a:endParaRPr lang="en-US" altLang="zh-CN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Synchronize before reading results</a:t>
            </a:r>
            <a:endParaRPr lang="en-US" altLang="zh-CN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launch is usually asynchronous.</a:t>
            </a:r>
            <a:endParaRPr lang="en-US" altLang="zh-CN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endParaRPr lang="en-US" altLang="zh-CN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AutoShape 10"/>
          <p:cNvSpPr/>
          <p:nvPr/>
        </p:nvSpPr>
        <p:spPr>
          <a:xfrm>
            <a:off x="523875" y="4531995"/>
            <a:ext cx="5091430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>
                <a:solidFill>
                  <a:srgbClr val="7C7C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CUDA</a:t>
            </a:r>
            <a:endParaRPr b="0" i="0" u="none">
              <a:solidFill>
                <a:srgbClr val="7C7C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>
                <a:solidFill>
                  <a:srgbClr val="7C7C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Streams · Events · Device / Unified Memory</a:t>
            </a:r>
            <a:endParaRPr lang="en-US" sz="1800" b="0" i="0" u="none" strike="noStrike">
              <a:solidFill>
                <a:srgbClr val="7C7C7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52490" y="453199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00000"/>
              </a:lnSpc>
              <a:buNone/>
            </a:pPr>
            <a:r>
              <a:rPr>
                <a:solidFill>
                  <a:srgbClr val="7C7C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CANN</a:t>
            </a:r>
            <a:endParaRPr sz="1800" b="0" i="0" u="none">
              <a:solidFill>
                <a:srgbClr val="7C7C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>
                <a:solidFill>
                  <a:srgbClr val="7C7C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Device · Context · Stream · aclrtMemcpyAsync</a:t>
            </a:r>
            <a:endParaRPr lang="zh-CN" altLang="en-US">
              <a:solidFill>
                <a:srgbClr val="7C7C7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Manage and Access Data?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memory model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Distinct host and device address spaces </a:t>
            </a:r>
            <a:r>
              <a:rPr lang="en-US" sz="2400">
                <a:solidFill>
                  <a:srgbClr val="F4B18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(when not using unified memory)</a:t>
            </a:r>
            <a:endParaRPr lang="en-US" sz="2400" b="0" i="0" u="none" strike="noStrike">
              <a:solidFill>
                <a:srgbClr val="F4B18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allocation in GPU through </a:t>
            </a:r>
            <a:r>
              <a:rPr lang="en-US" sz="2400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cudaMalloc()</a:t>
            </a:r>
            <a:endParaRPr lang="en-US" sz="24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Move data between address spaces through </a:t>
            </a:r>
            <a:r>
              <a:rPr lang="en-US" sz="2400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cudaMemcpy()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29665" y="3429000"/>
            <a:ext cx="4680000" cy="244966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49010" y="3657600"/>
            <a:ext cx="4680000" cy="190136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Express Parallelism?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429375" cy="4853305"/>
          </a:xfrm>
        </p:spPr>
        <p:txBody>
          <a:bodyPr>
            <a:normAutofit/>
          </a:bodyPr>
          <a:p>
            <a:r>
              <a:rPr lang="en-US" altLang="zh-CN"/>
              <a:t>1D </a:t>
            </a:r>
            <a:r>
              <a:rPr lang="en-US" altLang="zh-CN"/>
              <a:t>Grid</a:t>
            </a:r>
            <a:endParaRPr lang="en-US" altLang="zh-CN"/>
          </a:p>
          <a:p>
            <a:r>
              <a:rPr lang="en-US" altLang="zh-CN"/>
              <a:t>Threads in grid have access to:</a:t>
            </a:r>
            <a:endParaRPr lang="en-US" altLang="zh-CN"/>
          </a:p>
          <a:p>
            <a:pPr lvl="1"/>
            <a:r>
              <a:rPr lang="en-US" altLang="zh-CN"/>
              <a:t>Their respective block:  blockIdx.x</a:t>
            </a:r>
            <a:endParaRPr lang="en-US" altLang="zh-CN"/>
          </a:p>
          <a:p>
            <a:pPr lvl="1"/>
            <a:r>
              <a:rPr lang="en-US" altLang="zh-CN"/>
              <a:t>Their respective thread ID in a block:  threadIdx.x</a:t>
            </a:r>
            <a:endParaRPr lang="en-US" altLang="zh-CN"/>
          </a:p>
          <a:p>
            <a:pPr lvl="1"/>
            <a:r>
              <a:rPr lang="en-US" altLang="zh-CN"/>
              <a:t>Their block's dimension:  blockDim.x</a:t>
            </a:r>
            <a:endParaRPr lang="en-US" altLang="zh-CN"/>
          </a:p>
          <a:p>
            <a:pPr lvl="1"/>
            <a:r>
              <a:rPr lang="en-US" altLang="zh-CN"/>
              <a:t>The number of blocks in the grid:  gridDim.x</a:t>
            </a:r>
            <a:endParaRPr lang="en-US" altLang="zh-CN"/>
          </a:p>
          <a:p>
            <a:pPr lvl="0"/>
            <a:r>
              <a:rPr lang="en-US" altLang="zh-CN" sz="2400"/>
              <a:t>2D Grid</a:t>
            </a:r>
            <a:r>
              <a:rPr lang="en-US" altLang="zh-CN"/>
              <a:t> </a:t>
            </a:r>
            <a:endParaRPr lang="en-US" altLang="zh-CN"/>
          </a:p>
          <a:p>
            <a:pPr lvl="0"/>
            <a:r>
              <a:rPr lang="en-US" altLang="zh-CN"/>
              <a:t>Threads in grid have access to:</a:t>
            </a:r>
            <a:endParaRPr lang="en-US" altLang="zh-CN"/>
          </a:p>
          <a:p>
            <a:pPr lvl="1"/>
            <a:r>
              <a:rPr lang="en-US" altLang="zh-CN"/>
              <a:t>Their respective block IDs:  blockIdx.x, blockIdx.y</a:t>
            </a:r>
            <a:endParaRPr lang="en-US" altLang="zh-CN"/>
          </a:p>
          <a:p>
            <a:pPr lvl="1"/>
            <a:r>
              <a:rPr lang="en-US" altLang="zh-CN"/>
              <a:t>Their respective thread IDs in a block: threadIdx.x, threadIdx.y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63410" y="1607820"/>
            <a:ext cx="4838065" cy="11887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09205" y="3168015"/>
            <a:ext cx="3545840" cy="34842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Express the Work of a Thread</a:t>
            </a:r>
            <a:endParaRPr lang="en-US" altLang="en-US" sz="32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238750" cy="4853305"/>
          </a:xfrm>
        </p:spPr>
        <p:txBody>
          <a:bodyPr>
            <a:normAutofit fontScale="70000"/>
          </a:bodyPr>
          <a:p>
            <a:r>
              <a:rPr lang="en-US" altLang="zh-CN"/>
              <a:t>A device function that will be  launched from the host program is called a kernel &amp; is declared with the </a:t>
            </a:r>
            <a:r>
              <a:rPr lang="en-US" altLang="zh-CN" b="1">
                <a:solidFill>
                  <a:srgbClr val="C00000"/>
                </a:solidFill>
              </a:rPr>
              <a:t>__global__</a:t>
            </a:r>
            <a:r>
              <a:rPr lang="en-US" altLang="zh-CN"/>
              <a:t> attribute</a:t>
            </a:r>
            <a:endParaRPr lang="en-US" altLang="zh-CN"/>
          </a:p>
          <a:p>
            <a:r>
              <a:rPr lang="en-US" altLang="zh-CN"/>
              <a:t>Kernels should be declared void</a:t>
            </a:r>
            <a:endParaRPr lang="en-US" altLang="zh-CN"/>
          </a:p>
          <a:p>
            <a:r>
              <a:rPr lang="en-US" altLang="zh-CN"/>
              <a:t>All pointers passed to kernels  must point to memory on the device</a:t>
            </a:r>
            <a:endParaRPr lang="en-US" altLang="zh-CN"/>
          </a:p>
          <a:p>
            <a:r>
              <a:rPr lang="en-US" altLang="zh-CN"/>
              <a:t>Threads are grouped into warps and scheduled concurrently when resources permit.</a:t>
            </a:r>
            <a:endParaRPr lang="en-US" altLang="zh-CN"/>
          </a:p>
          <a:p>
            <a:r>
              <a:rPr lang="en-US" altLang="zh-CN"/>
              <a:t>Each thread uses its unique thread and block IDs to compute a global ID</a:t>
            </a:r>
            <a:endParaRPr lang="en-US" altLang="zh-CN"/>
          </a:p>
          <a:p>
            <a:r>
              <a:rPr lang="en-US" altLang="zh-CN"/>
              <a:t>There could be more than N threads in the grid</a:t>
            </a:r>
            <a:endParaRPr lang="en-US" altLang="zh-CN"/>
          </a:p>
          <a:p>
            <a:r>
              <a:rPr lang="en-US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Kernels are launched from the host:</a:t>
            </a:r>
            <a:endParaRPr lang="en-US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AutoShape 4"/>
          <p:cNvSpPr/>
          <p:nvPr/>
        </p:nvSpPr>
        <p:spPr>
          <a:xfrm>
            <a:off x="6367778" y="131762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pitchFamily="34" charset="-122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1500"/>
              </a:spcBef>
            </a:p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simple embarrassingly parallel loop:</a:t>
            </a:r>
            <a:endParaRPr lang="en-US" sz="17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 (int i= 0; i&lt;N; i++)</a:t>
            </a:r>
            <a:endParaRPr lang="en-US" sz="14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h_a[i] *= 2.0;</a:t>
            </a:r>
            <a:endParaRPr lang="en-US" sz="14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Can be translated into a GPU kernel:</a:t>
            </a:r>
            <a:endParaRPr lang="en-US" sz="17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400" b="1" i="0" u="none" strike="noStrike">
                <a:solidFill>
                  <a:srgbClr val="C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__global__</a:t>
            </a:r>
            <a:r>
              <a:rPr lang="en-US" sz="1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void myKernel(int N, double *d_a) {</a:t>
            </a:r>
            <a:endParaRPr lang="en-US" sz="14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int i = threadIdx.x + block</a:t>
            </a:r>
            <a:r>
              <a:rPr lang="en-US" sz="1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Idx.x * blockDim.x; </a:t>
            </a:r>
            <a:endParaRPr lang="en-US" sz="14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if (i&lt;N) d_a[i] *= 2.0;</a:t>
            </a:r>
            <a:endParaRPr lang="en-US" sz="14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40404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lang="en-US" sz="1400" b="0" i="0" u="none" strike="noStrike">
              <a:solidFill>
                <a:srgbClr val="404040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GPU Memory Hierarchy: Capacity, Latency, and Data Reuse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562090" cy="4853305"/>
          </a:xfrm>
        </p:spPr>
        <p:txBody>
          <a:bodyPr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/>
              <a:t>Why Does the Hierarchy Matter?</a:t>
            </a:r>
            <a:endParaRPr lang="en-US" altLang="zh-CN"/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/>
              <a:t>Global memory provides capacity, but unnecessary traffic is expensive.</a:t>
            </a:r>
            <a:endParaRPr lang="en-US" altLang="zh-CN"/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/>
              <a:t>Registers hold thread-local intermediate values.</a:t>
            </a:r>
            <a:endParaRPr lang="en-US" altLang="zh-CN"/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/>
              <a:t>Shared memory enables threads in a block to reuse data.</a:t>
            </a:r>
            <a:endParaRPr lang="en-US" altLang="zh-CN"/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/>
              <a:t>Coalesced accesses improve effective global-memory bandwidth.</a:t>
            </a:r>
            <a:endParaRPr lang="en-US" altLang="zh-CN"/>
          </a:p>
          <a:p>
            <a:pPr marL="762000" lvl="1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altLang="zh-CN"/>
              <a:t>Tiling loads data once and reuses it for multiple computations.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Lab connection: GEMM tiles reuse blocks of A and B across many multiply-accumulate operations. Larger tiles may increase reuse, but also consume more registers and on-chip resources.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已生成图像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2815" y="1323975"/>
            <a:ext cx="4029075" cy="5035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Express a Kernel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10" name="表格 5"/>
          <p:cNvGraphicFramePr/>
          <p:nvPr/>
        </p:nvGraphicFramePr>
        <p:xfrm>
          <a:off x="523875" y="1581785"/>
          <a:ext cx="10748010" cy="3579495"/>
        </p:xfrm>
        <a:graphic>
          <a:graphicData uri="http://schemas.openxmlformats.org/drawingml/2006/table">
            <a:tbl>
              <a:tblPr/>
              <a:tblGrid>
                <a:gridCol w="3582670"/>
                <a:gridCol w="3582670"/>
                <a:gridCol w="3582670"/>
              </a:tblGrid>
              <a:tr h="429895">
                <a:tc>
                  <a:txBody>
                    <a:bodyPr/>
                    <a:lstStyle/>
                    <a:p>
                      <a:r>
                        <a:rPr sz="2000"/>
                        <a:t>CUDA SIMT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CUDA Tile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Ascend C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2000"/>
                        <a:t>Unit: individual thread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Unit: compile-time tile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Unit: operator tile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0405">
                <a:tc>
                  <a:txBody>
                    <a:bodyPr/>
                    <a:lstStyle/>
                    <a:p>
                      <a:r>
                        <a:rPr sz="2000"/>
                        <a:t>Grid, block, threadIdx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Grid of tile blocks; compiler maps threads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Host tiling + AI Core blocks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0405">
                <a:tc>
                  <a:txBody>
                    <a:bodyPr/>
                    <a:lstStyle/>
                    <a:p>
                      <a:r>
                        <a:rPr sz="2000"/>
                        <a:t>Explicit indexing, shared memory and synchronization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Load, compute and store whole tiles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CopyIn → Compute → CopyOut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49655">
                <a:tc>
                  <a:txBody>
                    <a:bodyPr/>
                    <a:lstStyle/>
                    <a:p>
                      <a:r>
                        <a:rPr sz="2000"/>
                        <a:t>NVIDIA CUDA target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cuTile Python / CUDA Tile C++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Ascend AI Core / CANN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>
            <a:spLocks noGrp="1"/>
          </p:cNvSpPr>
          <p:nvPr/>
        </p:nvSpPr>
        <p:spPr>
          <a:xfrm>
            <a:off x="692785" y="5285105"/>
            <a:ext cx="1048893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Triton is also tile-oriented, but it uses its own DSL, compiler, and target backend.</a:t>
            </a:r>
            <a:endParaRPr sz="240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AI Computing and Heterogeneous Hardware</a:t>
            </a:r>
            <a:endParaRPr lang="en-US" altLang="zh-CN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Heterogeneous Programming Fundamentals</a:t>
            </a:r>
            <a:endParaRPr lang="en-US" altLang="zh-CN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altLang="zh-CN" b="1">
                <a:solidFill>
                  <a:srgbClr val="C00000"/>
                </a:solidFill>
                <a:cs typeface="Arial" panose="020B0604020202020204" pitchFamily="34" charset="0"/>
              </a:rPr>
              <a:t>Triton Programming Basics</a:t>
            </a:r>
            <a:endParaRPr lang="en-US" altLang="zh-CN" b="1">
              <a:solidFill>
                <a:srgbClr val="C00000"/>
              </a:solidFill>
              <a:cs typeface="Arial" panose="020B0604020202020204" pitchFamily="34" charset="0"/>
            </a:endParaRPr>
          </a:p>
          <a:p>
            <a:r>
              <a:rPr lang="en-US" altLang="zh-CN"/>
              <a:t>Lab: AI Operators and GEMM Tuning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PyTorch Provides the High-Level Operator Interface</a:t>
            </a:r>
            <a:endParaRPr lang="en-US" altLang="zh-CN"/>
          </a:p>
        </p:txBody>
      </p:sp>
      <p:sp>
        <p:nvSpPr>
          <p:cNvPr id="6" name="AutoShape 5"/>
          <p:cNvSpPr/>
          <p:nvPr>
            <p:ph sz="quarter" idx="13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PyTorch: The (most) popular open-source ML library.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definition; GPU-enabled computation; Automatic Differentiation; Compiler Support.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3950" y="2626443"/>
            <a:ext cx="3120105" cy="198552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90950" y="2626360"/>
            <a:ext cx="8293100" cy="33534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8"/>
          <p:cNvSpPr/>
          <p:nvPr/>
        </p:nvSpPr>
        <p:spPr>
          <a:xfrm>
            <a:off x="419160" y="4961940"/>
            <a:ext cx="2771023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Other ML Frameworks</a:t>
            </a:r>
            <a:endParaRPr lang="en-US" sz="1100"/>
          </a:p>
        </p:txBody>
      </p:sp>
      <p:sp>
        <p:nvSpPr>
          <p:cNvPr id="10" name="AutoShape 9"/>
          <p:cNvSpPr/>
          <p:nvPr/>
        </p:nvSpPr>
        <p:spPr>
          <a:xfrm>
            <a:off x="6431999" y="5690346"/>
            <a:ext cx="4473039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ook Antiqua" panose="02040602050305030304"/>
                <a:ea typeface="Book Antiqua" panose="02040602050305030304"/>
                <a:cs typeface="Book Antiqua" panose="02040602050305030304"/>
                <a:sym typeface="Book Antiqua" panose="02040602050305030304"/>
              </a:rPr>
              <a:t>Numpy vs TensorFlow vs PyTorch</a:t>
            </a:r>
            <a:endParaRPr lang="en-US" sz="110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Triton?</a:t>
            </a:r>
            <a:endParaRPr>
              <a:solidFill>
                <a:srgbClr val="262626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High-Performance GPU Kernels with Pythonic Ease</a:t>
            </a:r>
            <a:endParaRPr lang="en-US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AutoShape 4"/>
          <p:cNvSpPr/>
          <p:nvPr/>
        </p:nvSpPr>
        <p:spPr>
          <a:xfrm>
            <a:off x="523873" y="200469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Productivity-Performance Dilemma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Frameworks like PyTorch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 productivity, but "fusing" custom operators often requires using CUDA C++ to avoid overhead</a:t>
            </a:r>
            <a:endParaRPr lang="en-US" sz="16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C++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Offers maximum hardware utilization but is notoriously difficult to write, debug, and maintain</a:t>
            </a:r>
            <a:endParaRPr lang="en-US" sz="16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Gap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Most researchers cannot afford weeks of development time to optimize a single CUDA kernel</a:t>
            </a:r>
            <a:endParaRPr lang="en-US" sz="16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6"/>
          <p:cNvSpPr/>
          <p:nvPr>
            <p:ph type="body" sz="quarter" idx="4294967295" hasCustomPrompt="1"/>
          </p:nvPr>
        </p:nvSpPr>
        <p:spPr>
          <a:xfrm>
            <a:off x="6205855" y="2004695"/>
            <a:ext cx="5986145" cy="4091940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Triton’s "Secret Sauce"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Block-Level Abstraction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Don't manage individual threads; you manage blocks of data.</a:t>
            </a:r>
            <a:endParaRPr lang="en-US" sz="16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Automatic Parallelization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compiler handles memory coalescing, shared memory allocation, and hardware scheduling.</a:t>
            </a:r>
            <a:endParaRPr lang="en-US" sz="16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OpenAI Backing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Developed specifically to make GPU programming accessible for the next generation of AI models.</a:t>
            </a:r>
            <a:endParaRPr lang="en-US" sz="16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Study: Vector Addition Kernel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AutoShape 6"/>
          <p:cNvSpPr/>
          <p:nvPr/>
        </p:nvSpPr>
        <p:spPr>
          <a:xfrm>
            <a:off x="523875" y="1323975"/>
            <a:ext cx="4851400" cy="5304790"/>
          </a:xfrm>
          <a:prstGeom prst="rect">
            <a:avLst/>
          </a:prstGeom>
          <a:noFill/>
          <a:ln w="12700">
            <a:solidFill>
              <a:srgbClr val="26262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 fontAlgn="auto">
              <a:lnSpc>
                <a:spcPct val="90000"/>
              </a:lnSpc>
              <a:defRPr/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import triton</a:t>
            </a:r>
            <a:endParaRPr lang="en-US" sz="1200"/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import triton.language as tl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endParaRPr sz="1200"/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@triton.jit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def add_kernel(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x_ptr,  # Pointer to first input vector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y_ptr,  # Pointer to second input vector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out_ptr, # Pointer to output vector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n_elements, # Size of the vector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BLOCK_SIZE: tl.constexpr, # Compile-time constant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):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# 1. Identify which "Tile" this program handles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pid = tl.program_id(axis=0) 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# 2. Calculate memory offsets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block_start = pid * BLOCK_SIZE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offsets = block_start + tl.arange(0, BLOCK_SIZE)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# 3. Create a mask to avoid out-of-bounds access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mask = offsets &lt; n_elements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# 4. Load data from DRAM to Registers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x = tl.load(x_ptr + offsets, mask=mask)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y = tl.load(y_ptr + offsets, mask=mask)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# 5. Perform the operation and Store back to DRAM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output = x + y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 fontAlgn="auto">
              <a:lnSpc>
                <a:spcPct val="9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tl.store(out_ptr + offsets, output, mask=mask)</a:t>
            </a:r>
            <a:endParaRPr lang="en-US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6163310" y="1335405"/>
            <a:ext cx="4851400" cy="1659890"/>
          </a:xfrm>
          <a:prstGeom prst="rect">
            <a:avLst/>
          </a:prstGeom>
          <a:noFill/>
          <a:ln w="12700">
            <a:solidFill>
              <a:srgbClr val="26262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BLOCK_SIZE = 256</a:t>
            </a:r>
            <a:endParaRPr lang="en-US" altLang="zh-CN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output = torch.empty_like(x)</a:t>
            </a:r>
            <a:endParaRPr lang="en-US" altLang="zh-CN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grid = (triton.cdiv(n_elements, BLOCK_SIZE),)</a:t>
            </a:r>
            <a:endParaRPr lang="en-US" altLang="zh-CN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altLang="zh-CN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add_kernel[grid](</a:t>
            </a:r>
            <a:endParaRPr lang="en-US" altLang="zh-CN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x, y, output, n_elements,</a:t>
            </a:r>
            <a:endParaRPr lang="en-US" altLang="zh-CN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    BLOCK_SIZE=BLOCK_SIZE,</a:t>
            </a:r>
            <a:endParaRPr lang="en-US" altLang="zh-CN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  <a:sym typeface="Droid Sans Mono" panose="020B0609030804020204"/>
              </a:rPr>
              <a:t>)</a:t>
            </a:r>
            <a:endParaRPr lang="en-US" altLang="zh-CN" sz="1200" b="0" i="0" u="none" strike="noStrik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  <a:sym typeface="Droid Sans Mono" panose="020B060903080402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57010" y="3186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host wrapper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Triton Programs Operate on Data Tiles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6180455" cy="4853305"/>
          </a:xfrm>
        </p:spPr>
        <p:txBody>
          <a:bodyPr>
            <a:normAutofit fontScale="80000"/>
          </a:bodyPr>
          <a:p>
            <a:r>
              <a:rPr lang="en-US" altLang="zh-CN"/>
              <a:t>Host side</a:t>
            </a:r>
            <a:endParaRPr lang="en-US" altLang="zh-CN"/>
          </a:p>
          <a:p>
            <a:pPr lvl="1"/>
            <a:r>
              <a:rPr lang="en-US" altLang="zh-CN"/>
              <a:t>grid defines the number and shape of program instances</a:t>
            </a:r>
            <a:endParaRPr lang="en-US" altLang="zh-CN"/>
          </a:p>
          <a:p>
            <a:pPr lvl="1"/>
            <a:r>
              <a:rPr lang="en-US" altLang="zh-CN"/>
              <a:t>kernel[grid](...) submits work asynchronously</a:t>
            </a:r>
            <a:endParaRPr lang="en-US" altLang="zh-CN"/>
          </a:p>
          <a:p>
            <a:r>
              <a:rPr lang="en-US" altLang="zh-CN"/>
              <a:t>Inside each Triton program</a:t>
            </a:r>
            <a:endParaRPr lang="en-US" altLang="zh-CN"/>
          </a:p>
          <a:p>
            <a:pPr lvl="1"/>
            <a:r>
              <a:rPr lang="en-US" altLang="zh-CN"/>
              <a:t>tl.program_id selects the problem tile</a:t>
            </a:r>
            <a:endParaRPr lang="en-US" altLang="zh-CN"/>
          </a:p>
          <a:p>
            <a:pPr lvl="1"/>
            <a:r>
              <a:rPr lang="en-US" altLang="zh-CN"/>
              <a:t>tl.arange creates vector or tile offsets</a:t>
            </a:r>
            <a:endParaRPr lang="en-US" altLang="zh-CN"/>
          </a:p>
          <a:p>
            <a:pPr lvl="1"/>
            <a:r>
              <a:rPr lang="en-US" altLang="zh-CN"/>
              <a:t>tl.load / tl.store move masked blocks of data</a:t>
            </a:r>
            <a:endParaRPr lang="en-US" altLang="zh-CN"/>
          </a:p>
          <a:p>
            <a:pPr lvl="1"/>
            <a:r>
              <a:rPr lang="en-US" altLang="zh-CN"/>
              <a:t>tl.max, tl.sum and tl.dot express collective tile operations</a:t>
            </a:r>
            <a:endParaRPr lang="en-US" altLang="zh-CN"/>
          </a:p>
          <a:p>
            <a:r>
              <a:rPr lang="en-US" altLang="zh-CN"/>
              <a:t>The compiler handles</a:t>
            </a:r>
            <a:endParaRPr lang="en-US" altLang="zh-CN"/>
          </a:p>
          <a:p>
            <a:pPr lvl="1"/>
            <a:r>
              <a:rPr lang="en-US" altLang="zh-CN"/>
              <a:t>mapping tile operations to target execution lanes</a:t>
            </a:r>
            <a:endParaRPr lang="en-US" altLang="zh-CN"/>
          </a:p>
          <a:p>
            <a:pPr lvl="1"/>
            <a:r>
              <a:rPr lang="en-US" altLang="zh-CN"/>
              <a:t>much of the low-level coordination and instruction selection</a:t>
            </a:r>
            <a:endParaRPr lang="en-US" altLang="zh-CN"/>
          </a:p>
          <a:p>
            <a:r>
              <a:rPr lang="en-US" altLang="zh-CN"/>
              <a:t>You still control grid shape, masks, layout, precision and meta-parameters.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703695" y="1586230"/>
            <a:ext cx="494665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What Triton Simplifies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Maps block/tile operations onto hardware execution lanes.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Handles much of vectorization, instruction selection, shared-memory placement and synchronization.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What Remains on the Host Side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PyTorch/runtime owns tensor allocation and memory placement.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kernel[grid](...) is enqueued asynchronously on the current stream.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Kernels exchange data through device tensors.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Stream ordering and events express inter-kernel dependencies.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Execution Model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0000"/>
          </a:bodyPr>
          <a:p>
            <a:r>
              <a:rPr lang="en-US" altLang="zh-CN"/>
              <a:t>From Threads to Blocks</a:t>
            </a:r>
            <a:endParaRPr lang="en-US" altLang="zh-CN"/>
          </a:p>
          <a:p>
            <a:pPr lvl="1"/>
            <a:r>
              <a:rPr lang="en-US" altLang="zh-CN"/>
              <a:t>CUDA Model: Focuses on Threads and Warps. Developers must manually manage synchronization and shared memory.</a:t>
            </a:r>
            <a:endParaRPr lang="en-US" altLang="zh-CN"/>
          </a:p>
          <a:p>
            <a:pPr lvl="1"/>
            <a:r>
              <a:rPr lang="en-US" altLang="zh-CN"/>
              <a:t>Triton Model: Focuses on Programs and Blocks. You write code that operates on a "tile" (Block) of data as a single unit.</a:t>
            </a:r>
            <a:endParaRPr lang="en-US" altLang="zh-CN"/>
          </a:p>
          <a:p>
            <a:r>
              <a:rPr lang="en-US" altLang="zh-CN"/>
              <a:t>Key Components</a:t>
            </a:r>
            <a:endParaRPr lang="en-US" altLang="zh-CN"/>
          </a:p>
          <a:p>
            <a:pPr lvl="1"/>
            <a:r>
              <a:rPr lang="en-US" altLang="zh-CN"/>
              <a:t>The Grid (Coordinate Space) The Grid is a 1D, 2D, or 3D space of execution instances. When you launch a kernel, you define the grid size (e.g., grid=(1024, )). Each point in this grid is called a Program.</a:t>
            </a:r>
            <a:endParaRPr lang="en-US" altLang="zh-CN"/>
          </a:p>
          <a:p>
            <a:pPr lvl="1"/>
            <a:r>
              <a:rPr lang="en-US" altLang="zh-CN"/>
              <a:t>The Program (Instance) A Program is an independent execution instance of your kernel. Programs run in parallel across the GPU's Compute Units. Each program identifies itself using tl.program_id(axis).</a:t>
            </a:r>
            <a:endParaRPr lang="en-US" altLang="zh-CN"/>
          </a:p>
          <a:p>
            <a:pPr lvl="1"/>
            <a:r>
              <a:rPr lang="en-US" altLang="zh-CN"/>
              <a:t>The Block (Data Unit) A Block is a contiguous chunk of data (a "tile") processed by one Program. Constraint: Block sizes must be powers of two (e.g., 128, 256, 512, 1024) to allow for hardware-level optimizations.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 Anatomy &amp; Pointer Arithmetic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p>
            <a:r>
              <a:rPr lang="en-US" altLang="zh-CN" sz="2000"/>
              <a:t>Defining a Triton Kernel</a:t>
            </a:r>
            <a:endParaRPr lang="en-US" altLang="zh-CN" sz="2000"/>
          </a:p>
          <a:p>
            <a:pPr lvl="1"/>
            <a:r>
              <a:rPr lang="en-US" altLang="zh-CN" sz="1800"/>
              <a:t>The @triton.jit Decorator: Transforms a standard Python function into a GPU-executable kernel.</a:t>
            </a:r>
            <a:endParaRPr lang="en-US" altLang="zh-CN" sz="1800"/>
          </a:p>
          <a:p>
            <a:pPr lvl="1"/>
            <a:r>
              <a:rPr lang="en-US" altLang="zh-CN" sz="1800"/>
              <a:t>Function Signature:</a:t>
            </a:r>
            <a:endParaRPr lang="en-US" altLang="zh-CN" sz="1800"/>
          </a:p>
          <a:p>
            <a:pPr lvl="2"/>
            <a:r>
              <a:rPr lang="en-US" altLang="zh-CN" sz="1400"/>
              <a:t>Pointers: Memory addresses for inputs/outputs (e.g., x_ptr).</a:t>
            </a:r>
            <a:endParaRPr lang="en-US" altLang="zh-CN" sz="1400"/>
          </a:p>
          <a:p>
            <a:pPr lvl="2"/>
            <a:r>
              <a:rPr lang="en-US" altLang="zh-CN" sz="1400"/>
              <a:t>Metadata: Size constants or strides (e.g., n_elements).tl.constexpr: Special arguments that must be known at compile-time (like BLOCK_SIZE).</a:t>
            </a:r>
            <a:endParaRPr lang="en-US" altLang="zh-CN" sz="1400"/>
          </a:p>
          <a:p>
            <a:r>
              <a:rPr lang="en-US" altLang="zh-CN" sz="2000"/>
              <a:t>The Core Logic: Pointer Arithmetic</a:t>
            </a:r>
            <a:endParaRPr lang="en-US" altLang="zh-CN" sz="2000"/>
          </a:p>
          <a:p>
            <a:pPr lvl="1"/>
            <a:r>
              <a:rPr lang="en-US" altLang="zh-CN" sz="1800"/>
              <a:t>Identify the Program: pid = tl.program_id(axis=0)Calculate the Start Offset: block_start = pid * BLOCK_SIZE</a:t>
            </a:r>
            <a:endParaRPr lang="en-US" altLang="zh-CN" sz="1800"/>
          </a:p>
          <a:p>
            <a:pPr lvl="1"/>
            <a:r>
              <a:rPr lang="en-US" altLang="zh-CN" sz="1800"/>
              <a:t>Generate a Range of Offsets: offsets = block_start + tl.arange(0, BLOCK_SIZE)</a:t>
            </a:r>
            <a:endParaRPr lang="en-US" altLang="zh-CN" sz="1800"/>
          </a:p>
          <a:p>
            <a:pPr lvl="1"/>
            <a:r>
              <a:rPr lang="en-US" altLang="zh-CN" sz="1800"/>
              <a:t>Construct Pointers: pointers = base_ptr + offsets</a:t>
            </a:r>
            <a:endParaRPr lang="en-US" altLang="zh-CN" sz="1800"/>
          </a:p>
          <a:p>
            <a:r>
              <a:rPr lang="en-US" altLang="zh-CN" sz="2000"/>
              <a:t>Visualizing the Address Map</a:t>
            </a:r>
            <a:endParaRPr lang="en-US" altLang="zh-CN" sz="2000"/>
          </a:p>
          <a:p>
            <a:pPr lvl="1"/>
            <a:r>
              <a:rPr lang="en-US" altLang="zh-CN" sz="1800"/>
              <a:t>tl.arange(0, 4) -&gt; [0, 1, 2, 3]</a:t>
            </a:r>
            <a:endParaRPr lang="en-US" altLang="zh-CN" sz="1800"/>
          </a:p>
          <a:p>
            <a:pPr lvl="1"/>
            <a:r>
              <a:rPr lang="en-US" altLang="zh-CN" sz="1800"/>
              <a:t>base_ptr + [0, 1, 2, 3] -&gt; A vector of 4 memory addresses.</a:t>
            </a:r>
            <a:endParaRPr lang="en-US" altLang="zh-CN" sz="1800"/>
          </a:p>
          <a:p>
            <a:endParaRPr lang="en-US" altLang="zh-CN" sz="180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Operations — Load, Store, and Masking</a:t>
            </a:r>
            <a:endParaRPr lang="en-US" altLang="en-US" sz="28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p>
            <a:r>
              <a:rPr lang="en-US" altLang="zh-CN"/>
              <a:t>The Data Bridge: Global Memory (DRAM) &lt;-&gt; SRAM/Registers</a:t>
            </a:r>
            <a:endParaRPr lang="en-US" altLang="zh-CN"/>
          </a:p>
          <a:p>
            <a:pPr lvl="1"/>
            <a:r>
              <a:rPr lang="en-US" altLang="zh-CN"/>
              <a:t>tl.load(pointers, mask)</a:t>
            </a:r>
            <a:endParaRPr lang="en-US" altLang="zh-CN"/>
          </a:p>
          <a:p>
            <a:pPr lvl="2"/>
            <a:r>
              <a:rPr lang="en-US" altLang="zh-CN"/>
              <a:t>Reads a block of data from the addresses specified by the pointers.</a:t>
            </a:r>
            <a:endParaRPr lang="en-US" altLang="zh-CN"/>
          </a:p>
          <a:p>
            <a:pPr lvl="2"/>
            <a:r>
              <a:rPr lang="en-US" altLang="zh-CN"/>
              <a:t>Efficiency: Triton automatically ensures "Coalesced Memory Access," meaning the hardware reads data in the most efficient bursts possible.</a:t>
            </a:r>
            <a:endParaRPr lang="en-US" altLang="zh-CN"/>
          </a:p>
          <a:p>
            <a:pPr lvl="1"/>
            <a:r>
              <a:rPr lang="en-US" altLang="zh-CN"/>
              <a:t>tl.store(pointers, data, mask)</a:t>
            </a:r>
            <a:endParaRPr lang="en-US" altLang="zh-CN"/>
          </a:p>
          <a:p>
            <a:pPr lvl="2"/>
            <a:r>
              <a:rPr lang="en-US" altLang="zh-CN"/>
              <a:t>Writes the computed results from the registers back to Global Memory.</a:t>
            </a:r>
            <a:endParaRPr lang="en-US" altLang="zh-CN"/>
          </a:p>
          <a:p>
            <a:r>
              <a:rPr lang="en-US" altLang="zh-CN"/>
              <a:t>The "Masking" Essential</a:t>
            </a:r>
            <a:endParaRPr lang="en-US" altLang="zh-CN"/>
          </a:p>
          <a:p>
            <a:pPr lvl="1"/>
            <a:r>
              <a:rPr lang="en-US" altLang="zh-CN"/>
              <a:t>Because Triton requires Block Sizes to be powers of two (e.g., 512), but your actual data might not be (e.g., 500 elements), you must prevent out-of-bounds memory access.</a:t>
            </a:r>
            <a:endParaRPr lang="en-US" altLang="zh-CN"/>
          </a:p>
          <a:p>
            <a:pPr lvl="1"/>
            <a:r>
              <a:rPr lang="en-US" altLang="zh-CN"/>
              <a:t>The Logic: Create a boolean mask where offsets &lt; total_elements.</a:t>
            </a:r>
            <a:endParaRPr lang="en-US" altLang="zh-CN"/>
          </a:p>
          <a:p>
            <a:pPr lvl="1"/>
            <a:r>
              <a:rPr lang="en-US" altLang="zh-CN"/>
              <a:t>The Syntax: Python mask = offsets &lt; n_elements data = tl.load(ptr + offsets, mask=mask)</a:t>
            </a:r>
            <a:endParaRPr lang="en-US" altLang="zh-CN"/>
          </a:p>
          <a:p>
            <a:pPr lvl="1"/>
            <a:r>
              <a:rPr lang="en-US" altLang="zh-CN"/>
              <a:t>Benefit: If the mask is False, the operation is safely ignored, preventing segmentation faults.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Common Built-in Functions &amp; Reduction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20000"/>
          </a:bodyPr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Element-wise Math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Arithmetic: +, -, *, /, **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Math: tl.exp(), tl.log(), tl.sqrt(), tl.sin(), tl.cos()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Comparison: ==, !=, &lt;, &gt;, tl.where(condition, x, y)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Reduction Operations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tl.sum(data, axis=...): Computes the sum along the specified axis.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tl.max(data, axis=...): Finds the maximum value.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tl.argmin() / tl.argmax(): Finds the index of the min/max.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Atomic Operations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tl.atomic_add(pointer, value, mask)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tl.atomic_max(pointer, value, mask)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AI Computing and Heterogeneous Hardware</a:t>
            </a:r>
            <a:endParaRPr lang="en-US" altLang="zh-CN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Heterogeneous Programming Fundamentals</a:t>
            </a:r>
            <a:endParaRPr lang="en-US" altLang="zh-CN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altLang="zh-CN">
                <a:solidFill>
                  <a:schemeClr val="tx1"/>
                </a:solidFill>
                <a:cs typeface="Arial" panose="020B0604020202020204" pitchFamily="34" charset="0"/>
              </a:rPr>
              <a:t>Triton Programming Basics</a:t>
            </a:r>
            <a:endParaRPr lang="en-US" altLang="zh-CN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altLang="zh-CN" b="1">
                <a:solidFill>
                  <a:srgbClr val="C00000"/>
                </a:solidFill>
                <a:cs typeface="Arial" panose="020B0604020202020204" pitchFamily="34" charset="0"/>
              </a:rPr>
              <a:t>Lab: AI Operators and GEMM Tuning</a:t>
            </a:r>
            <a:endParaRPr lang="en-US" altLang="zh-CN" b="1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Day 1: From Vector Tiles to Reductions and GEMM</a:t>
            </a:r>
            <a:endParaRPr sz="280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10" name="表格 5"/>
          <p:cNvGraphicFramePr/>
          <p:nvPr/>
        </p:nvGraphicFramePr>
        <p:xfrm>
          <a:off x="523875" y="1581785"/>
          <a:ext cx="10748010" cy="3579495"/>
        </p:xfrm>
        <a:graphic>
          <a:graphicData uri="http://schemas.openxmlformats.org/drawingml/2006/table">
            <a:tbl>
              <a:tblPr/>
              <a:tblGrid>
                <a:gridCol w="3582670"/>
                <a:gridCol w="3582670"/>
                <a:gridCol w="3582670"/>
              </a:tblGrid>
              <a:tr h="429895">
                <a:tc>
                  <a:txBody>
                    <a:bodyPr/>
                    <a:lstStyle/>
                    <a:p>
                      <a:r>
                        <a:rPr sz="2000"/>
                        <a:t>Vector Add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Softmax &amp; LayerNorm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Tiled GEMM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99135">
                <a:tc>
                  <a:txBody>
                    <a:bodyPr/>
                    <a:lstStyle/>
                    <a:p>
                      <a:r>
                        <a:rPr sz="2000"/>
                        <a:t>1-D grid, offsets and mask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One program per row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One program per output tile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0405">
                <a:tc>
                  <a:txBody>
                    <a:bodyPr/>
                    <a:lstStyle/>
                    <a:p>
                      <a:r>
                        <a:rPr sz="2000"/>
                        <a:t>Masked load and store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tl.max / tl.sum reductions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2-D offsets and strides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0405">
                <a:tc>
                  <a:txBody>
                    <a:bodyPr/>
                    <a:lstStyle/>
                    <a:p>
                      <a:r>
                        <a:rPr sz="2000"/>
                        <a:t>Protect the tail block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Stable formulas and fp32 statistics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K-loop and tl.dot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49655">
                <a:tc>
                  <a:txBody>
                    <a:bodyPr/>
                    <a:lstStyle/>
                    <a:p>
                      <a:r>
                        <a:rPr sz="2000"/>
                        <a:t>Test irregular lengths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Correct padding identities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fp16 I/O; fp32 accumulator</a:t>
                      </a:r>
                      <a:endParaRPr sz="20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>
            <a:spLocks noGrp="1"/>
          </p:cNvSpPr>
          <p:nvPr/>
        </p:nvSpPr>
        <p:spPr>
          <a:xfrm>
            <a:off x="692785" y="5285105"/>
            <a:ext cx="1048893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Correctness tests include exact blocks and boundary-crossing shapes.</a:t>
            </a:r>
            <a:endParaRPr sz="24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GEMM Reuses Tiles Across the K-loop</a:t>
            </a:r>
            <a:endParaRPr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904365" y="1323975"/>
            <a:ext cx="8382635" cy="5304790"/>
          </a:xfrm>
          <a:prstGeom prst="rect">
            <a:avLst/>
          </a:prstGeom>
          <a:noFill/>
          <a:ln w="12700">
            <a:solidFill>
              <a:srgbClr val="262626">
                <a:alpha val="100000"/>
              </a:srgbClr>
            </a:solidFill>
            <a:prstDash val="solid"/>
          </a:ln>
        </p:spPr>
        <p:txBody>
          <a:bodyPr wrap="square"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# One program computes one C[BM, BN] tile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pid_m = ...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t>pid_n = ...</a:t>
            </a: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offs_m = pid_m * BM + tl.arange(0, BM)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offs_n = pid_n * BN + tl.arange(0, BN)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offs_k = tl.arange(0, BK)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acc = tl.zeros((BM, BN), dtype=tl.float32)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for k in range(0, tl.cdiv(K, BK)):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    a = tl.load(a_ptrs, mask=(offs_m[:, None] &lt; M)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                            &amp; (k * BK + offs_k[None, :] &lt; K), other=0.0)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    b = tl.load(b_ptrs, mask=(k * BK + offs_k[:, None] &lt; K)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                            &amp; (offs_n[None, :] &lt; N), other=0.0)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    acc += tl.dot(a, b)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    a_ptrs += BK</a:t>
            </a:r>
            <a:r>
              <a:rPr lang="en-US"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 * stride_ak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    b_ptrs += BK * stride_bk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tl.store(c_ptrs, acc.to(tl.float16), mask=c_mask)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  <a:p>
            <a:pPr indent="0" algn="l">
              <a:lnSpc>
                <a:spcPct val="100000"/>
              </a:lnSpc>
              <a:buNone/>
            </a:pPr>
          </a:p>
          <a:p>
            <a:pPr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  <a:latin typeface="Droid Sans Mono" panose="020B0609030804020204"/>
                <a:ea typeface="Droid Sans Mono" panose="020B0609030804020204"/>
                <a:cs typeface="Droid Sans Mono" panose="020B0609030804020204"/>
              </a:rPr>
              <a:t># Three boundaries matter: M, N and K.</a:t>
            </a:r>
            <a:endParaRPr sz="1200" b="0" i="0" u="none">
              <a:solidFill>
                <a:srgbClr val="000000"/>
              </a:solidFill>
              <a:latin typeface="Droid Sans Mono" panose="020B0609030804020204"/>
              <a:ea typeface="Droid Sans Mono" panose="020B0609030804020204"/>
              <a:cs typeface="Droid Sans Mono" panose="020B060903080402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Day 2: Tune GEMM with Controlled Experiments</a:t>
            </a:r>
            <a:endParaRPr sz="2800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0000"/>
          </a:bodyPr>
          <a:lstStyle/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1  Calibrate the baseline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   Correctness → warmup → synchronize → repeated samples → median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2  Sweep block dimensions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   Isolate BM, BN and BK; include symmetric and asymmetric tiles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   Record compile failure, wrong result, correct-but-slow and fast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3  Autotune a filtered search space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   Use candidates supported by the probes; key = [M, N, K]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4  Confirm the winner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   Compare exact-config fixed vs decorated autotune across shapes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r>
              <a:rPr lang="en-US" altLang="zh-CN"/>
              <a:t>A larger tile can improve reuse—or reduce parallelism and raise resource pressure.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None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</a:rPr>
              <a:t>Source: BI-V150 Day 2 handout and student scripts</a:t>
            </a:r>
            <a:endParaRPr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2800"/>
              <a:t>The Solution:</a:t>
            </a:r>
            <a:r>
              <a:rPr lang="x-none" altLang="zh-CN" sz="2800"/>
              <a:t> </a:t>
            </a:r>
            <a:r>
              <a:rPr sz="2800"/>
              <a:t>FlagOS,</a:t>
            </a:r>
            <a:r>
              <a:rPr lang="x-none" altLang="zh-CN" sz="2800"/>
              <a:t> </a:t>
            </a:r>
            <a:r>
              <a:rPr sz="2800"/>
              <a:t>a Unified AI Software Stack</a:t>
            </a:r>
            <a:endParaRPr lang="zh-CN" altLang="en-US" sz="2800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>
            <p:ph sz="quarter" idx="13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7960" y="1323975"/>
            <a:ext cx="9408795" cy="4853305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zh-CN" altLang="en-US"/>
              <a:t>*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Thanks for your time!</a:t>
            </a:r>
            <a:endParaRPr lang="zh-CN" altLang="en-US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0" y="593725"/>
            <a:ext cx="419100" cy="365125"/>
          </a:xfrm>
        </p:spPr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TABLE_ENDDRAG_ORIGIN_RECT" val="846*281"/>
  <p:tag name="TABLE_ENDDRAG_RECT" val="41*124*846*281"/>
</p:tagLst>
</file>

<file path=ppt/tags/tag22.xml><?xml version="1.0" encoding="utf-8"?>
<p:tagLst xmlns:p="http://schemas.openxmlformats.org/presentationml/2006/main">
  <p:tag name="TABLE_ENDDRAG_ORIGIN_RECT" val="406*212"/>
  <p:tag name="TABLE_ENDDRAG_RECT" val="67*230*406*212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heme/theme1.xml><?xml version="1.0" encoding="utf-8"?>
<a:theme xmlns:a="http://schemas.openxmlformats.org/drawingml/2006/main" name="封面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微软雅黑"/>
        <a:cs typeface="Arial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ＭＳ Ｐ明朝"/>
        <a:font script="Hang" typeface="바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容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  <a:font script="Jpan" typeface="Yu Gothic Light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Yu Gothic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  <a:font script="Jpan" typeface="游ゴシック Light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游ゴシック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16792</Words>
  <Application>WPS 演示</Application>
  <PresentationFormat>宽屏</PresentationFormat>
  <Paragraphs>706</Paragraphs>
  <Slides>39</Slides>
  <Notes>8</Notes>
  <HiddenSlides>3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54" baseType="lpstr">
      <vt:lpstr>Arial</vt:lpstr>
      <vt:lpstr>宋体</vt:lpstr>
      <vt:lpstr>Wingdings</vt:lpstr>
      <vt:lpstr>Calibri</vt:lpstr>
      <vt:lpstr>微软雅黑</vt:lpstr>
      <vt:lpstr>Calibri</vt:lpstr>
      <vt:lpstr>Garamond</vt:lpstr>
      <vt:lpstr>Arial</vt:lpstr>
      <vt:lpstr>Arial Unicode MS</vt:lpstr>
      <vt:lpstr>Courier New</vt:lpstr>
      <vt:lpstr>Book Antiqua</vt:lpstr>
      <vt:lpstr>Droid Sans Mono</vt:lpstr>
      <vt:lpstr>Segoe Print</vt:lpstr>
      <vt:lpstr>封面</vt:lpstr>
      <vt:lpstr>内容</vt:lpstr>
      <vt:lpstr>AI System Fundamentals &amp; Heterogeneous Computing</vt:lpstr>
      <vt:lpstr>PowerPoint 演示文稿</vt:lpstr>
      <vt:lpstr>Token-Hungry Generative AI Applications</vt:lpstr>
      <vt:lpstr>The Hardware Demands of AI/ML</vt:lpstr>
      <vt:lpstr>Why General-Purpose CPUs Failed AI</vt:lpstr>
      <vt:lpstr>Why General-Purpose CPUs Failed AI</vt:lpstr>
      <vt:lpstr>The Rise of the GPU</vt:lpstr>
      <vt:lpstr>The Rise of the GPU</vt:lpstr>
      <vt:lpstr>AI Hardware Spectrum: Key Examples</vt:lpstr>
      <vt:lpstr>Compute Architectures Evolve</vt:lpstr>
      <vt:lpstr>Different Processors Optimize Different Trade-offs</vt:lpstr>
      <vt:lpstr>Iluvatar BI-V150: A General-Purpose GPU for AI Computing</vt:lpstr>
      <vt:lpstr>Iluvatar BI-V150: A General-Purpose GPU for AI Computing</vt:lpstr>
      <vt:lpstr>Iluvatar BI-V150: A General-Purpose GPU for AI Computing</vt:lpstr>
      <vt:lpstr>PowerPoint 演示文稿</vt:lpstr>
      <vt:lpstr>Questions on Heterogeneous Programming</vt:lpstr>
      <vt:lpstr>Hetergeneous Integration of CPU and XPUs</vt:lpstr>
      <vt:lpstr>PCIe Role in AI: GPU-Host Connection</vt:lpstr>
      <vt:lpstr>Hosts Submit Work; Streams Order Kernels</vt:lpstr>
      <vt:lpstr>How to Manage and Access Data?</vt:lpstr>
      <vt:lpstr>How to Express Parallelism?</vt:lpstr>
      <vt:lpstr>How to Express the Work of a Thread</vt:lpstr>
      <vt:lpstr>GPU Memory Hierarchy: Capacity, Latency, and Data Reuse</vt:lpstr>
      <vt:lpstr>Three Ways to Express a Kernel</vt:lpstr>
      <vt:lpstr>PowerPoint 演示文稿</vt:lpstr>
      <vt:lpstr>PyTorch Provides the High-Level Operator Interface</vt:lpstr>
      <vt:lpstr>Why Triton?</vt:lpstr>
      <vt:lpstr>Case Study: Vector Addition Kernel</vt:lpstr>
      <vt:lpstr>Triton Programs Operate on Data Tiles</vt:lpstr>
      <vt:lpstr>Triton Execution Model</vt:lpstr>
      <vt:lpstr>Kernel Anatomy &amp; Pointer Arithmetic</vt:lpstr>
      <vt:lpstr>Memory Operations — Load, Store, and Masking</vt:lpstr>
      <vt:lpstr>Common Built-in Functions &amp; Reduction</vt:lpstr>
      <vt:lpstr>PowerPoint 演示文稿</vt:lpstr>
      <vt:lpstr>Day 1: From Vector Tiles to Reductions and GEMM</vt:lpstr>
      <vt:lpstr>GEMM Reuses Tiles Across the K-loop</vt:lpstr>
      <vt:lpstr>Day 2: Tune GEMM with Controlled Experiments</vt:lpstr>
      <vt:lpstr>The Solution: FlagOS, a Unified AI Software Stack</vt:lpstr>
      <vt:lpstr>Thanks for your time!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System Fundamentals &amp; Heterogeneous Computing</dc:title>
  <dc:creator>王丰</dc:creator>
  <cp:lastModifiedBy>Zhiqiang Zhao</cp:lastModifiedBy>
  <cp:revision>7</cp:revision>
  <dcterms:created xsi:type="dcterms:W3CDTF">2026-08-04T05:45:00Z</dcterms:created>
  <dcterms:modified xsi:type="dcterms:W3CDTF">2026-08-04T13:46:48Z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542A05B1B0BF47BBB459079E9C8F7A86_13</vt:lpwstr>
  </property>
  <property fmtid="{D5CDD505-2E9C-101B-9397-08002B2CF9AE}" pid="3" name="KSOProductBuildVer">
    <vt:lpwstr>2052-12.1.0.21915</vt:lpwstr>
  </property>
</Properties>
</file>