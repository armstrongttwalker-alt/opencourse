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7"/>
  </p:notesMasterIdLst>
  <p:handoutMasterIdLst>
    <p:handoutMasterId r:id="rId68"/>
  </p:handoutMasterIdLst>
  <p:sldIdLst>
    <p:sldId id="1928" r:id="rId4"/>
    <p:sldId id="1930" r:id="rId5"/>
    <p:sldId id="258" r:id="rId6"/>
    <p:sldId id="259" r:id="rId8"/>
    <p:sldId id="264" r:id="rId9"/>
    <p:sldId id="265" r:id="rId10"/>
    <p:sldId id="266" r:id="rId11"/>
    <p:sldId id="267" r:id="rId12"/>
    <p:sldId id="268" r:id="rId13"/>
    <p:sldId id="269" r:id="rId14"/>
    <p:sldId id="270" r:id="rId15"/>
    <p:sldId id="271" r:id="rId16"/>
    <p:sldId id="272" r:id="rId17"/>
    <p:sldId id="273" r:id="rId18"/>
    <p:sldId id="274" r:id="rId19"/>
    <p:sldId id="276" r:id="rId20"/>
    <p:sldId id="275" r:id="rId21"/>
    <p:sldId id="1963" r:id="rId22"/>
    <p:sldId id="1965" r:id="rId23"/>
    <p:sldId id="278" r:id="rId24"/>
    <p:sldId id="279" r:id="rId25"/>
    <p:sldId id="280" r:id="rId26"/>
    <p:sldId id="281" r:id="rId27"/>
    <p:sldId id="282" r:id="rId28"/>
    <p:sldId id="283" r:id="rId29"/>
    <p:sldId id="291" r:id="rId30"/>
    <p:sldId id="293" r:id="rId31"/>
    <p:sldId id="294" r:id="rId32"/>
    <p:sldId id="295" r:id="rId33"/>
    <p:sldId id="296" r:id="rId34"/>
    <p:sldId id="297" r:id="rId35"/>
    <p:sldId id="300" r:id="rId36"/>
    <p:sldId id="1938" r:id="rId37"/>
    <p:sldId id="305" r:id="rId38"/>
    <p:sldId id="306" r:id="rId39"/>
    <p:sldId id="307" r:id="rId40"/>
    <p:sldId id="308" r:id="rId41"/>
    <p:sldId id="309" r:id="rId42"/>
    <p:sldId id="310" r:id="rId43"/>
    <p:sldId id="311" r:id="rId44"/>
    <p:sldId id="312" r:id="rId45"/>
    <p:sldId id="315" r:id="rId46"/>
    <p:sldId id="316" r:id="rId47"/>
    <p:sldId id="317" r:id="rId48"/>
    <p:sldId id="318" r:id="rId49"/>
    <p:sldId id="319" r:id="rId50"/>
    <p:sldId id="356" r:id="rId51"/>
    <p:sldId id="357" r:id="rId52"/>
    <p:sldId id="358" r:id="rId53"/>
    <p:sldId id="359" r:id="rId54"/>
    <p:sldId id="360" r:id="rId55"/>
    <p:sldId id="361" r:id="rId56"/>
    <p:sldId id="362" r:id="rId57"/>
    <p:sldId id="363" r:id="rId58"/>
    <p:sldId id="364" r:id="rId59"/>
    <p:sldId id="365" r:id="rId60"/>
    <p:sldId id="366" r:id="rId61"/>
    <p:sldId id="1939" r:id="rId62"/>
    <p:sldId id="1940" r:id="rId63"/>
    <p:sldId id="1943" r:id="rId64"/>
    <p:sldId id="1944" r:id="rId65"/>
    <p:sldId id="1941" r:id="rId66"/>
    <p:sldId id="1945" r:id="rId67"/>
  </p:sldIdLst>
  <p:sldSz cx="12192000" cy="6858000"/>
  <p:notesSz cx="6858000" cy="9144000"/>
  <p:custDataLst>
    <p:tags r:id="rId7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章 嘉玺" initials="章" lastIdx="1" clrIdx="0"/>
  <p:cmAuthor id="2" name="webuser" initials="webuser" lastIdx="2"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EEFE0"/>
    <a:srgbClr val="8B0012"/>
    <a:srgbClr val="70AD47"/>
    <a:srgbClr val="2774AE"/>
    <a:srgbClr val="70AE47"/>
    <a:srgbClr val="549E39"/>
    <a:srgbClr val="90B085"/>
    <a:srgbClr val="2D2D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04" autoAdjust="0"/>
    <p:restoredTop sz="80261" autoAdjust="0"/>
  </p:normalViewPr>
  <p:slideViewPr>
    <p:cSldViewPr snapToGrid="0" snapToObjects="1">
      <p:cViewPr varScale="1">
        <p:scale>
          <a:sx n="95" d="100"/>
          <a:sy n="95" d="100"/>
        </p:scale>
        <p:origin x="1296" y="168"/>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p:cViewPr varScale="1">
        <p:scale>
          <a:sx n="81" d="100"/>
          <a:sy n="81" d="100"/>
        </p:scale>
        <p:origin x="3384" y="19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3" Type="http://schemas.openxmlformats.org/officeDocument/2006/relationships/tags" Target="tags/tag10.xml"/><Relationship Id="rId72" Type="http://schemas.openxmlformats.org/officeDocument/2006/relationships/commentAuthors" Target="commentAuthors.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notesMaster" Target="notesMasters/notesMaster1.xml"/><Relationship Id="rId69" Type="http://schemas.openxmlformats.org/officeDocument/2006/relationships/presProps" Target="presProps.xml"/><Relationship Id="rId68" Type="http://schemas.openxmlformats.org/officeDocument/2006/relationships/handoutMaster" Target="handoutMasters/handoutMaster1.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DAD35F3-BE5B-41CC-A973-5F94E77F22B3}"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76126E5-09CE-4398-8EB0-4AC849D0A164}"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AE8E16-D6C5-3248-816C-85B3C8E8792E}"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44C98A-D9C5-894D-9A13-8F52E37846C0}"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基于</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循环神经网络（</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RNN</a:t>
            </a:r>
            <a:r>
              <a:rPr lang="en-US" sz="1200" b="1" i="0" u="none" strike="noStrike" dirty="0">
                <a:solidFill>
                  <a:srgbClr val="000000"/>
                </a:solidFill>
              </a:rPr>
              <a:t>）</a:t>
            </a:r>
            <a:r>
              <a:rPr lang="en-US" sz="1200" b="0" i="0" u="none" strike="noStrike" dirty="0">
                <a:solidFill>
                  <a:srgbClr val="000000"/>
                </a:solidFill>
              </a:rPr>
              <a:t>、</a:t>
            </a:r>
            <a:r>
              <a:rPr lang="en-US" sz="1200" b="0" i="0" u="none" strike="noStrike" dirty="0" err="1">
                <a:solidFill>
                  <a:srgbClr val="000000"/>
                </a:solidFill>
              </a:rPr>
              <a:t>长短期记忆网络（</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LSTM</a:t>
            </a:r>
            <a:r>
              <a:rPr lang="en-US" sz="1200" b="0" i="0" u="none" strike="noStrike" dirty="0" err="1">
                <a:solidFill>
                  <a:srgbClr val="000000"/>
                </a:solidFill>
              </a:rPr>
              <a:t>）</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门控循环单元（</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GRU</a:t>
            </a:r>
            <a:r>
              <a:rPr lang="en-US" sz="1200" b="0" i="0" u="none" strike="noStrike" dirty="0" err="1">
                <a:solidFill>
                  <a:srgbClr val="000000"/>
                </a:solidFill>
              </a:rPr>
              <a:t>）的模型在自然语言处理（</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NLP</a:t>
            </a:r>
            <a:r>
              <a:rPr lang="en-US" sz="1200" b="0" i="0" u="none" strike="noStrike" dirty="0" err="1">
                <a:solidFill>
                  <a:srgbClr val="000000"/>
                </a:solidFill>
              </a:rPr>
              <a:t>）领域曾占据举足轻重的地位</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RNN</a:t>
            </a:r>
            <a:r>
              <a:rPr lang="en-US" sz="1200" b="0" i="0" u="none" strike="noStrike" dirty="0" err="1">
                <a:solidFill>
                  <a:srgbClr val="000000"/>
                </a:solidFill>
              </a:rPr>
              <a:t>：最早可追溯至</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20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世纪</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80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年代，是最早用于</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NLP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的序列模型之一</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LSTM </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与</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GRU</a:t>
            </a:r>
            <a:r>
              <a:rPr lang="en-US" sz="1200" b="0"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LSTM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由</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Hochreiter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Schmidhuber</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于</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1997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年提出，</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GRU</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则由</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Cho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等人于</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2014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年提出。它们作为</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RNN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的变体，旨在通过引入额外的“门控机制”来捕捉短期和长期记忆，从而有效解决</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梯度消失</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问题并更出色地处理</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长期依赖关系</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由于这些模型能够处理序列数据并随时间推移保留上下文信息，它们一度成为机器翻译、情感分析和文本生成等各类</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NLP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任务的首选解决方案</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虽然</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RNN</a:t>
            </a:r>
            <a:r>
              <a:rPr lang="en-US" sz="1200" b="0"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LSTM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GRU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仍然是解决众多</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NLP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挑战时不可或缺的主流工具，但其底层数学原理也带来了一系列局限性</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长程依赖困境</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这些模型在处理长程依赖（</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long-range</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dependencies</a:t>
            </a:r>
            <a:r>
              <a:rPr lang="en-US" sz="1200" b="0" i="0" u="none" strike="noStrike" dirty="0" err="1">
                <a:solidFill>
                  <a:srgbClr val="000000"/>
                </a:solidFill>
              </a:rPr>
              <a:t>）时显得力不从心，难以捕获序列中远距离元素之间的信息</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梯度消失问题</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梯度消失（</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vanishing</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gradient</a:t>
            </a:r>
            <a:r>
              <a:rPr lang="en-US" sz="1200" b="0" i="0" u="none" strike="noStrike" dirty="0" err="1">
                <a:solidFill>
                  <a:srgbClr val="000000"/>
                </a:solidFill>
              </a:rPr>
              <a:t>）现象阻碍了模型在长序列中进行学习或传播梯度的能力，这不仅拖慢了训练进度，也限制了模型有效建模复杂关系的能力</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长序列处理瓶颈</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面对长序列时，模型的局限性愈发明显。随着输入序列的增长，编码器生成的</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固定尺寸表示（</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fixed-size</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representation</a:t>
            </a:r>
            <a:r>
              <a:rPr lang="en-US" sz="1200" b="1" i="0" u="none" strike="noStrike" dirty="0" err="1">
                <a:solidFill>
                  <a:srgbClr val="000000"/>
                </a:solidFill>
              </a:rPr>
              <a:t>）不足以保留所有必要的上下文信息，从而导致信息丢失和性能下降（这也被称为信息瓶颈</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生成挑战</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因此，利用传统的固定尺寸上下文向量来生成长序列变得极具挑战性</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模型最初是在论文</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《Attention Is All You </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Need》</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中提出的，其在特定任务上的表现超越了</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Google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神经网络机器翻译（</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GNMT）模型。然而，其最大的优势在于它非常适合</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并行化</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处理</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从将模型视为一个</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单独的黑箱</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开始，在机器翻译的应用中，这个模型会接收</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一种语言的句子作为输入</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，然后</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输出另一种语言的翻译</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拆开这个黑盒，我们会看到一个</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编码组件（</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encoding</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component）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一个</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解码组件（</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decoding</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component）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以及它们之间的连接</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编码组件是由一</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叠（</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stack）编码器</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构成的（论文中将六个编码器堆叠在一起</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这个数字六并非</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magic</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number，当然可以尝试其他的安排</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解码组件也是由</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相同数量</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的解码器堆叠而成的</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编码器在结构上都是相同的（但它们不共享权重</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每个编码器都分解为两个子层（</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sub-layers</a:t>
            </a:r>
            <a:r>
              <a:rPr lang="en-US" sz="1200" b="0" i="0" u="none" strike="noStrike" dirty="0">
                <a:solidFill>
                  <a:srgbClr val="000000"/>
                </a:solidFill>
              </a:rPr>
              <a:t>）：</a:t>
            </a:r>
            <a:r>
              <a:rPr lang="en-US" sz="1200" b="0" i="0" u="none" strike="noStrike" dirty="0" err="1">
                <a:solidFill>
                  <a:srgbClr val="000000"/>
                </a:solidFill>
              </a:rPr>
              <a:t>多头自注意力机制（</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Multi-Head</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Self-Attention </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Mechanism</a:t>
            </a:r>
            <a:r>
              <a:rPr lang="en-US" sz="1200" b="0" i="0" u="none" strike="noStrike" dirty="0" err="1">
                <a:solidFill>
                  <a:srgbClr val="000000"/>
                </a:solidFill>
              </a:rPr>
              <a:t>）这个子层帮助编码器在处理特定词语时，能够权衡输入句子中所有其他词语的重要性。简单的前馈网络（</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Simple</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Position-wise Feed-Forward </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Network</a:t>
            </a:r>
            <a:r>
              <a:rPr lang="en-US" sz="1200" b="0" i="0" u="none" strike="noStrike" dirty="0" err="1">
                <a:solidFill>
                  <a:srgbClr val="000000"/>
                </a:solidFill>
              </a:rPr>
              <a:t>）这是一个标准的全连接前馈网络，它独立地应用于序列中的每个位置（</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position</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Decoder</a:t>
            </a:r>
            <a:r>
              <a:rPr lang="en-US" sz="1200" b="0" i="0" u="none" strike="noStrike" dirty="0">
                <a:solidFill>
                  <a:srgbClr val="000000"/>
                </a:solidFill>
              </a:rPr>
              <a:t>）也包含这两个层，但在它们之间还有一个注意力层，这个层帮助解码器聚焦于输入句子中的相关部分（类似于注意力机制在</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seq2seq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模型中所起的作用</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既然我们已经了解了模型的主要组成部分，现在让我们开始关注各种</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向量</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张量</a:t>
            </a:r>
            <a:r>
              <a:rPr lang="en-US" sz="1200" b="0" i="0" u="none" strike="noStrike" dirty="0" err="1">
                <a:solidFill>
                  <a:srgbClr val="000000"/>
                </a:solidFill>
              </a:rPr>
              <a:t>，以及它们如何在这些组件之间流动，从而将一个经过训练的模型的输入转化为输出</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正如一般的自然语言处理（</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NLP</a:t>
            </a:r>
            <a:r>
              <a:rPr lang="en-US" sz="1200" b="0" i="0" u="none" strike="noStrike" dirty="0" err="1">
                <a:solidFill>
                  <a:srgbClr val="000000"/>
                </a:solidFill>
              </a:rPr>
              <a:t>）应用一样，我们首先使用嵌入算法（</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embedding</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algorithm</a:t>
            </a:r>
            <a:r>
              <a:rPr lang="en-US" sz="1200" b="0" i="0" u="none" strike="noStrike" dirty="0" err="1">
                <a:solidFill>
                  <a:srgbClr val="000000"/>
                </a:solidFill>
              </a:rPr>
              <a:t>）将每个输入词语转换成一个向量</a:t>
            </a:r>
            <a:r>
              <a:rPr lang="en-US" sz="1200" b="0" i="0" u="none" strike="noStrike" dirty="0">
                <a:solidFill>
                  <a:srgbClr val="000000"/>
                </a:solidFill>
              </a:rPr>
              <a:t>。</a:t>
            </a:r>
            <a:endParaRPr lang="en-US" sz="1200" b="0" i="0" u="none" strike="noStrike" dirty="0">
              <a:solidFill>
                <a:srgbClr val="000000"/>
              </a:solidFill>
            </a:endParaRPr>
          </a:p>
          <a:p>
            <a:pPr marL="152400" indent="-152400" algn="l">
              <a:lnSpc>
                <a:spcPct val="100000"/>
              </a:lnSpc>
              <a:buClr>
                <a:srgbClr val="000000"/>
              </a:buClr>
              <a:buChar char="•"/>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每个词语都被嵌入到一个</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大小为</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512</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的向量中。嵌入操作</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只发生在最底部的编码器</a:t>
            </a:r>
            <a:r>
              <a:rPr lang="en-US" sz="1200" b="0" i="0" u="none" strike="noStrike" dirty="0" err="1">
                <a:solidFill>
                  <a:srgbClr val="000000"/>
                </a:solidFill>
              </a:rPr>
              <a:t>。所有编码器共有的抽象特性是：它们接收一个</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大小为</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512 </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的向量列表</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作为输入。在</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最底部的编码器</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中，这个列表是</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词嵌入</a:t>
            </a:r>
            <a:r>
              <a:rPr lang="en-US" sz="1200" b="0" i="0" u="none" strike="noStrike" dirty="0">
                <a:solidFill>
                  <a:srgbClr val="000000"/>
                </a:solidFill>
              </a:rPr>
              <a:t>。在</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其他编码器</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中，这个列表是紧邻</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下方编码器的输出</a:t>
            </a:r>
            <a:r>
              <a:rPr lang="en-US" sz="1200" b="0" i="0" u="none" strike="noStrike" dirty="0">
                <a:solidFill>
                  <a:srgbClr val="000000"/>
                </a:solidFill>
              </a:rPr>
              <a:t>。这个列表的大小是一个我们可以设置的</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超参数</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它基本上就是我们训练数据集中</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最长句子的长度</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在将输入序列中的词语嵌入后，</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每个词语</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会流经编码器的两个层</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在这里，我们开始看到</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的一个关键特性：</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每个位置的词语都沿着自己在编码器中的路径流动</a:t>
            </a:r>
            <a:r>
              <a:rPr lang="en-US" sz="1200" b="0" i="0" u="none" strike="noStrike" dirty="0">
                <a:solidFill>
                  <a:srgbClr val="000000"/>
                </a:solidFill>
              </a:rPr>
              <a:t>。</a:t>
            </a:r>
            <a:endParaRPr lang="en-US" sz="1200" b="0" i="0" u="none" strike="noStrike" dirty="0">
              <a:solidFill>
                <a:srgbClr val="000000"/>
              </a:solidFill>
            </a:endParaRPr>
          </a:p>
          <a:p>
            <a:pPr marL="152400" indent="-152400" algn="l">
              <a:lnSpc>
                <a:spcPct val="100000"/>
              </a:lnSpc>
              <a:buClr>
                <a:srgbClr val="000000"/>
              </a:buClr>
              <a:buChar char="•"/>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自注意力层</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中，这些路径之间存在</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依赖关系</a:t>
            </a:r>
            <a:r>
              <a:rPr lang="en-US" sz="1200" b="0" i="0" u="none" strike="noStrike" dirty="0" err="1">
                <a:solidFill>
                  <a:srgbClr val="000000"/>
                </a:solidFill>
              </a:rPr>
              <a:t>（即相互影响</a:t>
            </a:r>
            <a:r>
              <a:rPr lang="en-US" sz="1200" b="0" i="0" u="none" strike="noStrike" dirty="0">
                <a:solidFill>
                  <a:srgbClr val="000000"/>
                </a:solidFill>
              </a:rPr>
              <a:t>）。</a:t>
            </a:r>
            <a:endParaRPr lang="en-US" sz="1200" b="0" i="0" u="none" strike="noStrike" dirty="0">
              <a:solidFill>
                <a:srgbClr val="000000"/>
              </a:solidFill>
            </a:endParaRPr>
          </a:p>
          <a:p>
            <a:pPr marL="152400" indent="-152400" algn="l">
              <a:lnSpc>
                <a:spcPct val="100000"/>
              </a:lnSpc>
              <a:buClr>
                <a:srgbClr val="000000"/>
              </a:buClr>
              <a:buChar char="•"/>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然而，</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前馈层</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没有</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这些依赖关系，因此当数据流经前馈层时，各个路径可以</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并行执行</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正如我们前面提到的，一个编码器接收一个</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向量列表</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作为输入。它通过以下步骤处理这个列表</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Font typeface="+mj-lt"/>
              <a:buAutoNum type="arabicPeriod"/>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将这些</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self</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-attention layer</a:t>
            </a:r>
            <a:r>
              <a:rPr lang="en-US" sz="1200" b="0" i="0" u="none" strike="noStrike" dirty="0">
                <a:solidFill>
                  <a:srgbClr val="000000"/>
                </a:solidFill>
              </a:rPr>
              <a:t>）。</a:t>
            </a:r>
            <a:endParaRPr lang="en-US" sz="1200" b="0" i="0" u="none" strike="noStrike" dirty="0">
              <a:solidFill>
                <a:srgbClr val="000000"/>
              </a:solidFill>
            </a:endParaRPr>
          </a:p>
          <a:p>
            <a:pPr marL="152400" indent="-152400" algn="l">
              <a:lnSpc>
                <a:spcPct val="100000"/>
              </a:lnSpc>
              <a:buClr>
                <a:srgbClr val="000000"/>
              </a:buClr>
              <a:buFont typeface="+mj-lt"/>
              <a:buAutoNum type="arabicPeriod"/>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接着输入到</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前馈神经网</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向量输入到</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自注意力”层（</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络（</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feed-forward</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neural network</a:t>
            </a:r>
            <a:r>
              <a:rPr lang="en-US" sz="1200" b="1" i="0" u="none" strike="noStrike" dirty="0">
                <a:solidFill>
                  <a:srgbClr val="000000"/>
                </a:solidFill>
              </a:rPr>
              <a:t>）</a:t>
            </a:r>
            <a:r>
              <a:rPr lang="en-US" sz="1200" b="0" i="0" u="none" strike="noStrike" dirty="0">
                <a:solidFill>
                  <a:srgbClr val="000000"/>
                </a:solidFill>
              </a:rPr>
              <a:t>。</a:t>
            </a:r>
            <a:endParaRPr lang="en-US" sz="1200" b="0" i="0" u="none" strike="noStrike" dirty="0">
              <a:solidFill>
                <a:srgbClr val="000000"/>
              </a:solidFill>
            </a:endParaRPr>
          </a:p>
          <a:p>
            <a:pPr marL="152400" indent="-152400" algn="l">
              <a:lnSpc>
                <a:spcPct val="100000"/>
              </a:lnSpc>
              <a:buClr>
                <a:srgbClr val="000000"/>
              </a:buClr>
              <a:buFont typeface="+mj-lt"/>
              <a:buAutoNum type="arabicPeriod"/>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然后将最终输出向上传递给</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下一个编码器</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这个过程在编码器堆栈中重复进行，直到最顶层的编码器输出最终的编码结果，供解码器使用</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不要被我随口说出的“</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自注意力</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self-attention</a:t>
            </a:r>
            <a:r>
              <a:rPr lang="en-US" sz="1200" b="0" i="0" u="none" strike="noStrike" dirty="0" err="1">
                <a:solidFill>
                  <a:srgbClr val="000000"/>
                </a:solidFill>
              </a:rPr>
              <a:t>）这个词所迷惑，好像它是一个人人都应熟悉的概念</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假设下面这句话是我们想要翻译的输入句</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“The animal didn't cross the street because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was too tired”</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在这个句子中</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“it”</a:t>
            </a:r>
            <a:r>
              <a:rPr lang="en-US" sz="1200" b="1" i="0" u="none" strike="noStrike" dirty="0">
                <a:solidFill>
                  <a:srgbClr val="000000"/>
                </a:solidFill>
              </a:rPr>
              <a:t>（</a:t>
            </a:r>
            <a:r>
              <a:rPr lang="en-US" sz="1200" b="1" i="0" u="none" strike="noStrike" dirty="0" err="1">
                <a:solidFill>
                  <a:srgbClr val="000000"/>
                </a:solidFill>
              </a:rPr>
              <a:t>它）指代的是什么？它指的是街道（</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street</a:t>
            </a:r>
            <a:r>
              <a:rPr lang="en-US" sz="1200" b="1" i="0" u="none" strike="noStrike" dirty="0" err="1">
                <a:solidFill>
                  <a:srgbClr val="000000"/>
                </a:solidFill>
              </a:rPr>
              <a:t>）还是动物（</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animal</a:t>
            </a:r>
            <a:r>
              <a:rPr lang="en-US" sz="1200" b="1" i="0" u="none" strike="noStrike" dirty="0">
                <a:solidFill>
                  <a:srgbClr val="000000"/>
                </a:solidFill>
              </a:rPr>
              <a:t>）</a:t>
            </a:r>
            <a:r>
              <a:rPr lang="en-US" sz="1200" b="0" i="0" u="none" strike="noStrike" dirty="0">
                <a:solidFill>
                  <a:srgbClr val="000000"/>
                </a:solidFill>
              </a:rPr>
              <a:t>？</a:t>
            </a:r>
            <a:r>
              <a:rPr lang="en-US" sz="1200" b="0" i="0" u="none" strike="noStrike" dirty="0" err="1">
                <a:solidFill>
                  <a:srgbClr val="000000"/>
                </a:solidFill>
              </a:rPr>
              <a:t>对人类来说，这是一个简单的问题，但对算法来说却并非如此</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当模型处理</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这个词时，</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自注意力机制</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允许模型将</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与</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“animal”</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联系起来</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当模型处理</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每个词语</a:t>
            </a:r>
            <a:r>
              <a:rPr lang="en-US" sz="1200" b="0" i="0" u="none" strike="noStrike" dirty="0">
                <a:solidFill>
                  <a:srgbClr val="000000"/>
                </a:solidFill>
              </a:rPr>
              <a:t>（即输入序列中的</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每个位置</a:t>
            </a:r>
            <a:r>
              <a:rPr lang="en-US" sz="1200" b="0" i="0" u="none" strike="noStrike" dirty="0">
                <a:solidFill>
                  <a:srgbClr val="000000"/>
                </a:solidFill>
              </a:rPr>
              <a:t>）时，自注意力机制允许它</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查看输入序列中的其他位置</a:t>
            </a:r>
            <a:r>
              <a:rPr lang="en-US" sz="1200" b="0" i="0" u="none" strike="noStrike" dirty="0">
                <a:solidFill>
                  <a:srgbClr val="000000"/>
                </a:solidFill>
              </a:rPr>
              <a:t>，以寻找有助于对当前词语进行</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更好编码</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的线索。</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如果您熟悉循环神经网络（</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RNN</a:t>
            </a:r>
            <a:r>
              <a:rPr lang="en-US" sz="1200" b="0" i="0" u="none" strike="noStrike" dirty="0">
                <a:solidFill>
                  <a:srgbClr val="000000"/>
                </a:solidFill>
              </a:rPr>
              <a:t>），</a:t>
            </a:r>
            <a:r>
              <a:rPr lang="en-US" sz="1200" b="0" i="0" u="none" strike="noStrike" dirty="0" err="1">
                <a:solidFill>
                  <a:srgbClr val="000000"/>
                </a:solidFill>
              </a:rPr>
              <a:t>可以想象</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维护一个隐藏状态</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是如何让</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RNN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将它处理过的</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先前词语</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向量的表示</a:t>
            </a:r>
            <a:r>
              <a:rPr lang="en-US" sz="1200" b="0" i="0" u="none" strike="noStrike" dirty="0" err="1">
                <a:solidFill>
                  <a:srgbClr val="000000"/>
                </a:solidFill>
              </a:rPr>
              <a:t>，融入到它</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当前正在处理的词语</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中的。</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自注意力机制</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就是</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用来将对其他相关词语的“理解”</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融入</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到我们当前正在处理的词语中的方法</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比如，当我们正在</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编码器</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#5</a:t>
            </a:r>
            <a:r>
              <a:rPr lang="en-US" sz="1200" b="0" i="0" u="none" strike="noStrike" dirty="0">
                <a:solidFill>
                  <a:srgbClr val="000000"/>
                </a:solidFill>
              </a:rPr>
              <a:t>（堆栈中最上面的编码器）中编码</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这个词时，注意力机制的一部分就</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聚焦</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在了</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“The Animal”</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上，并将</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“animal”</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的一部分表示</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融入</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到了</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的编码中</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endParaRPr lang="en-US" sz="1200" b="0" i="0" u="none" strike="noStrike" dirty="0">
              <a:solidFill>
                <a:srgbClr val="000000"/>
              </a:solidFill>
            </a:endParaRPr>
          </a:p>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计算自注意力机制的</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第一步</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是从编码器的每个输入向量（在本例中，即每个词的嵌入向量）创建三个新的向量：</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查询向量（</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Query</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Vector, Q</a:t>
            </a:r>
            <a:r>
              <a:rPr lang="en-US" sz="1200" b="1" i="0" u="none" strike="noStrike" dirty="0">
                <a:solidFill>
                  <a:srgbClr val="000000"/>
                </a:solidFill>
              </a:rPr>
              <a:t>）</a:t>
            </a:r>
            <a:r>
              <a:rPr lang="en-US" sz="1200" b="0" i="0" u="none" strike="noStrike" dirty="0">
                <a:solidFill>
                  <a:srgbClr val="000000"/>
                </a:solidFill>
              </a:rPr>
              <a:t>、</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键向量（</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Key</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Vector, </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K</a:t>
            </a:r>
            <a:r>
              <a:rPr lang="en-US" sz="1200" b="1" i="0" u="none" strike="noStrike" dirty="0" err="1">
                <a:solidFill>
                  <a:srgbClr val="000000"/>
                </a:solidFill>
              </a:rPr>
              <a:t>）和值向量（</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Value</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Vector, V</a:t>
            </a:r>
            <a:r>
              <a:rPr lang="en-US" sz="1200" b="1" i="0" u="none" strike="noStrike" dirty="0">
                <a:solidFill>
                  <a:srgbClr val="000000"/>
                </a:solidFill>
              </a:rPr>
              <a:t>）</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这些向量是通过将词嵌入向量分别乘以三个在训练过程中学习到的</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权重矩阵</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WQ</a:t>
            </a:r>
            <a:r>
              <a:rPr lang="en-US" sz="1200" b="0"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WK </a:t>
            </a:r>
            <a:r>
              <a:rPr lang="en-US" sz="1200" b="0" i="0" u="none" strike="noStrike" dirty="0" err="1">
                <a:solidFill>
                  <a:srgbClr val="000000"/>
                </a:solidFill>
              </a:rPr>
              <a:t>和</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WV </a:t>
            </a:r>
            <a:r>
              <a:rPr lang="en-US" sz="1200" b="0" i="0" u="none" strike="noStrike" dirty="0" err="1">
                <a:solidFill>
                  <a:srgbClr val="000000"/>
                </a:solidFill>
              </a:rPr>
              <a:t>来创建的</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Q=</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Embedding</a:t>
            </a:r>
            <a:r>
              <a:rPr lang="en-US" sz="1200" b="0" i="0" u="none" strike="noStrike" dirty="0" err="1">
                <a:solidFill>
                  <a:srgbClr val="000000"/>
                </a:solidFill>
              </a:rPr>
              <a: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WQK</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Embedding</a:t>
            </a:r>
            <a:r>
              <a:rPr lang="en-US" sz="1200" b="0" i="0" u="none" strike="noStrike" dirty="0" err="1">
                <a:solidFill>
                  <a:srgbClr val="000000"/>
                </a:solidFill>
              </a:rPr>
              <a: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WKV</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Embedding</a:t>
            </a:r>
            <a:r>
              <a:rPr lang="en-US" sz="1200" b="0" i="0" u="none" strike="noStrike" dirty="0" err="1">
                <a:solidFill>
                  <a:srgbClr val="000000"/>
                </a:solidFill>
              </a:rPr>
              <a: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WV</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a:p>
            <a:pPr marL="152400" indent="-152400" algn="l">
              <a:lnSpc>
                <a:spcPct val="100000"/>
              </a:lnSpc>
              <a:buClr>
                <a:srgbClr val="000000"/>
              </a:buClr>
              <a:buChar char="•"/>
            </a:pP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向量维度</a:t>
            </a:r>
            <a:r>
              <a:rPr lang="en-US" sz="1200" b="0" i="0" u="none" strike="noStrike" dirty="0" err="1">
                <a:solidFill>
                  <a:srgbClr val="000000"/>
                </a:solidFill>
              </a:rPr>
              <a:t>：请注意，这些新的</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Q</a:t>
            </a:r>
            <a:r>
              <a:rPr lang="en-US" sz="1200" b="0"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K</a:t>
            </a:r>
            <a:r>
              <a:rPr lang="en-US" sz="1200" b="0"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V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向量的维度（在论文中是</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64</a:t>
            </a:r>
            <a:r>
              <a:rPr lang="en-US" sz="1200" b="0" i="0" u="none" strike="noStrike" dirty="0">
                <a:solidFill>
                  <a:srgbClr val="000000"/>
                </a:solidFill>
              </a:rPr>
              <a:t>）小于嵌入向量的维度（</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512</a:t>
            </a:r>
            <a:r>
              <a:rPr lang="en-US" sz="1200" b="0" i="0" u="none" strike="noStrike" dirty="0">
                <a:solidFill>
                  <a:srgbClr val="000000"/>
                </a:solidFill>
              </a:rPr>
              <a:t>）。</a:t>
            </a:r>
            <a:r>
              <a:rPr lang="en-US" sz="1200" b="0" i="0" u="none" strike="noStrike" dirty="0" err="1">
                <a:solidFill>
                  <a:srgbClr val="000000"/>
                </a:solidFill>
              </a:rPr>
              <a:t>它们</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并非必须</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更小，这是一种架构选择，主要是为了保持多头注意力（</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Multi-Head</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Attention</a:t>
            </a:r>
            <a:r>
              <a:rPr lang="en-US" sz="1200" b="0" i="0" u="none" strike="noStrike" dirty="0" err="1">
                <a:solidFill>
                  <a:srgbClr val="000000"/>
                </a:solidFill>
              </a:rPr>
              <a:t>）的计算复杂度（大致）恒定</a:t>
            </a:r>
            <a:r>
              <a:rPr lang="en-US" sz="1200" b="0" i="0" u="none" strike="noStrike" dirty="0">
                <a:solidFill>
                  <a:srgbClr val="000000"/>
                </a:solidFill>
              </a:rPr>
              <a:t>。</a:t>
            </a:r>
            <a:endParaRPr lang="en-US" sz="1200" b="0" i="0" u="none" strike="noStrike" dirty="0">
              <a:solidFill>
                <a:srgbClr val="000000"/>
              </a:solidFill>
            </a:endParaRPr>
          </a:p>
          <a:p>
            <a:pPr marL="152400" indent="-152400" algn="l">
              <a:lnSpc>
                <a:spcPct val="100000"/>
              </a:lnSpc>
              <a:buClr>
                <a:srgbClr val="000000"/>
              </a:buClr>
              <a:buChar char="•"/>
            </a:pP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抽象作用</a:t>
            </a:r>
            <a:r>
              <a:rPr lang="en-US" sz="1200" b="0" i="0" u="none" strike="noStrike" dirty="0" err="1">
                <a:solidFill>
                  <a:srgbClr val="000000"/>
                </a:solidFill>
              </a:rPr>
              <a: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Q</a:t>
            </a:r>
            <a:r>
              <a:rPr lang="en-US" sz="1200" b="0" i="0" u="none" strike="noStrike" dirty="0" err="1">
                <a:solidFill>
                  <a:srgbClr val="000000"/>
                </a:solidFill>
              </a:rPr>
              <a: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K</a:t>
            </a:r>
            <a:r>
              <a:rPr lang="en-US" sz="1200" b="0" i="0" u="none" strike="noStrike" dirty="0" err="1">
                <a:solidFill>
                  <a:srgbClr val="000000"/>
                </a:solidFill>
              </a:rPr>
              <a: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V</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是用于计算和思考注意力机制的抽象概念</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609600" lvl="1" indent="-152400" algn="l">
              <a:lnSpc>
                <a:spcPct val="100000"/>
              </a:lnSpc>
              <a:buClr>
                <a:srgbClr val="000000"/>
              </a:buClr>
              <a:buChar char="•"/>
            </a:pP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Q</a:t>
            </a:r>
            <a:r>
              <a:rPr lang="en-US" sz="1200" b="1" i="0" u="none" strike="noStrike" dirty="0" err="1">
                <a:solidFill>
                  <a:srgbClr val="000000"/>
                </a:solidFill>
              </a:rPr>
              <a:t>（查询</a:t>
            </a:r>
            <a:r>
              <a:rPr lang="en-US" sz="1200" b="1" i="0" u="none" strike="noStrike" dirty="0">
                <a:solidFill>
                  <a:srgbClr val="000000"/>
                </a:solidFill>
              </a:rPr>
              <a:t>）</a:t>
            </a:r>
            <a:r>
              <a:rPr lang="en-US" sz="1200" b="0" i="0" u="none" strike="noStrike" dirty="0">
                <a:solidFill>
                  <a:srgbClr val="000000"/>
                </a:solidFill>
              </a:rPr>
              <a:t>：</a:t>
            </a:r>
            <a:r>
              <a:rPr lang="en-US" sz="1200" b="0" i="0" u="none" strike="noStrike" dirty="0" err="1">
                <a:solidFill>
                  <a:srgbClr val="000000"/>
                </a:solidFill>
              </a:rPr>
              <a:t>代表</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当前</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词语，用于向其他所有词语</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提问</a:t>
            </a:r>
            <a:r>
              <a:rPr lang="en-US" sz="1200" b="0" i="0" u="none" strike="noStrike" dirty="0" err="1">
                <a:solidFill>
                  <a:srgbClr val="000000"/>
                </a:solidFill>
              </a:rPr>
              <a:t>（查询</a:t>
            </a:r>
            <a:r>
              <a:rPr lang="en-US" sz="1200" b="0"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err="1">
                <a:solidFill>
                  <a:srgbClr val="000000"/>
                </a:solidFill>
              </a:rPr>
              <a:t>我们应该关注你多少</a:t>
            </a:r>
            <a:r>
              <a:rPr lang="en-US" sz="1200" b="0"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a:p>
            <a:pPr marL="609600" lvl="1" indent="-152400" algn="l">
              <a:lnSpc>
                <a:spcPct val="100000"/>
              </a:lnSpc>
              <a:buClr>
                <a:srgbClr val="000000"/>
              </a:buClr>
              <a:buChar char="•"/>
            </a:pP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K</a:t>
            </a:r>
            <a:r>
              <a:rPr lang="en-US" sz="1200" b="1" i="0" u="none" strike="noStrike" dirty="0" err="1">
                <a:solidFill>
                  <a:srgbClr val="000000"/>
                </a:solidFill>
              </a:rPr>
              <a:t>（键</a:t>
            </a:r>
            <a:r>
              <a:rPr lang="en-US" sz="1200" b="1" i="0" u="none" strike="noStrike" dirty="0">
                <a:solidFill>
                  <a:srgbClr val="000000"/>
                </a:solidFill>
              </a:rPr>
              <a:t>）</a:t>
            </a:r>
            <a:r>
              <a:rPr lang="en-US" sz="1200" b="0" i="0" u="none" strike="noStrike" dirty="0">
                <a:solidFill>
                  <a:srgbClr val="000000"/>
                </a:solidFill>
              </a:rPr>
              <a:t>：</a:t>
            </a:r>
            <a:r>
              <a:rPr lang="en-US" sz="1200" b="0" i="0" u="none" strike="noStrike" dirty="0" err="1">
                <a:solidFill>
                  <a:srgbClr val="000000"/>
                </a:solidFill>
              </a:rPr>
              <a:t>代表</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所有</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词语，用于回答查询</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我的信息是什么？我有多重要</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609600" lvl="1" indent="-152400" algn="l">
              <a:lnSpc>
                <a:spcPct val="100000"/>
              </a:lnSpc>
              <a:buClr>
                <a:srgbClr val="000000"/>
              </a:buClr>
              <a:buChar char="•"/>
            </a:pP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V</a:t>
            </a:r>
            <a:r>
              <a:rPr lang="en-US" sz="1200" b="1" i="0" u="none" strike="noStrike" dirty="0" err="1">
                <a:solidFill>
                  <a:srgbClr val="000000"/>
                </a:solidFill>
              </a:rPr>
              <a:t>（值</a:t>
            </a:r>
            <a:r>
              <a:rPr lang="en-US" sz="1200" b="1" i="0" u="none" strike="noStrike" dirty="0">
                <a:solidFill>
                  <a:srgbClr val="000000"/>
                </a:solidFill>
              </a:rPr>
              <a:t>）</a:t>
            </a:r>
            <a:r>
              <a:rPr lang="en-US" sz="1200" b="0" i="0" u="none" strike="noStrike" dirty="0">
                <a:solidFill>
                  <a:srgbClr val="000000"/>
                </a:solidFill>
              </a:rPr>
              <a:t>：</a:t>
            </a:r>
            <a:r>
              <a:rPr lang="en-US" sz="1200" b="0" i="0" u="none" strike="noStrike" dirty="0" err="1">
                <a:solidFill>
                  <a:srgbClr val="000000"/>
                </a:solidFill>
              </a:rPr>
              <a:t>代表</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所有</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词语的实际内容，用于</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加权求和</a:t>
            </a:r>
            <a:r>
              <a:rPr lang="en-US" sz="1200" b="0" i="0" u="none" strike="noStrike" dirty="0" err="1">
                <a:solidFill>
                  <a:srgbClr val="000000"/>
                </a:solidFill>
              </a:rPr>
              <a:t>，形成最终的输出</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计算自注意力的</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第二步</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是计算</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得分（</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score</a:t>
            </a:r>
            <a:r>
              <a:rPr lang="en-US" sz="1200" b="1" i="0" u="none" strike="noStrike" dirty="0">
                <a:solidFill>
                  <a:srgbClr val="000000"/>
                </a:solidFill>
              </a:rPr>
              <a:t>）</a:t>
            </a:r>
            <a:r>
              <a:rPr lang="en-US" sz="1200" b="0" i="0" u="none" strike="noStrike" dirty="0">
                <a:solidFill>
                  <a:srgbClr val="000000"/>
                </a:solidFill>
              </a:rPr>
              <a:t>。假设我们正在为示例中的第一个词</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“Thinking”</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计算自注意力。我们需要用这个词来衡量（评分）输入句子中的</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所有其他词</a:t>
            </a:r>
            <a:r>
              <a:rPr lang="en-US" sz="1200" b="0" i="0" u="none" strike="noStrike" dirty="0">
                <a:solidFill>
                  <a:srgbClr val="000000"/>
                </a:solidFill>
              </a:rPr>
              <a:t>。这个得分决定了在编码某个位置的词时，应该对输入句子的其他部分</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给予多少关注</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得分是通过计算</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**查询向量（</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q1​</a:t>
            </a:r>
            <a:r>
              <a:rPr lang="en-US" sz="1200" b="0" i="0" u="none" strike="noStrike" dirty="0">
                <a:solidFill>
                  <a:srgbClr val="000000"/>
                </a:solidFill>
              </a:rPr>
              <a:t>）</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与</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相应词的键向量（</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ki</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a:solidFill>
                  <a:srgbClr val="000000"/>
                </a:solidFill>
              </a:rPr>
              <a:t>）</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点积（</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dot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product</a:t>
            </a:r>
            <a:r>
              <a:rPr lang="en-US" sz="1200" b="0" i="0" u="none" strike="noStrike" dirty="0" err="1">
                <a:solidFill>
                  <a:srgbClr val="000000"/>
                </a:solidFill>
              </a:rPr>
              <a:t>）来计算的</a:t>
            </a:r>
            <a:r>
              <a:rPr lang="en-US" sz="1200" b="0" i="0" u="none" strike="noStrike" dirty="0">
                <a:solidFill>
                  <a:srgbClr val="000000"/>
                </a:solidFill>
              </a:rPr>
              <a:t>。</a:t>
            </a:r>
            <a:endParaRPr lang="en-US" sz="1200" b="0" i="0" u="none" strike="noStrike" dirty="0">
              <a:solidFill>
                <a:srgbClr val="000000"/>
              </a:solidFill>
            </a:endParaRPr>
          </a:p>
          <a:p>
            <a:pPr marL="152400" indent="-152400" algn="l">
              <a:lnSpc>
                <a:spcPct val="100000"/>
              </a:lnSpc>
              <a:buClr>
                <a:srgbClr val="000000"/>
              </a:buClr>
              <a:buChar char="•"/>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对于位置</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#1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的词，第一个得分是</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q1​ </a:t>
            </a:r>
            <a:r>
              <a:rPr lang="en-US" sz="1200" b="0" i="0" u="none" strike="noStrike" dirty="0" err="1">
                <a:solidFill>
                  <a:srgbClr val="000000"/>
                </a:solidFill>
              </a:rPr>
              <a:t>和</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k1​ </a:t>
            </a:r>
            <a:r>
              <a:rPr lang="en-US" sz="1200" b="0" i="0" u="none" strike="noStrike" dirty="0" err="1">
                <a:solidFill>
                  <a:srgbClr val="000000"/>
                </a:solidFill>
              </a:rPr>
              <a:t>的点积。第二个得分是</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q1​ </a:t>
            </a:r>
            <a:r>
              <a:rPr lang="en-US" sz="1200" b="0" i="0" u="none" strike="noStrike" dirty="0" err="1">
                <a:solidFill>
                  <a:srgbClr val="000000"/>
                </a:solidFill>
              </a:rPr>
              <a:t>和</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k2​ </a:t>
            </a:r>
            <a:r>
              <a:rPr lang="en-US" sz="1200" b="0" i="0" u="none" strike="noStrike" dirty="0" err="1">
                <a:solidFill>
                  <a:srgbClr val="000000"/>
                </a:solidFill>
              </a:rPr>
              <a:t>的点积，依此类推</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将得分除以</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dk​​</a:t>
            </a:r>
            <a:r>
              <a:rPr lang="en-US" sz="1200" b="0"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dk​ </a:t>
            </a:r>
            <a:r>
              <a:rPr lang="en-US" sz="1200" b="0" i="0" u="none" strike="noStrike" dirty="0" err="1">
                <a:solidFill>
                  <a:srgbClr val="000000"/>
                </a:solidFill>
              </a:rPr>
              <a:t>是键向量的维度，论文中是</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64</a:t>
            </a:r>
            <a:r>
              <a:rPr lang="en-US" sz="1200" b="0" i="0" u="none" strike="noStrike" dirty="0">
                <a:solidFill>
                  <a:srgbClr val="000000"/>
                </a:solidFill>
              </a:rPr>
              <a:t>，因此除以</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64​=8</a:t>
            </a:r>
            <a:r>
              <a:rPr lang="en-US" sz="1200" b="0" i="0" u="none" strike="noStrike" dirty="0">
                <a:solidFill>
                  <a:srgbClr val="000000"/>
                </a:solidFill>
              </a:rPr>
              <a:t>）。</a:t>
            </a:r>
            <a:r>
              <a:rPr lang="en-US" sz="1200" b="0" i="0" u="none" strike="noStrike" dirty="0" err="1">
                <a:solidFill>
                  <a:srgbClr val="000000"/>
                </a:solidFill>
              </a:rPr>
              <a:t>这个缩放（</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scaling</a:t>
            </a:r>
            <a:r>
              <a:rPr lang="en-US" sz="1200" b="0" i="0" u="none" strike="noStrike" dirty="0" err="1">
                <a:solidFill>
                  <a:srgbClr val="000000"/>
                </a:solidFill>
              </a:rPr>
              <a:t>）操作有助于防止点积结果过大，从而保持梯度更稳定</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将结果通过</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Softmax</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操作。</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Softmax</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会</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归一化</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这些分数，使它们都变为正值，并且</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总和为</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1</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第五步</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是将每个</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值向量（</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Value</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Vector</a:t>
            </a:r>
            <a:r>
              <a:rPr lang="en-US" sz="1200" b="1" i="0" u="none" strike="noStrike" dirty="0" err="1">
                <a:solidFill>
                  <a:srgbClr val="000000"/>
                </a:solidFill>
              </a:rPr>
              <a:t>）乘以对应的</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Softmax</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分数（为求和做准备</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直观地讲，这个操作旨在保留</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我们希望关注的词语的值，同时</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弱化</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不相关词语的影响（例如，将不相关词语的值乘以像</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0.001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这样微小的数字</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第六步</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求和</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这些加权后的值向量。这个最终得到的向量</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Z1​ </a:t>
            </a:r>
            <a:r>
              <a:rPr lang="en-US" sz="1200" b="0" i="0" u="none" strike="noStrike" dirty="0" err="1">
                <a:solidFill>
                  <a:srgbClr val="000000"/>
                </a:solidFill>
              </a:rPr>
              <a:t>就是自注意力层在</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该位置</a:t>
            </a:r>
            <a:r>
              <a:rPr lang="en-US" sz="1200" b="0" i="0" u="none" strike="noStrike" dirty="0" err="1">
                <a:solidFill>
                  <a:srgbClr val="000000"/>
                </a:solidFill>
              </a:rPr>
              <a:t>（第一个词）的</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输出</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endParaRPr lang="en-US" sz="1200" b="0" i="0" u="none" strike="noStrike" dirty="0">
              <a:solidFill>
                <a:srgbClr val="000000"/>
              </a:solidFill>
            </a:endParaRPr>
          </a:p>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自注意力机制的矩阵计算</a:t>
            </a:r>
            <a:endPar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第一步</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是计算</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查询矩阵（</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Query</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Matrix, Q</a:t>
            </a:r>
            <a:r>
              <a:rPr lang="en-US" sz="1200" b="1" i="0" u="none" strike="noStrike" dirty="0">
                <a:solidFill>
                  <a:srgbClr val="000000"/>
                </a:solidFill>
              </a:rPr>
              <a:t>）</a:t>
            </a:r>
            <a:r>
              <a:rPr lang="en-US" sz="1200" b="0" i="0" u="none" strike="noStrike" dirty="0">
                <a:solidFill>
                  <a:srgbClr val="000000"/>
                </a:solidFill>
              </a:rPr>
              <a:t>、</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键矩阵（</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Key</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Matrix, </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K</a:t>
            </a:r>
            <a:r>
              <a:rPr lang="en-US" sz="1200" b="1" i="0" u="none" strike="noStrike" dirty="0" err="1">
                <a:solidFill>
                  <a:srgbClr val="000000"/>
                </a:solidFill>
              </a:rPr>
              <a:t>）和值矩阵（</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Value</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Matrix, V</a:t>
            </a:r>
            <a:r>
              <a:rPr lang="en-US" sz="1200" b="1" i="0" u="none" strike="noStrike" dirty="0">
                <a:solidFill>
                  <a:srgbClr val="000000"/>
                </a:solidFill>
              </a:rPr>
              <a:t>）</a:t>
            </a:r>
            <a:r>
              <a:rPr lang="en-US" sz="1200" b="0" i="0" u="none" strike="noStrike" dirty="0">
                <a:solidFill>
                  <a:srgbClr val="000000"/>
                </a:solidFill>
              </a:rPr>
              <a:t>。</a:t>
            </a:r>
            <a:r>
              <a:rPr lang="en-US" sz="1200" b="0" i="0" u="none" strike="noStrike" dirty="0" err="1">
                <a:solidFill>
                  <a:srgbClr val="000000"/>
                </a:solidFill>
              </a:rPr>
              <a:t>我们通过将所有的词嵌入向量打包成一个矩阵</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X</a:t>
            </a:r>
            <a:r>
              <a:rPr lang="en-US" sz="1200" b="0" i="0" u="none" strike="noStrike" dirty="0" err="1">
                <a:solidFill>
                  <a:srgbClr val="000000"/>
                </a:solidFill>
              </a:rPr>
              <a:t>，然后将其乘以我们训练好的权重矩阵</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WQ</a:t>
            </a:r>
            <a:r>
              <a:rPr lang="en-US" sz="1200" b="0"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WK </a:t>
            </a:r>
            <a:r>
              <a:rPr lang="en-US" sz="1200" b="0" i="0" u="none" strike="noStrike" dirty="0" err="1">
                <a:solidFill>
                  <a:srgbClr val="000000"/>
                </a:solidFill>
              </a:rPr>
              <a:t>和</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WV </a:t>
            </a:r>
            <a:r>
              <a:rPr lang="en-US" sz="1200" b="0" i="0" u="none" strike="noStrike" dirty="0" err="1">
                <a:solidFill>
                  <a:srgbClr val="000000"/>
                </a:solidFill>
              </a:rPr>
              <a:t>来完成</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X</a:t>
            </a:r>
            <a:r>
              <a:rPr lang="en-US" sz="1200" b="0" i="0" u="none" strike="noStrike" dirty="0" err="1">
                <a:solidFill>
                  <a:srgbClr val="000000"/>
                </a:solidFill>
              </a:rPr>
              <a:t>：矩阵</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X </a:t>
            </a:r>
            <a:r>
              <a:rPr lang="en-US" sz="1200" b="0" i="0" u="none" strike="noStrike" dirty="0" err="1">
                <a:solidFill>
                  <a:srgbClr val="000000"/>
                </a:solidFill>
              </a:rPr>
              <a:t>中的</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每一行</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都对应输入句子中的一个词语的嵌入向量</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论文通过增加一个名为</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多头</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multi-headed</a:t>
            </a:r>
            <a:r>
              <a:rPr lang="en-US" sz="1200" b="0" i="0" u="none" strike="noStrike" dirty="0" err="1">
                <a:solidFill>
                  <a:srgbClr val="000000"/>
                </a:solidFill>
              </a:rPr>
              <a:t>）注意力的机制，进一步改进了自注意力层。这从两个方面提升了注意力层的性能</a:t>
            </a:r>
            <a:r>
              <a:rPr lang="en-US" sz="1200" b="0" i="0" u="none" strike="noStrike" dirty="0">
                <a:solidFill>
                  <a:srgbClr val="000000"/>
                </a:solidFill>
              </a:rPr>
              <a:t>：</a:t>
            </a:r>
            <a:endParaRPr lang="en-US" sz="1200" b="0" i="0" u="none" strike="noStrike" dirty="0">
              <a:solidFill>
                <a:srgbClr val="000000"/>
              </a:solidFill>
            </a:endParaRPr>
          </a:p>
          <a:p>
            <a:pPr marL="152400" indent="-152400" algn="l">
              <a:lnSpc>
                <a:spcPct val="100000"/>
              </a:lnSpc>
              <a:buClr>
                <a:srgbClr val="000000"/>
              </a:buClr>
              <a:buFont typeface="+mj-lt"/>
              <a:buAutoNum type="arabicPeriod"/>
            </a:pP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扩展模型关注不同位置的能力</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a:solidFill>
                  <a:srgbClr val="000000"/>
                </a:solidFill>
              </a:rPr>
              <a:t>是的，在上面的例子中，</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z1​ </a:t>
            </a:r>
            <a:r>
              <a:rPr lang="en-US" sz="1200" b="0" i="0" u="none" strike="noStrike" dirty="0" err="1">
                <a:solidFill>
                  <a:srgbClr val="000000"/>
                </a:solidFill>
              </a:rPr>
              <a:t>向量包含了一点其他所有编码的信息，但它可能主要还是受它自身词语的支配。如果我们正在翻译一个像</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“The</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animal didn’t cross the street because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was too tired”</a:t>
            </a:r>
            <a:r>
              <a:rPr lang="en-US" sz="1200" b="0" i="0" u="none" strike="noStrike" dirty="0">
                <a:solidFill>
                  <a:srgbClr val="000000"/>
                </a:solidFill>
              </a:rPr>
              <a:t>（</a:t>
            </a:r>
            <a:r>
              <a:rPr lang="en-US" sz="1200" b="0" i="0" u="none" strike="noStrike" dirty="0" err="1">
                <a:solidFill>
                  <a:srgbClr val="000000"/>
                </a:solidFill>
              </a:rPr>
              <a:t>这个动物没有穿过街道，因为它太累了）这样的句子，知道</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指代哪个词语（是</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“animal</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a:solidFill>
                  <a:srgbClr val="000000"/>
                </a:solidFill>
              </a:rPr>
              <a:t>）</a:t>
            </a:r>
            <a:r>
              <a:rPr lang="en-US" sz="1200" b="0" i="0" u="none" strike="noStrike" dirty="0" err="1">
                <a:solidFill>
                  <a:srgbClr val="000000"/>
                </a:solidFill>
              </a:rPr>
              <a:t>会非常有用</a:t>
            </a:r>
            <a:r>
              <a:rPr lang="en-US" sz="1200" b="0" i="0" u="none" strike="noStrike" dirty="0">
                <a:solidFill>
                  <a:srgbClr val="000000"/>
                </a:solidFill>
              </a:rPr>
              <a:t>。</a:t>
            </a:r>
            <a:endParaRPr lang="en-US" sz="1200" b="0" i="0" u="none" strike="noStrike" dirty="0">
              <a:solidFill>
                <a:srgbClr val="000000"/>
              </a:solidFill>
            </a:endParaRPr>
          </a:p>
          <a:p>
            <a:pPr marL="152400" indent="-152400" algn="l">
              <a:lnSpc>
                <a:spcPct val="100000"/>
              </a:lnSpc>
              <a:buClr>
                <a:srgbClr val="000000"/>
              </a:buClr>
              <a:buFont typeface="+mj-lt"/>
              <a:buAutoNum type="arabicPeriod"/>
            </a:pP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赋予注意力层多个“</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表示子空间</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representation subspaces</a:t>
            </a:r>
            <a:r>
              <a:rPr lang="en-US" sz="1200" b="1"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正如我们接下来会看到的，通过多头注意力，我们拥有的不仅仅是一组，而是</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多组</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查询（</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Query</a:t>
            </a:r>
            <a:r>
              <a:rPr lang="en-US" sz="1200" b="0"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键（</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Key</a:t>
            </a:r>
            <a:r>
              <a:rPr lang="en-US" sz="1200" b="0"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值（</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Value</a:t>
            </a:r>
            <a:r>
              <a:rPr lang="en-US" sz="1200" b="0" i="0" u="none" strike="noStrike" dirty="0" err="1">
                <a:solidFill>
                  <a:srgbClr val="000000"/>
                </a:solidFill>
              </a:rPr>
              <a:t>）权重矩阵（</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Transformer</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使用了</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八个</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注意力头，因此每个编码器</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解码器最终有八组</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609600" lvl="1" indent="-152400" algn="l">
              <a:lnSpc>
                <a:spcPct val="100000"/>
              </a:lnSpc>
              <a:buClr>
                <a:srgbClr val="000000"/>
              </a:buClr>
              <a:buFont typeface="+mj-lt"/>
              <a:buAutoNum type="arabicPeriod"/>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每一组都是</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随机初始化</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609600" lvl="1" indent="-152400" algn="l">
              <a:lnSpc>
                <a:spcPct val="100000"/>
              </a:lnSpc>
              <a:buClr>
                <a:srgbClr val="000000"/>
              </a:buClr>
              <a:buFont typeface="+mj-lt"/>
              <a:buAutoNum type="arabicPeriod"/>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经过训练后，每一组都被用来将输入嵌入（或来自下层编码器</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解码器的向量）</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投影</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到一个</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不同的表示子空间</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在多头注意力机制中，我们为</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每个注意力头</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都维护了独立的</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WQ</a:t>
            </a:r>
            <a:r>
              <a:rPr lang="en-US" sz="1200" b="0"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WK</a:t>
            </a:r>
            <a:r>
              <a:rPr lang="en-US" sz="1200" b="0"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WV </a:t>
            </a:r>
            <a:r>
              <a:rPr lang="en-US" sz="1200" b="0" i="0" u="none" strike="noStrike" dirty="0" err="1">
                <a:solidFill>
                  <a:srgbClr val="000000"/>
                </a:solidFill>
              </a:rPr>
              <a:t>权重矩阵，从而得到不同的</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Q</a:t>
            </a:r>
            <a:r>
              <a:rPr lang="en-US" sz="1200" b="0"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K</a:t>
            </a:r>
            <a:r>
              <a:rPr lang="en-US" sz="1200" b="0"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V </a:t>
            </a:r>
            <a:r>
              <a:rPr lang="en-US" sz="1200" b="0" i="0" u="none" strike="noStrike" dirty="0" err="1">
                <a:solidFill>
                  <a:srgbClr val="000000"/>
                </a:solidFill>
              </a:rPr>
              <a:t>矩阵。像之前一样，我们将输入矩阵</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X </a:t>
            </a:r>
            <a:r>
              <a:rPr lang="en-US" sz="1200" b="0" i="0" u="none" strike="noStrike" dirty="0" err="1">
                <a:solidFill>
                  <a:srgbClr val="000000"/>
                </a:solidFill>
              </a:rPr>
              <a:t>乘以这些</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WQ/WK/WV </a:t>
            </a:r>
            <a:r>
              <a:rPr lang="en-US" sz="1200" b="0" i="0" u="none" strike="noStrike" dirty="0" err="1">
                <a:solidFill>
                  <a:srgbClr val="000000"/>
                </a:solidFill>
              </a:rPr>
              <a:t>矩阵来生成</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Q/K/V </a:t>
            </a:r>
            <a:r>
              <a:rPr lang="en-US" sz="1200" b="0" i="0" u="none" strike="noStrike" dirty="0" err="1">
                <a:solidFill>
                  <a:srgbClr val="000000"/>
                </a:solidFill>
              </a:rPr>
              <a:t>矩阵</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如果我们将前面概述的自注意力计算重复进行八次，每次都使用不同的权重矩阵，我们最终会得到</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八个不同的</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Z </a:t>
            </a:r>
            <a:r>
              <a:rPr lang="en-US" sz="1200" b="1" i="0" u="none" strike="noStrike" dirty="0">
                <a:solidFill>
                  <a:srgbClr val="000000"/>
                </a:solidFill>
              </a:rPr>
              <a:t>矩阵</a:t>
            </a:r>
            <a:r>
              <a:rPr lang="en-US" sz="1200" b="0"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Z0​ </a:t>
            </a:r>
            <a:r>
              <a:rPr lang="en-US" sz="1200" b="0" i="0" u="none" strike="noStrike" dirty="0" err="1">
                <a:solidFill>
                  <a:srgbClr val="000000"/>
                </a:solidFill>
              </a:rPr>
              <a:t>到</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Z7​</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这给我们带来了一个挑战：</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前馈层</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不期望八个矩阵作为输入</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它期望的是</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一个矩阵</a:t>
            </a:r>
            <a:r>
              <a:rPr lang="en-US" sz="1200" b="0" i="0" u="none" strike="noStrike" dirty="0" err="1">
                <a:solidFill>
                  <a:srgbClr val="000000"/>
                </a:solidFill>
              </a:rPr>
              <a:t>（每个词语对应一个向量</a:t>
            </a:r>
            <a:r>
              <a:rPr lang="en-US" sz="1200" b="0" i="0" u="none" strike="noStrike" dirty="0">
                <a:solidFill>
                  <a:srgbClr val="000000"/>
                </a:solidFill>
              </a:rPr>
              <a:t>）。</a:t>
            </a:r>
            <a:r>
              <a:rPr lang="en-US" sz="1200" b="0" i="0" u="none" strike="noStrike" dirty="0" err="1">
                <a:solidFill>
                  <a:srgbClr val="000000"/>
                </a:solidFill>
              </a:rPr>
              <a:t>所以我们需要一种方法将这八个矩阵</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浓缩</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成一个单一的矩阵</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如何整合多头输出</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我们如何做到这一点呢</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Font typeface="+mj-lt"/>
              <a:buAutoNum type="arabicPeriod"/>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我们将这八个</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Z </a:t>
            </a:r>
            <a:r>
              <a:rPr lang="en-US" sz="1200" b="0" i="0" u="none" strike="noStrike" dirty="0" err="1">
                <a:solidFill>
                  <a:srgbClr val="000000"/>
                </a:solidFill>
              </a:rPr>
              <a:t>矩阵拼接（</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Concatenate</a:t>
            </a:r>
            <a:r>
              <a:rPr lang="en-US" sz="1200" b="0" i="0" u="none" strike="noStrike" dirty="0" err="1">
                <a:solidFill>
                  <a:srgbClr val="000000"/>
                </a:solidFill>
              </a:rPr>
              <a:t>）起来</a:t>
            </a:r>
            <a:r>
              <a:rPr lang="en-US" sz="1200" b="0" i="0" u="none" strike="noStrike" dirty="0">
                <a:solidFill>
                  <a:srgbClr val="000000"/>
                </a:solidFill>
              </a:rPr>
              <a:t>。</a:t>
            </a:r>
            <a:endParaRPr lang="en-US" sz="1200" b="0" i="0" u="none" strike="noStrike" dirty="0">
              <a:solidFill>
                <a:srgbClr val="000000"/>
              </a:solidFill>
            </a:endParaRPr>
          </a:p>
          <a:p>
            <a:pPr marL="152400" indent="-152400" algn="l">
              <a:lnSpc>
                <a:spcPct val="100000"/>
              </a:lnSpc>
              <a:buClr>
                <a:srgbClr val="000000"/>
              </a:buClr>
              <a:buFont typeface="+mj-lt"/>
              <a:buAutoNum type="arabicPeriod"/>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然后，我们将拼接后的巨大矩阵乘以一个</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额外的权重矩阵</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WO</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endParaRPr lang="en-US" sz="1200" b="0" i="0" u="none" strike="noStrike" dirty="0">
              <a:solidFill>
                <a:srgbClr val="000000"/>
              </a:solidFill>
            </a:endParaRPr>
          </a:p>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既然我们已经讨论了注意力头，让我们重新审视之前的例子，看看当我们编码句子中的</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这个词时，不同的注意力头都在</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关注</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什么</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当我们编码</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这个词时，</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一个注意力头</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主要关注</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“the animal”</a:t>
            </a:r>
            <a:r>
              <a:rPr lang="en-US" sz="1200" b="0" i="0" u="none" strike="noStrike" dirty="0">
                <a:solidFill>
                  <a:srgbClr val="000000"/>
                </a:solidFill>
              </a:rPr>
              <a:t>，</a:t>
            </a:r>
            <a:r>
              <a:rPr lang="en-US" sz="1200" b="0" i="0" u="none" strike="noStrike" dirty="0" err="1">
                <a:solidFill>
                  <a:srgbClr val="000000"/>
                </a:solidFill>
              </a:rPr>
              <a:t>而</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另一个注意力头</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则关注</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“tired”</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从某种意义上说，模型对</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这个词的表示同时融入了</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“animal”</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和</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“tired”</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的部分表示</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然而，如果我们将所有注意力头都加入到画面中，事情可能会变得更难解释</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到目前为止，我们所描述的模型缺少一种方法来解释输入序列中词语的</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顺序</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为了解决这个问题，</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Transformer</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会向每个输入词嵌入</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添加一个向量</a:t>
            </a:r>
            <a:r>
              <a:rPr lang="en-US" sz="1200" b="0" i="0" u="none" strike="noStrike" dirty="0">
                <a:solidFill>
                  <a:srgbClr val="000000"/>
                </a:solidFill>
              </a:rPr>
              <a:t>。这些向量遵循一个模型可以学习的</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特定模式</a:t>
            </a:r>
            <a:r>
              <a:rPr lang="en-US" sz="1200" b="0" i="0" u="none" strike="noStrike" dirty="0">
                <a:solidFill>
                  <a:srgbClr val="000000"/>
                </a:solidFill>
              </a:rPr>
              <a:t>，这有助于模型确定每个词语的</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位置</a:t>
            </a:r>
            <a:r>
              <a:rPr lang="en-US" sz="1200" b="0" i="0" u="none" strike="noStrike" dirty="0">
                <a:solidFill>
                  <a:srgbClr val="000000"/>
                </a:solidFill>
              </a:rPr>
              <a:t>，或序列中不同词语之间的</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距离</a:t>
            </a:r>
            <a:r>
              <a:rPr lang="en-US" sz="1200" b="0" i="0" u="none" strike="noStrike" dirty="0">
                <a:solidFill>
                  <a:srgbClr val="000000"/>
                </a:solidFill>
              </a:rPr>
              <a:t>。其直觉是，一旦这些嵌入向量被投影到</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Q/K/V </a:t>
            </a:r>
            <a:r>
              <a:rPr lang="en-US" sz="1200" b="0" i="0" u="none" strike="noStrike" dirty="0" err="1">
                <a:solidFill>
                  <a:srgbClr val="000000"/>
                </a:solidFill>
              </a:rPr>
              <a:t>向量中并在点积注意力中进行计算时，添加这些位置值就能提供</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有意义的距离信息</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为了让模型感知词语的顺序，我们添加了</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位置编码向量</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这些向量的值遵循一个特定的模式</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如果我们假设嵌入向量的维度为</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4</a:t>
            </a:r>
            <a:r>
              <a:rPr lang="en-US" sz="1200" b="0" i="0" u="none" strike="noStrike" dirty="0">
                <a:solidFill>
                  <a:srgbClr val="000000"/>
                </a:solidFill>
              </a:rPr>
              <a:t>，那么实际的位置编码向量看起来会像这样：</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一个玩具示例：维度为</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4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的位置编码</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那么，这个模式可能是什么样的呢</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在下图中，</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每一行</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都对应一个位置编码向量。因此，第一行就是我们要添加到输入序列中</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第一个词的嵌入</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上的向量。每一行包含</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512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个值</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每个值都在</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1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到</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-1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之间。我们对其进行了颜色编码，以便图案清晰可见</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一个真实示例：</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20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个词语（行）和</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512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维度（列）的位置编码</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您可以看到它似乎在中间被分成了两半。这是因为左半部分的值是由一个函数（使用</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正弦函数</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sine</a:t>
            </a:r>
            <a:r>
              <a:rPr lang="en-US" sz="1200" b="0" i="0" u="none" strike="noStrike" dirty="0" err="1">
                <a:solidFill>
                  <a:srgbClr val="000000"/>
                </a:solidFill>
              </a:rPr>
              <a:t>）生成的，右半部分是由另一个函数（使用</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余弦函数</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cosine</a:t>
            </a:r>
            <a:r>
              <a:rPr lang="en-US" sz="1200" b="0" i="0" u="none" strike="noStrike" dirty="0" err="1">
                <a:solidFill>
                  <a:srgbClr val="000000"/>
                </a:solidFill>
              </a:rPr>
              <a:t>）生成的。然后将它们</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拼接</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起来，形成每个位置编码向量</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这不是唯一可能的位置编码方法，但它的优点是能够</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扩展到未见过的序列长度</a:t>
            </a:r>
            <a:r>
              <a:rPr lang="en-US" sz="1200" b="0" i="0" u="none" strike="noStrike" dirty="0">
                <a:solidFill>
                  <a:srgbClr val="000000"/>
                </a:solidFill>
              </a:rPr>
              <a:t>（例如，如果我们的训练模型被要求翻译一个比我们训练集中任何句子都长的句子）。</a:t>
            </a:r>
            <a:endParaRPr lang="en-US" sz="1200" b="0" i="0" u="none" strike="noStrike" dirty="0">
              <a:solidFill>
                <a:srgbClr val="000000"/>
              </a:solidFill>
            </a:endParaRPr>
          </a:p>
          <a:p>
            <a:pPr indent="0" algn="l">
              <a:lnSpc>
                <a:spcPct val="100000"/>
              </a:lnSpc>
            </a:pP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2020 </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年</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7 </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月更新</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上图所示的位置编码来自</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Transformer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Tensor2Tensor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实现。论文中展示的方法略有不同，它不是直接拼接，而是将两个信号</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交织</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在一起。下图展示了交织后的样子</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在继续之前，我们需要提及编码器架构中的一个细节：每个编码器中的每个子层（自注意力层、前馈网络层）都有一个</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残差连接（</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residual</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connection</a:t>
            </a:r>
            <a:r>
              <a:rPr lang="en-US" sz="1200" b="0" i="0" u="none" strike="noStrike" dirty="0" err="1">
                <a:solidFill>
                  <a:srgbClr val="000000"/>
                </a:solidFill>
              </a:rPr>
              <a:t>）环绕，并且紧接着是一个层归一化（</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layer-normalization</a:t>
            </a:r>
            <a:r>
              <a:rPr lang="en-US" sz="1200" b="0" i="0" u="none" strike="noStrike" dirty="0" err="1">
                <a:solidFill>
                  <a:srgbClr val="000000"/>
                </a:solidFill>
              </a:rPr>
              <a:t>）步骤</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残差连接的目的是将子层的</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输入</a:t>
            </a:r>
            <a:r>
              <a:rPr lang="en-US" sz="1200" b="0" i="0" u="none" strike="noStrike" dirty="0" err="1">
                <a:solidFill>
                  <a:srgbClr val="000000"/>
                </a:solidFill>
              </a:rPr>
              <a: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x</a:t>
            </a:r>
            <a:r>
              <a:rPr lang="en-US" sz="1200" b="0" i="0" u="none" strike="noStrike" dirty="0" err="1">
                <a:solidFill>
                  <a:srgbClr val="000000"/>
                </a:solidFill>
              </a:rPr>
              <a:t>）直接添加到子层的</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输出</a:t>
            </a:r>
            <a:r>
              <a:rPr lang="en-US" sz="1200" b="0" i="0" u="none" strike="noStrike" dirty="0" err="1">
                <a:solidFill>
                  <a:srgbClr val="000000"/>
                </a:solidFill>
              </a:rPr>
              <a: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Sublayer</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(x)</a:t>
            </a:r>
            <a:r>
              <a:rPr lang="en-US" sz="1200" b="0" i="0" u="none" strike="noStrike" dirty="0">
                <a:solidFill>
                  <a:srgbClr val="000000"/>
                </a:solidFill>
              </a:rPr>
              <a:t>）</a:t>
            </a:r>
            <a:r>
              <a:rPr lang="en-US" sz="1200" b="0" i="0" u="none" strike="noStrike" dirty="0" err="1">
                <a:solidFill>
                  <a:srgbClr val="000000"/>
                </a:solidFill>
              </a:rPr>
              <a:t>上，以帮助缓解深度神经网络中的</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梯度消失问题</a:t>
            </a:r>
            <a:r>
              <a:rPr lang="en-US" sz="1200" b="0" i="0" u="none" strike="noStrike" dirty="0" err="1">
                <a:solidFill>
                  <a:srgbClr val="000000"/>
                </a:solidFill>
              </a:rPr>
              <a:t>，并加速训练</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数学上表示为</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Output=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LayerNorm</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x+Sublayer</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(x))</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这个机制同样适用于解码器的子层。如果我们考虑一个由</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2 </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个堆叠的编码器</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2 </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个堆叠的解码器</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组成的</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模型，它的结构大致如下所示</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这种设计是</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能够有效地堆叠多层并进行深度学习的关键</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最终的线性层和</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Softmax</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层</a:t>
            </a:r>
            <a:endPar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解码器堆栈的最终输出是一个</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浮点数向量</a:t>
            </a:r>
            <a:r>
              <a:rPr lang="en-US" sz="1200" b="0" i="0" u="none" strike="noStrike" dirty="0" err="1">
                <a:solidFill>
                  <a:srgbClr val="000000"/>
                </a:solidFill>
              </a:rPr>
              <a:t>。我们如何将这个向量转换成一个实际的词语呢？这就是最终的线性层（</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Final</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Linear </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Layer</a:t>
            </a:r>
            <a:r>
              <a:rPr lang="en-US" sz="1200" b="0" i="0" u="none" strike="noStrike" dirty="0" err="1">
                <a:solidFill>
                  <a:srgbClr val="000000"/>
                </a:solidFill>
              </a:rPr>
              <a:t>）和紧随其后的</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Softmax</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层</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的工作</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线性层</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(Linear Layer)</a:t>
            </a:r>
            <a:endPar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线性层是一个简单的</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全连接神经网络</a:t>
            </a:r>
            <a:r>
              <a:rPr lang="en-US" sz="1200" b="0" i="0" u="none" strike="noStrike" dirty="0" err="1">
                <a:solidFill>
                  <a:srgbClr val="000000"/>
                </a:solidFill>
              </a:rPr>
              <a:t>，它的作用是将解码器堆栈产生的向量，</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投影（</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projects</a:t>
            </a:r>
            <a:r>
              <a:rPr lang="en-US" sz="1200" b="1" i="0" u="none" strike="noStrike" dirty="0" err="1">
                <a:solidFill>
                  <a:srgbClr val="000000"/>
                </a:solidFill>
              </a:rPr>
              <a:t>）到一个大得多</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的向量，我们称之为</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dirty="0" err="1">
                <a:solidFill>
                  <a:srgbClr val="000000"/>
                </a:solidFill>
              </a:rPr>
              <a:t>对数几率向量</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dirty="0">
                <a:solidFill>
                  <a:srgbClr val="000000"/>
                </a:solidFill>
              </a:rPr>
              <a:t>（</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logits vector</a:t>
            </a:r>
            <a:r>
              <a:rPr lang="en-US" sz="1200" b="1" i="0" u="none" strike="noStrike" dirty="0">
                <a:solidFill>
                  <a:srgbClr val="000000"/>
                </a:solidFill>
              </a:rPr>
              <a:t>）</a:t>
            </a:r>
            <a:r>
              <a:rPr lang="en-US" sz="1200" b="0" i="0" u="none" strike="noStrike" dirty="0">
                <a:solidFill>
                  <a:srgbClr val="000000"/>
                </a:solidFill>
              </a:rPr>
              <a:t>。</a:t>
            </a:r>
            <a:endParaRPr lang="en-US" sz="1200" b="0" i="0" u="none" strike="noStrike" dirty="0">
              <a:solidFill>
                <a:srgbClr val="000000"/>
              </a:solidFill>
            </a:endParaRPr>
          </a:p>
          <a:p>
            <a:pPr marL="152400" indent="-152400" algn="l">
              <a:lnSpc>
                <a:spcPct val="100000"/>
              </a:lnSpc>
              <a:buClr>
                <a:srgbClr val="000000"/>
              </a:buClr>
              <a:buChar char="•"/>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假设我们的模型从训练数据集中学习了</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10,000 </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独一无二的英语词汇（即模型的“输出词汇表</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那么，这个</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对数几率向量</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的宽度就会是</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10,000 </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个单元</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每个单元都对应一个唯一词语的</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得分（</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score</a:t>
            </a:r>
            <a:r>
              <a:rPr lang="en-US" sz="1200" b="1" i="0" u="none" strike="noStrike" dirty="0">
                <a:solidFill>
                  <a:srgbClr val="000000"/>
                </a:solidFill>
              </a:rPr>
              <a:t>）</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我们就是这样来解释模型经过线性层后的输出</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Softmax</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层</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Softmax</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Layer)</a:t>
            </a:r>
            <a:endPar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Softmax</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层接着将这些</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得分</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转换成</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概率（</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probabilities</a:t>
            </a:r>
            <a:r>
              <a:rPr lang="en-US" sz="1200" b="1" i="0" u="none" strike="noStrike" dirty="0">
                <a:solidFill>
                  <a:srgbClr val="000000"/>
                </a:solidFill>
              </a:rPr>
              <a:t>）</a:t>
            </a:r>
            <a:r>
              <a:rPr lang="en-US" sz="1200" b="0" i="0" u="none" strike="noStrike" dirty="0">
                <a:solidFill>
                  <a:srgbClr val="000000"/>
                </a:solidFill>
              </a:rPr>
              <a:t>：</a:t>
            </a:r>
            <a:endParaRPr lang="en-US" sz="1200" b="0" i="0" u="none" strike="noStrike" dirty="0">
              <a:solidFill>
                <a:srgbClr val="000000"/>
              </a:solidFill>
            </a:endParaRPr>
          </a:p>
          <a:p>
            <a:pPr marL="152400" indent="-152400" algn="l">
              <a:lnSpc>
                <a:spcPct val="100000"/>
              </a:lnSpc>
              <a:buClr>
                <a:srgbClr val="000000"/>
              </a:buClr>
              <a:buChar char="•"/>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所有概率值都是正数</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所有概率值加起来等于</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1.0</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既然我们已经涵盖了编码器侧的大部分概念，我们基本上也了解了解码器组件是如何工作的。但让我们来看看它们是如何协同工作的</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编码器首先处理输入序列。</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最顶层编码器</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的输出随后被转化为一组</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注意力向量</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K</a:t>
            </a:r>
            <a:r>
              <a:rPr lang="en-US" sz="1200" b="1" i="0" u="none" strike="noStrike" dirty="0" err="1">
                <a:solidFill>
                  <a:srgbClr val="000000"/>
                </a:solidFill>
              </a:rPr>
              <a:t>（键）和</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V</a:t>
            </a:r>
            <a:r>
              <a:rPr lang="en-US" sz="1200" b="1" i="0" u="none" strike="noStrike" dirty="0" err="1">
                <a:solidFill>
                  <a:srgbClr val="000000"/>
                </a:solidFill>
              </a:rPr>
              <a:t>（值</a:t>
            </a:r>
            <a:r>
              <a:rPr lang="en-US" sz="1200" b="1" i="0" u="none" strike="noStrike" dirty="0">
                <a:solidFill>
                  <a:srgbClr val="000000"/>
                </a:solidFill>
              </a:rPr>
              <a:t>）。</a:t>
            </a:r>
            <a:r>
              <a:rPr lang="en-US" sz="1200" b="1" i="0" u="none" strike="noStrike" dirty="0" err="1">
                <a:solidFill>
                  <a:srgbClr val="000000"/>
                </a:solidFill>
              </a:rPr>
              <a:t>这些</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K </a:t>
            </a:r>
            <a:r>
              <a:rPr lang="en-US" sz="1200" b="1" i="0" u="none" strike="noStrike" dirty="0" err="1">
                <a:solidFill>
                  <a:srgbClr val="000000"/>
                </a:solidFill>
              </a:rPr>
              <a:t>和</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V </a:t>
            </a:r>
            <a:r>
              <a:rPr lang="en-US" sz="1200" b="1" i="0" u="none" strike="noStrike" dirty="0">
                <a:solidFill>
                  <a:srgbClr val="000000"/>
                </a:solidFill>
              </a:rPr>
              <a:t>将被每个解码器在其</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dirty="0" err="1">
                <a:solidFill>
                  <a:srgbClr val="000000"/>
                </a:solidFill>
              </a:rPr>
              <a:t>编码器</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解码器注意力</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encoder-decoder </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attention</a:t>
            </a:r>
            <a:r>
              <a:rPr lang="en-US" sz="1200" b="1" i="0" u="none" strike="noStrike" dirty="0" err="1">
                <a:solidFill>
                  <a:srgbClr val="000000"/>
                </a:solidFill>
              </a:rPr>
              <a:t>）层</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中使用，帮助解码器聚焦于输入序列中的适当位置</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完成编码阶段后，我们开始</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解码阶段</a:t>
            </a:r>
            <a:r>
              <a:rPr lang="en-US" sz="1200" b="0" i="0" u="none" strike="noStrike" dirty="0" err="1">
                <a:solidFill>
                  <a:srgbClr val="000000"/>
                </a:solidFill>
              </a:rPr>
              <a:t>。解码阶段的</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每一步</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都会输出输出序列中的一个元素（在本例中是英文翻译句子的一个词</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初始输入</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解码过程的第一步，需要一个</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起始标记</a:t>
            </a:r>
            <a:r>
              <a:rPr lang="en-US" sz="1200" b="0" i="0" u="none" strike="noStrike" dirty="0" err="1">
                <a:solidFill>
                  <a:srgbClr val="000000"/>
                </a:solidFill>
              </a:rPr>
              <a:t>，通常是</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[BOS]</a:t>
            </a:r>
            <a:r>
              <a:rPr lang="en-US" sz="1200" b="0"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Begin of Sequence</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以下步骤会重复进行，直到达到一个特殊的</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&lt;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eos</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&gt;</a:t>
            </a:r>
            <a:r>
              <a:rPr lang="en-US" sz="1200" b="0"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end of </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sentence</a:t>
            </a:r>
            <a:r>
              <a:rPr lang="en-US" sz="1200" b="0" i="0" u="none" strike="noStrike" dirty="0" err="1">
                <a:solidFill>
                  <a:srgbClr val="000000"/>
                </a:solidFill>
              </a:rPr>
              <a:t>，句子结束）符号，表明</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Transformer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解码器已完成其输出</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循环与反馈</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每一步的输出都会在</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下一个时间步</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被馈送到最底层的解码器，然后解码器们像编码器一样，将它们的解码结果向上传播</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输入处理</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就像我们对编码器输入所做的那样，我们也会对这些解码器输入进行</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词嵌入</a:t>
            </a:r>
            <a:r>
              <a:rPr lang="en-US" sz="1200" b="0" i="0" u="none" strike="noStrike" dirty="0" err="1">
                <a:solidFill>
                  <a:srgbClr val="000000"/>
                </a:solidFill>
              </a:rPr>
              <a:t>，并</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添加位置编码</a:t>
            </a:r>
            <a:r>
              <a:rPr lang="en-US" sz="1200" b="0" i="0" u="none" strike="noStrike" dirty="0" err="1">
                <a:solidFill>
                  <a:srgbClr val="000000"/>
                </a:solidFill>
              </a:rPr>
              <a:t>，以指示每个词的位置</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解码器中的自注意力层与编码器中的工作方式略有不同</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1. </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遮盖自注意力（</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Masked</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Self-Attention</a:t>
            </a:r>
            <a:r>
              <a:rPr lang="en-US" sz="1200" b="1" i="0" u="none" strike="noStrike" dirty="0">
                <a:solidFill>
                  <a:srgbClr val="000000"/>
                </a:solidFill>
              </a:rPr>
              <a:t>）</a:t>
            </a:r>
            <a:endParaRPr lang="en-US" sz="1200" b="1"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在解码器中，自注意力层</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只允许关注输出序列中较早的位置</a:t>
            </a:r>
            <a:r>
              <a:rPr lang="en-US" sz="1200" b="0" i="0" u="none" strike="noStrike" dirty="0" err="1">
                <a:solidFill>
                  <a:srgbClr val="000000"/>
                </a:solidFill>
              </a:rPr>
              <a:t>（即已生成的词语</a:t>
            </a:r>
            <a:r>
              <a:rPr lang="en-US" sz="1200" b="0" i="0" u="none" strike="noStrike" dirty="0">
                <a:solidFill>
                  <a:srgbClr val="000000"/>
                </a:solidFill>
              </a:rPr>
              <a:t>）。</a:t>
            </a:r>
            <a:r>
              <a:rPr lang="en-US" sz="1200" b="0" i="0" u="none" strike="noStrike" dirty="0" err="1">
                <a:solidFill>
                  <a:srgbClr val="000000"/>
                </a:solidFill>
              </a:rPr>
              <a:t>这是通过在自注意力计算的</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Softmax</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步骤之前，对</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未来的位置进行遮盖</a:t>
            </a:r>
            <a:r>
              <a:rPr lang="en-US" sz="1200" b="0" i="0" u="none" strike="noStrike" dirty="0" err="1">
                <a:solidFill>
                  <a:srgbClr val="000000"/>
                </a:solidFill>
              </a:rPr>
              <a:t>（将其设置为负无穷大</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inf</a:t>
            </a:r>
            <a:r>
              <a:rPr lang="en-US" sz="1200" b="0" i="0" u="none" strike="noStrike" dirty="0" err="1">
                <a:solidFill>
                  <a:srgbClr val="000000"/>
                </a:solidFill>
              </a:rPr>
              <a:t>）来实现的</a:t>
            </a:r>
            <a:r>
              <a:rPr lang="en-US" sz="1200" b="0" i="0" u="none" strike="noStrike" dirty="0">
                <a:solidFill>
                  <a:srgbClr val="000000"/>
                </a:solidFill>
              </a:rPr>
              <a:t>。</a:t>
            </a:r>
            <a:endParaRPr lang="en-US" sz="1200" b="0" i="0" u="none" strike="noStrike" dirty="0">
              <a:solidFill>
                <a:srgbClr val="000000"/>
              </a:solidFill>
            </a:endParaRPr>
          </a:p>
          <a:p>
            <a:pPr marL="152400" indent="-152400" algn="l">
              <a:lnSpc>
                <a:spcPct val="100000"/>
              </a:lnSpc>
              <a:buClr>
                <a:srgbClr val="000000"/>
              </a:buClr>
              <a:buChar char="•"/>
            </a:pP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目的</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确保模型的预测只依赖于</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已知</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的输出，防止模型“偷看”到它应该预测的词语</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2. </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编码器</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解码器注意力（</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Encoder-Decoder</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Attention</a:t>
            </a:r>
            <a:r>
              <a:rPr lang="en-US" sz="1200" b="1" i="0" u="none" strike="noStrike" dirty="0">
                <a:solidFill>
                  <a:srgbClr val="000000"/>
                </a:solidFill>
              </a:rPr>
              <a:t>）</a:t>
            </a:r>
            <a:endParaRPr lang="en-US" sz="1200" b="1"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这个</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dirty="0" err="1">
                <a:solidFill>
                  <a:srgbClr val="000000"/>
                </a:solidFill>
              </a:rPr>
              <a:t>编码器</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解码器注意力”层</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的工作方式就像多头自注意力一样，但其数据的来源是</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Queries </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Q</a:t>
            </a:r>
            <a:r>
              <a:rPr lang="en-US" sz="1200" b="1"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来自</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它下面的那个解码器层</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的输出</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Keys </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Values </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a:t>
            </a:r>
            <a:r>
              <a:rPr lang="en-US" sz="1200" b="1" i="0" u="none" strike="noStrike" dirty="0" err="1">
                <a:solidFill>
                  <a:srgbClr val="000000"/>
                </a:solidFill>
                <a:latin typeface="Calibri" panose="020F0502020204030204"/>
                <a:ea typeface="Calibri" panose="020F0502020204030204"/>
                <a:cs typeface="Calibri" panose="020F0502020204030204"/>
                <a:sym typeface="Calibri" panose="020F0502020204030204"/>
              </a:rPr>
              <a:t>K</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dirty="0" err="1">
                <a:solidFill>
                  <a:srgbClr val="000000"/>
                </a:solidFill>
              </a:rPr>
              <a:t>和</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 V</a:t>
            </a:r>
            <a:r>
              <a:rPr lang="en-US" sz="1200" b="1"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rPr>
              <a:t>来自</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编码器堆栈的最终输出</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[Sources]</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Operator decomposition summarized from Vaswani et al. (2017): https://arxiv.org/abs/1706.03762</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[/Sources]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fr-FR"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[Sources]</a:t>
            </a:r>
            <a:endParaRPr lang="fr-FR"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fr-FR"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Dao et al. (2022), IO-aware motivation: https://arxiv.org/abs/2205.14135</a:t>
            </a:r>
            <a:endParaRPr lang="fr-FR"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fr-FR"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[/Sources]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Overview of why the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attention mechanism</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is expensive and what people do to speed it up.</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When it comes to </a:t>
            </a:r>
            <a:r>
              <a:rPr lang="en-US" sz="1200" b="0" i="1" u="none" strike="noStrike" dirty="0">
                <a:solidFill>
                  <a:srgbClr val="000000"/>
                </a:solidFill>
                <a:latin typeface="Calibri" panose="020F0502020204030204"/>
                <a:ea typeface="Calibri" panose="020F0502020204030204"/>
                <a:cs typeface="Calibri" panose="020F0502020204030204"/>
                <a:sym typeface="Calibri" panose="020F0502020204030204"/>
              </a:rPr>
              <a:t>transformer</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models (e.g., for large language models), the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self-attention</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mechanism is often cited as the computational bottleneck. In the standard “full” attention, each token attends to </a:t>
            </a:r>
            <a:r>
              <a:rPr lang="en-US" sz="1200" b="0" i="1" u="none" strike="noStrike" dirty="0">
                <a:solidFill>
                  <a:srgbClr val="000000"/>
                </a:solidFill>
                <a:latin typeface="Calibri" panose="020F0502020204030204"/>
                <a:ea typeface="Calibri" panose="020F0502020204030204"/>
                <a:cs typeface="Calibri" panose="020F0502020204030204"/>
                <a:sym typeface="Calibri" panose="020F0502020204030204"/>
              </a:rPr>
              <a:t>every</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other token, leading to a time (and memory) complexity of </a:t>
            </a:r>
            <a:r>
              <a:rPr lang="en-US" sz="1200" b="0" i="1" u="none" strike="noStrike" dirty="0">
                <a:solidFill>
                  <a:srgbClr val="000000"/>
                </a:solidFill>
                <a:latin typeface="Calibri" panose="020F0502020204030204"/>
                <a:ea typeface="Calibri" panose="020F0502020204030204"/>
                <a:cs typeface="Calibri" panose="020F0502020204030204"/>
                <a:sym typeface="Calibri" panose="020F0502020204030204"/>
              </a:rPr>
              <a:t>O(n²)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in the sequence length </a:t>
            </a:r>
            <a:r>
              <a:rPr lang="en-US" sz="1200" b="0" i="1" u="none" strike="noStrike" dirty="0">
                <a:solidFill>
                  <a:srgbClr val="000000"/>
                </a:solidFill>
                <a:latin typeface="Calibri" panose="020F0502020204030204"/>
                <a:ea typeface="Calibri" panose="020F0502020204030204"/>
                <a:cs typeface="Calibri" panose="020F0502020204030204"/>
                <a:sym typeface="Calibri" panose="020F0502020204030204"/>
              </a:rPr>
              <a:t>n</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When </a:t>
            </a:r>
            <a:r>
              <a:rPr lang="en-US" sz="1200" b="0" i="1" u="none" strike="noStrike" dirty="0">
                <a:solidFill>
                  <a:srgbClr val="000000"/>
                </a:solidFill>
                <a:latin typeface="Calibri" panose="020F0502020204030204"/>
                <a:ea typeface="Calibri" panose="020F0502020204030204"/>
                <a:cs typeface="Calibri" panose="020F0502020204030204"/>
                <a:sym typeface="Calibri" panose="020F0502020204030204"/>
              </a:rPr>
              <a:t>n</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is large (thousands of tokens or more), this becomes very expensive — even on powerful GPUs.</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Overview of why the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attention mechanism</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is expensive and what people do to speed it up.</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When it comes to </a:t>
            </a:r>
            <a:r>
              <a:rPr lang="en-US" sz="1200" b="0" i="1" u="none" strike="noStrike" dirty="0">
                <a:solidFill>
                  <a:srgbClr val="000000"/>
                </a:solidFill>
                <a:latin typeface="Calibri" panose="020F0502020204030204"/>
                <a:ea typeface="Calibri" panose="020F0502020204030204"/>
                <a:cs typeface="Calibri" panose="020F0502020204030204"/>
                <a:sym typeface="Calibri" panose="020F0502020204030204"/>
              </a:rPr>
              <a:t>transformer</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models (e.g., for large language models), the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self-attention</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mechanism is often cited as the computational bottleneck. In the standard “full” attention, each token attends to </a:t>
            </a:r>
            <a:r>
              <a:rPr lang="en-US" sz="1200" b="0" i="1" u="none" strike="noStrike" dirty="0">
                <a:solidFill>
                  <a:srgbClr val="000000"/>
                </a:solidFill>
                <a:latin typeface="Calibri" panose="020F0502020204030204"/>
                <a:ea typeface="Calibri" panose="020F0502020204030204"/>
                <a:cs typeface="Calibri" panose="020F0502020204030204"/>
                <a:sym typeface="Calibri" panose="020F0502020204030204"/>
              </a:rPr>
              <a:t>every</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other token, leading to a time (and memory) complexity of </a:t>
            </a:r>
            <a:r>
              <a:rPr lang="en-US" sz="1200" b="0" i="1" u="none" strike="noStrike" dirty="0">
                <a:solidFill>
                  <a:srgbClr val="000000"/>
                </a:solidFill>
                <a:latin typeface="Calibri" panose="020F0502020204030204"/>
                <a:ea typeface="Calibri" panose="020F0502020204030204"/>
                <a:cs typeface="Calibri" panose="020F0502020204030204"/>
                <a:sym typeface="Calibri" panose="020F0502020204030204"/>
              </a:rPr>
              <a:t>O(n²)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in the sequence length </a:t>
            </a:r>
            <a:r>
              <a:rPr lang="en-US" sz="1200" b="0" i="1" u="none" strike="noStrike" dirty="0">
                <a:solidFill>
                  <a:srgbClr val="000000"/>
                </a:solidFill>
                <a:latin typeface="Calibri" panose="020F0502020204030204"/>
                <a:ea typeface="Calibri" panose="020F0502020204030204"/>
                <a:cs typeface="Calibri" panose="020F0502020204030204"/>
                <a:sym typeface="Calibri" panose="020F0502020204030204"/>
              </a:rPr>
              <a:t>n</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When </a:t>
            </a:r>
            <a:r>
              <a:rPr lang="en-US" sz="1200" b="0" i="1" u="none" strike="noStrike" dirty="0">
                <a:solidFill>
                  <a:srgbClr val="000000"/>
                </a:solidFill>
                <a:latin typeface="Calibri" panose="020F0502020204030204"/>
                <a:ea typeface="Calibri" panose="020F0502020204030204"/>
                <a:cs typeface="Calibri" panose="020F0502020204030204"/>
                <a:sym typeface="Calibri" panose="020F0502020204030204"/>
              </a:rPr>
              <a:t>n</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is large (thousands of tokens or more), this becomes very expensive — even on powerful GPUs.</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自注意力机制（</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Self-attention</a:t>
            </a:r>
            <a:r>
              <a:rPr lang="en-US" sz="1200" b="0" i="0" u="none" strike="noStrike" dirty="0">
                <a:solidFill>
                  <a:srgbClr val="000000"/>
                </a:solidFill>
              </a:rPr>
              <a:t>）的灵活性是以沉重代价为交换的：其复杂度随输入序列长度呈</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平方级增长</a:t>
            </a:r>
            <a:r>
              <a:rPr lang="en-US" sz="1200" b="0" i="0" u="none" strike="noStrike" dirty="0">
                <a:solidFill>
                  <a:srgbClr val="000000"/>
                </a:solidFill>
              </a:rPr>
              <a:t>。每一个标记（</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token</a:t>
            </a:r>
            <a:r>
              <a:rPr lang="en-US" sz="1200" b="0" i="0" u="none" strike="noStrike" dirty="0">
                <a:solidFill>
                  <a:srgbClr val="000000"/>
                </a:solidFill>
              </a:rPr>
              <a:t>）都必须与其它所有标记进行比对。对于短文本（几千个标记）来说，这尚且可以应付；但对于长文档或代码库，注意力运算的数量会呈爆炸式增长。一篇关于效率的文章指出，处理一份</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100,000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字的文档大约需要</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100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亿次注意力计算。随着上下文窗口的扩大，注意力机制带来的计算、内存带宽和能源成本将变得高昂到令人望而却步</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除了计算和内存等物理层面，</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Transformer</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还面临着概念层面的瓶颈。自注意力机制固然强大，但它并不能替代真正的</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记忆能力</a:t>
            </a:r>
            <a:r>
              <a:rPr lang="en-US" sz="1200" b="0" i="0" u="none" strike="noStrike" dirty="0" err="1">
                <a:solidFill>
                  <a:srgbClr val="000000"/>
                </a:solidFill>
              </a:rPr>
              <a: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Transformer</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拥有两种记忆：一种是其权重中的</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参数化记忆</a:t>
            </a:r>
            <a:r>
              <a:rPr lang="en-US" sz="1200" b="0" i="0" u="none" strike="noStrike" dirty="0" err="1">
                <a:solidFill>
                  <a:srgbClr val="000000"/>
                </a:solidFill>
              </a:rPr>
              <a: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parametric</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memory</a:t>
            </a:r>
            <a:r>
              <a:rPr lang="en-US" sz="1200" b="0" i="0" u="none" strike="noStrike" dirty="0">
                <a:solidFill>
                  <a:srgbClr val="000000"/>
                </a:solidFill>
              </a:rPr>
              <a:t>），</a:t>
            </a:r>
            <a:r>
              <a:rPr lang="en-US" sz="1200" b="0" i="0" u="none" strike="noStrike" dirty="0" err="1">
                <a:solidFill>
                  <a:srgbClr val="000000"/>
                </a:solidFill>
              </a:rPr>
              <a:t>编码了来自训练阶段的通用知识；另一种是</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上下文窗口</a:t>
            </a:r>
            <a:r>
              <a:rPr lang="en-US" sz="1200" b="0" i="0" u="none" strike="noStrike" dirty="0" err="1">
                <a:solidFill>
                  <a:srgbClr val="000000"/>
                </a:solidFill>
              </a:rPr>
              <a: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context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window</a:t>
            </a:r>
            <a:r>
              <a:rPr lang="en-US" sz="1200" b="0" i="0" u="none" strike="noStrike" dirty="0">
                <a:solidFill>
                  <a:srgbClr val="000000"/>
                </a:solidFill>
              </a:rPr>
              <a:t>），用于保存当前的标记序列。任何超出这一窗口的信息对模型而言都是不可见的。</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128K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标记的上下文窗口听起来很大，但对于一本</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500 </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页的书籍或长达数小时的会议记录而言，这仍然只是海量信息中的一小部分。而注意力的平方级成本意味着，将窗口扩展到数百万标记在目前看来依然是不切实际的。</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此外，当缺乏相关信息时，</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Transformer</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往往会产生“</a:t>
            </a: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幻觉</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hallucinate</a:t>
            </a:r>
            <a:r>
              <a:rPr lang="en-US" sz="1200" b="0" i="0" u="none" strike="noStrike" dirty="0">
                <a:solidFill>
                  <a:srgbClr val="000000"/>
                </a:solidFill>
              </a:rPr>
              <a:t>）。</a:t>
            </a:r>
            <a:r>
              <a:rPr lang="en-US" sz="1200" b="0" i="0" u="none" strike="noStrike" dirty="0" err="1">
                <a:solidFill>
                  <a:srgbClr val="000000"/>
                </a:solidFill>
              </a:rPr>
              <a:t>如果答案既没有编码在权重中，也没有出现在上下文中，模型就会生成看似合理、实则错误的事实。之所以出现这种情况，是因为</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Transformer </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缺乏显式的机制来验证其输出或咨询外部来源。现代聊天机器人本质上是拥有</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短时工作记忆、却无持久存储的“统计鹦鹉”</a:t>
            </a:r>
            <a:r>
              <a:rPr lang="en-US" sz="1200" b="0" i="0" u="none" strike="noStrike" dirty="0">
                <a:solidFill>
                  <a:srgbClr val="000000"/>
                </a:solidFill>
              </a:rPr>
              <a:t>。这限制了它们在需要实时知识、审计追踪或长周期历史推理等领域的可靠性。</a:t>
            </a:r>
            <a:endParaRPr lang="en-US" sz="1200" b="0" i="0" u="none" strike="noStrike" dirty="0">
              <a:solidFill>
                <a:srgbClr val="000000"/>
              </a:solidFill>
            </a:endParaRPr>
          </a:p>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分块技术</a:t>
            </a:r>
            <a:r>
              <a:rPr lang="en-US" sz="12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1" i="0" u="none" strike="noStrike" dirty="0">
                <a:solidFill>
                  <a:srgbClr val="000000"/>
                </a:solidFill>
                <a:latin typeface="Calibri" panose="020F0502020204030204"/>
                <a:ea typeface="Calibri" panose="020F0502020204030204"/>
                <a:cs typeface="Calibri" panose="020F0502020204030204"/>
                <a:sym typeface="Calibri" panose="020F0502020204030204"/>
              </a:rPr>
              <a:t>(Tiling)</a:t>
            </a:r>
            <a:r>
              <a:rPr lang="en-US" sz="1200" b="1" i="0" u="none" strike="noStrike" dirty="0">
                <a:solidFill>
                  <a:srgbClr val="000000"/>
                </a:solidFill>
              </a:rPr>
              <a:t>：</a:t>
            </a:r>
            <a:r>
              <a:rPr lang="en-US" sz="1200" b="1" i="0" u="none" strike="noStrike" dirty="0" err="1">
                <a:solidFill>
                  <a:srgbClr val="000000"/>
                </a:solidFill>
              </a:rPr>
              <a:t>化整为零的艺术</a:t>
            </a:r>
            <a:endParaRPr lang="en-US" sz="1200" b="1"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为什么要分块</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457200" lvl="1"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GPU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SRAM</a:t>
            </a:r>
            <a:r>
              <a:rPr lang="en-US" sz="1200" b="0" i="0" u="none" strike="noStrike" dirty="0" err="1">
                <a:solidFill>
                  <a:srgbClr val="000000"/>
                </a:solidFill>
              </a:rPr>
              <a:t>（如</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A100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L1/Shared </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Memory</a:t>
            </a:r>
            <a:r>
              <a:rPr lang="en-US" sz="1200" b="0" i="0" u="none" strike="noStrike" dirty="0" err="1">
                <a:solidFill>
                  <a:srgbClr val="000000"/>
                </a:solidFill>
              </a:rPr>
              <a:t>）虽然极快，但容量极小（通常只有几百</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KB</a:t>
            </a:r>
            <a:r>
              <a:rPr lang="en-US" sz="1200" b="0"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a:solidFill>
                  <a:srgbClr val="000000"/>
                </a:solidFill>
              </a:rPr>
              <a:t>。</a:t>
            </a:r>
            <a:endParaRPr lang="en-US" sz="1200" b="0" i="0" u="none" strike="noStrike" dirty="0">
              <a:solidFill>
                <a:srgbClr val="000000"/>
              </a:solidFill>
            </a:endParaRPr>
          </a:p>
          <a:p>
            <a:pPr marL="457200" lvl="1"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传统的</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$N \times N$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矩阵（如</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$N=4096$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时）远超</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SRAM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容量，必须将其切成能塞进缓存的小块（</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Tiles</a:t>
            </a:r>
            <a:r>
              <a:rPr lang="en-US" sz="1200" b="0" i="0" u="none" strike="noStrike" dirty="0">
                <a:solidFill>
                  <a:srgbClr val="000000"/>
                </a:solidFill>
              </a:rPr>
              <a:t>）</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如何操作</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457200" lvl="1"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对输入矩阵</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$Q, K, V$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进行纵向或横向切分</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457200" lvl="1"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通过外层和内层循环，逐块将数据从</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HBM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加载到</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SRAM </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计算收益</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457200" lvl="1" indent="0" algn="l">
              <a:lnSpc>
                <a:spcPct val="100000"/>
              </a:lnSpc>
            </a:pP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SRAM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内部完成局部点积和部分</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Softmax</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累加，无需将</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$N \times N$ </a:t>
            </a:r>
            <a:r>
              <a:rPr lang="en-US" sz="1200" b="0" i="0" u="none" strike="noStrike" dirty="0" err="1">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的中间结果写回缓慢的</a:t>
            </a:r>
            <a:r>
              <a:rPr lang="en-US" sz="12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HBM </a:t>
            </a:r>
            <a:r>
              <a:rPr lang="en-US" sz="1200" b="0" i="0" u="none" strike="noStrike" dirty="0">
                <a:solidFill>
                  <a:srgbClr val="000000"/>
                </a:solidFill>
              </a:rPr>
              <a:t>。</a:t>
            </a:r>
            <a:endParaRPr lang="en-US" sz="1200" b="0" i="0" u="none" strike="noStrike" dirty="0">
              <a:solidFill>
                <a:srgbClr val="000000"/>
              </a:solidFill>
            </a:endParaRPr>
          </a:p>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https://</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github.com</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flagos</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-ai/</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FlagGems</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https://</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github.com</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flagos</a:t>
            </a: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-ai/</a:t>
            </a:r>
            <a:r>
              <a:rPr lang="en-US" sz="1200" b="0" i="0" u="none" strike="noStrike" dirty="0" err="1">
                <a:solidFill>
                  <a:srgbClr val="000000"/>
                </a:solidFill>
                <a:latin typeface="Calibri" panose="020F0502020204030204"/>
                <a:ea typeface="Calibri" panose="020F0502020204030204"/>
                <a:cs typeface="Calibri" panose="020F0502020204030204"/>
                <a:sym typeface="Calibri" panose="020F0502020204030204"/>
              </a:rPr>
              <a:t>FlagGems</a:t>
            </a:r>
            <a:endPar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1988820" y="5448300"/>
            <a:ext cx="9664065" cy="447675"/>
          </a:xfrm>
          <a:prstGeom prst="rect">
            <a:avLst/>
          </a:prstGeom>
        </p:spPr>
        <p:txBody>
          <a:bodyPr/>
          <a:lstStyle>
            <a:lvl1pPr algn="ctr">
              <a:defRPr lang="zh-CN" altLang="en-US" sz="2400" b="0" i="0" kern="1200" baseline="0" smtClean="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defRPr>
            </a:lvl1pPr>
          </a:lstStyle>
          <a:p>
            <a:endParaRPr lang="en-US" dirty="0"/>
          </a:p>
        </p:txBody>
      </p:sp>
      <p:sp>
        <p:nvSpPr>
          <p:cNvPr id="4" name="页脚占位符 3"/>
          <p:cNvSpPr>
            <a:spLocks noGrp="1"/>
          </p:cNvSpPr>
          <p:nvPr>
            <p:ph type="ftr" sz="quarter" idx="11"/>
          </p:nvPr>
        </p:nvSpPr>
        <p:spPr>
          <a:xfrm>
            <a:off x="2450465" y="6356350"/>
            <a:ext cx="9202420" cy="365125"/>
          </a:xfrm>
          <a:prstGeom prst="rect">
            <a:avLst/>
          </a:prstGeom>
        </p:spPr>
        <p:txBody>
          <a:bodyPr/>
          <a:lstStyle/>
          <a:p>
            <a:endParaRPr lang="zh-CN" altLang="en-US" dirty="0"/>
          </a:p>
        </p:txBody>
      </p:sp>
      <p:sp>
        <p:nvSpPr>
          <p:cNvPr id="5"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sp>
        <p:nvSpPr>
          <p:cNvPr id="6" name="副标题 2"/>
          <p:cNvSpPr>
            <a:spLocks noGrp="1"/>
          </p:cNvSpPr>
          <p:nvPr>
            <p:ph type="subTitle" idx="1"/>
          </p:nvPr>
        </p:nvSpPr>
        <p:spPr>
          <a:xfrm>
            <a:off x="2009140" y="4846320"/>
            <a:ext cx="9643110" cy="474980"/>
          </a:xfrm>
          <a:prstGeom prst="rect">
            <a:avLst/>
          </a:prstGeom>
        </p:spPr>
        <p:txBody>
          <a:bodyPr anchor="ctr">
            <a:noAutofit/>
          </a:bodyPr>
          <a:lstStyle>
            <a:lvl1pPr marL="0" indent="0" algn="ctr">
              <a:buNone/>
              <a:defRPr sz="2400" b="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4"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fld>
            <a:endParaRPr lang="zh-CN" altLang="en-US" dirty="0"/>
          </a:p>
        </p:txBody>
      </p:sp>
      <p:sp>
        <p:nvSpPr>
          <p:cNvPr id="6" name="内容占位符 3"/>
          <p:cNvSpPr>
            <a:spLocks noGrp="1"/>
          </p:cNvSpPr>
          <p:nvPr>
            <p:ph sz="quarter" idx="13" hasCustomPrompt="1"/>
          </p:nvPr>
        </p:nvSpPr>
        <p:spPr>
          <a:xfrm>
            <a:off x="523874" y="1323975"/>
            <a:ext cx="11277601" cy="4852988"/>
          </a:xfrm>
        </p:spPr>
        <p:txBody>
          <a:bodyPr anchor="t"/>
          <a:lstStyle>
            <a:lvl1pPr algn="l">
              <a:buClr>
                <a:srgbClr val="8B0012"/>
              </a:buClr>
              <a:buSzTx/>
              <a:buFontTx/>
              <a:buChar char="•"/>
              <a:defRPr/>
            </a:lvl1pPr>
            <a:lvl2pPr algn="l">
              <a:buClr>
                <a:srgbClr val="8B0012"/>
              </a:buClr>
              <a:buSzPct val="75000"/>
              <a:buFontTx/>
              <a:buChar char="◦"/>
              <a:defRPr/>
            </a:lvl2pPr>
            <a:lvl3pPr algn="l">
              <a:buClr>
                <a:srgbClr val="8B0012"/>
              </a:buClr>
              <a:buSzTx/>
              <a:buFontTx/>
              <a:buChar char="-"/>
              <a:defRPr/>
            </a:lvl3pPr>
            <a:lvl4pPr algn="l">
              <a:buClr>
                <a:srgbClr val="8B0012"/>
              </a:buClr>
              <a:buSzTx/>
              <a:buFontTx/>
              <a:buChar char="-"/>
              <a:defRPr/>
            </a:lvl4pPr>
            <a:lvl5pPr>
              <a:buClr>
                <a:srgbClr val="8B0012"/>
              </a:buClr>
              <a:buSzTx/>
              <a:buFontTx/>
              <a:buChar char="-"/>
              <a:defRPr/>
            </a:lvl5pPr>
            <a:lvl6pPr>
              <a:buClr>
                <a:srgbClr val="8B0012"/>
              </a:buClr>
              <a:buSzTx/>
              <a:buFontTx/>
              <a:buChar char="-"/>
              <a:defRPr/>
            </a:lvl6pPr>
            <a:lvl7pPr>
              <a:buClr>
                <a:srgbClr val="8B0012"/>
              </a:buClr>
              <a:buSzTx/>
              <a:buFontTx/>
              <a:buChar char="-"/>
              <a:defRPr/>
            </a:lvl7pPr>
            <a:lvl8pPr>
              <a:buClr>
                <a:srgbClr val="8B0012"/>
              </a:buClr>
              <a:buSzTx/>
              <a:buFontTx/>
              <a:buChar char="-"/>
              <a:defRPr/>
            </a:lvl8pPr>
            <a:lvl9pPr>
              <a:buClr>
                <a:srgbClr val="8B0012"/>
              </a:buClr>
              <a:buSzTx/>
              <a:buFontTx/>
              <a:buChar char="-"/>
              <a:defRPr/>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5" name="灯片编号占位符 4"/>
          <p:cNvSpPr>
            <a:spLocks noGrp="1"/>
          </p:cNvSpPr>
          <p:nvPr>
            <p:ph type="sldNum" sz="quarter" idx="12"/>
          </p:nvPr>
        </p:nvSpPr>
        <p:spPr/>
        <p:txBody>
          <a:bodyPr/>
          <a:lstStyle/>
          <a:p>
            <a:fld id="{B33F7469-D28B-482F-B1B6-3B8E7CF51519}" type="slidenum">
              <a:rPr lang="zh-CN" altLang="en-US" smtClean="0"/>
            </a:fld>
            <a:endParaRPr lang="zh-CN" altLang="en-US" dirty="0"/>
          </a:p>
        </p:txBody>
      </p:sp>
      <p:sp>
        <p:nvSpPr>
          <p:cNvPr id="8" name="内容占位符 3"/>
          <p:cNvSpPr>
            <a:spLocks noGrp="1"/>
          </p:cNvSpPr>
          <p:nvPr>
            <p:ph sz="quarter" idx="13" hasCustomPrompt="1"/>
          </p:nvPr>
        </p:nvSpPr>
        <p:spPr>
          <a:xfrm>
            <a:off x="523873" y="1323976"/>
            <a:ext cx="5591177" cy="4852988"/>
          </a:xfrm>
        </p:spPr>
        <p:txBody>
          <a:bodyPr anchor="t"/>
          <a:lstStyle>
            <a:lvl1pPr algn="l">
              <a:buClr>
                <a:srgbClr val="8B0012"/>
              </a:buClr>
              <a:buSzTx/>
              <a:buFontTx/>
              <a:buChar char="•"/>
              <a:defRPr/>
            </a:lvl1pPr>
            <a:lvl2pPr algn="l">
              <a:buClr>
                <a:srgbClr val="8B0012"/>
              </a:buClr>
              <a:buSzPct val="75000"/>
              <a:buFontTx/>
              <a:buChar char="◦"/>
              <a:defRPr/>
            </a:lvl2pPr>
            <a:lvl3pPr algn="l">
              <a:buClr>
                <a:srgbClr val="8B0012"/>
              </a:buClr>
              <a:buSzTx/>
              <a:buFontTx/>
              <a:buChar char="-"/>
              <a:defRPr/>
            </a:lvl3pPr>
            <a:lvl4pPr algn="l">
              <a:buClr>
                <a:srgbClr val="8B0012"/>
              </a:buClr>
              <a:buSzTx/>
              <a:buFontTx/>
              <a:buChar char="-"/>
              <a:defRPr/>
            </a:lvl4pPr>
            <a:lvl5pPr>
              <a:buClr>
                <a:srgbClr val="8B0012"/>
              </a:buClr>
              <a:buSzTx/>
              <a:buFontTx/>
              <a:buChar char="-"/>
              <a:defRPr/>
            </a:lvl5pPr>
            <a:lvl6pPr>
              <a:buClr>
                <a:srgbClr val="8B0012"/>
              </a:buClr>
              <a:buSzTx/>
              <a:buFontTx/>
              <a:buChar char="-"/>
              <a:defRPr/>
            </a:lvl6pPr>
            <a:lvl7pPr>
              <a:buClr>
                <a:srgbClr val="8B0012"/>
              </a:buClr>
              <a:buSzTx/>
              <a:buFontTx/>
              <a:buChar char="-"/>
              <a:defRPr/>
            </a:lvl7pPr>
            <a:lvl8pPr>
              <a:buClr>
                <a:srgbClr val="8B0012"/>
              </a:buClr>
              <a:buSzTx/>
              <a:buFontTx/>
              <a:buChar char="-"/>
              <a:defRPr/>
            </a:lvl8pPr>
            <a:lvl9pPr>
              <a:buClr>
                <a:srgbClr val="8B0012"/>
              </a:buClr>
              <a:buSzTx/>
              <a:buFontTx/>
              <a:buChar char="-"/>
              <a:defRPr/>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
        <p:nvSpPr>
          <p:cNvPr id="10"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1" name="内容占位符 3"/>
          <p:cNvSpPr>
            <a:spLocks noGrp="1"/>
          </p:cNvSpPr>
          <p:nvPr>
            <p:ph sz="quarter" idx="14" hasCustomPrompt="1"/>
          </p:nvPr>
        </p:nvSpPr>
        <p:spPr>
          <a:xfrm>
            <a:off x="6210297" y="1323977"/>
            <a:ext cx="5591177" cy="4856162"/>
          </a:xfrm>
        </p:spPr>
        <p:txBody>
          <a:bodyPr anchor="t"/>
          <a:lstStyle>
            <a:lvl1pPr algn="l">
              <a:buClr>
                <a:srgbClr val="8B0012"/>
              </a:buClr>
              <a:buSzTx/>
              <a:buFontTx/>
              <a:buChar char="•"/>
              <a:defRPr/>
            </a:lvl1pPr>
            <a:lvl2pPr algn="l">
              <a:buClr>
                <a:srgbClr val="8B0012"/>
              </a:buClr>
              <a:buSzPct val="75000"/>
              <a:buFontTx/>
              <a:buChar char="◦"/>
              <a:defRPr/>
            </a:lvl2pPr>
            <a:lvl3pPr algn="l">
              <a:buClr>
                <a:srgbClr val="8B0012"/>
              </a:buClr>
              <a:buSzTx/>
              <a:buFontTx/>
              <a:buChar char="-"/>
              <a:defRPr/>
            </a:lvl3pPr>
            <a:lvl4pPr algn="l">
              <a:buClr>
                <a:srgbClr val="8B0012"/>
              </a:buClr>
              <a:buSzTx/>
              <a:buFontTx/>
              <a:buChar char="-"/>
              <a:defRPr/>
            </a:lvl4pPr>
            <a:lvl5pPr>
              <a:buClr>
                <a:srgbClr val="8B0012"/>
              </a:buClr>
              <a:buSzTx/>
              <a:buFontTx/>
              <a:buChar char="-"/>
              <a:defRPr/>
            </a:lvl5pPr>
            <a:lvl6pPr>
              <a:buClr>
                <a:srgbClr val="8B0012"/>
              </a:buClr>
              <a:buSzTx/>
              <a:buFontTx/>
              <a:buChar char="-"/>
              <a:defRPr/>
            </a:lvl6pPr>
            <a:lvl7pPr>
              <a:buClr>
                <a:srgbClr val="8B0012"/>
              </a:buClr>
              <a:buSzTx/>
              <a:buFontTx/>
              <a:buChar char="-"/>
              <a:defRPr/>
            </a:lvl7pPr>
            <a:lvl8pPr>
              <a:buClr>
                <a:srgbClr val="8B0012"/>
              </a:buClr>
              <a:buSzTx/>
              <a:buFontTx/>
              <a:buChar char="-"/>
              <a:defRPr/>
            </a:lvl8pPr>
            <a:lvl9pPr>
              <a:buClr>
                <a:srgbClr val="8B0012"/>
              </a:buClr>
              <a:buSzTx/>
              <a:buFontTx/>
              <a:buChar char="-"/>
              <a:defRPr/>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2" name="标题 1"/>
          <p:cNvSpPr>
            <a:spLocks noGrp="1"/>
          </p:cNvSpPr>
          <p:nvPr>
            <p:ph type="title"/>
          </p:nvPr>
        </p:nvSpPr>
        <p:spPr>
          <a:xfrm>
            <a:off x="666749" y="457201"/>
            <a:ext cx="2771775" cy="5719762"/>
          </a:xfrm>
        </p:spPr>
        <p:txBody>
          <a:bodyPr/>
          <a:lstStyle/>
          <a:p>
            <a:r>
              <a:rPr kumimoji="1" lang="zh-CN" altLang="en-US" dirty="0"/>
              <a:t>单击此处编辑母版标题样式</a:t>
            </a:r>
            <a:endParaRPr kumimoji="1" lang="zh-CN" altLang="en-US" dirty="0"/>
          </a:p>
        </p:txBody>
      </p:sp>
      <p:sp>
        <p:nvSpPr>
          <p:cNvPr id="4" name="幻灯片编号占位符 3"/>
          <p:cNvSpPr>
            <a:spLocks noGrp="1"/>
          </p:cNvSpPr>
          <p:nvPr>
            <p:ph type="sldNum" sz="quarter" idx="11"/>
          </p:nvPr>
        </p:nvSpPr>
        <p:spPr/>
        <p:txBody>
          <a:bodyPr/>
          <a:lstStyle/>
          <a:p>
            <a:fld id="{B33F7469-D28B-482F-B1B6-3B8E7CF51519}" type="slidenum">
              <a:rPr lang="zh-CN" altLang="en-US" smtClean="0"/>
            </a:fld>
            <a:endParaRPr lang="zh-CN" altLang="en-US" dirty="0"/>
          </a:p>
        </p:txBody>
      </p:sp>
      <p:sp>
        <p:nvSpPr>
          <p:cNvPr id="6" name="内容占位符 3"/>
          <p:cNvSpPr>
            <a:spLocks noGrp="1"/>
          </p:cNvSpPr>
          <p:nvPr>
            <p:ph sz="quarter" idx="14" hasCustomPrompt="1"/>
          </p:nvPr>
        </p:nvSpPr>
        <p:spPr>
          <a:xfrm>
            <a:off x="3657600" y="457201"/>
            <a:ext cx="8001000" cy="5719763"/>
          </a:xfrm>
        </p:spPr>
        <p:txBody>
          <a:bodyPr anchor="t"/>
          <a:lstStyle>
            <a:lvl1pPr algn="l">
              <a:buClr>
                <a:srgbClr val="8B0012"/>
              </a:buClr>
              <a:buSzTx/>
              <a:buFontTx/>
              <a:buChar char="•"/>
              <a:defRPr/>
            </a:lvl1pPr>
            <a:lvl2pPr algn="l">
              <a:buClr>
                <a:srgbClr val="8B0012"/>
              </a:buClr>
              <a:buSzTx/>
              <a:buFontTx/>
              <a:buChar char="◦"/>
              <a:defRPr/>
            </a:lvl2pPr>
            <a:lvl3pPr algn="l">
              <a:buClr>
                <a:srgbClr val="8B0012"/>
              </a:buClr>
              <a:buSzTx/>
              <a:buFontTx/>
              <a:buChar char="-"/>
              <a:defRPr/>
            </a:lvl3pPr>
            <a:lvl4pPr algn="l">
              <a:buClr>
                <a:srgbClr val="8B0012"/>
              </a:buClr>
              <a:buSzTx/>
              <a:buFontTx/>
              <a:buChar char="-"/>
              <a:defRPr/>
            </a:lvl4pPr>
            <a:lvl5pPr>
              <a:buClr>
                <a:srgbClr val="8B0012"/>
              </a:buClr>
              <a:buSzTx/>
              <a:buFontTx/>
              <a:buChar char="-"/>
              <a:defRPr/>
            </a:lvl5pPr>
            <a:lvl6pPr>
              <a:buClr>
                <a:srgbClr val="8B0012"/>
              </a:buClr>
              <a:buSzTx/>
              <a:buFontTx/>
              <a:buChar char="-"/>
              <a:defRPr/>
            </a:lvl6pPr>
            <a:lvl7pPr>
              <a:buClr>
                <a:srgbClr val="8B0012"/>
              </a:buClr>
              <a:buSzTx/>
              <a:buFontTx/>
              <a:buChar char="-"/>
              <a:defRPr/>
            </a:lvl7pPr>
            <a:lvl8pPr>
              <a:buClr>
                <a:srgbClr val="8B0012"/>
              </a:buClr>
              <a:buSzTx/>
              <a:buFontTx/>
              <a:buChar char="-"/>
              <a:defRPr/>
            </a:lvl8pPr>
            <a:lvl9pPr>
              <a:buClr>
                <a:srgbClr val="8B0012"/>
              </a:buClr>
              <a:buSzTx/>
              <a:buFontTx/>
              <a:buChar char="-"/>
              <a:defRPr/>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
        <p:nvSpPr>
          <p:cNvPr id="8" name="页脚占位符 3"/>
          <p:cNvSpPr>
            <a:spLocks noGrp="1"/>
          </p:cNvSpPr>
          <p:nvPr>
            <p:ph type="ftr" sz="quarter" idx="15"/>
          </p:nvPr>
        </p:nvSpPr>
        <p:spPr>
          <a:xfrm>
            <a:off x="523873" y="6356351"/>
            <a:ext cx="11277601" cy="365125"/>
          </a:xfrm>
        </p:spPr>
        <p:txBody>
          <a:bodyPr/>
          <a:lstStyle/>
          <a:p>
            <a:endParaRPr lang="zh-CN" alt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大纲">
    <p:spTree>
      <p:nvGrpSpPr>
        <p:cNvPr id="1" name=""/>
        <p:cNvGrpSpPr/>
        <p:nvPr/>
      </p:nvGrpSpPr>
      <p:grpSpPr>
        <a:xfrm>
          <a:off x="0" y="0"/>
          <a:ext cx="0" cy="0"/>
          <a:chOff x="0" y="0"/>
          <a:chExt cx="0" cy="0"/>
        </a:xfrm>
      </p:grpSpPr>
      <p:sp>
        <p:nvSpPr>
          <p:cNvPr id="3" name="内容占位符 2"/>
          <p:cNvSpPr>
            <a:spLocks noGrp="1"/>
          </p:cNvSpPr>
          <p:nvPr>
            <p:ph sz="quarter" idx="10" hasCustomPrompt="1"/>
            <p:custDataLst>
              <p:tags r:id="rId2"/>
            </p:custDataLst>
          </p:nvPr>
        </p:nvSpPr>
        <p:spPr>
          <a:xfrm>
            <a:off x="5452216" y="0"/>
            <a:ext cx="6110447" cy="6858000"/>
          </a:xfrm>
        </p:spPr>
        <p:txBody>
          <a:bodyPr anchor="ctr"/>
          <a:lstStyle>
            <a:lvl1pPr algn="l">
              <a:lnSpc>
                <a:spcPct val="100000"/>
              </a:lnSpc>
              <a:spcBef>
                <a:spcPts val="3000"/>
              </a:spcBef>
              <a:buClr>
                <a:srgbClr val="8B0012"/>
              </a:buClr>
              <a:buSzTx/>
              <a:buFontTx/>
              <a:buChar char="•"/>
              <a:defRPr sz="2800" baseline="0">
                <a:latin typeface="Arial" panose="020B0604020202020204" pitchFamily="34" charset="0"/>
              </a:defRPr>
            </a:lvl1pPr>
            <a:lvl2pPr algn="l">
              <a:lnSpc>
                <a:spcPct val="100000"/>
              </a:lnSpc>
              <a:buClr>
                <a:srgbClr val="8B0012"/>
              </a:buClr>
              <a:buSzTx/>
              <a:buFontTx/>
              <a:buChar char="◦"/>
              <a:defRPr sz="2400" baseline="0">
                <a:latin typeface="Arial" panose="020B0604020202020204" pitchFamily="34" charset="0"/>
              </a:defRPr>
            </a:lvl2pPr>
            <a:lvl3pPr algn="l">
              <a:lnSpc>
                <a:spcPct val="100000"/>
              </a:lnSpc>
              <a:buClr>
                <a:srgbClr val="8B0012"/>
              </a:buClr>
              <a:buSzTx/>
              <a:buFontTx/>
              <a:buChar char="-"/>
              <a:defRPr sz="2000" baseline="0">
                <a:latin typeface="Arial" panose="020B0604020202020204" pitchFamily="34" charset="0"/>
              </a:defRPr>
            </a:lvl3pPr>
            <a:lvl4pPr algn="l">
              <a:lnSpc>
                <a:spcPct val="100000"/>
              </a:lnSpc>
              <a:buClr>
                <a:srgbClr val="8B0012"/>
              </a:buClr>
              <a:buSzTx/>
              <a:buFontTx/>
              <a:buChar char="-"/>
              <a:defRPr sz="1600" baseline="0">
                <a:latin typeface="Arial" panose="020B0604020202020204" pitchFamily="34" charset="0"/>
              </a:defRPr>
            </a:lvl4pPr>
            <a:lvl5pPr>
              <a:buClr>
                <a:srgbClr val="8B0012"/>
              </a:buClr>
              <a:buSzTx/>
              <a:buFontTx/>
              <a:buChar char="-"/>
              <a:defRPr/>
            </a:lvl5pPr>
            <a:lvl6pPr>
              <a:buClr>
                <a:srgbClr val="8B0012"/>
              </a:buClr>
              <a:buSzTx/>
              <a:buFontTx/>
              <a:buChar char="-"/>
              <a:defRPr/>
            </a:lvl6pPr>
            <a:lvl7pPr>
              <a:buClr>
                <a:srgbClr val="8B0012"/>
              </a:buClr>
              <a:buSzTx/>
              <a:buFontTx/>
              <a:buChar char="-"/>
              <a:defRPr/>
            </a:lvl7pPr>
            <a:lvl8pPr>
              <a:buClr>
                <a:srgbClr val="8B0012"/>
              </a:buClr>
              <a:buSzTx/>
              <a:buFontTx/>
              <a:buChar char="-"/>
              <a:defRPr/>
            </a:lvl8pPr>
            <a:lvl9pPr>
              <a:buClr>
                <a:srgbClr val="8B0012"/>
              </a:buClr>
              <a:buSzTx/>
              <a:buFontTx/>
              <a:buChar char="-"/>
              <a:defRPr/>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grpSp>
        <p:nvGrpSpPr>
          <p:cNvPr id="14" name="Group 7"/>
          <p:cNvGrpSpPr/>
          <p:nvPr userDrawn="1"/>
        </p:nvGrpSpPr>
        <p:grpSpPr>
          <a:xfrm>
            <a:off x="3057633" y="31667"/>
            <a:ext cx="9134367" cy="6838951"/>
            <a:chOff x="-4763" y="9525"/>
            <a:chExt cx="9032249" cy="6838951"/>
          </a:xfrm>
          <a:solidFill>
            <a:srgbClr val="8B0012"/>
          </a:solidFill>
        </p:grpSpPr>
        <p:sp>
          <p:nvSpPr>
            <p:cNvPr id="15" name="Line 16"/>
            <p:cNvSpPr>
              <a:spLocks noChangeShapeType="1"/>
            </p:cNvSpPr>
            <p:nvPr>
              <p:custDataLst>
                <p:tags r:id="rId3"/>
              </p:custDataLst>
            </p:nvPr>
          </p:nvSpPr>
          <p:spPr bwMode="auto">
            <a:xfrm>
              <a:off x="-4763" y="9525"/>
              <a:ext cx="0" cy="0"/>
            </a:xfrm>
            <a:prstGeom prst="line">
              <a:avLst/>
            </a:prstGeom>
            <a:grpFill/>
            <a:ln w="15" cap="flat">
              <a:solidFill>
                <a:srgbClr val="FFFFFF"/>
              </a:solidFill>
              <a:prstDash val="solid"/>
              <a:miter lim="800000"/>
            </a:ln>
          </p:spPr>
          <p:txBody>
            <a:bodyPr/>
            <a:lstStyle/>
            <a:p>
              <a:endParaRPr lang="en-US"/>
            </a:p>
          </p:txBody>
        </p:sp>
        <p:grpSp>
          <p:nvGrpSpPr>
            <p:cNvPr id="16" name="Group 9"/>
            <p:cNvGrpSpPr/>
            <p:nvPr/>
          </p:nvGrpSpPr>
          <p:grpSpPr>
            <a:xfrm>
              <a:off x="8428998" y="4867275"/>
              <a:ext cx="598488" cy="1981201"/>
              <a:chOff x="11441112" y="4867275"/>
              <a:chExt cx="598488" cy="1981201"/>
            </a:xfrm>
            <a:grpFill/>
          </p:grpSpPr>
          <p:sp>
            <p:nvSpPr>
              <p:cNvPr id="17" name="Freeform 35"/>
              <p:cNvSpPr/>
              <p:nvPr>
                <p:custDataLst>
                  <p:tags r:id="rId4"/>
                </p:custData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p:spPr>
            <p:txBody>
              <a:bodyPr/>
              <a:lstStyle/>
              <a:p>
                <a:endParaRPr lang="en-US"/>
              </a:p>
            </p:txBody>
          </p:sp>
          <p:sp>
            <p:nvSpPr>
              <p:cNvPr id="18" name="Freeform 36"/>
              <p:cNvSpPr>
                <a:spLocks noEditPoints="1"/>
              </p:cNvSpPr>
              <p:nvPr>
                <p:custDataLst>
                  <p:tags r:id="rId5"/>
                </p:custData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p:spPr>
            <p:txBody>
              <a:bodyPr/>
              <a:lstStyle/>
              <a:p>
                <a:endParaRPr lang="en-US"/>
              </a:p>
            </p:txBody>
          </p:sp>
          <p:sp>
            <p:nvSpPr>
              <p:cNvPr id="19" name="Freeform 38"/>
              <p:cNvSpPr>
                <a:spLocks noEditPoints="1"/>
              </p:cNvSpPr>
              <p:nvPr>
                <p:custDataLst>
                  <p:tags r:id="rId6"/>
                </p:custData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txBody>
              <a:bodyPr/>
              <a:lstStyle/>
              <a:p>
                <a:endParaRPr lang="en-US"/>
              </a:p>
            </p:txBody>
          </p:sp>
          <p:sp>
            <p:nvSpPr>
              <p:cNvPr id="20" name="Freeform 39"/>
              <p:cNvSpPr/>
              <p:nvPr>
                <p:custDataLst>
                  <p:tags r:id="rId7"/>
                </p:custData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p:spPr>
            <p:txBody>
              <a:bodyPr/>
              <a:lstStyle/>
              <a:p>
                <a:endParaRPr lang="en-US"/>
              </a:p>
            </p:txBody>
          </p:sp>
          <p:sp>
            <p:nvSpPr>
              <p:cNvPr id="21" name="Freeform 40"/>
              <p:cNvSpPr>
                <a:spLocks noEditPoints="1"/>
              </p:cNvSpPr>
              <p:nvPr>
                <p:custDataLst>
                  <p:tags r:id="rId8"/>
                </p:custData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txBody>
              <a:bodyPr/>
              <a:lstStyle/>
              <a:p>
                <a:endParaRPr lang="en-US"/>
              </a:p>
            </p:txBody>
          </p:sp>
          <p:sp>
            <p:nvSpPr>
              <p:cNvPr id="22" name="Rectangle 41"/>
              <p:cNvSpPr>
                <a:spLocks noChangeArrowheads="1"/>
              </p:cNvSpPr>
              <p:nvPr>
                <p:custDataLst>
                  <p:tags r:id="rId9"/>
                </p:custDataLst>
              </p:nvPr>
            </p:nvSpPr>
            <p:spPr bwMode="auto">
              <a:xfrm>
                <a:off x="11939587" y="6596063"/>
                <a:ext cx="23813" cy="252413"/>
              </a:xfrm>
              <a:prstGeom prst="rect">
                <a:avLst/>
              </a:prstGeom>
              <a:grpFill/>
              <a:ln>
                <a:noFill/>
              </a:ln>
            </p:spPr>
            <p:txBody>
              <a:bodyPr/>
              <a:lstStyle/>
              <a:p>
                <a:endParaRPr lang="en-US"/>
              </a:p>
            </p:txBody>
          </p:sp>
        </p:grpSp>
      </p:grpSp>
      <p:sp>
        <p:nvSpPr>
          <p:cNvPr id="23" name="内容占位符 22"/>
          <p:cNvSpPr>
            <a:spLocks noGrp="1"/>
          </p:cNvSpPr>
          <p:nvPr>
            <p:ph sz="quarter" idx="11" hasCustomPrompt="1"/>
            <p:custDataLst>
              <p:tags r:id="rId10"/>
            </p:custDataLst>
          </p:nvPr>
        </p:nvSpPr>
        <p:spPr>
          <a:xfrm>
            <a:off x="0" y="0"/>
            <a:ext cx="4659313" cy="6858000"/>
          </a:xfrm>
          <a:solidFill>
            <a:srgbClr val="8B0012"/>
          </a:solidFill>
        </p:spPr>
        <p:txBody>
          <a:bodyPr anchor="ctr">
            <a:normAutofit/>
          </a:bodyPr>
          <a:lstStyle>
            <a:lvl1pPr marL="0" indent="0" algn="ctr">
              <a:buNone/>
              <a:defRPr sz="3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ltLang="zh-CN" dirty="0"/>
              <a:t>Outline</a:t>
            </a:r>
            <a:endParaRPr lang="zh-CN" alt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上下">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pitchFamily="34" charset="-122"/>
              </a:defRPr>
            </a:lvl1pPr>
          </a:lstStyle>
          <a:p>
            <a:pPr indent="0" algn="l">
              <a:lnSpc>
                <a:spcPct val="100000"/>
              </a:lnSpc>
            </a:pPr>
            <a:r>
              <a:rPr lang="en-US" sz="3600" b="0" i="0" u="none" strike="noStrike">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单击此处编辑母版标题样式</a:t>
            </a:r>
            <a:endParaRPr lang="en-US" sz="3600" b="0" i="0" u="none" strike="noStrike">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 name="AutoShape 3"/>
          <p:cNvSpPr>
            <a:spLocks noGrp="1"/>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8"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pitchFamily="3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编辑母版文本样式</a:t>
            </a:r>
            <a:endParaRPr lang="en-US" sz="24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第二级</a:t>
            </a:r>
            <a:endParaRPr lang="en-US" sz="20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第三级</a:t>
            </a:r>
            <a:endParaRPr lang="en-US" sz="16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第四级</a:t>
            </a:r>
            <a:endParaRPr lang="en-US" sz="12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1_两栏内容">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pitchFamily="34" charset="-122"/>
              </a:defRPr>
            </a:lvl1pPr>
          </a:lstStyle>
          <a:p>
            <a:pPr indent="0" algn="l">
              <a:lnSpc>
                <a:spcPct val="100000"/>
              </a:lnSpc>
            </a:pPr>
            <a:r>
              <a:rPr lang="en-US" sz="3600" b="0" i="0" u="none" strike="noStrike">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单击此处编辑母版标题样式</a:t>
            </a:r>
            <a:endParaRPr lang="en-US" sz="3600" b="0" i="0" u="none" strike="noStrike">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 name="AutoShape 3"/>
          <p:cNvSpPr>
            <a:spLocks noGrp="1"/>
          </p:cNvSpPr>
          <p:nvPr>
            <p:ph type="body" sz="quarter" idx="11"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pitchFamily="3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编辑母版文本样式</a:t>
            </a:r>
            <a:endParaRPr lang="en-US" sz="24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第二级</a:t>
            </a:r>
            <a:endParaRPr lang="en-US" sz="20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第三级</a:t>
            </a:r>
            <a:endParaRPr lang="en-US" sz="16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第四级</a:t>
            </a:r>
            <a:endParaRPr lang="en-US" sz="12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 name="AutoShape 5"/>
          <p:cNvSpPr>
            <a:spLocks noGrp="1"/>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a:spLocks noGrp="1"/>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pitchFamily="3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编辑母版文本样式</a:t>
            </a:r>
            <a:endParaRPr lang="en-US" sz="24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第二级</a:t>
            </a:r>
            <a:endParaRPr lang="en-US" sz="20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第三级</a:t>
            </a:r>
            <a:endParaRPr lang="en-US" sz="16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第四级</a:t>
            </a:r>
            <a:endParaRPr lang="en-US" sz="12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1_大纲">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pitchFamily="3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编辑母版文本样式</a:t>
            </a:r>
            <a:endParaRPr lang="en-US" sz="28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第二级</a:t>
            </a:r>
            <a:endParaRPr lang="en-US" sz="24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第三级</a:t>
            </a:r>
            <a:endParaRPr lang="en-US" sz="20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第四级</a:t>
            </a:r>
            <a:endParaRPr lang="en-US" sz="16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p>
            </p:txBody>
          </p:sp>
        </p:grpSp>
      </p:grpSp>
      <p:sp>
        <p:nvSpPr>
          <p:cNvPr id="12" name="AutoShape 12"/>
          <p:cNvSpPr>
            <a:spLocks noGrp="1"/>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image" Target="../media/image1.png"/><Relationship Id="rId7" Type="http://schemas.openxmlformats.org/officeDocument/2006/relationships/slideLayout" Target="../slideLayouts/slideLayout8.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3" Type="http://schemas.openxmlformats.org/officeDocument/2006/relationships/slideLayout" Target="../slideLayouts/slideLayout4.xml"/><Relationship Id="rId2"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image" Target="../media/image3.png"/><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62" name="Group 65"/>
          <p:cNvGrpSpPr/>
          <p:nvPr userDrawn="1"/>
        </p:nvGrpSpPr>
        <p:grpSpPr>
          <a:xfrm>
            <a:off x="0" y="0"/>
            <a:ext cx="2212199" cy="6858001"/>
            <a:chOff x="0" y="0"/>
            <a:chExt cx="2305051" cy="6858001"/>
          </a:xfrm>
          <a:solidFill>
            <a:srgbClr val="8B0012"/>
          </a:solidFill>
        </p:grpSpPr>
        <p:sp>
          <p:nvSpPr>
            <p:cNvPr id="67" name="Rectangle 5"/>
            <p:cNvSpPr>
              <a:spLocks noChangeArrowheads="1"/>
            </p:cNvSpPr>
            <p:nvPr/>
          </p:nvSpPr>
          <p:spPr bwMode="auto">
            <a:xfrm>
              <a:off x="1209675" y="4763"/>
              <a:ext cx="23813" cy="2181225"/>
            </a:xfrm>
            <a:prstGeom prst="rect">
              <a:avLst/>
            </a:prstGeom>
            <a:grpFill/>
            <a:ln>
              <a:noFill/>
            </a:ln>
          </p:spPr>
          <p:txBody>
            <a:bodyPr/>
            <a:lstStyle/>
            <a:p>
              <a:endParaRPr lang="en-US"/>
            </a:p>
          </p:txBody>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txBody>
            <a:bodyPr/>
            <a:lstStyle/>
            <a:p>
              <a:endParaRPr lang="en-US"/>
            </a:p>
          </p:txBody>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txBody>
            <a:bodyPr/>
            <a:lstStyle/>
            <a:p>
              <a:endParaRPr lang="en-US"/>
            </a:p>
          </p:txBody>
        </p:sp>
        <p:sp>
          <p:nvSpPr>
            <p:cNvPr id="70" name="Rectangle 8"/>
            <p:cNvSpPr>
              <a:spLocks noChangeArrowheads="1"/>
            </p:cNvSpPr>
            <p:nvPr/>
          </p:nvSpPr>
          <p:spPr bwMode="auto">
            <a:xfrm>
              <a:off x="414338" y="9525"/>
              <a:ext cx="28575" cy="4481513"/>
            </a:xfrm>
            <a:prstGeom prst="rect">
              <a:avLst/>
            </a:prstGeom>
            <a:grpFill/>
            <a:ln>
              <a:noFill/>
            </a:ln>
          </p:spPr>
          <p:txBody>
            <a:bodyPr/>
            <a:lstStyle/>
            <a:p>
              <a:endParaRPr lang="en-US"/>
            </a:p>
          </p:txBody>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txBody>
            <a:bodyPr/>
            <a:lstStyle/>
            <a:p>
              <a:endParaRPr lang="en-US"/>
            </a:p>
          </p:txBody>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p:spPr>
          <p:txBody>
            <a:bodyPr/>
            <a:lstStyle/>
            <a:p>
              <a:endParaRPr lang="en-US"/>
            </a:p>
          </p:txBody>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p:spPr>
          <p:txBody>
            <a:bodyPr/>
            <a:lstStyle/>
            <a:p>
              <a:endParaRPr lang="en-US"/>
            </a:p>
          </p:txBody>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txBody>
            <a:bodyPr/>
            <a:lstStyle/>
            <a:p>
              <a:endParaRPr lang="en-US"/>
            </a:p>
          </p:txBody>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p:spPr>
          <p:txBody>
            <a:bodyPr/>
            <a:lstStyle/>
            <a:p>
              <a:endParaRPr lang="en-US"/>
            </a:p>
          </p:txBody>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p:spPr>
          <p:txBody>
            <a:bodyPr/>
            <a:lstStyle/>
            <a:p>
              <a:endParaRPr lang="en-US"/>
            </a:p>
          </p:txBody>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txBody>
            <a:bodyPr/>
            <a:lstStyle/>
            <a:p>
              <a:endParaRPr lang="en-US"/>
            </a:p>
          </p:txBody>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txBody>
            <a:bodyPr/>
            <a:lstStyle/>
            <a:p>
              <a:endParaRPr lang="en-US"/>
            </a:p>
          </p:txBody>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p:spPr>
          <p:txBody>
            <a:bodyPr/>
            <a:lstStyle/>
            <a:p>
              <a:endParaRPr lang="en-US"/>
            </a:p>
          </p:txBody>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p:spPr>
          <p:txBody>
            <a:bodyPr/>
            <a:lstStyle/>
            <a:p>
              <a:endParaRPr lang="en-US"/>
            </a:p>
          </p:txBody>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p:spPr>
          <p:txBody>
            <a:bodyPr/>
            <a:lstStyle/>
            <a:p>
              <a:endParaRPr lang="en-US"/>
            </a:p>
          </p:txBody>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p:spPr>
          <p:txBody>
            <a:bodyPr/>
            <a:lstStyle/>
            <a:p>
              <a:endParaRPr lang="en-US"/>
            </a:p>
          </p:txBody>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txBody>
            <a:bodyPr/>
            <a:lstStyle/>
            <a:p>
              <a:endParaRPr lang="en-US"/>
            </a:p>
          </p:txBody>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p:spPr>
          <p:txBody>
            <a:bodyPr/>
            <a:lstStyle/>
            <a:p>
              <a:endParaRPr lang="en-US"/>
            </a:p>
          </p:txBody>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p:spPr>
          <p:txBody>
            <a:bodyPr/>
            <a:lstStyle/>
            <a:p>
              <a:endParaRPr lang="en-US"/>
            </a:p>
          </p:txBody>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p:spPr>
          <p:txBody>
            <a:bodyPr/>
            <a:lstStyle/>
            <a:p>
              <a:endParaRPr lang="en-US"/>
            </a:p>
          </p:txBody>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p:spPr>
          <p:txBody>
            <a:bodyPr/>
            <a:lstStyle/>
            <a:p>
              <a:endParaRPr lang="en-US"/>
            </a:p>
          </p:txBody>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txBody>
            <a:bodyPr/>
            <a:lstStyle/>
            <a:p>
              <a:endParaRPr lang="en-US"/>
            </a:p>
          </p:txBody>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p:spPr>
          <p:txBody>
            <a:bodyPr/>
            <a:lstStyle/>
            <a:p>
              <a:endParaRPr lang="en-US"/>
            </a:p>
          </p:txBody>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txBody>
            <a:bodyPr/>
            <a:lstStyle/>
            <a:p>
              <a:endParaRPr lang="en-US"/>
            </a:p>
          </p:txBody>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p:spPr>
          <p:txBody>
            <a:bodyPr/>
            <a:lstStyle/>
            <a:p>
              <a:endParaRPr lang="en-US"/>
            </a:p>
          </p:txBody>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txBody>
            <a:bodyPr/>
            <a:lstStyle/>
            <a:p>
              <a:endParaRPr lang="en-US"/>
            </a:p>
          </p:txBody>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p:spPr>
          <p:txBody>
            <a:bodyPr/>
            <a:lstStyle/>
            <a:p>
              <a:endParaRPr lang="en-US"/>
            </a:p>
          </p:txBody>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txBody>
            <a:bodyPr/>
            <a:lstStyle/>
            <a:p>
              <a:endParaRPr lang="en-US"/>
            </a:p>
          </p:txBody>
        </p:sp>
        <p:sp>
          <p:nvSpPr>
            <p:cNvPr id="95" name="Rectangle 33"/>
            <p:cNvSpPr>
              <a:spLocks noChangeArrowheads="1"/>
            </p:cNvSpPr>
            <p:nvPr/>
          </p:nvSpPr>
          <p:spPr bwMode="auto">
            <a:xfrm>
              <a:off x="642938" y="6610350"/>
              <a:ext cx="23813" cy="242888"/>
            </a:xfrm>
            <a:prstGeom prst="rect">
              <a:avLst/>
            </a:prstGeom>
            <a:grpFill/>
            <a:ln>
              <a:noFill/>
            </a:ln>
          </p:spPr>
          <p:txBody>
            <a:bodyPr/>
            <a:lstStyle/>
            <a:p>
              <a:endParaRPr lang="en-US"/>
            </a:p>
          </p:txBody>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txBody>
            <a:bodyPr/>
            <a:lstStyle/>
            <a:p>
              <a:endParaRPr lang="en-US"/>
            </a:p>
          </p:txBody>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p:spPr>
          <p:txBody>
            <a:bodyPr/>
            <a:lstStyle/>
            <a:p>
              <a:endParaRPr lang="en-US"/>
            </a:p>
          </p:txBody>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p:spPr>
          <p:txBody>
            <a:bodyPr/>
            <a:lstStyle/>
            <a:p>
              <a:endParaRPr lang="en-US"/>
            </a:p>
          </p:txBody>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p:spPr>
          <p:txBody>
            <a:bodyPr/>
            <a:lstStyle/>
            <a:p>
              <a:endParaRPr lang="en-US"/>
            </a:p>
          </p:txBody>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p:spPr>
          <p:txBody>
            <a:bodyPr/>
            <a:lstStyle/>
            <a:p>
              <a:endParaRPr lang="en-US"/>
            </a:p>
          </p:txBody>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p:spPr>
          <p:txBody>
            <a:bodyPr/>
            <a:lstStyle/>
            <a:p>
              <a:endParaRPr lang="en-US"/>
            </a:p>
          </p:txBody>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txBody>
            <a:bodyPr/>
            <a:lstStyle/>
            <a:p>
              <a:endParaRPr lang="en-US"/>
            </a:p>
          </p:txBody>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p:spPr>
          <p:txBody>
            <a:bodyPr/>
            <a:lstStyle/>
            <a:p>
              <a:endParaRPr lang="en-US"/>
            </a:p>
          </p:txBody>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p:spPr>
          <p:txBody>
            <a:bodyPr/>
            <a:lstStyle/>
            <a:p>
              <a:endParaRPr lang="en-US"/>
            </a:p>
          </p:txBody>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p:spPr>
          <p:txBody>
            <a:bodyPr/>
            <a:lstStyle/>
            <a:p>
              <a:endParaRPr lang="en-US"/>
            </a:p>
          </p:txBody>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txBody>
            <a:bodyPr/>
            <a:lstStyle/>
            <a:p>
              <a:endParaRPr lang="en-US"/>
            </a:p>
          </p:txBody>
        </p:sp>
        <p:sp>
          <p:nvSpPr>
            <p:cNvPr id="107" name="Rectangle 45"/>
            <p:cNvSpPr>
              <a:spLocks noChangeArrowheads="1"/>
            </p:cNvSpPr>
            <p:nvPr/>
          </p:nvSpPr>
          <p:spPr bwMode="auto">
            <a:xfrm>
              <a:off x="1228725" y="4662488"/>
              <a:ext cx="23813" cy="2181225"/>
            </a:xfrm>
            <a:prstGeom prst="rect">
              <a:avLst/>
            </a:prstGeom>
            <a:grpFill/>
            <a:ln>
              <a:noFill/>
            </a:ln>
          </p:spPr>
          <p:txBody>
            <a:bodyPr/>
            <a:lstStyle/>
            <a:p>
              <a:endParaRPr lang="en-US"/>
            </a:p>
          </p:txBody>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p:spPr>
          <p:txBody>
            <a:bodyPr/>
            <a:lstStyle/>
            <a:p>
              <a:endParaRPr lang="en-US"/>
            </a:p>
          </p:txBody>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txBody>
            <a:bodyPr/>
            <a:lstStyle/>
            <a:p>
              <a:endParaRPr lang="en-US"/>
            </a:p>
          </p:txBody>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p:spPr>
          <p:txBody>
            <a:bodyPr/>
            <a:lstStyle/>
            <a:p>
              <a:endParaRPr lang="en-US"/>
            </a:p>
          </p:txBody>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txBody>
            <a:bodyPr/>
            <a:lstStyle/>
            <a:p>
              <a:endParaRPr lang="en-US"/>
            </a:p>
          </p:txBody>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txBody>
            <a:bodyPr/>
            <a:lstStyle/>
            <a:p>
              <a:endParaRPr lang="en-US"/>
            </a:p>
          </p:txBody>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p:spPr>
          <p:txBody>
            <a:bodyPr/>
            <a:lstStyle/>
            <a:p>
              <a:endParaRPr lang="en-US"/>
            </a:p>
          </p:txBody>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p:spPr>
          <p:txBody>
            <a:bodyPr/>
            <a:lstStyle/>
            <a:p>
              <a:endParaRPr lang="en-US"/>
            </a:p>
          </p:txBody>
        </p:sp>
        <p:sp>
          <p:nvSpPr>
            <p:cNvPr id="169"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txBody>
            <a:bodyPr/>
            <a:lstStyle/>
            <a:p>
              <a:endParaRPr lang="en-US"/>
            </a:p>
          </p:txBody>
        </p:sp>
        <p:sp>
          <p:nvSpPr>
            <p:cNvPr id="170"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txBody>
            <a:bodyPr/>
            <a:lstStyle/>
            <a:p>
              <a:endParaRPr lang="en-US"/>
            </a:p>
          </p:txBody>
        </p:sp>
        <p:sp>
          <p:nvSpPr>
            <p:cNvPr id="171"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p:spPr>
          <p:txBody>
            <a:bodyPr/>
            <a:lstStyle/>
            <a:p>
              <a:endParaRPr lang="en-US"/>
            </a:p>
          </p:txBody>
        </p:sp>
        <p:sp>
          <p:nvSpPr>
            <p:cNvPr id="172"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p:spPr>
          <p:txBody>
            <a:bodyPr/>
            <a:lstStyle/>
            <a:p>
              <a:endParaRPr lang="en-US"/>
            </a:p>
          </p:txBody>
        </p:sp>
        <p:sp>
          <p:nvSpPr>
            <p:cNvPr id="173"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p:spPr>
          <p:txBody>
            <a:bodyPr/>
            <a:lstStyle/>
            <a:p>
              <a:endParaRPr lang="en-US"/>
            </a:p>
          </p:txBody>
        </p:sp>
        <p:sp>
          <p:nvSpPr>
            <p:cNvPr id="174"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p:spPr>
          <p:txBody>
            <a:bodyPr/>
            <a:lstStyle/>
            <a:p>
              <a:endParaRPr lang="en-US"/>
            </a:p>
          </p:txBody>
        </p:sp>
      </p:grpSp>
      <p:grpSp>
        <p:nvGrpSpPr>
          <p:cNvPr id="6" name="Group 2"/>
          <p:cNvGrpSpPr/>
          <p:nvPr userDrawn="1"/>
        </p:nvGrpSpPr>
        <p:grpSpPr>
          <a:xfrm>
            <a:off x="9489385" y="488041"/>
            <a:ext cx="2580450" cy="547850"/>
            <a:chOff x="9221415" y="158476"/>
            <a:chExt cx="2580450" cy="547850"/>
          </a:xfrm>
        </p:grpSpPr>
        <p:pic>
          <p:nvPicPr>
            <p:cNvPr id="9" name="Picture 3"/>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10" name="Picture 4"/>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 bg1="lt1" tx1="dk1" bg2="lt2" tx2="dk2" accent1="accent1" accent2="accent2" accent3="accent3" accent4="accent4" accent5="accent5" accent6="accent6" hlink="hlink" folHlink="folHlink"/>
  <p:sldLayoutIdLst>
    <p:sldLayoutId id="2147483649" r:id="rId1"/>
  </p:sldLayoutIdLst>
  <p:transition>
    <p:fade/>
  </p:transition>
  <p:hf hdr="0" dt="0"/>
  <p:txStyles>
    <p:titleStyle>
      <a:lvl1pPr algn="l" defTabSz="342900" rtl="0" eaLnBrk="1" latinLnBrk="0" hangingPunct="1">
        <a:spcBef>
          <a:spcPct val="0"/>
        </a:spcBef>
        <a:buNone/>
        <a:defRPr sz="3600" b="0" i="0" kern="1200" baseline="0">
          <a:solidFill>
            <a:schemeClr val="tx1">
              <a:lumMod val="85000"/>
              <a:lumOff val="15000"/>
            </a:schemeClr>
          </a:solidFill>
          <a:latin typeface="Calibri" panose="020F0502020204030204" charset="0"/>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0045" marR="0" indent="-360045" algn="l" defTabSz="342900" rtl="0" eaLnBrk="1" fontAlgn="auto" latinLnBrk="0" hangingPunct="1">
        <a:lnSpc>
          <a:spcPct val="100000"/>
        </a:lnSpc>
        <a:spcBef>
          <a:spcPts val="1500"/>
        </a:spcBef>
        <a:spcAft>
          <a:spcPts val="0"/>
        </a:spcAft>
        <a:buClr>
          <a:srgbClr val="8B0012"/>
        </a:buClr>
        <a:buSzTx/>
        <a:buFontTx/>
        <a:buChar char="•"/>
        <a:defRPr lang="zh-CN" altLang="en-US" sz="2400" b="0" i="0" kern="1200" baseline="0" dirty="0" smtClean="0">
          <a:solidFill>
            <a:schemeClr val="tx1">
              <a:lumMod val="75000"/>
              <a:lumOff val="25000"/>
            </a:schemeClr>
          </a:solidFill>
          <a:latin typeface="Calibri" panose="020F0502020204030204" charset="0"/>
          <a:ea typeface="微软雅黑" panose="020B0503020204020204" pitchFamily="3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Tx/>
        <a:buFontTx/>
        <a:buChar char="◦"/>
        <a:defRPr lang="zh-CN" altLang="en-US" sz="2000" b="0" i="0" kern="1200" baseline="0" dirty="0" smtClean="0">
          <a:solidFill>
            <a:schemeClr val="tx1">
              <a:lumMod val="75000"/>
              <a:lumOff val="25000"/>
            </a:schemeClr>
          </a:solidFill>
          <a:latin typeface="Calibri" panose="020F0502020204030204" charset="0"/>
          <a:ea typeface="微软雅黑" panose="020B0503020204020204" pitchFamily="3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Tx/>
        <a:buChar char="-"/>
        <a:defRPr lang="zh-CN" altLang="en-US" sz="1600" kern="1200" baseline="0" dirty="0" smtClean="0">
          <a:solidFill>
            <a:schemeClr val="tx1">
              <a:lumMod val="75000"/>
              <a:lumOff val="25000"/>
            </a:schemeClr>
          </a:solidFill>
          <a:latin typeface="Calibri" panose="020F0502020204030204" charset="0"/>
          <a:ea typeface="微软雅黑" panose="020B0503020204020204" pitchFamily="3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Tx/>
        <a:buChar char="-"/>
        <a:defRPr lang="zh-CN" altLang="en-US" sz="1200" kern="1200" baseline="0" dirty="0" smtClean="0">
          <a:solidFill>
            <a:schemeClr val="tx1">
              <a:lumMod val="75000"/>
              <a:lumOff val="25000"/>
            </a:schemeClr>
          </a:solidFill>
          <a:latin typeface="Calibri" panose="020F0502020204030204" charset="0"/>
          <a:ea typeface="微软雅黑" panose="020B0503020204020204" pitchFamily="34" charset="-122"/>
          <a:cs typeface="+mn-cs"/>
        </a:defRPr>
      </a:lvl4pPr>
      <a:lvl5pPr marL="1543050" marR="0" indent="-171450" algn="l" defTabSz="342900" rtl="0" eaLnBrk="1" fontAlgn="auto" latinLnBrk="0" hangingPunct="1">
        <a:lnSpc>
          <a:spcPct val="100000"/>
        </a:lnSpc>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8"/>
          <a:stretch>
            <a:fillRect/>
          </a:stretch>
        </a:blipFill>
        <a:effectLst/>
      </p:bgPr>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523874" y="1323975"/>
            <a:ext cx="11277601" cy="4832577"/>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
        <p:nvSpPr>
          <p:cNvPr id="2" name="标题占位符 1"/>
          <p:cNvSpPr>
            <a:spLocks noGrp="1"/>
          </p:cNvSpPr>
          <p:nvPr>
            <p:ph type="title"/>
          </p:nvPr>
        </p:nvSpPr>
        <p:spPr>
          <a:xfrm>
            <a:off x="741680" y="431800"/>
            <a:ext cx="8620760" cy="701040"/>
          </a:xfrm>
          <a:prstGeom prst="rect">
            <a:avLst/>
          </a:prstGeom>
        </p:spPr>
        <p:txBody>
          <a:bodyPr vert="horz" lIns="91440" tIns="45720" rIns="91440" bIns="45720" rtlCol="0" anchor="ctr">
            <a:noAutofit/>
          </a:bodyPr>
          <a:lstStyle/>
          <a:p>
            <a:r>
              <a:rPr lang="zh-CN" altLang="en-US" dirty="0"/>
              <a:t>单击此处编辑母版标题样式</a:t>
            </a:r>
            <a:endParaRPr lang="zh-CN" altLang="en-US" dirty="0"/>
          </a:p>
        </p:txBody>
      </p:sp>
      <p:sp>
        <p:nvSpPr>
          <p:cNvPr id="5" name="页脚占位符 4"/>
          <p:cNvSpPr>
            <a:spLocks noGrp="1"/>
          </p:cNvSpPr>
          <p:nvPr>
            <p:ph type="ftr" sz="quarter" idx="3"/>
          </p:nvPr>
        </p:nvSpPr>
        <p:spPr>
          <a:xfrm>
            <a:off x="523874" y="6356351"/>
            <a:ext cx="11277601" cy="365125"/>
          </a:xfrm>
          <a:prstGeom prst="rect">
            <a:avLst/>
          </a:prstGeom>
        </p:spPr>
        <p:txBody>
          <a:bodyPr vert="horz" lIns="91440" tIns="45720" rIns="91440" bIns="45720" rtlCol="0" anchor="ctr"/>
          <a:lstStyle>
            <a:lvl1pPr algn="l">
              <a:defRPr sz="1400" baseline="0">
                <a:solidFill>
                  <a:srgbClr val="666666"/>
                </a:solidFill>
                <a:latin typeface="Arial" panose="020B0604020202020204" pitchFamily="34" charset="0"/>
                <a:ea typeface="微软雅黑" panose="020B0503020204020204" pitchFamily="34" charset="-122"/>
              </a:defRPr>
            </a:lvl1pPr>
          </a:lstStyle>
          <a:p>
            <a:endParaRPr lang="zh-CN" altLang="en-US" dirty="0"/>
          </a:p>
        </p:txBody>
      </p:sp>
      <p:sp>
        <p:nvSpPr>
          <p:cNvPr id="44" name="Freeform 5"/>
          <p:cNvSpPr/>
          <p:nvPr userDrawn="1"/>
        </p:nvSpPr>
        <p:spPr bwMode="auto">
          <a:xfrm flipV="1">
            <a:off x="-4185" y="529393"/>
            <a:ext cx="564624" cy="507999"/>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rgbClr val="8B0012"/>
          </a:solidFill>
          <a:ln>
            <a:noFill/>
          </a:ln>
        </p:spPr>
        <p:txBody>
          <a:bodyPr/>
          <a:lstStyle/>
          <a:p>
            <a:endParaRPr lang="en-US" sz="1350" dirty="0"/>
          </a:p>
        </p:txBody>
      </p:sp>
      <p:sp>
        <p:nvSpPr>
          <p:cNvPr id="6" name="灯片编号占位符 5"/>
          <p:cNvSpPr>
            <a:spLocks noGrp="1"/>
          </p:cNvSpPr>
          <p:nvPr>
            <p:ph type="sldNum" sz="quarter" idx="4"/>
          </p:nvPr>
        </p:nvSpPr>
        <p:spPr>
          <a:xfrm>
            <a:off x="1" y="593458"/>
            <a:ext cx="419099" cy="365125"/>
          </a:xfrm>
          <a:prstGeom prst="rect">
            <a:avLst/>
          </a:prstGeom>
        </p:spPr>
        <p:txBody>
          <a:bodyPr vert="horz" lIns="91440" tIns="45720" rIns="91440" bIns="45720" rtlCol="0" anchor="ctr"/>
          <a:lstStyle>
            <a:lvl1pPr algn="r">
              <a:defRPr sz="1600" b="0" baseline="0">
                <a:solidFill>
                  <a:schemeClr val="bg1"/>
                </a:solidFill>
                <a:latin typeface="Arial" panose="020B0604020202020204" pitchFamily="34" charset="0"/>
                <a:ea typeface="微软雅黑" panose="020B0503020204020204" pitchFamily="34" charset="-122"/>
                <a:cs typeface="Calibri" panose="020F0502020204030204" charset="0"/>
              </a:defRPr>
            </a:lvl1pPr>
          </a:lstStyle>
          <a:p>
            <a:fld id="{B33F7469-D28B-482F-B1B6-3B8E7CF51519}" type="slidenum">
              <a:rPr lang="zh-CN" altLang="en-US" smtClean="0"/>
            </a:fld>
            <a:endParaRPr lang="zh-CN" altLang="en-US" dirty="0"/>
          </a:p>
        </p:txBody>
      </p:sp>
      <p:grpSp>
        <p:nvGrpSpPr>
          <p:cNvPr id="4" name="Group 2"/>
          <p:cNvGrpSpPr/>
          <p:nvPr userDrawn="1"/>
        </p:nvGrpSpPr>
        <p:grpSpPr>
          <a:xfrm>
            <a:off x="9489385" y="488041"/>
            <a:ext cx="2580450" cy="547850"/>
            <a:chOff x="9221415" y="158476"/>
            <a:chExt cx="2580450" cy="547850"/>
          </a:xfrm>
        </p:grpSpPr>
        <p:pic>
          <p:nvPicPr>
            <p:cNvPr id="7" name="Picture 3"/>
            <p:cNvPicPr>
              <a:picLocks noChangeAspect="1"/>
            </p:cNvPicPr>
            <p:nvPr/>
          </p:nvPicPr>
          <p:blipFill>
            <a:blip r:embed="rId9"/>
            <a:srcRect/>
            <a:stretch>
              <a:fillRect/>
            </a:stretch>
          </p:blipFill>
          <p:spPr>
            <a:xfrm>
              <a:off x="9221415" y="260529"/>
              <a:ext cx="1096400" cy="336123"/>
            </a:xfrm>
            <a:prstGeom prst="rect">
              <a:avLst/>
            </a:prstGeom>
            <a:ln w="12700">
              <a:noFill/>
              <a:prstDash val="solid"/>
            </a:ln>
          </p:spPr>
        </p:pic>
        <p:pic>
          <p:nvPicPr>
            <p:cNvPr id="8" name="Picture 4"/>
            <p:cNvPicPr>
              <a:picLocks noChangeAspect="1"/>
            </p:cNvPicPr>
            <p:nvPr/>
          </p:nvPicPr>
          <p:blipFill>
            <a:blip r:embed="rId10"/>
            <a:srcRect l="13229" t="29812" r="10430" b="29795"/>
            <a:stretch>
              <a:fillRect/>
            </a:stretch>
          </p:blipFill>
          <p:spPr>
            <a:xfrm>
              <a:off x="10527164" y="158476"/>
              <a:ext cx="1274701" cy="547850"/>
            </a:xfrm>
            <a:prstGeom prst="rect">
              <a:avLst/>
            </a:prstGeom>
            <a:ln w="12700">
              <a:noFill/>
              <a:prstDash val="solid"/>
            </a:ln>
          </p:spPr>
        </p:pic>
      </p:gr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Lst>
  <p:transition>
    <p:fade/>
  </p:transition>
  <p:hf hdr="0" dt="0"/>
  <p:txStyles>
    <p:titleStyle>
      <a:lvl1pPr algn="l" defTabSz="342900" rtl="0" eaLnBrk="1" latinLnBrk="0" hangingPunct="1">
        <a:spcBef>
          <a:spcPct val="0"/>
        </a:spcBef>
        <a:buNone/>
        <a:defRPr lang="zh-CN" altLang="en-US" sz="3600" b="0" i="0" kern="1200" baseline="0" dirty="0">
          <a:solidFill>
            <a:schemeClr val="tx1">
              <a:lumMod val="85000"/>
              <a:lumOff val="15000"/>
            </a:schemeClr>
          </a:solidFill>
          <a:latin typeface="Calibri" panose="020F0502020204030204" charset="0"/>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0045" marR="0" indent="-360045" algn="l" defTabSz="342900" rtl="0" eaLnBrk="1" fontAlgn="auto" latinLnBrk="0" hangingPunct="1">
        <a:lnSpc>
          <a:spcPct val="100000"/>
        </a:lnSpc>
        <a:spcBef>
          <a:spcPts val="1500"/>
        </a:spcBef>
        <a:spcAft>
          <a:spcPts val="0"/>
        </a:spcAft>
        <a:buClr>
          <a:srgbClr val="8B0012"/>
        </a:buClr>
        <a:buSzTx/>
        <a:buFontTx/>
        <a:buChar char="•"/>
        <a:defRPr sz="2400" b="0" i="0" kern="1200" baseline="0">
          <a:solidFill>
            <a:schemeClr val="tx1">
              <a:lumMod val="75000"/>
              <a:lumOff val="25000"/>
            </a:schemeClr>
          </a:solidFill>
          <a:latin typeface="Calibri" panose="020F0502020204030204" charset="0"/>
          <a:ea typeface="微软雅黑" panose="020B0503020204020204" pitchFamily="3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Tx/>
        <a:buChar char="◦"/>
        <a:defRPr sz="2000" kern="1200" baseline="0">
          <a:solidFill>
            <a:schemeClr val="tx1">
              <a:lumMod val="75000"/>
              <a:lumOff val="25000"/>
            </a:schemeClr>
          </a:solidFill>
          <a:latin typeface="Calibri" panose="020F0502020204030204" charset="0"/>
          <a:ea typeface="微软雅黑" panose="020B0503020204020204" pitchFamily="3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Tx/>
        <a:buChar char="-"/>
        <a:defRPr sz="1600" kern="1200" baseline="0">
          <a:solidFill>
            <a:schemeClr val="tx1">
              <a:lumMod val="75000"/>
              <a:lumOff val="25000"/>
            </a:schemeClr>
          </a:solidFill>
          <a:latin typeface="Calibri" panose="020F0502020204030204" charset="0"/>
          <a:ea typeface="微软雅黑" panose="020B0503020204020204" pitchFamily="3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Tx/>
        <a:buChar char="-"/>
        <a:defRPr sz="1200" kern="1200" baseline="0">
          <a:solidFill>
            <a:schemeClr val="tx1">
              <a:lumMod val="75000"/>
              <a:lumOff val="25000"/>
            </a:schemeClr>
          </a:solidFill>
          <a:latin typeface="Calibri" panose="020F0502020204030204" charset="0"/>
          <a:ea typeface="微软雅黑" panose="020B0503020204020204" pitchFamily="34" charset="-122"/>
          <a:cs typeface="+mn-cs"/>
        </a:defRPr>
      </a:lvl4pPr>
      <a:lvl5pPr marL="1543050" marR="0" indent="-171450" algn="l" defTabSz="342900" rtl="0" eaLnBrk="1" fontAlgn="auto" latinLnBrk="0" hangingPunct="1">
        <a:lnSpc>
          <a:spcPct val="100000"/>
        </a:lnSpc>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6.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5.png"/><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7.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7.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image" Target="../media/image27.png"/><Relationship Id="rId1" Type="http://schemas.openxmlformats.org/officeDocument/2006/relationships/image" Target="../media/image26.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7.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image" Target="../media/image32.png"/><Relationship Id="rId1"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35.GIF"/><Relationship Id="rId1" Type="http://schemas.openxmlformats.org/officeDocument/2006/relationships/image" Target="../media/image34.GI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image" Target="../media/image3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6.xml"/><Relationship Id="rId2" Type="http://schemas.openxmlformats.org/officeDocument/2006/relationships/image" Target="../media/image38.png"/><Relationship Id="rId1"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40.png"/><Relationship Id="rId1" Type="http://schemas.openxmlformats.org/officeDocument/2006/relationships/image" Target="../media/image39.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7.xml"/><Relationship Id="rId2" Type="http://schemas.openxmlformats.org/officeDocument/2006/relationships/image" Target="../media/image42.png"/><Relationship Id="rId1" Type="http://schemas.openxmlformats.org/officeDocument/2006/relationships/image" Target="../media/image41.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3.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4.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5.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6.xml"/><Relationship Id="rId2" Type="http://schemas.openxmlformats.org/officeDocument/2006/relationships/image" Target="../media/image47.png"/><Relationship Id="rId1" Type="http://schemas.openxmlformats.org/officeDocument/2006/relationships/image" Target="../media/image46.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8.GIF"/></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9.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51.png"/><Relationship Id="rId1" Type="http://schemas.openxmlformats.org/officeDocument/2006/relationships/image" Target="../media/image50.jpe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53.jpeg"/><Relationship Id="rId1" Type="http://schemas.openxmlformats.org/officeDocument/2006/relationships/image" Target="../media/image5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55.png"/><Relationship Id="rId1" Type="http://schemas.openxmlformats.org/officeDocument/2006/relationships/image" Target="../media/image54.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6.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58.png"/><Relationship Id="rId1" Type="http://schemas.openxmlformats.org/officeDocument/2006/relationships/image" Target="../media/image57.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60.png"/><Relationship Id="rId1" Type="http://schemas.openxmlformats.org/officeDocument/2006/relationships/image" Target="../media/image5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62.png"/><Relationship Id="rId1" Type="http://schemas.openxmlformats.org/officeDocument/2006/relationships/image" Target="../media/image61.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64.png"/><Relationship Id="rId1" Type="http://schemas.openxmlformats.org/officeDocument/2006/relationships/image" Target="../media/image6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5.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66.png"/><Relationship Id="rId1" Type="http://schemas.openxmlformats.org/officeDocument/2006/relationships/image" Target="../media/image65.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0.jpe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72.png"/><Relationship Id="rId1" Type="http://schemas.openxmlformats.org/officeDocument/2006/relationships/image" Target="../media/image71.pn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6.xml"/><Relationship Id="rId2" Type="http://schemas.openxmlformats.org/officeDocument/2006/relationships/image" Target="../media/image74.png"/><Relationship Id="rId1" Type="http://schemas.openxmlformats.org/officeDocument/2006/relationships/image" Target="../media/image73.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76.png"/><Relationship Id="rId1" Type="http://schemas.openxmlformats.org/officeDocument/2006/relationships/image" Target="../media/image75.png"/></Relationships>
</file>

<file path=ppt/slides/_rels/slide60.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image" Target="../media/image77.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0.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82.png"/><Relationship Id="rId1" Type="http://schemas.openxmlformats.org/officeDocument/2006/relationships/image" Target="../media/image81.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High performance AI operators and operator Engineering</a:t>
            </a:r>
            <a:endParaRPr lang="en-US" altLang="zh-CN" dirty="0"/>
          </a:p>
        </p:txBody>
      </p:sp>
      <p:sp>
        <p:nvSpPr>
          <p:cNvPr id="3" name="副标题 2"/>
          <p:cNvSpPr>
            <a:spLocks noGrp="1"/>
          </p:cNvSpPr>
          <p:nvPr>
            <p:ph type="subTitle" idx="1"/>
          </p:nvPr>
        </p:nvSpPr>
        <p:spPr/>
        <p:txBody>
          <a:bodyPr/>
          <a:lstStyle/>
          <a:p>
            <a:r>
              <a:rPr lang="en-US" altLang="zh-CN" dirty="0"/>
              <a:t>H</a:t>
            </a:r>
            <a:r>
              <a:rPr lang="en-US" altLang="zh-CN" dirty="0"/>
              <a:t>ongyu Liu 2026.08.05</a:t>
            </a:r>
            <a:endParaRPr lang="zh-CN" altLang="en-US" dirty="0"/>
          </a:p>
        </p:txBody>
      </p:sp>
      <p:sp>
        <p:nvSpPr>
          <p:cNvPr id="4" name="页脚占位符 3"/>
          <p:cNvSpPr>
            <a:spLocks noGrp="1"/>
          </p:cNvSpPr>
          <p:nvPr>
            <p:ph type="ftr" sz="quarter" idx="11"/>
          </p:nvPr>
        </p:nvSpPr>
        <p:spPr/>
        <p:txBody>
          <a:bodyPr/>
          <a:lstStyle/>
          <a:p>
            <a:endParaRPr lang="zh-CN" altLang="en-US"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en-US" altLang="zh-CN" dirty="0"/>
              <a:t>Attention &amp; Flash Attention</a:t>
            </a:r>
            <a:endParaRPr lang="en-US" altLang="zh-CN" dirty="0"/>
          </a:p>
          <a:p>
            <a:r>
              <a:rPr lang="en-US" altLang="zh-CN" dirty="0"/>
              <a:t>Operator Fusion + Case Study</a:t>
            </a:r>
            <a:endParaRPr lang="en-US" altLang="zh-CN" dirty="0"/>
          </a:p>
          <a:p>
            <a:r>
              <a:rPr lang="en-US" altLang="zh-CN" dirty="0">
                <a:sym typeface="Calibri" panose="020F0502020204030204"/>
              </a:rPr>
              <a:t>Architectural Design of Operator Libraries + Case Study</a:t>
            </a:r>
            <a:endParaRPr lang="en-US" altLang="zh-CN" dirty="0"/>
          </a:p>
        </p:txBody>
      </p:sp>
      <p:sp>
        <p:nvSpPr>
          <p:cNvPr id="3" name="内容占位符 2"/>
          <p:cNvSpPr>
            <a:spLocks noGrp="1"/>
          </p:cNvSpPr>
          <p:nvPr>
            <p:ph sz="quarter" idx="11"/>
          </p:nvPr>
        </p:nvSpPr>
        <p:spPr/>
        <p:txBody>
          <a:bodyPr/>
          <a:lstStyle/>
          <a:p>
            <a:r>
              <a:rPr lang="en-US" altLang="zh-CN" dirty="0"/>
              <a:t>Outline</a:t>
            </a:r>
            <a:endParaRPr lang="zh-CN" altLang="en-US"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1793424" y="3429000"/>
            <a:ext cx="7643512" cy="3389732"/>
          </a:xfrm>
          <a:prstGeom prst="rect">
            <a:avLst/>
          </a:prstGeom>
          <a:ln w="12700">
            <a:noFill/>
            <a:prstDash val="solid"/>
          </a:ln>
        </p:spPr>
      </p:pic>
      <p:sp>
        <p:nvSpPr>
          <p:cNvPr id="3" name="AutoShape 3"/>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From RNN to Transformer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6" name="AutoShape 6"/>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buClr>
                <a:srgbClr val="404040"/>
              </a:buCl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1980s – RNN (Serial Order: a </a:t>
            </a:r>
            <a:r>
              <a:rPr lang="en-US" dirty="0">
                <a:solidFill>
                  <a:srgbClr val="404040"/>
                </a:solidFill>
                <a:cs typeface="Calibri" panose="020F0502020204030204"/>
                <a:sym typeface="Calibri" panose="020F0502020204030204"/>
              </a:rPr>
              <a:t>parallel</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dirty="0">
                <a:solidFill>
                  <a:srgbClr val="404040"/>
                </a:solidFill>
                <a:cs typeface="Calibri" panose="020F0502020204030204"/>
                <a:sym typeface="Calibri" panose="020F0502020204030204"/>
              </a:rPr>
              <a:t>d</a:t>
            </a:r>
            <a:r>
              <a:rPr lang="en-US" dirty="0">
                <a:solidFill>
                  <a:srgbClr val="404040"/>
                </a:solidFill>
                <a:cs typeface="Calibri" panose="020F0502020204030204"/>
              </a:rPr>
              <a:t>istributed</a:t>
            </a:r>
            <a:r>
              <a:rPr lang="en-US" dirty="0">
                <a:solidFill>
                  <a:srgbClr val="404040"/>
                </a:solidFill>
                <a:cs typeface="Calibri" panose="020F0502020204030204"/>
                <a:sym typeface="Calibri" panose="020F0502020204030204"/>
              </a:rPr>
              <a:t> processing </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approach)</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1997 – LSTM (Long Short Term Memory)</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2014 – GRU (Neural Machine Translation by Jointly Learning to Align and Translate)</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2017 – Transformer (Attention is All Your Need)</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灯片编号占位符 4"/>
          <p:cNvSpPr txBox="1"/>
          <p:nvPr/>
        </p:nvSpPr>
        <p:spPr>
          <a:xfrm>
            <a:off x="104774" y="599757"/>
            <a:ext cx="419099"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190353" y="431800"/>
            <a:ext cx="10419379" cy="701040"/>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dirty="0">
                <a:solidFill>
                  <a:srgbClr val="262626"/>
                </a:solidFill>
                <a:latin typeface="Calibri" panose="020F0502020204030204"/>
                <a:ea typeface="Calibri" panose="020F0502020204030204"/>
                <a:cs typeface="Calibri" panose="020F0502020204030204"/>
                <a:sym typeface="Calibri" panose="020F0502020204030204"/>
              </a:rPr>
              <a:t>A Brief Overview of the Transformer Architecture</a:t>
            </a:r>
            <a:endParaRPr lang="en-US" sz="3600" b="0" i="0" u="none" strike="noStrike" dirty="0">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Vaswani, Ashish, et al. "Attention is all you need." Advances in neural information processing systems 30 (2017).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https://jalammar.github.io/illustrated-transformer/</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 High-Level Look</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98345" y="1858493"/>
            <a:ext cx="4936812" cy="1073917"/>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98345" y="3123545"/>
            <a:ext cx="4375458" cy="2762416"/>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6009629" y="1494430"/>
            <a:ext cx="5930002" cy="4175206"/>
          </a:xfrm>
          <a:prstGeom prst="rect">
            <a:avLst/>
          </a:prstGeom>
          <a:ln w="12700">
            <a:noFill/>
            <a:prstDash val="solid"/>
          </a:ln>
        </p:spPr>
      </p:pic>
      <p:sp>
        <p:nvSpPr>
          <p:cNvPr id="10" name="灯片编号占位符 4"/>
          <p:cNvSpPr txBox="1"/>
          <p:nvPr/>
        </p:nvSpPr>
        <p:spPr>
          <a:xfrm>
            <a:off x="104774" y="599757"/>
            <a:ext cx="419099"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Background: Transformer (1/3)</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Encoder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Multi-Head Self-Attention Mechanism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Simple, Position-wise Feed-Forward Network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Decoder</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Masked Self-Attention</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Encoder-Decoder Attention</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Feed-Forward Network</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1029128" y="3120022"/>
            <a:ext cx="4464096" cy="2187820"/>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5981704" y="3718825"/>
            <a:ext cx="6001935" cy="1833736"/>
          </a:xfrm>
          <a:prstGeom prst="rect">
            <a:avLst/>
          </a:prstGeom>
          <a:ln w="12700">
            <a:noFill/>
            <a:prstDash val="solid"/>
          </a:ln>
        </p:spPr>
      </p:pic>
      <p:sp>
        <p:nvSpPr>
          <p:cNvPr id="14"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
        <p:nvSpPr>
          <p:cNvPr id="9" name="TextBox 8"/>
          <p:cNvSpPr txBox="1"/>
          <p:nvPr/>
        </p:nvSpPr>
        <p:spPr>
          <a:xfrm>
            <a:off x="9913908" y="4536753"/>
            <a:ext cx="1658973" cy="253916"/>
          </a:xfrm>
          <a:prstGeom prst="rect">
            <a:avLst/>
          </a:prstGeom>
          <a:solidFill>
            <a:srgbClr val="FEEFE0"/>
          </a:solidFill>
        </p:spPr>
        <p:txBody>
          <a:bodyPr wrap="square">
            <a:spAutoFit/>
          </a:bodyPr>
          <a:lstStyle/>
          <a:p>
            <a:r>
              <a:rPr lang="en-US" sz="1050" dirty="0"/>
              <a:t>Masked Self-Attention</a:t>
            </a:r>
            <a:endParaRPr lang="en-US" sz="1050" dirty="0"/>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Background: Transformer (2/3)</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Tensors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Encoding Flow</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Dependent paths in self-attention layer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Interdependent paths in feed-forward layer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876975" y="1962301"/>
            <a:ext cx="4950619" cy="683505"/>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92349" y="2789538"/>
            <a:ext cx="5289355" cy="3434047"/>
          </a:xfrm>
          <a:prstGeom prst="rect">
            <a:avLst/>
          </a:prstGeom>
          <a:ln w="12700">
            <a:noFill/>
            <a:prstDash val="solid"/>
          </a:ln>
        </p:spPr>
      </p:pic>
      <p:pic>
        <p:nvPicPr>
          <p:cNvPr id="9" name="Picture 9"/>
          <p:cNvPicPr>
            <a:picLocks noChangeAspect="1"/>
          </p:cNvPicPr>
          <p:nvPr/>
        </p:nvPicPr>
        <p:blipFill>
          <a:blip r:embed="rId3"/>
          <a:srcRect/>
          <a:stretch>
            <a:fillRect/>
          </a:stretch>
        </p:blipFill>
        <p:spPr>
          <a:xfrm>
            <a:off x="6288563" y="2852436"/>
            <a:ext cx="5434644" cy="3414222"/>
          </a:xfrm>
          <a:prstGeom prst="rect">
            <a:avLst/>
          </a:prstGeom>
          <a:ln w="12700">
            <a:noFill/>
            <a:prstDash val="solid"/>
          </a:ln>
        </p:spPr>
      </p:pic>
      <p:sp>
        <p:nvSpPr>
          <p:cNvPr id="11"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Background: Transformer (3/3)</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Self-Attention at a High Level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animal didn't cross the street because it was too tired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760466" y="2213386"/>
            <a:ext cx="4080775" cy="3792611"/>
          </a:xfrm>
          <a:prstGeom prst="rect">
            <a:avLst/>
          </a:prstGeom>
          <a:ln w="12700">
            <a:noFill/>
            <a:prstDash val="solid"/>
          </a:ln>
        </p:spPr>
      </p:pic>
      <p:sp>
        <p:nvSpPr>
          <p:cNvPr id="8"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Q/K/V Matrices (1/2)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Self-Attention as Information Retrieval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Triplets: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Each token is transformed into three vectors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Query (Q): “What am I looking for?”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Key (K): “What information do I contain?”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Value (V): “What is the actual content I offer?”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Mechanism: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Similarity: Compute the compatibility between the Query of the current token and the Keys of all other tokens.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Weights: Pass the scores through a Softmax function to get attention weights.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Output: The final representation is a weighted sum of the Values.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162673" y="1132554"/>
            <a:ext cx="5771277" cy="110057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415482" y="2546513"/>
            <a:ext cx="4838131" cy="1175666"/>
          </a:xfrm>
          <a:prstGeom prst="rect">
            <a:avLst/>
          </a:prstGeom>
          <a:ln w="12700">
            <a:noFill/>
            <a:prstDash val="solid"/>
          </a:ln>
        </p:spPr>
      </p:pic>
      <p:sp>
        <p:nvSpPr>
          <p:cNvPr id="9"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Q/K/V Matrices (2/2)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Create Query, Key and Value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Query: The </a:t>
            </a: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current token’s “question”</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to all others about relevance.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Key: The </a:t>
            </a: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token’s identifying information</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to answer the “question.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Value: The </a:t>
            </a: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token’s content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to be passed through (weighted) to the output.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Score and Weight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1030469" y="4018047"/>
            <a:ext cx="4556252" cy="2717076"/>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670099" y="1951583"/>
            <a:ext cx="4671572" cy="4783540"/>
          </a:xfrm>
          <a:prstGeom prst="rect">
            <a:avLst/>
          </a:prstGeom>
          <a:ln w="12700">
            <a:noFill/>
            <a:prstDash val="solid"/>
          </a:ln>
        </p:spPr>
      </p:pic>
      <p:sp>
        <p:nvSpPr>
          <p:cNvPr id="12"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Computation Pipeline of </a:t>
            </a:r>
            <a:r>
              <a:rPr lang="en-US" sz="3600" b="0" i="1" u="none" strike="noStrike">
                <a:solidFill>
                  <a:srgbClr val="262626"/>
                </a:solidFill>
                <a:latin typeface="Calibri" panose="020F0502020204030204"/>
                <a:ea typeface="Calibri" panose="020F0502020204030204"/>
                <a:cs typeface="Calibri" panose="020F0502020204030204"/>
                <a:sym typeface="Calibri" panose="020F0502020204030204"/>
              </a:rPr>
              <a:t>Attention(Q, K, V)</a:t>
            </a:r>
            <a:endParaRPr lang="en-US" sz="3600" b="0" i="1"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222222">
                    <a:alpha val="100000"/>
                  </a:srgbClr>
                </a:solidFill>
                <a:latin typeface="Helvetica"/>
              </a:defRPr>
            </a:lvl1pPr>
          </a:lstStyle>
          <a:p>
            <a:pPr marL="304800" indent="-304800" algn="l">
              <a:lnSpc>
                <a:spcPct val="100000"/>
              </a:lnSpc>
              <a:spcBef>
                <a:spcPts val="1500"/>
              </a:spcBef>
              <a:buClr>
                <a:srgbClr val="222222"/>
              </a:buClr>
              <a:buChar char="•"/>
            </a:pPr>
            <a:r>
              <a:rPr lang="en-US" sz="2400" b="0" i="0" u="none" strike="noStrike">
                <a:solidFill>
                  <a:srgbClr val="222222"/>
                </a:solidFill>
                <a:latin typeface="Helvetica"/>
                <a:ea typeface="Helvetica"/>
                <a:cs typeface="Helvetica"/>
                <a:sym typeface="Helvetica"/>
              </a:rPr>
              <a:t>Calculate Query, Key, and Value matrices</a:t>
            </a:r>
            <a:endParaRPr lang="en-US" sz="2400" b="0" i="0" u="none" strike="noStrike">
              <a:solidFill>
                <a:srgbClr val="222222"/>
              </a:solidFill>
              <a:latin typeface="Helvetica"/>
              <a:ea typeface="Helvetica"/>
              <a:cs typeface="Helvetica"/>
              <a:sym typeface="Helvetica"/>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Score and Weight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1014095" y="2135505"/>
            <a:ext cx="3653155" cy="4220845"/>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663734" y="2975212"/>
            <a:ext cx="4810906" cy="2238089"/>
          </a:xfrm>
          <a:prstGeom prst="rect">
            <a:avLst/>
          </a:prstGeom>
          <a:ln w="12700">
            <a:noFill/>
            <a:prstDash val="solid"/>
          </a:ln>
        </p:spPr>
      </p:pic>
      <p:sp>
        <p:nvSpPr>
          <p:cNvPr id="10"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Multi-Headed Attention (1/2)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Multi-Headed Attention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Expands the model’s ability to focus on different positions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Gives the attention layer multiple “representation subspaces”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Condense these matrixs down into a single matrix</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1033855" y="3253324"/>
            <a:ext cx="4571212" cy="3013334"/>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939887" y="2066935"/>
            <a:ext cx="4031104" cy="1912596"/>
          </a:xfrm>
          <a:prstGeom prst="rect">
            <a:avLst/>
          </a:prstGeom>
          <a:ln w="12700">
            <a:noFill/>
            <a:prstDash val="solid"/>
          </a:ln>
        </p:spPr>
      </p:pic>
      <p:pic>
        <p:nvPicPr>
          <p:cNvPr id="9" name="Picture 9"/>
          <p:cNvPicPr>
            <a:picLocks noChangeAspect="1"/>
          </p:cNvPicPr>
          <p:nvPr/>
        </p:nvPicPr>
        <p:blipFill>
          <a:blip r:embed="rId3"/>
          <a:srcRect/>
          <a:stretch>
            <a:fillRect/>
          </a:stretch>
        </p:blipFill>
        <p:spPr>
          <a:xfrm>
            <a:off x="6620812" y="3965520"/>
            <a:ext cx="4433875" cy="2508197"/>
          </a:xfrm>
          <a:prstGeom prst="rect">
            <a:avLst/>
          </a:prstGeom>
          <a:ln w="12700">
            <a:noFill/>
            <a:prstDash val="solid"/>
          </a:ln>
        </p:spPr>
      </p:pic>
      <p:sp>
        <p:nvSpPr>
          <p:cNvPr id="11"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Multi-Headed Attention (2/2)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Overview of Multi-Headed Attention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Example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animal didn't cross the street because it was too tired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92060" y="2552132"/>
            <a:ext cx="6070613" cy="3398292"/>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9170350" y="2870107"/>
            <a:ext cx="2807068" cy="2557843"/>
          </a:xfrm>
          <a:prstGeom prst="rect">
            <a:avLst/>
          </a:prstGeom>
          <a:ln w="12700">
            <a:noFill/>
            <a:prstDash val="solid"/>
          </a:ln>
        </p:spPr>
      </p:pic>
      <p:pic>
        <p:nvPicPr>
          <p:cNvPr id="9" name="Picture 9"/>
          <p:cNvPicPr>
            <a:picLocks noChangeAspect="1"/>
          </p:cNvPicPr>
          <p:nvPr/>
        </p:nvPicPr>
        <p:blipFill>
          <a:blip r:embed="rId3"/>
          <a:srcRect/>
          <a:stretch>
            <a:fillRect/>
          </a:stretch>
        </p:blipFill>
        <p:spPr>
          <a:xfrm>
            <a:off x="6157511" y="2895363"/>
            <a:ext cx="3012839" cy="2507329"/>
          </a:xfrm>
          <a:prstGeom prst="rect">
            <a:avLst/>
          </a:prstGeom>
          <a:ln w="12700">
            <a:noFill/>
            <a:prstDash val="solid"/>
          </a:ln>
        </p:spPr>
      </p:pic>
      <p:sp>
        <p:nvSpPr>
          <p:cNvPr id="11"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Positional Encoding (1/2)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Positional encoding vectors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values of which follow a specific pattern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Example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Dimensionality of 4</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599373" y="2702257"/>
            <a:ext cx="5610924" cy="3077893"/>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328600" y="3056343"/>
            <a:ext cx="5514247" cy="1454241"/>
          </a:xfrm>
          <a:prstGeom prst="rect">
            <a:avLst/>
          </a:prstGeom>
          <a:ln w="12700">
            <a:noFill/>
            <a:prstDash val="solid"/>
          </a:ln>
        </p:spPr>
      </p:pic>
      <p:sp>
        <p:nvSpPr>
          <p:cNvPr id="10"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Positional Encoding (2/2)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Tensor2Tensor implementation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 real example of positional encoding for 20 words (rows) with an embedding size of 512 (columns)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https://github.com/jalammar/jalammar.github.io/blob/master/notebookes/transformer/transformer_positional_encoding_graph.ipynb</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a:spLocks noGrp="1"/>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pitchFamily="34" charset="-122"/>
              </a:defRPr>
            </a:lvl1pPr>
          </a:lstStyle>
          <a:p>
            <a:pPr algn="l"/>
          </a:p>
        </p:txBody>
      </p:sp>
      <p:pic>
        <p:nvPicPr>
          <p:cNvPr id="7" name="Picture 7"/>
          <p:cNvPicPr>
            <a:picLocks noChangeAspect="1"/>
          </p:cNvPicPr>
          <p:nvPr/>
        </p:nvPicPr>
        <p:blipFill>
          <a:blip r:embed="rId1"/>
          <a:srcRect/>
          <a:stretch>
            <a:fillRect/>
          </a:stretch>
        </p:blipFill>
        <p:spPr>
          <a:xfrm>
            <a:off x="874579" y="2887046"/>
            <a:ext cx="4431223" cy="3289918"/>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326628" y="1414782"/>
            <a:ext cx="3761905" cy="819048"/>
          </a:xfrm>
          <a:prstGeom prst="rect">
            <a:avLst/>
          </a:prstGeom>
          <a:ln w="12700">
            <a:noFill/>
            <a:prstDash val="solid"/>
          </a:ln>
        </p:spPr>
      </p:pic>
      <p:pic>
        <p:nvPicPr>
          <p:cNvPr id="9" name="Picture 9"/>
          <p:cNvPicPr>
            <a:picLocks noChangeAspect="1"/>
          </p:cNvPicPr>
          <p:nvPr/>
        </p:nvPicPr>
        <p:blipFill>
          <a:blip r:embed="rId3"/>
          <a:srcRect/>
          <a:stretch>
            <a:fillRect/>
          </a:stretch>
        </p:blipFill>
        <p:spPr>
          <a:xfrm>
            <a:off x="6219822" y="2515862"/>
            <a:ext cx="5809617" cy="3443000"/>
          </a:xfrm>
          <a:prstGeom prst="rect">
            <a:avLst/>
          </a:prstGeom>
          <a:ln w="12700">
            <a:noFill/>
            <a:prstDash val="solid"/>
          </a:ln>
        </p:spPr>
      </p:pic>
      <p:sp>
        <p:nvSpPr>
          <p:cNvPr id="11"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The Residuals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Residual Connections and Layer Normalization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Example of a Transformer of 2 stacked encoders and decoders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962021" y="2176388"/>
            <a:ext cx="4508957" cy="4003751"/>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5603870" y="2371724"/>
            <a:ext cx="6588130" cy="3738249"/>
          </a:xfrm>
          <a:prstGeom prst="rect">
            <a:avLst/>
          </a:prstGeom>
          <a:ln w="12700">
            <a:noFill/>
            <a:prstDash val="solid"/>
          </a:ln>
        </p:spPr>
      </p:pic>
      <p:sp>
        <p:nvSpPr>
          <p:cNvPr id="10"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The Final Linear and Softmax Layer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2"/>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pitchFamily="34" charset="-122"/>
              </a:defRPr>
            </a:lvl1pPr>
          </a:lstStyle>
          <a:p>
            <a:pPr algn="l"/>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pitchFamily="34" charset="-122"/>
              </a:defRPr>
            </a:lvl1pPr>
          </a:lstStyle>
          <a:p>
            <a:pPr algn="l"/>
          </a:p>
        </p:txBody>
      </p:sp>
      <p:pic>
        <p:nvPicPr>
          <p:cNvPr id="7" name="Picture 7"/>
          <p:cNvPicPr>
            <a:picLocks noChangeAspect="1"/>
          </p:cNvPicPr>
          <p:nvPr/>
        </p:nvPicPr>
        <p:blipFill>
          <a:blip r:embed="rId1"/>
          <a:srcRect/>
          <a:stretch>
            <a:fillRect/>
          </a:stretch>
        </p:blipFill>
        <p:spPr>
          <a:xfrm>
            <a:off x="1721300" y="1405275"/>
            <a:ext cx="7771037" cy="4771689"/>
          </a:xfrm>
          <a:prstGeom prst="rect">
            <a:avLst/>
          </a:prstGeom>
          <a:ln w="12700">
            <a:noFill/>
            <a:prstDash val="solid"/>
          </a:ln>
        </p:spPr>
      </p:pic>
      <p:sp>
        <p:nvSpPr>
          <p:cNvPr id="9"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
        <p:nvSpPr>
          <p:cNvPr id="15" name="标题 4"/>
          <p:cNvSpPr txBox="1"/>
          <p:nvPr/>
        </p:nvSpPr>
        <p:spPr>
          <a:xfrm>
            <a:off x="741680" y="431800"/>
            <a:ext cx="8620760" cy="701040"/>
          </a:xfrm>
          <a:prstGeom prst="rect">
            <a:avLst/>
          </a:prstGeom>
        </p:spPr>
        <p:txBody>
          <a:bodyPr/>
          <a:lstStyle>
            <a:lvl1pPr algn="l" defTabSz="342900" rtl="0" eaLnBrk="1" latinLnBrk="0" hangingPunct="1">
              <a:spcBef>
                <a:spcPct val="0"/>
              </a:spcBef>
              <a:buNone/>
              <a:defRPr lang="zh-CN" altLang="en-US" sz="3600" b="0" i="0" kern="1200" baseline="0" dirty="0">
                <a:solidFill>
                  <a:schemeClr val="tx1">
                    <a:lumMod val="85000"/>
                    <a:lumOff val="15000"/>
                  </a:schemeClr>
                </a:solidFill>
                <a:latin typeface="Calibri" panose="020F0502020204030204" charset="0"/>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a:t>Generation Repeats One Simple Loop</a:t>
            </a:r>
            <a:endParaRPr lang="en-US" altLang="zh-CN"/>
          </a:p>
        </p:txBody>
      </p:sp>
      <p:sp>
        <p:nvSpPr>
          <p:cNvPr id="16" name="AutoShape 4"/>
          <p:cNvSpPr txBox="1"/>
          <p:nvPr/>
        </p:nvSpPr>
        <p:spPr>
          <a:xfrm>
            <a:off x="781467" y="1323925"/>
            <a:ext cx="5591177" cy="4856162"/>
          </a:xfrm>
          <a:prstGeom prst="rect">
            <a:avLst/>
          </a:prstGeom>
          <a:noFill/>
          <a:ln w="12700">
            <a:noFill/>
            <a:prstDash val="solid"/>
          </a:ln>
        </p:spPr>
        <p:txBody>
          <a:bodyPr vert="horz" wrap="square" lIns="91440" tIns="45720" rIns="91440" bIns="45720" rtlCol="0" anchor="t">
            <a:noAutofit/>
          </a:bodyPr>
          <a:lstStyle>
            <a:lvl1pPr marL="360045" marR="0" indent="-360045" algn="l" defTabSz="342900" rtl="0" eaLnBrk="1" fontAlgn="auto" latinLnBrk="0" hangingPunct="1">
              <a:lnSpc>
                <a:spcPct val="100000"/>
              </a:lnSpc>
              <a:spcBef>
                <a:spcPts val="1500"/>
              </a:spcBef>
              <a:spcAft>
                <a:spcPts val="0"/>
              </a:spcAft>
              <a:buClr>
                <a:srgbClr val="8B0012"/>
              </a:buClr>
              <a:buSzTx/>
              <a:buFontTx/>
              <a:buChar char="•"/>
              <a:defRPr sz="2400" b="0" i="0" u="none" strike="noStrike" kern="1200" spc="0" baseline="0">
                <a:solidFill>
                  <a:srgbClr val="404040">
                    <a:alpha val="100000"/>
                  </a:srgbClr>
                </a:solidFill>
                <a:latin typeface="Calibri" panose="020F0502020204030204"/>
                <a:ea typeface="微软雅黑" panose="020B0503020204020204" pitchFamily="3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Tx/>
              <a:buChar char="◦"/>
              <a:defRPr sz="2000" kern="1200" baseline="0">
                <a:solidFill>
                  <a:schemeClr val="tx1">
                    <a:lumMod val="75000"/>
                    <a:lumOff val="25000"/>
                  </a:schemeClr>
                </a:solidFill>
                <a:latin typeface="Calibri" panose="020F0502020204030204" charset="0"/>
                <a:ea typeface="微软雅黑" panose="020B0503020204020204" pitchFamily="3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Tx/>
              <a:buChar char="-"/>
              <a:defRPr sz="1600" kern="1200" baseline="0">
                <a:solidFill>
                  <a:schemeClr val="tx1">
                    <a:lumMod val="75000"/>
                    <a:lumOff val="25000"/>
                  </a:schemeClr>
                </a:solidFill>
                <a:latin typeface="Calibri" panose="020F0502020204030204" charset="0"/>
                <a:ea typeface="微软雅黑" panose="020B0503020204020204" pitchFamily="3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Tx/>
              <a:buChar char="-"/>
              <a:defRPr sz="1200" kern="1200" baseline="0">
                <a:solidFill>
                  <a:schemeClr val="tx1">
                    <a:lumMod val="75000"/>
                    <a:lumOff val="25000"/>
                  </a:schemeClr>
                </a:solidFill>
                <a:latin typeface="Calibri" panose="020F0502020204030204" charset="0"/>
                <a:ea typeface="微软雅黑" panose="020B0503020204020204" pitchFamily="34" charset="-122"/>
                <a:cs typeface="+mn-cs"/>
              </a:defRPr>
            </a:lvl4pPr>
            <a:lvl5pPr marL="1543050" marR="0" indent="-171450" algn="l" defTabSz="342900" rtl="0" eaLnBrk="1" fontAlgn="auto" latinLnBrk="0" hangingPunct="1">
              <a:lnSpc>
                <a:spcPct val="100000"/>
              </a:lnSpc>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9pPr>
          </a:lstStyle>
          <a:p>
            <a:pPr marL="304800" indent="-304800">
              <a:buClr>
                <a:srgbClr val="404040"/>
              </a:buClr>
            </a:pPr>
            <a:r>
              <a:rPr lang="en-US" sz="2100">
                <a:solidFill>
                  <a:srgbClr val="404040"/>
                </a:solidFill>
                <a:latin typeface="Calibri" panose="020F0502020204030204" charset="0"/>
                <a:ea typeface="Calibri" panose="020F0502020204030204"/>
                <a:cs typeface="Calibri" panose="020F0502020204030204"/>
                <a:sym typeface="Calibri" panose="020F0502020204030204"/>
              </a:rPr>
              <a:t>1. Read the current token prefix</a:t>
            </a:r>
            <a:endParaRPr lang="en-US" sz="2100">
              <a:solidFill>
                <a:srgbClr val="404040"/>
              </a:solidFill>
              <a:latin typeface="Calibri" panose="020F0502020204030204" charset="0"/>
              <a:ea typeface="Calibri" panose="020F0502020204030204"/>
              <a:cs typeface="Calibri" panose="020F0502020204030204"/>
              <a:sym typeface="Calibri" panose="020F0502020204030204"/>
            </a:endParaRPr>
          </a:p>
          <a:p>
            <a:pPr marL="304800" indent="-304800">
              <a:buClr>
                <a:srgbClr val="404040"/>
              </a:buClr>
            </a:pPr>
            <a:r>
              <a:rPr lang="en-US" sz="2100">
                <a:solidFill>
                  <a:srgbClr val="404040"/>
                </a:solidFill>
                <a:latin typeface="Calibri" panose="020F0502020204030204" charset="0"/>
                <a:ea typeface="Calibri" panose="020F0502020204030204"/>
                <a:cs typeface="Calibri" panose="020F0502020204030204"/>
                <a:sym typeface="Calibri" panose="020F0502020204030204"/>
              </a:rPr>
              <a:t>2. Predict a distribution for the next token</a:t>
            </a:r>
            <a:endParaRPr lang="en-US" sz="2100">
              <a:solidFill>
                <a:srgbClr val="404040"/>
              </a:solidFill>
              <a:latin typeface="Calibri" panose="020F0502020204030204" charset="0"/>
              <a:ea typeface="Calibri" panose="020F0502020204030204"/>
              <a:cs typeface="Calibri" panose="020F0502020204030204"/>
              <a:sym typeface="Calibri" panose="020F0502020204030204"/>
            </a:endParaRPr>
          </a:p>
        </p:txBody>
      </p:sp>
      <p:sp>
        <p:nvSpPr>
          <p:cNvPr id="17" name="AutoShape 6"/>
          <p:cNvSpPr txBox="1"/>
          <p:nvPr/>
        </p:nvSpPr>
        <p:spPr>
          <a:xfrm>
            <a:off x="6735416" y="1226520"/>
            <a:ext cx="4541029" cy="4832350"/>
          </a:xfrm>
          <a:prstGeom prst="rect">
            <a:avLst/>
          </a:prstGeom>
        </p:spPr>
        <p:txBody>
          <a:bodyPr vert="horz" wrap="square" lIns="91440" tIns="45720" rIns="91440" bIns="45720" rtlCol="0" anchor="t">
            <a:noAutofit/>
          </a:bodyPr>
          <a:lstStyle>
            <a:lvl1pPr marL="360045" marR="0" indent="-360045" algn="l" defTabSz="342900" rtl="0" eaLnBrk="1" fontAlgn="auto" latinLnBrk="0" hangingPunct="1">
              <a:lnSpc>
                <a:spcPct val="100000"/>
              </a:lnSpc>
              <a:spcBef>
                <a:spcPts val="1500"/>
              </a:spcBef>
              <a:spcAft>
                <a:spcPts val="0"/>
              </a:spcAft>
              <a:buClr>
                <a:srgbClr val="8B0012"/>
              </a:buClr>
              <a:buSzTx/>
              <a:buFontTx/>
              <a:buChar char="•"/>
              <a:defRPr sz="2400" b="0" i="0" u="none" strike="noStrike" kern="1200" spc="0" baseline="0">
                <a:solidFill>
                  <a:srgbClr val="404040">
                    <a:alpha val="100000"/>
                  </a:srgbClr>
                </a:solidFill>
                <a:latin typeface="Calibri" panose="020F0502020204030204"/>
                <a:ea typeface="微软雅黑" panose="020B0503020204020204" pitchFamily="3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Tx/>
              <a:buChar char="◦"/>
              <a:defRPr sz="2000" kern="1200" baseline="0">
                <a:solidFill>
                  <a:schemeClr val="tx1">
                    <a:lumMod val="75000"/>
                    <a:lumOff val="25000"/>
                  </a:schemeClr>
                </a:solidFill>
                <a:latin typeface="Calibri" panose="020F0502020204030204" charset="0"/>
                <a:ea typeface="微软雅黑" panose="020B0503020204020204" pitchFamily="3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Tx/>
              <a:buChar char="-"/>
              <a:defRPr sz="1600" kern="1200" baseline="0">
                <a:solidFill>
                  <a:schemeClr val="tx1">
                    <a:lumMod val="75000"/>
                    <a:lumOff val="25000"/>
                  </a:schemeClr>
                </a:solidFill>
                <a:latin typeface="Calibri" panose="020F0502020204030204" charset="0"/>
                <a:ea typeface="微软雅黑" panose="020B0503020204020204" pitchFamily="3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Tx/>
              <a:buChar char="-"/>
              <a:defRPr sz="1200" kern="1200" baseline="0">
                <a:solidFill>
                  <a:schemeClr val="tx1">
                    <a:lumMod val="75000"/>
                    <a:lumOff val="25000"/>
                  </a:schemeClr>
                </a:solidFill>
                <a:latin typeface="Calibri" panose="020F0502020204030204" charset="0"/>
                <a:ea typeface="微软雅黑" panose="020B0503020204020204" pitchFamily="34" charset="-122"/>
                <a:cs typeface="+mn-cs"/>
              </a:defRPr>
            </a:lvl4pPr>
            <a:lvl5pPr marL="1543050" marR="0" indent="-171450" algn="l" defTabSz="342900" rtl="0" eaLnBrk="1" fontAlgn="auto" latinLnBrk="0" hangingPunct="1">
              <a:lnSpc>
                <a:spcPct val="100000"/>
              </a:lnSpc>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9pPr>
          </a:lstStyle>
          <a:p>
            <a:pPr marL="304800" indent="-304800">
              <a:buClr>
                <a:srgbClr val="404040"/>
              </a:buClr>
            </a:pPr>
            <a:r>
              <a:rPr lang="en-US" sz="2100">
                <a:solidFill>
                  <a:srgbClr val="404040"/>
                </a:solidFill>
                <a:latin typeface="Calibri" panose="020F0502020204030204" charset="0"/>
                <a:ea typeface="Calibri" panose="020F0502020204030204"/>
                <a:cs typeface="Calibri" panose="020F0502020204030204"/>
                <a:sym typeface="Calibri" panose="020F0502020204030204"/>
              </a:rPr>
              <a:t>3. Select one token</a:t>
            </a:r>
            <a:endParaRPr lang="en-US" sz="2100">
              <a:solidFill>
                <a:srgbClr val="404040"/>
              </a:solidFill>
              <a:latin typeface="Calibri" panose="020F0502020204030204" charset="0"/>
              <a:ea typeface="Calibri" panose="020F0502020204030204"/>
              <a:cs typeface="Calibri" panose="020F0502020204030204"/>
              <a:sym typeface="Calibri" panose="020F0502020204030204"/>
            </a:endParaRPr>
          </a:p>
          <a:p>
            <a:pPr marL="304800" indent="-304800">
              <a:buClr>
                <a:srgbClr val="404040"/>
              </a:buClr>
            </a:pPr>
            <a:r>
              <a:rPr lang="en-US" sz="2100">
                <a:solidFill>
                  <a:srgbClr val="404040"/>
                </a:solidFill>
                <a:latin typeface="Calibri" panose="020F0502020204030204" charset="0"/>
                <a:ea typeface="Calibri" panose="020F0502020204030204"/>
                <a:cs typeface="Calibri" panose="020F0502020204030204"/>
                <a:sym typeface="Calibri" panose="020F0502020204030204"/>
              </a:rPr>
              <a:t>4. Append it and run again</a:t>
            </a:r>
            <a:endParaRPr lang="en-US" sz="2100">
              <a:solidFill>
                <a:srgbClr val="404040"/>
              </a:solidFill>
              <a:latin typeface="Calibri" panose="020F0502020204030204" charset="0"/>
              <a:ea typeface="Calibri" panose="020F0502020204030204"/>
              <a:cs typeface="Calibri" panose="020F0502020204030204"/>
              <a:sym typeface="Calibri" panose="020F0502020204030204"/>
            </a:endParaRPr>
          </a:p>
        </p:txBody>
      </p:sp>
      <p:pic>
        <p:nvPicPr>
          <p:cNvPr id="18" name="Picture 7"/>
          <p:cNvPicPr>
            <a:picLocks noChangeAspect="1"/>
          </p:cNvPicPr>
          <p:nvPr/>
        </p:nvPicPr>
        <p:blipFill>
          <a:blip r:embed="rId1"/>
          <a:srcRect/>
          <a:stretch>
            <a:fillRect/>
          </a:stretch>
        </p:blipFill>
        <p:spPr>
          <a:xfrm>
            <a:off x="504872" y="2514107"/>
            <a:ext cx="5591177" cy="3071507"/>
          </a:xfrm>
          <a:prstGeom prst="rect">
            <a:avLst/>
          </a:prstGeom>
          <a:ln w="12700">
            <a:noFill/>
            <a:prstDash val="solid"/>
          </a:ln>
        </p:spPr>
      </p:pic>
      <p:pic>
        <p:nvPicPr>
          <p:cNvPr id="19" name="Picture 8"/>
          <p:cNvPicPr>
            <a:picLocks noChangeAspect="1"/>
          </p:cNvPicPr>
          <p:nvPr/>
        </p:nvPicPr>
        <p:blipFill>
          <a:blip r:embed="rId2"/>
          <a:srcRect/>
          <a:stretch>
            <a:fillRect/>
          </a:stretch>
        </p:blipFill>
        <p:spPr>
          <a:xfrm>
            <a:off x="6096000" y="2405368"/>
            <a:ext cx="5987078" cy="3288996"/>
          </a:xfrm>
          <a:prstGeom prst="rect">
            <a:avLst/>
          </a:prstGeom>
          <a:ln w="12700">
            <a:noFill/>
            <a:prstDash val="solid"/>
          </a:ln>
        </p:spPr>
      </p:pic>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Transformer Components as Operators</a:t>
            </a:r>
            <a:endParaRPr lang="en-US" altLang="zh-CN"/>
          </a:p>
        </p:txBody>
      </p:sp>
      <p:sp>
        <p:nvSpPr>
          <p:cNvPr id="11" name="灯片编号占位符 4"/>
          <p:cNvSpPr txBox="1"/>
          <p:nvPr/>
        </p:nvSpPr>
        <p:spPr>
          <a:xfrm>
            <a:off x="83002" y="599757"/>
            <a:ext cx="6985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a:solidFill>
                  <a:srgbClr val="FFFFFF"/>
                </a:solidFill>
                <a:latin typeface="Arial" panose="020B0604020202020204" pitchFamily="34" charset="0"/>
              </a:rPr>
              <a:t>1</a:t>
            </a:r>
            <a:r>
              <a:rPr lang="en-US" altLang="zh-CN">
                <a:solidFill>
                  <a:srgbClr val="FFFFFF"/>
                </a:solidFill>
                <a:latin typeface="Arial" panose="020B0604020202020204" pitchFamily="34" charset="0"/>
                <a:cs typeface="Arial" panose="020B0604020202020204" pitchFamily="34" charset="0"/>
              </a:rPr>
              <a:t>5</a:t>
            </a:r>
            <a:endParaRPr lang="zh-CN" altLang="en-US" dirty="0">
              <a:solidFill>
                <a:srgbClr val="FFFFFF"/>
              </a:solidFill>
              <a:latin typeface="Arial" panose="020B0604020202020204" pitchFamily="34" charset="0"/>
            </a:endParaRPr>
          </a:p>
        </p:txBody>
      </p:sp>
      <p:sp>
        <p:nvSpPr>
          <p:cNvPr id="14" name="矩形: 圆角 13"/>
          <p:cNvSpPr/>
          <p:nvPr/>
        </p:nvSpPr>
        <p:spPr>
          <a:xfrm>
            <a:off x="698500" y="1905000"/>
            <a:ext cx="2413000" cy="889000"/>
          </a:xfrm>
          <a:prstGeom prst="roundRect">
            <a:avLst/>
          </a:prstGeom>
          <a:solidFill>
            <a:srgbClr val="F7E5E9"/>
          </a:solidFill>
          <a:ln w="12700">
            <a:solidFill>
              <a:srgbClr val="B1B9BF"/>
            </a:solidFill>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50800" rtlCol="0" anchor="ctr"/>
          <a:lstStyle/>
          <a:p>
            <a:pPr algn="ctr"/>
            <a:r>
              <a:rPr lang="en-US" altLang="zh-CN" sz="1900">
                <a:solidFill>
                  <a:srgbClr val="404040"/>
                </a:solidFill>
                <a:latin typeface="Calibri" panose="020F0502020204030204" charset="0"/>
              </a:rPr>
              <a:t>Matrix multiplication</a:t>
            </a:r>
            <a:endParaRPr lang="zh-CN" altLang="en-US" sz="1900">
              <a:solidFill>
                <a:srgbClr val="404040"/>
              </a:solidFill>
              <a:latin typeface="Calibri" panose="020F0502020204030204" charset="0"/>
            </a:endParaRPr>
          </a:p>
        </p:txBody>
      </p:sp>
      <p:sp>
        <p:nvSpPr>
          <p:cNvPr id="15" name="文本框 14"/>
          <p:cNvSpPr txBox="1"/>
          <p:nvPr/>
        </p:nvSpPr>
        <p:spPr>
          <a:xfrm>
            <a:off x="698500" y="3111500"/>
            <a:ext cx="2413000" cy="1158240"/>
          </a:xfrm>
          <a:prstGeom prst="rect">
            <a:avLst/>
          </a:prstGeom>
          <a:noFill/>
        </p:spPr>
        <p:txBody>
          <a:bodyPr vert="horz" wrap="square" lIns="50800" tIns="25400" rIns="50800" bIns="25400" rtlCol="0">
            <a:spAutoFit/>
          </a:bodyPr>
          <a:lstStyle/>
          <a:p>
            <a:pPr algn="ctr"/>
            <a:r>
              <a:rPr lang="en-US" altLang="zh-CN">
                <a:solidFill>
                  <a:srgbClr val="404040"/>
                </a:solidFill>
                <a:latin typeface="Calibri" panose="020F0502020204030204" charset="0"/>
              </a:rPr>
              <a:t>QKV projections</a:t>
            </a:r>
            <a:endParaRPr lang="en-US" altLang="zh-CN">
              <a:solidFill>
                <a:srgbClr val="404040"/>
              </a:solidFill>
              <a:latin typeface="Calibri" panose="020F0502020204030204" charset="0"/>
            </a:endParaRPr>
          </a:p>
          <a:p>
            <a:pPr algn="ctr"/>
            <a:r>
              <a:rPr lang="en-US" altLang="zh-CN">
                <a:solidFill>
                  <a:srgbClr val="404040"/>
                </a:solidFill>
                <a:latin typeface="Calibri" panose="020F0502020204030204" charset="0"/>
              </a:rPr>
              <a:t>Attention score/value products</a:t>
            </a:r>
            <a:endParaRPr lang="en-US" altLang="zh-CN">
              <a:solidFill>
                <a:srgbClr val="404040"/>
              </a:solidFill>
              <a:latin typeface="Calibri" panose="020F0502020204030204" charset="0"/>
            </a:endParaRPr>
          </a:p>
          <a:p>
            <a:pPr algn="ctr"/>
            <a:r>
              <a:rPr lang="en-US" altLang="zh-CN">
                <a:solidFill>
                  <a:srgbClr val="404040"/>
                </a:solidFill>
                <a:latin typeface="Calibri" panose="020F0502020204030204" charset="0"/>
              </a:rPr>
              <a:t>FFN layers</a:t>
            </a:r>
            <a:endParaRPr lang="zh-CN" altLang="en-US">
              <a:solidFill>
                <a:srgbClr val="404040"/>
              </a:solidFill>
              <a:latin typeface="Calibri" panose="020F0502020204030204" charset="0"/>
            </a:endParaRPr>
          </a:p>
        </p:txBody>
      </p:sp>
      <p:sp>
        <p:nvSpPr>
          <p:cNvPr id="16" name="矩形: 圆角 15"/>
          <p:cNvSpPr/>
          <p:nvPr/>
        </p:nvSpPr>
        <p:spPr>
          <a:xfrm>
            <a:off x="3556000" y="1905000"/>
            <a:ext cx="2413000" cy="889000"/>
          </a:xfrm>
          <a:prstGeom prst="roundRect">
            <a:avLst/>
          </a:prstGeom>
          <a:solidFill>
            <a:srgbClr val="E0EFF7"/>
          </a:solidFill>
          <a:ln w="12700">
            <a:solidFill>
              <a:srgbClr val="B1B9BF"/>
            </a:solidFill>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50800" rtlCol="0" anchor="ctr"/>
          <a:lstStyle/>
          <a:p>
            <a:pPr algn="ctr"/>
            <a:r>
              <a:rPr lang="en-US" altLang="zh-CN" sz="1900">
                <a:solidFill>
                  <a:srgbClr val="404040"/>
                </a:solidFill>
                <a:latin typeface="Calibri" panose="020F0502020204030204" charset="0"/>
              </a:rPr>
              <a:t>Reductions</a:t>
            </a:r>
            <a:endParaRPr lang="zh-CN" altLang="en-US" sz="1900">
              <a:solidFill>
                <a:srgbClr val="404040"/>
              </a:solidFill>
              <a:latin typeface="Calibri" panose="020F0502020204030204" charset="0"/>
            </a:endParaRPr>
          </a:p>
        </p:txBody>
      </p:sp>
      <p:sp>
        <p:nvSpPr>
          <p:cNvPr id="17" name="文本框 16"/>
          <p:cNvSpPr txBox="1"/>
          <p:nvPr/>
        </p:nvSpPr>
        <p:spPr>
          <a:xfrm>
            <a:off x="3556000" y="3111500"/>
            <a:ext cx="2413000" cy="604520"/>
          </a:xfrm>
          <a:prstGeom prst="rect">
            <a:avLst/>
          </a:prstGeom>
          <a:noFill/>
        </p:spPr>
        <p:txBody>
          <a:bodyPr vert="horz" wrap="square" lIns="50800" tIns="25400" rIns="50800" bIns="25400" rtlCol="0">
            <a:spAutoFit/>
          </a:bodyPr>
          <a:lstStyle/>
          <a:p>
            <a:pPr algn="ctr"/>
            <a:r>
              <a:rPr lang="en-US" altLang="zh-CN">
                <a:solidFill>
                  <a:srgbClr val="404040"/>
                </a:solidFill>
                <a:latin typeface="Calibri" panose="020F0502020204030204" charset="0"/>
              </a:rPr>
              <a:t>Softmax</a:t>
            </a:r>
            <a:endParaRPr lang="en-US" altLang="zh-CN">
              <a:solidFill>
                <a:srgbClr val="404040"/>
              </a:solidFill>
              <a:latin typeface="Calibri" panose="020F0502020204030204" charset="0"/>
            </a:endParaRPr>
          </a:p>
          <a:p>
            <a:pPr algn="ctr"/>
            <a:r>
              <a:rPr lang="en-US" altLang="zh-CN">
                <a:solidFill>
                  <a:srgbClr val="404040"/>
                </a:solidFill>
                <a:latin typeface="Calibri" panose="020F0502020204030204" charset="0"/>
              </a:rPr>
              <a:t>LayerNorm statistics</a:t>
            </a:r>
            <a:endParaRPr lang="zh-CN" altLang="en-US">
              <a:solidFill>
                <a:srgbClr val="404040"/>
              </a:solidFill>
              <a:latin typeface="Calibri" panose="020F0502020204030204" charset="0"/>
            </a:endParaRPr>
          </a:p>
        </p:txBody>
      </p:sp>
      <p:sp>
        <p:nvSpPr>
          <p:cNvPr id="18" name="矩形: 圆角 17"/>
          <p:cNvSpPr/>
          <p:nvPr/>
        </p:nvSpPr>
        <p:spPr>
          <a:xfrm>
            <a:off x="6413500" y="1905000"/>
            <a:ext cx="2413000" cy="889000"/>
          </a:xfrm>
          <a:prstGeom prst="roundRect">
            <a:avLst/>
          </a:prstGeom>
          <a:solidFill>
            <a:srgbClr val="E0EFF7"/>
          </a:solidFill>
          <a:ln w="12700">
            <a:solidFill>
              <a:srgbClr val="B1B9BF"/>
            </a:solidFill>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50800" rtlCol="0" anchor="ctr"/>
          <a:lstStyle/>
          <a:p>
            <a:pPr algn="ctr"/>
            <a:r>
              <a:rPr lang="en-US" altLang="zh-CN" sz="1900">
                <a:solidFill>
                  <a:srgbClr val="404040"/>
                </a:solidFill>
                <a:latin typeface="Calibri" panose="020F0502020204030204" charset="0"/>
              </a:rPr>
              <a:t>Elementwise</a:t>
            </a:r>
            <a:endParaRPr lang="zh-CN" altLang="en-US" sz="1900">
              <a:solidFill>
                <a:srgbClr val="404040"/>
              </a:solidFill>
              <a:latin typeface="Calibri" panose="020F0502020204030204" charset="0"/>
            </a:endParaRPr>
          </a:p>
        </p:txBody>
      </p:sp>
      <p:sp>
        <p:nvSpPr>
          <p:cNvPr id="19" name="文本框 18"/>
          <p:cNvSpPr txBox="1"/>
          <p:nvPr/>
        </p:nvSpPr>
        <p:spPr>
          <a:xfrm>
            <a:off x="6413500" y="3111500"/>
            <a:ext cx="2413000" cy="881380"/>
          </a:xfrm>
          <a:prstGeom prst="rect">
            <a:avLst/>
          </a:prstGeom>
          <a:noFill/>
        </p:spPr>
        <p:txBody>
          <a:bodyPr vert="horz" wrap="square" lIns="50800" tIns="25400" rIns="50800" bIns="25400" rtlCol="0">
            <a:spAutoFit/>
          </a:bodyPr>
          <a:lstStyle/>
          <a:p>
            <a:pPr algn="ctr"/>
            <a:r>
              <a:rPr lang="en-US" altLang="zh-CN">
                <a:solidFill>
                  <a:srgbClr val="404040"/>
                </a:solidFill>
                <a:latin typeface="Calibri" panose="020F0502020204030204" charset="0"/>
              </a:rPr>
              <a:t>Activation</a:t>
            </a:r>
            <a:endParaRPr lang="en-US" altLang="zh-CN">
              <a:solidFill>
                <a:srgbClr val="404040"/>
              </a:solidFill>
              <a:latin typeface="Calibri" panose="020F0502020204030204" charset="0"/>
            </a:endParaRPr>
          </a:p>
          <a:p>
            <a:pPr algn="ctr"/>
            <a:r>
              <a:rPr lang="en-US" altLang="zh-CN">
                <a:solidFill>
                  <a:srgbClr val="404040"/>
                </a:solidFill>
                <a:latin typeface="Calibri" panose="020F0502020204030204" charset="0"/>
              </a:rPr>
              <a:t>Bias</a:t>
            </a:r>
            <a:endParaRPr lang="en-US" altLang="zh-CN">
              <a:solidFill>
                <a:srgbClr val="404040"/>
              </a:solidFill>
              <a:latin typeface="Calibri" panose="020F0502020204030204" charset="0"/>
            </a:endParaRPr>
          </a:p>
          <a:p>
            <a:pPr algn="ctr"/>
            <a:r>
              <a:rPr lang="en-US" altLang="zh-CN">
                <a:solidFill>
                  <a:srgbClr val="404040"/>
                </a:solidFill>
                <a:latin typeface="Calibri" panose="020F0502020204030204" charset="0"/>
              </a:rPr>
              <a:t>Residual add</a:t>
            </a:r>
            <a:endParaRPr lang="zh-CN" altLang="en-US">
              <a:solidFill>
                <a:srgbClr val="404040"/>
              </a:solidFill>
              <a:latin typeface="Calibri" panose="020F0502020204030204" charset="0"/>
            </a:endParaRPr>
          </a:p>
        </p:txBody>
      </p:sp>
      <p:sp>
        <p:nvSpPr>
          <p:cNvPr id="20" name="矩形: 圆角 19"/>
          <p:cNvSpPr/>
          <p:nvPr/>
        </p:nvSpPr>
        <p:spPr>
          <a:xfrm>
            <a:off x="9271000" y="1905000"/>
            <a:ext cx="2413000" cy="889000"/>
          </a:xfrm>
          <a:prstGeom prst="roundRect">
            <a:avLst/>
          </a:prstGeom>
          <a:solidFill>
            <a:srgbClr val="F7E5E9"/>
          </a:solidFill>
          <a:ln w="12700">
            <a:solidFill>
              <a:srgbClr val="B1B9BF"/>
            </a:solidFill>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50800" rtlCol="0" anchor="ctr"/>
          <a:lstStyle/>
          <a:p>
            <a:pPr algn="ctr"/>
            <a:r>
              <a:rPr lang="en-US" altLang="zh-CN" sz="1900">
                <a:solidFill>
                  <a:srgbClr val="404040"/>
                </a:solidFill>
                <a:latin typeface="Calibri" panose="020F0502020204030204" charset="0"/>
              </a:rPr>
              <a:t>Data movement</a:t>
            </a:r>
            <a:endParaRPr lang="zh-CN" altLang="en-US" sz="1900">
              <a:solidFill>
                <a:srgbClr val="404040"/>
              </a:solidFill>
              <a:latin typeface="Calibri" panose="020F0502020204030204" charset="0"/>
            </a:endParaRPr>
          </a:p>
        </p:txBody>
      </p:sp>
      <p:sp>
        <p:nvSpPr>
          <p:cNvPr id="21" name="文本框 20"/>
          <p:cNvSpPr txBox="1"/>
          <p:nvPr/>
        </p:nvSpPr>
        <p:spPr>
          <a:xfrm>
            <a:off x="9271000" y="3111500"/>
            <a:ext cx="2413000" cy="881380"/>
          </a:xfrm>
          <a:prstGeom prst="rect">
            <a:avLst/>
          </a:prstGeom>
          <a:noFill/>
        </p:spPr>
        <p:txBody>
          <a:bodyPr vert="horz" wrap="square" lIns="50800" tIns="25400" rIns="50800" bIns="25400" rtlCol="0">
            <a:spAutoFit/>
          </a:bodyPr>
          <a:lstStyle/>
          <a:p>
            <a:pPr algn="ctr"/>
            <a:r>
              <a:rPr lang="en-US" altLang="zh-CN">
                <a:solidFill>
                  <a:srgbClr val="404040"/>
                </a:solidFill>
                <a:latin typeface="Calibri" panose="020F0502020204030204" charset="0"/>
              </a:rPr>
              <a:t>Transpose / reshape</a:t>
            </a:r>
            <a:endParaRPr lang="en-US" altLang="zh-CN">
              <a:solidFill>
                <a:srgbClr val="404040"/>
              </a:solidFill>
              <a:latin typeface="Calibri" panose="020F0502020204030204" charset="0"/>
            </a:endParaRPr>
          </a:p>
          <a:p>
            <a:pPr algn="ctr"/>
            <a:r>
              <a:rPr lang="en-US" altLang="zh-CN">
                <a:solidFill>
                  <a:srgbClr val="404040"/>
                </a:solidFill>
                <a:latin typeface="Calibri" panose="020F0502020204030204" charset="0"/>
              </a:rPr>
              <a:t>Masking</a:t>
            </a:r>
            <a:endParaRPr lang="en-US" altLang="zh-CN">
              <a:solidFill>
                <a:srgbClr val="404040"/>
              </a:solidFill>
              <a:latin typeface="Calibri" panose="020F0502020204030204" charset="0"/>
            </a:endParaRPr>
          </a:p>
          <a:p>
            <a:pPr algn="ctr"/>
            <a:r>
              <a:rPr lang="en-US" altLang="zh-CN">
                <a:solidFill>
                  <a:srgbClr val="404040"/>
                </a:solidFill>
                <a:latin typeface="Calibri" panose="020F0502020204030204" charset="0"/>
              </a:rPr>
              <a:t>Reads and writes</a:t>
            </a:r>
            <a:endParaRPr lang="zh-CN" altLang="en-US">
              <a:solidFill>
                <a:srgbClr val="404040"/>
              </a:solidFill>
              <a:latin typeface="Calibri" panose="020F0502020204030204" charset="0"/>
            </a:endParaRPr>
          </a:p>
        </p:txBody>
      </p:sp>
      <p:sp>
        <p:nvSpPr>
          <p:cNvPr id="22" name="文本框 21"/>
          <p:cNvSpPr txBox="1"/>
          <p:nvPr/>
        </p:nvSpPr>
        <p:spPr>
          <a:xfrm>
            <a:off x="1206500" y="5397500"/>
            <a:ext cx="9779000" cy="373380"/>
          </a:xfrm>
          <a:prstGeom prst="rect">
            <a:avLst/>
          </a:prstGeom>
          <a:noFill/>
        </p:spPr>
        <p:txBody>
          <a:bodyPr vert="horz" wrap="square" lIns="50800" tIns="25400" rIns="50800" bIns="25400" rtlCol="0">
            <a:spAutoFit/>
          </a:bodyPr>
          <a:lstStyle/>
          <a:p>
            <a:pPr algn="ctr"/>
            <a:r>
              <a:rPr lang="en-US" altLang="zh-CN" sz="2100" b="1">
                <a:solidFill>
                  <a:srgbClr val="970019"/>
                </a:solidFill>
                <a:latin typeface="Calibri" panose="020F0502020204030204" charset="0"/>
              </a:rPr>
              <a:t>Performance depends on how these operators use compute and memory.</a:t>
            </a:r>
            <a:endParaRPr lang="zh-CN" altLang="en-US" sz="2100" b="1">
              <a:solidFill>
                <a:srgbClr val="970019"/>
              </a:solidFill>
              <a:latin typeface="Calibri" panose="020F0502020204030204" charset="0"/>
            </a:endParaRPr>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Data Movement Often Limits Attention</a:t>
            </a:r>
            <a:endParaRPr lang="en-US" altLang="zh-CN"/>
          </a:p>
        </p:txBody>
      </p:sp>
      <p:sp>
        <p:nvSpPr>
          <p:cNvPr id="9" name="灯片编号占位符 4"/>
          <p:cNvSpPr txBox="1"/>
          <p:nvPr/>
        </p:nvSpPr>
        <p:spPr>
          <a:xfrm>
            <a:off x="83002" y="599757"/>
            <a:ext cx="6985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solidFill>
                  <a:srgbClr val="FFFFFF"/>
                </a:solidFill>
                <a:latin typeface="Arial" panose="020B0604020202020204" pitchFamily="34" charset="0"/>
              </a:rPr>
              <a:t>16</a:t>
            </a:r>
            <a:endParaRPr lang="zh-CN" altLang="en-US" dirty="0">
              <a:solidFill>
                <a:srgbClr val="FFFFFF"/>
              </a:solidFill>
              <a:latin typeface="Arial" panose="020B0604020202020204" pitchFamily="34" charset="0"/>
            </a:endParaRPr>
          </a:p>
        </p:txBody>
      </p:sp>
      <p:sp>
        <p:nvSpPr>
          <p:cNvPr id="10" name="文本框 9"/>
          <p:cNvSpPr txBox="1"/>
          <p:nvPr/>
        </p:nvSpPr>
        <p:spPr>
          <a:xfrm>
            <a:off x="698500" y="1714500"/>
            <a:ext cx="4953000" cy="1989455"/>
          </a:xfrm>
          <a:prstGeom prst="rect">
            <a:avLst/>
          </a:prstGeom>
          <a:noFill/>
        </p:spPr>
        <p:txBody>
          <a:bodyPr vert="horz" wrap="square" lIns="50800" tIns="25400" rIns="50800" bIns="25400" rtlCol="0">
            <a:spAutoFit/>
          </a:bodyPr>
          <a:lstStyle/>
          <a:p>
            <a:r>
              <a:rPr lang="en-US" altLang="zh-CN" sz="2100">
                <a:solidFill>
                  <a:srgbClr val="404040"/>
                </a:solidFill>
                <a:latin typeface="Calibri" panose="020F0502020204030204" charset="0"/>
              </a:rPr>
              <a:t>Q, K, and V are read from GPU memory.</a:t>
            </a:r>
            <a:endParaRPr lang="en-US" altLang="zh-CN" sz="2100">
              <a:solidFill>
                <a:srgbClr val="404040"/>
              </a:solidFill>
              <a:latin typeface="Calibri" panose="020F0502020204030204" charset="0"/>
            </a:endParaRPr>
          </a:p>
          <a:p>
            <a:endParaRPr lang="en-US" altLang="zh-CN" sz="2100">
              <a:solidFill>
                <a:srgbClr val="404040"/>
              </a:solidFill>
              <a:latin typeface="Calibri" panose="020F0502020204030204" charset="0"/>
            </a:endParaRPr>
          </a:p>
          <a:p>
            <a:r>
              <a:rPr lang="en-US" altLang="zh-CN" sz="2100">
                <a:solidFill>
                  <a:srgbClr val="404040"/>
                </a:solidFill>
                <a:latin typeface="Calibri" panose="020F0502020204030204" charset="0"/>
              </a:rPr>
              <a:t>Large intermediates are written out and read back.</a:t>
            </a:r>
            <a:endParaRPr lang="en-US" altLang="zh-CN" sz="2100">
              <a:solidFill>
                <a:srgbClr val="404040"/>
              </a:solidFill>
              <a:latin typeface="Calibri" panose="020F0502020204030204" charset="0"/>
            </a:endParaRPr>
          </a:p>
          <a:p>
            <a:endParaRPr lang="en-US" altLang="zh-CN" sz="2100">
              <a:solidFill>
                <a:srgbClr val="404040"/>
              </a:solidFill>
              <a:latin typeface="Calibri" panose="020F0502020204030204" charset="0"/>
            </a:endParaRPr>
          </a:p>
          <a:p>
            <a:r>
              <a:rPr lang="en-US" altLang="zh-CN" sz="2100">
                <a:solidFill>
                  <a:srgbClr val="404040"/>
                </a:solidFill>
                <a:latin typeface="Calibri" panose="020F0502020204030204" charset="0"/>
              </a:rPr>
              <a:t>Moving bytes can dominate runtime.</a:t>
            </a:r>
            <a:endParaRPr lang="zh-CN" altLang="en-US" sz="2100">
              <a:solidFill>
                <a:srgbClr val="404040"/>
              </a:solidFill>
              <a:latin typeface="Calibri" panose="020F0502020204030204" charset="0"/>
            </a:endParaRPr>
          </a:p>
        </p:txBody>
      </p:sp>
      <p:sp>
        <p:nvSpPr>
          <p:cNvPr id="11" name="矩形: 圆角 10"/>
          <p:cNvSpPr/>
          <p:nvPr/>
        </p:nvSpPr>
        <p:spPr>
          <a:xfrm>
            <a:off x="6858000" y="1841500"/>
            <a:ext cx="3810000" cy="1117600"/>
          </a:xfrm>
          <a:prstGeom prst="roundRect">
            <a:avLst/>
          </a:prstGeom>
          <a:solidFill>
            <a:srgbClr val="E0EFF7"/>
          </a:solidFill>
          <a:ln w="12700">
            <a:solidFill>
              <a:srgbClr val="B1B9BF"/>
            </a:solidFill>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50800" rtlCol="0" anchor="ctr"/>
          <a:lstStyle/>
          <a:p>
            <a:pPr algn="ctr"/>
            <a:r>
              <a:rPr lang="en-US" altLang="zh-CN" sz="2500">
                <a:solidFill>
                  <a:srgbClr val="404040"/>
                </a:solidFill>
                <a:latin typeface="Calibri" panose="020F0502020204030204" charset="0"/>
              </a:rPr>
              <a:t>HBM</a:t>
            </a:r>
            <a:endParaRPr lang="zh-CN" altLang="en-US" sz="2500">
              <a:solidFill>
                <a:srgbClr val="404040"/>
              </a:solidFill>
              <a:latin typeface="Calibri" panose="020F0502020204030204" charset="0"/>
            </a:endParaRPr>
          </a:p>
        </p:txBody>
      </p:sp>
      <p:cxnSp>
        <p:nvCxnSpPr>
          <p:cNvPr id="12" name="直接连接符 11"/>
          <p:cNvCxnSpPr/>
          <p:nvPr/>
        </p:nvCxnSpPr>
        <p:spPr>
          <a:xfrm>
            <a:off x="8763000" y="2959100"/>
            <a:ext cx="0" cy="660400"/>
          </a:xfrm>
          <a:prstGeom prst="line">
            <a:avLst/>
          </a:prstGeom>
          <a:ln w="25400">
            <a:solidFill>
              <a:srgbClr val="970019"/>
            </a:solidFill>
            <a:tailEnd type="arrow"/>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9017000" y="3073400"/>
            <a:ext cx="1778000" cy="296545"/>
          </a:xfrm>
          <a:prstGeom prst="rect">
            <a:avLst/>
          </a:prstGeom>
          <a:noFill/>
        </p:spPr>
        <p:txBody>
          <a:bodyPr vert="horz" wrap="square" lIns="50800" tIns="25400" rIns="50800" bIns="25400" rtlCol="0">
            <a:spAutoFit/>
          </a:bodyPr>
          <a:lstStyle/>
          <a:p>
            <a:r>
              <a:rPr lang="en-US" altLang="zh-CN" sz="1600">
                <a:solidFill>
                  <a:srgbClr val="404040"/>
                </a:solidFill>
                <a:latin typeface="Calibri" panose="020F0502020204030204" charset="0"/>
              </a:rPr>
              <a:t>read / write</a:t>
            </a:r>
            <a:endParaRPr lang="zh-CN" altLang="en-US" sz="1600">
              <a:solidFill>
                <a:srgbClr val="404040"/>
              </a:solidFill>
              <a:latin typeface="Calibri" panose="020F0502020204030204" charset="0"/>
            </a:endParaRPr>
          </a:p>
        </p:txBody>
      </p:sp>
      <p:sp>
        <p:nvSpPr>
          <p:cNvPr id="14" name="矩形: 圆角 13"/>
          <p:cNvSpPr/>
          <p:nvPr/>
        </p:nvSpPr>
        <p:spPr>
          <a:xfrm>
            <a:off x="7302500" y="3619500"/>
            <a:ext cx="2921000" cy="1016000"/>
          </a:xfrm>
          <a:prstGeom prst="roundRect">
            <a:avLst/>
          </a:prstGeom>
          <a:solidFill>
            <a:srgbClr val="F7E5E9"/>
          </a:solidFill>
          <a:ln w="12700">
            <a:solidFill>
              <a:srgbClr val="B1B9BF"/>
            </a:solidFill>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50800" rtlCol="0" anchor="ctr"/>
          <a:lstStyle/>
          <a:p>
            <a:pPr algn="ctr"/>
            <a:r>
              <a:rPr lang="en-US" altLang="zh-CN" sz="2200">
                <a:solidFill>
                  <a:srgbClr val="404040"/>
                </a:solidFill>
                <a:latin typeface="Calibri" panose="020F0502020204030204" charset="0"/>
              </a:rPr>
              <a:t>On-chip SRAM</a:t>
            </a:r>
            <a:endParaRPr lang="zh-CN" altLang="en-US" sz="2200">
              <a:solidFill>
                <a:srgbClr val="404040"/>
              </a:solidFill>
              <a:latin typeface="Calibri" panose="020F0502020204030204" charset="0"/>
            </a:endParaRPr>
          </a:p>
        </p:txBody>
      </p:sp>
      <p:cxnSp>
        <p:nvCxnSpPr>
          <p:cNvPr id="15" name="直接连接符 14"/>
          <p:cNvCxnSpPr/>
          <p:nvPr/>
        </p:nvCxnSpPr>
        <p:spPr>
          <a:xfrm>
            <a:off x="8763000" y="4635500"/>
            <a:ext cx="0" cy="635000"/>
          </a:xfrm>
          <a:prstGeom prst="line">
            <a:avLst/>
          </a:prstGeom>
          <a:ln w="25400">
            <a:solidFill>
              <a:srgbClr val="970019"/>
            </a:solidFill>
            <a:tailEnd type="arrow"/>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017000" y="4724400"/>
            <a:ext cx="1524000" cy="296545"/>
          </a:xfrm>
          <a:prstGeom prst="rect">
            <a:avLst/>
          </a:prstGeom>
          <a:noFill/>
        </p:spPr>
        <p:txBody>
          <a:bodyPr vert="horz" wrap="square" lIns="50800" tIns="25400" rIns="50800" bIns="25400" rtlCol="0">
            <a:spAutoFit/>
          </a:bodyPr>
          <a:lstStyle/>
          <a:p>
            <a:r>
              <a:rPr lang="en-US" altLang="zh-CN" sz="1600">
                <a:solidFill>
                  <a:srgbClr val="404040"/>
                </a:solidFill>
                <a:latin typeface="Calibri" panose="020F0502020204030204" charset="0"/>
              </a:rPr>
              <a:t>reuse</a:t>
            </a:r>
            <a:endParaRPr lang="zh-CN" altLang="en-US" sz="1600">
              <a:solidFill>
                <a:srgbClr val="404040"/>
              </a:solidFill>
              <a:latin typeface="Calibri" panose="020F0502020204030204" charset="0"/>
            </a:endParaRPr>
          </a:p>
        </p:txBody>
      </p:sp>
      <p:sp>
        <p:nvSpPr>
          <p:cNvPr id="17" name="矩形: 圆角 16"/>
          <p:cNvSpPr/>
          <p:nvPr/>
        </p:nvSpPr>
        <p:spPr>
          <a:xfrm>
            <a:off x="7620000" y="5270500"/>
            <a:ext cx="2286000" cy="825500"/>
          </a:xfrm>
          <a:prstGeom prst="roundRect">
            <a:avLst/>
          </a:prstGeom>
          <a:solidFill>
            <a:srgbClr val="E0EFF7"/>
          </a:solidFill>
          <a:ln w="12700">
            <a:solidFill>
              <a:srgbClr val="B1B9BF"/>
            </a:solidFill>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50800" rtlCol="0" anchor="ctr"/>
          <a:lstStyle/>
          <a:p>
            <a:pPr algn="ctr"/>
            <a:r>
              <a:rPr lang="en-US" altLang="zh-CN" sz="2000">
                <a:solidFill>
                  <a:srgbClr val="404040"/>
                </a:solidFill>
                <a:latin typeface="Calibri" panose="020F0502020204030204" charset="0"/>
              </a:rPr>
              <a:t>Tensor Cores</a:t>
            </a:r>
            <a:endParaRPr lang="zh-CN" altLang="en-US" sz="2000">
              <a:solidFill>
                <a:srgbClr val="404040"/>
              </a:solidFill>
              <a:latin typeface="Calibri" panose="020F0502020204030204" charset="0"/>
            </a:endParaRPr>
          </a:p>
        </p:txBody>
      </p:sp>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Complexity of Attention (1/2)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In transformer self-attention, we compute attention scores between all pairs of tokens:</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Query Q is an (</a:t>
            </a:r>
            <a:r>
              <a:rPr lang="en-US" sz="20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n,d</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matrix (for n tokens, each with dimension d).</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Key K is an (</a:t>
            </a:r>
            <a:r>
              <a:rPr lang="en-US" sz="20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n,d</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matrix.</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We form an n x n attention score matrix QK^T.</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We then multiply by Value V, which is (</a:t>
            </a:r>
            <a:r>
              <a:rPr lang="en-US" sz="20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n,d</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matrix.</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This requires on the order of n² d operations</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As n grows, the quadratic term dominates.</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896535" y="2545541"/>
            <a:ext cx="4672012" cy="3015760"/>
          </a:xfrm>
          <a:prstGeom prst="rect">
            <a:avLst/>
          </a:prstGeom>
          <a:ln w="12700">
            <a:noFill/>
            <a:prstDash val="solid"/>
          </a:ln>
        </p:spPr>
      </p:pic>
      <p:sp>
        <p:nvSpPr>
          <p:cNvPr id="8"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Complexity of Attention (2/2)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1"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1" i="0" u="none" strike="noStrike" dirty="0">
                <a:solidFill>
                  <a:srgbClr val="404040"/>
                </a:solidFill>
                <a:latin typeface="Calibri" panose="020F0502020204030204"/>
                <a:ea typeface="Calibri" panose="020F0502020204030204"/>
                <a:cs typeface="Calibri" panose="020F0502020204030204"/>
                <a:sym typeface="Calibri" panose="020F0502020204030204"/>
              </a:rPr>
              <a:t>1. Compute Attention Scores</a:t>
            </a:r>
            <a:endParaRPr lang="en-US" sz="2400" b="1"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1" u="none" strike="noStrike" dirty="0">
                <a:solidFill>
                  <a:srgbClr val="404040"/>
                </a:solidFill>
                <a:latin typeface="Calibri" panose="020F0502020204030204"/>
                <a:ea typeface="Calibri" panose="020F0502020204030204"/>
                <a:cs typeface="Calibri" panose="020F0502020204030204"/>
                <a:sym typeface="Calibri" panose="020F0502020204030204"/>
              </a:rPr>
              <a:t>QK^T⇒ (</a:t>
            </a:r>
            <a:r>
              <a:rPr lang="en-US" sz="2000" b="0" i="1" u="none" strike="noStrike" dirty="0" err="1">
                <a:solidFill>
                  <a:srgbClr val="404040"/>
                </a:solidFill>
                <a:latin typeface="Calibri" panose="020F0502020204030204"/>
                <a:ea typeface="Calibri" panose="020F0502020204030204"/>
                <a:cs typeface="Calibri" panose="020F0502020204030204"/>
                <a:sym typeface="Calibri" panose="020F0502020204030204"/>
              </a:rPr>
              <a:t>n,d</a:t>
            </a:r>
            <a:r>
              <a:rPr lang="en-US" sz="2000" b="0" i="1"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000" b="0" i="1" u="none" strike="noStrike"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US" sz="2000" b="0" i="1"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000" b="0" i="1" u="none" strike="noStrike" dirty="0" err="1">
                <a:solidFill>
                  <a:srgbClr val="404040"/>
                </a:solidFill>
                <a:latin typeface="Calibri" panose="020F0502020204030204"/>
                <a:ea typeface="Calibri" panose="020F0502020204030204"/>
                <a:cs typeface="Calibri" panose="020F0502020204030204"/>
                <a:sym typeface="Calibri" panose="020F0502020204030204"/>
              </a:rPr>
              <a:t>d,n</a:t>
            </a:r>
            <a:r>
              <a:rPr lang="en-US" sz="2000" b="0" i="1" u="none" strike="noStrike" dirty="0">
                <a:solidFill>
                  <a:srgbClr val="404040"/>
                </a:solidFill>
                <a:latin typeface="Calibri" panose="020F0502020204030204"/>
                <a:ea typeface="Calibri" panose="020F0502020204030204"/>
                <a:cs typeface="Calibri" panose="020F0502020204030204"/>
                <a:sym typeface="Calibri" panose="020F0502020204030204"/>
              </a:rPr>
              <a:t>) = </a:t>
            </a:r>
            <a:r>
              <a:rPr lang="en-US" sz="2000" b="1" i="1" u="none" strike="noStrike" dirty="0">
                <a:solidFill>
                  <a:srgbClr val="404040"/>
                </a:solidFill>
                <a:latin typeface="Calibri" panose="020F0502020204030204"/>
                <a:ea typeface="Calibri" panose="020F0502020204030204"/>
                <a:cs typeface="Calibri" panose="020F0502020204030204"/>
                <a:sym typeface="Calibri" panose="020F0502020204030204"/>
              </a:rPr>
              <a:t>(</a:t>
            </a:r>
            <a:r>
              <a:rPr lang="en-US" sz="2000" b="1" i="1" u="none" strike="noStrike" dirty="0" err="1">
                <a:solidFill>
                  <a:srgbClr val="404040"/>
                </a:solidFill>
                <a:latin typeface="Calibri" panose="020F0502020204030204"/>
                <a:ea typeface="Calibri" panose="020F0502020204030204"/>
                <a:cs typeface="Calibri" panose="020F0502020204030204"/>
                <a:sym typeface="Calibri" panose="020F0502020204030204"/>
              </a:rPr>
              <a:t>n,n</a:t>
            </a:r>
            <a:r>
              <a:rPr lang="en-US" sz="2000" b="1" i="1" u="none" strike="noStrike" dirty="0">
                <a:solidFill>
                  <a:srgbClr val="404040"/>
                </a:solidFill>
                <a:latin typeface="Calibri" panose="020F0502020204030204"/>
                <a:ea typeface="Calibri" panose="020F0502020204030204"/>
                <a:cs typeface="Calibri" panose="020F0502020204030204"/>
                <a:sym typeface="Calibri" panose="020F0502020204030204"/>
              </a:rPr>
              <a:t>)</a:t>
            </a:r>
            <a:endParaRPr lang="en-US" sz="2000" b="1" i="1"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The cost: about </a:t>
            </a:r>
            <a:r>
              <a:rPr lang="en-US" sz="2000" b="0" i="1" u="none" strike="noStrike" dirty="0">
                <a:solidFill>
                  <a:srgbClr val="404040"/>
                </a:solidFill>
                <a:latin typeface="Calibri" panose="020F0502020204030204"/>
                <a:ea typeface="Calibri" panose="020F0502020204030204"/>
                <a:cs typeface="Calibri" panose="020F0502020204030204"/>
                <a:sym typeface="Calibri" panose="020F0502020204030204"/>
              </a:rPr>
              <a:t>O(</a:t>
            </a:r>
            <a:r>
              <a:rPr lang="en-US" sz="2000" b="0" i="1" u="none" strike="noStrike" dirty="0" err="1">
                <a:solidFill>
                  <a:srgbClr val="404040"/>
                </a:solidFill>
                <a:latin typeface="Calibri" panose="020F0502020204030204"/>
                <a:ea typeface="Calibri" panose="020F0502020204030204"/>
                <a:cs typeface="Calibri" panose="020F0502020204030204"/>
                <a:sym typeface="Calibri" panose="020F0502020204030204"/>
              </a:rPr>
              <a:t>n⋅d⋅n</a:t>
            </a:r>
            <a:r>
              <a:rPr lang="en-US" sz="2000" b="0" i="1" u="none" strike="noStrike" dirty="0">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 </a:t>
            </a:r>
            <a:r>
              <a:rPr lang="en-US" sz="2000" b="1" i="0" u="none" strike="noStrike" dirty="0">
                <a:solidFill>
                  <a:srgbClr val="404040"/>
                </a:solidFill>
                <a:latin typeface="Calibri" panose="020F0502020204030204"/>
                <a:ea typeface="Calibri" panose="020F0502020204030204"/>
                <a:cs typeface="Calibri" panose="020F0502020204030204"/>
                <a:sym typeface="Calibri" panose="020F0502020204030204"/>
              </a:rPr>
              <a:t>O(n² d)</a:t>
            </a:r>
            <a:endParaRPr lang="en-US" sz="2000" b="1"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This yields a </a:t>
            </a:r>
            <a:r>
              <a:rPr lang="en-US" sz="2000" b="1" i="1" u="none" strike="noStrike" dirty="0">
                <a:solidFill>
                  <a:srgbClr val="404040"/>
                </a:solidFill>
                <a:latin typeface="Calibri" panose="020F0502020204030204"/>
                <a:ea typeface="Calibri" panose="020F0502020204030204"/>
                <a:cs typeface="Calibri" panose="020F0502020204030204"/>
                <a:sym typeface="Calibri" panose="020F0502020204030204"/>
              </a:rPr>
              <a:t>score matrix </a:t>
            </a:r>
            <a:r>
              <a:rPr lang="en-US" sz="2000" b="0" i="1" u="none" strike="noStrike" dirty="0">
                <a:solidFill>
                  <a:srgbClr val="404040"/>
                </a:solidFill>
                <a:latin typeface="Calibri" panose="020F0502020204030204"/>
                <a:ea typeface="Calibri" panose="020F0502020204030204"/>
                <a:cs typeface="Calibri" panose="020F0502020204030204"/>
                <a:sym typeface="Calibri" panose="020F0502020204030204"/>
              </a:rPr>
              <a:t>(</a:t>
            </a:r>
            <a:r>
              <a:rPr lang="en-US" sz="2000" b="0" i="1" u="none" strike="noStrike" dirty="0" err="1">
                <a:solidFill>
                  <a:srgbClr val="404040"/>
                </a:solidFill>
                <a:latin typeface="Calibri" panose="020F0502020204030204"/>
                <a:ea typeface="Calibri" panose="020F0502020204030204"/>
                <a:cs typeface="Calibri" panose="020F0502020204030204"/>
                <a:sym typeface="Calibri" panose="020F0502020204030204"/>
              </a:rPr>
              <a:t>n,n</a:t>
            </a:r>
            <a:r>
              <a:rPr lang="en-US" sz="2000" b="0" i="1" u="none" strike="noStrike" dirty="0">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(basically all pairs of tokens).</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dirty="0">
                <a:solidFill>
                  <a:srgbClr val="404040"/>
                </a:solidFill>
                <a:latin typeface="Calibri" panose="020F0502020204030204"/>
                <a:ea typeface="Calibri" panose="020F0502020204030204"/>
                <a:cs typeface="Calibri" panose="020F0502020204030204"/>
                <a:sym typeface="Calibri" panose="020F0502020204030204"/>
              </a:rPr>
              <a:t>2. Multiply by Values, V</a:t>
            </a:r>
            <a:endParaRPr lang="en-US" sz="2400" b="1"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1" i="1" u="none" strike="noStrike" dirty="0">
                <a:solidFill>
                  <a:srgbClr val="404040"/>
                </a:solidFill>
                <a:latin typeface="Calibri" panose="020F0502020204030204"/>
                <a:ea typeface="Calibri" panose="020F0502020204030204"/>
                <a:cs typeface="Calibri" panose="020F0502020204030204"/>
                <a:sym typeface="Calibri" panose="020F0502020204030204"/>
              </a:rPr>
              <a:t>score matrix</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000" b="0" i="1" u="none" strike="noStrike" dirty="0">
                <a:solidFill>
                  <a:srgbClr val="404040"/>
                </a:solidFill>
                <a:latin typeface="Calibri" panose="020F0502020204030204"/>
                <a:ea typeface="Calibri" panose="020F0502020204030204"/>
                <a:cs typeface="Calibri" panose="020F0502020204030204"/>
                <a:sym typeface="Calibri" panose="020F0502020204030204"/>
              </a:rPr>
              <a:t>(</a:t>
            </a:r>
            <a:r>
              <a:rPr lang="en-US" sz="2000" b="0" i="1" u="none" strike="noStrike" dirty="0" err="1">
                <a:solidFill>
                  <a:srgbClr val="404040"/>
                </a:solidFill>
                <a:latin typeface="Calibri" panose="020F0502020204030204"/>
                <a:ea typeface="Calibri" panose="020F0502020204030204"/>
                <a:cs typeface="Calibri" panose="020F0502020204030204"/>
                <a:sym typeface="Calibri" panose="020F0502020204030204"/>
              </a:rPr>
              <a:t>n,n</a:t>
            </a:r>
            <a:r>
              <a:rPr lang="en-US" sz="2000" b="0" i="1"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000" b="0" i="1" u="none" strike="noStrike"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US" sz="2000" b="0" i="1"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000" b="1" i="1" u="none" strike="noStrike" dirty="0">
                <a:solidFill>
                  <a:srgbClr val="404040"/>
                </a:solidFill>
                <a:latin typeface="Calibri" panose="020F0502020204030204"/>
                <a:ea typeface="Calibri" panose="020F0502020204030204"/>
                <a:cs typeface="Calibri" panose="020F0502020204030204"/>
                <a:sym typeface="Calibri" panose="020F0502020204030204"/>
              </a:rPr>
              <a:t>V</a:t>
            </a:r>
            <a:r>
              <a:rPr lang="en-US" sz="2000" b="0" i="1" u="none" strike="noStrike" dirty="0">
                <a:solidFill>
                  <a:srgbClr val="404040"/>
                </a:solidFill>
                <a:latin typeface="Calibri" panose="020F0502020204030204"/>
                <a:ea typeface="Calibri" panose="020F0502020204030204"/>
                <a:cs typeface="Calibri" panose="020F0502020204030204"/>
                <a:sym typeface="Calibri" panose="020F0502020204030204"/>
              </a:rPr>
              <a:t> (n, d) = </a:t>
            </a:r>
            <a:r>
              <a:rPr lang="en-US" sz="2000" b="1" i="1" u="none" strike="noStrike" dirty="0">
                <a:solidFill>
                  <a:srgbClr val="404040"/>
                </a:solidFill>
                <a:latin typeface="Calibri" panose="020F0502020204030204"/>
                <a:ea typeface="Calibri" panose="020F0502020204030204"/>
                <a:cs typeface="Calibri" panose="020F0502020204030204"/>
                <a:sym typeface="Calibri" panose="020F0502020204030204"/>
              </a:rPr>
              <a:t>(n, d)</a:t>
            </a:r>
            <a:endParaRPr lang="en-US" sz="2000" b="1" i="1"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The cost again: </a:t>
            </a:r>
            <a:r>
              <a:rPr lang="en-US" sz="2000" b="0" i="1" u="none" strike="noStrike" dirty="0">
                <a:solidFill>
                  <a:srgbClr val="404040"/>
                </a:solidFill>
                <a:latin typeface="Calibri" panose="020F0502020204030204"/>
                <a:ea typeface="Calibri" panose="020F0502020204030204"/>
                <a:cs typeface="Calibri" panose="020F0502020204030204"/>
                <a:sym typeface="Calibri" panose="020F0502020204030204"/>
              </a:rPr>
              <a:t>O(</a:t>
            </a:r>
            <a:r>
              <a:rPr lang="en-US" sz="2000" b="0" i="1" u="none" strike="noStrike" dirty="0" err="1">
                <a:solidFill>
                  <a:srgbClr val="404040"/>
                </a:solidFill>
                <a:latin typeface="Calibri" panose="020F0502020204030204"/>
                <a:ea typeface="Calibri" panose="020F0502020204030204"/>
                <a:cs typeface="Calibri" panose="020F0502020204030204"/>
                <a:sym typeface="Calibri" panose="020F0502020204030204"/>
              </a:rPr>
              <a:t>n⋅n⋅d</a:t>
            </a:r>
            <a:r>
              <a:rPr lang="en-US" sz="2000" b="0" i="1" u="none" strike="noStrike" dirty="0">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000" b="1" i="1" u="none" strike="noStrike" dirty="0">
                <a:solidFill>
                  <a:srgbClr val="404040"/>
                </a:solidFill>
                <a:latin typeface="Calibri" panose="020F0502020204030204"/>
                <a:ea typeface="Calibri" panose="020F0502020204030204"/>
                <a:cs typeface="Calibri" panose="020F0502020204030204"/>
                <a:sym typeface="Calibri" panose="020F0502020204030204"/>
              </a:rPr>
              <a:t>O(n² d)</a:t>
            </a:r>
            <a:endParaRPr lang="en-US" sz="2000" b="1" i="1"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Hence </a:t>
            </a:r>
            <a:r>
              <a:rPr lang="en-US" sz="2000" b="1" i="0" u="none" strike="noStrike" dirty="0">
                <a:solidFill>
                  <a:srgbClr val="404040"/>
                </a:solidFill>
                <a:latin typeface="Calibri" panose="020F0502020204030204"/>
                <a:ea typeface="Calibri" panose="020F0502020204030204"/>
                <a:cs typeface="Calibri" panose="020F0502020204030204"/>
                <a:sym typeface="Calibri" panose="020F0502020204030204"/>
              </a:rPr>
              <a:t>each forward pass</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of a single-head attention block is about </a:t>
            </a:r>
            <a:r>
              <a:rPr lang="en-US" sz="2000" b="1" i="1" u="none" strike="noStrike" dirty="0">
                <a:solidFill>
                  <a:srgbClr val="404040"/>
                </a:solidFill>
                <a:latin typeface="Calibri" panose="020F0502020204030204"/>
                <a:ea typeface="Calibri" panose="020F0502020204030204"/>
                <a:cs typeface="Calibri" panose="020F0502020204030204"/>
                <a:sym typeface="Calibri" panose="020F0502020204030204"/>
              </a:rPr>
              <a:t>O(n² d)</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If it’s </a:t>
            </a:r>
            <a:r>
              <a:rPr lang="en-US" sz="2400" b="1" i="0" u="none" strike="noStrike" dirty="0">
                <a:solidFill>
                  <a:srgbClr val="404040"/>
                </a:solidFill>
                <a:latin typeface="Calibri" panose="020F0502020204030204"/>
                <a:ea typeface="Calibri" panose="020F0502020204030204"/>
                <a:cs typeface="Calibri" panose="020F0502020204030204"/>
                <a:sym typeface="Calibri" panose="020F0502020204030204"/>
              </a:rPr>
              <a:t>multi-head</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with </a:t>
            </a:r>
            <a:r>
              <a:rPr lang="en-US" sz="2400" b="1" i="1" u="none" strike="noStrike" dirty="0">
                <a:solidFill>
                  <a:srgbClr val="404040"/>
                </a:solidFill>
                <a:latin typeface="Calibri" panose="020F0502020204030204"/>
                <a:ea typeface="Calibri" panose="020F0502020204030204"/>
                <a:cs typeface="Calibri" panose="020F0502020204030204"/>
                <a:sym typeface="Calibri" panose="020F0502020204030204"/>
              </a:rPr>
              <a:t>h</a:t>
            </a:r>
            <a:r>
              <a:rPr lang="en-US" sz="2400" b="1" i="0" u="none" strike="noStrike" dirty="0">
                <a:solidFill>
                  <a:srgbClr val="404040"/>
                </a:solidFill>
                <a:latin typeface="Calibri" panose="020F0502020204030204"/>
                <a:ea typeface="Calibri" panose="020F0502020204030204"/>
                <a:cs typeface="Calibri" panose="020F0502020204030204"/>
                <a:sym typeface="Calibri" panose="020F0502020204030204"/>
              </a:rPr>
              <a:t> heads</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each head uses dimension </a:t>
            </a:r>
            <a:r>
              <a:rPr lang="en-US" sz="2400" b="1" i="1" u="none" strike="noStrike" dirty="0">
                <a:solidFill>
                  <a:srgbClr val="404040"/>
                </a:solidFill>
                <a:latin typeface="Calibri" panose="020F0502020204030204"/>
                <a:ea typeface="Calibri" panose="020F0502020204030204"/>
                <a:cs typeface="Calibri" panose="020F0502020204030204"/>
                <a:sym typeface="Calibri" panose="020F0502020204030204"/>
              </a:rPr>
              <a:t>d/h</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but we do it </a:t>
            </a:r>
            <a:r>
              <a:rPr lang="en-US" sz="2400" b="1" i="1" u="none" strike="noStrike" dirty="0">
                <a:solidFill>
                  <a:srgbClr val="404040"/>
                </a:solidFill>
                <a:latin typeface="Calibri" panose="020F0502020204030204"/>
                <a:ea typeface="Calibri" panose="020F0502020204030204"/>
                <a:cs typeface="Calibri" panose="020F0502020204030204"/>
                <a:sym typeface="Calibri" panose="020F0502020204030204"/>
              </a:rPr>
              <a:t>h</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times. Summed together, it’s again </a:t>
            </a:r>
            <a:r>
              <a:rPr lang="en-US" sz="2400" b="0" i="1" u="none" strike="noStrike" dirty="0">
                <a:solidFill>
                  <a:srgbClr val="404040"/>
                </a:solidFill>
                <a:latin typeface="Calibri" panose="020F0502020204030204"/>
                <a:ea typeface="Calibri" panose="020F0502020204030204"/>
                <a:cs typeface="Calibri" panose="020F0502020204030204"/>
                <a:sym typeface="Calibri" panose="020F0502020204030204"/>
              </a:rPr>
              <a:t>O(n² d)</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Memory Wall Problem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7395356"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Attention is expensive</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Self‑attention’s flexibility comes at a steep cost: its complexity grows quadratically with the length of the input sequence.</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Where transformers hit the wall</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KV Cache Explosion</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The Bandwidth Bottleneck</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Attention is all you need until you need memory</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buNone/>
            </a:pP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919230" y="1132840"/>
            <a:ext cx="4048553" cy="220980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586610" y="3429000"/>
            <a:ext cx="4381173" cy="2975776"/>
          </a:xfrm>
          <a:prstGeom prst="rect">
            <a:avLst/>
          </a:prstGeom>
          <a:ln w="12700">
            <a:noFill/>
            <a:prstDash val="solid"/>
          </a:ln>
        </p:spPr>
      </p:pic>
      <p:sp>
        <p:nvSpPr>
          <p:cNvPr id="9"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02064" y="1701651"/>
            <a:ext cx="5629366" cy="2511563"/>
          </a:xfrm>
          <a:prstGeom prst="rect">
            <a:avLst/>
          </a:prstGeom>
          <a:ln w="12700">
            <a:noFill/>
            <a:prstDash val="solid"/>
          </a:ln>
        </p:spPr>
      </p:pic>
      <p:sp>
        <p:nvSpPr>
          <p:cNvPr id="3" name="AutoShape 3"/>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Data Flow Diagram of Standard Attention (1/2)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Step 1: Computing the Attention Scores (S = QK^T / √d)</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Step 2: Applying </a:t>
            </a:r>
            <a:r>
              <a:rPr lang="en-US" sz="2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Softmax</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(P = </a:t>
            </a:r>
            <a:r>
              <a:rPr lang="en-US" sz="24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softmax</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(S))</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2"/>
          <a:srcRect/>
          <a:stretch>
            <a:fillRect/>
          </a:stretch>
        </p:blipFill>
        <p:spPr>
          <a:xfrm>
            <a:off x="880291" y="4491785"/>
            <a:ext cx="5026303" cy="1582677"/>
          </a:xfrm>
          <a:prstGeom prst="rect">
            <a:avLst/>
          </a:prstGeom>
          <a:ln w="12700">
            <a:noFill/>
            <a:prstDash val="solid"/>
          </a:ln>
        </p:spPr>
      </p:pic>
      <p:sp>
        <p:nvSpPr>
          <p:cNvPr id="8" name="AutoShape 8"/>
          <p:cNvSpPr/>
          <p:nvPr/>
        </p:nvSpPr>
        <p:spPr>
          <a:xfrm>
            <a:off x="7853595" y="2279050"/>
            <a:ext cx="2710999" cy="646331"/>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dirty="0">
                <a:solidFill>
                  <a:srgbClr val="BFBFBF"/>
                </a:solidFill>
                <a:latin typeface="Arial" panose="020B0604020202020204"/>
                <a:ea typeface="Arial" panose="020B0604020202020204"/>
                <a:cs typeface="Arial" panose="020B0604020202020204"/>
                <a:sym typeface="Arial" panose="020B0604020202020204"/>
              </a:rPr>
              <a:t>For example:</a:t>
            </a:r>
            <a:endParaRPr lang="en-US" sz="1100" dirty="0"/>
          </a:p>
          <a:p>
            <a:pPr indent="0" algn="l">
              <a:lnSpc>
                <a:spcPct val="100000"/>
              </a:lnSpc>
            </a:pPr>
            <a:r>
              <a:rPr lang="en-US" sz="1800" b="0" i="0" u="none" strike="noStrike" dirty="0">
                <a:solidFill>
                  <a:srgbClr val="BFBFBF"/>
                </a:solidFill>
                <a:latin typeface="Arial" panose="020B0604020202020204"/>
                <a:ea typeface="Arial" panose="020B0604020202020204"/>
                <a:cs typeface="Arial" panose="020B0604020202020204"/>
                <a:sym typeface="Arial" panose="020B0604020202020204"/>
              </a:rPr>
              <a:t>N = 4096, d = 128, FP16</a:t>
            </a:r>
            <a:endParaRPr lang="en-US" sz="1800" b="0" i="0" u="none" strike="noStrike" dirty="0">
              <a:solidFill>
                <a:srgbClr val="BFBFBF"/>
              </a:solidFill>
              <a:latin typeface="Arial" panose="020B0604020202020204"/>
              <a:ea typeface="Arial" panose="020B0604020202020204"/>
              <a:cs typeface="Arial" panose="020B0604020202020204"/>
              <a:sym typeface="Arial" panose="020B0604020202020204"/>
            </a:endParaRPr>
          </a:p>
        </p:txBody>
      </p:sp>
      <p:sp>
        <p:nvSpPr>
          <p:cNvPr id="10"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Data Flow Diagram of Standard Attention (2/2)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Step 3: Computing the Output (O = PV)</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Total HBM Traffic:</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pitchFamily="34" charset="-122"/>
              </a:defRPr>
            </a:lvl1pPr>
          </a:lstStyle>
          <a:p>
            <a:pPr algn="l"/>
          </a:p>
        </p:txBody>
      </p:sp>
      <p:pic>
        <p:nvPicPr>
          <p:cNvPr id="7" name="Picture 7"/>
          <p:cNvPicPr>
            <a:picLocks noChangeAspect="1"/>
          </p:cNvPicPr>
          <p:nvPr/>
        </p:nvPicPr>
        <p:blipFill>
          <a:blip r:embed="rId1"/>
          <a:srcRect/>
          <a:stretch>
            <a:fillRect/>
          </a:stretch>
        </p:blipFill>
        <p:spPr>
          <a:xfrm>
            <a:off x="1152958" y="1740131"/>
            <a:ext cx="5296333" cy="2362979"/>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996891" y="4644457"/>
            <a:ext cx="6429145" cy="1779134"/>
          </a:xfrm>
          <a:prstGeom prst="rect">
            <a:avLst/>
          </a:prstGeom>
          <a:ln w="12700">
            <a:noFill/>
            <a:prstDash val="solid"/>
          </a:ln>
        </p:spPr>
      </p:pic>
      <p:sp>
        <p:nvSpPr>
          <p:cNvPr id="9" name="AutoShape 9"/>
          <p:cNvSpPr/>
          <p:nvPr/>
        </p:nvSpPr>
        <p:spPr>
          <a:xfrm>
            <a:off x="7853595" y="2279050"/>
            <a:ext cx="2710999" cy="646331"/>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BFBFBF"/>
                </a:solidFill>
                <a:latin typeface="Arial" panose="020B0604020202020204"/>
                <a:ea typeface="Arial" panose="020B0604020202020204"/>
                <a:cs typeface="Arial" panose="020B0604020202020204"/>
                <a:sym typeface="Arial" panose="020B0604020202020204"/>
              </a:rPr>
              <a:t>For example:</a:t>
            </a:r>
            <a:endParaRPr lang="en-US" sz="1100"/>
          </a:p>
          <a:p>
            <a:pPr indent="0" algn="l">
              <a:lnSpc>
                <a:spcPct val="100000"/>
              </a:lnSpc>
            </a:pPr>
            <a:r>
              <a:rPr lang="en-US" sz="1800" b="0" i="0" u="none" strike="noStrike">
                <a:solidFill>
                  <a:srgbClr val="BFBFBF"/>
                </a:solidFill>
                <a:latin typeface="Arial" panose="020B0604020202020204"/>
                <a:ea typeface="Arial" panose="020B0604020202020204"/>
                <a:cs typeface="Arial" panose="020B0604020202020204"/>
                <a:sym typeface="Arial" panose="020B0604020202020204"/>
              </a:rPr>
              <a:t>N = 4096, d = 128, FP16</a:t>
            </a:r>
            <a:endParaRPr lang="en-US" sz="1800" b="0" i="0" u="none" strike="noStrike">
              <a:solidFill>
                <a:srgbClr val="BFBFBF"/>
              </a:solidFill>
              <a:latin typeface="Arial" panose="020B0604020202020204"/>
              <a:ea typeface="Arial" panose="020B0604020202020204"/>
              <a:cs typeface="Arial" panose="020B0604020202020204"/>
              <a:sym typeface="Arial" panose="020B0604020202020204"/>
            </a:endParaRPr>
          </a:p>
        </p:txBody>
      </p:sp>
      <p:sp>
        <p:nvSpPr>
          <p:cNvPr id="11"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"Memory Wall" of Standard Attention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Problem: Standard Attention complexity is O(</a:t>
            </a:r>
            <a:r>
              <a:rPr lang="en-US" sz="2400" b="0" i="1" u="none" strike="noStrike">
                <a:solidFill>
                  <a:srgbClr val="404040"/>
                </a:solidFill>
                <a:latin typeface="Calibri" panose="020F0502020204030204"/>
                <a:ea typeface="Calibri" panose="020F0502020204030204"/>
                <a:cs typeface="Calibri" panose="020F0502020204030204"/>
                <a:sym typeface="Calibri" panose="020F0502020204030204"/>
              </a:rPr>
              <a:t>n²</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Pain Points: Memory consumption scales quadratically with sequence length n, leading to frequent Out-of-Memory errors during long-context processing.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Crucial Question: Do we truly need to materialize and store that massive N x N attention matrix?</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3420687" y="3547539"/>
            <a:ext cx="5701146" cy="2976770"/>
          </a:xfrm>
          <a:prstGeom prst="rect">
            <a:avLst/>
          </a:prstGeom>
          <a:ln w="12700">
            <a:noFill/>
            <a:prstDash val="solid"/>
          </a:ln>
        </p:spPr>
      </p:pic>
      <p:sp>
        <p:nvSpPr>
          <p:cNvPr id="8"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GPU Memory Hierarchy Explained</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Speed Disparity: HBM vs. SRAM (10x Factor)</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For example: A100</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GPU Memory / HBM2e: 40/80 GB                1.5-2 TB/s</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L2 Cache: 40 MB                                               ~5 TB/s</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L1 Cache / Shared Memory: 192 KB/SM      19 TB/s</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73677" y="3092451"/>
            <a:ext cx="5953125" cy="3629025"/>
          </a:xfrm>
          <a:prstGeom prst="rect">
            <a:avLst/>
          </a:prstGeom>
          <a:ln w="12700">
            <a:noFill/>
            <a:prstDash val="solid"/>
          </a:ln>
        </p:spPr>
      </p:pic>
      <p:sp>
        <p:nvSpPr>
          <p:cNvPr id="8"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2451890" y="3867872"/>
            <a:ext cx="7288220" cy="2853604"/>
          </a:xfrm>
          <a:prstGeom prst="rect">
            <a:avLst/>
          </a:prstGeom>
          <a:ln w="12700">
            <a:noFill/>
            <a:prstDash val="solid"/>
          </a:ln>
        </p:spPr>
      </p:pic>
      <p:sp>
        <p:nvSpPr>
          <p:cNvPr id="3" name="AutoShape 3"/>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Core Idea of Flash Attention: Less movement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Less Movement, More Speed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Design Philosophy: Optimize Data Movement, Not Just Computation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Two Technical Pillars: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Tiling: Breaking down large tasks into smaller blocks that fit the SRAM capacity.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Recomputation: Instead of storing intermediate activation values during the forward pass, they are recalculated during the backward pass to save memory space.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8"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Tiling Concept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8120064"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Why Tiling?</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GPU SRAM (e.g., L1/Shared Memory in A100) is extremely fast but has very limited capacity (typically a few hundred KB).</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Traditional N x N matrices (e.g., when N=4096) far exceed SRAM capacity and must be partitioned into "tiles" that can fit into the cache.</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How it Works?</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Input matrices Q, K, and V are partitioned into blocks (tiles).Using nested loops, these blocks are loaded from HBM to SRAM piece by piece for local computation.</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Performance Gain: Partial dot-products and </a:t>
            </a:r>
            <a:r>
              <a:rPr lang="en-US" sz="20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Softmax</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accumulations are completed entirely within SRAM. This eliminates the need to write N x N intermediate results back to the slow HBM.</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836124" y="1144587"/>
            <a:ext cx="3224258" cy="3113712"/>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8789425" y="4403120"/>
            <a:ext cx="3317656" cy="1629021"/>
          </a:xfrm>
          <a:prstGeom prst="rect">
            <a:avLst/>
          </a:prstGeom>
          <a:ln w="12700">
            <a:noFill/>
            <a:prstDash val="solid"/>
          </a:ln>
        </p:spPr>
      </p:pic>
      <p:sp>
        <p:nvSpPr>
          <p:cNvPr id="9"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Dynamic Demo</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process of loading tiled blocks.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286000" y="1890713"/>
            <a:ext cx="7620000" cy="4286250"/>
          </a:xfrm>
          <a:prstGeom prst="rect">
            <a:avLst/>
          </a:prstGeom>
          <a:ln w="12700">
            <a:noFill/>
            <a:prstDash val="solid"/>
          </a:ln>
        </p:spPr>
      </p:pic>
      <p:sp>
        <p:nvSpPr>
          <p:cNvPr id="8"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Memory Access Comparison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Standard Attention vs. Flash Attention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759528" y="1842945"/>
            <a:ext cx="8672944" cy="4878531"/>
          </a:xfrm>
          <a:prstGeom prst="rect">
            <a:avLst/>
          </a:prstGeom>
          <a:ln w="12700">
            <a:noFill/>
            <a:prstDash val="solid"/>
          </a:ln>
        </p:spPr>
      </p:pic>
      <p:sp>
        <p:nvSpPr>
          <p:cNvPr id="8"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Kernel Fusion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Standard attention launch separate kernels</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Each launch clears the SRAM and writes results back to HBM, causing massive I/O waste.</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Flash attention fuse all logic into one highly optimized kernel</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SRAM-Centric Execution: Perform tiled loading, dot-product, online </a:t>
            </a:r>
            <a:r>
              <a:rPr lang="en-US" sz="20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softmax</a:t>
            </a: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and weighted sum within a single loop.</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4959225" y="3524449"/>
            <a:ext cx="5780699" cy="3299328"/>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1202506" y="3429000"/>
            <a:ext cx="3078087" cy="3394777"/>
          </a:xfrm>
          <a:prstGeom prst="rect">
            <a:avLst/>
          </a:prstGeom>
          <a:ln w="12700">
            <a:noFill/>
            <a:prstDash val="solid"/>
          </a:ln>
        </p:spPr>
      </p:pic>
      <p:sp>
        <p:nvSpPr>
          <p:cNvPr id="9"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Performance Benchmarks &amp; Throughput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Grp="1" noChangeAspect="1"/>
          </p:cNvPicPr>
          <p:nvPr>
            <p:ph type="body" sz="quarter" idx="9"/>
          </p:nvPr>
        </p:nvPicPr>
        <p:blipFill>
          <a:blip r:embed="rId1"/>
          <a:srcRect/>
          <a:stretch>
            <a:fillRect/>
          </a:stretch>
        </p:blipFill>
        <p:spPr>
          <a:xfrm>
            <a:off x="346301" y="1431290"/>
            <a:ext cx="6612255" cy="4626610"/>
          </a:xfrm>
          <a:prstGeom prst="rect">
            <a:avLst/>
          </a:prstGeom>
        </p:spPr>
      </p:pic>
      <p:pic>
        <p:nvPicPr>
          <p:cNvPr id="6" name="Picture 6"/>
          <p:cNvPicPr>
            <a:picLocks noChangeAspect="1"/>
          </p:cNvPicPr>
          <p:nvPr/>
        </p:nvPicPr>
        <p:blipFill>
          <a:blip r:embed="rId2"/>
          <a:srcRect/>
          <a:stretch>
            <a:fillRect/>
          </a:stretch>
        </p:blipFill>
        <p:spPr>
          <a:xfrm>
            <a:off x="7154412" y="2416507"/>
            <a:ext cx="4894713" cy="2357493"/>
          </a:xfrm>
          <a:prstGeom prst="rect">
            <a:avLst/>
          </a:prstGeom>
          <a:ln w="12700">
            <a:noFill/>
            <a:prstDash val="solid"/>
          </a:ln>
        </p:spPr>
      </p:pic>
      <p:sp>
        <p:nvSpPr>
          <p:cNvPr id="8"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xfrm>
            <a:off x="5094514" y="0"/>
            <a:ext cx="6749143" cy="6858000"/>
          </a:xfrm>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Ebrima" panose="02000000000000000000"/>
              </a:defRPr>
            </a:lvl1pPr>
          </a:lstStyle>
          <a:p>
            <a:pPr marL="355600" indent="-355600" algn="l">
              <a:lnSpc>
                <a:spcPct val="100000"/>
              </a:lnSpc>
              <a:spcBef>
                <a:spcPts val="3000"/>
              </a:spcBef>
              <a:buClr>
                <a:srgbClr val="404040"/>
              </a:buClr>
              <a:buChar char="•"/>
            </a:pPr>
            <a:r>
              <a:rPr lang="en-US" sz="2400" b="0" i="0" u="none" strike="noStrike" dirty="0">
                <a:solidFill>
                  <a:srgbClr val="404040"/>
                </a:solidFill>
                <a:latin typeface="Ebrima" panose="02000000000000000000"/>
                <a:ea typeface="Ebrima" panose="02000000000000000000"/>
                <a:cs typeface="Ebrima" panose="02000000000000000000"/>
                <a:sym typeface="Ebrima" panose="02000000000000000000"/>
              </a:rPr>
              <a:t>Operator Fusion</a:t>
            </a:r>
            <a:endParaRPr lang="en-US" sz="2400" b="0" i="0" u="none" strike="noStrike" dirty="0">
              <a:solidFill>
                <a:srgbClr val="404040"/>
              </a:solidFill>
              <a:latin typeface="Ebrima" panose="02000000000000000000"/>
              <a:ea typeface="Ebrima" panose="02000000000000000000"/>
              <a:cs typeface="Ebrima" panose="02000000000000000000"/>
              <a:sym typeface="Ebrima" panose="02000000000000000000"/>
            </a:endParaRPr>
          </a:p>
          <a:p>
            <a:pPr marL="355600" indent="-355600">
              <a:spcBef>
                <a:spcPts val="3000"/>
              </a:spcBef>
              <a:buClr>
                <a:srgbClr val="404040"/>
              </a:buClr>
            </a:pPr>
            <a:r>
              <a:rPr lang="en-US" sz="2400" b="0" i="0" u="none" strike="noStrike" dirty="0">
                <a:solidFill>
                  <a:srgbClr val="404040"/>
                </a:solidFill>
                <a:latin typeface="Ebrima" panose="02000000000000000000"/>
                <a:ea typeface="Ebrima" panose="02000000000000000000"/>
                <a:cs typeface="Ebrima" panose="02000000000000000000"/>
                <a:sym typeface="Ebrima" panose="02000000000000000000"/>
              </a:rPr>
              <a:t>Example: </a:t>
            </a:r>
            <a:r>
              <a:rPr lang="en-US" altLang="zh-CN" sz="2400" dirty="0" err="1">
                <a:solidFill>
                  <a:srgbClr val="262626"/>
                </a:solidFill>
                <a:latin typeface="Calibri" panose="020F0502020204030204"/>
                <a:ea typeface="Calibri" panose="020F0502020204030204"/>
                <a:cs typeface="Calibri" panose="020F0502020204030204"/>
                <a:sym typeface="Calibri" panose="020F0502020204030204"/>
              </a:rPr>
              <a:t>RMSNorm</a:t>
            </a:r>
            <a:r>
              <a:rPr lang="en-US" altLang="zh-CN" sz="2400" dirty="0">
                <a:solidFill>
                  <a:srgbClr val="262626"/>
                </a:solidFill>
                <a:latin typeface="Calibri" panose="020F0502020204030204"/>
                <a:ea typeface="Calibri" panose="020F0502020204030204"/>
                <a:cs typeface="Calibri" panose="020F0502020204030204"/>
                <a:sym typeface="Calibri" panose="020F0502020204030204"/>
              </a:rPr>
              <a:t> + Residual  Fused Operator</a:t>
            </a:r>
            <a:endParaRPr lang="en-US" sz="2400" b="0" i="0" u="none" strike="noStrike" dirty="0">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a:spLocks noGrp="1"/>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r>
              <a:rPr lang="en-US" altLang="zh-CN" dirty="0"/>
              <a:t>Operator Fusion</a:t>
            </a:r>
            <a:endParaRPr lang="en-US" sz="3200" b="1" i="0" u="none" strike="noStrike" dirty="0">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Lifecycle of Operators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Frame layer: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Data graph normalization: Break down high-level composite operators in deep neural networks (e.g., TransformerBlock) into fine-grained primitives (MatMul, Softmax, LayerNorm), and establish standardized IR frameworks (e.g., MLIR, XLA HLO).</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Calculate the tensor lifecycle through data stream analysis and determine the parallel strategy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Convert the optimized compute graph Lowering into device-specific code and insert necessary synchronization primitives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653577" y="3747769"/>
            <a:ext cx="4288426" cy="297354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096000" y="3747770"/>
            <a:ext cx="4442423" cy="2973545"/>
          </a:xfrm>
          <a:prstGeom prst="rect">
            <a:avLst/>
          </a:prstGeom>
          <a:ln w="12700">
            <a:noFill/>
            <a:prstDash val="solid"/>
          </a:ln>
        </p:spPr>
      </p:pic>
      <p:sp>
        <p:nvSpPr>
          <p:cNvPr id="11"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Lifecycle of Operators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Runtime layer: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Prepare parameters for each operator (device pointer, shared memory size, Stream ID, and other context)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Initiate Kernel Launch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hardware layer </a:t>
            </a:r>
            <a:r>
              <a:rPr lang="en-US" sz="24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endParaRPr lang="en-US" sz="2400" b="0" i="0" u="none" strike="noStrike">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GPU reads data from Global Memory---&gt; compute unit processes---&gt; writes back to Global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535628" y="3889412"/>
            <a:ext cx="7294171" cy="2855641"/>
          </a:xfrm>
          <a:prstGeom prst="rect">
            <a:avLst/>
          </a:prstGeom>
          <a:ln w="12700">
            <a:noFill/>
            <a:prstDash val="solid"/>
          </a:ln>
        </p:spPr>
      </p:pic>
      <p:sp>
        <p:nvSpPr>
          <p:cNvPr id="8"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Kernel Launch Optimization: CUDA Graph</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Record a series of GPU operations (Kernels, Memcpys) as a static topology diagram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Capture the execution sequence, parameters, video memory addresses, and scheduling paths of all kernels during the phase.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During the replay phase, the CPU only needs to issue a single ultra-lightweight instruction to trigger the entire graphs automatic transfer on the GPU.</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956310" y="4015105"/>
            <a:ext cx="4911725" cy="1689100"/>
          </a:xfrm>
          <a:prstGeom prst="rect">
            <a:avLst/>
          </a:prstGeom>
          <a:ln w="12700">
            <a:noFill/>
            <a:prstDash val="solid"/>
          </a:ln>
        </p:spPr>
      </p:pic>
      <p:pic>
        <p:nvPicPr>
          <p:cNvPr id="7" name="Picture 7"/>
          <p:cNvPicPr>
            <a:picLocks noChangeAspect="1"/>
          </p:cNvPicPr>
          <p:nvPr/>
        </p:nvPicPr>
        <p:blipFill>
          <a:blip r:embed="rId2"/>
          <a:srcRect l="3763" r="3764"/>
          <a:stretch>
            <a:fillRect/>
          </a:stretch>
        </p:blipFill>
        <p:spPr>
          <a:xfrm>
            <a:off x="6106160" y="3867785"/>
            <a:ext cx="5332730" cy="1983105"/>
          </a:xfrm>
          <a:prstGeom prst="rect">
            <a:avLst/>
          </a:prstGeom>
          <a:ln w="12700">
            <a:noFill/>
            <a:prstDash val="solid"/>
          </a:ln>
        </p:spPr>
      </p:pic>
      <p:sp>
        <p:nvSpPr>
          <p:cNvPr id="8" name="AutoShape 8"/>
          <p:cNvSpPr/>
          <p:nvPr/>
        </p:nvSpPr>
        <p:spPr>
          <a:xfrm>
            <a:off x="914400" y="3388360"/>
            <a:ext cx="2438400"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minimal GPU kernel</a:t>
            </a:r>
            <a:endParaRPr lang="en-US" sz="1100"/>
          </a:p>
        </p:txBody>
      </p:sp>
      <p:sp>
        <p:nvSpPr>
          <p:cNvPr id="9" name="AutoShape 9"/>
          <p:cNvSpPr/>
          <p:nvPr/>
        </p:nvSpPr>
        <p:spPr>
          <a:xfrm>
            <a:off x="6106160" y="3387090"/>
            <a:ext cx="3650615"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general-purpose GPU kernel</a:t>
            </a:r>
            <a:endParaRPr lang="en-US" sz="1100"/>
          </a:p>
        </p:txBody>
      </p:sp>
      <p:sp>
        <p:nvSpPr>
          <p:cNvPr id="13"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Data transfer between operators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Default mode: Conv results must be written back to global video memory, then Scale reads them out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Operator fusion: Element-wise operations can seamlessly integrate with other operators, significantly reducing both memory access and kernel startup overhead.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895473" y="5047457"/>
            <a:ext cx="8534400" cy="121920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2409825" y="2087245"/>
            <a:ext cx="7863205" cy="1427480"/>
          </a:xfrm>
          <a:prstGeom prst="rect">
            <a:avLst/>
          </a:prstGeom>
          <a:ln w="12700">
            <a:noFill/>
            <a:prstDash val="solid"/>
          </a:ln>
        </p:spPr>
      </p:pic>
      <p:sp>
        <p:nvSpPr>
          <p:cNvPr id="11"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Operator Fusion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Definition: A technique that merges multiple independent operators (or kernels) in a computational graph into a single operator for execution.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Typical scenarios in deep learning: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Vertical Fusion: Conv + Bias + ReLU</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Horizontal Fusion: Merge multiple GEMMs with the same input but different parameters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Reduction Fusion: Mean + Var + Scale in LayerNorm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9"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Advantages of Operator Fusion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Reduce memory bandwidth usage: Eliminate read and write operations on global memory for intermediate results. Data remains in registers or shared memory.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Reduce Kernel Launch overhead: Minimize the number of handshakes between CPU and GPU</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Enhance cache utilization: Data is continuously accessed in SRAM for higher efficiency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Increase computational density: Boost the instruction stream per task to better mask memory latency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9"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Problems of Operator Fusion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Core contradiction-Register pressure</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The total number of registers in a GPU SM is fixed (for example, A100 has 256KB per SM).</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Single-threading requires more intermediate states → Single-threading registers ↑ → Each thread block occupies registers ↑ → Concurrent thread blocks decrease → Reduced active Warp count in SM (Occupancy decreases)</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Instruction cache pressure:</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The merged kernel may exceed the hardware instruction cache limit.</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Finding the sweet spot between saving memory bandwidth and maintaining sufficient computational parallelism</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9"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 Negative Example: The Greedy Merging of XLA</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r">
              <a:lnSpc>
                <a:spcPct val="100000"/>
              </a:lnSpc>
              <a:defRPr sz="1400" b="0" i="0" u="none" strike="noStrike" spc="0">
                <a:solidFill>
                  <a:srgbClr val="A5A5A5">
                    <a:alpha val="100000"/>
                  </a:srgbClr>
                </a:solidFill>
                <a:latin typeface="Garamond" panose="02020404030301010803"/>
              </a:defRPr>
            </a:lvl1pPr>
          </a:lstStyle>
          <a:p>
            <a:pPr indent="0" algn="r">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https://github.com/openxla/xla/discussions/766</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Scene description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inputs forced layout is {3,2,1,0}, and the operator (Custom-call) has a forced layout of {1,0,2,3}.</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When computing Add, XLA detects that the two inputs have different layouts. To align them, it must insert a Copy operation.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To reduce kernel boot overhead, XLA forcibly merges Add and Copy operations. However, inconsistent I/O layouts disrupt memory merge access, causing memory access to become random and erratic, resulting in a 9-fold performance degradation.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338580" y="4187190"/>
            <a:ext cx="2621915" cy="224091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4197985" y="4748530"/>
            <a:ext cx="7413625" cy="915035"/>
          </a:xfrm>
          <a:prstGeom prst="rect">
            <a:avLst/>
          </a:prstGeom>
          <a:ln w="12700">
            <a:noFill/>
            <a:prstDash val="solid"/>
          </a:ln>
        </p:spPr>
      </p:pic>
      <p:sp>
        <p:nvSpPr>
          <p:cNvPr id="11"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31611" y="428172"/>
            <a:ext cx="11059160" cy="701040"/>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r>
              <a:rPr lang="en-US" altLang="zh-CN" dirty="0">
                <a:solidFill>
                  <a:srgbClr val="262626"/>
                </a:solidFill>
                <a:ea typeface="Calibri" panose="020F0502020204030204"/>
                <a:cs typeface="Calibri" panose="020F0502020204030204"/>
                <a:sym typeface="Calibri" panose="020F0502020204030204"/>
              </a:rPr>
              <a:t>Example: </a:t>
            </a:r>
            <a:r>
              <a:rPr lang="en-US" altLang="zh-CN" dirty="0" err="1">
                <a:solidFill>
                  <a:srgbClr val="262626"/>
                </a:solidFill>
                <a:ea typeface="Calibri" panose="020F0502020204030204"/>
                <a:cs typeface="Calibri" panose="020F0502020204030204"/>
                <a:sym typeface="Calibri" panose="020F0502020204030204"/>
              </a:rPr>
              <a:t>RMSNorm</a:t>
            </a:r>
            <a:r>
              <a:rPr lang="en-US" altLang="zh-CN" dirty="0">
                <a:solidFill>
                  <a:srgbClr val="262626"/>
                </a:solidFill>
                <a:ea typeface="Calibri" panose="020F0502020204030204"/>
                <a:cs typeface="Calibri" panose="020F0502020204030204"/>
                <a:sym typeface="Calibri" panose="020F0502020204030204"/>
              </a:rPr>
              <a:t> + Residual</a:t>
            </a:r>
            <a:endParaRPr lang="en-US" altLang="zh-CN" dirty="0">
              <a:solidFill>
                <a:srgbClr val="262626"/>
              </a:solidFill>
              <a:ea typeface="Calibri" panose="020F0502020204030204"/>
              <a:cs typeface="Calibri" panose="020F0502020204030204"/>
              <a:sym typeface="Calibri" panose="020F0502020204030204"/>
            </a:endParaRPr>
          </a:p>
        </p:txBody>
      </p:sp>
      <p:sp>
        <p:nvSpPr>
          <p:cNvPr id="6" name="AutoShape 6"/>
          <p:cNvSpPr/>
          <p:nvPr/>
        </p:nvSpPr>
        <p:spPr>
          <a:xfrm>
            <a:off x="624838" y="5552178"/>
            <a:ext cx="11075670" cy="963930"/>
          </a:xfrm>
          <a:prstGeom prst="rect">
            <a:avLst/>
          </a:prstGeom>
          <a:noFill/>
          <a:ln w="12700">
            <a:noFill/>
            <a:prstDash val="solid"/>
          </a:ln>
        </p:spPr>
        <p:txBody>
          <a:bodyPr vert="horz" wrap="square" lIns="91440" tIns="45720" rIns="91440" bIns="45720" rtlCol="0" anchor="t">
            <a:noAutofit/>
          </a:bodyPr>
          <a:lstStyle/>
          <a:p>
            <a:pPr marL="304800" indent="-304800" algn="l">
              <a:lnSpc>
                <a:spcPct val="117000"/>
              </a:lnSpc>
              <a:spcBef>
                <a:spcPts val="1500"/>
              </a:spcBef>
              <a:buClr>
                <a:srgbClr val="404040"/>
              </a:buClr>
              <a:buChar char="•"/>
              <a:defRP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Performance bottleneck: Total reads 5MN + 2M + N elements, writes 2MN+2M elements. Frequent global memory reads/writes cause significant bandwidth waste.</a:t>
            </a:r>
            <a:endParaRPr lang="en-US" sz="1100" dirty="0"/>
          </a:p>
        </p:txBody>
      </p:sp>
      <p:sp>
        <p:nvSpPr>
          <p:cNvPr id="8" name="AutoShape 8"/>
          <p:cNvSpPr/>
          <p:nvPr/>
        </p:nvSpPr>
        <p:spPr>
          <a:xfrm>
            <a:off x="8023225" y="2010410"/>
            <a:ext cx="3528060" cy="631825"/>
          </a:xfrm>
          <a:prstGeom prst="rect">
            <a:avLst/>
          </a:prstGeom>
          <a:noFill/>
          <a:ln w="12700">
            <a:noFill/>
            <a:prstDash val="solid"/>
          </a:ln>
        </p:spPr>
        <p:txBody>
          <a:bodyPr vert="horz" wrap="square" lIns="91440" tIns="45720" rIns="91440" bIns="45720" rtlCol="0" anchor="t">
            <a:noAutofit/>
          </a:bodyPr>
          <a:lstStyle/>
          <a:p>
            <a:pPr marL="304800" indent="-304800" algn="l">
              <a:lnSpc>
                <a:spcPct val="117000"/>
              </a:lnSpc>
              <a:spcBef>
                <a:spcPts val="1500"/>
              </a:spcBef>
              <a:buClr>
                <a:srgbClr val="404040"/>
              </a:buClr>
              <a:buChar char="•"/>
              <a:defRP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Formula</a:t>
            </a:r>
            <a:endParaRPr lang="en-US" sz="1100" dirty="0"/>
          </a:p>
        </p:txBody>
      </p:sp>
      <p:sp>
        <p:nvSpPr>
          <p:cNvPr id="10"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pic>
        <p:nvPicPr>
          <p:cNvPr id="14" name="图片 13"/>
          <p:cNvPicPr>
            <a:picLocks noChangeAspect="1"/>
          </p:cNvPicPr>
          <p:nvPr/>
        </p:nvPicPr>
        <p:blipFill>
          <a:blip r:embed="rId1"/>
          <a:stretch>
            <a:fillRect/>
          </a:stretch>
        </p:blipFill>
        <p:spPr>
          <a:xfrm>
            <a:off x="8081283" y="2483340"/>
            <a:ext cx="3528060" cy="1514484"/>
          </a:xfrm>
          <a:prstGeom prst="rect">
            <a:avLst/>
          </a:prstGeom>
        </p:spPr>
      </p:pic>
      <p:pic>
        <p:nvPicPr>
          <p:cNvPr id="20" name="图片 19"/>
          <p:cNvPicPr>
            <a:picLocks noChangeAspect="1"/>
          </p:cNvPicPr>
          <p:nvPr/>
        </p:nvPicPr>
        <p:blipFill>
          <a:blip r:embed="rId2"/>
          <a:stretch>
            <a:fillRect/>
          </a:stretch>
        </p:blipFill>
        <p:spPr>
          <a:xfrm>
            <a:off x="640715" y="1223386"/>
            <a:ext cx="7073629" cy="4241875"/>
          </a:xfrm>
          <a:prstGeom prst="rect">
            <a:avLst/>
          </a:prstGeom>
        </p:spPr>
      </p:pic>
    </p:spTree>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r>
              <a:rPr lang="en-US" sz="3600" b="0" i="0" u="none" strike="noStrike" dirty="0">
                <a:solidFill>
                  <a:srgbClr val="262626"/>
                </a:solidFill>
                <a:latin typeface="Calibri" panose="020F0502020204030204"/>
                <a:ea typeface="Calibri" panose="020F0502020204030204"/>
                <a:cs typeface="Calibri" panose="020F0502020204030204"/>
                <a:sym typeface="Calibri" panose="020F0502020204030204"/>
              </a:rPr>
              <a:t>Example: </a:t>
            </a:r>
            <a:r>
              <a:rPr lang="en-US" altLang="zh-CN" dirty="0" err="1">
                <a:solidFill>
                  <a:srgbClr val="262626"/>
                </a:solidFill>
                <a:ea typeface="Calibri" panose="020F0502020204030204"/>
                <a:cs typeface="Calibri" panose="020F0502020204030204"/>
                <a:sym typeface="Calibri" panose="020F0502020204030204"/>
              </a:rPr>
              <a:t>RMSNorm</a:t>
            </a:r>
            <a:r>
              <a:rPr lang="en-US" altLang="zh-CN" dirty="0">
                <a:solidFill>
                  <a:srgbClr val="262626"/>
                </a:solidFill>
                <a:ea typeface="Calibri" panose="020F0502020204030204"/>
                <a:cs typeface="Calibri" panose="020F0502020204030204"/>
                <a:sym typeface="Calibri" panose="020F0502020204030204"/>
              </a:rPr>
              <a:t> + Residual</a:t>
            </a:r>
            <a:endParaRPr lang="en-US" sz="3600" b="0" i="0" u="none" strike="noStrike" dirty="0">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Basic Idea of Operator Fusion</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Load: All threads collaborate in parallel to read data from Global Memory and write it to Shared Memory</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Sync &amp; Reduce: Perform multiple iterations within Shared Memory, which is fully executed at high speed on-chip without consuming video memory bandwidth.</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rPr>
              <a:t>CUDA: Synchronize with __</a:t>
            </a:r>
            <a:r>
              <a:rPr lang="en-US" sz="1600" b="0" i="0" u="none" strike="noStrike" dirty="0" err="1">
                <a:solidFill>
                  <a:srgbClr val="404040"/>
                </a:solidFill>
                <a:latin typeface="Calibri" panose="020F0502020204030204"/>
                <a:ea typeface="Calibri" panose="020F0502020204030204"/>
                <a:cs typeface="Calibri" panose="020F0502020204030204"/>
                <a:sym typeface="Calibri" panose="020F0502020204030204"/>
              </a:rPr>
              <a:t>syncthreads</a:t>
            </a:r>
            <a:r>
              <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each step</a:t>
            </a:r>
            <a:endPar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rPr>
              <a:t>Triton: Automatic</a:t>
            </a:r>
            <a:endParaRPr lang="en-US" sz="16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Write: Only the final result is written back to Global Memory.</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9"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1"/>
          <a:stretch>
            <a:fillRect/>
          </a:stretch>
        </p:blipFill>
        <p:spPr>
          <a:xfrm>
            <a:off x="939130" y="2072632"/>
            <a:ext cx="7624480" cy="4306111"/>
          </a:xfrm>
          <a:prstGeom prst="rect">
            <a:avLst/>
          </a:prstGeom>
        </p:spPr>
      </p:pic>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r>
              <a:rPr lang="zh-CN" altLang="zh-CN" dirty="0"/>
              <a:t>fused_add_rms_norm_kernel</a:t>
            </a:r>
            <a:endParaRPr lang="zh-CN" altLang="zh-CN" dirty="0"/>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dirty="0"/>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SRAM Residency: The entire row of data remains on-chip after loading until the computation is completed.</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1097597" y="4613751"/>
            <a:ext cx="5426075" cy="516097"/>
          </a:xfrm>
          <a:prstGeom prst="rect">
            <a:avLst/>
          </a:prstGeom>
          <a:noFill/>
          <a:ln w="12700" cap="flat">
            <a:solidFill>
              <a:srgbClr val="FF0000"/>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0000"/>
                </a:solidFill>
                <a:latin typeface="Arial" panose="020B0604020202020204"/>
                <a:ea typeface="Arial" panose="020B0604020202020204"/>
                <a:cs typeface="Arial" panose="020B0604020202020204"/>
                <a:sym typeface="Arial" panose="020B0604020202020204"/>
              </a:rPr>
              <a:t> </a:t>
            </a:r>
            <a:endParaRPr lang="en-US" sz="1100">
              <a:solidFill>
                <a:srgbClr val="FF0000"/>
              </a:solidFill>
            </a:endParaRPr>
          </a:p>
        </p:txBody>
      </p:sp>
      <p:sp>
        <p:nvSpPr>
          <p:cNvPr id="8" name="AutoShape 8"/>
          <p:cNvSpPr/>
          <p:nvPr/>
        </p:nvSpPr>
        <p:spPr>
          <a:xfrm>
            <a:off x="1097597" y="3723164"/>
            <a:ext cx="5426075" cy="789305"/>
          </a:xfrm>
          <a:prstGeom prst="rect">
            <a:avLst/>
          </a:prstGeom>
          <a:noFill/>
          <a:ln w="12700" cap="flat">
            <a:solidFill>
              <a:srgbClr val="0070C0"/>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0000"/>
                </a:solidFill>
                <a:latin typeface="Arial" panose="020B0604020202020204"/>
                <a:ea typeface="Arial" panose="020B0604020202020204"/>
                <a:cs typeface="Arial" panose="020B0604020202020204"/>
                <a:sym typeface="Arial" panose="020B0604020202020204"/>
              </a:rPr>
              <a:t> </a:t>
            </a:r>
            <a:endParaRPr lang="en-US" sz="1100">
              <a:solidFill>
                <a:srgbClr val="FF0000"/>
              </a:solidFill>
            </a:endParaRPr>
          </a:p>
        </p:txBody>
      </p:sp>
      <p:sp>
        <p:nvSpPr>
          <p:cNvPr id="9" name="AutoShape 9"/>
          <p:cNvSpPr/>
          <p:nvPr/>
        </p:nvSpPr>
        <p:spPr>
          <a:xfrm>
            <a:off x="6766083" y="4731254"/>
            <a:ext cx="1147445"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loading</a:t>
            </a:r>
            <a:endParaRPr lang="en-US" sz="1100" dirty="0">
              <a:solidFill>
                <a:srgbClr val="FF0000"/>
              </a:solidFill>
            </a:endParaRPr>
          </a:p>
        </p:txBody>
      </p:sp>
      <p:sp>
        <p:nvSpPr>
          <p:cNvPr id="10" name="AutoShape 10"/>
          <p:cNvSpPr/>
          <p:nvPr/>
        </p:nvSpPr>
        <p:spPr>
          <a:xfrm>
            <a:off x="6766083" y="3632981"/>
            <a:ext cx="1555115" cy="92333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memory pointer calculation</a:t>
            </a:r>
            <a:endParaRPr lang="en-US" sz="1100" dirty="0">
              <a:solidFill>
                <a:srgbClr val="0070C0"/>
              </a:solidFill>
            </a:endParaRPr>
          </a:p>
        </p:txBody>
      </p:sp>
      <p:sp>
        <p:nvSpPr>
          <p:cNvPr id="11" name="AutoShape 11"/>
          <p:cNvSpPr/>
          <p:nvPr/>
        </p:nvSpPr>
        <p:spPr>
          <a:xfrm>
            <a:off x="1174792" y="6203722"/>
            <a:ext cx="4272915" cy="179705"/>
          </a:xfrm>
          <a:prstGeom prst="rect">
            <a:avLst/>
          </a:prstGeom>
          <a:noFill/>
          <a:ln w="12700" cap="flat">
            <a:solidFill>
              <a:srgbClr val="FF0000"/>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0000"/>
                </a:solidFill>
                <a:latin typeface="Arial" panose="020B0604020202020204"/>
                <a:ea typeface="Arial" panose="020B0604020202020204"/>
                <a:cs typeface="Arial" panose="020B0604020202020204"/>
                <a:sym typeface="Arial" panose="020B0604020202020204"/>
              </a:rPr>
              <a:t> </a:t>
            </a:r>
            <a:endParaRPr lang="en-US" sz="1100">
              <a:solidFill>
                <a:srgbClr val="FF0000"/>
              </a:solidFill>
            </a:endParaRPr>
          </a:p>
        </p:txBody>
      </p:sp>
      <p:sp>
        <p:nvSpPr>
          <p:cNvPr id="12" name="AutoShape 12"/>
          <p:cNvSpPr/>
          <p:nvPr/>
        </p:nvSpPr>
        <p:spPr>
          <a:xfrm>
            <a:off x="5787369" y="5678797"/>
            <a:ext cx="2244090"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Data writeback</a:t>
            </a:r>
            <a:endParaRPr lang="en-US" sz="1100" dirty="0">
              <a:solidFill>
                <a:srgbClr val="FF0000"/>
              </a:solidFill>
            </a:endParaRPr>
          </a:p>
        </p:txBody>
      </p:sp>
      <p:sp>
        <p:nvSpPr>
          <p:cNvPr id="16"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
        <p:nvSpPr>
          <p:cNvPr id="20" name="AutoShape 11"/>
          <p:cNvSpPr/>
          <p:nvPr/>
        </p:nvSpPr>
        <p:spPr>
          <a:xfrm>
            <a:off x="1174791" y="5398954"/>
            <a:ext cx="4272915" cy="179705"/>
          </a:xfrm>
          <a:prstGeom prst="rect">
            <a:avLst/>
          </a:prstGeom>
          <a:noFill/>
          <a:ln w="12700" cap="flat">
            <a:solidFill>
              <a:srgbClr val="FF0000"/>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0000"/>
                </a:solidFill>
                <a:latin typeface="Arial" panose="020B0604020202020204"/>
                <a:ea typeface="Arial" panose="020B0604020202020204"/>
                <a:cs typeface="Arial" panose="020B0604020202020204"/>
                <a:sym typeface="Arial" panose="020B0604020202020204"/>
              </a:rPr>
              <a:t> </a:t>
            </a:r>
            <a:endParaRPr lang="en-US" sz="1100">
              <a:solidFill>
                <a:srgbClr val="FF0000"/>
              </a:solidFill>
            </a:endParaRPr>
          </a:p>
        </p:txBody>
      </p:sp>
    </p:spTree>
  </p:cSld>
  <p:clrMapOvr>
    <a:masterClrMapping/>
  </p:clrMapOvr>
  <p:transition spd="slow">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1"/>
          <a:stretch>
            <a:fillRect/>
          </a:stretch>
        </p:blipFill>
        <p:spPr>
          <a:xfrm>
            <a:off x="347345" y="1767840"/>
            <a:ext cx="8724900" cy="4927600"/>
          </a:xfrm>
          <a:prstGeom prst="rect">
            <a:avLst/>
          </a:prstGeom>
        </p:spPr>
      </p:pic>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r>
              <a:rPr lang="zh-CN" altLang="zh-CN" dirty="0"/>
              <a:t>fused_add_rms_norm_kernel</a:t>
            </a:r>
            <a:endParaRPr lang="zh-CN" altLang="zh-CN" dirty="0"/>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Operator Fusion: Merge Max, Sub, Exp, and Sum into a Kernel</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609600" y="5429726"/>
            <a:ext cx="6262914" cy="1106330"/>
          </a:xfrm>
          <a:prstGeom prst="rect">
            <a:avLst/>
          </a:prstGeom>
          <a:noFill/>
          <a:ln w="12700" cap="flat">
            <a:solidFill>
              <a:srgbClr val="FF0000"/>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0000"/>
                </a:solidFill>
                <a:latin typeface="Arial" panose="020B0604020202020204"/>
                <a:ea typeface="Arial" panose="020B0604020202020204"/>
                <a:cs typeface="Arial" panose="020B0604020202020204"/>
                <a:sym typeface="Arial" panose="020B0604020202020204"/>
              </a:rPr>
              <a:t> </a:t>
            </a:r>
            <a:endParaRPr lang="en-US" sz="1100">
              <a:solidFill>
                <a:srgbClr val="FF0000"/>
              </a:solidFill>
            </a:endParaRPr>
          </a:p>
        </p:txBody>
      </p:sp>
      <p:sp>
        <p:nvSpPr>
          <p:cNvPr id="8" name="AutoShape 8"/>
          <p:cNvSpPr/>
          <p:nvPr/>
        </p:nvSpPr>
        <p:spPr>
          <a:xfrm>
            <a:off x="7136130" y="5429726"/>
            <a:ext cx="1226820" cy="646331"/>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operator fusion</a:t>
            </a:r>
            <a:endParaRPr lang="en-US" sz="1100" dirty="0">
              <a:solidFill>
                <a:srgbClr val="FF0000"/>
              </a:solidFill>
            </a:endParaRPr>
          </a:p>
        </p:txBody>
      </p:sp>
      <p:pic>
        <p:nvPicPr>
          <p:cNvPr id="9" name="Picture 9"/>
          <p:cNvPicPr>
            <a:picLocks noChangeAspect="1"/>
          </p:cNvPicPr>
          <p:nvPr/>
        </p:nvPicPr>
        <p:blipFill>
          <a:blip r:embed="rId2"/>
          <a:srcRect/>
          <a:stretch>
            <a:fillRect/>
          </a:stretch>
        </p:blipFill>
        <p:spPr>
          <a:xfrm>
            <a:off x="9214485" y="4231640"/>
            <a:ext cx="2444750" cy="1160780"/>
          </a:xfrm>
          <a:prstGeom prst="rect">
            <a:avLst/>
          </a:prstGeom>
          <a:ln w="12700">
            <a:noFill/>
            <a:prstDash val="solid"/>
          </a:ln>
        </p:spPr>
      </p:pic>
      <p:sp>
        <p:nvSpPr>
          <p:cNvPr id="10" name="AutoShape 10"/>
          <p:cNvSpPr/>
          <p:nvPr/>
        </p:nvSpPr>
        <p:spPr>
          <a:xfrm>
            <a:off x="9186545" y="2595880"/>
            <a:ext cx="2437765" cy="1198880"/>
          </a:xfrm>
          <a:prstGeom prst="rect">
            <a:avLst/>
          </a:prstGeom>
          <a:noFill/>
          <a:ln w="12700">
            <a:noFill/>
            <a:prstDash val="solid"/>
          </a:ln>
        </p:spPr>
        <p:txBody>
          <a:bodyPr wrap="square" lIns="91440" tIns="45720" rIns="91440" bIns="45720" rtlCol="0" anchor="t">
            <a:spAutoFit/>
          </a:bodyPr>
          <a:lstStyle/>
          <a:p>
            <a:pPr indent="0" algn="l">
              <a:lnSpc>
                <a:spcPct val="117000"/>
              </a:lnSpc>
              <a:defRP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Internal Automatic Realization of Parallel Tree Structure</a:t>
            </a:r>
            <a:endParaRPr lang="en-US" sz="1100"/>
          </a:p>
        </p:txBody>
      </p:sp>
      <p:sp>
        <p:nvSpPr>
          <p:cNvPr id="14"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r>
              <a:rPr lang="en-US" altLang="zh-CN" dirty="0" err="1">
                <a:solidFill>
                  <a:srgbClr val="262626"/>
                </a:solidFill>
                <a:ea typeface="Calibri" panose="020F0502020204030204"/>
                <a:cs typeface="Calibri" panose="020F0502020204030204"/>
                <a:sym typeface="Calibri" panose="020F0502020204030204"/>
              </a:rPr>
              <a:t>RMSNorm</a:t>
            </a:r>
            <a:r>
              <a:rPr lang="en-US" altLang="zh-CN" dirty="0">
                <a:solidFill>
                  <a:srgbClr val="262626"/>
                </a:solidFill>
                <a:ea typeface="Calibri" panose="020F0502020204030204"/>
                <a:cs typeface="Calibri" panose="020F0502020204030204"/>
                <a:sym typeface="Calibri" panose="020F0502020204030204"/>
              </a:rPr>
              <a:t> + Residual</a:t>
            </a:r>
            <a:r>
              <a:rPr lang="en-US" sz="3600" b="0" i="0" u="none" strike="noStrike" dirty="0">
                <a:solidFill>
                  <a:srgbClr val="262626"/>
                </a:solidFill>
                <a:latin typeface="Calibri" panose="020F0502020204030204"/>
                <a:ea typeface="Calibri" panose="020F0502020204030204"/>
                <a:cs typeface="Calibri" panose="020F0502020204030204"/>
                <a:sym typeface="Calibri" panose="020F0502020204030204"/>
              </a:rPr>
              <a:t>  Host</a:t>
            </a:r>
            <a:endParaRPr lang="en-US" sz="3600" b="0" i="0" u="none" strike="noStrike" dirty="0">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nvSpPr>
        <p:spPr>
          <a:xfrm>
            <a:off x="7687310" y="1256665"/>
            <a:ext cx="3954145" cy="4670425"/>
          </a:xfrm>
          <a:prstGeom prst="rect">
            <a:avLst/>
          </a:prstGeom>
          <a:noFill/>
          <a:ln w="12700">
            <a:noFill/>
            <a:prstDash val="solid"/>
          </a:ln>
        </p:spPr>
        <p:txBody>
          <a:bodyPr vert="horz" wrap="square" lIns="91440" tIns="45720" rIns="91440" bIns="45720" rtlCol="0" anchor="t">
            <a:normAutofit/>
          </a:bodyPr>
          <a:lstStyle/>
          <a:p>
            <a:pPr marL="355600" indent="-355600" algn="l">
              <a:lnSpc>
                <a:spcPct val="133000"/>
              </a:lnSpc>
              <a:spcBef>
                <a:spcPts val="12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static kernel specialization</a:t>
            </a:r>
            <a:endParaRPr lang="en-US" sz="1000"/>
          </a:p>
          <a:p>
            <a:pPr marL="635000" lvl="1" indent="-292100" algn="l">
              <a:lnSpc>
                <a:spcPct val="133000"/>
              </a:lnSpc>
              <a:spcBef>
                <a:spcPts val="12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Align input dimensions to the 2nd power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35000" lvl="1" indent="-292100" algn="l">
              <a:lnSpc>
                <a:spcPct val="133000"/>
              </a:lnSpc>
              <a:spcBef>
                <a:spcPts val="12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Ensure the kernel parameter BLOCK_SIZE is a compile-time constant to allow the compiler to perform full loop unrolling and eliminate runtime branch overhead.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10"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
        <p:nvSpPr>
          <p:cNvPr id="14" name="文本占位符 13"/>
          <p:cNvSpPr>
            <a:spLocks noGrp="1"/>
          </p:cNvSpPr>
          <p:nvPr>
            <p:ph type="body" sz="quarter" idx="9"/>
          </p:nvPr>
        </p:nvSpPr>
        <p:spPr/>
        <p:txBody>
          <a:bodyPr/>
          <a:lstStyle/>
          <a:p>
            <a:endParaRPr lang="zh-CN" altLang="en-US"/>
          </a:p>
        </p:txBody>
      </p:sp>
      <p:pic>
        <p:nvPicPr>
          <p:cNvPr id="18" name="图片 17"/>
          <p:cNvPicPr>
            <a:picLocks noChangeAspect="1"/>
          </p:cNvPicPr>
          <p:nvPr/>
        </p:nvPicPr>
        <p:blipFill>
          <a:blip r:embed="rId1"/>
          <a:stretch>
            <a:fillRect/>
          </a:stretch>
        </p:blipFill>
        <p:spPr>
          <a:xfrm>
            <a:off x="550545" y="1144270"/>
            <a:ext cx="6900184" cy="5445373"/>
          </a:xfrm>
          <a:prstGeom prst="rect">
            <a:avLst/>
          </a:prstGeom>
        </p:spPr>
      </p:pic>
    </p:spTree>
  </p:cSld>
  <p:clrMapOvr>
    <a:masterClrMapping/>
  </p:clrMapOvr>
  <p:transition spd="slow">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Ebrima" panose="02000000000000000000"/>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Principles</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Dispatcher</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DSL</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Case Study</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a:spLocks noGrp="1"/>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r>
              <a:rPr lang="en-US" altLang="zh-CN" dirty="0">
                <a:sym typeface="Calibri" panose="020F0502020204030204"/>
              </a:rPr>
              <a:t>Architectural Design of Operator Libraries</a:t>
            </a:r>
            <a:endParaRPr lang="en-US" sz="3200" b="1" i="0" u="none" strike="noStrike" dirty="0">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Operator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7499985"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Broadly speaking, applying any specific operation to a given function can be defined as an Operator.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Deep learning algorithms are constructed from individual computational units known as Operators.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Examples: Add, MatMul, LayerNorm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040370" y="821690"/>
            <a:ext cx="4083685" cy="5899785"/>
          </a:xfrm>
          <a:prstGeom prst="rect">
            <a:avLst/>
          </a:prstGeom>
          <a:ln w="12700">
            <a:noFill/>
            <a:prstDash val="solid"/>
          </a:ln>
        </p:spPr>
      </p:pic>
      <p:sp>
        <p:nvSpPr>
          <p:cNvPr id="10"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Operator Library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7527290"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 collection of highly optimized, reusable computational building blocks (Operators) for neural networks.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Roles: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Bridge - Connects high-level AI frameworks with low-level bare-metal hardware.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Performance Extractor - Maximizes hardware utilization via expert-level kernel tuning.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Hardware Abstraction - Shields algorithm developers from complex low-level programming.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8488259" y="641247"/>
            <a:ext cx="3380509" cy="5575506"/>
          </a:xfrm>
          <a:prstGeom prst="roundRect">
            <a:avLst>
              <a:gd name="adj" fmla="val 16666"/>
            </a:avLst>
          </a:prstGeom>
          <a:solidFill>
            <a:srgbClr val="9DC3E6">
              <a:alpha val="100000"/>
            </a:srgbClr>
          </a:solidFill>
          <a:ln w="12700" cap="flat">
            <a:solidFill>
              <a:srgbClr val="9DC3E6">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8865920" y="873703"/>
            <a:ext cx="2586222" cy="1042082"/>
          </a:xfrm>
          <a:prstGeom prst="roundRect">
            <a:avLst>
              <a:gd name="adj" fmla="val 16666"/>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2000" b="1" i="0" u="none" strike="noStrike">
                <a:solidFill>
                  <a:srgbClr val="FFFFFF"/>
                </a:solidFill>
                <a:latin typeface="Arial" panose="020B0604020202020204"/>
                <a:ea typeface="Arial" panose="020B0604020202020204"/>
                <a:cs typeface="Arial" panose="020B0604020202020204"/>
                <a:sym typeface="Arial" panose="020B0604020202020204"/>
              </a:rPr>
              <a:t>Deep Learning Framework</a:t>
            </a:r>
            <a:endParaRPr lang="en-US" sz="1100"/>
          </a:p>
        </p:txBody>
      </p:sp>
      <p:sp>
        <p:nvSpPr>
          <p:cNvPr id="8" name="AutoShape 8"/>
          <p:cNvSpPr/>
          <p:nvPr/>
        </p:nvSpPr>
        <p:spPr>
          <a:xfrm>
            <a:off x="8865920" y="2229874"/>
            <a:ext cx="2586222" cy="1042082"/>
          </a:xfrm>
          <a:prstGeom prst="roundRect">
            <a:avLst>
              <a:gd name="adj" fmla="val 16666"/>
            </a:avLst>
          </a:prstGeom>
          <a:solidFill>
            <a:srgbClr val="ED7D31">
              <a:alpha val="100000"/>
            </a:srgbClr>
          </a:solidFill>
          <a:ln w="12700" cap="flat">
            <a:solidFill>
              <a:srgbClr val="64310F">
                <a:alpha val="100000"/>
              </a:srgbClr>
            </a:solidFill>
            <a:prstDash val="solid"/>
          </a:ln>
        </p:spPr>
        <p:txBody>
          <a:bodyPr wrap="square" lIns="91440" tIns="45720" rIns="91440" bIns="45720" rtlCol="0" anchor="ctr">
            <a:noAutofit/>
          </a:bodyPr>
          <a:lstStyle/>
          <a:p>
            <a:pPr indent="0" algn="ctr">
              <a:lnSpc>
                <a:spcPct val="100000"/>
              </a:lnSpc>
              <a:defRPr/>
            </a:pPr>
            <a:r>
              <a:rPr lang="en-US" sz="2000" b="1" i="0" u="none" strike="noStrike">
                <a:solidFill>
                  <a:srgbClr val="FFFFFF"/>
                </a:solidFill>
                <a:latin typeface="Arial" panose="020B0604020202020204"/>
                <a:ea typeface="Arial" panose="020B0604020202020204"/>
                <a:cs typeface="Arial" panose="020B0604020202020204"/>
                <a:sym typeface="Arial" panose="020B0604020202020204"/>
              </a:rPr>
              <a:t>Operator Library</a:t>
            </a:r>
            <a:endParaRPr lang="en-US" sz="1100"/>
          </a:p>
        </p:txBody>
      </p:sp>
      <p:sp>
        <p:nvSpPr>
          <p:cNvPr id="9" name="AutoShape 9"/>
          <p:cNvSpPr/>
          <p:nvPr/>
        </p:nvSpPr>
        <p:spPr>
          <a:xfrm>
            <a:off x="8873620" y="3586045"/>
            <a:ext cx="2586222" cy="1042082"/>
          </a:xfrm>
          <a:prstGeom prst="roundRect">
            <a:avLst>
              <a:gd name="adj" fmla="val 16666"/>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2000" b="1" i="0" u="none" strike="noStrike">
                <a:solidFill>
                  <a:srgbClr val="FFFFFF"/>
                </a:solidFill>
                <a:latin typeface="Arial" panose="020B0604020202020204"/>
                <a:ea typeface="Arial" panose="020B0604020202020204"/>
                <a:cs typeface="Arial" panose="020B0604020202020204"/>
                <a:sym typeface="Arial" panose="020B0604020202020204"/>
              </a:rPr>
              <a:t>Compiler</a:t>
            </a:r>
            <a:endParaRPr lang="en-US" sz="1100"/>
          </a:p>
        </p:txBody>
      </p:sp>
      <p:sp>
        <p:nvSpPr>
          <p:cNvPr id="10" name="AutoShape 10"/>
          <p:cNvSpPr/>
          <p:nvPr/>
        </p:nvSpPr>
        <p:spPr>
          <a:xfrm>
            <a:off x="9930432" y="1915785"/>
            <a:ext cx="472598" cy="314089"/>
          </a:xfrm>
          <a:prstGeom prst="downArrow">
            <a:avLst>
              <a:gd name="adj1" fmla="val 50000"/>
              <a:gd name="adj2" fmla="val 50000"/>
            </a:avLst>
          </a:prstGeom>
          <a:solidFill>
            <a:srgbClr val="BDD7EE">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9922732" y="3271956"/>
            <a:ext cx="472598" cy="314089"/>
          </a:xfrm>
          <a:prstGeom prst="downArrow">
            <a:avLst>
              <a:gd name="adj1" fmla="val 50000"/>
              <a:gd name="adj2" fmla="val 50000"/>
            </a:avLst>
          </a:prstGeom>
          <a:solidFill>
            <a:srgbClr val="BDD7EE">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8885403" y="4942216"/>
            <a:ext cx="2586222" cy="1042082"/>
          </a:xfrm>
          <a:prstGeom prst="roundRect">
            <a:avLst>
              <a:gd name="adj" fmla="val 16666"/>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2000" b="1" i="0" u="none" strike="noStrike">
                <a:solidFill>
                  <a:srgbClr val="FFFFFF"/>
                </a:solidFill>
                <a:latin typeface="Arial" panose="020B0604020202020204"/>
                <a:ea typeface="Arial" panose="020B0604020202020204"/>
                <a:cs typeface="Arial" panose="020B0604020202020204"/>
                <a:sym typeface="Arial" panose="020B0604020202020204"/>
              </a:rPr>
              <a:t>Hardware</a:t>
            </a:r>
            <a:endParaRPr lang="en-US" sz="1100"/>
          </a:p>
        </p:txBody>
      </p:sp>
      <p:sp>
        <p:nvSpPr>
          <p:cNvPr id="13" name="AutoShape 13"/>
          <p:cNvSpPr/>
          <p:nvPr/>
        </p:nvSpPr>
        <p:spPr>
          <a:xfrm>
            <a:off x="9922732" y="4628127"/>
            <a:ext cx="472598" cy="314089"/>
          </a:xfrm>
          <a:prstGeom prst="downArrow">
            <a:avLst>
              <a:gd name="adj1" fmla="val 50000"/>
              <a:gd name="adj2" fmla="val 50000"/>
            </a:avLst>
          </a:prstGeom>
          <a:solidFill>
            <a:srgbClr val="BDD7EE">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7"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Design Principles - Usability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https://github.com/flagos-ai/FlagGems</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92000"/>
              </a:lnSpc>
              <a:defRPr sz="2200" b="0" i="0" u="none" strike="noStrike" spc="0">
                <a:solidFill>
                  <a:srgbClr val="404040">
                    <a:alpha val="100000"/>
                  </a:srgbClr>
                </a:solidFill>
                <a:latin typeface="Calibri" panose="020F0502020204030204"/>
              </a:defRPr>
            </a:lvl1pPr>
          </a:lstStyle>
          <a:p>
            <a:pPr marL="279400" indent="-279400" algn="l">
              <a:lnSpc>
                <a:spcPct val="92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Seamless Integration with High-Level Frameworks</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Register the operator library directly into the framework's internal dispatch mechanism to allow existing models to benefit from acceleration with zero code modifications. </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92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Automatic Hardware Discovery</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Implement runtime detection of the execution environment to automatically load the optimal backend without requiring manual user configuration.</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92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Uniform Interface for Diverse Backends</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Define a standardized abstraction layer so that the same high-level API remains consistent across a wide variety of hardware architectures</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92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Multi-Level Abstraction Architecture</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Offer a tiered abstraction system to meet diverse needs: high-level for rapid prototyping, mid-level for tuning parallelism and tiling, and low-level for expert optimization of hardware specifics like registers and warps</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9"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Design Principles - Performance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https://github.com/flagos-ai/FlagGems</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Persistent Caching and Pre-Tuning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Store optimized computational configurations and pre-warm kernels to eliminate initialization delays and ensure peak performance from the very first execution.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Hardware-Aware Configuration Mapping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Utilize a configuration system that abstracts hardware-specific constraints, such as memory hierarchy and compute unit limits, into the code generation process.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Adaptive Tiling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Decomposes operators into optimal compute tiles based on input dimensions, minimizing padding overhead and maximizing memory bandwidth utilization across variable sequence lengths.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9"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Trade-off</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Dynamic Shape vs. Hardware Alignment</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Arbitrary input sizes often limit hardware-aligned peak performance</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Solution: Adaptive Tiling</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Intuitive Layout vs. Optimal Memory Access</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Standard data formats often conflict with hardware-optimized memory patterns</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Solution: Layout Transformation</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Black-box API vs. Fine-grained Tuning</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Simplified interfaces hide the tuning knobs needed for expert optimization</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Solution: Heuristic Mapping</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A </a:t>
            </a:r>
            <a:r>
              <a:rPr lang="en-US" sz="2400" b="1" i="0" u="none" strike="noStrike" dirty="0">
                <a:solidFill>
                  <a:srgbClr val="404040"/>
                </a:solidFill>
                <a:latin typeface="Calibri" panose="020F0502020204030204"/>
                <a:ea typeface="Calibri" panose="020F0502020204030204"/>
                <a:cs typeface="Calibri" panose="020F0502020204030204"/>
                <a:sym typeface="Calibri" panose="020F0502020204030204"/>
              </a:rPr>
              <a:t>dispatch mechanism </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is required to manage these automated solutions and bridge the gap between user intent and hardware execution.</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9"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Dispatcher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https://blog.ezyang.com/2020/09/lets-talk-about-the-pytorch-dispatcher/</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4" y="1152522"/>
            <a:ext cx="11277601"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A dispatcher is a component that </a:t>
            </a:r>
            <a:r>
              <a:rPr lang="en-US" sz="2400" b="1" i="0" u="none" strike="noStrike" dirty="0">
                <a:solidFill>
                  <a:srgbClr val="404040"/>
                </a:solidFill>
                <a:latin typeface="Calibri" panose="020F0502020204030204"/>
                <a:ea typeface="Calibri" panose="020F0502020204030204"/>
                <a:cs typeface="Calibri" panose="020F0502020204030204"/>
                <a:sym typeface="Calibri" panose="020F0502020204030204"/>
              </a:rPr>
              <a:t>routes</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an operation to the </a:t>
            </a:r>
            <a:r>
              <a:rPr lang="en-US" sz="2400" b="1" i="0" u="none" strike="noStrike" dirty="0">
                <a:solidFill>
                  <a:srgbClr val="404040"/>
                </a:solidFill>
                <a:latin typeface="Calibri" panose="020F0502020204030204"/>
                <a:ea typeface="Calibri" panose="020F0502020204030204"/>
                <a:cs typeface="Calibri" panose="020F0502020204030204"/>
                <a:sym typeface="Calibri" panose="020F0502020204030204"/>
              </a:rPr>
              <a:t>appropriate</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a:t>
            </a:r>
            <a:r>
              <a:rPr lang="en-US" sz="2400" b="1" i="0" u="none" strike="noStrike" dirty="0">
                <a:solidFill>
                  <a:srgbClr val="404040"/>
                </a:solidFill>
                <a:latin typeface="Calibri" panose="020F0502020204030204"/>
                <a:ea typeface="Calibri" panose="020F0502020204030204"/>
                <a:cs typeface="Calibri" panose="020F0502020204030204"/>
                <a:sym typeface="Calibri" panose="020F0502020204030204"/>
              </a:rPr>
              <a:t>implementation</a:t>
            </a: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 or backend based on runtime criteria such as device type, data properties, or configuration policies.</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3183266" y="2388889"/>
            <a:ext cx="5958814" cy="4469111"/>
          </a:xfrm>
          <a:prstGeom prst="rect">
            <a:avLst/>
          </a:prstGeom>
          <a:ln w="12700">
            <a:noFill/>
            <a:prstDash val="solid"/>
          </a:ln>
        </p:spPr>
      </p:pic>
      <p:sp>
        <p:nvSpPr>
          <p:cNvPr id="10"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Simplified Dispatch Workflow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https://blog.ezyang.com/2020/09/lets-talk-about-the-pytorch-dispatcher/</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1. Metadata Collection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Extract metadata such as device, data type, and layout from input tensors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2. Key Computation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Combine multiple attributes to generate a unique Dispatch Key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3. Table Lookup</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Search the global Dispatch Table for the corresponding kernel function pointer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4. Execution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Invoke the specific backend implementation to perform the computation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10992634" y="1454783"/>
            <a:ext cx="440278" cy="3948671"/>
          </a:xfrm>
          <a:prstGeom prst="downArrow">
            <a:avLst>
              <a:gd name="adj1" fmla="val 50000"/>
              <a:gd name="adj2" fmla="val 50000"/>
            </a:avLst>
          </a:prstGeom>
          <a:solidFill>
            <a:srgbClr val="8FAADC">
              <a:alpha val="100000"/>
            </a:srgbClr>
          </a:solidFill>
          <a:ln w="12700" cap="flat">
            <a:solidFill>
              <a:srgbClr val="2E75B6">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Advanced Dispatching Mechanisms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https://blog.ezyang.com/2020/09/lets-talk-about-the-pytorch-dispatcher/</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https://github.com/flagos-ai/FlagGems</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Sequential Re-dispatching</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A single operator call can trigger a chain of handlers by masking processed keys and re-invoking the dispatcher to find the next implementation.</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Heuristic Implementation Selection</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Profile workload metrics (e.g., shapes) and hardware attributes (e.g., SM counts) to adaptively select optimal algorithm paths and execution parameters.</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rPr>
              <a:t>Dynamic Kernel Instantiation</a:t>
            </a:r>
            <a:endParaRPr lang="en-US" sz="24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rPr>
              <a:t> Specialized kernels can be generated and cached on-the-fly to handle various task dimensions or broadcasting patterns without manual coding.</a:t>
            </a:r>
            <a:endParaRPr lang="en-US" sz="2000" b="0" i="0" u="none" strike="noStrike" dirty="0">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9"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Use DSL to Implement Operator Libraries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https://zhuanlan.zhihu.com/p/1977691609266161545</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Grp="1" noChangeAspect="1"/>
          </p:cNvPicPr>
          <p:nvPr>
            <p:ph type="body" sz="quarter" idx="9"/>
          </p:nvPr>
        </p:nvPicPr>
        <p:blipFill>
          <a:blip r:embed="rId1"/>
          <a:srcRect/>
          <a:stretch>
            <a:fillRect/>
          </a:stretch>
        </p:blipFill>
        <p:spPr>
          <a:xfrm>
            <a:off x="6194425" y="1490345"/>
            <a:ext cx="5955665" cy="4507865"/>
          </a:xfrm>
          <a:prstGeom prst="rect">
            <a:avLst/>
          </a:prstGeom>
        </p:spPr>
      </p:pic>
      <p:sp>
        <p:nvSpPr>
          <p:cNvPr id="6" name="AutoShape 6"/>
          <p:cNvSpPr/>
          <p:nvPr/>
        </p:nvSpPr>
        <p:spPr>
          <a:xfrm>
            <a:off x="523875" y="1323974"/>
            <a:ext cx="5572126" cy="5397501"/>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Developers describe “what to do,” while the compiler determines “how to do it.”</a:t>
            </a:r>
            <a:endParaRPr lang="en-US" sz="1100"/>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 total separation between operator logic and physical implementation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Objective: Make operator development simpler and more efficient while ensuring cross-platform portability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Examples: Triton, TileLang, Gluon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10"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DSL for Operator Library - Triton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https://triton-lang.org/main/getting-started/tutorials/01-vector-add.html</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nvSpPr>
        <p:spPr>
          <a:xfrm>
            <a:off x="523875" y="1323974"/>
            <a:ext cx="5572126" cy="5397501"/>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Python-Based Tile Programming</a:t>
            </a:r>
            <a:endParaRPr lang="en-US" sz="1100"/>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Compiler-Driven Optimization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Hardware-Agnostic Abstraction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1437747" y="3146254"/>
            <a:ext cx="2653920" cy="3018677"/>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5717540" y="1767205"/>
            <a:ext cx="6474460" cy="4114165"/>
          </a:xfrm>
          <a:prstGeom prst="rect">
            <a:avLst/>
          </a:prstGeom>
          <a:ln w="12700">
            <a:noFill/>
            <a:prstDash val="solid"/>
          </a:ln>
        </p:spPr>
      </p:pic>
      <p:sp>
        <p:nvSpPr>
          <p:cNvPr id="12"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spd="slow">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6"/>
          </p:nvPr>
        </p:nvSpPr>
        <p:spPr/>
        <p:txBody>
          <a:bodyPr/>
          <a:lstStyle/>
          <a:p>
            <a:r>
              <a:rPr lang="en-US" altLang="zh-CN" dirty="0"/>
              <a:t>Case Study: </a:t>
            </a:r>
            <a:r>
              <a:rPr lang="zh-CN" altLang="zh-CN" dirty="0"/>
              <a:t>Operator Definition</a:t>
            </a:r>
            <a:endParaRPr lang="zh-CN" altLang="zh-CN" dirty="0"/>
          </a:p>
        </p:txBody>
      </p:sp>
      <p:sp>
        <p:nvSpPr>
          <p:cNvPr id="3" name="文本占位符 2"/>
          <p:cNvSpPr>
            <a:spLocks noGrp="1"/>
          </p:cNvSpPr>
          <p:nvPr>
            <p:ph type="body" sz="quarter" idx="7"/>
          </p:nvPr>
        </p:nvSpPr>
        <p:spPr/>
        <p:txBody>
          <a:bodyPr/>
          <a:lstStyle/>
          <a:p>
            <a:endParaRPr lang="zh-CN" altLang="en-US"/>
          </a:p>
        </p:txBody>
      </p:sp>
      <p:sp>
        <p:nvSpPr>
          <p:cNvPr id="5" name="文本占位符 4"/>
          <p:cNvSpPr>
            <a:spLocks noGrp="1"/>
          </p:cNvSpPr>
          <p:nvPr>
            <p:ph type="body" sz="quarter" idx="9"/>
          </p:nvPr>
        </p:nvSpPr>
        <p:spPr/>
        <p:txBody>
          <a:bodyPr/>
          <a:lstStyle/>
          <a:p>
            <a:r>
              <a:rPr lang="zh-CN" altLang="zh-CN" dirty="0"/>
              <a:t>Defining the Operator Schema</a:t>
            </a:r>
            <a:endParaRPr lang="en-US" altLang="zh-CN" dirty="0"/>
          </a:p>
          <a:p>
            <a:r>
              <a:rPr lang="zh-CN" altLang="zh-CN" dirty="0"/>
              <a:t>Decoupling Logic from Hardware</a:t>
            </a:r>
            <a:endParaRPr lang="zh-CN" altLang="en-US" dirty="0"/>
          </a:p>
        </p:txBody>
      </p:sp>
      <p:pic>
        <p:nvPicPr>
          <p:cNvPr id="7" name="图片 6"/>
          <p:cNvPicPr>
            <a:picLocks noChangeAspect="1"/>
          </p:cNvPicPr>
          <p:nvPr/>
        </p:nvPicPr>
        <p:blipFill>
          <a:blip r:embed="rId1"/>
          <a:stretch>
            <a:fillRect/>
          </a:stretch>
        </p:blipFill>
        <p:spPr>
          <a:xfrm>
            <a:off x="815522" y="2509837"/>
            <a:ext cx="9486900" cy="1838325"/>
          </a:xfrm>
          <a:prstGeom prst="rect">
            <a:avLst/>
          </a:prstGeom>
        </p:spPr>
      </p:pic>
      <p:pic>
        <p:nvPicPr>
          <p:cNvPr id="9" name="图片 8"/>
          <p:cNvPicPr>
            <a:picLocks noChangeAspect="1"/>
          </p:cNvPicPr>
          <p:nvPr/>
        </p:nvPicPr>
        <p:blipFill>
          <a:blip r:embed="rId2"/>
          <a:stretch>
            <a:fillRect/>
          </a:stretch>
        </p:blipFill>
        <p:spPr>
          <a:xfrm>
            <a:off x="815522" y="4348162"/>
            <a:ext cx="9529178" cy="1341438"/>
          </a:xfrm>
          <a:prstGeom prst="rect">
            <a:avLst/>
          </a:prstGeom>
        </p:spPr>
      </p:pic>
      <p:sp>
        <p:nvSpPr>
          <p:cNvPr id="11"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6"/>
          </p:nvPr>
        </p:nvSpPr>
        <p:spPr/>
        <p:txBody>
          <a:bodyPr/>
          <a:lstStyle/>
          <a:p>
            <a:r>
              <a:rPr lang="zh-CN" altLang="zh-CN" dirty="0"/>
              <a:t>Implementing the Dispatcher</a:t>
            </a:r>
            <a:endParaRPr lang="zh-CN" altLang="en-US" dirty="0"/>
          </a:p>
        </p:txBody>
      </p:sp>
      <p:sp>
        <p:nvSpPr>
          <p:cNvPr id="3" name="文本占位符 2"/>
          <p:cNvSpPr>
            <a:spLocks noGrp="1"/>
          </p:cNvSpPr>
          <p:nvPr>
            <p:ph type="body" sz="quarter" idx="7"/>
          </p:nvPr>
        </p:nvSpPr>
        <p:spPr/>
        <p:txBody>
          <a:bodyPr/>
          <a:lstStyle/>
          <a:p>
            <a:endParaRPr lang="zh-CN" altLang="en-US"/>
          </a:p>
        </p:txBody>
      </p:sp>
      <p:sp>
        <p:nvSpPr>
          <p:cNvPr id="5" name="文本占位符 4"/>
          <p:cNvSpPr>
            <a:spLocks noGrp="1"/>
          </p:cNvSpPr>
          <p:nvPr>
            <p:ph type="body" sz="quarter" idx="9"/>
          </p:nvPr>
        </p:nvSpPr>
        <p:spPr/>
        <p:txBody>
          <a:bodyPr/>
          <a:lstStyle/>
          <a:p>
            <a:r>
              <a:rPr lang="zh-CN" altLang="zh-CN" dirty="0"/>
              <a:t>CUDA Dispatch - The Performance Path</a:t>
            </a:r>
            <a:endParaRPr lang="en-US" altLang="zh-CN" dirty="0"/>
          </a:p>
          <a:p>
            <a:endParaRPr lang="en-US" altLang="zh-CN" dirty="0"/>
          </a:p>
          <a:p>
            <a:endParaRPr lang="en-US" altLang="zh-CN" dirty="0"/>
          </a:p>
          <a:p>
            <a:endParaRPr lang="en-US" altLang="zh-CN" dirty="0"/>
          </a:p>
          <a:p>
            <a:endParaRPr lang="en-US" altLang="zh-CN" dirty="0"/>
          </a:p>
          <a:p>
            <a:r>
              <a:rPr lang="zh-CN" altLang="zh-CN" dirty="0"/>
              <a:t>Meta Dispatch - The Compilation Path</a:t>
            </a:r>
            <a:endParaRPr lang="zh-CN" altLang="en-US" dirty="0"/>
          </a:p>
        </p:txBody>
      </p:sp>
      <p:sp>
        <p:nvSpPr>
          <p:cNvPr id="7"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pic>
        <p:nvPicPr>
          <p:cNvPr id="9" name="图片 8"/>
          <p:cNvPicPr>
            <a:picLocks noChangeAspect="1"/>
          </p:cNvPicPr>
          <p:nvPr/>
        </p:nvPicPr>
        <p:blipFill>
          <a:blip r:embed="rId1"/>
          <a:stretch>
            <a:fillRect/>
          </a:stretch>
        </p:blipFill>
        <p:spPr>
          <a:xfrm>
            <a:off x="935264" y="1833108"/>
            <a:ext cx="7505700" cy="2219325"/>
          </a:xfrm>
          <a:prstGeom prst="rect">
            <a:avLst/>
          </a:prstGeom>
        </p:spPr>
      </p:pic>
      <p:pic>
        <p:nvPicPr>
          <p:cNvPr id="11" name="图片 10"/>
          <p:cNvPicPr>
            <a:picLocks noChangeAspect="1"/>
          </p:cNvPicPr>
          <p:nvPr/>
        </p:nvPicPr>
        <p:blipFill>
          <a:blip r:embed="rId2"/>
          <a:stretch>
            <a:fillRect/>
          </a:stretch>
        </p:blipFill>
        <p:spPr>
          <a:xfrm>
            <a:off x="935265" y="4624161"/>
            <a:ext cx="7505700" cy="1980562"/>
          </a:xfrm>
          <a:prstGeom prst="rect">
            <a:avLst/>
          </a:prstGeom>
        </p:spPr>
      </p:pic>
    </p:spTree>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6"/>
          </p:nvPr>
        </p:nvSpPr>
        <p:spPr>
          <a:xfrm>
            <a:off x="566420" y="383223"/>
            <a:ext cx="11059160" cy="701040"/>
          </a:xfrm>
        </p:spPr>
        <p:txBody>
          <a:bodyPr/>
          <a:lstStyle/>
          <a:p>
            <a:r>
              <a:rPr lang="zh-CN" altLang="zh-CN" dirty="0"/>
              <a:t>fused_add_rms_norm_backward_kernel</a:t>
            </a:r>
            <a:endParaRPr lang="zh-CN" altLang="zh-CN" dirty="0"/>
          </a:p>
        </p:txBody>
      </p:sp>
      <p:sp>
        <p:nvSpPr>
          <p:cNvPr id="3" name="文本占位符 2"/>
          <p:cNvSpPr>
            <a:spLocks noGrp="1"/>
          </p:cNvSpPr>
          <p:nvPr>
            <p:ph type="body" sz="quarter" idx="7"/>
          </p:nvPr>
        </p:nvSpPr>
        <p:spPr/>
        <p:txBody>
          <a:bodyPr/>
          <a:lstStyle/>
          <a:p>
            <a:endParaRPr lang="zh-CN" altLang="en-US"/>
          </a:p>
        </p:txBody>
      </p:sp>
      <p:sp>
        <p:nvSpPr>
          <p:cNvPr id="5" name="文本占位符 4"/>
          <p:cNvSpPr>
            <a:spLocks noGrp="1"/>
          </p:cNvSpPr>
          <p:nvPr>
            <p:ph type="body" sz="quarter" idx="9"/>
          </p:nvPr>
        </p:nvSpPr>
        <p:spPr/>
        <p:txBody>
          <a:bodyPr/>
          <a:lstStyle/>
          <a:p>
            <a:endParaRPr lang="zh-CN" altLang="en-US" dirty="0"/>
          </a:p>
        </p:txBody>
      </p:sp>
      <p:sp>
        <p:nvSpPr>
          <p:cNvPr id="7"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pic>
        <p:nvPicPr>
          <p:cNvPr id="9" name="图片 8"/>
          <p:cNvPicPr>
            <a:picLocks noChangeAspect="1"/>
          </p:cNvPicPr>
          <p:nvPr/>
        </p:nvPicPr>
        <p:blipFill>
          <a:blip r:embed="rId1"/>
          <a:srcRect r="38332"/>
          <a:stretch>
            <a:fillRect/>
          </a:stretch>
        </p:blipFill>
        <p:spPr>
          <a:xfrm>
            <a:off x="6778063" y="1238251"/>
            <a:ext cx="5294876" cy="5483225"/>
          </a:xfrm>
          <a:prstGeom prst="rect">
            <a:avLst/>
          </a:prstGeom>
        </p:spPr>
      </p:pic>
      <p:sp>
        <p:nvSpPr>
          <p:cNvPr id="6" name="Right Arrow 5"/>
          <p:cNvSpPr/>
          <p:nvPr/>
        </p:nvSpPr>
        <p:spPr>
          <a:xfrm>
            <a:off x="6463735" y="3495231"/>
            <a:ext cx="234388" cy="484632"/>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2"/>
          <a:stretch>
            <a:fillRect/>
          </a:stretch>
        </p:blipFill>
        <p:spPr>
          <a:xfrm>
            <a:off x="83003" y="1232051"/>
            <a:ext cx="6341784" cy="3585141"/>
          </a:xfrm>
          <a:prstGeom prst="rect">
            <a:avLst/>
          </a:prstGeom>
        </p:spPr>
      </p:pic>
      <p:pic>
        <p:nvPicPr>
          <p:cNvPr id="4" name="Picture 3"/>
          <p:cNvPicPr>
            <a:picLocks noChangeAspect="1"/>
          </p:cNvPicPr>
          <p:nvPr/>
        </p:nvPicPr>
        <p:blipFill>
          <a:blip r:embed="rId3"/>
          <a:stretch>
            <a:fillRect/>
          </a:stretch>
        </p:blipFill>
        <p:spPr>
          <a:xfrm>
            <a:off x="252408" y="2950915"/>
            <a:ext cx="6127690" cy="3585141"/>
          </a:xfrm>
          <a:prstGeom prst="rect">
            <a:avLst/>
          </a:prstGeom>
        </p:spPr>
      </p:pic>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6"/>
          </p:nvPr>
        </p:nvSpPr>
        <p:spPr>
          <a:xfrm>
            <a:off x="566420" y="383223"/>
            <a:ext cx="11059160" cy="701040"/>
          </a:xfrm>
        </p:spPr>
        <p:txBody>
          <a:bodyPr/>
          <a:lstStyle/>
          <a:p>
            <a:r>
              <a:rPr lang="en-US" altLang="zh-CN" dirty="0" err="1"/>
              <a:t>FusedAddRMSNorm</a:t>
            </a:r>
            <a:endParaRPr lang="zh-CN" altLang="zh-CN" dirty="0"/>
          </a:p>
        </p:txBody>
      </p:sp>
      <p:sp>
        <p:nvSpPr>
          <p:cNvPr id="3" name="文本占位符 2"/>
          <p:cNvSpPr>
            <a:spLocks noGrp="1"/>
          </p:cNvSpPr>
          <p:nvPr>
            <p:ph type="body" sz="quarter" idx="7"/>
          </p:nvPr>
        </p:nvSpPr>
        <p:spPr/>
        <p:txBody>
          <a:bodyPr/>
          <a:lstStyle/>
          <a:p>
            <a:endParaRPr lang="zh-CN" altLang="en-US"/>
          </a:p>
        </p:txBody>
      </p:sp>
      <p:sp>
        <p:nvSpPr>
          <p:cNvPr id="5" name="文本占位符 4"/>
          <p:cNvSpPr>
            <a:spLocks noGrp="1"/>
          </p:cNvSpPr>
          <p:nvPr>
            <p:ph type="body" sz="quarter" idx="9"/>
          </p:nvPr>
        </p:nvSpPr>
        <p:spPr/>
        <p:txBody>
          <a:bodyPr/>
          <a:lstStyle/>
          <a:p>
            <a:endParaRPr lang="zh-CN" altLang="en-US" dirty="0"/>
          </a:p>
        </p:txBody>
      </p:sp>
      <p:sp>
        <p:nvSpPr>
          <p:cNvPr id="7"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pic>
        <p:nvPicPr>
          <p:cNvPr id="10" name="图片 9"/>
          <p:cNvPicPr>
            <a:picLocks noChangeAspect="1"/>
          </p:cNvPicPr>
          <p:nvPr/>
        </p:nvPicPr>
        <p:blipFill>
          <a:blip r:embed="rId1"/>
          <a:stretch>
            <a:fillRect/>
          </a:stretch>
        </p:blipFill>
        <p:spPr>
          <a:xfrm>
            <a:off x="841829" y="1054122"/>
            <a:ext cx="8956414" cy="5803877"/>
          </a:xfrm>
          <a:prstGeom prst="rect">
            <a:avLst/>
          </a:prstGeom>
        </p:spPr>
      </p:pic>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6"/>
          </p:nvPr>
        </p:nvSpPr>
        <p:spPr/>
        <p:txBody>
          <a:bodyPr/>
          <a:lstStyle/>
          <a:p>
            <a:r>
              <a:rPr lang="zh-CN" altLang="zh-CN" dirty="0"/>
              <a:t>Advanced Dispatching &amp; Trade-offs</a:t>
            </a:r>
            <a:endParaRPr lang="zh-CN" altLang="zh-CN" dirty="0"/>
          </a:p>
        </p:txBody>
      </p:sp>
      <p:sp>
        <p:nvSpPr>
          <p:cNvPr id="3" name="文本占位符 2"/>
          <p:cNvSpPr>
            <a:spLocks noGrp="1"/>
          </p:cNvSpPr>
          <p:nvPr>
            <p:ph type="body" sz="quarter" idx="7"/>
          </p:nvPr>
        </p:nvSpPr>
        <p:spPr/>
        <p:txBody>
          <a:bodyPr/>
          <a:lstStyle/>
          <a:p>
            <a:endParaRPr lang="zh-CN" altLang="en-US"/>
          </a:p>
        </p:txBody>
      </p:sp>
      <p:sp>
        <p:nvSpPr>
          <p:cNvPr id="5" name="文本占位符 4"/>
          <p:cNvSpPr>
            <a:spLocks noGrp="1"/>
          </p:cNvSpPr>
          <p:nvPr>
            <p:ph type="body" sz="quarter" idx="9"/>
          </p:nvPr>
        </p:nvSpPr>
        <p:spPr/>
        <p:txBody>
          <a:bodyPr/>
          <a:lstStyle/>
          <a:p>
            <a:r>
              <a:rPr lang="zh-CN" altLang="zh-CN" dirty="0"/>
              <a:t>Autograd Dispatch - Enabling Backward Pass</a:t>
            </a:r>
            <a:endParaRPr lang="en-US" altLang="zh-CN" dirty="0"/>
          </a:p>
          <a:p>
            <a:endParaRPr lang="en-US" altLang="zh-CN" dirty="0"/>
          </a:p>
          <a:p>
            <a:endParaRPr lang="en-US" altLang="zh-CN" dirty="0"/>
          </a:p>
          <a:p>
            <a:endParaRPr lang="en-US" altLang="zh-CN" dirty="0"/>
          </a:p>
          <a:p>
            <a:r>
              <a:rPr lang="zh-CN" altLang="zh-CN" dirty="0"/>
              <a:t>Sequential Re-dispatching &amp; Trade-offs</a:t>
            </a:r>
            <a:endParaRPr lang="zh-CN" altLang="en-US" dirty="0"/>
          </a:p>
        </p:txBody>
      </p:sp>
      <p:sp>
        <p:nvSpPr>
          <p:cNvPr id="7" name="灯片编号占位符 4"/>
          <p:cNvSpPr txBox="1"/>
          <p:nvPr/>
        </p:nvSpPr>
        <p:spPr>
          <a:xfrm>
            <a:off x="83003" y="599757"/>
            <a:ext cx="526597"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33F7469-D28B-482F-B1B6-3B8E7CF51519}" type="slidenum">
              <a:rPr lang="zh-CN" altLang="en-US" smtClean="0">
                <a:solidFill>
                  <a:schemeClr val="bg1"/>
                </a:solidFill>
              </a:rPr>
            </a:fld>
            <a:endParaRPr lang="zh-CN" altLang="en-US" dirty="0">
              <a:solidFill>
                <a:schemeClr val="bg1"/>
              </a:solidFill>
            </a:endParaRPr>
          </a:p>
        </p:txBody>
      </p:sp>
      <p:pic>
        <p:nvPicPr>
          <p:cNvPr id="11" name="图片 10"/>
          <p:cNvPicPr>
            <a:picLocks noChangeAspect="1"/>
          </p:cNvPicPr>
          <p:nvPr/>
        </p:nvPicPr>
        <p:blipFill>
          <a:blip r:embed="rId1"/>
          <a:stretch>
            <a:fillRect/>
          </a:stretch>
        </p:blipFill>
        <p:spPr>
          <a:xfrm>
            <a:off x="862466" y="1858282"/>
            <a:ext cx="7781925" cy="1123950"/>
          </a:xfrm>
          <a:prstGeom prst="rect">
            <a:avLst/>
          </a:prstGeom>
        </p:spPr>
      </p:pic>
      <p:pic>
        <p:nvPicPr>
          <p:cNvPr id="13" name="图片 12"/>
          <p:cNvPicPr>
            <a:picLocks noChangeAspect="1"/>
          </p:cNvPicPr>
          <p:nvPr/>
        </p:nvPicPr>
        <p:blipFill>
          <a:blip r:embed="rId2"/>
          <a:stretch>
            <a:fillRect/>
          </a:stretch>
        </p:blipFill>
        <p:spPr>
          <a:xfrm>
            <a:off x="862466" y="4027693"/>
            <a:ext cx="8629650" cy="2543175"/>
          </a:xfrm>
          <a:prstGeom prst="rect">
            <a:avLst/>
          </a:prstGeom>
        </p:spPr>
      </p:pic>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6"/>
          </p:nvPr>
        </p:nvSpPr>
        <p:spPr/>
        <p:txBody>
          <a:bodyPr/>
          <a:lstStyle/>
          <a:p>
            <a:endParaRPr lang="zh-CN" altLang="en-US"/>
          </a:p>
        </p:txBody>
      </p:sp>
      <p:sp>
        <p:nvSpPr>
          <p:cNvPr id="3" name="文本占位符 2"/>
          <p:cNvSpPr>
            <a:spLocks noGrp="1"/>
          </p:cNvSpPr>
          <p:nvPr>
            <p:ph type="body" sz="quarter" idx="7"/>
          </p:nvPr>
        </p:nvSpPr>
        <p:spPr/>
        <p:txBody>
          <a:bodyPr/>
          <a:lstStyle/>
          <a:p>
            <a:endParaRPr lang="zh-CN" altLang="en-US"/>
          </a:p>
        </p:txBody>
      </p:sp>
      <p:sp>
        <p:nvSpPr>
          <p:cNvPr id="4" name="文本占位符 3"/>
          <p:cNvSpPr>
            <a:spLocks noGrp="1"/>
          </p:cNvSpPr>
          <p:nvPr>
            <p:ph type="body" sz="quarter" idx="8"/>
          </p:nvPr>
        </p:nvSpPr>
        <p:spPr/>
        <p:txBody>
          <a:bodyPr/>
          <a:lstStyle/>
          <a:p>
            <a:endParaRPr lang="zh-CN" altLang="en-US" dirty="0"/>
          </a:p>
        </p:txBody>
      </p:sp>
      <p:sp>
        <p:nvSpPr>
          <p:cNvPr id="5" name="文本占位符 4"/>
          <p:cNvSpPr>
            <a:spLocks noGrp="1"/>
          </p:cNvSpPr>
          <p:nvPr>
            <p:ph type="body" sz="quarter" idx="9"/>
          </p:nvPr>
        </p:nvSpPr>
        <p:spPr/>
        <p:txBody>
          <a:bodyPr/>
          <a:lstStyle/>
          <a:p>
            <a:endParaRPr lang="zh-CN" altLang="en-US" dirty="0"/>
          </a:p>
        </p:txBody>
      </p:sp>
      <p:pic>
        <p:nvPicPr>
          <p:cNvPr id="6" name="Picture 2"/>
          <p:cNvPicPr>
            <a:picLocks noChangeAspect="1"/>
          </p:cNvPicPr>
          <p:nvPr/>
        </p:nvPicPr>
        <p:blipFill>
          <a:blip r:embed="rId1"/>
          <a:srcRect l="2306" r="2305"/>
          <a:stretch>
            <a:fillRect/>
          </a:stretch>
        </p:blipFill>
        <p:spPr>
          <a:xfrm>
            <a:off x="0" y="1"/>
            <a:ext cx="12192000" cy="6858000"/>
          </a:xfrm>
          <a:prstGeom prst="rect">
            <a:avLst/>
          </a:prstGeom>
        </p:spPr>
      </p:pic>
      <p:sp>
        <p:nvSpPr>
          <p:cNvPr id="7" name="AutoShape 3"/>
          <p:cNvSpPr txBox="1"/>
          <p:nvPr/>
        </p:nvSpPr>
        <p:spPr>
          <a:xfrm>
            <a:off x="4411027" y="2269967"/>
            <a:ext cx="7090409" cy="2664460"/>
          </a:xfrm>
          <a:prstGeom prst="rect">
            <a:avLst/>
          </a:prstGeom>
        </p:spPr>
        <p:txBody>
          <a:bodyPr wrap="square" lIns="91440" tIns="45720" rIns="91440" bIns="45720" anchor="ctr">
            <a:noAutofit/>
          </a:bodyPr>
          <a:lstStyle>
            <a:lvl1pPr marL="360045" marR="0" indent="-360045" algn="l" defTabSz="342900" rtl="0" eaLnBrk="1" fontAlgn="auto" latinLnBrk="0" hangingPunct="1">
              <a:lnSpc>
                <a:spcPct val="92000"/>
              </a:lnSpc>
              <a:spcBef>
                <a:spcPts val="1500"/>
              </a:spcBef>
              <a:spcAft>
                <a:spcPts val="0"/>
              </a:spcAft>
              <a:buClr>
                <a:srgbClr val="8B0012"/>
              </a:buClr>
              <a:buSzTx/>
              <a:buFontTx/>
              <a:buChar char="•"/>
              <a:defRPr sz="4400" b="0" i="0" u="none" strike="noStrike" kern="1200" spc="0" baseline="0">
                <a:solidFill>
                  <a:srgbClr val="44546A">
                    <a:alpha val="100000"/>
                  </a:srgbClr>
                </a:solidFill>
                <a:latin typeface="微软雅黑" panose="020B0503020204020204" pitchFamily="34" charset="-122"/>
                <a:ea typeface="微软雅黑" panose="020B0503020204020204" pitchFamily="3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Tx/>
              <a:buChar char="◦"/>
              <a:defRPr sz="2000" kern="1200" baseline="0">
                <a:solidFill>
                  <a:schemeClr val="tx1">
                    <a:lumMod val="75000"/>
                    <a:lumOff val="25000"/>
                  </a:schemeClr>
                </a:solidFill>
                <a:latin typeface="Calibri" panose="020F0502020204030204" charset="0"/>
                <a:ea typeface="微软雅黑" panose="020B0503020204020204" pitchFamily="3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Tx/>
              <a:buChar char="-"/>
              <a:defRPr sz="1600" kern="1200" baseline="0">
                <a:solidFill>
                  <a:schemeClr val="tx1">
                    <a:lumMod val="75000"/>
                    <a:lumOff val="25000"/>
                  </a:schemeClr>
                </a:solidFill>
                <a:latin typeface="Calibri" panose="020F0502020204030204" charset="0"/>
                <a:ea typeface="微软雅黑" panose="020B0503020204020204" pitchFamily="3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Tx/>
              <a:buChar char="-"/>
              <a:defRPr sz="1200" kern="1200" baseline="0">
                <a:solidFill>
                  <a:schemeClr val="tx1">
                    <a:lumMod val="75000"/>
                    <a:lumOff val="25000"/>
                  </a:schemeClr>
                </a:solidFill>
                <a:latin typeface="Calibri" panose="020F0502020204030204" charset="0"/>
                <a:ea typeface="微软雅黑" panose="020B0503020204020204" pitchFamily="34" charset="-122"/>
                <a:cs typeface="+mn-cs"/>
              </a:defRPr>
            </a:lvl4pPr>
            <a:lvl5pPr marL="1543050" marR="0" indent="-171450" algn="l" defTabSz="342900" rtl="0" eaLnBrk="1" fontAlgn="auto" latinLnBrk="0" hangingPunct="1">
              <a:lnSpc>
                <a:spcPct val="100000"/>
              </a:lnSpc>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rgbClr val="8B0012"/>
              </a:buClr>
              <a:buSzTx/>
              <a:buFontTx/>
              <a:buChar char="-"/>
              <a:defRPr sz="900" kern="1200">
                <a:solidFill>
                  <a:schemeClr val="tx1">
                    <a:lumMod val="75000"/>
                    <a:lumOff val="25000"/>
                  </a:schemeClr>
                </a:solidFill>
                <a:latin typeface="+mn-lt"/>
                <a:ea typeface="+mn-ea"/>
                <a:cs typeface="+mn-cs"/>
              </a:defRPr>
            </a:lvl9pPr>
          </a:lstStyle>
          <a:p>
            <a:pPr indent="0"/>
            <a:r>
              <a:rPr lang="en-US" dirty="0">
                <a:solidFill>
                  <a:srgbClr val="44546A"/>
                </a:solidFill>
                <a:ea typeface="微软雅黑" panose="020B0503020204020204" pitchFamily="34" charset="-122"/>
                <a:cs typeface="微软雅黑" panose="020B0503020204020204" pitchFamily="34" charset="-122"/>
                <a:sym typeface="微软雅黑" panose="020B0503020204020204" pitchFamily="34" charset="-122"/>
              </a:rPr>
              <a:t>Thanks for your time！</a:t>
            </a:r>
            <a:endParaRPr lang="en-US" dirty="0">
              <a:solidFill>
                <a:srgbClr val="44546A"/>
              </a:solidFill>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transition>
    <p:fade/>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COMMONDATA" val="eyJoZGlkIjoiMGVjMjNiN2ZkZTMzMDA4ZWE3OTY1NzI2MTg5NDIzY2IifQ=="/>
  <p:tag name="KSO_WPP_MARK_KEY" val="bcc4c946-421a-4a56-a7c9-e84bf867b565"/>
  <p:tag name="OPCH-3B0B7BF88ED28639230B67E85E4609A8E9BDBE5B513780B712CF187017E42792" val="[{&quot;GradientColorId&quot;:&quot;&quot;,&quot;IsFree&quot;:true,&quot;IsGradient&quot;:false,&quot;ImagePath&quot;:&quot;&quot;,&quot;GradientColor&quot;:null,&quot;SimpleColor&quot;:&quot;#FF0000&quot;}]"/>
</p:tagLst>
</file>

<file path=ppt/theme/theme1.xml><?xml version="1.0" encoding="utf-8"?>
<a:theme xmlns:a="http://schemas.openxmlformats.org/drawingml/2006/main" name="封面">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a:ea typeface="微软雅黑"/>
        <a:cs typeface="Arial"/>
        <a:font script="Jpan" typeface="ＭＳ Ｐゴシック"/>
        <a:font script="Hang" typeface="굴림"/>
        <a:font script="Hans" typeface="微软雅黑"/>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微软雅黑"/>
        <a:cs typeface="Arial"/>
        <a:font script="Jpan" typeface="ＭＳ Ｐ明朝"/>
        <a:font script="Hang" typeface="바탕"/>
        <a:font script="Hans" typeface="微软雅黑"/>
        <a:font script="Hant" typeface="微軟正黑體"/>
        <a:font script="Arab" typeface="Arial"/>
        <a:font script="Hebr" typeface="Arial"/>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内容">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Arial">
      <a:majorFont>
        <a:latin typeface="Arial"/>
        <a:ea typeface="微软雅黑"/>
        <a:cs typeface="Arial"/>
      </a:majorFont>
      <a:minorFont>
        <a:latin typeface="Arial"/>
        <a:ea typeface="微软雅黑"/>
        <a:cs typeface="Arial"/>
      </a:minorFont>
    </a:fontScheme>
    <a:fmtScheme name="极端阴影">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微软雅黑"/>
        <a:cs typeface="Arial"/>
        <a:font script="Jpan" typeface="Yu Gothic Light"/>
        <a:font script="Hang" typeface="맑은 고딕"/>
        <a:font script="Hans" typeface="微软雅黑"/>
        <a:font script="Hant" typeface="微軟正黑體"/>
        <a:font script="Arab" typeface="Arial"/>
        <a:font script="Hebr" typeface="Arial"/>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微软雅黑"/>
        <a:cs typeface="Arial"/>
        <a:font script="Jpan" typeface="Yu Gothic"/>
        <a:font script="Hang" typeface="맑은 고딕"/>
        <a:font script="Hans" typeface="微软雅黑"/>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微软雅黑"/>
        <a:cs typeface="Arial"/>
        <a:font script="Jpan" typeface="游ゴシック Light"/>
        <a:font script="Hang" typeface="맑은 고딕"/>
        <a:font script="Hans" typeface="微软雅黑"/>
        <a:font script="Hant" typeface="微軟正黑體"/>
        <a:font script="Arab" typeface="Arial"/>
        <a:font script="Hebr" typeface="Arial"/>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微软雅黑"/>
        <a:cs typeface="Arial"/>
        <a:font script="Jpan" typeface="游ゴシック"/>
        <a:font script="Hang" typeface="맑은 고딕"/>
        <a:font script="Hans" typeface="微软雅黑"/>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封面</Template>
  <TotalTime>0</TotalTime>
  <Words>17159</Words>
  <Application>WPS 演示</Application>
  <PresentationFormat>Widescreen</PresentationFormat>
  <Paragraphs>669</Paragraphs>
  <Slides>63</Slides>
  <Notes>24</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63</vt:i4>
      </vt:variant>
    </vt:vector>
  </HeadingPairs>
  <TitlesOfParts>
    <vt:vector size="78" baseType="lpstr">
      <vt:lpstr>Arial</vt:lpstr>
      <vt:lpstr>宋体</vt:lpstr>
      <vt:lpstr>Wingdings</vt:lpstr>
      <vt:lpstr>Calibri</vt:lpstr>
      <vt:lpstr>微软雅黑</vt:lpstr>
      <vt:lpstr>Noto Sans SC</vt:lpstr>
      <vt:lpstr>Garamond</vt:lpstr>
      <vt:lpstr>Calibri</vt:lpstr>
      <vt:lpstr>等线</vt:lpstr>
      <vt:lpstr>Helvetica</vt:lpstr>
      <vt:lpstr>Arial Unicode MS</vt:lpstr>
      <vt:lpstr>Arial</vt:lpstr>
      <vt:lpstr>Ebrima</vt:lpstr>
      <vt:lpstr>封面</vt:lpstr>
      <vt:lpstr>内容</vt:lpstr>
      <vt:lpstr>High performance AI operators and operator Engineering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Transformer Components as Operators</vt:lpstr>
      <vt:lpstr>Data Movement Often Limits Attention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容错域量子EDA研究</dc:title>
  <dc:creator>王丰</dc:creator>
  <cp:lastModifiedBy>Zhiqiang Zhao</cp:lastModifiedBy>
  <cp:revision>1720</cp:revision>
  <dcterms:created xsi:type="dcterms:W3CDTF">2026-07-28T00:20:00Z</dcterms:created>
  <dcterms:modified xsi:type="dcterms:W3CDTF">2026-08-05T09:44:41Z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F7191C2708FD07F82CD87F6915CBD24F_43</vt:lpwstr>
  </property>
  <property fmtid="{D5CDD505-2E9C-101B-9397-08002B2CF9AE}" pid="3" name="KSOProductBuildVer">
    <vt:lpwstr>2052-12.1.0.21915</vt:lpwstr>
  </property>
</Properties>
</file>