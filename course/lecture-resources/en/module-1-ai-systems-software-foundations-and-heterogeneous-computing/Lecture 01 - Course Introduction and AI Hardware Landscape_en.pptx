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31"/>
  </p:notesMasterIdLst>
  <p:sldIdLst>
    <p:sldId id="256" r:id="rId3"/>
    <p:sldId id="32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321" r:id="rId28"/>
    <p:sldId id="322" r:id="rId29"/>
    <p:sldId id="281" r:id="rId30"/>
  </p:sldIdLst>
  <p:sldSz cx="12192000" cy="6858000"/>
  <p:notesSz cx="6858000" cy="9144000"/>
  <p:custDataLst>
    <p:tags r:id="rId3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E4B644-D0C3-4EBC-B9ED-63DD680D83BC}" styleName="表样式 1 14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9A74872-F02B-4E3C-AB47-1B6172E16CCE}" styleName="表样式 1 14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</a:ln>
          </a:top>
          <a:bottom>
            <a:ln w="9525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huawei.com/enterprise/zh/doc/EDOC1100162135/74b99d28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需要涉及的要点</a:t>
            </a:r>
            <a:r>
              <a:rPr lang="en-US" altLang="zh-CN"/>
              <a:t>：</a:t>
            </a:r>
          </a:p>
          <a:p>
            <a:r>
              <a:rPr lang="en-US" altLang="zh-CN"/>
              <a:t>- </a:t>
            </a:r>
            <a:r>
              <a:rPr lang="zh-CN" altLang="en-US"/>
              <a:t>第一课时</a:t>
            </a:r>
            <a:r>
              <a:rPr lang="en-US" altLang="zh-CN"/>
              <a:t>：</a:t>
            </a:r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Architectures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的逐渐演化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由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AI/ML workload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引导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逐渐展示出多种多样的架构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如华为达芬奇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、AMD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等等</a:t>
            </a: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第二课时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互联的硬件基础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与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 core、Tensor core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的编程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。</a:t>
            </a: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可能还需要涉及的点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课程整体设计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（Syllabus、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各个模块的内容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根据教学大纲生成了个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overview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的图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https://lilianweng.github.io/posts/2023-06-23-agent/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https://openrouter.ai/announcements/the-2025-state-of-ai-report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https://github.com/baaivision/URSA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https://eu.36kr.com/en/p/3576900266261385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3" tooltip="https://support.huawei.com/enterprise/zh/doc/EDOC1100162135/74b99d28"/>
              </a:rPr>
              <a:t>https://support.huawei.com/enterprise/zh/doc/EDOC1100162135/74b99d28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https://consumer.huawei.com/cn/phones/mate-x7/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找权威的数据或者来源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找权威的数据或者来源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详细讲一些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model timeline: https://lifearchitect.ai/timeline/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GIF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48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47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5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44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43.png"/><Relationship Id="rId9" Type="http://schemas.openxmlformats.org/officeDocument/2006/relationships/hyperlink" Target="https://space.bilibili.com/3546791834290849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Course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 lang="en-US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215900" y="1333675"/>
          <a:ext cx="11760200" cy="4821555"/>
        </p:xfrm>
        <a:graphic>
          <a:graphicData uri="http://schemas.openxmlformats.org/drawingml/2006/table">
            <a:tbl>
              <a:tblPr firstRow="1" bandCol="1">
                <a:tableStyleId>{F5E4B644-D0C3-4EBC-B9ED-63DD680D83BC}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7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25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200" spc="120"/>
                        <a:t>Week</a:t>
                      </a:r>
                    </a:p>
                  </a:txBody>
                  <a:tcPr marL="107950" marR="107950" marT="12700" marB="12700" anchor="ctr"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200" spc="120"/>
                        <a:t>Module</a:t>
                      </a:r>
                    </a:p>
                  </a:txBody>
                  <a:tcPr marL="107950" marR="107950" marT="12700" marB="12700" anchor="ctr"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200" spc="120"/>
                        <a:t>Main Content</a:t>
                      </a:r>
                    </a:p>
                  </a:txBody>
                  <a:tcPr marL="107950" marR="107950" marT="12700" marB="12700" anchor="ctr"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1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rowSpan="4"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Module 1: AI System Fundamentals &amp; Heterogeneous Computing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Overview of AI hardware architecture; challenges to Moore's Law and trends in heterogeneous computing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2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SIMT programming model; thread hierarchy and memory hierarchy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3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Analysis of deep learning framework call chains; Shared Memory and Bank Conflict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4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Cache locality optimization; Tiled matrix multiplication; Introduction to Triton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5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rowSpan="4"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Module 2: High-Performance AI Operators &amp; Operator Engineering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Principles of Transformer attention mechanism; design and implementation of FlashAttention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6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Optimization of convolution, normalization, and activation function operators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7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Operator fusion techniques; debugging and profiling of complex operators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8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Q&amp;A and discussion on Module 1 / Module 2 labs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9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rowSpan="4"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Module 3: AI Compiler Principles &amp; Optimization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Overview of AI compilers; fundamentals of Intermediate Representation (IR); SSA and computation graphs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10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In-depth analysis of MLIR architecture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11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Operator fusion passes: graph matching, pattern recognition, and subgraph rewriting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12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Layout and memory planning; multi-chip backend code generation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13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Module 4: Distributed Parallel Training &amp; Communication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Principles of data parallelism, tensor parallelism, and pipeline parallelism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14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Communication primitives and topology optimization; hybrid parallelism and memory optimization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15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Module 5: Performance Evaluation &amp; Frontier Outlook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Operator performance metrics; automatic operator tuning; LLM-assisted code generation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16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B w="12700">
                      <a:solidFill>
                        <a:schemeClr val="accent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</a:pPr>
                      <a:r>
                        <a:rPr lang="en-US" altLang="zh-CN" sz="1000" spc="60"/>
                        <a:t>Specialized optimization for domestic AI chips; FlagOS ecosystem and frontier technology outlook; course summary</a:t>
                      </a:r>
                    </a:p>
                  </a:txBody>
                  <a:tcPr marL="107950" marR="107950" marT="12700" marB="12700" anchor="ctr">
                    <a:lnL w="12700">
                      <a:solidFill>
                        <a:schemeClr val="accent1"/>
                      </a:solidFill>
                      <a:prstDash val="solid"/>
                    </a:lnL>
                    <a:lnR w="12700">
                      <a:solidFill>
                        <a:schemeClr val="accent1"/>
                      </a:solidFill>
                      <a:prstDash val="solid"/>
                    </a:lnR>
                    <a:lnT w="12700">
                      <a:solidFill>
                        <a:schemeClr val="accent1"/>
                      </a:solidFill>
                      <a:prstDash val="solid"/>
                    </a:lnT>
                    <a:lnB w="12700">
                      <a:solidFill>
                        <a:schemeClr val="accent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01: Course Introduction and AI Hardware Landscape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Token-Hungry Generative AI Applications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 lang="en-US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LLM-powered autonomous agents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Token consumption trends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image source:  lilianweng.github.io,  openrouter.ai,  36kr.com (with doubao phone),  github.com/baaivision/URSA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mobile phone and AI PC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Video generation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02715" y="1762760"/>
            <a:ext cx="4115435" cy="163258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9805" y="3874770"/>
            <a:ext cx="4680000" cy="238761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15050" y="4262120"/>
            <a:ext cx="5760000" cy="1800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550150" y="1762760"/>
            <a:ext cx="2889250" cy="16256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Hardware Spectrum: Key Examples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50504" y="3763828"/>
            <a:ext cx="4847835" cy="272149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419250" y="1978814"/>
            <a:ext cx="2160000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Cloud ML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Huawei Ascend</a:t>
            </a:r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Cambricon MLU370</a:t>
            </a:r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etc.</a:t>
            </a:r>
          </a:p>
        </p:txBody>
      </p:sp>
      <p:sp>
        <p:nvSpPr>
          <p:cNvPr id="7" name="AutoShape 7"/>
          <p:cNvSpPr/>
          <p:nvPr/>
        </p:nvSpPr>
        <p:spPr>
          <a:xfrm>
            <a:off x="9354070" y="1978586"/>
            <a:ext cx="2448000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Edge ML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Iluvatar</a:t>
            </a:r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TY1200</a:t>
            </a:r>
          </a:p>
        </p:txBody>
      </p:sp>
      <p:sp>
        <p:nvSpPr>
          <p:cNvPr id="8" name="AutoShape 8"/>
          <p:cNvSpPr/>
          <p:nvPr/>
        </p:nvSpPr>
        <p:spPr>
          <a:xfrm>
            <a:off x="568475" y="4868975"/>
            <a:ext cx="2017265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Mobile ML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Kirin 9030 Pro</a:t>
            </a:r>
          </a:p>
        </p:txBody>
      </p:sp>
      <p:sp>
        <p:nvSpPr>
          <p:cNvPr id="9" name="AutoShape 9"/>
          <p:cNvSpPr/>
          <p:nvPr/>
        </p:nvSpPr>
        <p:spPr>
          <a:xfrm>
            <a:off x="9292377" y="4869029"/>
            <a:ext cx="2448000" cy="4149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5482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Tiny ML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Arduino Nano 33</a:t>
            </a:r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BLE Sense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74410" y="1403350"/>
            <a:ext cx="3600000" cy="17510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115945" y="3996055"/>
            <a:ext cx="2160000" cy="2160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755900" y="1266190"/>
            <a:ext cx="2880000" cy="202581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pic>
        <p:nvPicPr>
          <p:cNvPr id="4" name="Picture 4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682625" y="675503"/>
            <a:ext cx="11277600" cy="1891622"/>
          </a:xfrm>
          <a:prstGeom prst="rect">
            <a:avLst/>
          </a:prstGeom>
        </p:spPr>
      </p:pic>
      <p:pic>
        <p:nvPicPr>
          <p:cNvPr id="6" name="Picture 5" descr="E:/BAAI/COURSE/i18n/fr/unitree.pngunitree"/>
          <p:cNvPicPr>
            <a:picLocks noChangeAspect="1"/>
          </p:cNvPicPr>
          <p:nvPr/>
        </p:nvPicPr>
        <p:blipFill>
          <a:blip r:embed="rId3"/>
          <a:srcRect t="8" b="8"/>
          <a:stretch>
            <a:fillRect/>
          </a:stretch>
        </p:blipFill>
        <p:spPr>
          <a:xfrm>
            <a:off x="4406900" y="2717800"/>
            <a:ext cx="7497445" cy="400367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Hardware Demands of AI/ML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image:	https://medium.com/geekculture/business-analysis-ai-computational-cost-67a136957c95</a:t>
            </a:r>
          </a:p>
          <a:p>
            <a:pPr indent="45720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	https://ourworldindata.org/grapher/artificial-intelligence-parameter-count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28383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20000"/>
          </a:bodyPr>
          <a:lstStyle>
            <a:lvl1pPr algn="l">
              <a:lnSpc>
                <a:spcPct val="117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 Parameters</a:t>
            </a:r>
          </a:p>
          <a:p>
            <a:pPr marL="596900" lvl="1" indent="-2540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exponential growth.</a:t>
            </a:r>
          </a:p>
          <a:p>
            <a:pPr marL="304800" indent="-3048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Computational Demand</a:t>
            </a:r>
          </a:p>
          <a:p>
            <a:pPr marL="596900" lvl="1" indent="-2540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Outpacing the Moore's Law.</a:t>
            </a:r>
          </a:p>
          <a:p>
            <a:pPr marL="596900" lvl="1" indent="-2540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Comparison between compute cost and U.S GDP byOpenAI.</a:t>
            </a:r>
          </a:p>
          <a:p>
            <a:pPr marL="304800" indent="-3048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Communication Scale</a:t>
            </a:r>
          </a:p>
          <a:p>
            <a:pPr marL="596900" lvl="1" indent="-2540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new critical bottleneck.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b="27273"/>
          <a:stretch>
            <a:fillRect/>
          </a:stretch>
        </p:blipFill>
        <p:spPr>
          <a:xfrm>
            <a:off x="6054090" y="3467100"/>
            <a:ext cx="5261610" cy="28067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37580" y="1066800"/>
            <a:ext cx="5261610" cy="25996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General-Purpose CPUs Failed AI (1/2)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A. Gholami, Z. Yao, S. Kim, C. Hooper, M. W. Mahoney and K. Keutzer, "AI and Memory Wall," in IEEE Micro, vol. 44, no. 3, pp. 33-39, May-June 2024, doi: 10.1109/MM.2024.3373763.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66813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CPU's Legacy: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decades, the Central Processing Unit (CPU) was the universal engine of computing, designed for sequential, general-purpose tasks.   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Two Crises: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8B0012"/>
              </a:buClr>
              <a:buChar char="•"/>
            </a:pPr>
            <a:r>
              <a:rPr lang="en-US" sz="2000" b="0" i="0" u="none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Von Neumann Bottleneck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Constant data shuffling between processing and memory units created a fundamental efficiency limit, consuming more energy than the actual computation.  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8B0012"/>
              </a:buClr>
              <a:buChar char="•"/>
            </a:pPr>
            <a:r>
              <a:rPr lang="en-US" sz="2000" b="0" i="0" u="none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End of Performance Scaling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 Dennard Scaling and the derived performance effects from Moore’s Law, which provided decades of exponential performance growth, came to an end.  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65010" y="1243965"/>
            <a:ext cx="4661535" cy="24511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36180" y="3585845"/>
            <a:ext cx="3581400" cy="26257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General-Purpose CPUs Failed AI (2/2)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A. Gholami et al., "AI and Memory Wall," in IEEE Micro, vol. 44, no. 3, pp. 33-39, May-June 2024.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80072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Mismatch: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CPUs' sequential design is fundamentally inefficient for the massive parallelism inherent in AI workloads like matrix multiplication.   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A5A5A5"/>
              </a:buClr>
              <a:buChar char="•"/>
            </a:pPr>
            <a:r>
              <a:rPr lang="en-US" sz="2000" b="0" i="1" u="none" strike="noStrike">
                <a:solidFill>
                  <a:srgbClr val="A5A5A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CPUs achieve only 5-10% utilization on neural network workloads, delivering approximately 100 GFLOPS10 while consuming hundreds of watts*.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Conclusion: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AI's exponential demands exposed the limits of the general-purpose model, forcing a shift to specialized hardware.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25590" y="1740535"/>
            <a:ext cx="5432425" cy="36595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Rise of the GPU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J. D. Owens, M. Houston, D. Luebke, S. Green, J. E. Stone and J. C. Phillips, "GPU Computing," in Proceedings of the IEEE, vol. 96, no. 5, pp. 879-899, May 2008, doi: 10.1109/JPROC.2008.917757.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29920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Unlikely Hero: The Graphics Processing Unit (GPU) was born in the late 1990s for video game graphics, featuring thousands of simple cores for parallel tasks.   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Architectural Resonance: The core math of graphics (matrix and vector operations) was identical to the math of deep learning, making GPUs a perfect, albeit accidental, fit.   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08190" y="834390"/>
            <a:ext cx="4105275" cy="50476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Rise of the GPU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J. D. Owens, M. Houston, D. Luebke, S. Green, J. E. Stone and J. C. Phillips, "GPU Computing," in Proceedings of the IEEE, vol. 96, no. 5, pp. 879-899, May 2008, doi: 10.1109/JPROC.2008.917757.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31063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Software Catalyst: CUDA: NVIDIA's CUDA platform (2007) unlocked the GPU for general-purpose computing, making its power accessible to AI researchers without deep graphics expertise.   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Result: Training times for AI models plummeted from weeks to hours, establishing the GPU as the de facto standard for AI training.   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4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53580" y="1132840"/>
            <a:ext cx="4160520" cy="25082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34505" y="3641090"/>
            <a:ext cx="4379595" cy="241427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1st-Gen Tensor Core: Warp-scoped MMA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4054" y="1537049"/>
            <a:ext cx="7200000" cy="442635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23958" y="1537028"/>
            <a:ext cx="4263571" cy="25386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Scaling of Tensor Cores in NIVIDIA GPUs (1/3)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pic>
        <p:nvPicPr>
          <p:cNvPr id="5" name="Picture 5"/>
          <p:cNvPicPr>
            <a:picLocks noGrp="1" noChangeAspect="1"/>
          </p:cNvPicPr>
          <p:nvPr>
            <p:ph type="body" sz="quarter" idx="9"/>
          </p:nvPr>
        </p:nvPicPr>
        <p:blipFill>
          <a:blip r:embed="rId2"/>
          <a:srcRect/>
          <a:stretch>
            <a:fillRect/>
          </a:stretch>
        </p:blipFill>
        <p:spPr>
          <a:xfrm>
            <a:off x="523875" y="1473261"/>
            <a:ext cx="11277600" cy="4554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Scaling of Tensor Cores in NIVIDIA GPUs (2/3)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5300" y="1206500"/>
            <a:ext cx="11201400" cy="4445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Scaling of Tensor Cores in NIVIDIA GPUs (3/3)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Core throughput doubled every generation, but global memory load latency didn’t decrease and in fact increased. As a result, we need to increase the staging SMEM size for buffering more data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90525" y="2677021"/>
            <a:ext cx="11316190" cy="334181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Architectures Evolve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series (+ Tensor cores)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TPU series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Ascend series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CPU series:  Intel (+ matrix extension);  AMD (+ NPU) 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compute-in-memory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wafer-scale chip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Supernode and Hypercomputer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...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Huawei DaVinci Architecture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H. Liao, J. Tu, J. Xia and X. Zhou, "DaVinci: A Scalable Architecture for Neural Network Computing," IEEE Hot Chips 31 Symposium (HCS), 2019.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Cube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4096(16^3) FP16 MACs + 8192 INT8 MACs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Vector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2048bit INT8/FP16/FP32 vector with special functions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activation functions, NMS- Non Minimum Suppression, ROI, SORT</a:t>
            </a: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Explicit memory hierarchy design, managed by MTE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24735" y="3357245"/>
            <a:ext cx="7362190" cy="29991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Intel’s Advanced Matrix Extensions (AMX)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11378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Strategy: Enhance CPU with AI acceleration capabilities.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Architecture: An extension to the x86 ISA, not a separate chip.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Components: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Tiles: 2D register files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TMUL: dedicated matrix multiply instruction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Explicit load/store/configuration model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Instructions: tilecfg, tileload, tmul, tilestore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Initial support: INT8, BF16 (extensions for FP16)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63740" y="1323975"/>
            <a:ext cx="5008880" cy="19494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87260" y="3562350"/>
            <a:ext cx="4648835" cy="27787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AMD Zen + RDNA + XDNA SoC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523875" y="1323975"/>
            <a:ext cx="7201059" cy="3677271"/>
            <a:chOff x="523875" y="1323975"/>
            <a:chExt cx="7201059" cy="3677271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 l="15649" t="23097" r="14961" b="13910"/>
            <a:stretch>
              <a:fillRect/>
            </a:stretch>
          </p:blipFill>
          <p:spPr>
            <a:xfrm>
              <a:off x="523875" y="1323975"/>
              <a:ext cx="7201059" cy="3677271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id="8" name="AutoShape 8"/>
            <p:cNvSpPr/>
            <p:nvPr/>
          </p:nvSpPr>
          <p:spPr>
            <a:xfrm>
              <a:off x="893296" y="1663757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893296" y="1927327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893296" y="2172902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93296" y="2424828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3802087" y="1663757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3802087" y="1927327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3802087" y="2172902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3802087" y="2424828"/>
              <a:ext cx="840459" cy="179947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4712408" y="3265286"/>
              <a:ext cx="600176" cy="299559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4712408" y="3641058"/>
              <a:ext cx="600176" cy="299559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712408" y="4033766"/>
              <a:ext cx="600176" cy="299559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4712408" y="4418006"/>
              <a:ext cx="600176" cy="299559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012908" y="4088809"/>
              <a:ext cx="600176" cy="600176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726345" y="4088809"/>
              <a:ext cx="600176" cy="600176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2429197" y="4088809"/>
              <a:ext cx="600176" cy="600176"/>
            </a:xfrm>
            <a:prstGeom prst="rect">
              <a:avLst/>
            </a:prstGeom>
            <a:noFill/>
            <a:ln w="12700" cap="flat">
              <a:solidFill>
                <a:srgbClr val="FFFF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01660" y="2490470"/>
            <a:ext cx="3600000" cy="25108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24" name="AutoShape 24"/>
          <p:cNvSpPr/>
          <p:nvPr/>
        </p:nvSpPr>
        <p:spPr>
          <a:xfrm>
            <a:off x="8201660" y="5001260"/>
            <a:ext cx="3599815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XDNA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IMC Architecture (d-Matrix)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713867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Compute: Digital IMC (DIMC)</a:t>
            </a:r>
          </a:p>
          <a:p>
            <a:pPr marL="558800" lvl="1" indent="-2159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Data Movement: Logic units integrated within SRAM to eliminate transfer overhead.</a:t>
            </a:r>
          </a:p>
          <a:p>
            <a:pPr marL="558800" lvl="1" indent="-2159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Digital Precision: Supports MXINT8/MXINT4 block-floating-point formats.</a:t>
            </a:r>
          </a:p>
          <a:p>
            <a:pPr marL="558800" lvl="1" indent="-2159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Efficiency: </a:t>
            </a:r>
            <a:r>
              <a:rPr lang="en-US" sz="1700" b="1" i="0" u="none" strike="noStrike">
                <a:solidFill>
                  <a:srgbClr val="8B001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38 TOPS/W</a:t>
            </a: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(vs. ~2.8 TOPS/W for H100).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Storage: SRAM &amp; Memory Hierarchy</a:t>
            </a:r>
          </a:p>
          <a:p>
            <a:pPr marL="558800" lvl="1" indent="-2159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Stash (Weights): 6MB/slice; 150 TB/s aggregate bandwidth.</a:t>
            </a:r>
          </a:p>
          <a:p>
            <a:pPr marL="558800" lvl="1" indent="-2159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Global Memory (Activations): 4MB/slice.</a:t>
            </a:r>
          </a:p>
          <a:p>
            <a:pPr marL="558800" lvl="1" indent="-2159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LPDDR5 (256GB): For massive models and KV Cache.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Scalability &amp; Software</a:t>
            </a:r>
          </a:p>
          <a:p>
            <a:pPr marL="558800" lvl="1" indent="-2159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Scale-Out: Transparent interconnect bypassing RDMA.</a:t>
            </a:r>
          </a:p>
          <a:p>
            <a:pPr marL="558800" lvl="1" indent="-2159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Host-Free Runtime: RISC-V cores manage graph execution, eliminating Host CPU bottlenecks.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457440" y="824865"/>
            <a:ext cx="4594860" cy="5790565"/>
            <a:chOff x="7145020" y="431800"/>
            <a:chExt cx="4907280" cy="618363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7145020" y="3429000"/>
              <a:ext cx="4907280" cy="3186430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7968615" y="431800"/>
              <a:ext cx="3239770" cy="2507615"/>
            </a:xfrm>
            <a:prstGeom prst="rect">
              <a:avLst/>
            </a:prstGeom>
            <a:ln w="12700">
              <a:noFill/>
              <a:prstDash val="solid"/>
            </a:ln>
          </p:spPr>
        </p:pic>
        <p:cxnSp>
          <p:nvCxnSpPr>
            <p:cNvPr id="9" name="Connector 9"/>
            <p:cNvCxnSpPr/>
            <p:nvPr/>
          </p:nvCxnSpPr>
          <p:spPr>
            <a:xfrm>
              <a:off x="7954010" y="2908935"/>
              <a:ext cx="2936240" cy="659130"/>
            </a:xfrm>
            <a:prstGeom prst="line">
              <a:avLst/>
            </a:prstGeom>
            <a:noFill/>
            <a:ln w="12700" cap="flat">
              <a:solidFill>
                <a:srgbClr val="A5A5A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0" name="Connector 10"/>
            <p:cNvCxnSpPr/>
            <p:nvPr/>
          </p:nvCxnSpPr>
          <p:spPr>
            <a:xfrm>
              <a:off x="11181080" y="2886710"/>
              <a:ext cx="27305" cy="681355"/>
            </a:xfrm>
            <a:prstGeom prst="line">
              <a:avLst/>
            </a:prstGeom>
            <a:noFill/>
            <a:ln w="12700" cap="flat">
              <a:solidFill>
                <a:srgbClr val="A5A5A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Wafer-Scale Architecture (Cerebras)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773430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17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15900" indent="-2159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WSE-3 Specs (vs. NVIDIA H100) 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Die Area: 46,225 mm</a:t>
            </a:r>
            <a:r>
              <a:rPr lang="en-US" sz="1400" b="0" i="0" u="none" strike="noStrike" baseline="30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(57x</a:t>
            </a:r>
            <a:r>
              <a:rPr lang="en-US" sz="1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↘)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Cores: 900,000 AI cores (52x</a:t>
            </a:r>
            <a:r>
              <a:rPr lang="en-US" sz="1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↘)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on-chip Memory: 44 GB SRAM (880x)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Bandwidth: 21 PB/s (7000x)</a:t>
            </a:r>
          </a:p>
          <a:p>
            <a:pPr marL="215900" indent="-2159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WSE-3 Core Architecture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Co-located Compute &amp; Memory: Logic and storage are tightly coupled to minimize latency.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High-Performance AI Compute: 8/16-way SIMD supporting 16-bit/8-bit data formats.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High-Bandwidth Storage: Massive local SRAM and specialized cache hierarchies.</a:t>
            </a:r>
          </a:p>
          <a:p>
            <a:pPr marL="215900" indent="-2159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7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Inference Strategy: On-Chip Pipeline Parallelism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Physical Mapping: Model layers are mapped across different wafer regions.</a:t>
            </a:r>
          </a:p>
          <a:p>
            <a:pPr marL="520700" lvl="1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Near-Zero Latency: Communication happens via a high-speed Silicon Interconnect, effectively eliminating traditional networking overhead.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r="38870" b="-807"/>
          <a:stretch>
            <a:fillRect/>
          </a:stretch>
        </p:blipFill>
        <p:spPr>
          <a:xfrm>
            <a:off x="8434705" y="1237615"/>
            <a:ext cx="1799590" cy="20624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68690" y="3404870"/>
            <a:ext cx="2690495" cy="31261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l="75302" t="69305"/>
          <a:stretch>
            <a:fillRect/>
          </a:stretch>
        </p:blipFill>
        <p:spPr>
          <a:xfrm>
            <a:off x="10410825" y="1931670"/>
            <a:ext cx="727075" cy="6280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Supernode Architecture (NVL72 &amp; CloudMatrix 384)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https://zhuanlan.zhihu.com/p/1919101924445254162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65353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19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41300" indent="-2413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 NVL72: "The Rack is the Chip"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Chip-Centric, Compute-First Supernode: Designed as a unified computational entity.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Architecture: 72 Blackwell GPUs integrated into a single rack, interconnected via a Copper Backplane (NVLink Switch).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Objective: Emulate Wafer-Scale (WSI) performance using discrete components; leverages copper interconnects for rack-level All-to-All high bandwidth.</a:t>
            </a:r>
          </a:p>
          <a:p>
            <a:pPr marL="241300" indent="-2413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9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Huawei Cloud-Matrix 384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System-Centric, Communication-First Unified Supernode: Prioritizes large-scale interconnect efficiency.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Mechanism: Interconnects hundreds of Ascend processors via the proprietary HCCS protocol to build a Unified Memory Pool.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General-Purpose Advantage: Unlike niche inference chips, it balances large-scale training and inference, backed by the mature CANN ecosystem.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12125" y="1065530"/>
            <a:ext cx="2963545" cy="29635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79310" y="4284980"/>
            <a:ext cx="4622165" cy="199326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 Parameter vs GPU Memory Capacity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NLP Moore’s Law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Model Params: </a:t>
            </a:r>
            <a:r>
              <a:rPr lang="en-US" sz="1800" b="1" i="0" u="none" strike="noStrik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&gt;10,000</a:t>
            </a:r>
            <a:r>
              <a:rPr lang="en-US" sz="18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growth in 7 years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GPU Memory Growth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Capacity: </a:t>
            </a:r>
            <a:r>
              <a:rPr lang="en-US" sz="1800" b="1" i="0" u="none" strike="noStrik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&lt;10</a:t>
            </a:r>
            <a:r>
              <a:rPr lang="en-US" sz="1800" b="1" i="0" u="none" strike="noStrike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×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growth in 7 years 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991235" y="2295525"/>
          <a:ext cx="4288155" cy="350329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5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25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Time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Model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Size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2018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BERT-Large 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0.34 B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2019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GPT-2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1.5 B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2020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GPT-3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175 B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2023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GPT-4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≈1.8 T (MoE)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2024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Llama-3.1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405 B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2024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Gemini 1.5 Pro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≈1.5 T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2024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DeepSeek-V3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671 B (MoE)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GPT-4.5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≈12.8 T (MoE)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156325" y="2295525"/>
          <a:ext cx="4861560" cy="312039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15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Time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GPU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Memory Capacity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Memory Bandwidth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2018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V100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32 GB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900 GB/s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2020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A100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80 GB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2.0 TB/s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2022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A800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80 GB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2.0 TB/s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2023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H100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94 GB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3.9 TB/s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2024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H200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141 GB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4.8 TB/s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B200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192 GB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8 TB/s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2025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B300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288 GB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 TB/s</a:t>
                      </a:r>
                      <a:endParaRPr lang="en-US" sz="110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5183505" y="5927090"/>
            <a:ext cx="6617970" cy="368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1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Massive-scale, high-bandwidth</a:t>
            </a:r>
            <a:r>
              <a:rPr lang="en-US" sz="1800" b="0" i="1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interconnects are mandatory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AI Obstacle Course: </a:t>
            </a:r>
            <a:r>
              <a:rPr lang="en-US" sz="24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Challenge of a Multi-Chip World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62860" y="1741170"/>
            <a:ext cx="7200000" cy="40186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-34924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00086,50052716,50000090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Microsoft Office PowerPoint</Application>
  <PresentationFormat>宽屏</PresentationFormat>
  <Paragraphs>309</Paragraphs>
  <Slides>28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Noto Sans SC</vt:lpstr>
      <vt:lpstr>Pretendard</vt:lpstr>
      <vt:lpstr>等线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52</cp:revision>
  <dcterms:created xsi:type="dcterms:W3CDTF">2026-04-14T06:08:00Z</dcterms:created>
  <dcterms:modified xsi:type="dcterms:W3CDTF">2026-05-27T10:06:59Z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9A866395107AA02062CEDD69306860DC_42</vt:lpwstr>
  </property>
  <property fmtid="{D5CDD505-2E9C-101B-9397-08002B2CF9AE}" pid="3" name="KSOProductBuildVer">
    <vt:lpwstr>2052-12.1.0.21915</vt:lpwstr>
  </property>
</Properties>
</file>