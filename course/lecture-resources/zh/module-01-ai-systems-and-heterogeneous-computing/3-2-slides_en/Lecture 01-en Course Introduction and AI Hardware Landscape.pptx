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4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handoutMasterIdLst>
    <p:handoutMasterId r:id="rId30"/>
  </p:handoutMasterIdLst>
  <p:sldIdLst>
    <p:sldId id="320" r:id="rId3"/>
    <p:sldId id="256" r:id="rId4"/>
    <p:sldId id="277" r:id="rId5"/>
    <p:sldId id="292" r:id="rId7"/>
    <p:sldId id="293" r:id="rId8"/>
    <p:sldId id="260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2" r:id="rId18"/>
    <p:sldId id="311" r:id="rId19"/>
    <p:sldId id="312" r:id="rId20"/>
    <p:sldId id="313" r:id="rId21"/>
    <p:sldId id="308" r:id="rId22"/>
    <p:sldId id="309" r:id="rId23"/>
    <p:sldId id="310" r:id="rId24"/>
    <p:sldId id="290" r:id="rId25"/>
    <p:sldId id="275" r:id="rId26"/>
    <p:sldId id="321" r:id="rId27"/>
    <p:sldId id="322" r:id="rId28"/>
    <p:sldId id="32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  <p:cmAuthor id="3" name="SHI BIZHAO" initials="Shi" lastIdx="0" clrIdx="2"/>
  <p:cmAuthor id="4" name="马瑞阳_Mj63q6ZJ" initials="authorId_1080340045" lastIdx="0" clrIdx="3"/>
  <p:cmAuthor id="5" name="WPS_1657951207_BbYbQFJj" initials="authorId_1392390105" lastIdx="0" clrIdx="4"/>
  <p:cmAuthor id="6" name="Alex" initials="A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0012"/>
    <a:srgbClr val="70AD47"/>
    <a:srgbClr val="2774AE"/>
    <a:srgbClr val="70AE47"/>
    <a:srgbClr val="549E39"/>
    <a:srgbClr val="90B085"/>
    <a:srgbClr val="2D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5"/>
    <p:restoredTop sz="80094" autoAdjust="0"/>
  </p:normalViewPr>
  <p:slideViewPr>
    <p:cSldViewPr snapToGrid="0" snapToObjects="1">
      <p:cViewPr varScale="1">
        <p:scale>
          <a:sx n="92" d="100"/>
          <a:sy n="92" d="100"/>
        </p:scale>
        <p:origin x="852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1" d="100"/>
          <a:sy n="81" d="100"/>
        </p:scale>
        <p:origin x="338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commentAuthors" Target="commentAuthors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0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001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D35F3-BE5B-41CC-A973-5F94E77F22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002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003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126E5-09CE-4398-8EB0-4AC849D0A16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995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E8E16-D6C5-3248-816C-85B3C8E8792E}" type="datetimeFigureOut">
              <a:rPr lang="en-US" smtClean="0"/>
            </a:fld>
            <a:endParaRPr lang="en-US"/>
          </a:p>
        </p:txBody>
      </p:sp>
      <p:sp>
        <p:nvSpPr>
          <p:cNvPr id="104899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99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99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99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4C98A-D9C5-894D-9A13-8F52E37846C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huawei.com/enterprise/zh/doc/EDOC1100162135/74b99d28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https://lilianweng.github.io/posts/2023-06-23-agent/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https://openrouter.ai/announcements/the-2025-state-of-ai-report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https://github.com/baaivision/URSA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https://eu.36kr.com/en/p/3576900266261385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>
                <a:hlinkClick r:id="rId3"/>
              </a:rPr>
              <a:t>https://support.huawei.com/enterprise/zh/doc/EDOC1100162135/74b99d28</a:t>
            </a:r>
            <a:endParaRPr lang="en-US" altLang="zh-CN"/>
          </a:p>
          <a:p>
            <a:r>
              <a:rPr lang="en-US" altLang="zh-CN"/>
              <a:t>https://consumer.huawei.com/cn/phones/mate-x7/</a:t>
            </a:r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找权威的数据或者来源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找权威的数据或者来源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详细讲一些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AI model timeline: https://lifearchitect.ai/timeline/ 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2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grpSp>
        <p:nvGrpSpPr>
          <p:cNvPr id="83" name="Group 7"/>
          <p:cNvGrpSpPr/>
          <p:nvPr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549E39"/>
          </a:solidFill>
        </p:grpSpPr>
        <p:sp>
          <p:nvSpPr>
            <p:cNvPr id="1048651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84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048652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3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4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5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6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7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10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4863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48633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8.GIF"/><Relationship Id="rId3" Type="http://schemas.openxmlformats.org/officeDocument/2006/relationships/image" Target="../media/image7.GIF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1.svg"/><Relationship Id="rId1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image" Target="../media/image42.png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9" Type="http://schemas.openxmlformats.org/officeDocument/2006/relationships/slideLayout" Target="../slideLayouts/slideLayout6.xml"/><Relationship Id="rId28" Type="http://schemas.openxmlformats.org/officeDocument/2006/relationships/image" Target="../media/image49.png"/><Relationship Id="rId27" Type="http://schemas.openxmlformats.org/officeDocument/2006/relationships/image" Target="../media/image48.jpeg"/><Relationship Id="rId26" Type="http://schemas.openxmlformats.org/officeDocument/2006/relationships/hyperlink" Target="https://flagos.io/Home" TargetMode="External"/><Relationship Id="rId25" Type="http://schemas.openxmlformats.org/officeDocument/2006/relationships/tags" Target="../tags/tag27.xml"/><Relationship Id="rId24" Type="http://schemas.openxmlformats.org/officeDocument/2006/relationships/hyperlink" Target="https://www.zhihu.com/people/95-22-20-18/posts" TargetMode="External"/><Relationship Id="rId23" Type="http://schemas.openxmlformats.org/officeDocument/2006/relationships/tags" Target="../tags/tag26.xml"/><Relationship Id="rId22" Type="http://schemas.openxmlformats.org/officeDocument/2006/relationships/hyperlink" Target="https://space.bilibili.com/3546791834290849" TargetMode="External"/><Relationship Id="rId21" Type="http://schemas.openxmlformats.org/officeDocument/2006/relationships/tags" Target="../tags/tag25.xml"/><Relationship Id="rId20" Type="http://schemas.openxmlformats.org/officeDocument/2006/relationships/hyperlink" Target="https://github.com/flagos-ai" TargetMode="External"/><Relationship Id="rId2" Type="http://schemas.openxmlformats.org/officeDocument/2006/relationships/tags" Target="../tags/tag13.xml"/><Relationship Id="rId19" Type="http://schemas.openxmlformats.org/officeDocument/2006/relationships/tags" Target="../tags/tag24.xml"/><Relationship Id="rId18" Type="http://schemas.openxmlformats.org/officeDocument/2006/relationships/image" Target="../media/image47.png"/><Relationship Id="rId17" Type="http://schemas.openxmlformats.org/officeDocument/2006/relationships/tags" Target="../tags/tag23.xml"/><Relationship Id="rId16" Type="http://schemas.openxmlformats.org/officeDocument/2006/relationships/image" Target="../media/image46.png"/><Relationship Id="rId15" Type="http://schemas.openxmlformats.org/officeDocument/2006/relationships/tags" Target="../tags/tag22.xml"/><Relationship Id="rId14" Type="http://schemas.openxmlformats.org/officeDocument/2006/relationships/image" Target="../media/image45.png"/><Relationship Id="rId13" Type="http://schemas.openxmlformats.org/officeDocument/2006/relationships/tags" Target="../tags/tag21.xml"/><Relationship Id="rId12" Type="http://schemas.openxmlformats.org/officeDocument/2006/relationships/image" Target="../media/image44.png"/><Relationship Id="rId11" Type="http://schemas.openxmlformats.org/officeDocument/2006/relationships/tags" Target="../tags/tag20.xml"/><Relationship Id="rId10" Type="http://schemas.openxmlformats.org/officeDocument/2006/relationships/image" Target="../media/image43.png"/><Relationship Id="rId1" Type="http://schemas.openxmlformats.org/officeDocument/2006/relationships/tags" Target="../tags/tag12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5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/>
          <p:cNvPicPr>
            <a:picLocks noGrp="1" noChangeAspect="1"/>
          </p:cNvPicPr>
          <p:nvPr>
            <p:ph type="pic" sz="quarter" idx="10"/>
          </p:nvPr>
        </p:nvPicPr>
        <p:blipFill>
          <a:blip r:embed="rId1"/>
          <a:srcRect t="350" b="350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727710" y="1622425"/>
            <a:ext cx="5553710" cy="3028315"/>
          </a:xfrm>
        </p:spPr>
        <p:txBody>
          <a:bodyPr/>
          <a:lstStyle/>
          <a:p>
            <a:pPr algn="l"/>
            <a:r>
              <a:rPr lang="en-US" altLang="zh-CN" sz="4000">
                <a:latin typeface="+mj-cs"/>
                <a:cs typeface="+mj-cs"/>
              </a:rPr>
              <a:t>Hardware and Software Fundamentals of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Intelligent Computing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Systems</a:t>
            </a:r>
            <a:endParaRPr lang="en-US" altLang="zh-CN" sz="4000">
              <a:latin typeface="+mj-cs"/>
              <a:cs typeface="+mj-cs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364100" y="6255612"/>
            <a:ext cx="409904" cy="409904"/>
            <a:chOff x="11591418" y="6255612"/>
            <a:chExt cx="409904" cy="409904"/>
          </a:xfrm>
        </p:grpSpPr>
        <p:sp>
          <p:nvSpPr>
            <p:cNvPr id="10" name="타원 9"/>
            <p:cNvSpPr/>
            <p:nvPr/>
          </p:nvSpPr>
          <p:spPr>
            <a:xfrm>
              <a:off x="11591418" y="6255612"/>
              <a:ext cx="409904" cy="4099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갈매기형 수장[C] 10"/>
            <p:cNvSpPr/>
            <p:nvPr/>
          </p:nvSpPr>
          <p:spPr>
            <a:xfrm>
              <a:off x="11732864" y="6397058"/>
              <a:ext cx="127012" cy="127012"/>
            </a:xfrm>
            <a:prstGeom prst="chevr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Lecture 01: Course Introduction and AI Hardware Landscape</a:t>
            </a:r>
            <a:endParaRPr lang="en-US" altLang="zh-CN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altLang="zh-CN"/>
              <a:t>Token-Hungry Generative AI Applications</a:t>
            </a:r>
            <a:endParaRPr lang="x-none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x-none" altLang="zh-CN"/>
              <a:t>LLM-powered autonomous agents</a:t>
            </a:r>
            <a:endParaRPr lang="x-none" altLang="zh-CN"/>
          </a:p>
          <a:p>
            <a:pPr lvl="1"/>
            <a:endParaRPr lang="x-none" altLang="zh-CN" sz="2000"/>
          </a:p>
          <a:p>
            <a:pPr lvl="1"/>
            <a:endParaRPr lang="x-none" altLang="zh-CN" sz="2000"/>
          </a:p>
          <a:p>
            <a:pPr lvl="1"/>
            <a:endParaRPr lang="x-none" altLang="zh-CN" sz="2000"/>
          </a:p>
          <a:p>
            <a:pPr lvl="1"/>
            <a:endParaRPr lang="x-none" altLang="zh-CN"/>
          </a:p>
          <a:p>
            <a:r>
              <a:rPr lang="x-none" altLang="zh-CN"/>
              <a:t>Token consumption trends</a:t>
            </a:r>
            <a:endParaRPr lang="x-none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 altLang="zh-CN" dirty="0"/>
              <a:t>image source:  lilianweng.github.io,  openrouter.ai,  36kr.com (with doubao phone),  </a:t>
            </a:r>
            <a:r>
              <a:rPr lang="x-none" altLang="zh-CN" dirty="0">
                <a:sym typeface="+mn-ea"/>
              </a:rPr>
              <a:t>github.com/baaivision/URSA</a:t>
            </a:r>
            <a:endParaRPr lang="x-none" altLang="zh-CN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x-none" altLang="zh-CN"/>
              <a:t>AI mobile phone and AI PC</a:t>
            </a:r>
            <a:endParaRPr lang="x-none" altLang="zh-CN"/>
          </a:p>
          <a:p>
            <a:pPr lvl="1"/>
            <a:endParaRPr lang="x-none" altLang="zh-CN"/>
          </a:p>
          <a:p>
            <a:pPr lvl="1"/>
            <a:endParaRPr lang="x-none" altLang="zh-CN"/>
          </a:p>
          <a:p>
            <a:pPr lvl="1"/>
            <a:endParaRPr lang="x-none" altLang="zh-CN"/>
          </a:p>
          <a:p>
            <a:pPr lvl="1"/>
            <a:endParaRPr lang="x-none" altLang="zh-CN"/>
          </a:p>
          <a:p>
            <a:pPr lvl="1"/>
            <a:endParaRPr lang="x-none" altLang="zh-CN"/>
          </a:p>
          <a:p>
            <a:pPr lvl="0"/>
            <a:r>
              <a:rPr lang="x-none" altLang="zh-CN"/>
              <a:t>Video generation</a:t>
            </a:r>
            <a:endParaRPr lang="x-none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805" y="1669415"/>
            <a:ext cx="4680000" cy="18565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805" y="3968750"/>
            <a:ext cx="4680000" cy="2387614"/>
          </a:xfrm>
          <a:prstGeom prst="rect">
            <a:avLst/>
          </a:prstGeom>
        </p:spPr>
      </p:pic>
      <p:pic>
        <p:nvPicPr>
          <p:cNvPr id="9" name="图片 8" descr="model_previe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050" y="4417695"/>
            <a:ext cx="5760000" cy="1800000"/>
          </a:xfrm>
          <a:prstGeom prst="rect">
            <a:avLst/>
          </a:prstGeom>
        </p:spPr>
      </p:pic>
      <p:pic>
        <p:nvPicPr>
          <p:cNvPr id="10" name="图片 9" descr="v2_16488b8e17334729adbfd997368acb40@5091053_img_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980" y="1762760"/>
            <a:ext cx="3600000" cy="2025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AI Hardware Spectrum: Key Examples</a:t>
            </a: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5" name="图片 14" descr="post_object_image_265318699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0504" y="3763828"/>
            <a:ext cx="4847835" cy="2721497"/>
          </a:xfrm>
          <a:prstGeom prst="rect">
            <a:avLst/>
          </a:prstGeom>
        </p:spPr>
      </p:pic>
      <p:sp>
        <p:nvSpPr>
          <p:cNvPr id="16" name="文本框 15"/>
          <p:cNvSpPr txBox="1"/>
          <p:nvPr userDrawn="1"/>
        </p:nvSpPr>
        <p:spPr>
          <a:xfrm>
            <a:off x="419250" y="1978814"/>
            <a:ext cx="2160000" cy="414929"/>
          </a:xfrm>
          <a:prstGeom prst="rect">
            <a:avLst/>
          </a:prstGeom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b="1">
                <a:solidFill>
                  <a:schemeClr val="accent6">
                    <a:lumMod val="75000"/>
                  </a:schemeClr>
                </a:solidFill>
              </a:rPr>
              <a:t>Cloud ML</a:t>
            </a:r>
            <a:endParaRPr lang="en-US" altLang="zh-CN" b="1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x-none" altLang="en-US"/>
              <a:t>Huawei Ascend</a:t>
            </a:r>
            <a:endParaRPr lang="x-none" altLang="en-US"/>
          </a:p>
          <a:p>
            <a:pPr algn="ctr"/>
            <a:r>
              <a:rPr lang="x-none" altLang="en-US"/>
              <a:t>Cambricon MLU370</a:t>
            </a:r>
            <a:endParaRPr lang="x-none" altLang="en-US"/>
          </a:p>
          <a:p>
            <a:pPr algn="ctr"/>
            <a:r>
              <a:rPr lang="x-none" altLang="en-US"/>
              <a:t>etc.</a:t>
            </a:r>
            <a:endParaRPr lang="x-none" altLang="en-US"/>
          </a:p>
        </p:txBody>
      </p:sp>
      <p:sp>
        <p:nvSpPr>
          <p:cNvPr id="17" name="文本框 16"/>
          <p:cNvSpPr txBox="1"/>
          <p:nvPr userDrawn="1"/>
        </p:nvSpPr>
        <p:spPr>
          <a:xfrm>
            <a:off x="9354070" y="1978586"/>
            <a:ext cx="2448000" cy="414929"/>
          </a:xfrm>
          <a:prstGeom prst="rect">
            <a:avLst/>
          </a:prstGeom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b="1">
                <a:solidFill>
                  <a:schemeClr val="accent6">
                    <a:lumMod val="75000"/>
                  </a:schemeClr>
                </a:solidFill>
              </a:rPr>
              <a:t>Edge ML</a:t>
            </a:r>
            <a:endParaRPr lang="en-US" altLang="zh-CN" b="1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US" altLang="zh-CN"/>
              <a:t>Iluvatar</a:t>
            </a:r>
            <a:endParaRPr lang="en-US" altLang="zh-CN"/>
          </a:p>
          <a:p>
            <a:pPr algn="ctr"/>
            <a:r>
              <a:rPr lang="x-none" altLang="en-US">
                <a:solidFill>
                  <a:schemeClr val="tx1"/>
                </a:solidFill>
              </a:rPr>
              <a:t>TY1200</a:t>
            </a:r>
            <a:endParaRPr lang="x-none" altLang="en-US">
              <a:solidFill>
                <a:schemeClr val="tx1"/>
              </a:solidFill>
            </a:endParaRPr>
          </a:p>
        </p:txBody>
      </p:sp>
      <p:sp>
        <p:nvSpPr>
          <p:cNvPr id="18" name="文本框 17"/>
          <p:cNvSpPr txBox="1"/>
          <p:nvPr userDrawn="1"/>
        </p:nvSpPr>
        <p:spPr>
          <a:xfrm>
            <a:off x="568475" y="4868975"/>
            <a:ext cx="2017265" cy="414929"/>
          </a:xfrm>
          <a:prstGeom prst="rect">
            <a:avLst/>
          </a:prstGeom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b="1">
                <a:solidFill>
                  <a:schemeClr val="accent6">
                    <a:lumMod val="75000"/>
                  </a:schemeClr>
                </a:solidFill>
              </a:rPr>
              <a:t>Mobile ML</a:t>
            </a:r>
            <a:endParaRPr lang="en-US" altLang="zh-CN" b="1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x-none" altLang="zh-CN">
                <a:solidFill>
                  <a:schemeClr val="tx1"/>
                </a:solidFill>
              </a:rPr>
              <a:t> Kirin 9030 Pro</a:t>
            </a:r>
            <a:endParaRPr lang="zh-CN" altLang="en-US"/>
          </a:p>
        </p:txBody>
      </p:sp>
      <p:sp>
        <p:nvSpPr>
          <p:cNvPr id="19" name="文本框 18"/>
          <p:cNvSpPr txBox="1"/>
          <p:nvPr userDrawn="1"/>
        </p:nvSpPr>
        <p:spPr>
          <a:xfrm>
            <a:off x="9292377" y="4869029"/>
            <a:ext cx="2448000" cy="414929"/>
          </a:xfrm>
          <a:prstGeom prst="rect">
            <a:avLst/>
          </a:prstGeom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b="1">
                <a:solidFill>
                  <a:schemeClr val="accent6">
                    <a:lumMod val="75000"/>
                  </a:schemeClr>
                </a:solidFill>
              </a:rPr>
              <a:t>Tiny ML</a:t>
            </a:r>
            <a:endParaRPr lang="en-US" altLang="zh-CN" b="1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A</a:t>
            </a:r>
            <a:r>
              <a:rPr lang="en-US" altLang="zh-CN">
                <a:solidFill>
                  <a:schemeClr val="tx1"/>
                </a:solidFill>
              </a:rPr>
              <a:t>rduino Nano 33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BLE Sense</a:t>
            </a:r>
            <a:endParaRPr lang="zh-CN" altLang="en-US"/>
          </a:p>
        </p:txBody>
      </p:sp>
      <p:pic>
        <p:nvPicPr>
          <p:cNvPr id="3" name="图片 2" descr="Screenshot_20260218_09325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74410" y="1403350"/>
            <a:ext cx="3600000" cy="17510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5945" y="3996055"/>
            <a:ext cx="2160000" cy="2160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55900" y="1266190"/>
            <a:ext cx="2880000" cy="202581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quarter" idx="13"/>
          </p:nvPr>
        </p:nvPicPr>
        <p:blipFill>
          <a:blip r:embed="rId1"/>
          <a:stretch>
            <a:fillRect/>
          </a:stretch>
        </p:blipFill>
        <p:spPr>
          <a:xfrm>
            <a:off x="682625" y="675503"/>
            <a:ext cx="11277600" cy="1891622"/>
          </a:xfrm>
          <a:prstGeom prst="rect">
            <a:avLst/>
          </a:prstGeom>
        </p:spPr>
      </p:pic>
      <p:pic>
        <p:nvPicPr>
          <p:cNvPr id="7" name="图片 6" descr="AMD Robotics_Solution_Update_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8860" y="2720975"/>
            <a:ext cx="7111365" cy="40005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The Hardware Demands of AI/ML</a:t>
            </a: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image:</a:t>
            </a:r>
            <a:r>
              <a:rPr lang="x-none" altLang="en-US" dirty="0">
                <a:sym typeface="+mn-ea"/>
              </a:rPr>
              <a:t>	</a:t>
            </a:r>
            <a:r>
              <a:rPr lang="en-US" altLang="zh-CN" dirty="0"/>
              <a:t>https://medium.com/geekculture/business-analysis-ai-computational-cost-67a136957c95</a:t>
            </a:r>
            <a:endParaRPr lang="en-US" altLang="zh-CN" dirty="0"/>
          </a:p>
          <a:p>
            <a:pPr indent="457200"/>
            <a:r>
              <a:rPr lang="x-none" altLang="en-US" dirty="0"/>
              <a:t>	</a:t>
            </a:r>
            <a:r>
              <a:rPr lang="en-US" altLang="zh-CN" dirty="0"/>
              <a:t>https://ourworldindata.org/grapher/artificial-intelligence-parameter-count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5283835" cy="4853305"/>
          </a:xfrm>
        </p:spPr>
        <p:txBody>
          <a:bodyPr>
            <a:normAutofit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zh-CN"/>
              <a:t>Model Parameters</a:t>
            </a:r>
            <a:endParaRPr lang="en-US" altLang="zh-CN"/>
          </a:p>
          <a:p>
            <a:pPr lvl="1">
              <a:lnSpc>
                <a:spcPct val="150000"/>
              </a:lnSpc>
            </a:pPr>
            <a:r>
              <a:rPr lang="en-US" altLang="zh-CN"/>
              <a:t>The exponential growth.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/>
              <a:t>Computational Demand</a:t>
            </a:r>
            <a:endParaRPr lang="en-US" altLang="zh-CN"/>
          </a:p>
          <a:p>
            <a:pPr lvl="1">
              <a:lnSpc>
                <a:spcPct val="150000"/>
              </a:lnSpc>
            </a:pPr>
            <a:r>
              <a:rPr lang="en-US" altLang="zh-CN"/>
              <a:t>Outpacing the Moore's Law.</a:t>
            </a:r>
            <a:endParaRPr lang="en-US" altLang="zh-CN"/>
          </a:p>
          <a:p>
            <a:pPr lvl="1">
              <a:lnSpc>
                <a:spcPct val="150000"/>
              </a:lnSpc>
            </a:pPr>
            <a:r>
              <a:rPr lang="en-US" altLang="zh-CN"/>
              <a:t>Comparison between compute cost and U.S GDP byOpenAI.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/>
              <a:t>Communication Scale</a:t>
            </a:r>
            <a:endParaRPr lang="en-US" altLang="zh-CN"/>
          </a:p>
          <a:p>
            <a:pPr lvl="1">
              <a:lnSpc>
                <a:spcPct val="150000"/>
              </a:lnSpc>
            </a:pPr>
            <a:r>
              <a:rPr lang="en-US" altLang="zh-CN"/>
              <a:t>The new critical bottleneck.</a:t>
            </a:r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b="27273"/>
          <a:stretch>
            <a:fillRect/>
          </a:stretch>
        </p:blipFill>
        <p:spPr>
          <a:xfrm>
            <a:off x="6054090" y="3467100"/>
            <a:ext cx="5261610" cy="28067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580" y="1066800"/>
            <a:ext cx="5261610" cy="259969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Why General-Purpose CPUs Failed AI</a:t>
            </a:r>
            <a:r>
              <a:rPr lang="x-none"/>
              <a:t> (1/2)</a:t>
            </a:r>
            <a:endParaRPr lang="x-none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A. Gholami, Z. Yao, S. Kim, C. Hooper, M. W. Mahoney and K. Keutzer, "AI and Memory Wall," in IEEE Micro, vol. 44, no. 3, pp. 33-39, May-June 2024, doi: 10.1109/MM.2024.3373763.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139180" cy="4853305"/>
          </a:xfrm>
        </p:spPr>
        <p:txBody>
          <a:bodyPr>
            <a:normAutofit/>
          </a:bodyPr>
          <a:lstStyle/>
          <a:p>
            <a:r>
              <a:rPr lang="en-US" altLang="zh-CN"/>
              <a:t>The CPU's Legacy:</a:t>
            </a:r>
            <a:endParaRPr lang="en-US" altLang="zh-CN"/>
          </a:p>
          <a:p>
            <a:pPr lvl="1"/>
            <a:r>
              <a:rPr lang="en-US" altLang="zh-CN"/>
              <a:t>For decades, the Central Processing Unit (CPU) was the universal engine of computing, designed for sequential, general-purpose tasks. </a:t>
            </a:r>
            <a:r>
              <a:rPr lang="en-US" altLang="en-US"/>
              <a:t> </a:t>
            </a:r>
            <a:r>
              <a:rPr lang="en-US" altLang="zh-CN"/>
              <a:t> </a:t>
            </a:r>
            <a:endParaRPr lang="en-US" altLang="zh-CN"/>
          </a:p>
          <a:p>
            <a:r>
              <a:rPr lang="en-US" altLang="zh-CN"/>
              <a:t>The Tw</a:t>
            </a:r>
            <a:r>
              <a:rPr lang="x-none" altLang="en-US"/>
              <a:t>o</a:t>
            </a:r>
            <a:r>
              <a:rPr lang="en-US" altLang="zh-CN"/>
              <a:t> Crises:</a:t>
            </a:r>
            <a:endParaRPr lang="en-US" altLang="zh-CN"/>
          </a:p>
          <a:p>
            <a:pPr lvl="1"/>
            <a:r>
              <a:rPr lang="en-US" altLang="zh-CN">
                <a:solidFill>
                  <a:srgbClr val="8B0012"/>
                </a:solidFill>
              </a:rPr>
              <a:t>Von Neumann Bottleneck</a:t>
            </a:r>
            <a:r>
              <a:rPr lang="en-US" altLang="zh-CN"/>
              <a:t>: Constant data shuffling between processing and memory units created a fundamental efficiency limit, consuming more energy than the actual computation. </a:t>
            </a:r>
            <a:r>
              <a:rPr lang="en-US" altLang="en-US"/>
              <a:t> </a:t>
            </a:r>
            <a:r>
              <a:rPr lang="en-US" altLang="zh-CN"/>
              <a:t> </a:t>
            </a:r>
            <a:endParaRPr lang="en-US" altLang="zh-CN">
              <a:solidFill>
                <a:srgbClr val="8B0012"/>
              </a:solidFill>
            </a:endParaRPr>
          </a:p>
          <a:p>
            <a:pPr lvl="1"/>
            <a:r>
              <a:rPr lang="en-US" altLang="zh-CN">
                <a:solidFill>
                  <a:srgbClr val="8B0012"/>
                </a:solidFill>
              </a:rPr>
              <a:t>End of </a:t>
            </a:r>
            <a:r>
              <a:rPr lang="x-none" altLang="en-US">
                <a:solidFill>
                  <a:srgbClr val="8B0012"/>
                </a:solidFill>
              </a:rPr>
              <a:t>Performance </a:t>
            </a:r>
            <a:r>
              <a:rPr lang="en-US" altLang="zh-CN">
                <a:solidFill>
                  <a:srgbClr val="8B0012"/>
                </a:solidFill>
              </a:rPr>
              <a:t>Scaling</a:t>
            </a:r>
            <a:r>
              <a:rPr lang="en-US" altLang="zh-CN"/>
              <a:t>: Dennard Scaling</a:t>
            </a:r>
            <a:r>
              <a:rPr lang="x-none" altLang="en-US"/>
              <a:t> and the derived performance effects from Moore’s Law</a:t>
            </a:r>
            <a:r>
              <a:rPr lang="en-US" altLang="zh-CN"/>
              <a:t>, which </a:t>
            </a:r>
            <a:r>
              <a:rPr lang="x-none" altLang="en-US"/>
              <a:t>provided decades of</a:t>
            </a:r>
            <a:r>
              <a:rPr lang="en-US" altLang="zh-CN"/>
              <a:t> exponential performance growth, came to an end. </a:t>
            </a:r>
            <a:r>
              <a:rPr lang="en-US" altLang="en-US"/>
              <a:t> </a:t>
            </a:r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6430" y="1243965"/>
            <a:ext cx="4661535" cy="24511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180" y="3585845"/>
            <a:ext cx="3581400" cy="26257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Why General-Purpose CPUs Failed AI</a:t>
            </a:r>
            <a:r>
              <a:rPr lang="x-none">
                <a:sym typeface="+mn-ea"/>
              </a:rPr>
              <a:t> (2/2)</a:t>
            </a: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x-none" altLang="en-US" dirty="0">
                <a:sym typeface="+mn-ea"/>
              </a:rPr>
              <a:t>*</a:t>
            </a:r>
            <a:r>
              <a:rPr lang="en-US" altLang="zh-CN" dirty="0">
                <a:sym typeface="+mn-ea"/>
              </a:rPr>
              <a:t> A. Gholami</a:t>
            </a:r>
            <a:r>
              <a:rPr lang="x-none" altLang="en-US" dirty="0">
                <a:sym typeface="+mn-ea"/>
              </a:rPr>
              <a:t> et al.</a:t>
            </a:r>
            <a:r>
              <a:rPr lang="en-US" altLang="zh-CN" dirty="0">
                <a:sym typeface="+mn-ea"/>
              </a:rPr>
              <a:t>, "AI and Memory Wall," in IEEE Micro, vol. 44, no. 3, pp. 33-39, May-June 2024.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5800725" cy="4853305"/>
          </a:xfrm>
        </p:spPr>
        <p:txBody>
          <a:bodyPr>
            <a:normAutofit/>
          </a:bodyPr>
          <a:lstStyle/>
          <a:p>
            <a:r>
              <a:rPr lang="en-US" altLang="zh-CN"/>
              <a:t>The Mismatch:</a:t>
            </a:r>
            <a:endParaRPr lang="en-US" altLang="zh-CN"/>
          </a:p>
          <a:p>
            <a:pPr lvl="1"/>
            <a:r>
              <a:rPr lang="en-US" altLang="zh-CN"/>
              <a:t>CPUs' sequential design is fundamentally inefficient for the massive parallelism inherent in AI workloads like matrix multiplication. </a:t>
            </a:r>
            <a:r>
              <a:rPr lang="en-US" altLang="en-US"/>
              <a:t> </a:t>
            </a:r>
            <a:r>
              <a:rPr lang="en-US" altLang="zh-CN"/>
              <a:t> </a:t>
            </a:r>
            <a:endParaRPr lang="en-US" altLang="zh-CN"/>
          </a:p>
          <a:p>
            <a:pPr lvl="1"/>
            <a:r>
              <a:rPr lang="en-US" altLang="zh-CN" i="1">
                <a:solidFill>
                  <a:schemeClr val="accent3"/>
                </a:solidFill>
              </a:rPr>
              <a:t>CPUs achieve only 5-10% utilization on neural network workloads, delivering approximately 100 GFLOPS10 while consuming hundreds of watts</a:t>
            </a:r>
            <a:r>
              <a:rPr lang="x-none" altLang="en-US" i="1">
                <a:solidFill>
                  <a:schemeClr val="accent3"/>
                </a:solidFill>
              </a:rPr>
              <a:t>*</a:t>
            </a:r>
            <a:r>
              <a:rPr lang="en-US" altLang="zh-CN" i="1">
                <a:solidFill>
                  <a:schemeClr val="accent3"/>
                </a:solidFill>
              </a:rPr>
              <a:t>.</a:t>
            </a:r>
            <a:endParaRPr lang="en-US" altLang="zh-CN" i="1">
              <a:solidFill>
                <a:schemeClr val="accent3"/>
              </a:solidFill>
            </a:endParaRPr>
          </a:p>
          <a:p>
            <a:pPr lvl="0"/>
            <a:r>
              <a:rPr lang="en-US" altLang="zh-CN"/>
              <a:t>Conclusion:</a:t>
            </a:r>
            <a:endParaRPr lang="en-US" altLang="zh-CN"/>
          </a:p>
          <a:p>
            <a:pPr lvl="1"/>
            <a:r>
              <a:rPr lang="en-US" altLang="zh-CN"/>
              <a:t>AI's exponential demands exposed the limits of the general-purpose model, forcing a shift to specialized hardware.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5590" y="1740535"/>
            <a:ext cx="5432425" cy="36595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The Rise of the GPU</a:t>
            </a: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J. D. Owens, M. Houston, D. Luebke, S. Green, J. E. Stone and J. C. Phillips, "GPU Computing," in Proceedings of the IEEE, vol. 96, no. 5, pp. 879-899, May 2008, doi: 10.1109/JPROC.2008.917757.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299200" cy="4853305"/>
          </a:xfrm>
        </p:spPr>
        <p:txBody>
          <a:bodyPr>
            <a:normAutofit/>
          </a:bodyPr>
          <a:lstStyle/>
          <a:p>
            <a:r>
              <a:rPr lang="en-US" altLang="zh-CN"/>
              <a:t>An Unlikely Hero: The Graphics Processing Unit (GPU) was born in the late 1990s for video game graphics, featuring thousands of simple cores for parallel tasks. </a:t>
            </a:r>
            <a:r>
              <a:rPr lang="en-US" altLang="en-US"/>
              <a:t> </a:t>
            </a:r>
            <a:r>
              <a:rPr lang="en-US" altLang="zh-CN"/>
              <a:t> </a:t>
            </a:r>
            <a:endParaRPr lang="en-US" altLang="zh-CN"/>
          </a:p>
          <a:p>
            <a:r>
              <a:rPr lang="en-US" altLang="zh-CN"/>
              <a:t>Architectural Resonance: The core math of graphics (matrix and vector operations) was identical to the math of deep learning, making GPUs a perfect, albeit accidental, fit. </a:t>
            </a:r>
            <a:r>
              <a:rPr lang="en-US" altLang="en-US"/>
              <a:t> </a:t>
            </a:r>
            <a:r>
              <a:rPr lang="en-US" altLang="zh-CN"/>
              <a:t> 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8190" y="834390"/>
            <a:ext cx="4105275" cy="504761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The Rise of the GPU</a:t>
            </a: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J. D. Owens, M. Houston, D. Luebke, S. Green, J. E. Stone and J. C. Phillips, "GPU Computing," in Proceedings of the IEEE, vol. 96, no. 5, pp. 879-899, May 2008, doi: 10.1109/JPROC.2008.917757.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310630" cy="4853305"/>
          </a:xfrm>
        </p:spPr>
        <p:txBody>
          <a:bodyPr>
            <a:normAutofit/>
          </a:bodyPr>
          <a:lstStyle/>
          <a:p>
            <a:r>
              <a:rPr lang="en-US" altLang="zh-CN"/>
              <a:t>The Software Catalyst: CUDA: NVIDIA's CUDA platform (2007) unlocked the GPU for general-purpose computing, making its power accessible to AI researchers without deep graphics expertise. </a:t>
            </a:r>
            <a:r>
              <a:rPr lang="en-US" altLang="en-US"/>
              <a:t> </a:t>
            </a:r>
            <a:r>
              <a:rPr lang="en-US" altLang="zh-CN"/>
              <a:t> </a:t>
            </a:r>
            <a:endParaRPr lang="en-US" altLang="zh-CN"/>
          </a:p>
          <a:p>
            <a:r>
              <a:rPr lang="en-US" altLang="zh-CN"/>
              <a:t>The Result: Training times for AI models plummeted from weeks to hours, establishing the GPU as the de facto standard for AI training. </a:t>
            </a:r>
            <a:r>
              <a:rPr lang="en-US" altLang="en-US"/>
              <a:t> </a:t>
            </a:r>
            <a:r>
              <a:rPr lang="en-US" altLang="zh-CN"/>
              <a:t> 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3580" y="1132840"/>
            <a:ext cx="4160520" cy="25082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4505" y="3641090"/>
            <a:ext cx="4379595" cy="241427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1st</a:t>
            </a:r>
            <a:r>
              <a:rPr lang="x-none"/>
              <a:t>-</a:t>
            </a:r>
            <a:r>
              <a:rPr lang="en-US" altLang="en-US"/>
              <a:t>Gen Tensor Core</a:t>
            </a:r>
            <a:r>
              <a:rPr lang="x-none"/>
              <a:t>:</a:t>
            </a:r>
            <a:r>
              <a:rPr lang="en-US" altLang="en-US"/>
              <a:t> Warp-scoped MMA</a:t>
            </a: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170" name="Picture 2" descr="图片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54" y="1537049"/>
            <a:ext cx="7200000" cy="4426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图片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3958" y="1537028"/>
            <a:ext cx="4263571" cy="2538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Scaling of Tensor Cores in NIVIDIA GPUs (1/3)</a:t>
            </a:r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3875" y="1473261"/>
            <a:ext cx="11277600" cy="455441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>
                <a:sym typeface="+mn-ea"/>
              </a:rPr>
              <a:t>Scaling of Tensor Cores in NIVIDIA GPUs (2/3)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1206500"/>
            <a:ext cx="11201400" cy="444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>
                <a:sym typeface="+mn-ea"/>
              </a:rPr>
              <a:t>Scaling of Tensor Cores in NIVIDIA GPUs (3/3)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/>
              <a:t>Tensor Core throughput doubled every generation, but global memory load latency didn’t decrease and in fact increased. As a result, we need to increase the staging SMEM size for buffering more data</a:t>
            </a:r>
            <a:endParaRPr lang="en-US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5" y="2677021"/>
            <a:ext cx="11316190" cy="3341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altLang="zh-CN"/>
              <a:t>Compute Architectures Evolve</a:t>
            </a:r>
            <a:endParaRPr lang="x-none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*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x-none" altLang="zh-CN"/>
              <a:t>GPU series (+ Tensor cores)</a:t>
            </a:r>
            <a:endParaRPr lang="x-none" altLang="zh-CN"/>
          </a:p>
          <a:p>
            <a:r>
              <a:rPr lang="x-none" altLang="zh-CN"/>
              <a:t>TPU series</a:t>
            </a:r>
            <a:endParaRPr lang="x-none" altLang="zh-CN"/>
          </a:p>
          <a:p>
            <a:r>
              <a:rPr lang="x-none" altLang="zh-CN"/>
              <a:t>Ascend series</a:t>
            </a:r>
            <a:endParaRPr lang="x-none" altLang="zh-CN"/>
          </a:p>
          <a:p>
            <a:r>
              <a:rPr lang="x-none" altLang="zh-CN"/>
              <a:t>CPU series:  Intel (+ matrix extension);  AMD (+ NPU) </a:t>
            </a:r>
            <a:endParaRPr lang="x-none" altLang="zh-CN"/>
          </a:p>
          <a:p>
            <a:r>
              <a:rPr lang="x-none" altLang="zh-CN"/>
              <a:t>compute-in-memory</a:t>
            </a:r>
            <a:endParaRPr lang="x-none" altLang="zh-CN"/>
          </a:p>
          <a:p>
            <a:r>
              <a:rPr lang="x-none" altLang="zh-CN"/>
              <a:t>wafer-scale chip</a:t>
            </a:r>
            <a:endParaRPr lang="x-none" altLang="zh-CN"/>
          </a:p>
          <a:p>
            <a:r>
              <a:rPr lang="x-none" altLang="zh-CN"/>
              <a:t>Supernode and Hypercomputer</a:t>
            </a:r>
            <a:endParaRPr lang="x-none" altLang="zh-CN"/>
          </a:p>
          <a:p>
            <a:r>
              <a:rPr lang="x-none" altLang="zh-CN"/>
              <a:t>...</a:t>
            </a:r>
            <a:endParaRPr lang="x-none" altLang="zh-CN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Huawei DaVinci Architecture</a:t>
            </a: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H. Liao, J. Tu, J. Xia and X. Zhou, "DaVinci: A Scalable Architecture for Neural Network Computing," IEEE Hot Chips 31 Symposium (HCS), 2019</a:t>
            </a:r>
            <a:r>
              <a:rPr lang="x-none" altLang="en-US" dirty="0"/>
              <a:t>.</a:t>
            </a:r>
            <a:endParaRPr lang="x-none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/>
              <a:t>Cube</a:t>
            </a:r>
            <a:r>
              <a:rPr lang="zh-CN" altLang="en-US"/>
              <a:t>：</a:t>
            </a:r>
            <a:r>
              <a:rPr lang="en-US" altLang="zh-CN"/>
              <a:t>4096(16^3) FP16 MACs + 8192 INT8 MACs</a:t>
            </a:r>
            <a:endParaRPr lang="en-US" altLang="zh-CN"/>
          </a:p>
          <a:p>
            <a:r>
              <a:rPr lang="en-US" altLang="zh-CN"/>
              <a:t>Vector</a:t>
            </a:r>
            <a:r>
              <a:rPr lang="zh-CN" altLang="en-US"/>
              <a:t>：</a:t>
            </a:r>
            <a:r>
              <a:rPr lang="en-US" altLang="zh-CN"/>
              <a:t>2048bit INT8/FP16/FP32 vector with special functions</a:t>
            </a:r>
            <a:r>
              <a:rPr lang="zh-CN" altLang="en-US"/>
              <a:t>（</a:t>
            </a:r>
            <a:r>
              <a:rPr lang="en-US" altLang="zh-CN"/>
              <a:t>activation functions, NMS- Non Minimum Suppression, ROI, SORT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/>
              <a:t>Explicit memory hierarchy design, managed by MTE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4735" y="3357245"/>
            <a:ext cx="7362190" cy="29991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Intel’s Advanced Matrix Extensions (AMX)</a:t>
            </a: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113780" cy="4853305"/>
          </a:xfrm>
        </p:spPr>
        <p:txBody>
          <a:bodyPr>
            <a:normAutofit/>
          </a:bodyPr>
          <a:lstStyle/>
          <a:p>
            <a:r>
              <a:rPr lang="en-US" altLang="zh-CN"/>
              <a:t>Strategy: Enhance CPU with AI acceleration capabilities.</a:t>
            </a:r>
            <a:endParaRPr lang="en-US" altLang="zh-CN"/>
          </a:p>
          <a:p>
            <a:r>
              <a:rPr lang="en-US" altLang="zh-CN"/>
              <a:t>Architecture: An extension to the x86 ISA, not a separate chip.</a:t>
            </a:r>
            <a:endParaRPr lang="en-US" altLang="zh-CN"/>
          </a:p>
          <a:p>
            <a:r>
              <a:rPr lang="en-US" altLang="zh-CN"/>
              <a:t>Core Components:</a:t>
            </a:r>
            <a:endParaRPr lang="en-US" altLang="zh-CN"/>
          </a:p>
          <a:p>
            <a:pPr lvl="1"/>
            <a:r>
              <a:rPr lang="en-US" altLang="zh-CN" dirty="0">
                <a:sym typeface="+mn-ea"/>
              </a:rPr>
              <a:t>Tiles: 2D register files</a:t>
            </a:r>
            <a:endParaRPr lang="en-US" altLang="zh-CN" dirty="0"/>
          </a:p>
          <a:p>
            <a:pPr lvl="1"/>
            <a:r>
              <a:rPr lang="en-US" altLang="zh-CN" dirty="0">
                <a:sym typeface="+mn-ea"/>
              </a:rPr>
              <a:t>TMUL: dedicated matrix multiply instruction</a:t>
            </a:r>
            <a:endParaRPr lang="en-US" altLang="zh-CN" dirty="0"/>
          </a:p>
          <a:p>
            <a:pPr lvl="1"/>
            <a:r>
              <a:rPr lang="en-US" altLang="zh-CN" dirty="0">
                <a:sym typeface="+mn-ea"/>
              </a:rPr>
              <a:t>Explicit load/store/configuration model</a:t>
            </a:r>
            <a:endParaRPr lang="en-US" altLang="zh-CN" dirty="0"/>
          </a:p>
          <a:p>
            <a:pPr lvl="1"/>
            <a:r>
              <a:rPr lang="en-US" altLang="zh-CN" dirty="0">
                <a:sym typeface="+mn-ea"/>
              </a:rPr>
              <a:t>Instructions: </a:t>
            </a:r>
            <a:r>
              <a:rPr lang="en-US" altLang="zh-CN" dirty="0" err="1">
                <a:sym typeface="+mn-ea"/>
              </a:rPr>
              <a:t>tilecfg</a:t>
            </a:r>
            <a:r>
              <a:rPr lang="en-US" altLang="zh-CN" dirty="0">
                <a:sym typeface="+mn-ea"/>
              </a:rPr>
              <a:t>, </a:t>
            </a:r>
            <a:r>
              <a:rPr lang="en-US" altLang="zh-CN" dirty="0" err="1">
                <a:sym typeface="+mn-ea"/>
              </a:rPr>
              <a:t>tileload</a:t>
            </a:r>
            <a:r>
              <a:rPr lang="en-US" altLang="zh-CN" dirty="0">
                <a:sym typeface="+mn-ea"/>
              </a:rPr>
              <a:t>, </a:t>
            </a:r>
            <a:r>
              <a:rPr lang="en-US" altLang="zh-CN" dirty="0" err="1">
                <a:sym typeface="+mn-ea"/>
              </a:rPr>
              <a:t>tmul</a:t>
            </a:r>
            <a:r>
              <a:rPr lang="en-US" altLang="zh-CN" dirty="0">
                <a:sym typeface="+mn-ea"/>
              </a:rPr>
              <a:t>, </a:t>
            </a:r>
            <a:r>
              <a:rPr lang="en-US" altLang="zh-CN" dirty="0" err="1">
                <a:sym typeface="+mn-ea"/>
              </a:rPr>
              <a:t>tilestore</a:t>
            </a:r>
            <a:endParaRPr lang="en-US" altLang="zh-CN" dirty="0"/>
          </a:p>
          <a:p>
            <a:pPr lvl="1"/>
            <a:r>
              <a:rPr lang="en-US" altLang="zh-CN" dirty="0">
                <a:sym typeface="+mn-ea"/>
              </a:rPr>
              <a:t>Initial support: INT8, BF16 (extensions for FP16)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3740" y="1323975"/>
            <a:ext cx="5008880" cy="19494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260" y="3562350"/>
            <a:ext cx="4648835" cy="277876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AMD Zen + RDNA + XDNA SoC</a:t>
            </a: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32" name="组合 31"/>
          <p:cNvGrpSpPr>
            <a:grpSpLocks noChangeAspect="1"/>
          </p:cNvGrpSpPr>
          <p:nvPr/>
        </p:nvGrpSpPr>
        <p:grpSpPr>
          <a:xfrm>
            <a:off x="523875" y="1323975"/>
            <a:ext cx="7200000" cy="3677271"/>
            <a:chOff x="931" y="5059"/>
            <a:chExt cx="6802" cy="3474"/>
          </a:xfrm>
        </p:grpSpPr>
        <p:pic>
          <p:nvPicPr>
            <p:cNvPr id="11" name="图片 10" descr="HC 2023 AMD Ryzen 7040 Series Processor 8-26-2023_02"/>
            <p:cNvPicPr>
              <a:picLocks noChangeAspect="1"/>
            </p:cNvPicPr>
            <p:nvPr/>
          </p:nvPicPr>
          <p:blipFill>
            <a:blip r:embed="rId1"/>
            <a:srcRect l="15650" t="23097" r="14961" b="13911"/>
            <a:stretch>
              <a:fillRect/>
            </a:stretch>
          </p:blipFill>
          <p:spPr>
            <a:xfrm>
              <a:off x="931" y="5059"/>
              <a:ext cx="6803" cy="3474"/>
            </a:xfrm>
            <a:prstGeom prst="rect">
              <a:avLst/>
            </a:prstGeom>
          </p:spPr>
        </p:pic>
        <p:sp>
          <p:nvSpPr>
            <p:cNvPr id="13" name="矩形 12"/>
            <p:cNvSpPr/>
            <p:nvPr/>
          </p:nvSpPr>
          <p:spPr>
            <a:xfrm>
              <a:off x="1280" y="5380"/>
              <a:ext cx="794" cy="170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280" y="5629"/>
              <a:ext cx="794" cy="170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1280" y="5861"/>
              <a:ext cx="794" cy="170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1280" y="6099"/>
              <a:ext cx="794" cy="170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4028" y="5380"/>
              <a:ext cx="794" cy="170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4028" y="5629"/>
              <a:ext cx="794" cy="170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4028" y="5861"/>
              <a:ext cx="794" cy="170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4028" y="6099"/>
              <a:ext cx="794" cy="170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4888" y="6893"/>
              <a:ext cx="567" cy="283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4888" y="7248"/>
              <a:ext cx="567" cy="283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4888" y="7619"/>
              <a:ext cx="567" cy="283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4888" y="7982"/>
              <a:ext cx="567" cy="283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1393" y="7671"/>
              <a:ext cx="567" cy="567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2067" y="7671"/>
              <a:ext cx="567" cy="567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2731" y="7671"/>
              <a:ext cx="567" cy="567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1660" y="2490470"/>
            <a:ext cx="3600000" cy="25108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201660" y="5001260"/>
            <a:ext cx="35998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/>
              <a:t>XDNA</a:t>
            </a:r>
            <a:endParaRPr lang="en-US" altLang="zh-CN" sz="160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Digital IMC Architecture (d-Matrix)</a:t>
            </a:r>
            <a:endParaRPr lang="en-US" altLang="zh-CN">
              <a:sym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7138670" cy="4853305"/>
          </a:xfrm>
        </p:spPr>
        <p:txBody>
          <a:bodyPr>
            <a:normAutofit fontScale="85000"/>
          </a:bodyPr>
          <a:lstStyle/>
          <a:p>
            <a:r>
              <a:rPr lang="en-US" altLang="zh-CN"/>
              <a:t>Compute: Digital IMC (DIMC)</a:t>
            </a:r>
            <a:endParaRPr lang="en-US" altLang="zh-CN"/>
          </a:p>
          <a:p>
            <a:pPr lvl="1"/>
            <a:r>
              <a:rPr lang="en-US" altLang="zh-CN"/>
              <a:t>Zero Data Movement: Logic units integrated within SRAM to eliminate transfer overhead.</a:t>
            </a:r>
            <a:endParaRPr lang="en-US" altLang="zh-CN"/>
          </a:p>
          <a:p>
            <a:pPr lvl="1"/>
            <a:r>
              <a:rPr lang="en-US" altLang="zh-CN"/>
              <a:t>Digital Precision: Supports MXINT8/MXINT4 block-floating-point formats.</a:t>
            </a:r>
            <a:endParaRPr lang="en-US" altLang="zh-CN"/>
          </a:p>
          <a:p>
            <a:pPr lvl="1"/>
            <a:r>
              <a:rPr lang="en-US" altLang="zh-CN"/>
              <a:t>Efficiency: </a:t>
            </a:r>
            <a:r>
              <a:rPr lang="en-US" altLang="zh-CN" b="1">
                <a:solidFill>
                  <a:srgbClr val="8B0012"/>
                </a:solidFill>
              </a:rPr>
              <a:t>38 TOPS/W</a:t>
            </a:r>
            <a:r>
              <a:rPr lang="en-US" altLang="zh-CN"/>
              <a:t> (vs. ~2.8 TOPS/W for H100).</a:t>
            </a:r>
            <a:endParaRPr lang="en-US" altLang="zh-CN"/>
          </a:p>
          <a:p>
            <a:r>
              <a:rPr lang="en-US" altLang="zh-CN"/>
              <a:t>Storage: SRAM &amp; Memory Hierarchy</a:t>
            </a:r>
            <a:endParaRPr lang="en-US" altLang="zh-CN"/>
          </a:p>
          <a:p>
            <a:pPr lvl="1"/>
            <a:r>
              <a:rPr lang="en-US" altLang="zh-CN"/>
              <a:t>Stash (Weights): 6MB/slice; 150 TB/s aggregate bandwidth.</a:t>
            </a:r>
            <a:endParaRPr lang="en-US" altLang="zh-CN"/>
          </a:p>
          <a:p>
            <a:pPr lvl="1"/>
            <a:r>
              <a:rPr lang="en-US" altLang="zh-CN"/>
              <a:t>Global Memory (Activations): 4MB/slice.</a:t>
            </a:r>
            <a:endParaRPr lang="en-US" altLang="zh-CN"/>
          </a:p>
          <a:p>
            <a:pPr lvl="1"/>
            <a:r>
              <a:rPr lang="en-US" altLang="zh-CN"/>
              <a:t>LPDDR5 (256GB): For massive models and KV Cache.</a:t>
            </a:r>
            <a:endParaRPr lang="en-US" altLang="zh-CN"/>
          </a:p>
          <a:p>
            <a:r>
              <a:rPr lang="en-US" altLang="zh-CN"/>
              <a:t>Scalability &amp; Software</a:t>
            </a:r>
            <a:endParaRPr lang="en-US" altLang="zh-CN"/>
          </a:p>
          <a:p>
            <a:pPr lvl="1"/>
            <a:r>
              <a:rPr lang="en-US" altLang="zh-CN"/>
              <a:t>Scale-Out: Transparent interconnect bypassing RDMA.</a:t>
            </a:r>
            <a:endParaRPr lang="en-US" altLang="zh-CN"/>
          </a:p>
          <a:p>
            <a:pPr lvl="1"/>
            <a:r>
              <a:rPr lang="en-US" altLang="zh-CN"/>
              <a:t>Host-Free Runtime: RISC-V cores manage graph execution, eliminating Host CPU bottlenecks.</a:t>
            </a:r>
            <a:endParaRPr lang="en-US" altLang="zh-CN"/>
          </a:p>
        </p:txBody>
      </p:sp>
      <p:grpSp>
        <p:nvGrpSpPr>
          <p:cNvPr id="10" name="组合 9"/>
          <p:cNvGrpSpPr/>
          <p:nvPr/>
        </p:nvGrpSpPr>
        <p:grpSpPr>
          <a:xfrm>
            <a:off x="7145020" y="431800"/>
            <a:ext cx="4907280" cy="6183630"/>
            <a:chOff x="10733" y="680"/>
            <a:chExt cx="7728" cy="9738"/>
          </a:xfrm>
        </p:grpSpPr>
        <p:pic>
          <p:nvPicPr>
            <p:cNvPr id="6" name="内容占位符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733" y="5400"/>
              <a:ext cx="7728" cy="5018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030" y="680"/>
              <a:ext cx="5102" cy="3949"/>
            </a:xfrm>
            <a:prstGeom prst="rect">
              <a:avLst/>
            </a:prstGeom>
          </p:spPr>
        </p:pic>
        <p:cxnSp>
          <p:nvCxnSpPr>
            <p:cNvPr id="8" name="直接连接符 7"/>
            <p:cNvCxnSpPr/>
            <p:nvPr/>
          </p:nvCxnSpPr>
          <p:spPr>
            <a:xfrm>
              <a:off x="12007" y="4581"/>
              <a:ext cx="4624" cy="1038"/>
            </a:xfrm>
            <a:prstGeom prst="line">
              <a:avLst/>
            </a:prstGeom>
            <a:ln w="9525">
              <a:solidFill>
                <a:schemeClr val="accent3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17089" y="4546"/>
              <a:ext cx="43" cy="1073"/>
            </a:xfrm>
            <a:prstGeom prst="line">
              <a:avLst/>
            </a:prstGeom>
            <a:ln w="9525">
              <a:solidFill>
                <a:schemeClr val="accent3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Wafer-Scale Architecture (Cerebras)</a:t>
            </a: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7734300" cy="4853305"/>
          </a:xfrm>
        </p:spPr>
        <p:txBody>
          <a:bodyPr>
            <a:normAutofit fontScale="70000"/>
          </a:bodyPr>
          <a:lstStyle/>
          <a:p>
            <a:r>
              <a:rPr lang="en-US" altLang="zh-CN"/>
              <a:t>WSE-3 Specs (vs. NVIDIA H100) </a:t>
            </a:r>
            <a:endParaRPr lang="en-US" altLang="zh-CN"/>
          </a:p>
          <a:p>
            <a:pPr lvl="1"/>
            <a:r>
              <a:rPr lang="en-US" altLang="zh-CN"/>
              <a:t>Die Area: 46,225 mm</a:t>
            </a:r>
            <a:r>
              <a:rPr lang="en-US" altLang="zh-CN" baseline="30000"/>
              <a:t>2</a:t>
            </a:r>
            <a:r>
              <a:rPr lang="en-US" altLang="zh-CN"/>
              <a:t> (57x，</a:t>
            </a:r>
            <a:r>
              <a:rPr lang="x-none" altLang="en-US"/>
              <a:t>↘</a:t>
            </a:r>
            <a:r>
              <a:rPr lang="en-US" altLang="zh-CN"/>
              <a:t>)</a:t>
            </a:r>
            <a:endParaRPr lang="en-US" altLang="zh-CN"/>
          </a:p>
          <a:p>
            <a:pPr lvl="1"/>
            <a:r>
              <a:rPr lang="en-US" altLang="zh-CN"/>
              <a:t>AI Cores: 900,000 AI cores (52x，</a:t>
            </a:r>
            <a:r>
              <a:rPr lang="x-none" altLang="en-US">
                <a:sym typeface="+mn-ea"/>
              </a:rPr>
              <a:t>↘</a:t>
            </a:r>
            <a:r>
              <a:rPr lang="en-US" altLang="zh-CN"/>
              <a:t>)</a:t>
            </a:r>
            <a:endParaRPr lang="en-US" altLang="zh-CN"/>
          </a:p>
          <a:p>
            <a:pPr lvl="1"/>
            <a:r>
              <a:rPr lang="en-US" altLang="zh-CN"/>
              <a:t>on-chip Memory: 44 GB SRAM (880x)</a:t>
            </a:r>
            <a:endParaRPr lang="en-US" altLang="zh-CN"/>
          </a:p>
          <a:p>
            <a:pPr lvl="1"/>
            <a:r>
              <a:rPr lang="en-US" altLang="zh-CN"/>
              <a:t>Memory Bandwidth: 21 PB/s (7000</a:t>
            </a:r>
            <a:r>
              <a:rPr lang="en-US"/>
              <a:t>x</a:t>
            </a:r>
            <a:r>
              <a:rPr lang="en-US" altLang="zh-CN"/>
              <a:t>)</a:t>
            </a:r>
            <a:endParaRPr lang="zh-CN" altLang="en-US"/>
          </a:p>
          <a:p>
            <a:pPr lvl="0"/>
            <a:r>
              <a:rPr lang="en-US" altLang="zh-CN"/>
              <a:t>WSE-3 Core Architecture</a:t>
            </a:r>
            <a:endParaRPr lang="en-US" altLang="zh-CN"/>
          </a:p>
          <a:p>
            <a:pPr lvl="1"/>
            <a:r>
              <a:rPr lang="en-US" altLang="zh-CN"/>
              <a:t>Co-located Compute &amp; Memory: Logic and storage are tightly coupled to minimize latency.</a:t>
            </a:r>
            <a:endParaRPr lang="en-US" altLang="zh-CN"/>
          </a:p>
          <a:p>
            <a:pPr lvl="1"/>
            <a:r>
              <a:rPr lang="en-US" altLang="zh-CN"/>
              <a:t>High-Performance AI Compute: 8/16-way SIMD supporting 16-bit/8-bit data formats.</a:t>
            </a:r>
            <a:endParaRPr lang="en-US" altLang="zh-CN"/>
          </a:p>
          <a:p>
            <a:pPr lvl="1"/>
            <a:r>
              <a:rPr lang="en-US" altLang="zh-CN"/>
              <a:t>High-Bandwidth Storage: Massive local SRAM and specialized cache hierarchies.</a:t>
            </a:r>
            <a:endParaRPr lang="en-US" altLang="zh-CN"/>
          </a:p>
          <a:p>
            <a:pPr lvl="0"/>
            <a:r>
              <a:rPr lang="en-US" altLang="zh-CN"/>
              <a:t>Inference Strategy: On-Chip Pipeline Parallelism</a:t>
            </a:r>
            <a:endParaRPr lang="en-US" altLang="zh-CN"/>
          </a:p>
          <a:p>
            <a:pPr lvl="1"/>
            <a:r>
              <a:rPr lang="en-US" altLang="zh-CN"/>
              <a:t>Physical Mapping: Model layers are mapped across different wafer regions.</a:t>
            </a:r>
            <a:endParaRPr lang="en-US" altLang="zh-CN"/>
          </a:p>
          <a:p>
            <a:pPr lvl="1"/>
            <a:r>
              <a:rPr lang="en-US" altLang="zh-CN"/>
              <a:t>Near-Zero Latency: Communication happens via a high-speed Silicon Interconnect, effectively eliminating traditional networking overhead.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r="38870" b="-807"/>
          <a:stretch>
            <a:fillRect/>
          </a:stretch>
        </p:blipFill>
        <p:spPr>
          <a:xfrm>
            <a:off x="8434705" y="1237615"/>
            <a:ext cx="1799590" cy="20624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8690" y="3404870"/>
            <a:ext cx="2690495" cy="312610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l="75302" t="69305"/>
          <a:stretch>
            <a:fillRect/>
          </a:stretch>
        </p:blipFill>
        <p:spPr>
          <a:xfrm>
            <a:off x="10410825" y="1931670"/>
            <a:ext cx="727075" cy="62801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Supernode Architecture (NVL72 &amp; CloudMatrix 384)</a:t>
            </a: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[1] https://zhuanlan.zhihu.com/p/1919101924445254162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653530" cy="4853305"/>
          </a:xfrm>
        </p:spPr>
        <p:txBody>
          <a:bodyPr>
            <a:normAutofit fontScale="80000"/>
          </a:bodyPr>
          <a:lstStyle/>
          <a:p>
            <a:r>
              <a:rPr lang="en-US" altLang="zh-CN"/>
              <a:t>NVIDIA NVL72: "The Rack is the Chip"</a:t>
            </a:r>
            <a:endParaRPr lang="en-US" altLang="zh-CN"/>
          </a:p>
          <a:p>
            <a:pPr lvl="1"/>
            <a:r>
              <a:rPr lang="en-US" altLang="zh-CN"/>
              <a:t>Chip-Centric, Compute-First Supernode: Designed as a unified computational entity.</a:t>
            </a:r>
            <a:endParaRPr lang="en-US" altLang="zh-CN"/>
          </a:p>
          <a:p>
            <a:pPr lvl="1"/>
            <a:r>
              <a:rPr lang="en-US" altLang="zh-CN"/>
              <a:t>Architecture: 72 Blackwell GPUs integrated into a single rack, interconnected via a Copper Backplane (NVLink Switch).</a:t>
            </a:r>
            <a:endParaRPr lang="en-US" altLang="zh-CN"/>
          </a:p>
          <a:p>
            <a:pPr lvl="1"/>
            <a:r>
              <a:rPr lang="en-US" altLang="zh-CN"/>
              <a:t>Objective: Emulate Wafer-Scale (WSI) performance using discrete components; leverages copper interconnects for rack-level All-to-All high bandwidth.</a:t>
            </a:r>
            <a:endParaRPr lang="en-US" altLang="zh-CN"/>
          </a:p>
          <a:p>
            <a:r>
              <a:rPr lang="en-US" altLang="zh-CN"/>
              <a:t>Huawei Cloud-Matrix 384</a:t>
            </a:r>
            <a:endParaRPr lang="en-US" altLang="zh-CN"/>
          </a:p>
          <a:p>
            <a:pPr lvl="1"/>
            <a:r>
              <a:rPr lang="en-US" altLang="zh-CN"/>
              <a:t>System-Centric, Communication-First Unified Supernode: Prioritizes large-scale interconnect efficiency.</a:t>
            </a:r>
            <a:endParaRPr lang="en-US" altLang="zh-CN"/>
          </a:p>
          <a:p>
            <a:pPr lvl="1"/>
            <a:r>
              <a:rPr lang="en-US" altLang="zh-CN"/>
              <a:t>Mechanism: Interconnects hundreds of Ascend processors via the proprietary HCCS protocol to build a Unified Memory Pool.</a:t>
            </a:r>
            <a:endParaRPr lang="en-US" altLang="zh-CN"/>
          </a:p>
          <a:p>
            <a:pPr lvl="1"/>
            <a:r>
              <a:rPr lang="en-US" altLang="zh-CN"/>
              <a:t>General-Purpose Advantage: Unlike niche inference chips, it balances large-scale training and inference, backed by the mature CANN ecosystem.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2125" y="1065530"/>
            <a:ext cx="2963545" cy="296354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9310" y="4284980"/>
            <a:ext cx="4622165" cy="19932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Model Parameter vs GPU Memory Capacity</a:t>
            </a: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sz="2000"/>
              <a:t>NLP Moore’s Law</a:t>
            </a:r>
            <a:endParaRPr lang="en-US" altLang="zh-CN" sz="2000"/>
          </a:p>
          <a:p>
            <a:pPr lvl="1"/>
            <a:r>
              <a:rPr lang="en-US" altLang="zh-CN" sz="1800"/>
              <a:t>Model Param</a:t>
            </a:r>
            <a:r>
              <a:rPr lang="x-none" altLang="en-US" sz="1800"/>
              <a:t>s</a:t>
            </a:r>
            <a:r>
              <a:rPr lang="en-US" altLang="zh-CN" sz="1800"/>
              <a:t>: </a:t>
            </a:r>
            <a:r>
              <a:rPr lang="en-US" altLang="zh-CN" sz="1800" b="1">
                <a:solidFill>
                  <a:srgbClr val="C00000"/>
                </a:solidFill>
              </a:rPr>
              <a:t>&gt;10,000</a:t>
            </a:r>
            <a:r>
              <a:rPr lang="en-US" altLang="en-US" sz="1800" b="1">
                <a:solidFill>
                  <a:srgbClr val="C00000"/>
                </a:solidFill>
              </a:rPr>
              <a:t>×</a:t>
            </a:r>
            <a:r>
              <a:rPr lang="en-US" altLang="zh-CN" sz="1800"/>
              <a:t> growth in 7 years</a:t>
            </a:r>
            <a:endParaRPr lang="en-US" altLang="zh-CN" sz="180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zh-CN" sz="2000"/>
              <a:t>GPU Memory Growth</a:t>
            </a:r>
            <a:endParaRPr lang="en-US" altLang="zh-CN" sz="2000"/>
          </a:p>
          <a:p>
            <a:pPr lvl="1"/>
            <a:r>
              <a:rPr lang="en-US" altLang="zh-CN" sz="1800"/>
              <a:t>Memory Capacity: </a:t>
            </a:r>
            <a:r>
              <a:rPr lang="en-US" altLang="zh-CN" sz="1800" b="1">
                <a:solidFill>
                  <a:srgbClr val="C00000"/>
                </a:solidFill>
              </a:rPr>
              <a:t>&lt;10</a:t>
            </a:r>
            <a:r>
              <a:rPr lang="en-US" altLang="en-US" sz="1800" b="1">
                <a:solidFill>
                  <a:srgbClr val="C00000"/>
                </a:solidFill>
              </a:rPr>
              <a:t>×</a:t>
            </a:r>
            <a:r>
              <a:rPr lang="en-US" altLang="en-US" sz="1800"/>
              <a:t> growth in 7 years </a:t>
            </a:r>
            <a:endParaRPr lang="en-US" altLang="zh-CN" sz="1800"/>
          </a:p>
          <a:p>
            <a:pPr lvl="1"/>
            <a:endParaRPr lang="en-US" altLang="zh-CN" sz="1800"/>
          </a:p>
          <a:p>
            <a:endParaRPr lang="en-US" altLang="zh-CN" sz="1800"/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991235" y="2295525"/>
          <a:ext cx="4288155" cy="3892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0950"/>
                <a:gridCol w="1391285"/>
                <a:gridCol w="1645920"/>
              </a:tblGrid>
              <a:tr h="389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Time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Model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Size</a:t>
                      </a:r>
                      <a:endParaRPr lang="en-US" altLang="zh-CN"/>
                    </a:p>
                  </a:txBody>
                  <a:tcPr/>
                </a:tc>
              </a:tr>
              <a:tr h="389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2018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BERT-Large 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0.34 B</a:t>
                      </a:r>
                      <a:endParaRPr lang="en-US" altLang="zh-CN"/>
                    </a:p>
                  </a:txBody>
                  <a:tcPr/>
                </a:tc>
              </a:tr>
              <a:tr h="389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2019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GPT-2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1.5 B</a:t>
                      </a:r>
                      <a:endParaRPr lang="en-US" altLang="zh-CN"/>
                    </a:p>
                  </a:txBody>
                  <a:tcPr/>
                </a:tc>
              </a:tr>
              <a:tr h="389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2020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GPT-3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175 B</a:t>
                      </a:r>
                      <a:endParaRPr lang="en-US" altLang="zh-CN"/>
                    </a:p>
                  </a:txBody>
                  <a:tcPr/>
                </a:tc>
              </a:tr>
              <a:tr h="389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2023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GPT-4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≈1.8 T (MoE)</a:t>
                      </a:r>
                      <a:endParaRPr lang="en-US" altLang="zh-CN"/>
                    </a:p>
                  </a:txBody>
                  <a:tcPr/>
                </a:tc>
              </a:tr>
              <a:tr h="389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2024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Llama-3.1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405 B</a:t>
                      </a:r>
                      <a:endParaRPr lang="en-US" altLang="zh-CN"/>
                    </a:p>
                  </a:txBody>
                  <a:tcPr/>
                </a:tc>
              </a:tr>
              <a:tr h="389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2024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Gemini 1.5 Pro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≈1.5 T</a:t>
                      </a:r>
                      <a:endParaRPr lang="en-US" altLang="zh-CN"/>
                    </a:p>
                  </a:txBody>
                  <a:tcPr/>
                </a:tc>
              </a:tr>
              <a:tr h="389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2024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DeepSeek-V3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671 B (MoE)</a:t>
                      </a:r>
                      <a:endParaRPr lang="en-US" altLang="zh-CN"/>
                    </a:p>
                  </a:txBody>
                  <a:tcPr/>
                </a:tc>
              </a:tr>
              <a:tr h="389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2025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GPT-4.5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≈12.8 T (MoE)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>
            <p:custDataLst>
              <p:tags r:id="rId2"/>
            </p:custDataLst>
          </p:nvPr>
        </p:nvGraphicFramePr>
        <p:xfrm>
          <a:off x="6156325" y="2295525"/>
          <a:ext cx="4861560" cy="3120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5390"/>
                <a:gridCol w="1215390"/>
                <a:gridCol w="1215390"/>
                <a:gridCol w="1215390"/>
              </a:tblGrid>
              <a:tr h="530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Time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GPU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Memory Capacity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Memory Bandwidth</a:t>
                      </a:r>
                      <a:endParaRPr lang="en-US" altLang="zh-CN"/>
                    </a:p>
                  </a:txBody>
                  <a:tcPr/>
                </a:tc>
              </a:tr>
              <a:tr h="370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2018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V100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32 GB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900 GB/s</a:t>
                      </a:r>
                      <a:endParaRPr lang="en-US" altLang="zh-CN"/>
                    </a:p>
                  </a:txBody>
                  <a:tcPr/>
                </a:tc>
              </a:tr>
              <a:tr h="370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2020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A100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80 GB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2.0 TB/s</a:t>
                      </a:r>
                      <a:endParaRPr lang="en-US" altLang="zh-CN"/>
                    </a:p>
                  </a:txBody>
                  <a:tcPr/>
                </a:tc>
              </a:tr>
              <a:tr h="369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2022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A800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80 GB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2.0 TB/s</a:t>
                      </a:r>
                      <a:endParaRPr lang="en-US" altLang="zh-CN"/>
                    </a:p>
                  </a:txBody>
                  <a:tcPr/>
                </a:tc>
              </a:tr>
              <a:tr h="369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2023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H100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94 GB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3.9 TB/s</a:t>
                      </a:r>
                      <a:endParaRPr lang="en-US" altLang="zh-CN"/>
                    </a:p>
                  </a:txBody>
                  <a:tcPr/>
                </a:tc>
              </a:tr>
              <a:tr h="369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2024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H200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141 GB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4.8 TB/s</a:t>
                      </a:r>
                      <a:endParaRPr lang="en-US" altLang="zh-CN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2025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B200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192 GB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8 TB/s</a:t>
                      </a:r>
                      <a:endParaRPr lang="en-US" altLang="zh-CN"/>
                    </a:p>
                  </a:txBody>
                  <a:tcPr/>
                </a:tc>
              </a:tr>
              <a:tr h="370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2025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B300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288 GB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10 TB/s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5183505" y="5927090"/>
            <a:ext cx="6617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/>
              <a:t>Massive-scale, high-bandwidth</a:t>
            </a:r>
            <a:r>
              <a:rPr lang="en-US" altLang="zh-CN" i="1"/>
              <a:t> interconnects are mandatory</a:t>
            </a:r>
            <a:endParaRPr lang="en-US" altLang="zh-CN" i="1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AI Obstacle Course</a:t>
            </a:r>
            <a:r>
              <a:rPr lang="x-none" altLang="zh-CN"/>
              <a:t>: </a:t>
            </a:r>
            <a:r>
              <a:rPr sz="2400"/>
              <a:t>The Challenge of a Multi-Chip World</a:t>
            </a:r>
            <a:endParaRPr lang="zh-CN" altLang="en-US" sz="240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5" name="picture 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562860" y="1741170"/>
            <a:ext cx="7200000" cy="40186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The Solution: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FlagOS,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a Unified AI Software Stack</a:t>
            </a:r>
            <a:endParaRPr lang="zh-CN" altLang="en-US"/>
          </a:p>
        </p:txBody>
      </p:sp>
      <p:pic>
        <p:nvPicPr>
          <p:cNvPr id="7" name="内容占位符 6" descr="flagos-architecture-en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832"/>
          <p:cNvSpPr/>
          <p:nvPr>
            <p:custDataLst>
              <p:tags r:id="rId1"/>
            </p:custDataLst>
          </p:nvPr>
        </p:nvSpPr>
        <p:spPr>
          <a:xfrm>
            <a:off x="89535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832"/>
          <p:cNvSpPr/>
          <p:nvPr>
            <p:custDataLst>
              <p:tags r:id="rId2"/>
            </p:custDataLst>
          </p:nvPr>
        </p:nvSpPr>
        <p:spPr>
          <a:xfrm>
            <a:off x="440023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832"/>
          <p:cNvSpPr/>
          <p:nvPr>
            <p:custDataLst>
              <p:tags r:id="rId3"/>
            </p:custDataLst>
          </p:nvPr>
        </p:nvSpPr>
        <p:spPr>
          <a:xfrm>
            <a:off x="790511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832"/>
          <p:cNvSpPr/>
          <p:nvPr>
            <p:custDataLst>
              <p:tags r:id="rId4"/>
            </p:custDataLst>
          </p:nvPr>
        </p:nvSpPr>
        <p:spPr>
          <a:xfrm>
            <a:off x="89535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832"/>
          <p:cNvSpPr/>
          <p:nvPr>
            <p:custDataLst>
              <p:tags r:id="rId5"/>
            </p:custDataLst>
          </p:nvPr>
        </p:nvSpPr>
        <p:spPr>
          <a:xfrm>
            <a:off x="440023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832"/>
          <p:cNvSpPr/>
          <p:nvPr>
            <p:custDataLst>
              <p:tags r:id="rId6"/>
            </p:custDataLst>
          </p:nvPr>
        </p:nvSpPr>
        <p:spPr>
          <a:xfrm>
            <a:off x="790511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72"/>
          <p:cNvSpPr/>
          <p:nvPr>
            <p:custDataLst>
              <p:tags r:id="rId7"/>
            </p:custDataLst>
          </p:nvPr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사각형: 둥근 모서리 72"/>
          <p:cNvSpPr/>
          <p:nvPr>
            <p:custDataLst>
              <p:tags r:id="rId9"/>
            </p:custDataLst>
          </p:nvPr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1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사각형: 둥근 모서리 72"/>
          <p:cNvSpPr/>
          <p:nvPr>
            <p:custDataLst>
              <p:tags r:id="rId11"/>
            </p:custDataLst>
          </p:nvPr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1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사각형: 둥근 모서리 72"/>
          <p:cNvSpPr/>
          <p:nvPr>
            <p:custDataLst>
              <p:tags r:id="rId13"/>
            </p:custDataLst>
          </p:nvPr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1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사각형: 둥근 모서리 72"/>
          <p:cNvSpPr/>
          <p:nvPr>
            <p:custDataLst>
              <p:tags r:id="rId15"/>
            </p:custDataLst>
          </p:nvPr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1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사각형: 둥근 모서리 72"/>
          <p:cNvSpPr/>
          <p:nvPr>
            <p:custDataLst>
              <p:tags r:id="rId17"/>
            </p:custDataLst>
          </p:nvPr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1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object 3"/>
          <p:cNvSpPr txBox="1"/>
          <p:nvPr>
            <p:custDataLst>
              <p:tags r:id="rId19"/>
            </p:custDataLst>
          </p:nvPr>
        </p:nvSpPr>
        <p:spPr>
          <a:xfrm>
            <a:off x="1219842" y="251790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0" action="ppaction://hlinkfile"/>
              </a:rPr>
              <a:t>https://github.com/flagos-ai</a:t>
            </a:r>
            <a:endParaRPr lang="en-US" altLang="zh-CN" sz="1600" dirty="0"/>
          </a:p>
          <a:p>
            <a:endParaRPr lang="en-US" altLang="ko-KR" sz="1600" dirty="0"/>
          </a:p>
        </p:txBody>
      </p:sp>
      <p:sp>
        <p:nvSpPr>
          <p:cNvPr id="36" name="object 3"/>
          <p:cNvSpPr txBox="1"/>
          <p:nvPr>
            <p:custDataLst>
              <p:tags r:id="rId21"/>
            </p:custDataLst>
          </p:nvPr>
        </p:nvSpPr>
        <p:spPr>
          <a:xfrm>
            <a:off x="8015605" y="2341245"/>
            <a:ext cx="2882265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2" action="ppaction://hlinkfile"/>
              </a:rPr>
              <a:t>https://space.bilibili.com/3546791834290849</a:t>
            </a:r>
            <a:endParaRPr lang="en-US" altLang="zh-CN" sz="1600" dirty="0"/>
          </a:p>
        </p:txBody>
      </p:sp>
      <p:sp>
        <p:nvSpPr>
          <p:cNvPr id="42" name="object 3"/>
          <p:cNvSpPr txBox="1"/>
          <p:nvPr>
            <p:custDataLst>
              <p:tags r:id="rId23"/>
            </p:custDataLst>
          </p:nvPr>
        </p:nvSpPr>
        <p:spPr>
          <a:xfrm>
            <a:off x="1219842" y="440385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4" action="ppaction://hlinkfile"/>
              </a:rPr>
              <a:t>https://www.zhihu.com/people/95-22-20-18/posts</a:t>
            </a:r>
            <a:endParaRPr lang="en-US" altLang="ko-KR" sz="1600" dirty="0"/>
          </a:p>
        </p:txBody>
      </p:sp>
      <p:sp>
        <p:nvSpPr>
          <p:cNvPr id="45" name="object 3"/>
          <p:cNvSpPr txBox="1"/>
          <p:nvPr>
            <p:custDataLst>
              <p:tags r:id="rId25"/>
            </p:custDataLst>
          </p:nvPr>
        </p:nvSpPr>
        <p:spPr>
          <a:xfrm>
            <a:off x="4724722" y="4403854"/>
            <a:ext cx="2513958" cy="39687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6" action="ppaction://hlinkfile"/>
              </a:rPr>
              <a:t>https://flagos.io/Home</a:t>
            </a:r>
            <a:endParaRPr lang="en-US" altLang="ko-KR" sz="1600" dirty="0"/>
          </a:p>
        </p:txBody>
      </p:sp>
      <p:pic>
        <p:nvPicPr>
          <p:cNvPr id="54" name="图片 53" descr="weixin-DL0TqDNO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</p:spPr>
      </p:pic>
      <p:pic>
        <p:nvPicPr>
          <p:cNvPr id="55" name="图片 54" descr="feishu-qrcode-C75xQn56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10"/>
          </p:nvPr>
        </p:nvPicPr>
        <p:blipFill>
          <a:blip r:embed="rId1"/>
          <a:srcRect l="2306" r="2306"/>
          <a:stretch>
            <a:fillRect/>
          </a:stretch>
        </p:blipFill>
        <p:spPr/>
      </p:pic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5625465" y="2373630"/>
            <a:ext cx="5739130" cy="2664460"/>
          </a:xfrm>
        </p:spPr>
        <p:txBody>
          <a:bodyPr/>
          <a:lstStyle/>
          <a:p>
            <a:pPr algn="l"/>
            <a:r>
              <a:rPr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 for your time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kumimoji="1" lang="ko-KR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TABLE_ENDDRAG_ORIGIN_RECT" val="337*245"/>
  <p:tag name="TABLE_ENDDRAG_RECT" val="33*242*337*245"/>
</p:tagLst>
</file>

<file path=ppt/tags/tag11.xml><?xml version="1.0" encoding="utf-8"?>
<p:tagLst xmlns:p="http://schemas.openxmlformats.org/presentationml/2006/main">
  <p:tag name="TABLE_ENDDRAG_ORIGIN_RECT" val="382*274"/>
  <p:tag name="TABLE_ENDDRAG_RECT" val="484*180*382*274"/>
</p:tagLst>
</file>

<file path=ppt/tags/tag12.xml><?xml version="1.0" encoding="utf-8"?>
<p:tagLst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3.xml><?xml version="1.0" encoding="utf-8"?>
<p:tagLst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4.xml><?xml version="1.0" encoding="utf-8"?>
<p:tagLst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5.xml><?xml version="1.0" encoding="utf-8"?>
<p:tagLst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6.xml><?xml version="1.0" encoding="utf-8"?>
<p:tagLst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7.xml><?xml version="1.0" encoding="utf-8"?>
<p:tagLst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8.xml><?xml version="1.0" encoding="utf-8"?>
<p:tagLst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9.xml><?xml version="1.0" encoding="utf-8"?>
<p:tagLst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0.xml><?xml version="1.0" encoding="utf-8"?>
<p:tagLst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1.xml><?xml version="1.0" encoding="utf-8"?>
<p:tagLst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2.xml><?xml version="1.0" encoding="utf-8"?>
<p:tagLst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3.xml><?xml version="1.0" encoding="utf-8"?>
<p:tagLst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4.xml><?xml version="1.0" encoding="utf-8"?>
<p:tagLst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5.xml><?xml version="1.0" encoding="utf-8"?>
<p:tagLst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6.xml><?xml version="1.0" encoding="utf-8"?>
<p:tagLst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7.xml><?xml version="1.0" encoding="utf-8"?>
<p:tagLst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heme/theme1.xml><?xml version="1.0" encoding="utf-8"?>
<a:theme xmlns:a="http://schemas.openxmlformats.org/drawingml/2006/main" name="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7673</Words>
  <Application>WPS 演示</Application>
  <PresentationFormat>宽屏</PresentationFormat>
  <Paragraphs>365</Paragraphs>
  <Slides>26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4" baseType="lpstr">
      <vt:lpstr>Arial</vt:lpstr>
      <vt:lpstr>宋体</vt:lpstr>
      <vt:lpstr>Wingdings</vt:lpstr>
      <vt:lpstr>Garamond</vt:lpstr>
      <vt:lpstr>微软雅黑</vt:lpstr>
      <vt:lpstr>Calibri</vt:lpstr>
      <vt:lpstr>文泉驿微米黑</vt:lpstr>
      <vt:lpstr>黑体</vt:lpstr>
      <vt:lpstr>Wingdings 3</vt:lpstr>
      <vt:lpstr>Ebrima</vt:lpstr>
      <vt:lpstr>Calibri Light</vt:lpstr>
      <vt:lpstr>Arial Unicode MS</vt:lpstr>
      <vt:lpstr>等线</vt:lpstr>
      <vt:lpstr>Montserrat SemiBold</vt:lpstr>
      <vt:lpstr>Segoe Print</vt:lpstr>
      <vt:lpstr>Pretendard</vt:lpstr>
      <vt:lpstr>Malgun Gothic</vt:lpstr>
      <vt:lpstr>母版</vt:lpstr>
      <vt:lpstr>Hardware and Software Fundamentals of  Intelligent Computing  Systems</vt:lpstr>
      <vt:lpstr>Lecture 01: Course Introduction and AI Hardware Landscape</vt:lpstr>
      <vt:lpstr>Token-Hungry Generative AI Applications</vt:lpstr>
      <vt:lpstr>AI Hardware Spectrum: Key Examples</vt:lpstr>
      <vt:lpstr>PowerPoint 演示文稿</vt:lpstr>
      <vt:lpstr>The Hardware Demands of AI/ML</vt:lpstr>
      <vt:lpstr>Why General-Purpose CPUs Failed AI (1/2)</vt:lpstr>
      <vt:lpstr>Why General-Purpose CPUs Failed AI (2/2)</vt:lpstr>
      <vt:lpstr>The Rise of the GPU</vt:lpstr>
      <vt:lpstr>The Rise of the GPU</vt:lpstr>
      <vt:lpstr>1st-Gen Tensor Core: Warp-scoped MMA</vt:lpstr>
      <vt:lpstr>Scaling of Tensor Cores in NIVIDIA GPUs (1/3)</vt:lpstr>
      <vt:lpstr>Scaling of Tensor Cores in NIVIDIA GPUs (2/3)</vt:lpstr>
      <vt:lpstr>Scaling of Tensor Cores in NIVIDIA GPUs (3/3)</vt:lpstr>
      <vt:lpstr>Compute Architectures Evolve</vt:lpstr>
      <vt:lpstr>Huawei DaVinci Architecture</vt:lpstr>
      <vt:lpstr>Intel’s Advanced Matrix Extensions (AMX)</vt:lpstr>
      <vt:lpstr>AMD Zen + RDNA + XDNA SoC</vt:lpstr>
      <vt:lpstr>Digital IMC Architecture (d-Matrix)</vt:lpstr>
      <vt:lpstr>Wafer-Scale Architecture (Cerebras)</vt:lpstr>
      <vt:lpstr>Supernode Architecture (NVL72 &amp; CloudMatrix 384)</vt:lpstr>
      <vt:lpstr>Model Parameter vs GPU Memory Capacity</vt:lpstr>
      <vt:lpstr>The AI Obstacle Course: The Challenge of a Multi-Chip World</vt:lpstr>
      <vt:lpstr>The Solution: FlagOS, a Unified AI Software Stack</vt:lpstr>
      <vt:lpstr>PowerPoint 演示文稿</vt:lpstr>
      <vt:lpstr>Thanks for your time！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01: Course Introduction and AI Hardware Landscape</dc:title>
  <dc:creator>王丰</dc:creator>
  <cp:lastModifiedBy>Zhiqiang Zhao</cp:lastModifiedBy>
  <cp:revision>17</cp:revision>
  <dcterms:created xsi:type="dcterms:W3CDTF">2026-03-12T05:13:00Z</dcterms:created>
  <dcterms:modified xsi:type="dcterms:W3CDTF">2026-03-17T14:56:53Z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73a59436b4354da09f2a1aff800eacb2_23</vt:lpwstr>
  </property>
  <property fmtid="{D5CDD505-2E9C-101B-9397-08002B2CF9AE}" pid="3" name="KSOProductBuildVer">
    <vt:lpwstr>2052-12.1.0.19302</vt:lpwstr>
  </property>
</Properties>
</file>