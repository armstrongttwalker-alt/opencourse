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58" Target="notesSlides/notesSlide24.xml" Type="http://schemas.openxmlformats.org/officeDocument/2006/relationships/notesSlide"/><Relationship Id="rId59" Target="notesSlides/notesSlide25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6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大家好，欢迎来到本学期的核心课程《智能计算系统软硬件基础》。本课程由北京大学和智源研究院共同推出。在这门课中，我们将自底向上、系统性地探讨人工智能时代的软硬件全栈技术，打通从底层体系结构到上层框架的认知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今天是我们的第一讲：“课程导论与AI硬件全景”。我们将从宏观的系统视角出发，梳理当前智能计算面临的严峻挑战，并带领大家全览主流的AI加速硬件架构及其演进路线。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首先来审视当前的AI应用趋势。如今，无论是基于大语言模型的自主智能体，还是各种高保真的视频生成模型，都呈现出典型的“Token密集型”特征。从应用趋势图可以清晰地看到，模型的Token消耗量正呈指数级飙升。这种高吞吐、密集的计算范式，对底层硬件的算力密度和内存带宽提出了前所未有的苛刻要求。同时，算力正在向边缘下沉，AI手机与AI PC等端侧设备也开始承载越来越重的本地推理负载。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面对多样化的部署场景，AI硬件已经分化出了一套庞大且精细的谱系。在数据中心的云端，有致力于极致性能的机器学习加速器，例如华为的昇腾系列以及寒武纪的MLU370。在边缘侧，我们有Iluvatar和TY1200等计算平台。再往下延伸到端侧和物联网，则有移动端芯片如Kirin 9030 Pro，以及面向极低功耗微型机器学习场景的Arduino Nano 33 BLE Sense。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这一页展示了计算硬件在具身智能和机器人领域的具体投射。我们可以看到诸如Tesla Optimus、Unitree、UBTech等主流机器人平台所采用的底层控制器方案。例如，有的平台采用了提供数百TFLOPS算力的自动驾驶级芯片作为主控，这说明在具身智能场景中，硬件不仅要在极受限的功耗和体积内提供庞大的INT8或浮点算力，还要完美衔接多模态的感知输入与实时控制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进一步用数据来量化分析AI模型对硬件的需求压力。从图中可以直观地看到，模型参数规模在过去数年里呈指数级狂飙。随之而来的算力需求增速，已经远远将传统的摩尔定律甩在身后。除此之外，无论是单节点内还是跨集群的数据搬运，通信规模都已成为当前系统设计中新的关键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面对如此海量的计算需求，为什么我们不能依赖通用的CPU？这源于CPU深远的历史遗产。数十年来，CPU被设计为追求极低延迟、擅长处理复杂控制流和顺序执行任务的通用计算引擎。但如今它面临两大物理与架构危机：首先是冯·诺依曼瓶颈，运算器与存储器之间持续的数据搬运造成了极大的效率损耗，访存能耗远超计算本身；其次，Dennard缩放定律的失效和摩尔定律的放缓，宣告了依赖单核主频提升带来指数级性能增长的时代已经终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PU的根本矛盾在于，其标量为主的顺序执行流设计，在根本上无法高效吞吐AI工作负载（特别是以矩阵乘法为核心的操作）所固有的大规模数据并行计算。实际硬件剖析表明，CPU在执行神经网络负载时的硬件利用率仅有可怜的5%到10%，它消耗着数百瓦的功耗，却只能产出大约100 GFLOPS的有效算力。这一残酷的性能鸿沟，直接迫使整个体系结构领域转向了Domain-Specific的专用硬件加速器。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架构演进的十字路口，GPU成为了拯救算力危机的“意外英雄”。诞生于上世纪90年代末的GPU，最初专为视频游戏的图形渲染管线服务，其芯片上铺满了数千个用于并行执行简单任务的ALU。巧合的是，3D图形学背后的核心数学基础——密集矩阵和向量运算——与深度学习的计算图需求在底层架构上实现了完美的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硬件结构的契合只是基础，真正的行业催化剂是系统软件。2007年，NVIDIA推出了CUDA并行计算平台，它抽象出了一种极具扩展性的SIMT编程模型，彻底释放了GPU的通用计算潜能。AI研究人员无需再学习晦涩的图形学API，即可直接调度庞大的并行算力。这一软件生态的突破，将当时AI模型的训练周期从几周压缩到几个小时，GPU也由此确立了在深度学习训练领域不可撼动的统治地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随着AI模型对算力密度的渴求不断升级，NVIDIA在Volta架构中引入了划时代的专用硅片逻辑——Tensor Core。与传统的处理标量或一维向量的FP32计算单元不同，第一代Tensor Core原生支持了Warp级别的矩阵乘累加（MMA）操作。这标志着计算指令的粒度正式从一维跨越到二维张量，使得单周期的浮点吞吐量实现了数量级的跃升。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这张架构演进表详细对比了Tensor Core从Volta、Ampere、Hopper直至最新的Blackwell架构的规格变迁。我们可以清晰地看到其指令级并行的演进脉络：从最初的Warp-scoped，发展到Warp-level，再到Hopper架构引入的WarpGroup-level计算。其MMA指令的矩阵乘块形状（Shape）也不断扩展，这意味着每个SM周期内能够完成的浮点操作次数（FLOP）每一代都在实现成倍的翻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继续深入看物理层面的演化，Tensor Core不仅在计算维度上变得更加庞大，其支持的数据精度也愈发丰富。在Hopper和Blackwell架构中，除了基础的FP16，还强势引入了FP8甚至FP4这类低精度浮点格式，专门用于加速推理和混合精度训练。由于底层计算密度的激增，单条PTX汇编指令（如HGMMA）所能驱动的最大FLOPs量级已经达到百万级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然而，体系结构设计永远是算力与访存的博弈。尽管Tensor Core的绝对吞吐量代代翻倍，但从HBM或全局内存加载数据的物理延迟并未显著缩短，反而由于并发度的增加而面临更大的挑战。为了“喂饱”这些极度饥饿的计算核心并掩盖高昂的访存延迟，架构师不得不激进地扩大每个SM内暂存共享内存（Shared Memory）和寄存器文件的容量。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纵观全局，当前的AI计算架构正处于百花齐放的黄金时代。除了以Tensor Core为核心的GPU阵营，还涌现了Google主导的空间数据流架构TPU系列、华为的全栈昇腾方案，以及通过增加矩阵扩展指令（AMX）或集成NPU来守住基本盘的CPU系列。在更前沿的探索中，为了彻底打破内存墙，学术界与工业界正在发力存算一体架构、追求极致通信的晶圆级芯片，以及通过超高带宽网络构建的机架级超节点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接下来我们解剖一个经典的DSA微架构设计：华为达芬奇架构。其计算心脏是三维的Cube（矩阵计算单元），能够在单个时钟周期内完成惊人的4096个FP16或8192个INT8乘累加操作。为了保证端到端算子执行的完备性，Cube旁边紧密耦合了Vector（向量计算单元），用于处理非线性的激活函数等操作。特别值得强调的是其显式的内存层次结构，所有数据在片上SRAM之间的流转都由专门的内存传输引擎（MTE）进行异步管理，这是典型的解耦计算与访存的设计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加速器的步步紧逼，传统CPU巨头Intel给出了他们的解法——高级矩阵扩展（AMX）。AMX的策略是直接在x86指令集架构内进行原生扩展，而非外挂独立芯片。它在微架构层面引入了名为“Tiles”的二维寄存器文件，以及专门执行大矩阵乘法的“TMUL”指令。程序员或编译器可以通过显式的tileload、tmul等指令对其进行控制，目前主要支持INT8和BF16格式的张量加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AMD则走了一条高度异构集成的SoC路线，即Zen CPU搭配RDNA GPU，再融合XDNA引擎的架构方案。在这张图的右侧，我们可以看到专为高能效AI推理设计的XDNA Inference Engine。它本质上是一个由多个AIE Tile组成的阵列（DPU Overlay）。这种基于片上网络（NoC）互连的Tile架构，能够高效地映射计算图，大幅提升端侧或边缘侧的每瓦算力。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从根本上消除冯·诺依曼架构的访存瓶颈，近存计算和存算一体（PIM）技术成为了重要分支，典型代表如d-Matrix。在计算端，它采用数字存算一体（DIMC）逻辑，将乘加器直接下沉到SRAM单元附近，避免了跨层级的数据搬移，结合MXINT8/4格式，做到了惊人的38 TOPS/W能效比。在存储端，配备了海量的片上SRAM来Stash权重，并使用LPDDR5处理巨量的KV Cache。其系统层甚至支持Host-Free运行时，由设备端RISC-V核心直接调度计算图，彻底解放了宿主机CPU。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是为了追求绝对的吞吐量和极低的片上通信延迟，Cerebras的WSE-3晶圆级架构给出了极致的答案。将整个12英寸晶圆做成一颗芯片，其面积是H100的57倍，内部署了多达90万个计算核心，并集成了44GB的高速SRAM，实现了21 PB/s的恐怖内存带宽。这种计算与存储紧贴的架构天然适合流水线并行，可以将大语言模型的不同Transformer层直接物理映射到晶圆的不同区域，使层间数据流转的延迟趋近于零。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在数据中心维度，系统架构正在向“超节点”演进。NVIDIA的NVL72展现了“机架即芯片”的暴力美学，通过高密度的铜缆背板和NVLink Switch网络，将机架内的72颗Blackwell GPU实现全局All-to-All的高带宽互连，用离散组件重构了类似晶圆级芯片的胖节点算力。而华为的Cloud-Matrix 384则是一种系统级、通信优先的设计，通过高速私有协议构建了一个容纳数百颗NPU的统一内存池，不仅兼顾了训练和推理，还通过成熟的软件栈保证了高可用性。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回顾过去7年的技术演进时间线，我们面临着一个残酷的剪刀差现象。所谓的“NLP摩尔定律”显示，从早期几亿参数的BERT，到如今动辄数万亿参数的MoE架构模型，模型体量膨胀了上万倍。但反观底层硬件，同期内单张GPU的显存容量增长却不足10倍。显存容量和带宽的增长速度已经远远被模型参数的增长甩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单卡显存墙的客观存在，宣告了我们正式进入了一个必须依靠分布式协同的“多芯片世界”。训练和推理超大模型不再是单体设备的任务，而是一场复杂的系统级障碍赛。我们必须将庞大的计算图通过张量并行、流水线并行和数据并行等策略，精准地切分并映射到成百上千个异构节点上，这给上层的AI系统软件带来了极大的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了弥合底层异构硬件与上层复杂模型之间的巨大鸿沟，我们需要一种类似操作系统的统一AI软件栈，例如智源的FlagOS。从层次化架构图中可以看到，FlagOS向下抽象并支持Nvidia、各类NPU甚至RISC-V等多样化的计算硬件；向上则支撑各类主流深度学习框架和大模型应用。通过提供诸如FlagGems高性能算子库、统一编译器以及多维度的并行切分框架，FlagOS力图在数据中心、AI PC以及边缘机器人等不同系统形态中，实现算力的高效调度与应用的无缝迁移。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以上就是今天《课程导论与AI硬件全景》的全部内容，希望大家对智能计算系统的全貌有了宏观的认识。屏幕上方是FlagOS等开源生态的文档链接与二维码资料，建议同学们课后进行深入阅读。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感谢大家的认真聆听，我们下节课再见！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2026/3/17</a:t>
            </a:r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523874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7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9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1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50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slideLayouts/slideLayout23.xml" Type="http://schemas.openxmlformats.org/officeDocument/2006/relationships/slideLayout"/><Relationship Id="rId17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  <p:sldLayoutId id="215748371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gif" Type="http://schemas.openxmlformats.org/officeDocument/2006/relationships/image"/><Relationship Id="rId5" Target="../media/image8.gif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5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6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7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8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9.jpe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40.pn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47.jpeg" Type="http://schemas.openxmlformats.org/officeDocument/2006/relationships/image"/><Relationship Id="rId13" Target="../media/image48.png" Type="http://schemas.openxmlformats.org/officeDocument/2006/relationships/image"/><Relationship Id="rId14" Target="../notesSlides/notesSlide25.xml" Type="http://schemas.openxmlformats.org/officeDocument/2006/relationships/notesSlid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6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4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2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30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3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1: 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课程导论与</a:t>
            </a: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硬件全景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密集型生成式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应用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基于大语言模型的自主智能体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消耗趋势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图片来源：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lilianweng.github.io</a:t>
            </a:r>
            <a:r>
              <a:rPr lang="en-US" b="false" i="false" strike="noStrike" u="none" sz="14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openrouter.ai</a:t>
            </a:r>
            <a:r>
              <a:rPr lang="en-US" b="false" i="false" strike="noStrike" u="none" sz="14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36kr.com</a:t>
            </a:r>
            <a:r>
              <a:rPr lang="en-US" b="false" i="false" strike="noStrike" u="none" sz="14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（豆包手机）、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github.com/baaivision/URSA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手机与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 PC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视频生成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79805" y="1825625"/>
            <a:ext cx="4410075" cy="17494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79805" y="4192742"/>
            <a:ext cx="4410075" cy="22499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666664" y="4388202"/>
            <a:ext cx="5134810" cy="160462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666664" y="1762624"/>
            <a:ext cx="3600000" cy="202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硬件谱系：例子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450504" y="3763828"/>
            <a:ext cx="4847835" cy="27214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419250" y="1978814"/>
            <a:ext cx="2160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48235"/>
                </a:solidFill>
                <a:latin typeface="微软雅黑"/>
                <a:ea typeface="微软雅黑"/>
                <a:cs typeface="微软雅黑"/>
                <a:sym typeface="微软雅黑"/>
              </a:rPr>
              <a:t>云端机器学习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华为昇腾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寒武纪</a:t>
            </a: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MLU370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354070" y="1978586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48235"/>
                </a:solidFill>
                <a:latin typeface="微软雅黑"/>
                <a:ea typeface="微软雅黑"/>
                <a:cs typeface="微软雅黑"/>
                <a:sym typeface="微软雅黑"/>
              </a:rPr>
              <a:t>边缘机器学习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Iluvatar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TY1200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8475" y="4868975"/>
            <a:ext cx="2017265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48235"/>
                </a:solidFill>
                <a:latin typeface="微软雅黑"/>
                <a:ea typeface="微软雅黑"/>
                <a:cs typeface="微软雅黑"/>
                <a:sym typeface="微软雅黑"/>
              </a:rPr>
              <a:t>移动端机器学习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Kirin 9030 Pro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292377" y="4869029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48235"/>
                </a:solidFill>
                <a:latin typeface="微软雅黑"/>
                <a:ea typeface="微软雅黑"/>
                <a:cs typeface="微软雅黑"/>
                <a:sym typeface="微软雅黑"/>
              </a:rPr>
              <a:t>微型机器学习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Arduino Nano 33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 Sense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074410" y="1403350"/>
            <a:ext cx="3600000" cy="17510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115945" y="3996055"/>
            <a:ext cx="2160000" cy="216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2755900" y="1266190"/>
            <a:ext cx="2880000" cy="202581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87070" y="720588"/>
            <a:ext cx="11277600" cy="189162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406900" y="2717800"/>
            <a:ext cx="7497445" cy="40036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AI/ML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的硬件需求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图片来源：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	https://medium.com/geekculture/business-analysis-ai-computational-cost-67a136957c95</a:t>
            </a:r>
          </a:p>
          <a:p>
            <a:pPr algn="l" indent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	https://ourworldindata.org/grapher/artificial-intelligence-parameter-count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5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模型参数规模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呈指数级增长。</a:t>
            </a:r>
          </a:p>
          <a:p>
            <a:pPr algn="l" indent="-304800" marL="304800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算力需求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增速已超越摩尔定律。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关于计算成本与美国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GDP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的对比。</a:t>
            </a:r>
          </a:p>
          <a:p>
            <a:pPr algn="l" indent="-304800" marL="304800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通信规模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新的关键瓶颈。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27273"/>
          <a:stretch>
            <a:fillRect/>
          </a:stretch>
        </p:blipFill>
        <p:spPr>
          <a:xfrm rot="0" flipH="false" flipV="false">
            <a:off x="6054090" y="3467100"/>
            <a:ext cx="5261610" cy="2806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037580" y="1066800"/>
            <a:ext cx="5261610" cy="25996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通用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为何无法胜任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 (1/2)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A. Gholami, Z. Yao, S. Kim, C. Hooper, M. W. Mahoney and K. Keutzer, "AI and Memory Wall," in IEEE Micro, vol. 44, no. 3, pp. 33-39, May-June 2024, doi: 10.1109/MM.2024.3373763.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6303010" cy="485330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的历史遗产：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数十年来，中央处理器（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）一直是计算领域的通用引擎，专为顺序执行的通用任务而设计。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两大危机：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b="false" i="false" strike="noStrike" u="none" sz="2000">
                <a:solidFill>
                  <a:srgbClr val="8B0012"/>
                </a:solidFill>
                <a:latin typeface="微软雅黑"/>
                <a:ea typeface="微软雅黑"/>
                <a:cs typeface="微软雅黑"/>
                <a:sym typeface="微软雅黑"/>
              </a:rPr>
              <a:t>冯</a:t>
            </a:r>
            <a:r>
              <a:rPr lang="en-US" b="false" i="false" strike="noStrike" u="none" sz="2000">
                <a:solidFill>
                  <a:srgbClr val="8B0012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b="false" i="false" strike="noStrike" u="none" sz="2000">
                <a:solidFill>
                  <a:srgbClr val="8B0012"/>
                </a:solidFill>
                <a:latin typeface="微软雅黑"/>
                <a:ea typeface="微软雅黑"/>
                <a:cs typeface="微软雅黑"/>
                <a:sym typeface="微软雅黑"/>
              </a:rPr>
              <a:t>诺依曼瓶颈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：处理单元与存储单元之间持续的数据搬运造成了根本性的效率瓶颈，其能耗甚至超过了实际计算本身。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b="false" i="false" strike="noStrike" u="none" sz="2000">
                <a:solidFill>
                  <a:srgbClr val="8B0012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性能扩展的终结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Dennard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缩放定律以及源自摩尔定律的性能提升效应，曾推动了数十年的指数级性能增长，如今已走向终结。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996430" y="1243965"/>
            <a:ext cx="4661535" cy="2451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499350" y="3585845"/>
            <a:ext cx="3618230" cy="26257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通用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为何无法胜任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 (2/2)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A. Gholami et al., "AI and Memory Wall," in IEEE Micro, vol. 44, no. 3, pp. 33-39, May-June 2024.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5975350" cy="485330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根本矛盾：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的顺序执行设计从根本上无法高效处理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工作负载（如矩阵乘法）中固有的大规模并行计算。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A5A5A5"/>
              </a:buClr>
              <a:buChar char="•"/>
            </a:pPr>
            <a:r>
              <a:rPr lang="en-US" b="false" i="true" strike="noStrike" u="none" sz="2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true" strike="noStrike" u="none" sz="20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在神经网络工作负载上的利用率仅为</a:t>
            </a:r>
            <a:r>
              <a:rPr lang="en-US" b="false" i="true" strike="noStrike" u="none" sz="2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5-10%</a:t>
            </a:r>
            <a:r>
              <a:rPr lang="en-US" b="false" i="true" strike="noStrike" u="none" sz="20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，算力约为</a:t>
            </a:r>
            <a:r>
              <a:rPr lang="en-US" b="false" i="true" strike="noStrike" u="none" sz="2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100 GFLOPS</a:t>
            </a:r>
            <a:r>
              <a:rPr lang="en-US" b="false" i="true" strike="noStrike" u="none" sz="2000">
                <a:solidFill>
                  <a:srgbClr val="A5A5A5"/>
                </a:solidFill>
                <a:latin typeface="微软雅黑"/>
                <a:ea typeface="微软雅黑"/>
                <a:cs typeface="微软雅黑"/>
                <a:sym typeface="微软雅黑"/>
              </a:rPr>
              <a:t>，却消耗数百瓦功耗</a:t>
            </a:r>
            <a:r>
              <a:rPr lang="en-US" b="false" i="true" strike="noStrike" u="none" sz="2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结论：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的指数级增长需求暴露了通用计算模型的局限性，迫使业界转向专用硬件。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625590" y="1740535"/>
            <a:ext cx="5432425" cy="36595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的崛起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J. D. Owens, M. Houston, D. Luebke, S. Green, J. E. Stone and J. C. Phillips, "GPU Computing," in Proceedings of the IEEE, vol. 96, no. 5, pp. 879-899, May 2008, doi: 10.1109/JPROC.2008.917757.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6584950" cy="475678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意外的英雄：图形处理器（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）诞生于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世纪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年代末，最初用于电子游戏图形渲染，拥有数千个用于并行任务的简单核心。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架构契合：图形学的核心数学运算（矩阵和向量运算）与深度学习的数学运算完全一致，使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成为一个完美的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尽管是偶然的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——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匹配。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08190" y="834390"/>
            <a:ext cx="4105275" cy="5047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的崛起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J. D. Owens, M. Houston, D. Luebke, S. Green, J. E. Stone and J. C. Phillips, "GPU Computing," in Proceedings of the IEEE, vol. 96, no. 5, pp. 879-899, May 2008, doi: 10.1109/JPROC.2008.917757.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6312535" cy="478472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软件催化剂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CUDA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CUDA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平台（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2007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年）释放了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的通用计算能力，使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研究人员无需深入了解图形学即可利用其算力。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成果：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模型的训练时间从数周骤降至数小时，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由此成为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训练事实上的标准硬件。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053580" y="1132840"/>
            <a:ext cx="4160520" cy="25082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834505" y="3641090"/>
            <a:ext cx="4379595" cy="24142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第一代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Warp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级矩阵乘累加（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MMA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4054" y="1537049"/>
            <a:ext cx="7200000" cy="44263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723958" y="1537028"/>
            <a:ext cx="4263571" cy="2538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NVIDIA 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的演进（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1/3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pic>
        <p:nvPicPr>
          <p:cNvPr name="Picture 5" id="5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3875" y="1473261"/>
            <a:ext cx="11277600" cy="4554415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NVIDIA 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的演进（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2/3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5300" y="1206500"/>
            <a:ext cx="11201400" cy="444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NVIDIA 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中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的演进（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3/3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Tensor Core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吞吐量每代翻倍，但全局内存加载延迟不降反升。因此，需要增大暂存共享内存（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SMEM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）的容量以缓冲更多数据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0525" y="2677021"/>
            <a:ext cx="11316190" cy="334181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计算架构的演进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系列（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+ Tensor Core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系列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昇腾系列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系列：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矩阵扩展）；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+ NPU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存算一体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晶圆级芯片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超节点与超级计算机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华为达芬奇架构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H. Liao, J. Tu, J. Xia and X. Zhou, "DaVinci: A Scalable Architecture for Neural Network Computing," IEEE Hot Chips 31 Symposium (HCS), 2019.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Cube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（矩阵计算单元）：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4096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16³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乘累加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+ 8192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INT8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乘累加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（向量计算单元）：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2048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位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INT8/FP16/FP32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向量运算，支持特殊函数（激活函数、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NMS-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非极小值抑制、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SORT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显式内存层次结构设计，由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MTE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管理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324735" y="3357245"/>
            <a:ext cx="7362190" cy="29991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高级矩阵扩展（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AMX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策略：增强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加速能力。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架构：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x86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指令集架构的扩展，而非独立芯片。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核心组件：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Tiles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：二维寄存器文件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TMUL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：专用矩阵乘法指令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显式加载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配置模型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指令集：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tilecfg, tileload, tmul, tilestore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初始支持：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INT8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BF16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扩展）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063740" y="1323975"/>
            <a:ext cx="5008880" cy="19494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287260" y="3562350"/>
            <a:ext cx="4648835" cy="27787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AMD Zen + RDNA + XDNA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片上系统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grpSp>
        <p:nvGrpSpPr>
          <p:cNvPr name="Group 6" id="6"/>
          <p:cNvGrpSpPr/>
          <p:nvPr/>
        </p:nvGrpSpPr>
        <p:grpSpPr>
          <a:xfrm>
            <a:off x="523875" y="1323975"/>
            <a:ext cx="7201059" cy="3677271"/>
            <a:chOff x="523875" y="1323975"/>
            <a:chExt cx="7201059" cy="3677271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15649" r="14961" t="23097" b="13910"/>
            <a:stretch>
              <a:fillRect/>
            </a:stretch>
          </p:blipFill>
          <p:spPr>
            <a:xfrm rot="0" flipH="false" flipV="false">
              <a:off x="523875" y="1323975"/>
              <a:ext cx="7201059" cy="3677271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8" id="8"/>
            <p:cNvSpPr/>
            <p:nvPr/>
          </p:nvSpPr>
          <p:spPr>
            <a:xfrm rot="0" flipH="false" flipV="false">
              <a:off x="893296" y="166375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93296" y="192732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93296" y="2172902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93296" y="2424828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3802087" y="166375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3802087" y="192732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3802087" y="2172902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3802087" y="2424828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4712408" y="326528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4712408" y="3641058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4712408" y="403376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4712408" y="441800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012908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726345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2429197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201660" y="2490470"/>
            <a:ext cx="3600000" cy="25108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8201660" y="5001260"/>
            <a:ext cx="359981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XDNA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存算一体架构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(e.g., d-Matrix)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6908800" cy="475678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算：数字存算一体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(DIMC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↗)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避免数据移动：将计算单元物理集成在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内部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全数字精度：支持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MXINT8/MXINT4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块浮点格式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高能效：</a:t>
            </a:r>
            <a:r>
              <a:rPr lang="en-US" b="true" i="false" strike="noStrike" u="none" sz="20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38 TOPS/W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，对比</a:t>
            </a:r>
            <a:r>
              <a:rPr lang="en-US" b="false" i="false" strike="noStrike" u="none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H100</a:t>
            </a:r>
            <a:r>
              <a:rPr lang="en-US" b="false" i="false" strike="noStrike" u="none" sz="20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</a:t>
            </a:r>
            <a:r>
              <a:rPr lang="en-US" b="false" i="false" strike="noStrike" u="none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~2.8 TOPS/W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存：依赖片上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与创新内存层级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Stash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权重存储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：每切片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6MB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，聚合带宽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150TB/s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Global Memory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激活值存储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：每切片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4MB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LPDDR5 (256GB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容量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：处理超大模型或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KV Cache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扩展性与软件栈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Scale-Out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互连技术与透明网卡，绕过复杂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RDMA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Aviator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软件栈中的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Host-Free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运行时：由设备端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RISC-V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核心管理计算图执行，避免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Host CPU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瓶颈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7435215" y="797560"/>
            <a:ext cx="4617085" cy="5817870"/>
            <a:chOff x="7435215" y="797560"/>
            <a:chExt cx="4617085" cy="581787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7435215" y="3617476"/>
              <a:ext cx="4617085" cy="2997954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8210106" y="797560"/>
              <a:ext cx="3048184" cy="2359290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name="Connector 9" id="9"/>
            <p:cNvCxnSpPr/>
            <p:nvPr/>
          </p:nvCxnSpPr>
          <p:spPr>
            <a:xfrm rot="0" flipH="false" flipV="false">
              <a:off x="8196365" y="3128173"/>
              <a:ext cx="2762604" cy="620143"/>
            </a:xfrm>
            <a:prstGeom prst="line">
              <a:avLst/>
            </a:prstGeom>
            <a:noFill/>
            <a:ln w="12700" cap="flat">
              <a:solidFill>
                <a:srgbClr val="A5A5A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0" id="10"/>
            <p:cNvCxnSpPr/>
            <p:nvPr/>
          </p:nvCxnSpPr>
          <p:spPr>
            <a:xfrm rot="0" flipH="false" flipV="false">
              <a:off x="11232600" y="3107263"/>
              <a:ext cx="25690" cy="641053"/>
            </a:xfrm>
            <a:prstGeom prst="line">
              <a:avLst/>
            </a:prstGeom>
            <a:noFill/>
            <a:ln w="12700" cap="flat">
              <a:solidFill>
                <a:srgbClr val="A5A5A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晶圆级集成架构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(e.g., Cerebras)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WSE-3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规格（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vs Nvidia H100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面积：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46,225 mm</a:t>
            </a:r>
            <a:r>
              <a:rPr lang="en-US" b="false" i="false" strike="noStrike" u="none" sz="2000" baseline="30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(57x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↘)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核心数：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900,000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 cores (52x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↘)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片上内存：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44 GB SRAM (880x)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内存带宽：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21 PB/s (7000x)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WSE-3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计算内存紧密排列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支持高性能的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8/16-way SIMD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处理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16/8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位数据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高带宽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推理方案：片上流水线并行（流水线并行）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将模型层物理映射到晶圆不同区域，通信延迟近乎为零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38870" t="0" b="-807"/>
          <a:stretch>
            <a:fillRect/>
          </a:stretch>
        </p:blipFill>
        <p:spPr>
          <a:xfrm rot="0" flipH="false" flipV="false">
            <a:off x="8434705" y="1237615"/>
            <a:ext cx="1799590" cy="20624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568690" y="3404870"/>
            <a:ext cx="2690495" cy="31261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75302" r="0" t="69305" b="0"/>
          <a:stretch>
            <a:fillRect/>
          </a:stretch>
        </p:blipFill>
        <p:spPr>
          <a:xfrm rot="0" flipH="false" flipV="false">
            <a:off x="10410825" y="1931670"/>
            <a:ext cx="727075" cy="6280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超节点架构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(e.g., NVL72 &amp; CloudMatrix 384)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https://zhuanlan.zhihu.com/p/1919101924445254162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323975"/>
            <a:ext cx="6675120" cy="5405755"/>
          </a:xfrm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 NVL72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：机架即芯片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芯片级、计算优先的超节点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设计：将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Blackwell GPU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塞入一个机架，通过铜缆背板（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NVLink Switch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）全互连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目标：用传统组件逼近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WSE-3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的效果，利用铜缆连接实现机架内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All-to-All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高带宽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华为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Cloud-Matrix 384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系统级、通信优先的单体超级节点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逻辑：通过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HCCS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私有协议互连数百颗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Ascend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处理器，构建统一内存池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通用性优势：相比专用推理芯片，兼顾大规模训练与推理，拥有成熟的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CANN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112125" y="1065530"/>
            <a:ext cx="2963545" cy="29635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179310" y="4284980"/>
            <a:ext cx="4622165" cy="19932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模型参数与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显存容量对比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摩尔定律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模型参数：</a:t>
            </a:r>
            <a:r>
              <a:rPr lang="en-US" b="true" i="false" strike="noStrike" u="none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&gt;10,000</a:t>
            </a:r>
            <a:r>
              <a:rPr lang="en-US" b="true" i="false" strike="noStrike" u="none" sz="20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年增长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显存增长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显存容量：</a:t>
            </a:r>
            <a:r>
              <a:rPr lang="en-US" b="true" i="false" strike="noStrike" u="none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&lt;10</a:t>
            </a:r>
            <a:r>
              <a:rPr lang="en-US" b="true" i="false" strike="noStrike" u="none" sz="20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年增长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91235" y="2295525"/>
          <a:ext cx="4288155" cy="350329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0950"/>
                <a:gridCol w="1391285"/>
                <a:gridCol w="1645920"/>
              </a:tblGrid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时间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模型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规模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BERT-Large 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0.34 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 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GPT-3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175 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≈1.8 T (MoE)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Llama-3.1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405 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Gemini 1.5 Pro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≈1.5 T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DeepSeek-V3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671 B (MoE)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8925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GPT-4.5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≈12.8 T (MoE)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56325" y="2295525"/>
          <a:ext cx="4861560" cy="3120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5390"/>
                <a:gridCol w="1215390"/>
                <a:gridCol w="1215390"/>
                <a:gridCol w="1215390"/>
              </a:tblGrid>
              <a:tr h="53022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时间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显存容量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显存带宽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7020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V100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 GB/s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20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A100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6957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A800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6957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H100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6957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H200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141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70205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B300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288 GB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TB/s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5183505" y="5927090"/>
            <a:ext cx="661797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tru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大规模、高带宽</a:t>
            </a:r>
            <a:r>
              <a:rPr lang="en-US" b="false" i="tru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互连是必需的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的障碍赛：</a:t>
            </a: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多芯片世界的挑战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562860" y="1741170"/>
            <a:ext cx="7200000" cy="4018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8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9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