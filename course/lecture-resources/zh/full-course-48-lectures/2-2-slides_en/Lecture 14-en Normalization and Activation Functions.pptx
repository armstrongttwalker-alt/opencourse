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7"/>
  </p:notesMasterIdLst>
  <p:handoutMasterIdLst>
    <p:handoutMasterId r:id="rId28"/>
  </p:handoutMasterIdLst>
  <p:sldIdLst>
    <p:sldId id="337"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8" r:id="rId20"/>
    <p:sldId id="275" r:id="rId21"/>
    <p:sldId id="276" r:id="rId22"/>
    <p:sldId id="277" r:id="rId23"/>
    <p:sldId id="338" r:id="rId24"/>
    <p:sldId id="279" r:id="rId25"/>
    <p:sldId id="280" r:id="rId26"/>
  </p:sldIdLst>
  <p:sldSz cx="12192000" cy="6858000"/>
  <p:notesSz cx="6858000" cy="9144000"/>
  <p:embeddedFontLst>
    <p:embeddedFont>
      <p:font typeface="Arial Bold" panose="020B0704020202020204" pitchFamily="34" charset="0"/>
      <p:bold r:id="rId29"/>
    </p:embeddedFont>
    <p:embeddedFont>
      <p:font typeface="DejaVu Math TeX Gyre" panose="02000503000000000000" pitchFamily="2" charset="0"/>
      <p:regular r:id="rId30"/>
    </p:embeddedFont>
    <p:embeddedFont>
      <p:font typeface="Ebrima" panose="02000000000000000000" pitchFamily="2" charset="0"/>
      <p:regular r:id="rId31"/>
      <p:bold r:id="rId32"/>
    </p:embeddedFont>
    <p:embeddedFont>
      <p:font typeface="Garamond" panose="02020404030301010803" pitchFamily="18" charset="0"/>
      <p:regular r:id="rId33"/>
      <p:bold r:id="rId34"/>
      <p:italic r:id="rId35"/>
    </p:embeddedFont>
    <p:embeddedFont>
      <p:font typeface="Montserrat SemiBold" panose="00000700000000000000" pitchFamily="2" charset="0"/>
      <p:bold r:id="rId36"/>
    </p:embeddedFont>
    <p:embeddedFont>
      <p:font typeface="Wingdings 3" panose="05040102010807070707" pitchFamily="18" charset="2"/>
      <p:regular r:id="rId37"/>
    </p:embeddedFont>
    <p:embeddedFont>
      <p:font typeface="等线" panose="02010600030101010101" pitchFamily="2" charset="-122"/>
      <p:regular r:id="rId38"/>
      <p:bold r:id="rId39"/>
    </p:embeddedFont>
    <p:embeddedFont>
      <p:font typeface="微软雅黑" panose="020B0503020204020204" pitchFamily="34" charset="-122"/>
      <p:regular r:id="rId40"/>
      <p:bold r:id="rId4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章 嘉玺" initials="章" lastIdx="1" clrIdx="0"/>
  <p:cmAuthor id="2" name="webuser" initials="webuser"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0012"/>
    <a:srgbClr val="70AD47"/>
    <a:srgbClr val="2774AE"/>
    <a:srgbClr val="70AE47"/>
    <a:srgbClr val="549E39"/>
    <a:srgbClr val="90B085"/>
    <a:srgbClr val="2D2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15"/>
    <p:restoredTop sz="91926" autoAdjust="0"/>
  </p:normalViewPr>
  <p:slideViewPr>
    <p:cSldViewPr snapToGrid="0" snapToObjects="1">
      <p:cViewPr varScale="1">
        <p:scale>
          <a:sx n="56" d="100"/>
          <a:sy n="56" d="100"/>
        </p:scale>
        <p:origin x="896" y="44"/>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81" d="100"/>
          <a:sy n="81" d="100"/>
        </p:scale>
        <p:origin x="3384"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80"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881"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DAD35F3-BE5B-41CC-A973-5F94E77F22B3}" type="datetimeFigureOut">
              <a:rPr lang="zh-CN" altLang="en-US" smtClean="0"/>
              <a:t>2026/3/17</a:t>
            </a:fld>
            <a:endParaRPr lang="zh-CN" altLang="en-US"/>
          </a:p>
        </p:txBody>
      </p:sp>
      <p:sp>
        <p:nvSpPr>
          <p:cNvPr id="1048882"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883"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76126E5-09CE-4398-8EB0-4AC849D0A16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74"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875"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AE8E16-D6C5-3248-816C-85B3C8E8792E}" type="datetimeFigureOut">
              <a:rPr lang="en-US" smtClean="0"/>
              <a:t>3/17/2026</a:t>
            </a:fld>
            <a:endParaRPr lang="en-US"/>
          </a:p>
        </p:txBody>
      </p:sp>
      <p:sp>
        <p:nvSpPr>
          <p:cNvPr id="1048876"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8877"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8"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879"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44C98A-D9C5-894D-9A13-8F52E37846C0}"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6" name="幻灯片图像占位符 1"/>
          <p:cNvSpPr>
            <a:spLocks noGrp="1" noRot="1" noChangeAspect="1"/>
          </p:cNvSpPr>
          <p:nvPr>
            <p:ph type="sldImg" idx="2"/>
          </p:nvPr>
        </p:nvSpPr>
        <p:spPr/>
      </p:sp>
      <p:sp>
        <p:nvSpPr>
          <p:cNvPr id="1048717"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slideMaster" Target="../slideMasters/slideMaster1.xml"/><Relationship Id="rId4" Type="http://schemas.openxmlformats.org/officeDocument/2006/relationships/tags" Target="../tags/tag4.xml"/><Relationship Id="rId9"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5100" b="0"/>
            </a:lvl1pPr>
          </a:lstStyle>
          <a:p>
            <a:r>
              <a:rPr lang="zh-CN" altLang="en-US"/>
              <a:t>单击此处编辑母版标题样式</a:t>
            </a:r>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4" name="图片 3"/>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fade/>
  </p:transition>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上下">
    <p:spTree>
      <p:nvGrpSpPr>
        <p:cNvPr id="1" name=""/>
        <p:cNvGrpSpPr/>
        <p:nvPr/>
      </p:nvGrpSpPr>
      <p:grpSpPr>
        <a:xfrm>
          <a:off x="0" y="0"/>
          <a:ext cx="0" cy="0"/>
          <a:chOff x="0" y="0"/>
          <a:chExt cx="0" cy="0"/>
        </a:xfrm>
      </p:grpSpPr>
      <p:sp>
        <p:nvSpPr>
          <p:cNvPr id="1048642" name="标题 1"/>
          <p:cNvSpPr>
            <a:spLocks noGrp="1"/>
          </p:cNvSpPr>
          <p:nvPr>
            <p:ph type="title"/>
          </p:nvPr>
        </p:nvSpPr>
        <p:spPr/>
        <p:txBody>
          <a:bodyPr/>
          <a:lstStyle/>
          <a:p>
            <a:r>
              <a:rPr lang="zh-CN" altLang="en-US"/>
              <a:t>单击此处编辑母版标题样式</a:t>
            </a:r>
          </a:p>
        </p:txBody>
      </p:sp>
      <p:sp>
        <p:nvSpPr>
          <p:cNvPr id="1048643"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48644"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48645" name="内容占位符 3"/>
          <p:cNvSpPr>
            <a:spLocks noGrp="1"/>
          </p:cNvSpPr>
          <p:nvPr>
            <p:ph sz="quarter" idx="13" hasCustomPrompt="1"/>
          </p:nvPr>
        </p:nvSpPr>
        <p:spPr>
          <a:xfrm>
            <a:off x="523874" y="1323975"/>
            <a:ext cx="11277601"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1050438" name="标题 1"/>
          <p:cNvSpPr>
            <a:spLocks noGrp="1"/>
          </p:cNvSpPr>
          <p:nvPr>
            <p:ph type="title"/>
          </p:nvPr>
        </p:nvSpPr>
        <p:spPr/>
        <p:txBody>
          <a:bodyPr/>
          <a:lstStyle/>
          <a:p>
            <a:r>
              <a:rPr lang="zh-CN" altLang="en-US"/>
              <a:t>单击此处编辑母版标题样式</a:t>
            </a:r>
          </a:p>
        </p:txBody>
      </p:sp>
      <p:sp>
        <p:nvSpPr>
          <p:cNvPr id="1050439" name="灯片编号占位符 4"/>
          <p:cNvSpPr>
            <a:spLocks noGrp="1"/>
          </p:cNvSpPr>
          <p:nvPr>
            <p:ph type="sldNum" sz="quarter" idx="12"/>
          </p:nvPr>
        </p:nvSpPr>
        <p:spPr/>
        <p:txBody>
          <a:bodyPr/>
          <a:lstStyle/>
          <a:p>
            <a:fld id="{B33F7469-D28B-482F-B1B6-3B8E7CF51519}" type="slidenum">
              <a:rPr lang="zh-CN" altLang="en-US" smtClean="0"/>
              <a:t>‹#›</a:t>
            </a:fld>
            <a:endParaRPr lang="zh-CN" altLang="en-US" dirty="0"/>
          </a:p>
        </p:txBody>
      </p:sp>
      <p:sp>
        <p:nvSpPr>
          <p:cNvPr id="1050440" name="内容占位符 3"/>
          <p:cNvSpPr>
            <a:spLocks noGrp="1"/>
          </p:cNvSpPr>
          <p:nvPr>
            <p:ph sz="quarter" idx="13" hasCustomPrompt="1"/>
          </p:nvPr>
        </p:nvSpPr>
        <p:spPr>
          <a:xfrm>
            <a:off x="523873" y="1323976"/>
            <a:ext cx="5591177" cy="4852988"/>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1" name="页脚占位符 3"/>
          <p:cNvSpPr>
            <a:spLocks noGrp="1"/>
          </p:cNvSpPr>
          <p:nvPr>
            <p:ph type="ftr" sz="quarter" idx="11"/>
          </p:nvPr>
        </p:nvSpPr>
        <p:spPr>
          <a:xfrm>
            <a:off x="523873" y="6356351"/>
            <a:ext cx="11277601" cy="365125"/>
          </a:xfrm>
        </p:spPr>
        <p:txBody>
          <a:bodyPr/>
          <a:lstStyle/>
          <a:p>
            <a:endParaRPr lang="zh-CN" altLang="en-US" dirty="0"/>
          </a:p>
        </p:txBody>
      </p:sp>
      <p:sp>
        <p:nvSpPr>
          <p:cNvPr id="1050442" name="内容占位符 3"/>
          <p:cNvSpPr>
            <a:spLocks noGrp="1"/>
          </p:cNvSpPr>
          <p:nvPr>
            <p:ph sz="quarter" idx="14" hasCustomPrompt="1"/>
          </p:nvPr>
        </p:nvSpPr>
        <p:spPr>
          <a:xfrm>
            <a:off x="6210297" y="1323977"/>
            <a:ext cx="5591177" cy="4856162"/>
          </a:xfrm>
        </p:spPr>
        <p:txBody>
          <a:bodyPr anchor="t"/>
          <a:lstStyle>
            <a:lvl1pPr algn="l"/>
            <a:lvl2pPr algn="l">
              <a:buSzPct val="75000"/>
              <a:buFont typeface="文泉驿微米黑" panose="020B0606030804020204" charset="-122"/>
              <a:buChar char="♦"/>
            </a:lvl2pPr>
            <a:lvl3pPr algn="l">
              <a:buFont typeface="文泉驿微米黑" panose="020B0606030804020204" charset="-122"/>
              <a:buChar char="▶"/>
            </a:lvl3pPr>
            <a:lvl4pPr algn="l">
              <a:buFont typeface="文泉驿微米黑" panose="020B0606030804020204" charset="-122"/>
              <a:buChar cha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左右">
    <p:spTree>
      <p:nvGrpSpPr>
        <p:cNvPr id="1" name=""/>
        <p:cNvGrpSpPr/>
        <p:nvPr/>
      </p:nvGrpSpPr>
      <p:grpSpPr>
        <a:xfrm>
          <a:off x="0" y="0"/>
          <a:ext cx="0" cy="0"/>
          <a:chOff x="0" y="0"/>
          <a:chExt cx="0" cy="0"/>
        </a:xfrm>
      </p:grpSpPr>
      <p:sp>
        <p:nvSpPr>
          <p:cNvPr id="1050443" name="标题 1"/>
          <p:cNvSpPr>
            <a:spLocks noGrp="1"/>
          </p:cNvSpPr>
          <p:nvPr>
            <p:ph type="title"/>
          </p:nvPr>
        </p:nvSpPr>
        <p:spPr>
          <a:xfrm>
            <a:off x="666749" y="457201"/>
            <a:ext cx="2771775" cy="5719762"/>
          </a:xfrm>
        </p:spPr>
        <p:txBody>
          <a:bodyPr/>
          <a:lstStyle/>
          <a:p>
            <a:r>
              <a:rPr kumimoji="1" lang="zh-CN" altLang="en-US"/>
              <a:t>单击此处编辑母版标题样式</a:t>
            </a:r>
            <a:endParaRPr kumimoji="1" lang="zh-CN" altLang="en-US" dirty="0"/>
          </a:p>
        </p:txBody>
      </p:sp>
      <p:sp>
        <p:nvSpPr>
          <p:cNvPr id="1050444" name="幻灯片编号占位符 3"/>
          <p:cNvSpPr>
            <a:spLocks noGrp="1"/>
          </p:cNvSpPr>
          <p:nvPr>
            <p:ph type="sldNum" sz="quarter" idx="11"/>
          </p:nvPr>
        </p:nvSpPr>
        <p:spPr/>
        <p:txBody>
          <a:bodyPr/>
          <a:lstStyle/>
          <a:p>
            <a:fld id="{B33F7469-D28B-482F-B1B6-3B8E7CF51519}" type="slidenum">
              <a:rPr lang="zh-CN" altLang="en-US" smtClean="0"/>
              <a:t>‹#›</a:t>
            </a:fld>
            <a:endParaRPr lang="zh-CN" altLang="en-US" dirty="0"/>
          </a:p>
        </p:txBody>
      </p:sp>
      <p:sp>
        <p:nvSpPr>
          <p:cNvPr id="1050445" name="内容占位符 3"/>
          <p:cNvSpPr>
            <a:spLocks noGrp="1"/>
          </p:cNvSpPr>
          <p:nvPr>
            <p:ph sz="quarter" idx="14" hasCustomPrompt="1"/>
          </p:nvPr>
        </p:nvSpPr>
        <p:spPr>
          <a:xfrm>
            <a:off x="3657600" y="457201"/>
            <a:ext cx="8001000" cy="5719763"/>
          </a:xfrm>
        </p:spPr>
        <p:txBody>
          <a:bodyPr anchor="t"/>
          <a:lstStyle>
            <a:lvl1pPr algn="l"/>
            <a:lvl2pPr algn="l"/>
            <a:lvl3pPr algn="l"/>
            <a:lvl4pPr algn="l"/>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50446" name="页脚占位符 3"/>
          <p:cNvSpPr>
            <a:spLocks noGrp="1"/>
          </p:cNvSpPr>
          <p:nvPr>
            <p:ph type="ftr" sz="quarter" idx="15"/>
          </p:nvPr>
        </p:nvSpPr>
        <p:spPr>
          <a:xfrm>
            <a:off x="523873" y="6356351"/>
            <a:ext cx="11277601" cy="365125"/>
          </a:xfrm>
        </p:spPr>
        <p:txBody>
          <a:bodyPr/>
          <a:lstStyle/>
          <a:p>
            <a:endParaRPr lang="zh-CN" alt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大纲">
    <p:spTree>
      <p:nvGrpSpPr>
        <p:cNvPr id="1" name=""/>
        <p:cNvGrpSpPr/>
        <p:nvPr/>
      </p:nvGrpSpPr>
      <p:grpSpPr>
        <a:xfrm>
          <a:off x="0" y="0"/>
          <a:ext cx="0" cy="0"/>
          <a:chOff x="0" y="0"/>
          <a:chExt cx="0" cy="0"/>
        </a:xfrm>
      </p:grpSpPr>
      <p:sp>
        <p:nvSpPr>
          <p:cNvPr id="1048650" name="内容占位符 2"/>
          <p:cNvSpPr>
            <a:spLocks noGrp="1"/>
          </p:cNvSpPr>
          <p:nvPr>
            <p:ph sz="quarter" idx="10" hasCustomPrompt="1"/>
            <p:custDataLst>
              <p:tags r:id="rId1"/>
            </p:custDataLst>
          </p:nvPr>
        </p:nvSpPr>
        <p:spPr>
          <a:xfrm>
            <a:off x="5452216" y="0"/>
            <a:ext cx="6110447" cy="6858000"/>
          </a:xfrm>
        </p:spPr>
        <p:txBody>
          <a:bodyPr anchor="ctr"/>
          <a:lstStyle>
            <a:lvl1pPr algn="l">
              <a:lnSpc>
                <a:spcPct val="100000"/>
              </a:lnSpc>
              <a:spcBef>
                <a:spcPts val="3000"/>
              </a:spcBef>
              <a:defRPr sz="2800" baseline="0">
                <a:latin typeface="Ebrima" panose="02000000000000000000" charset="0"/>
              </a:defRPr>
            </a:lvl1pPr>
            <a:lvl2pPr algn="l">
              <a:lnSpc>
                <a:spcPct val="100000"/>
              </a:lnSpc>
              <a:defRPr sz="2400" baseline="0">
                <a:latin typeface="Ebrima" panose="02000000000000000000" charset="0"/>
              </a:defRPr>
            </a:lvl2pPr>
            <a:lvl3pPr algn="l">
              <a:lnSpc>
                <a:spcPct val="100000"/>
              </a:lnSpc>
              <a:defRPr sz="2000" baseline="0">
                <a:latin typeface="Ebrima" panose="02000000000000000000" charset="0"/>
              </a:defRPr>
            </a:lvl3pPr>
            <a:lvl4pPr algn="l">
              <a:lnSpc>
                <a:spcPct val="100000"/>
              </a:lnSpc>
              <a:defRPr sz="1600" baseline="0">
                <a:latin typeface="Ebrima" panose="02000000000000000000" charset="0"/>
              </a:defRPr>
            </a:lvl4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grpSp>
        <p:nvGrpSpPr>
          <p:cNvPr id="83" name="Group 7"/>
          <p:cNvGrpSpPr/>
          <p:nvPr/>
        </p:nvGrpSpPr>
        <p:grpSpPr>
          <a:xfrm>
            <a:off x="3057633" y="31667"/>
            <a:ext cx="9134367" cy="6838951"/>
            <a:chOff x="-4763" y="9525"/>
            <a:chExt cx="9032249" cy="6838951"/>
          </a:xfrm>
          <a:solidFill>
            <a:srgbClr val="549E39"/>
          </a:solidFill>
        </p:grpSpPr>
        <p:sp>
          <p:nvSpPr>
            <p:cNvPr id="1048651" name="Line 16"/>
            <p:cNvSpPr>
              <a:spLocks noChangeShapeType="1"/>
            </p:cNvSpPr>
            <p:nvPr>
              <p:custDataLst>
                <p:tags r:id="rId3"/>
              </p:custDataLst>
            </p:nvPr>
          </p:nvSpPr>
          <p:spPr bwMode="auto">
            <a:xfrm>
              <a:off x="-4763" y="9525"/>
              <a:ext cx="0" cy="0"/>
            </a:xfrm>
            <a:prstGeom prst="line">
              <a:avLst/>
            </a:prstGeom>
            <a:grpFill/>
            <a:ln w="15" cap="flat">
              <a:solidFill>
                <a:srgbClr val="FFFFFF"/>
              </a:solidFill>
              <a:prstDash val="solid"/>
              <a:miter lim="800000"/>
            </a:ln>
          </p:spPr>
        </p:sp>
        <p:grpSp>
          <p:nvGrpSpPr>
            <p:cNvPr id="84" name="Group 9"/>
            <p:cNvGrpSpPr/>
            <p:nvPr/>
          </p:nvGrpSpPr>
          <p:grpSpPr>
            <a:xfrm>
              <a:off x="8428998" y="4867275"/>
              <a:ext cx="598488" cy="1981201"/>
              <a:chOff x="11441112" y="4867275"/>
              <a:chExt cx="598488" cy="1981201"/>
            </a:xfrm>
            <a:grpFill/>
          </p:grpSpPr>
          <p:sp>
            <p:nvSpPr>
              <p:cNvPr id="1048652" name="Freeform 35"/>
              <p:cNvSpPr/>
              <p:nvPr>
                <p:custDataLst>
                  <p:tags r:id="rId4"/>
                </p:custData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048653" name="Freeform 36"/>
              <p:cNvSpPr>
                <a:spLocks noEditPoints="1"/>
              </p:cNvSpPr>
              <p:nvPr>
                <p:custDataLst>
                  <p:tags r:id="rId5"/>
                </p:custData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048654" name="Freeform 38"/>
              <p:cNvSpPr>
                <a:spLocks noEditPoints="1"/>
              </p:cNvSpPr>
              <p:nvPr>
                <p:custDataLst>
                  <p:tags r:id="rId6"/>
                </p:custData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048655" name="Freeform 39"/>
              <p:cNvSpPr/>
              <p:nvPr>
                <p:custDataLst>
                  <p:tags r:id="rId7"/>
                </p:custData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1048656" name="Freeform 40"/>
              <p:cNvSpPr>
                <a:spLocks noEditPoints="1"/>
              </p:cNvSpPr>
              <p:nvPr>
                <p:custDataLst>
                  <p:tags r:id="rId8"/>
                </p:custData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1048657" name="Rectangle 41"/>
              <p:cNvSpPr>
                <a:spLocks noChangeArrowheads="1"/>
              </p:cNvSpPr>
              <p:nvPr>
                <p:custDataLst>
                  <p:tags r:id="rId9"/>
                </p:custDataLst>
              </p:nvPr>
            </p:nvSpPr>
            <p:spPr bwMode="auto">
              <a:xfrm>
                <a:off x="11939587" y="6596063"/>
                <a:ext cx="23813" cy="252413"/>
              </a:xfrm>
              <a:prstGeom prst="rect">
                <a:avLst/>
              </a:prstGeom>
              <a:grpFill/>
              <a:ln>
                <a:noFill/>
              </a:ln>
            </p:spPr>
          </p:sp>
        </p:grpSp>
      </p:grpSp>
      <p:sp>
        <p:nvSpPr>
          <p:cNvPr id="1048658" name="内容占位符 22"/>
          <p:cNvSpPr>
            <a:spLocks noGrp="1"/>
          </p:cNvSpPr>
          <p:nvPr>
            <p:ph sz="quarter" idx="11" hasCustomPrompt="1"/>
            <p:custDataLst>
              <p:tags r:id="rId2"/>
            </p:custDataLst>
          </p:nvPr>
        </p:nvSpPr>
        <p:spPr>
          <a:xfrm>
            <a:off x="0" y="0"/>
            <a:ext cx="4659313" cy="6858000"/>
          </a:xfrm>
          <a:solidFill>
            <a:srgbClr val="8B0012"/>
          </a:solidFill>
        </p:spPr>
        <p:txBody>
          <a:bodyPr anchor="ctr">
            <a:normAutofit/>
          </a:bodyPr>
          <a:lstStyle>
            <a:lvl1pPr marL="0" indent="0" algn="ctr">
              <a:buNone/>
              <a:defRPr sz="32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Outline</a:t>
            </a:r>
            <a:endParaRPr lang="zh-CN" alt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cSld name="自定义版式">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cSld name="Unnamed Layout">
    <p:bg>
      <p:bgPr>
        <a:blipFill rotWithShape="1">
          <a:blip r:embed="rId2"/>
          <a:stretch>
            <a:fillRect/>
          </a:stretch>
        </a:blipFill>
        <a:effectLst/>
      </p:bgPr>
    </p:bg>
    <p:spTree>
      <p:nvGrpSpPr>
        <p:cNvPr id="1" name=""/>
        <p:cNvGrpSpPr/>
        <p:nvPr/>
      </p:nvGrpSpPr>
      <p:grpSpPr>
        <a:xfrm>
          <a:off x="0" y="0"/>
          <a:ext cx="0" cy="0"/>
          <a:chOff x="0" y="0"/>
          <a:chExt cx="0" cy="0"/>
        </a:xfrm>
      </p:grpSpPr>
    </p:spTree>
  </p:cSld>
  <p:clrMapOvr>
    <a:masterClrMapping/>
  </p:clrMapOvr>
  <p:transition>
    <p:fade/>
  </p:transition>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1048630" name="日期占位符 2"/>
          <p:cNvSpPr>
            <a:spLocks noGrp="1"/>
          </p:cNvSpPr>
          <p:nvPr>
            <p:ph type="dt" sz="half" idx="10"/>
          </p:nvPr>
        </p:nvSpPr>
        <p:spPr>
          <a:xfrm>
            <a:off x="1256418" y="5448300"/>
            <a:ext cx="10396122" cy="447675"/>
          </a:xfrm>
          <a:prstGeom prst="rect">
            <a:avLst/>
          </a:prstGeom>
        </p:spPr>
        <p:txBody>
          <a:bodyPr/>
          <a:lstStyle>
            <a:lvl1pPr algn="ctr">
              <a:defRPr lang="zh-CN" altLang="en-US" sz="2400" b="0" i="0" kern="1200" baseline="0" smtClean="0">
                <a:solidFill>
                  <a:schemeClr val="tx1">
                    <a:lumMod val="85000"/>
                    <a:lumOff val="15000"/>
                  </a:schemeClr>
                </a:solidFill>
                <a:latin typeface="Calibri Light" panose="020F0302020204030204" pitchFamily="34" charset="0"/>
                <a:ea typeface="微软雅黑" panose="020B0503020204020204" charset="-122"/>
                <a:cs typeface="Calibri Light" panose="020F0302020204030204" pitchFamily="34" charset="0"/>
              </a:defRPr>
            </a:lvl1pPr>
          </a:lstStyle>
          <a:p>
            <a:endParaRPr lang="en-US" dirty="0"/>
          </a:p>
        </p:txBody>
      </p:sp>
      <p:sp>
        <p:nvSpPr>
          <p:cNvPr id="1048631" name="页脚占位符 3"/>
          <p:cNvSpPr>
            <a:spLocks noGrp="1"/>
          </p:cNvSpPr>
          <p:nvPr>
            <p:ph type="ftr" sz="quarter" idx="11"/>
          </p:nvPr>
        </p:nvSpPr>
        <p:spPr>
          <a:xfrm>
            <a:off x="1256418" y="6356351"/>
            <a:ext cx="10396122" cy="365125"/>
          </a:xfrm>
          <a:prstGeom prst="rect">
            <a:avLst/>
          </a:prstGeom>
        </p:spPr>
        <p:txBody>
          <a:bodyPr/>
          <a:lstStyle/>
          <a:p>
            <a:endParaRPr lang="zh-CN" altLang="en-US" dirty="0"/>
          </a:p>
        </p:txBody>
      </p:sp>
      <p:sp>
        <p:nvSpPr>
          <p:cNvPr id="1048632" name="标题 1"/>
          <p:cNvSpPr>
            <a:spLocks noGrp="1"/>
          </p:cNvSpPr>
          <p:nvPr>
            <p:ph type="ctrTitle"/>
          </p:nvPr>
        </p:nvSpPr>
        <p:spPr>
          <a:xfrm>
            <a:off x="1260390" y="1895447"/>
            <a:ext cx="10392032" cy="2387600"/>
          </a:xfrm>
          <a:prstGeom prst="rect">
            <a:avLst/>
          </a:prstGeom>
        </p:spPr>
        <p:txBody>
          <a:bodyPr anchor="ctr">
            <a:normAutofit/>
          </a:bodyPr>
          <a:lstStyle>
            <a:lvl1pPr algn="ctr">
              <a:lnSpc>
                <a:spcPct val="100000"/>
              </a:lnSpc>
              <a:spcBef>
                <a:spcPts val="1500"/>
              </a:spcBef>
              <a:defRPr sz="2550" b="0"/>
            </a:lvl1pPr>
          </a:lstStyle>
          <a:p>
            <a:r>
              <a:rPr lang="zh-CN" altLang="en-US"/>
              <a:t>单击此处编辑母版标题样式</a:t>
            </a:r>
            <a:endParaRPr lang="zh-CN" altLang="en-US" dirty="0"/>
          </a:p>
        </p:txBody>
      </p:sp>
      <p:sp>
        <p:nvSpPr>
          <p:cNvPr id="1048633" name="副标题 2"/>
          <p:cNvSpPr>
            <a:spLocks noGrp="1"/>
          </p:cNvSpPr>
          <p:nvPr>
            <p:ph type="subTitle" idx="1"/>
          </p:nvPr>
        </p:nvSpPr>
        <p:spPr>
          <a:xfrm>
            <a:off x="1260390" y="4846320"/>
            <a:ext cx="10392032" cy="474980"/>
          </a:xfrm>
          <a:prstGeom prst="rect">
            <a:avLst/>
          </a:prstGeom>
        </p:spPr>
        <p:txBody>
          <a:bodyPr anchor="ctr">
            <a:noAutofit/>
          </a:bodyPr>
          <a:lstStyle>
            <a:lvl1pPr marL="0" indent="0" algn="ctr">
              <a:buNone/>
              <a:defRPr sz="2400" b="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727587" y="1622323"/>
            <a:ext cx="10943800" cy="3028335"/>
          </a:xfrm>
        </p:spPr>
        <p:txBody>
          <a:bodyPr anchor="ctr">
            <a:noAutofit/>
          </a:bodyPr>
          <a:lstStyle>
            <a:lvl1pPr algn="l"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338073833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제목 슬라이드">
    <p:spTree>
      <p:nvGrpSpPr>
        <p:cNvPr id="1" name=""/>
        <p:cNvGrpSpPr/>
        <p:nvPr/>
      </p:nvGrpSpPr>
      <p:grpSpPr>
        <a:xfrm>
          <a:off x="0" y="0"/>
          <a:ext cx="0" cy="0"/>
          <a:chOff x="0" y="0"/>
          <a:chExt cx="0" cy="0"/>
        </a:xfrm>
      </p:grpSpPr>
      <p:sp>
        <p:nvSpPr>
          <p:cNvPr id="3" name="그림 개체 틀 2"/>
          <p:cNvSpPr>
            <a:spLocks noGrp="1"/>
          </p:cNvSpPr>
          <p:nvPr>
            <p:ph type="pic" sz="quarter" idx="10"/>
          </p:nvPr>
        </p:nvSpPr>
        <p:spPr>
          <a:xfrm>
            <a:off x="0" y="1"/>
            <a:ext cx="12192000" cy="6858000"/>
          </a:xfrm>
        </p:spPr>
        <p:txBody>
          <a:bodyPr/>
          <a:lstStyle/>
          <a:p>
            <a:endParaRPr kumimoji="1" lang="ko-KR" altLang="en-US"/>
          </a:p>
        </p:txBody>
      </p:sp>
      <p:sp>
        <p:nvSpPr>
          <p:cNvPr id="4" name="제목 1"/>
          <p:cNvSpPr>
            <a:spLocks noGrp="1"/>
          </p:cNvSpPr>
          <p:nvPr>
            <p:ph type="ctrTitle" hasCustomPrompt="1"/>
          </p:nvPr>
        </p:nvSpPr>
        <p:spPr>
          <a:xfrm>
            <a:off x="3136489" y="3716594"/>
            <a:ext cx="8534897" cy="2664541"/>
          </a:xfrm>
        </p:spPr>
        <p:txBody>
          <a:bodyPr anchor="ctr">
            <a:noAutofit/>
          </a:bodyPr>
          <a:lstStyle>
            <a:lvl1pPr algn="r" defTabSz="914400" rtl="0" eaLnBrk="1" latinLnBrk="1" hangingPunct="1">
              <a:lnSpc>
                <a:spcPct val="90000"/>
              </a:lnSpc>
              <a:spcBef>
                <a:spcPct val="0"/>
              </a:spcBef>
              <a:buNone/>
              <a:defRPr lang="en-US" altLang="en-US" sz="4400" b="0" i="0" kern="1200">
                <a:solidFill>
                  <a:schemeClr val="tx2"/>
                </a:solidFill>
                <a:latin typeface="Montserrat SemiBold" panose="00000700000000000000" pitchFamily="2" charset="0"/>
                <a:ea typeface="Pretendard" panose="02000503000000020004" pitchFamily="2" charset="-127"/>
                <a:cs typeface="Pretendard" panose="02000503000000020004" pitchFamily="2" charset="-127"/>
              </a:defRPr>
            </a:lvl1pPr>
          </a:lstStyle>
          <a:p>
            <a:r>
              <a:rPr kumimoji="1" lang="ko-KR" altLang="en-US"/>
              <a:t>마스터 제목 스타일 편집</a:t>
            </a:r>
            <a:endParaRPr kumimoji="1" lang="en-US" altLang="en-US"/>
          </a:p>
        </p:txBody>
      </p:sp>
      <p:grpSp>
        <p:nvGrpSpPr>
          <p:cNvPr id="2" name="组合 1"/>
          <p:cNvGrpSpPr/>
          <p:nvPr userDrawn="1"/>
        </p:nvGrpSpPr>
        <p:grpSpPr>
          <a:xfrm>
            <a:off x="9247450" y="217531"/>
            <a:ext cx="2580450" cy="547850"/>
            <a:chOff x="9247450" y="217531"/>
            <a:chExt cx="2580450" cy="547850"/>
          </a:xfrm>
        </p:grpSpPr>
        <p:pic>
          <p:nvPicPr>
            <p:cNvPr id="5" name="图片 4"/>
            <p:cNvPicPr>
              <a:picLocks noChangeAspect="1"/>
            </p:cNvPicPr>
            <p:nvPr/>
          </p:nvPicPr>
          <p:blipFill>
            <a:blip r:embed="rId2"/>
            <a:stretch>
              <a:fillRect/>
            </a:stretch>
          </p:blipFill>
          <p:spPr>
            <a:xfrm>
              <a:off x="9247450" y="319584"/>
              <a:ext cx="1096400" cy="336123"/>
            </a:xfrm>
            <a:prstGeom prst="rect">
              <a:avLst/>
            </a:prstGeom>
          </p:spPr>
        </p:pic>
        <p:pic>
          <p:nvPicPr>
            <p:cNvPr id="6" name="图片 5"/>
            <p:cNvPicPr>
              <a:picLocks noChangeAspect="1"/>
            </p:cNvPicPr>
            <p:nvPr/>
          </p:nvPicPr>
          <p:blipFill>
            <a:blip r:embed="rId3"/>
            <a:srcRect l="13229" t="29812" r="10431" b="29796"/>
            <a:stretch>
              <a:fillRect/>
            </a:stretch>
          </p:blipFill>
          <p:spPr>
            <a:xfrm>
              <a:off x="10553199" y="217531"/>
              <a:ext cx="1274701" cy="547850"/>
            </a:xfrm>
            <a:prstGeom prst="rect">
              <a:avLst/>
            </a:prstGeom>
          </p:spPr>
        </p:pic>
      </p:grpSp>
    </p:spTree>
    <p:extLst>
      <p:ext uri="{BB962C8B-B14F-4D97-AF65-F5344CB8AC3E}">
        <p14:creationId xmlns:p14="http://schemas.microsoft.com/office/powerpoint/2010/main" val="24458114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1048637" name="文本占位符 2"/>
          <p:cNvSpPr>
            <a:spLocks noGrp="1"/>
          </p:cNvSpPr>
          <p:nvPr>
            <p:ph type="body" idx="1"/>
          </p:nvPr>
        </p:nvSpPr>
        <p:spPr>
          <a:xfrm>
            <a:off x="523874" y="1323975"/>
            <a:ext cx="11277601" cy="4832577"/>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p:txBody>
      </p:sp>
      <p:sp>
        <p:nvSpPr>
          <p:cNvPr id="1048638" name="标题占位符 1"/>
          <p:cNvSpPr>
            <a:spLocks noGrp="1"/>
          </p:cNvSpPr>
          <p:nvPr>
            <p:ph type="title"/>
          </p:nvPr>
        </p:nvSpPr>
        <p:spPr>
          <a:xfrm>
            <a:off x="741404" y="431629"/>
            <a:ext cx="9987507" cy="700925"/>
          </a:xfrm>
          <a:prstGeom prst="rect">
            <a:avLst/>
          </a:prstGeom>
        </p:spPr>
        <p:txBody>
          <a:bodyPr vert="horz" lIns="91440" tIns="45720" rIns="91440" bIns="45720" rtlCol="0" anchor="ctr">
            <a:noAutofit/>
          </a:bodyPr>
          <a:lstStyle/>
          <a:p>
            <a:r>
              <a:rPr lang="zh-CN" altLang="en-US" dirty="0"/>
              <a:t>单击此处编辑母版标题样式</a:t>
            </a:r>
          </a:p>
        </p:txBody>
      </p:sp>
      <p:sp>
        <p:nvSpPr>
          <p:cNvPr id="1048639" name="页脚占位符 4"/>
          <p:cNvSpPr>
            <a:spLocks noGrp="1"/>
          </p:cNvSpPr>
          <p:nvPr>
            <p:ph type="ftr" sz="quarter" idx="3"/>
          </p:nvPr>
        </p:nvSpPr>
        <p:spPr>
          <a:xfrm>
            <a:off x="523874" y="6356351"/>
            <a:ext cx="11277601" cy="365125"/>
          </a:xfrm>
          <a:prstGeom prst="rect">
            <a:avLst/>
          </a:prstGeom>
        </p:spPr>
        <p:txBody>
          <a:bodyPr vert="horz" lIns="91440" tIns="45720" rIns="91440" bIns="45720" rtlCol="0" anchor="ctr"/>
          <a:lstStyle>
            <a:lvl1pPr algn="l">
              <a:defRPr sz="1400" baseline="0">
                <a:solidFill>
                  <a:schemeClr val="accent3"/>
                </a:solidFill>
                <a:latin typeface="Garamond" panose="02020404030301010803" charset="0"/>
                <a:ea typeface="微软雅黑" panose="020B0503020204020204" charset="-122"/>
              </a:defRPr>
            </a:lvl1pPr>
          </a:lstStyle>
          <a:p>
            <a:endParaRPr lang="zh-CN" altLang="en-US" dirty="0"/>
          </a:p>
        </p:txBody>
      </p:sp>
      <p:sp>
        <p:nvSpPr>
          <p:cNvPr id="1048640" name="Freeform 5"/>
          <p:cNvSpPr/>
          <p:nvPr/>
        </p:nvSpPr>
        <p:spPr bwMode="auto">
          <a:xfrm flipV="1">
            <a:off x="-4185" y="529393"/>
            <a:ext cx="564624" cy="507999"/>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rgbClr val="8B0012"/>
          </a:solidFill>
          <a:ln>
            <a:noFill/>
          </a:ln>
        </p:spPr>
        <p:txBody>
          <a:bodyPr/>
          <a:lstStyle/>
          <a:p>
            <a:endParaRPr lang="en-US" sz="1350" dirty="0"/>
          </a:p>
        </p:txBody>
      </p:sp>
      <p:sp>
        <p:nvSpPr>
          <p:cNvPr id="1048641" name="灯片编号占位符 5"/>
          <p:cNvSpPr>
            <a:spLocks noGrp="1"/>
          </p:cNvSpPr>
          <p:nvPr>
            <p:ph type="sldNum" sz="quarter" idx="4"/>
          </p:nvPr>
        </p:nvSpPr>
        <p:spPr>
          <a:xfrm>
            <a:off x="1" y="593458"/>
            <a:ext cx="419099" cy="365125"/>
          </a:xfrm>
          <a:prstGeom prst="rect">
            <a:avLst/>
          </a:prstGeom>
        </p:spPr>
        <p:txBody>
          <a:bodyPr vert="horz" lIns="91440" tIns="45720" rIns="91440" bIns="45720" rtlCol="0" anchor="ctr"/>
          <a:lstStyle>
            <a:lvl1pPr algn="r">
              <a:defRPr sz="1600" b="0" baseline="0">
                <a:solidFill>
                  <a:schemeClr val="bg1"/>
                </a:solidFill>
                <a:latin typeface="Garamond" panose="02020404030301010803" charset="0"/>
                <a:ea typeface="微软雅黑" panose="020B0503020204020204" charset="-122"/>
                <a:cs typeface="Calibri" panose="020F0502020204030204" charset="0"/>
              </a:defRPr>
            </a:lvl1pPr>
          </a:lstStyle>
          <a:p>
            <a:fld id="{B33F7469-D28B-482F-B1B6-3B8E7CF51519}" type="slidenum">
              <a:rPr lang="zh-CN" altLang="en-US" smtClean="0"/>
              <a:t>‹#›</a:t>
            </a:fld>
            <a:endParaRPr lang="zh-CN" altLang="en-US" dirty="0"/>
          </a:p>
        </p:txBody>
      </p:sp>
      <p:grpSp>
        <p:nvGrpSpPr>
          <p:cNvPr id="2" name="组合 1"/>
          <p:cNvGrpSpPr/>
          <p:nvPr/>
        </p:nvGrpSpPr>
        <p:grpSpPr>
          <a:xfrm>
            <a:off x="9221415" y="158476"/>
            <a:ext cx="2580450" cy="547850"/>
            <a:chOff x="9247450" y="217531"/>
            <a:chExt cx="2580450" cy="547850"/>
          </a:xfrm>
        </p:grpSpPr>
        <p:pic>
          <p:nvPicPr>
            <p:cNvPr id="3" name="图片 2"/>
            <p:cNvPicPr>
              <a:picLocks noChangeAspect="1"/>
            </p:cNvPicPr>
            <p:nvPr/>
          </p:nvPicPr>
          <p:blipFill>
            <a:blip r:embed="rId14"/>
            <a:stretch>
              <a:fillRect/>
            </a:stretch>
          </p:blipFill>
          <p:spPr>
            <a:xfrm>
              <a:off x="9247450" y="319584"/>
              <a:ext cx="1096400" cy="336123"/>
            </a:xfrm>
            <a:prstGeom prst="rect">
              <a:avLst/>
            </a:prstGeom>
          </p:spPr>
        </p:pic>
        <p:pic>
          <p:nvPicPr>
            <p:cNvPr id="4" name="图片 3"/>
            <p:cNvPicPr>
              <a:picLocks noChangeAspect="1"/>
            </p:cNvPicPr>
            <p:nvPr/>
          </p:nvPicPr>
          <p:blipFill>
            <a:blip r:embed="rId15"/>
            <a:srcRect l="13229" t="29812" r="10431" b="29796"/>
            <a:stretch>
              <a:fillRect/>
            </a:stretch>
          </p:blipFill>
          <p:spPr>
            <a:xfrm>
              <a:off x="10553199" y="217531"/>
              <a:ext cx="1274701" cy="547850"/>
            </a:xfrm>
            <a:prstGeom prst="rect">
              <a:avLst/>
            </a:prstGeom>
          </p:spPr>
        </p:pic>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hf hdr="0" dt="0"/>
  <p:txStyles>
    <p:titleStyle>
      <a:lvl1pPr algn="l" defTabSz="342900" rtl="0" eaLnBrk="1" latinLnBrk="0" hangingPunct="1">
        <a:spcBef>
          <a:spcPct val="0"/>
        </a:spcBef>
        <a:buNone/>
        <a:defRPr lang="zh-CN" altLang="en-US" sz="3600" b="0" i="0" kern="1200" baseline="0" dirty="0">
          <a:solidFill>
            <a:schemeClr val="tx1">
              <a:lumMod val="85000"/>
              <a:lumOff val="15000"/>
            </a:schemeClr>
          </a:solidFill>
          <a:latin typeface="Calibri" panose="020F0502020204030204" charset="0"/>
          <a:ea typeface="微软雅黑" panose="020B050302020402020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5.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17.xml"/><Relationship Id="rId7" Type="http://schemas.openxmlformats.org/officeDocument/2006/relationships/image" Target="../media/image7.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slideLayout" Target="../slideLayouts/slideLayout2.xml"/><Relationship Id="rId5" Type="http://schemas.openxmlformats.org/officeDocument/2006/relationships/tags" Target="../tags/tag19.xml"/><Relationship Id="rId4" Type="http://schemas.openxmlformats.org/officeDocument/2006/relationships/tags" Target="../tags/tag18.xml"/><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tags" Target="../tags/tag22.xml"/><Relationship Id="rId7" Type="http://schemas.openxmlformats.org/officeDocument/2006/relationships/image" Target="../media/image11.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10.png"/><Relationship Id="rId5" Type="http://schemas.openxmlformats.org/officeDocument/2006/relationships/slideLayout" Target="../slideLayouts/slideLayout2.xml"/><Relationship Id="rId4" Type="http://schemas.openxmlformats.org/officeDocument/2006/relationships/tags" Target="../tags/tag2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xml"/><Relationship Id="rId1" Type="http://schemas.openxmlformats.org/officeDocument/2006/relationships/tags" Target="../tags/tag35.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19.png"/><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44.xml"/></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tags" Target="../tags/tag47.xml"/><Relationship Id="rId7" Type="http://schemas.openxmlformats.org/officeDocument/2006/relationships/image" Target="../media/image23.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slideLayout" Target="../slideLayouts/slideLayout2.xml"/><Relationship Id="rId5" Type="http://schemas.openxmlformats.org/officeDocument/2006/relationships/tags" Target="../tags/tag49.xml"/><Relationship Id="rId4" Type="http://schemas.openxmlformats.org/officeDocument/2006/relationships/tags" Target="../tags/tag48.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23.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tags" Target="../tags/tag58.xml"/><Relationship Id="rId13" Type="http://schemas.openxmlformats.org/officeDocument/2006/relationships/tags" Target="../tags/tag63.xml"/><Relationship Id="rId18" Type="http://schemas.openxmlformats.org/officeDocument/2006/relationships/image" Target="../media/image28.png"/><Relationship Id="rId26" Type="http://schemas.openxmlformats.org/officeDocument/2006/relationships/hyperlink" Target="https://www.zhihu.com/people/95-22-20-18/posts" TargetMode="External"/><Relationship Id="rId3" Type="http://schemas.openxmlformats.org/officeDocument/2006/relationships/tags" Target="../tags/tag53.xml"/><Relationship Id="rId21" Type="http://schemas.openxmlformats.org/officeDocument/2006/relationships/image" Target="../media/image31.png"/><Relationship Id="rId7" Type="http://schemas.openxmlformats.org/officeDocument/2006/relationships/tags" Target="../tags/tag57.xml"/><Relationship Id="rId12" Type="http://schemas.openxmlformats.org/officeDocument/2006/relationships/tags" Target="../tags/tag62.xml"/><Relationship Id="rId17" Type="http://schemas.openxmlformats.org/officeDocument/2006/relationships/slideLayout" Target="../slideLayouts/slideLayout6.xml"/><Relationship Id="rId25" Type="http://schemas.openxmlformats.org/officeDocument/2006/relationships/hyperlink" Target="https://space.bilibili.com/3546791834290849" TargetMode="External"/><Relationship Id="rId2" Type="http://schemas.openxmlformats.org/officeDocument/2006/relationships/tags" Target="../tags/tag52.xml"/><Relationship Id="rId16" Type="http://schemas.openxmlformats.org/officeDocument/2006/relationships/tags" Target="../tags/tag66.xml"/><Relationship Id="rId20" Type="http://schemas.openxmlformats.org/officeDocument/2006/relationships/image" Target="../media/image30.png"/><Relationship Id="rId29" Type="http://schemas.openxmlformats.org/officeDocument/2006/relationships/image" Target="../media/image35.png"/><Relationship Id="rId1" Type="http://schemas.openxmlformats.org/officeDocument/2006/relationships/tags" Target="../tags/tag51.xml"/><Relationship Id="rId6" Type="http://schemas.openxmlformats.org/officeDocument/2006/relationships/tags" Target="../tags/tag56.xml"/><Relationship Id="rId11" Type="http://schemas.openxmlformats.org/officeDocument/2006/relationships/tags" Target="../tags/tag61.xml"/><Relationship Id="rId24" Type="http://schemas.openxmlformats.org/officeDocument/2006/relationships/hyperlink" Target="https://github.com/flagos-ai" TargetMode="External"/><Relationship Id="rId5" Type="http://schemas.openxmlformats.org/officeDocument/2006/relationships/tags" Target="../tags/tag55.xml"/><Relationship Id="rId15" Type="http://schemas.openxmlformats.org/officeDocument/2006/relationships/tags" Target="../tags/tag65.xml"/><Relationship Id="rId23" Type="http://schemas.openxmlformats.org/officeDocument/2006/relationships/image" Target="../media/image33.png"/><Relationship Id="rId28" Type="http://schemas.openxmlformats.org/officeDocument/2006/relationships/image" Target="../media/image34.jpeg"/><Relationship Id="rId10" Type="http://schemas.openxmlformats.org/officeDocument/2006/relationships/tags" Target="../tags/tag60.xml"/><Relationship Id="rId19" Type="http://schemas.openxmlformats.org/officeDocument/2006/relationships/image" Target="../media/image29.png"/><Relationship Id="rId4" Type="http://schemas.openxmlformats.org/officeDocument/2006/relationships/tags" Target="../tags/tag54.xml"/><Relationship Id="rId9" Type="http://schemas.openxmlformats.org/officeDocument/2006/relationships/tags" Target="../tags/tag59.xml"/><Relationship Id="rId14" Type="http://schemas.openxmlformats.org/officeDocument/2006/relationships/tags" Target="../tags/tag64.xml"/><Relationship Id="rId22" Type="http://schemas.openxmlformats.org/officeDocument/2006/relationships/image" Target="../media/image32.png"/><Relationship Id="rId27" Type="http://schemas.openxmlformats.org/officeDocument/2006/relationships/hyperlink" Target="https://flagos.io/Home"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6.jpeg"/><Relationship Id="rId1" Type="http://schemas.openxmlformats.org/officeDocument/2006/relationships/slideLayout" Target="../slideLayouts/slideLayout1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그림 개체 틀 3"/>
          <p:cNvPicPr>
            <a:picLocks noGrp="1" noChangeAspect="1"/>
          </p:cNvPicPr>
          <p:nvPr>
            <p:ph type="pic" sz="quarter" idx="10"/>
          </p:nvPr>
        </p:nvPicPr>
        <p:blipFill>
          <a:blip r:embed="rId2"/>
          <a:srcRect t="350" b="350"/>
          <a:stretch>
            <a:fillRect/>
          </a:stretch>
        </p:blipFill>
        <p:spPr>
          <a:xfrm>
            <a:off x="0" y="1"/>
            <a:ext cx="12192000" cy="6858000"/>
          </a:xfrm>
        </p:spPr>
      </p:pic>
      <p:sp>
        <p:nvSpPr>
          <p:cNvPr id="6" name="제목 5"/>
          <p:cNvSpPr>
            <a:spLocks noGrp="1"/>
          </p:cNvSpPr>
          <p:nvPr>
            <p:ph type="ctrTitle"/>
          </p:nvPr>
        </p:nvSpPr>
        <p:spPr>
          <a:xfrm>
            <a:off x="727710" y="1622425"/>
            <a:ext cx="5553710" cy="3028315"/>
          </a:xfrm>
        </p:spPr>
        <p:txBody>
          <a:bodyPr/>
          <a:lstStyle/>
          <a:p>
            <a:pPr algn="l"/>
            <a:r>
              <a:rPr lang="en-US" altLang="zh-CN" sz="4000">
                <a:latin typeface="+mj-cs"/>
                <a:cs typeface="+mj-cs"/>
              </a:rPr>
              <a:t>Hardware and Software Fundamentals of </a:t>
            </a:r>
            <a:br>
              <a:rPr lang="en-US" altLang="zh-CN" sz="4000">
                <a:latin typeface="+mj-cs"/>
                <a:cs typeface="+mj-cs"/>
              </a:rPr>
            </a:br>
            <a:r>
              <a:rPr lang="en-US" altLang="zh-CN" sz="4000">
                <a:latin typeface="+mj-cs"/>
                <a:cs typeface="+mj-cs"/>
              </a:rPr>
              <a:t>Intelligent Computing </a:t>
            </a:r>
            <a:br>
              <a:rPr lang="en-US" altLang="zh-CN" sz="4000">
                <a:latin typeface="+mj-cs"/>
                <a:cs typeface="+mj-cs"/>
              </a:rPr>
            </a:br>
            <a:r>
              <a:rPr lang="en-US" altLang="zh-CN" sz="4000">
                <a:latin typeface="+mj-cs"/>
                <a:cs typeface="+mj-cs"/>
              </a:rPr>
              <a:t>Systems</a:t>
            </a:r>
          </a:p>
        </p:txBody>
      </p:sp>
      <p:grpSp>
        <p:nvGrpSpPr>
          <p:cNvPr id="9" name="그룹 8"/>
          <p:cNvGrpSpPr/>
          <p:nvPr/>
        </p:nvGrpSpPr>
        <p:grpSpPr>
          <a:xfrm>
            <a:off x="364100" y="6255612"/>
            <a:ext cx="409904" cy="409904"/>
            <a:chOff x="11591418" y="6255612"/>
            <a:chExt cx="409904" cy="409904"/>
          </a:xfrm>
        </p:grpSpPr>
        <p:sp>
          <p:nvSpPr>
            <p:cNvPr id="10" name="타원 9"/>
            <p:cNvSpPr/>
            <p:nvPr/>
          </p:nvSpPr>
          <p:spPr>
            <a:xfrm>
              <a:off x="11591418" y="6255612"/>
              <a:ext cx="409904" cy="4099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1" name="갈매기형 수장[C] 10"/>
            <p:cNvSpPr/>
            <p:nvPr/>
          </p:nvSpPr>
          <p:spPr>
            <a:xfrm>
              <a:off x="11732864" y="6397058"/>
              <a:ext cx="127012" cy="127012"/>
            </a:xfrm>
            <a:prstGeom prst="chevron">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solidFill>
                  <a:schemeClr val="tx1"/>
                </a:solidFill>
              </a:endParaRPr>
            </a:p>
          </p:txBody>
        </p:sp>
      </p:grpSp>
      <p:grpSp>
        <p:nvGrpSpPr>
          <p:cNvPr id="13" name="组合 12"/>
          <p:cNvGrpSpPr/>
          <p:nvPr/>
        </p:nvGrpSpPr>
        <p:grpSpPr>
          <a:xfrm>
            <a:off x="9247450" y="217531"/>
            <a:ext cx="2580450" cy="547850"/>
            <a:chOff x="9247450" y="217531"/>
            <a:chExt cx="2580450" cy="547850"/>
          </a:xfrm>
        </p:grpSpPr>
        <p:pic>
          <p:nvPicPr>
            <p:cNvPr id="3" name="图片 2"/>
            <p:cNvPicPr>
              <a:picLocks noChangeAspect="1"/>
            </p:cNvPicPr>
            <p:nvPr/>
          </p:nvPicPr>
          <p:blipFill>
            <a:blip r:embed="rId3"/>
            <a:stretch>
              <a:fillRect/>
            </a:stretch>
          </p:blipFill>
          <p:spPr>
            <a:xfrm>
              <a:off x="9247450" y="319584"/>
              <a:ext cx="1096400" cy="336123"/>
            </a:xfrm>
            <a:prstGeom prst="rect">
              <a:avLst/>
            </a:prstGeom>
          </p:spPr>
        </p:pic>
        <p:pic>
          <p:nvPicPr>
            <p:cNvPr id="12" name="图片 11"/>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标题 1"/>
          <p:cNvSpPr>
            <a:spLocks noGrp="1"/>
          </p:cNvSpPr>
          <p:nvPr>
            <p:ph type="ctrTitle"/>
          </p:nvPr>
        </p:nvSpPr>
        <p:spPr/>
        <p:txBody>
          <a:bodyPr/>
          <a:lstStyle/>
          <a:p>
            <a:r>
              <a:rPr lang="en-US" altLang="zh-CN" sz="5100"/>
              <a:t>Lecture 14: Normalization and Activation Functions</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内容占位符 1"/>
          <p:cNvSpPr>
            <a:spLocks noGrp="1"/>
          </p:cNvSpPr>
          <p:nvPr>
            <p:ph sz="quarter" idx="10"/>
            <p:custDataLst>
              <p:tags r:id="rId1"/>
            </p:custDataLst>
          </p:nvPr>
        </p:nvSpPr>
        <p:spPr/>
        <p:txBody>
          <a:bodyPr/>
          <a:lstStyle/>
          <a:p>
            <a:pPr lvl="0"/>
            <a:r>
              <a:rPr lang="en-US" altLang="en-US"/>
              <a:t>Basic Analysis of Operator Optimization</a:t>
            </a:r>
          </a:p>
          <a:p>
            <a:pPr lvl="0"/>
            <a:r>
              <a:rPr lang="en-US" altLang="en-US"/>
              <a:t>Element-wise and Reduction Operations</a:t>
            </a:r>
          </a:p>
        </p:txBody>
      </p:sp>
      <p:sp>
        <p:nvSpPr>
          <p:cNvPr id="1048652" name="内容占位符 2"/>
          <p:cNvSpPr>
            <a:spLocks noGrp="1"/>
          </p:cNvSpPr>
          <p:nvPr>
            <p:ph sz="quarter" idx="11"/>
          </p:nvPr>
        </p:nvSpPr>
        <p:spPr/>
        <p:txBody>
          <a:bodyPr/>
          <a:lstStyle/>
          <a:p>
            <a:r>
              <a:rPr lang="x-none" altLang="zh-CN"/>
              <a:t>Outline</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7" name="标题 1"/>
          <p:cNvSpPr>
            <a:spLocks noGrp="1"/>
          </p:cNvSpPr>
          <p:nvPr>
            <p:ph type="title"/>
          </p:nvPr>
        </p:nvSpPr>
        <p:spPr/>
        <p:txBody>
          <a:bodyPr/>
          <a:lstStyle/>
          <a:p>
            <a:r>
              <a:rPr lang="en-US" altLang="zh-CN"/>
              <a:t>GPU core metrics</a:t>
            </a:r>
          </a:p>
        </p:txBody>
      </p:sp>
      <p:sp>
        <p:nvSpPr>
          <p:cNvPr id="1048658" name="页脚占位符 3"/>
          <p:cNvSpPr>
            <a:spLocks noGrp="1"/>
          </p:cNvSpPr>
          <p:nvPr>
            <p:ph type="ftr" sz="quarter" idx="11"/>
          </p:nvPr>
        </p:nvSpPr>
        <p:spPr/>
        <p:txBody>
          <a:bodyPr/>
          <a:lstStyle/>
          <a:p>
            <a:endParaRPr lang="zh-CN" altLang="en-US"/>
          </a:p>
        </p:txBody>
      </p:sp>
      <p:sp>
        <p:nvSpPr>
          <p:cNvPr id="1048673" name="灯片编号占位符 4"/>
          <p:cNvSpPr>
            <a:spLocks noGrp="1"/>
          </p:cNvSpPr>
          <p:nvPr>
            <p:ph type="sldNum" sz="quarter" idx="12"/>
          </p:nvPr>
        </p:nvSpPr>
        <p:spPr/>
        <p:txBody>
          <a:bodyPr/>
          <a:lstStyle/>
          <a:p>
            <a:fld id="{B33F7469-D28B-482F-B1B6-3B8E7CF51519}" type="slidenum">
              <a:rPr lang="zh-CN" altLang="en-US" smtClean="0"/>
              <a:t>4</a:t>
            </a:fld>
            <a:endParaRPr lang="zh-CN" altLang="en-US" dirty="0"/>
          </a:p>
        </p:txBody>
      </p:sp>
      <p:sp>
        <p:nvSpPr>
          <p:cNvPr id="1048660" name="内容占位符 6"/>
          <p:cNvSpPr>
            <a:spLocks noGrp="1"/>
          </p:cNvSpPr>
          <p:nvPr>
            <p:ph sz="quarter" idx="13"/>
            <p:custDataLst>
              <p:tags r:id="rId1"/>
            </p:custDataLst>
          </p:nvPr>
        </p:nvSpPr>
        <p:spPr/>
        <p:txBody>
          <a:bodyPr>
            <a:normAutofit/>
          </a:bodyPr>
          <a:lstStyle/>
          <a:p>
            <a:pPr lvl="0">
              <a:lnSpc>
                <a:spcPct val="120000"/>
              </a:lnSpc>
              <a:spcBef>
                <a:spcPts val="1500"/>
              </a:spcBef>
              <a:spcAft>
                <a:spcPts val="0"/>
              </a:spcAft>
            </a:pPr>
            <a:r>
              <a:rPr lang="en-US" altLang="en-US"/>
              <a:t>Compute Power (FLOPS):</a:t>
            </a:r>
          </a:p>
          <a:p>
            <a:pPr lvl="1">
              <a:lnSpc>
                <a:spcPct val="120000"/>
              </a:lnSpc>
              <a:spcBef>
                <a:spcPts val="1500"/>
              </a:spcBef>
              <a:spcAft>
                <a:spcPts val="0"/>
              </a:spcAft>
            </a:pPr>
            <a:r>
              <a:rPr lang="en-US" altLang="en-US"/>
              <a:t>Refers to the number of floating-point operations a GPU can perform per second.</a:t>
            </a:r>
          </a:p>
          <a:p>
            <a:pPr lvl="1">
              <a:lnSpc>
                <a:spcPct val="120000"/>
              </a:lnSpc>
              <a:spcBef>
                <a:spcPts val="1500"/>
              </a:spcBef>
              <a:spcAft>
                <a:spcPts val="0"/>
              </a:spcAft>
            </a:pPr>
            <a:r>
              <a:rPr lang="en-US" altLang="en-US"/>
              <a:t>Thanks to more computing cores and higher clock frequencies, computing power is growing very rapidly.</a:t>
            </a:r>
          </a:p>
          <a:p>
            <a:pPr lvl="0">
              <a:lnSpc>
                <a:spcPct val="120000"/>
              </a:lnSpc>
              <a:spcBef>
                <a:spcPts val="1500"/>
              </a:spcBef>
              <a:spcAft>
                <a:spcPts val="0"/>
              </a:spcAft>
            </a:pPr>
            <a:r>
              <a:rPr lang="en-US" altLang="en-US"/>
              <a:t>Memory Bandwidth:</a:t>
            </a:r>
          </a:p>
          <a:p>
            <a:pPr lvl="1">
              <a:lnSpc>
                <a:spcPct val="120000"/>
              </a:lnSpc>
              <a:spcBef>
                <a:spcPts val="1500"/>
              </a:spcBef>
              <a:spcAft>
                <a:spcPts val="0"/>
              </a:spcAft>
            </a:pPr>
            <a:r>
              <a:rPr lang="en-US" altLang="en-US"/>
              <a:t>Refers to the total amount of data a GPU can read from or write to its global memory per second.</a:t>
            </a:r>
          </a:p>
          <a:p>
            <a:pPr lvl="0">
              <a:lnSpc>
                <a:spcPct val="120000"/>
              </a:lnSpc>
              <a:spcBef>
                <a:spcPts val="1500"/>
              </a:spcBef>
              <a:spcAft>
                <a:spcPts val="0"/>
              </a:spcAft>
            </a:pPr>
            <a:r>
              <a:rPr lang="en-US" altLang="en-US"/>
              <a:t>The growth rate of memory bandwidth lags far behind that of computing power, leading to the "Memory Wall" problem: GPU computing cores are often idle while waiting for data from slow memory.</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1" name="标题 1"/>
          <p:cNvSpPr>
            <a:spLocks noGrp="1"/>
          </p:cNvSpPr>
          <p:nvPr>
            <p:ph type="title"/>
          </p:nvPr>
        </p:nvSpPr>
        <p:spPr/>
        <p:txBody>
          <a:bodyPr/>
          <a:lstStyle/>
          <a:p>
            <a:r>
              <a:rPr lang="en-US" altLang="zh-CN"/>
              <a:t>Roofline Model</a:t>
            </a:r>
          </a:p>
        </p:txBody>
      </p:sp>
      <p:sp>
        <p:nvSpPr>
          <p:cNvPr id="1048662" name="页脚占位符 3"/>
          <p:cNvSpPr>
            <a:spLocks noGrp="1"/>
          </p:cNvSpPr>
          <p:nvPr>
            <p:ph type="ftr" sz="quarter" idx="11"/>
          </p:nvPr>
        </p:nvSpPr>
        <p:spPr/>
        <p:txBody>
          <a:bodyPr/>
          <a:lstStyle/>
          <a:p>
            <a:endParaRPr lang="zh-CN" altLang="en-US"/>
          </a:p>
        </p:txBody>
      </p:sp>
      <p:sp>
        <p:nvSpPr>
          <p:cNvPr id="1048673" name="灯片编号占位符 4"/>
          <p:cNvSpPr>
            <a:spLocks noGrp="1"/>
          </p:cNvSpPr>
          <p:nvPr>
            <p:ph type="sldNum" sz="quarter" idx="12"/>
          </p:nvPr>
        </p:nvSpPr>
        <p:spPr/>
        <p:txBody>
          <a:bodyPr/>
          <a:lstStyle/>
          <a:p>
            <a:fld id="{B33F7469-D28B-482F-B1B6-3B8E7CF51519}" type="slidenum">
              <a:rPr lang="zh-CN" altLang="en-US" smtClean="0"/>
              <a:t>5</a:t>
            </a:fld>
            <a:endParaRPr lang="zh-CN" altLang="en-US" dirty="0"/>
          </a:p>
        </p:txBody>
      </p:sp>
      <p:sp>
        <p:nvSpPr>
          <p:cNvPr id="1048664" name="内容占位符 7"/>
          <p:cNvSpPr>
            <a:spLocks noGrp="1"/>
          </p:cNvSpPr>
          <p:nvPr>
            <p:ph sz="quarter" idx="13"/>
            <p:custDataLst>
              <p:tags r:id="rId1"/>
            </p:custDataLst>
          </p:nvPr>
        </p:nvSpPr>
        <p:spPr/>
        <p:txBody>
          <a:bodyPr/>
          <a:lstStyle/>
          <a:p>
            <a:r>
              <a:rPr lang="en-US" altLang="zh-CN"/>
              <a:t>Definition: The Roofline Model is an intuitive performance prediction model that analyzes the performance ceiling of specific operators on given hardware.</a:t>
            </a:r>
          </a:p>
        </p:txBody>
      </p:sp>
      <p:pic>
        <p:nvPicPr>
          <p:cNvPr id="2097152" name="图片 5"/>
          <p:cNvPicPr>
            <a:picLocks noChangeAspect="1"/>
          </p:cNvPicPr>
          <p:nvPr>
            <p:custDataLst>
              <p:tags r:id="rId2"/>
            </p:custDataLst>
          </p:nvPr>
        </p:nvPicPr>
        <p:blipFill>
          <a:blip r:embed="rId5"/>
          <a:stretch>
            <a:fillRect/>
          </a:stretch>
        </p:blipFill>
        <p:spPr>
          <a:xfrm>
            <a:off x="1163955" y="2463165"/>
            <a:ext cx="4998720" cy="3113405"/>
          </a:xfrm>
          <a:prstGeom prst="rect">
            <a:avLst/>
          </a:prstGeom>
        </p:spPr>
      </p:pic>
      <p:pic>
        <p:nvPicPr>
          <p:cNvPr id="2097153" name="图片 8"/>
          <p:cNvPicPr>
            <a:picLocks noChangeAspect="1"/>
          </p:cNvPicPr>
          <p:nvPr>
            <p:custDataLst>
              <p:tags r:id="rId3"/>
            </p:custDataLst>
          </p:nvPr>
        </p:nvPicPr>
        <p:blipFill>
          <a:blip r:embed="rId6"/>
          <a:stretch>
            <a:fillRect/>
          </a:stretch>
        </p:blipFill>
        <p:spPr>
          <a:xfrm>
            <a:off x="6234430" y="3429000"/>
            <a:ext cx="5384800" cy="1092200"/>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5" name="标题 1"/>
          <p:cNvSpPr>
            <a:spLocks noGrp="1"/>
          </p:cNvSpPr>
          <p:nvPr>
            <p:ph type="title"/>
          </p:nvPr>
        </p:nvSpPr>
        <p:spPr/>
        <p:txBody>
          <a:bodyPr/>
          <a:lstStyle/>
          <a:p>
            <a:r>
              <a:rPr lang="en-US" altLang="zh-CN"/>
              <a:t>O</a:t>
            </a:r>
            <a:r>
              <a:t>perator </a:t>
            </a:r>
            <a:r>
              <a:rPr lang="en-US" altLang="zh-CN"/>
              <a:t>T</a:t>
            </a:r>
            <a:r>
              <a:t>ype</a:t>
            </a:r>
          </a:p>
        </p:txBody>
      </p:sp>
      <p:sp>
        <p:nvSpPr>
          <p:cNvPr id="1048666" name="页脚占位符 3"/>
          <p:cNvSpPr>
            <a:spLocks noGrp="1"/>
          </p:cNvSpPr>
          <p:nvPr>
            <p:ph type="ftr" sz="quarter" idx="11"/>
          </p:nvPr>
        </p:nvSpPr>
        <p:spPr/>
        <p:txBody>
          <a:bodyPr/>
          <a:lstStyle/>
          <a:p>
            <a:endParaRPr lang="zh-CN" altLang="en-US"/>
          </a:p>
        </p:txBody>
      </p:sp>
      <p:sp>
        <p:nvSpPr>
          <p:cNvPr id="1048673" name="灯片编号占位符 4"/>
          <p:cNvSpPr>
            <a:spLocks noGrp="1"/>
          </p:cNvSpPr>
          <p:nvPr>
            <p:ph type="sldNum" sz="quarter" idx="12"/>
          </p:nvPr>
        </p:nvSpPr>
        <p:spPr/>
        <p:txBody>
          <a:bodyPr/>
          <a:lstStyle/>
          <a:p>
            <a:fld id="{B33F7469-D28B-482F-B1B6-3B8E7CF51519}" type="slidenum">
              <a:rPr lang="zh-CN" altLang="en-US" smtClean="0"/>
              <a:t>6</a:t>
            </a:fld>
            <a:endParaRPr lang="zh-CN" altLang="en-US" dirty="0"/>
          </a:p>
        </p:txBody>
      </p:sp>
      <p:sp>
        <p:nvSpPr>
          <p:cNvPr id="1048668" name="内容占位符 7"/>
          <p:cNvSpPr>
            <a:spLocks noGrp="1"/>
          </p:cNvSpPr>
          <p:nvPr>
            <p:ph sz="quarter" idx="13"/>
            <p:custDataLst>
              <p:tags r:id="rId1"/>
            </p:custDataLst>
          </p:nvPr>
        </p:nvSpPr>
        <p:spPr/>
        <p:txBody>
          <a:bodyPr>
            <a:normAutofit/>
          </a:bodyPr>
          <a:lstStyle/>
          <a:p>
            <a:pPr lvl="0"/>
            <a:r>
              <a:rPr lang="en-US" altLang="en-US"/>
              <a:t>Compute-bound: Operator's computational load far exceeds data read/write operations. Examples include large matrix multiplication or multi-channel convolution. Performance depends mainly on GPU computational power.</a:t>
            </a:r>
            <a:endParaRPr lang="zh-CN" altLang="en-US"/>
          </a:p>
          <a:p>
            <a:pPr>
              <a:lnSpc>
                <a:spcPct val="150000"/>
              </a:lnSpc>
            </a:pPr>
            <a:endParaRPr lang="zh-CN" altLang="en-US"/>
          </a:p>
          <a:p>
            <a:pPr>
              <a:lnSpc>
                <a:spcPct val="150000"/>
              </a:lnSpc>
            </a:pPr>
            <a:endParaRPr lang="zh-CN" altLang="en-US"/>
          </a:p>
          <a:p>
            <a:pPr algn="l"/>
            <a:r>
              <a:rPr lang="en-US" altLang="zh-CN"/>
              <a:t>Memory-bound: </a:t>
            </a:r>
            <a:r>
              <a:rPr lang="en-US" altLang="en-US">
                <a:sym typeface="+mn-ea"/>
              </a:rPr>
              <a:t>Operator's</a:t>
            </a:r>
            <a:r>
              <a:rPr lang="en-US" altLang="zh-CN"/>
              <a:t> read and write </a:t>
            </a:r>
            <a:r>
              <a:rPr lang="en-US" altLang="en-US">
                <a:sym typeface="+mn-ea"/>
              </a:rPr>
              <a:t>operations </a:t>
            </a:r>
            <a:r>
              <a:rPr lang="en-US" altLang="zh-CN"/>
              <a:t>far exceed the computational volume. For example, element-wise operations such as ReLU, Add, BatchNorm, and Dropout. Their performance mainly</a:t>
            </a:r>
            <a:r>
              <a:rPr lang="en-US" altLang="en-US"/>
              <a:t> constrained by the memory bandwidth.</a:t>
            </a:r>
          </a:p>
          <a:p>
            <a:pPr algn="l">
              <a:lnSpc>
                <a:spcPct val="100000"/>
              </a:lnSpc>
              <a:spcBef>
                <a:spcPts val="1500"/>
              </a:spcBef>
              <a:spcAft>
                <a:spcPts val="0"/>
              </a:spcAft>
            </a:pPr>
            <a:endParaRPr lang="en-US" altLang="en-US"/>
          </a:p>
        </p:txBody>
      </p:sp>
      <p:pic>
        <p:nvPicPr>
          <p:cNvPr id="2097154" name="图片 2"/>
          <p:cNvPicPr>
            <a:picLocks noChangeAspect="1"/>
          </p:cNvPicPr>
          <p:nvPr>
            <p:custDataLst>
              <p:tags r:id="rId2"/>
            </p:custDataLst>
          </p:nvPr>
        </p:nvPicPr>
        <p:blipFill>
          <a:blip r:embed="rId7"/>
          <a:stretch>
            <a:fillRect/>
          </a:stretch>
        </p:blipFill>
        <p:spPr>
          <a:xfrm>
            <a:off x="2086610" y="2494915"/>
            <a:ext cx="5179060" cy="1181735"/>
          </a:xfrm>
          <a:prstGeom prst="rect">
            <a:avLst/>
          </a:prstGeom>
        </p:spPr>
      </p:pic>
      <p:pic>
        <p:nvPicPr>
          <p:cNvPr id="2097155" name="图片 6"/>
          <p:cNvPicPr>
            <a:picLocks noChangeAspect="1"/>
          </p:cNvPicPr>
          <p:nvPr>
            <p:custDataLst>
              <p:tags r:id="rId3"/>
            </p:custDataLst>
          </p:nvPr>
        </p:nvPicPr>
        <p:blipFill>
          <a:blip r:embed="rId8"/>
          <a:stretch>
            <a:fillRect/>
          </a:stretch>
        </p:blipFill>
        <p:spPr>
          <a:xfrm>
            <a:off x="1916430" y="5092065"/>
            <a:ext cx="5125085" cy="1085215"/>
          </a:xfrm>
          <a:prstGeom prst="rect">
            <a:avLst/>
          </a:prstGeom>
        </p:spPr>
      </p:pic>
      <p:pic>
        <p:nvPicPr>
          <p:cNvPr id="2097156" name="图片 10"/>
          <p:cNvPicPr>
            <a:picLocks noChangeAspect="1"/>
          </p:cNvPicPr>
          <p:nvPr>
            <p:custDataLst>
              <p:tags r:id="rId4"/>
            </p:custDataLst>
          </p:nvPr>
        </p:nvPicPr>
        <p:blipFill>
          <a:blip r:embed="rId9"/>
          <a:stretch>
            <a:fillRect/>
          </a:stretch>
        </p:blipFill>
        <p:spPr>
          <a:xfrm>
            <a:off x="7635875" y="2722245"/>
            <a:ext cx="1537335" cy="855345"/>
          </a:xfrm>
          <a:prstGeom prst="rect">
            <a:avLst/>
          </a:prstGeom>
        </p:spPr>
      </p:pic>
      <p:pic>
        <p:nvPicPr>
          <p:cNvPr id="2097157" name="图片 12"/>
          <p:cNvPicPr>
            <a:picLocks noChangeAspect="1"/>
          </p:cNvPicPr>
          <p:nvPr>
            <p:custDataLst>
              <p:tags r:id="rId5"/>
            </p:custDataLst>
          </p:nvPr>
        </p:nvPicPr>
        <p:blipFill>
          <a:blip r:embed="rId9"/>
          <a:stretch>
            <a:fillRect/>
          </a:stretch>
        </p:blipFill>
        <p:spPr>
          <a:xfrm>
            <a:off x="7767320" y="5259705"/>
            <a:ext cx="1649095" cy="917575"/>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9" name="内容占位符 1"/>
          <p:cNvSpPr>
            <a:spLocks noGrp="1"/>
          </p:cNvSpPr>
          <p:nvPr>
            <p:ph sz="quarter" idx="10"/>
          </p:nvPr>
        </p:nvSpPr>
        <p:spPr/>
        <p:txBody>
          <a:bodyPr/>
          <a:lstStyle/>
          <a:p>
            <a:r>
              <a:rPr lang="zh-CN" altLang="en-US"/>
              <a:t>Basic Analysis of Operator Optimization</a:t>
            </a:r>
          </a:p>
          <a:p>
            <a:r>
              <a:rPr lang="en-US" altLang="zh-CN"/>
              <a:t>Element-wise and Reduction operations</a:t>
            </a:r>
          </a:p>
        </p:txBody>
      </p:sp>
      <p:sp>
        <p:nvSpPr>
          <p:cNvPr id="1048670" name="内容占位符 2"/>
          <p:cNvSpPr>
            <a:spLocks noGrp="1"/>
          </p:cNvSpPr>
          <p:nvPr>
            <p:ph sz="quarter" idx="11"/>
          </p:nvPr>
        </p:nvSpPr>
        <p:spPr/>
        <p:txBody>
          <a:bodyPr/>
          <a:lstStyle/>
          <a:p>
            <a:r>
              <a:rPr lang="x-none" altLang="zh-CN"/>
              <a:t>Outline</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1" name="标题 1"/>
          <p:cNvSpPr>
            <a:spLocks noGrp="1"/>
          </p:cNvSpPr>
          <p:nvPr>
            <p:ph type="title"/>
          </p:nvPr>
        </p:nvSpPr>
        <p:spPr/>
        <p:txBody>
          <a:bodyPr/>
          <a:lstStyle/>
          <a:p>
            <a:r>
              <a:rPr lang="zh-CN" altLang="en-US"/>
              <a:t>Element-wise</a:t>
            </a:r>
          </a:p>
        </p:txBody>
      </p:sp>
      <p:sp>
        <p:nvSpPr>
          <p:cNvPr id="1048672" name="页脚占位符 3"/>
          <p:cNvSpPr>
            <a:spLocks noGrp="1"/>
          </p:cNvSpPr>
          <p:nvPr>
            <p:ph type="ftr" sz="quarter" idx="11"/>
          </p:nvPr>
        </p:nvSpPr>
        <p:spPr/>
        <p:txBody>
          <a:bodyPr/>
          <a:lstStyle/>
          <a:p>
            <a:endParaRPr lang="zh-CN" altLang="en-US"/>
          </a:p>
        </p:txBody>
      </p:sp>
      <p:sp>
        <p:nvSpPr>
          <p:cNvPr id="1048673" name="灯片编号占位符 4"/>
          <p:cNvSpPr>
            <a:spLocks noGrp="1"/>
          </p:cNvSpPr>
          <p:nvPr>
            <p:ph type="sldNum" sz="quarter" idx="12"/>
          </p:nvPr>
        </p:nvSpPr>
        <p:spPr/>
        <p:txBody>
          <a:bodyPr/>
          <a:lstStyle/>
          <a:p>
            <a:r>
              <a:rPr lang="en-US" altLang="zh-CN" dirty="0"/>
              <a:t>7</a:t>
            </a:r>
            <a:endParaRPr lang="zh-CN" altLang="en-US" dirty="0"/>
          </a:p>
        </p:txBody>
      </p:sp>
      <p:sp>
        <p:nvSpPr>
          <p:cNvPr id="3" name="内容占位符 2"/>
          <p:cNvSpPr>
            <a:spLocks noGrp="1"/>
          </p:cNvSpPr>
          <p:nvPr>
            <p:ph sz="quarter" idx="13"/>
          </p:nvPr>
        </p:nvSpPr>
        <p:spPr/>
        <p:txBody>
          <a:bodyPr/>
          <a:lstStyle/>
          <a:p>
            <a:pPr marL="0" indent="0">
              <a:buNone/>
            </a:pPr>
            <a:endParaRPr lang="zh-CN" altLang="en-US"/>
          </a:p>
        </p:txBody>
      </p:sp>
      <p:pic>
        <p:nvPicPr>
          <p:cNvPr id="2097159" name="图片 6"/>
          <p:cNvPicPr>
            <a:picLocks noChangeAspect="1"/>
          </p:cNvPicPr>
          <p:nvPr>
            <p:custDataLst>
              <p:tags r:id="rId1"/>
            </p:custDataLst>
          </p:nvPr>
        </p:nvPicPr>
        <p:blipFill>
          <a:blip r:embed="rId6"/>
          <a:stretch>
            <a:fillRect/>
          </a:stretch>
        </p:blipFill>
        <p:spPr>
          <a:xfrm>
            <a:off x="5255260" y="4222115"/>
            <a:ext cx="5391150" cy="1545590"/>
          </a:xfrm>
          <a:prstGeom prst="rect">
            <a:avLst/>
          </a:prstGeom>
        </p:spPr>
      </p:pic>
      <p:sp>
        <p:nvSpPr>
          <p:cNvPr id="1048674" name="内容占位符 2"/>
          <p:cNvSpPr>
            <a:spLocks noGrp="1"/>
          </p:cNvSpPr>
          <p:nvPr>
            <p:custDataLst>
              <p:tags r:id="rId2"/>
            </p:custDataLst>
          </p:nvPr>
        </p:nvSpPr>
        <p:spPr>
          <a:xfrm>
            <a:off x="5027930" y="2449830"/>
            <a:ext cx="6447790" cy="1343660"/>
          </a:xfrm>
          <a:prstGeom prst="rect">
            <a:avLst/>
          </a:prstGeom>
        </p:spPr>
        <p:txBody>
          <a:bodyPr vert="horz" lIns="91440" tIns="45720" rIns="91440" bIns="45720" rtlCol="0" anchor="t">
            <a:noAutofit/>
          </a:bodyPr>
          <a:lst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a:lstStyle>
          <a:p>
            <a:pPr>
              <a:buClr>
                <a:srgbClr val="D9D9D9"/>
              </a:buClr>
            </a:pPr>
            <a:r>
              <a:rPr lang="zh-CN" altLang="en-US" sz="2000">
                <a:sym typeface="+mn-ea"/>
              </a:rPr>
              <a:t>Parallelism: Since there are no dependencies between each computational branch f(x), it can be distributed across thousands of threads for concurrent execution.</a:t>
            </a:r>
          </a:p>
          <a:p>
            <a:pPr>
              <a:buClr>
                <a:srgbClr val="D9D9D9"/>
              </a:buClr>
            </a:pPr>
            <a:r>
              <a:rPr lang="zh-CN" altLang="en-US" sz="2000">
                <a:sym typeface="+mn-ea"/>
              </a:rPr>
              <a:t>GPU Friendly: Perfect Match for SIMD Execution Model</a:t>
            </a:r>
          </a:p>
        </p:txBody>
      </p:sp>
      <p:sp>
        <p:nvSpPr>
          <p:cNvPr id="1048675" name="内容占位符 2"/>
          <p:cNvSpPr>
            <a:spLocks noGrp="1"/>
          </p:cNvSpPr>
          <p:nvPr>
            <p:custDataLst>
              <p:tags r:id="rId3"/>
            </p:custDataLst>
          </p:nvPr>
        </p:nvSpPr>
        <p:spPr>
          <a:xfrm>
            <a:off x="977900" y="1378585"/>
            <a:ext cx="9987915" cy="502285"/>
          </a:xfrm>
          <a:prstGeom prst="rect">
            <a:avLst/>
          </a:prstGeom>
        </p:spPr>
        <p:txBody>
          <a:bodyPr vert="horz" lIns="91440" tIns="45720" rIns="91440" bIns="45720" rtlCol="0" anchor="t">
            <a:noAutofit/>
          </a:bodyPr>
          <a:lst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a:lstStyle>
          <a:p>
            <a:r>
              <a:rPr lang="zh-CN" altLang="en-US">
                <a:sym typeface="+mn-ea"/>
              </a:rPr>
              <a:t>Core logic: Apply the same transformation independently to each element in the set without interference between elements</a:t>
            </a:r>
            <a:endParaRPr lang="zh-CN" altLang="en-US" b="1" u="sng">
              <a:sym typeface="+mn-ea"/>
            </a:endParaRPr>
          </a:p>
        </p:txBody>
      </p:sp>
      <p:pic>
        <p:nvPicPr>
          <p:cNvPr id="2" name="内容占位符 5"/>
          <p:cNvPicPr>
            <a:picLocks noChangeAspect="1"/>
          </p:cNvPicPr>
          <p:nvPr>
            <p:custDataLst>
              <p:tags r:id="rId4"/>
            </p:custDataLst>
          </p:nvPr>
        </p:nvPicPr>
        <p:blipFill>
          <a:blip r:embed="rId7"/>
          <a:stretch>
            <a:fillRect/>
          </a:stretch>
        </p:blipFill>
        <p:spPr>
          <a:xfrm>
            <a:off x="1184275" y="2327275"/>
            <a:ext cx="3491230" cy="3513455"/>
          </a:xfrm>
          <a:prstGeom prst="rect">
            <a:avLst/>
          </a:prstGeom>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6" name="标题 1"/>
          <p:cNvSpPr>
            <a:spLocks noGrp="1"/>
          </p:cNvSpPr>
          <p:nvPr>
            <p:ph type="title"/>
          </p:nvPr>
        </p:nvSpPr>
        <p:spPr/>
        <p:txBody>
          <a:bodyPr/>
          <a:lstStyle/>
          <a:p>
            <a:r>
              <a:rPr lang="zh-CN" altLang="en-US"/>
              <a:t>Reduction</a:t>
            </a:r>
          </a:p>
        </p:txBody>
      </p:sp>
      <p:sp>
        <p:nvSpPr>
          <p:cNvPr id="1048677" name="页脚占位符 3"/>
          <p:cNvSpPr>
            <a:spLocks noGrp="1"/>
          </p:cNvSpPr>
          <p:nvPr>
            <p:ph type="ftr" sz="quarter" idx="11"/>
          </p:nvPr>
        </p:nvSpPr>
        <p:spPr/>
        <p:txBody>
          <a:bodyPr/>
          <a:lstStyle/>
          <a:p>
            <a:endParaRPr lang="zh-CN" altLang="en-US"/>
          </a:p>
        </p:txBody>
      </p:sp>
      <p:sp>
        <p:nvSpPr>
          <p:cNvPr id="1048678" name="灯片编号占位符 4"/>
          <p:cNvSpPr>
            <a:spLocks noGrp="1"/>
          </p:cNvSpPr>
          <p:nvPr>
            <p:ph type="sldNum" sz="quarter" idx="12"/>
          </p:nvPr>
        </p:nvSpPr>
        <p:spPr/>
        <p:txBody>
          <a:bodyPr/>
          <a:lstStyle/>
          <a:p>
            <a:r>
              <a:rPr lang="en-US" altLang="zh-CN" dirty="0"/>
              <a:t>8</a:t>
            </a:r>
            <a:endParaRPr lang="zh-CN" altLang="en-US" dirty="0"/>
          </a:p>
        </p:txBody>
      </p:sp>
      <p:pic>
        <p:nvPicPr>
          <p:cNvPr id="2097160" name="图片 5"/>
          <p:cNvPicPr>
            <a:picLocks noChangeAspect="1"/>
          </p:cNvPicPr>
          <p:nvPr>
            <p:custDataLst>
              <p:tags r:id="rId1"/>
            </p:custDataLst>
          </p:nvPr>
        </p:nvPicPr>
        <p:blipFill>
          <a:blip r:embed="rId4"/>
          <a:stretch>
            <a:fillRect/>
          </a:stretch>
        </p:blipFill>
        <p:spPr>
          <a:xfrm>
            <a:off x="1285240" y="3256915"/>
            <a:ext cx="6134735" cy="2855595"/>
          </a:xfrm>
          <a:prstGeom prst="rect">
            <a:avLst/>
          </a:prstGeom>
        </p:spPr>
      </p:pic>
      <p:sp>
        <p:nvSpPr>
          <p:cNvPr id="1048679" name="内容占位符 2"/>
          <p:cNvSpPr>
            <a:spLocks noGrp="1"/>
          </p:cNvSpPr>
          <p:nvPr>
            <p:custDataLst>
              <p:tags r:id="rId2"/>
            </p:custDataLst>
          </p:nvPr>
        </p:nvSpPr>
        <p:spPr>
          <a:xfrm>
            <a:off x="800100" y="1216660"/>
            <a:ext cx="10725150" cy="1572260"/>
          </a:xfrm>
          <a:prstGeom prst="rect">
            <a:avLst/>
          </a:prstGeom>
        </p:spPr>
        <p:txBody>
          <a:bodyPr vert="horz" lIns="91440" tIns="45720" rIns="91440" bIns="45720" rtlCol="0" anchor="t">
            <a:noAutofit/>
          </a:bodyPr>
          <a:lst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a:lstStyle>
          <a:p>
            <a:pPr>
              <a:lnSpc>
                <a:spcPct val="100000"/>
              </a:lnSpc>
            </a:pPr>
            <a:r>
              <a:rPr lang="zh-CN" altLang="en-US">
                <a:sym typeface="+mn-ea"/>
              </a:rPr>
              <a:t>Core logic: Combines multiple elements of a sequence into fewer results through a binary operation (e.g., Max)</a:t>
            </a:r>
          </a:p>
          <a:p>
            <a:pPr>
              <a:lnSpc>
                <a:spcPct val="100000"/>
              </a:lnSpc>
            </a:pPr>
            <a:r>
              <a:rPr lang="zh-CN" altLang="en-US">
                <a:sym typeface="+mn-ea"/>
              </a:rPr>
              <a:t>Data flow: Each elements calculation depends on the cumulative result of the previous element</a:t>
            </a:r>
            <a:endParaRPr lang="zh-CN" altLang="en-US" b="1">
              <a:sym typeface="+mn-ea"/>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0" name="标题 1"/>
          <p:cNvSpPr>
            <a:spLocks noGrp="1"/>
          </p:cNvSpPr>
          <p:nvPr>
            <p:ph type="title"/>
          </p:nvPr>
        </p:nvSpPr>
        <p:spPr/>
        <p:txBody>
          <a:bodyPr/>
          <a:lstStyle/>
          <a:p>
            <a:r>
              <a:rPr lang="en-US" altLang="zh-CN"/>
              <a:t>Element-wise vs Reduction</a:t>
            </a:r>
          </a:p>
        </p:txBody>
      </p:sp>
      <p:sp>
        <p:nvSpPr>
          <p:cNvPr id="1048681" name="页脚占位符 3"/>
          <p:cNvSpPr>
            <a:spLocks noGrp="1"/>
          </p:cNvSpPr>
          <p:nvPr>
            <p:ph type="ftr" sz="quarter" idx="11"/>
          </p:nvPr>
        </p:nvSpPr>
        <p:spPr/>
        <p:txBody>
          <a:bodyPr/>
          <a:lstStyle/>
          <a:p>
            <a:endParaRPr lang="zh-CN" altLang="en-US"/>
          </a:p>
        </p:txBody>
      </p:sp>
      <p:sp>
        <p:nvSpPr>
          <p:cNvPr id="1048682" name="灯片编号占位符 4"/>
          <p:cNvSpPr>
            <a:spLocks noGrp="1"/>
          </p:cNvSpPr>
          <p:nvPr>
            <p:ph type="sldNum" sz="quarter" idx="12"/>
          </p:nvPr>
        </p:nvSpPr>
        <p:spPr/>
        <p:txBody>
          <a:bodyPr/>
          <a:lstStyle/>
          <a:p>
            <a:r>
              <a:rPr lang="en-US" altLang="zh-CN" dirty="0"/>
              <a:t>9</a:t>
            </a:r>
            <a:endParaRPr lang="zh-CN" altLang="en-US" dirty="0"/>
          </a:p>
        </p:txBody>
      </p:sp>
      <p:sp>
        <p:nvSpPr>
          <p:cNvPr id="1048683" name="内容占位符 2"/>
          <p:cNvSpPr>
            <a:spLocks noGrp="1"/>
          </p:cNvSpPr>
          <p:nvPr>
            <p:custDataLst>
              <p:tags r:id="rId1"/>
            </p:custDataLst>
          </p:nvPr>
        </p:nvSpPr>
        <p:spPr>
          <a:xfrm>
            <a:off x="859155" y="1299210"/>
            <a:ext cx="10725150" cy="1106805"/>
          </a:xfrm>
          <a:prstGeom prst="rect">
            <a:avLst/>
          </a:prstGeom>
        </p:spPr>
        <p:txBody>
          <a:bodyPr vert="horz" lIns="91440" tIns="45720" rIns="91440" bIns="45720" rtlCol="0" anchor="t">
            <a:normAutofit/>
          </a:bodyPr>
          <a:lst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a:lstStyle>
          <a:p>
            <a:pPr>
              <a:lnSpc>
                <a:spcPct val="100000"/>
              </a:lnSpc>
            </a:pPr>
            <a:r>
              <a:rPr lang="en-US" altLang="en-US" sz="2400">
                <a:sym typeface="+mn-ea"/>
              </a:rPr>
              <a:t>Core Difference Comparison</a:t>
            </a:r>
          </a:p>
        </p:txBody>
      </p:sp>
      <p:graphicFrame>
        <p:nvGraphicFramePr>
          <p:cNvPr id="4194304" name="表格 9"/>
          <p:cNvGraphicFramePr/>
          <p:nvPr>
            <p:custDataLst>
              <p:tags r:id="rId2"/>
            </p:custDataLst>
          </p:nvPr>
        </p:nvGraphicFramePr>
        <p:xfrm>
          <a:off x="605790" y="2123440"/>
          <a:ext cx="11195685" cy="3753485"/>
        </p:xfrm>
        <a:graphic>
          <a:graphicData uri="http://schemas.openxmlformats.org/drawingml/2006/table">
            <a:tbl>
              <a:tblPr firstRow="1" bandRow="1">
                <a:tableStyleId>{3B4B98B0-60AC-42C2-AFA5-B58CD77FA1E5}</a:tableStyleId>
              </a:tblPr>
              <a:tblGrid>
                <a:gridCol w="1883410">
                  <a:extLst>
                    <a:ext uri="{9D8B030D-6E8A-4147-A177-3AD203B41FA5}">
                      <a16:colId xmlns:a16="http://schemas.microsoft.com/office/drawing/2014/main" val="20000"/>
                    </a:ext>
                  </a:extLst>
                </a:gridCol>
                <a:gridCol w="3315970">
                  <a:extLst>
                    <a:ext uri="{9D8B030D-6E8A-4147-A177-3AD203B41FA5}">
                      <a16:colId xmlns:a16="http://schemas.microsoft.com/office/drawing/2014/main" val="20001"/>
                    </a:ext>
                  </a:extLst>
                </a:gridCol>
                <a:gridCol w="5996305">
                  <a:extLst>
                    <a:ext uri="{9D8B030D-6E8A-4147-A177-3AD203B41FA5}">
                      <a16:colId xmlns:a16="http://schemas.microsoft.com/office/drawing/2014/main" val="20002"/>
                    </a:ext>
                  </a:extLst>
                </a:gridCol>
              </a:tblGrid>
              <a:tr h="711200">
                <a:tc>
                  <a:txBody>
                    <a:bodyPr/>
                    <a:lstStyle/>
                    <a:p>
                      <a:pPr algn="ctr">
                        <a:buClrTx/>
                        <a:buSzTx/>
                        <a:buFontTx/>
                        <a:buNone/>
                      </a:pPr>
                      <a:r>
                        <a:rPr lang="en-US" altLang="zh-CN" sz="1600">
                          <a:latin typeface="微软雅黑" panose="020B0503020204020204" charset="-122"/>
                          <a:ea typeface="微软雅黑" panose="020B0503020204020204" charset="-122"/>
                        </a:rPr>
                        <a:t>characteristic</a:t>
                      </a:r>
                    </a:p>
                  </a:txBody>
                  <a:tcPr marL="12700" marR="12700" marT="12700" anchor="ctr">
                    <a:solidFill>
                      <a:schemeClr val="bg1"/>
                    </a:solidFill>
                  </a:tcPr>
                </a:tc>
                <a:tc>
                  <a:txBody>
                    <a:bodyPr/>
                    <a:lstStyle/>
                    <a:p>
                      <a:pPr algn="ctr">
                        <a:buClrTx/>
                        <a:buSzTx/>
                        <a:buFontTx/>
                        <a:buNone/>
                      </a:pPr>
                      <a:r>
                        <a:rPr lang="en-US" altLang="zh-CN" sz="1600">
                          <a:latin typeface="微软雅黑" panose="020B0503020204020204" charset="-122"/>
                          <a:ea typeface="微软雅黑" panose="020B0503020204020204" charset="-122"/>
                          <a:cs typeface="微软雅黑" panose="020B0503020204020204" charset="-122"/>
                        </a:rPr>
                        <a:t>Element-wise</a:t>
                      </a:r>
                    </a:p>
                  </a:txBody>
                  <a:tcPr marL="12700" marR="12700" marT="12700" anchor="ctr"/>
                </a:tc>
                <a:tc>
                  <a:txBody>
                    <a:bodyPr/>
                    <a:lstStyle/>
                    <a:p>
                      <a:pPr algn="ctr">
                        <a:buClrTx/>
                        <a:buSzTx/>
                        <a:buFontTx/>
                        <a:buNone/>
                      </a:pPr>
                      <a:r>
                        <a:rPr lang="en-US" altLang="zh-CN" sz="1600">
                          <a:latin typeface="微软雅黑" panose="020B0503020204020204" charset="-122"/>
                          <a:ea typeface="微软雅黑" panose="020B0503020204020204" charset="-122"/>
                          <a:cs typeface="微软雅黑" panose="020B0503020204020204" charset="-122"/>
                        </a:rPr>
                        <a:t>Reduce (Tree)</a:t>
                      </a:r>
                    </a:p>
                  </a:txBody>
                  <a:tcPr marL="12700" marR="12700" marT="12700" anchor="ctr"/>
                </a:tc>
                <a:extLst>
                  <a:ext uri="{0D108BD9-81ED-4DB2-BD59-A6C34878D82A}">
                    <a16:rowId xmlns:a16="http://schemas.microsoft.com/office/drawing/2014/main" val="10000"/>
                  </a:ext>
                </a:extLst>
              </a:tr>
              <a:tr h="712470">
                <a:tc>
                  <a:txBody>
                    <a:bodyPr/>
                    <a:lstStyle/>
                    <a:p>
                      <a:pPr algn="ctr">
                        <a:buClrTx/>
                        <a:buSzTx/>
                        <a:buFontTx/>
                        <a:buNone/>
                      </a:pPr>
                      <a:r>
                        <a:rPr lang="en-US" altLang="zh-CN" sz="1600">
                          <a:latin typeface="微软雅黑" panose="020B0503020204020204" charset="-122"/>
                          <a:ea typeface="微软雅黑" panose="020B0503020204020204" charset="-122"/>
                        </a:rPr>
                        <a:t>Calculation mode</a:t>
                      </a:r>
                    </a:p>
                  </a:txBody>
                  <a:tcPr marL="12700" marR="12700" marT="12700" anchor="ctr">
                    <a:solidFill>
                      <a:schemeClr val="bg1"/>
                    </a:solidFill>
                  </a:tcPr>
                </a:tc>
                <a:tc>
                  <a:txBody>
                    <a:bodyPr/>
                    <a:lstStyle/>
                    <a:p>
                      <a:pPr algn="ctr">
                        <a:buClrTx/>
                        <a:buSzTx/>
                        <a:buFontTx/>
                        <a:buNone/>
                      </a:pPr>
                      <a:r>
                        <a:rPr lang="en-US" altLang="zh-CN" sz="1600">
                          <a:latin typeface="微软雅黑" panose="020B0503020204020204" charset="-122"/>
                          <a:ea typeface="微软雅黑" panose="020B0503020204020204" charset="-122"/>
                        </a:rPr>
                        <a:t>N ----&gt; N</a:t>
                      </a:r>
                    </a:p>
                  </a:txBody>
                  <a:tcPr marL="12700" marR="12700" marT="12700" anchor="ctr"/>
                </a:tc>
                <a:tc>
                  <a:txBody>
                    <a:bodyPr/>
                    <a:lstStyle/>
                    <a:p>
                      <a:pPr algn="ctr">
                        <a:buClrTx/>
                        <a:buSzTx/>
                        <a:buFontTx/>
                        <a:buNone/>
                      </a:pPr>
                      <a:r>
                        <a:rPr lang="en-US" altLang="zh-CN" sz="1600">
                          <a:latin typeface="微软雅黑" panose="020B0503020204020204" charset="-122"/>
                          <a:ea typeface="微软雅黑" panose="020B0503020204020204" charset="-122"/>
                        </a:rPr>
                        <a:t>N ----&gt; 1</a:t>
                      </a:r>
                    </a:p>
                  </a:txBody>
                  <a:tcPr marL="12700" marR="12700" marT="12700" anchor="ctr"/>
                </a:tc>
                <a:extLst>
                  <a:ext uri="{0D108BD9-81ED-4DB2-BD59-A6C34878D82A}">
                    <a16:rowId xmlns:a16="http://schemas.microsoft.com/office/drawing/2014/main" val="10001"/>
                  </a:ext>
                </a:extLst>
              </a:tr>
              <a:tr h="906145">
                <a:tc>
                  <a:txBody>
                    <a:bodyPr/>
                    <a:lstStyle/>
                    <a:p>
                      <a:pPr algn="ctr">
                        <a:buClrTx/>
                        <a:buSzTx/>
                        <a:buFontTx/>
                        <a:buNone/>
                      </a:pPr>
                      <a:r>
                        <a:rPr lang="en-US" altLang="zh-CN" sz="1600">
                          <a:latin typeface="微软雅黑" panose="020B0503020204020204" charset="-122"/>
                          <a:ea typeface="微软雅黑" panose="020B0503020204020204" charset="-122"/>
                        </a:rPr>
                        <a:t>Thread communication</a:t>
                      </a:r>
                    </a:p>
                  </a:txBody>
                  <a:tcPr marL="12700" marR="12700" marT="12700" anchor="ctr">
                    <a:solidFill>
                      <a:schemeClr val="bg1"/>
                    </a:solidFill>
                  </a:tcPr>
                </a:tc>
                <a:tc>
                  <a:txBody>
                    <a:bodyPr/>
                    <a:lstStyle/>
                    <a:p>
                      <a:pPr algn="ctr">
                        <a:buClrTx/>
                        <a:buSzTx/>
                        <a:buFontTx/>
                        <a:buNone/>
                      </a:pPr>
                      <a:r>
                        <a:rPr lang="en-US" altLang="zh-CN" sz="1600">
                          <a:latin typeface="微软雅黑" panose="020B0503020204020204" charset="-122"/>
                          <a:ea typeface="微软雅黑" panose="020B0503020204020204" charset="-122"/>
                        </a:rPr>
                        <a:t>Threads are completely independent</a:t>
                      </a:r>
                    </a:p>
                  </a:txBody>
                  <a:tcPr marL="12700" marR="12700" marT="12700" anchor="ctr"/>
                </a:tc>
                <a:tc>
                  <a:txBody>
                    <a:bodyPr/>
                    <a:lstStyle/>
                    <a:p>
                      <a:pPr algn="ctr">
                        <a:buClrTx/>
                        <a:buSzTx/>
                        <a:buFontTx/>
                        <a:buNone/>
                      </a:pPr>
                      <a:r>
                        <a:rPr lang="en-US" altLang="zh-CN" sz="1600">
                          <a:latin typeface="微软雅黑" panose="020B0503020204020204" charset="-122"/>
                          <a:ea typeface="微软雅黑" panose="020B0503020204020204" charset="-122"/>
                          <a:cs typeface="微软雅黑" panose="020B0503020204020204" charset="-122"/>
                        </a:rPr>
                        <a:t>Data must be exchanged through Shuffle or Shared Memory</a:t>
                      </a:r>
                    </a:p>
                  </a:txBody>
                  <a:tcPr marL="12700" marR="12700" marT="12700" anchor="ctr"/>
                </a:tc>
                <a:extLst>
                  <a:ext uri="{0D108BD9-81ED-4DB2-BD59-A6C34878D82A}">
                    <a16:rowId xmlns:a16="http://schemas.microsoft.com/office/drawing/2014/main" val="10002"/>
                  </a:ext>
                </a:extLst>
              </a:tr>
              <a:tr h="712470">
                <a:tc>
                  <a:txBody>
                    <a:bodyPr/>
                    <a:lstStyle/>
                    <a:p>
                      <a:pPr algn="ctr">
                        <a:buClrTx/>
                        <a:buSzTx/>
                        <a:buFontTx/>
                        <a:buNone/>
                      </a:pPr>
                      <a:r>
                        <a:rPr lang="en-US" altLang="zh-CN" sz="1600">
                          <a:latin typeface="微软雅黑" panose="020B0503020204020204" charset="-122"/>
                          <a:ea typeface="微软雅黑" panose="020B0503020204020204" charset="-122"/>
                          <a:cs typeface="微软雅黑" panose="020B0503020204020204" charset="-122"/>
                        </a:rPr>
                        <a:t>Triton function</a:t>
                      </a:r>
                    </a:p>
                  </a:txBody>
                  <a:tcPr marL="12700" marR="12700" marT="12700" anchor="ctr">
                    <a:solidFill>
                      <a:schemeClr val="bg1"/>
                    </a:solidFill>
                  </a:tcPr>
                </a:tc>
                <a:tc>
                  <a:txBody>
                    <a:bodyPr/>
                    <a:lstStyle/>
                    <a:p>
                      <a:pPr algn="ctr">
                        <a:buClrTx/>
                        <a:buSzTx/>
                        <a:buFontTx/>
                        <a:buNone/>
                      </a:pPr>
                      <a:r>
                        <a:rPr lang="en-US" altLang="zh-CN" sz="1600">
                          <a:latin typeface="微软雅黑" panose="020B0503020204020204" charset="-122"/>
                          <a:ea typeface="微软雅黑" panose="020B0503020204020204" charset="-122"/>
                          <a:cs typeface="微软雅黑" panose="020B0503020204020204" charset="-122"/>
                        </a:rPr>
                        <a:t>Standard operators (+, -, *)</a:t>
                      </a:r>
                    </a:p>
                  </a:txBody>
                  <a:tcPr marL="12700" marR="12700" marT="12700" anchor="ctr"/>
                </a:tc>
                <a:tc>
                  <a:txBody>
                    <a:bodyPr/>
                    <a:lstStyle/>
                    <a:p>
                      <a:pPr algn="ctr">
                        <a:buClrTx/>
                        <a:buSzTx/>
                        <a:buFontTx/>
                        <a:buNone/>
                      </a:pPr>
                      <a:r>
                        <a:rPr lang="en-US" altLang="zh-CN" sz="1600">
                          <a:latin typeface="微软雅黑" panose="020B0503020204020204" charset="-122"/>
                          <a:ea typeface="微软雅黑" panose="020B0503020204020204" charset="-122"/>
                        </a:rPr>
                        <a:t>tl.sum, tl.max, tl.reduce</a:t>
                      </a:r>
                    </a:p>
                  </a:txBody>
                  <a:tcPr marL="12700" marR="12700" marT="12700" anchor="ctr"/>
                </a:tc>
                <a:extLst>
                  <a:ext uri="{0D108BD9-81ED-4DB2-BD59-A6C34878D82A}">
                    <a16:rowId xmlns:a16="http://schemas.microsoft.com/office/drawing/2014/main" val="10003"/>
                  </a:ext>
                </a:extLst>
              </a:tr>
              <a:tr h="711200">
                <a:tc>
                  <a:txBody>
                    <a:bodyPr/>
                    <a:lstStyle/>
                    <a:p>
                      <a:pPr algn="ctr">
                        <a:buClrTx/>
                        <a:buSzTx/>
                        <a:buFontTx/>
                        <a:buNone/>
                      </a:pPr>
                      <a:r>
                        <a:rPr lang="en-US" altLang="zh-CN" sz="1600">
                          <a:latin typeface="微软雅黑" panose="020B0503020204020204" charset="-122"/>
                          <a:ea typeface="微软雅黑" panose="020B0503020204020204" charset="-122"/>
                        </a:rPr>
                        <a:t>typical algorithm</a:t>
                      </a:r>
                    </a:p>
                  </a:txBody>
                  <a:tcPr marL="12700" marR="12700" marT="12700" anchor="ctr">
                    <a:solidFill>
                      <a:schemeClr val="bg1"/>
                    </a:solidFill>
                  </a:tcPr>
                </a:tc>
                <a:tc>
                  <a:txBody>
                    <a:bodyPr/>
                    <a:lstStyle/>
                    <a:p>
                      <a:pPr algn="ctr">
                        <a:buClrTx/>
                        <a:buSzTx/>
                        <a:buFontTx/>
                        <a:buNone/>
                      </a:pPr>
                      <a:r>
                        <a:rPr lang="en-US" altLang="zh-CN" sz="1600">
                          <a:latin typeface="微软雅黑" panose="020B0503020204020204" charset="-122"/>
                          <a:ea typeface="微软雅黑" panose="020B0503020204020204" charset="-122"/>
                        </a:rPr>
                        <a:t>ReLU, Vector Add, Dropout</a:t>
                      </a:r>
                    </a:p>
                  </a:txBody>
                  <a:tcPr marL="12700" marR="12700" marT="12700" anchor="ctr"/>
                </a:tc>
                <a:tc>
                  <a:txBody>
                    <a:bodyPr/>
                    <a:lstStyle/>
                    <a:p>
                      <a:pPr algn="ctr">
                        <a:buClrTx/>
                        <a:buSzTx/>
                        <a:buFontTx/>
                        <a:buNone/>
                      </a:pPr>
                      <a:r>
                        <a:rPr lang="en-US" altLang="zh-CN" sz="1600">
                          <a:latin typeface="微软雅黑" panose="020B0503020204020204" charset="-122"/>
                          <a:ea typeface="微软雅黑" panose="020B0503020204020204" charset="-122"/>
                        </a:rPr>
                        <a:t>LayerNorm, Softmax, Dot Product</a:t>
                      </a:r>
                    </a:p>
                  </a:txBody>
                  <a:tcPr marL="12700" marR="12700" marT="12700" anchor="ctr"/>
                </a:tc>
                <a:extLst>
                  <a:ext uri="{0D108BD9-81ED-4DB2-BD59-A6C34878D82A}">
                    <a16:rowId xmlns:a16="http://schemas.microsoft.com/office/drawing/2014/main" val="10004"/>
                  </a:ext>
                </a:extLst>
              </a:tr>
            </a:tbl>
          </a:graphicData>
        </a:graphic>
      </p:graphicFrame>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4" name="标题 1"/>
          <p:cNvSpPr>
            <a:spLocks noGrp="1"/>
          </p:cNvSpPr>
          <p:nvPr>
            <p:ph type="title"/>
          </p:nvPr>
        </p:nvSpPr>
        <p:spPr/>
        <p:txBody>
          <a:bodyPr/>
          <a:lstStyle/>
          <a:p>
            <a:r>
              <a:t>Review: GPU Memory Hierarchy</a:t>
            </a:r>
          </a:p>
        </p:txBody>
      </p:sp>
      <p:sp>
        <p:nvSpPr>
          <p:cNvPr id="1048685" name="灯片编号占位符 4"/>
          <p:cNvSpPr>
            <a:spLocks noGrp="1"/>
          </p:cNvSpPr>
          <p:nvPr>
            <p:ph type="sldNum" sz="quarter" idx="12"/>
          </p:nvPr>
        </p:nvSpPr>
        <p:spPr/>
        <p:txBody>
          <a:bodyPr/>
          <a:lstStyle/>
          <a:p>
            <a:r>
              <a:rPr lang="en-US" altLang="zh-CN" dirty="0"/>
              <a:t>10</a:t>
            </a:r>
            <a:endParaRPr lang="zh-CN" altLang="en-US" dirty="0"/>
          </a:p>
        </p:txBody>
      </p:sp>
      <p:sp>
        <p:nvSpPr>
          <p:cNvPr id="1048686" name="内容占位符 2"/>
          <p:cNvSpPr>
            <a:spLocks noGrp="1"/>
          </p:cNvSpPr>
          <p:nvPr>
            <p:ph sz="quarter" idx="13"/>
          </p:nvPr>
        </p:nvSpPr>
        <p:spPr/>
        <p:txBody>
          <a:bodyPr>
            <a:normAutofit/>
          </a:bodyPr>
          <a:lstStyle/>
          <a:p>
            <a:r>
              <a:rPr lang="zh-CN" altLang="en-US"/>
              <a:t>Thread level: Threads are organized into Blocks, which are assigned to the SM for execution.</a:t>
            </a:r>
          </a:p>
          <a:p>
            <a:r>
              <a:rPr lang="zh-CN" altLang="en-US"/>
              <a:t>Memory visibility: Global Memory is visible to all threads, while Shared Memory is visible only to threads within the same Block.</a:t>
            </a:r>
          </a:p>
        </p:txBody>
      </p:sp>
      <p:pic>
        <p:nvPicPr>
          <p:cNvPr id="2097161" name="图片 9"/>
          <p:cNvPicPr>
            <a:picLocks noChangeAspect="1"/>
          </p:cNvPicPr>
          <p:nvPr>
            <p:custDataLst>
              <p:tags r:id="rId1"/>
            </p:custDataLst>
          </p:nvPr>
        </p:nvPicPr>
        <p:blipFill>
          <a:blip r:embed="rId4"/>
          <a:stretch>
            <a:fillRect/>
          </a:stretch>
        </p:blipFill>
        <p:spPr>
          <a:xfrm>
            <a:off x="3167380" y="2943860"/>
            <a:ext cx="5048250" cy="2270125"/>
          </a:xfrm>
          <a:prstGeom prst="rect">
            <a:avLst/>
          </a:prstGeom>
        </p:spPr>
      </p:pic>
      <p:graphicFrame>
        <p:nvGraphicFramePr>
          <p:cNvPr id="4194305" name="表格 14"/>
          <p:cNvGraphicFramePr/>
          <p:nvPr>
            <p:custDataLst>
              <p:tags r:id="rId2"/>
            </p:custDataLst>
          </p:nvPr>
        </p:nvGraphicFramePr>
        <p:xfrm>
          <a:off x="1548130" y="5267325"/>
          <a:ext cx="8732520" cy="897890"/>
        </p:xfrm>
        <a:graphic>
          <a:graphicData uri="http://schemas.openxmlformats.org/drawingml/2006/table">
            <a:tbl>
              <a:tblPr firstRow="1" bandRow="1">
                <a:tableStyleId>{F2DE63D5-997A-4646-A377-4702673A728D}</a:tableStyleId>
              </a:tblPr>
              <a:tblGrid>
                <a:gridCol w="2183130">
                  <a:extLst>
                    <a:ext uri="{9D8B030D-6E8A-4147-A177-3AD203B41FA5}">
                      <a16:colId xmlns:a16="http://schemas.microsoft.com/office/drawing/2014/main" val="20000"/>
                    </a:ext>
                  </a:extLst>
                </a:gridCol>
                <a:gridCol w="2183130">
                  <a:extLst>
                    <a:ext uri="{9D8B030D-6E8A-4147-A177-3AD203B41FA5}">
                      <a16:colId xmlns:a16="http://schemas.microsoft.com/office/drawing/2014/main" val="20001"/>
                    </a:ext>
                  </a:extLst>
                </a:gridCol>
                <a:gridCol w="2183130">
                  <a:extLst>
                    <a:ext uri="{9D8B030D-6E8A-4147-A177-3AD203B41FA5}">
                      <a16:colId xmlns:a16="http://schemas.microsoft.com/office/drawing/2014/main" val="20002"/>
                    </a:ext>
                  </a:extLst>
                </a:gridCol>
                <a:gridCol w="2183130">
                  <a:extLst>
                    <a:ext uri="{9D8B030D-6E8A-4147-A177-3AD203B41FA5}">
                      <a16:colId xmlns:a16="http://schemas.microsoft.com/office/drawing/2014/main" val="20003"/>
                    </a:ext>
                  </a:extLst>
                </a:gridCol>
              </a:tblGrid>
              <a:tr h="448945">
                <a:tc>
                  <a:txBody>
                    <a:bodyPr/>
                    <a:lstStyle/>
                    <a:p>
                      <a:pPr algn="ctr">
                        <a:buNone/>
                      </a:pPr>
                      <a:r>
                        <a:rPr lang="en-US" altLang="zh-CN" sz="1600"/>
                        <a:t>Register</a:t>
                      </a:r>
                    </a:p>
                  </a:txBody>
                  <a:tcPr anchor="ctr">
                    <a:lnR w="12700">
                      <a:solidFill>
                        <a:schemeClr val="accent1">
                          <a:lumMod val="20000"/>
                          <a:lumOff val="80000"/>
                        </a:schemeClr>
                      </a:solidFill>
                      <a:prstDash val="solid"/>
                    </a:lnR>
                    <a:lnB w="12700" cap="flat" cmpd="sng" algn="ctr">
                      <a:solidFill>
                        <a:schemeClr val="accent1">
                          <a:lumMod val="20000"/>
                          <a:lumOff val="80000"/>
                        </a:schemeClr>
                      </a:solidFill>
                      <a:prstDash val="solid"/>
                    </a:lnB>
                    <a:solidFill>
                      <a:schemeClr val="accent1">
                        <a:lumMod val="40000"/>
                        <a:lumOff val="60000"/>
                      </a:schemeClr>
                    </a:solidFill>
                  </a:tcPr>
                </a:tc>
                <a:tc>
                  <a:txBody>
                    <a:bodyPr/>
                    <a:lstStyle/>
                    <a:p>
                      <a:pPr algn="ctr">
                        <a:buNone/>
                      </a:pPr>
                      <a:r>
                        <a:rPr lang="en-US" altLang="zh-CN" sz="1600"/>
                        <a:t>Shared Memory</a:t>
                      </a:r>
                    </a:p>
                  </a:txBody>
                  <a:tcPr anchor="ctr">
                    <a:lnL w="12700">
                      <a:solidFill>
                        <a:schemeClr val="accent1">
                          <a:lumMod val="20000"/>
                          <a:lumOff val="80000"/>
                        </a:schemeClr>
                      </a:solidFill>
                      <a:prstDash val="solid"/>
                    </a:lnL>
                    <a:lnR w="12700">
                      <a:solidFill>
                        <a:schemeClr val="accent1">
                          <a:lumMod val="20000"/>
                          <a:lumOff val="80000"/>
                        </a:schemeClr>
                      </a:solidFill>
                      <a:prstDash val="solid"/>
                    </a:lnR>
                    <a:lnB w="12700" cap="flat" cmpd="sng" algn="ctr">
                      <a:solidFill>
                        <a:schemeClr val="accent1">
                          <a:lumMod val="20000"/>
                          <a:lumOff val="80000"/>
                        </a:schemeClr>
                      </a:solidFill>
                      <a:prstDash val="solid"/>
                    </a:lnB>
                    <a:solidFill>
                      <a:schemeClr val="accent1">
                        <a:lumMod val="40000"/>
                        <a:lumOff val="60000"/>
                      </a:schemeClr>
                    </a:solidFill>
                  </a:tcPr>
                </a:tc>
                <a:tc>
                  <a:txBody>
                    <a:bodyPr/>
                    <a:lstStyle/>
                    <a:p>
                      <a:pPr algn="ctr">
                        <a:buNone/>
                      </a:pPr>
                      <a:r>
                        <a:rPr lang="en-US" altLang="zh-CN" sz="1600"/>
                        <a:t>L2 Cache</a:t>
                      </a:r>
                    </a:p>
                  </a:txBody>
                  <a:tcPr anchor="ctr">
                    <a:lnL w="12700">
                      <a:solidFill>
                        <a:schemeClr val="accent1">
                          <a:lumMod val="20000"/>
                          <a:lumOff val="80000"/>
                        </a:schemeClr>
                      </a:solidFill>
                      <a:prstDash val="solid"/>
                    </a:lnL>
                    <a:lnR w="12700">
                      <a:solidFill>
                        <a:schemeClr val="accent1">
                          <a:lumMod val="20000"/>
                          <a:lumOff val="80000"/>
                        </a:schemeClr>
                      </a:solidFill>
                      <a:prstDash val="solid"/>
                    </a:lnR>
                    <a:lnB w="12700" cap="flat" cmpd="sng" algn="ctr">
                      <a:solidFill>
                        <a:schemeClr val="accent1">
                          <a:lumMod val="20000"/>
                          <a:lumOff val="80000"/>
                        </a:schemeClr>
                      </a:solidFill>
                      <a:prstDash val="solid"/>
                    </a:lnB>
                    <a:solidFill>
                      <a:schemeClr val="accent1">
                        <a:lumMod val="40000"/>
                        <a:lumOff val="60000"/>
                      </a:schemeClr>
                    </a:solidFill>
                  </a:tcPr>
                </a:tc>
                <a:tc>
                  <a:txBody>
                    <a:bodyPr/>
                    <a:lstStyle/>
                    <a:p>
                      <a:pPr algn="ctr">
                        <a:buNone/>
                      </a:pPr>
                      <a:r>
                        <a:rPr lang="en-US" altLang="zh-CN" sz="1600"/>
                        <a:t>HBM</a:t>
                      </a:r>
                    </a:p>
                  </a:txBody>
                  <a:tcPr anchor="ctr">
                    <a:lnL w="12700">
                      <a:solidFill>
                        <a:schemeClr val="accent1">
                          <a:lumMod val="20000"/>
                          <a:lumOff val="80000"/>
                        </a:schemeClr>
                      </a:solidFill>
                      <a:prstDash val="solid"/>
                    </a:lnL>
                    <a:lnB w="12700" cap="flat" cmpd="sng" algn="ctr">
                      <a:solidFill>
                        <a:schemeClr val="accent1">
                          <a:lumMod val="20000"/>
                          <a:lumOff val="80000"/>
                        </a:schemeClr>
                      </a:solidFill>
                      <a:prstDash val="solid"/>
                    </a:lnB>
                    <a:solidFill>
                      <a:schemeClr val="accent1">
                        <a:lumMod val="40000"/>
                        <a:lumOff val="60000"/>
                      </a:schemeClr>
                    </a:solidFill>
                  </a:tcPr>
                </a:tc>
                <a:extLst>
                  <a:ext uri="{0D108BD9-81ED-4DB2-BD59-A6C34878D82A}">
                    <a16:rowId xmlns:a16="http://schemas.microsoft.com/office/drawing/2014/main" val="10000"/>
                  </a:ext>
                </a:extLst>
              </a:tr>
              <a:tr h="448945">
                <a:tc>
                  <a:txBody>
                    <a:bodyPr/>
                    <a:lstStyle/>
                    <a:p>
                      <a:pPr algn="ctr">
                        <a:buNone/>
                      </a:pPr>
                      <a:r>
                        <a:rPr lang="en-US" altLang="zh-CN" sz="1600"/>
                        <a:t>64 KB 130TB/s</a:t>
                      </a:r>
                    </a:p>
                  </a:txBody>
                  <a:tcPr anchor="ctr">
                    <a:lnR w="12700">
                      <a:solidFill>
                        <a:schemeClr val="accent1">
                          <a:lumMod val="20000"/>
                          <a:lumOff val="80000"/>
                        </a:schemeClr>
                      </a:solidFill>
                      <a:prstDash val="solid"/>
                    </a:lnR>
                    <a:lnT w="12700" cap="flat" cmpd="sng" algn="ctr">
                      <a:solidFill>
                        <a:schemeClr val="accent1">
                          <a:lumMod val="20000"/>
                          <a:lumOff val="80000"/>
                        </a:schemeClr>
                      </a:solidFill>
                      <a:prstDash val="solid"/>
                    </a:lnT>
                  </a:tcPr>
                </a:tc>
                <a:tc>
                  <a:txBody>
                    <a:bodyPr/>
                    <a:lstStyle/>
                    <a:p>
                      <a:pPr algn="ctr">
                        <a:buNone/>
                      </a:pPr>
                      <a:r>
                        <a:rPr lang="en-US" altLang="zh-CN" sz="1600"/>
                        <a:t>227 KB 33 TB/s</a:t>
                      </a:r>
                    </a:p>
                  </a:txBody>
                  <a:tcPr anchor="ctr">
                    <a:lnL w="12700">
                      <a:solidFill>
                        <a:schemeClr val="accent1">
                          <a:lumMod val="20000"/>
                          <a:lumOff val="80000"/>
                        </a:schemeClr>
                      </a:solidFill>
                      <a:prstDash val="solid"/>
                    </a:lnL>
                    <a:lnR w="12700">
                      <a:solidFill>
                        <a:schemeClr val="accent1">
                          <a:lumMod val="20000"/>
                          <a:lumOff val="80000"/>
                        </a:schemeClr>
                      </a:solidFill>
                      <a:prstDash val="solid"/>
                    </a:lnR>
                    <a:lnT w="12700" cap="flat" cmpd="sng" algn="ctr">
                      <a:solidFill>
                        <a:schemeClr val="accent1">
                          <a:lumMod val="20000"/>
                          <a:lumOff val="80000"/>
                        </a:schemeClr>
                      </a:solidFill>
                      <a:prstDash val="solid"/>
                    </a:lnT>
                  </a:tcPr>
                </a:tc>
                <a:tc>
                  <a:txBody>
                    <a:bodyPr/>
                    <a:lstStyle/>
                    <a:p>
                      <a:pPr algn="ctr">
                        <a:buNone/>
                      </a:pPr>
                      <a:r>
                        <a:rPr lang="en-US" altLang="zh-CN" sz="1600"/>
                        <a:t>50MB 12TB/s</a:t>
                      </a:r>
                    </a:p>
                  </a:txBody>
                  <a:tcPr anchor="ctr">
                    <a:lnL w="12700">
                      <a:solidFill>
                        <a:schemeClr val="accent1">
                          <a:lumMod val="20000"/>
                          <a:lumOff val="80000"/>
                        </a:schemeClr>
                      </a:solidFill>
                      <a:prstDash val="solid"/>
                    </a:lnL>
                    <a:lnR w="12700">
                      <a:solidFill>
                        <a:schemeClr val="accent1">
                          <a:lumMod val="20000"/>
                          <a:lumOff val="80000"/>
                        </a:schemeClr>
                      </a:solidFill>
                      <a:prstDash val="solid"/>
                    </a:lnR>
                    <a:lnT w="12700" cap="flat" cmpd="sng" algn="ctr">
                      <a:solidFill>
                        <a:schemeClr val="accent1">
                          <a:lumMod val="20000"/>
                          <a:lumOff val="80000"/>
                        </a:schemeClr>
                      </a:solidFill>
                      <a:prstDash val="solid"/>
                    </a:lnT>
                  </a:tcPr>
                </a:tc>
                <a:tc>
                  <a:txBody>
                    <a:bodyPr/>
                    <a:lstStyle/>
                    <a:p>
                      <a:pPr algn="ctr">
                        <a:buNone/>
                      </a:pPr>
                      <a:r>
                        <a:rPr lang="en-US" altLang="zh-CN" sz="1600"/>
                        <a:t>80GB 3TB/s</a:t>
                      </a:r>
                      <a:endParaRPr lang="en-US" altLang="zh-CN" sz="1600" b="1">
                        <a:latin typeface="Arial Bold" panose="020B0704020202020204" charset="0"/>
                        <a:cs typeface="Arial Bold" panose="020B0704020202020204" charset="0"/>
                      </a:endParaRPr>
                    </a:p>
                  </a:txBody>
                  <a:tcPr anchor="ctr">
                    <a:lnL w="12700">
                      <a:solidFill>
                        <a:schemeClr val="accent1">
                          <a:lumMod val="20000"/>
                          <a:lumOff val="80000"/>
                        </a:schemeClr>
                      </a:solidFill>
                      <a:prstDash val="solid"/>
                    </a:lnL>
                    <a:lnT w="12700" cap="flat" cmpd="sng" algn="ctr">
                      <a:solidFill>
                        <a:schemeClr val="accent1">
                          <a:lumMod val="20000"/>
                          <a:lumOff val="80000"/>
                        </a:schemeClr>
                      </a:solidFill>
                      <a:prstDash val="solid"/>
                    </a:lnT>
                  </a:tcPr>
                </a:tc>
                <a:extLst>
                  <a:ext uri="{0D108BD9-81ED-4DB2-BD59-A6C34878D82A}">
                    <a16:rowId xmlns:a16="http://schemas.microsoft.com/office/drawing/2014/main" val="10001"/>
                  </a:ext>
                </a:extLst>
              </a:tr>
            </a:tbl>
          </a:graphicData>
        </a:graphic>
      </p:graphicFrame>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7" name="标题 1"/>
          <p:cNvSpPr>
            <a:spLocks noGrp="1"/>
          </p:cNvSpPr>
          <p:nvPr>
            <p:ph type="title"/>
          </p:nvPr>
        </p:nvSpPr>
        <p:spPr/>
        <p:txBody>
          <a:bodyPr/>
          <a:lstStyle/>
          <a:p>
            <a:r>
              <a:rPr lang="zh-CN" altLang="en-US"/>
              <a:t>Data Competition in Reduction Process</a:t>
            </a:r>
          </a:p>
        </p:txBody>
      </p:sp>
      <p:sp>
        <p:nvSpPr>
          <p:cNvPr id="1048689" name="页脚占位符 3"/>
          <p:cNvSpPr>
            <a:spLocks noGrp="1"/>
          </p:cNvSpPr>
          <p:nvPr>
            <p:ph type="ftr" sz="quarter" idx="11"/>
          </p:nvPr>
        </p:nvSpPr>
        <p:spPr/>
        <p:txBody>
          <a:bodyPr/>
          <a:lstStyle/>
          <a:p>
            <a:endParaRPr lang="zh-CN" altLang="en-US"/>
          </a:p>
        </p:txBody>
      </p:sp>
      <p:sp>
        <p:nvSpPr>
          <p:cNvPr id="1048673" name="灯片编号占位符 4"/>
          <p:cNvSpPr>
            <a:spLocks noGrp="1"/>
          </p:cNvSpPr>
          <p:nvPr>
            <p:ph type="sldNum" sz="quarter" idx="12"/>
          </p:nvPr>
        </p:nvSpPr>
        <p:spPr/>
        <p:txBody>
          <a:bodyPr/>
          <a:lstStyle/>
          <a:p>
            <a:fld id="{B33F7469-D28B-482F-B1B6-3B8E7CF51519}" type="slidenum">
              <a:rPr lang="zh-CN" altLang="en-US" smtClean="0"/>
              <a:t>12</a:t>
            </a:fld>
            <a:endParaRPr lang="zh-CN" altLang="en-US" dirty="0"/>
          </a:p>
        </p:txBody>
      </p:sp>
      <p:sp>
        <p:nvSpPr>
          <p:cNvPr id="1048688" name="内容占位符 2"/>
          <p:cNvSpPr>
            <a:spLocks noGrp="1"/>
          </p:cNvSpPr>
          <p:nvPr>
            <p:ph sz="quarter" idx="13"/>
          </p:nvPr>
        </p:nvSpPr>
        <p:spPr/>
        <p:txBody>
          <a:bodyPr/>
          <a:lstStyle/>
          <a:p>
            <a:r>
              <a:rPr lang="zh-CN" altLang="en-US"/>
              <a:t>Consider a basic reduction: suppose the value in global memory is 3, and both threads want to increment it by 1.</a:t>
            </a:r>
          </a:p>
          <a:p>
            <a:r>
              <a:rPr lang="zh-CN" altLang="en-US"/>
              <a:t>Scenario 1:</a:t>
            </a:r>
          </a:p>
          <a:p>
            <a:pPr lvl="1"/>
            <a:r>
              <a:rPr lang="zh-CN" altLang="en-US"/>
              <a:t>Thread 1 reads value 3, adds 1, and writes 4 back to global memory</a:t>
            </a:r>
          </a:p>
          <a:p>
            <a:pPr lvl="1"/>
            <a:r>
              <a:rPr lang="zh-CN" altLang="en-US"/>
              <a:t>Thread 2 reads value 4 and writes 5 back to global memory</a:t>
            </a:r>
          </a:p>
          <a:p>
            <a:r>
              <a:rPr lang="zh-CN" altLang="en-US"/>
              <a:t>Situation 2:</a:t>
            </a:r>
          </a:p>
          <a:p>
            <a:pPr lvl="1"/>
            <a:r>
              <a:rPr lang="zh-CN" altLang="en-US"/>
              <a:t>Thread 1 reads value 3</a:t>
            </a:r>
          </a:p>
          <a:p>
            <a:pPr lvl="1"/>
            <a:r>
              <a:rPr lang="zh-CN" altLang="en-US"/>
              <a:t>Thread 2 reads value 3</a:t>
            </a:r>
          </a:p>
          <a:p>
            <a:pPr lvl="1"/>
            <a:r>
              <a:rPr lang="zh-CN" altLang="en-US"/>
              <a:t>Both threads operate on 3 and write the result 4 back to global memory</a:t>
            </a:r>
          </a:p>
        </p:txBody>
      </p:sp>
      <p:pic>
        <p:nvPicPr>
          <p:cNvPr id="2097162" name="图片 5"/>
          <p:cNvPicPr>
            <a:picLocks noChangeAspect="1"/>
          </p:cNvPicPr>
          <p:nvPr>
            <p:custDataLst>
              <p:tags r:id="rId1"/>
            </p:custDataLst>
          </p:nvPr>
        </p:nvPicPr>
        <p:blipFill>
          <a:blip r:embed="rId4"/>
          <a:stretch>
            <a:fillRect/>
          </a:stretch>
        </p:blipFill>
        <p:spPr>
          <a:xfrm>
            <a:off x="7404735" y="2038350"/>
            <a:ext cx="723900" cy="647700"/>
          </a:xfrm>
          <a:prstGeom prst="rect">
            <a:avLst/>
          </a:prstGeom>
        </p:spPr>
      </p:pic>
      <p:pic>
        <p:nvPicPr>
          <p:cNvPr id="2097163" name="图片 6"/>
          <p:cNvPicPr>
            <a:picLocks noChangeAspect="1"/>
          </p:cNvPicPr>
          <p:nvPr>
            <p:custDataLst>
              <p:tags r:id="rId2"/>
            </p:custDataLst>
          </p:nvPr>
        </p:nvPicPr>
        <p:blipFill>
          <a:blip r:embed="rId5"/>
          <a:stretch>
            <a:fillRect/>
          </a:stretch>
        </p:blipFill>
        <p:spPr>
          <a:xfrm>
            <a:off x="7526020" y="3976370"/>
            <a:ext cx="602615" cy="782955"/>
          </a:xfrm>
          <a:prstGeom prst="rect">
            <a:avLst/>
          </a:prstGeom>
        </p:spPr>
      </p:pic>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1" name="标题 1"/>
          <p:cNvSpPr>
            <a:spLocks noGrp="1"/>
          </p:cNvSpPr>
          <p:nvPr>
            <p:ph type="title"/>
          </p:nvPr>
        </p:nvSpPr>
        <p:spPr/>
        <p:txBody>
          <a:bodyPr/>
          <a:lstStyle/>
          <a:p>
            <a:r>
              <a:t>Solution: Atomic Operations</a:t>
            </a:r>
          </a:p>
        </p:txBody>
      </p:sp>
      <p:sp>
        <p:nvSpPr>
          <p:cNvPr id="1048692" name="页脚占位符 3"/>
          <p:cNvSpPr>
            <a:spLocks noGrp="1"/>
          </p:cNvSpPr>
          <p:nvPr>
            <p:ph type="ftr" sz="quarter" idx="11"/>
          </p:nvPr>
        </p:nvSpPr>
        <p:spPr/>
        <p:txBody>
          <a:bodyPr/>
          <a:lstStyle/>
          <a:p>
            <a:endParaRPr lang="zh-CN" altLang="en-US" dirty="0"/>
          </a:p>
        </p:txBody>
      </p:sp>
      <p:sp>
        <p:nvSpPr>
          <p:cNvPr id="1048693" name="灯片编号占位符 4"/>
          <p:cNvSpPr>
            <a:spLocks noGrp="1"/>
          </p:cNvSpPr>
          <p:nvPr>
            <p:ph type="sldNum" sz="quarter" idx="12"/>
          </p:nvPr>
        </p:nvSpPr>
        <p:spPr/>
        <p:txBody>
          <a:bodyPr/>
          <a:lstStyle/>
          <a:p>
            <a:fld id="{B33F7469-D28B-482F-B1B6-3B8E7CF51519}" type="slidenum">
              <a:rPr lang="zh-CN" altLang="en-US" smtClean="0"/>
              <a:t>13</a:t>
            </a:fld>
            <a:endParaRPr lang="zh-CN" altLang="en-US" dirty="0"/>
          </a:p>
        </p:txBody>
      </p:sp>
      <p:sp>
        <p:nvSpPr>
          <p:cNvPr id="1048694" name="内容占位符 2"/>
          <p:cNvSpPr>
            <a:spLocks noGrp="1"/>
          </p:cNvSpPr>
          <p:nvPr>
            <p:custDataLst>
              <p:tags r:id="rId1"/>
            </p:custDataLst>
          </p:nvPr>
        </p:nvSpPr>
        <p:spPr>
          <a:xfrm>
            <a:off x="741680" y="1313815"/>
            <a:ext cx="10741660" cy="1682115"/>
          </a:xfrm>
          <a:prstGeom prst="rect">
            <a:avLst/>
          </a:prstGeom>
        </p:spPr>
        <p:txBody>
          <a:bodyPr vert="horz" lIns="91440" tIns="45720" rIns="91440" bIns="45720" rtlCol="0" anchor="t">
            <a:noAutofit/>
          </a:bodyPr>
          <a:lst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a:lstStyle>
          <a:p>
            <a:pPr>
              <a:lnSpc>
                <a:spcPct val="100000"/>
              </a:lnSpc>
            </a:pPr>
            <a:r>
              <a:rPr lang="zh-CN" altLang="en-US">
                <a:sym typeface="+mn-ea"/>
              </a:rPr>
              <a:t>Core logic: Ensure this memory location is not accessed by other operations during execution</a:t>
            </a:r>
          </a:p>
          <a:p>
            <a:pPr>
              <a:lnSpc>
                <a:spcPct val="100000"/>
              </a:lnSpc>
            </a:pPr>
            <a:r>
              <a:rPr lang="zh-CN" altLang="en-US">
                <a:sym typeface="+mn-ea"/>
              </a:rPr>
              <a:t>Although atomicAdd guarantees correct results, its performance is generally poor and is only suitable for sparse access.</a:t>
            </a:r>
            <a:endParaRPr lang="zh-CN" altLang="en-US" b="1">
              <a:sym typeface="+mn-ea"/>
            </a:endParaRPr>
          </a:p>
        </p:txBody>
      </p:sp>
      <p:pic>
        <p:nvPicPr>
          <p:cNvPr id="2097164" name="图片 6"/>
          <p:cNvPicPr>
            <a:picLocks noChangeAspect="1"/>
          </p:cNvPicPr>
          <p:nvPr>
            <p:custDataLst>
              <p:tags r:id="rId2"/>
            </p:custDataLst>
          </p:nvPr>
        </p:nvPicPr>
        <p:blipFill>
          <a:blip r:embed="rId5"/>
          <a:stretch>
            <a:fillRect/>
          </a:stretch>
        </p:blipFill>
        <p:spPr>
          <a:xfrm>
            <a:off x="1426210" y="3265170"/>
            <a:ext cx="4141470" cy="2884805"/>
          </a:xfrm>
          <a:prstGeom prst="rect">
            <a:avLst/>
          </a:prstGeom>
        </p:spPr>
      </p:pic>
      <p:pic>
        <p:nvPicPr>
          <p:cNvPr id="2097165" name="图片 12"/>
          <p:cNvPicPr>
            <a:picLocks noChangeAspect="1"/>
          </p:cNvPicPr>
          <p:nvPr>
            <p:custDataLst>
              <p:tags r:id="rId3"/>
            </p:custDataLst>
          </p:nvPr>
        </p:nvPicPr>
        <p:blipFill>
          <a:blip r:embed="rId6"/>
          <a:stretch>
            <a:fillRect/>
          </a:stretch>
        </p:blipFill>
        <p:spPr>
          <a:xfrm>
            <a:off x="6848475" y="4091305"/>
            <a:ext cx="1476375" cy="1526540"/>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6" name="标题 1"/>
          <p:cNvSpPr>
            <a:spLocks noGrp="1"/>
          </p:cNvSpPr>
          <p:nvPr>
            <p:ph type="title"/>
          </p:nvPr>
        </p:nvSpPr>
        <p:spPr/>
        <p:txBody>
          <a:bodyPr/>
          <a:lstStyle/>
          <a:p>
            <a:r>
              <a:t>The Performance Bottleneck of Atomic Operations</a:t>
            </a:r>
          </a:p>
        </p:txBody>
      </p:sp>
      <p:sp>
        <p:nvSpPr>
          <p:cNvPr id="1048697" name="页脚占位符 3"/>
          <p:cNvSpPr>
            <a:spLocks noGrp="1"/>
          </p:cNvSpPr>
          <p:nvPr>
            <p:ph type="ftr" sz="quarter" idx="11"/>
          </p:nvPr>
        </p:nvSpPr>
        <p:spPr/>
        <p:txBody>
          <a:bodyPr/>
          <a:lstStyle/>
          <a:p>
            <a:endParaRPr lang="zh-CN" altLang="en-US" dirty="0"/>
          </a:p>
        </p:txBody>
      </p:sp>
      <p:sp>
        <p:nvSpPr>
          <p:cNvPr id="1048698" name="灯片编号占位符 4"/>
          <p:cNvSpPr>
            <a:spLocks noGrp="1"/>
          </p:cNvSpPr>
          <p:nvPr>
            <p:ph type="sldNum" sz="quarter" idx="12"/>
          </p:nvPr>
        </p:nvSpPr>
        <p:spPr/>
        <p:txBody>
          <a:bodyPr/>
          <a:lstStyle/>
          <a:p>
            <a:fld id="{B33F7469-D28B-482F-B1B6-3B8E7CF51519}" type="slidenum">
              <a:rPr lang="zh-CN" altLang="en-US" smtClean="0"/>
              <a:t>14</a:t>
            </a:fld>
            <a:endParaRPr lang="zh-CN" altLang="en-US" dirty="0"/>
          </a:p>
        </p:txBody>
      </p:sp>
      <p:sp>
        <p:nvSpPr>
          <p:cNvPr id="1048699" name="内容占位符 2"/>
          <p:cNvSpPr>
            <a:spLocks noGrp="1"/>
          </p:cNvSpPr>
          <p:nvPr>
            <p:custDataLst>
              <p:tags r:id="rId1"/>
            </p:custDataLst>
          </p:nvPr>
        </p:nvSpPr>
        <p:spPr>
          <a:xfrm>
            <a:off x="741680" y="1408430"/>
            <a:ext cx="9624060" cy="1963420"/>
          </a:xfrm>
          <a:prstGeom prst="rect">
            <a:avLst/>
          </a:prstGeom>
        </p:spPr>
        <p:txBody>
          <a:bodyPr vert="horz" lIns="91440" tIns="45720" rIns="91440" bIns="45720" rtlCol="0" anchor="t">
            <a:noAutofit/>
          </a:bodyPr>
          <a:lst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a:lstStyle>
          <a:p>
            <a:pPr>
              <a:lnSpc>
                <a:spcPct val="100000"/>
              </a:lnSpc>
            </a:pPr>
            <a:r>
              <a:rPr lang="zh-CN" altLang="en-US">
                <a:sym typeface="+mn-ea"/>
              </a:rPr>
              <a:t>Serialization occurs: The GPUs originally powerful parallel processing capability degrades to single-core serial performance.</a:t>
            </a:r>
          </a:p>
          <a:p>
            <a:pPr>
              <a:lnSpc>
                <a:spcPct val="100000"/>
              </a:lnSpc>
            </a:pPr>
            <a:r>
              <a:rPr lang="zh-CN" altLang="en-US">
                <a:sym typeface="+mn-ea"/>
              </a:rPr>
              <a:t>Higher instruction overhead: Atomic operations require locking the memory location at the lower level to prevent the entire read-modify-write process from being interrupted by other Workers.</a:t>
            </a:r>
          </a:p>
          <a:p>
            <a:pPr>
              <a:lnSpc>
                <a:spcPct val="100000"/>
              </a:lnSpc>
            </a:pPr>
            <a:endParaRPr>
              <a:sym typeface="+mn-ea"/>
            </a:endParaRPr>
          </a:p>
          <a:p>
            <a:pPr>
              <a:lnSpc>
                <a:spcPct val="100000"/>
              </a:lnSpc>
            </a:pPr>
            <a:endParaRPr lang="zh-CN" altLang="en-US" b="1">
              <a:sym typeface="+mn-ea"/>
            </a:endParaRPr>
          </a:p>
        </p:txBody>
      </p:sp>
      <p:pic>
        <p:nvPicPr>
          <p:cNvPr id="2097166" name="图片 2"/>
          <p:cNvPicPr>
            <a:picLocks noChangeAspect="1"/>
          </p:cNvPicPr>
          <p:nvPr>
            <p:custDataLst>
              <p:tags r:id="rId2"/>
            </p:custDataLst>
          </p:nvPr>
        </p:nvPicPr>
        <p:blipFill>
          <a:blip r:embed="rId4"/>
          <a:stretch>
            <a:fillRect/>
          </a:stretch>
        </p:blipFill>
        <p:spPr>
          <a:xfrm>
            <a:off x="837565" y="3766185"/>
            <a:ext cx="5876290" cy="2260600"/>
          </a:xfrm>
          <a:prstGeom prst="rect">
            <a:avLst/>
          </a:prstGeom>
        </p:spPr>
      </p:pic>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1" name="标题 1"/>
          <p:cNvSpPr>
            <a:spLocks noGrp="1"/>
          </p:cNvSpPr>
          <p:nvPr>
            <p:ph type="title"/>
          </p:nvPr>
        </p:nvSpPr>
        <p:spPr/>
        <p:txBody>
          <a:bodyPr/>
          <a:lstStyle/>
          <a:p>
            <a:r>
              <a:rPr lang="en-US" altLang="zh-CN"/>
              <a:t>R</a:t>
            </a:r>
            <a:r>
              <a:rPr lang="zh-CN" altLang="en-US"/>
              <a:t>eduction </a:t>
            </a:r>
            <a:r>
              <a:rPr lang="en-US" altLang="zh-CN"/>
              <a:t>P</a:t>
            </a:r>
            <a:r>
              <a:rPr lang="zh-CN" altLang="en-US"/>
              <a:t>arallelism</a:t>
            </a:r>
          </a:p>
        </p:txBody>
      </p:sp>
      <p:sp>
        <p:nvSpPr>
          <p:cNvPr id="1048702" name="页脚占位符 3"/>
          <p:cNvSpPr>
            <a:spLocks noGrp="1"/>
          </p:cNvSpPr>
          <p:nvPr>
            <p:ph type="ftr" sz="quarter" idx="11"/>
          </p:nvPr>
        </p:nvSpPr>
        <p:spPr/>
        <p:txBody>
          <a:bodyPr/>
          <a:lstStyle/>
          <a:p>
            <a:endParaRPr lang="zh-CN" altLang="en-US" dirty="0"/>
          </a:p>
        </p:txBody>
      </p:sp>
      <p:sp>
        <p:nvSpPr>
          <p:cNvPr id="1048703" name="灯片编号占位符 4"/>
          <p:cNvSpPr>
            <a:spLocks noGrp="1"/>
          </p:cNvSpPr>
          <p:nvPr>
            <p:ph type="sldNum" sz="quarter" idx="12"/>
          </p:nvPr>
        </p:nvSpPr>
        <p:spPr/>
        <p:txBody>
          <a:bodyPr/>
          <a:lstStyle/>
          <a:p>
            <a:fld id="{B33F7469-D28B-482F-B1B6-3B8E7CF51519}" type="slidenum">
              <a:rPr lang="zh-CN" altLang="en-US" smtClean="0"/>
              <a:t>15</a:t>
            </a:fld>
            <a:endParaRPr lang="zh-CN" altLang="en-US" dirty="0"/>
          </a:p>
        </p:txBody>
      </p:sp>
      <p:sp>
        <p:nvSpPr>
          <p:cNvPr id="1048704" name="内容占位符 2"/>
          <p:cNvSpPr>
            <a:spLocks noGrp="1"/>
          </p:cNvSpPr>
          <p:nvPr>
            <p:custDataLst>
              <p:tags r:id="rId1"/>
            </p:custDataLst>
          </p:nvPr>
        </p:nvSpPr>
        <p:spPr>
          <a:xfrm>
            <a:off x="741680" y="1381125"/>
            <a:ext cx="10593070" cy="1223645"/>
          </a:xfrm>
          <a:prstGeom prst="rect">
            <a:avLst/>
          </a:prstGeom>
        </p:spPr>
        <p:txBody>
          <a:bodyPr vert="horz" lIns="91440" tIns="45720" rIns="91440" bIns="45720" rtlCol="0" anchor="t">
            <a:noAutofit/>
          </a:bodyPr>
          <a:lst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a:lstStyle>
          <a:p>
            <a:pPr>
              <a:lnSpc>
                <a:spcPct val="100000"/>
              </a:lnSpc>
            </a:pPr>
            <a:r>
              <a:rPr lang="zh-CN" altLang="en-US">
                <a:sym typeface="+mn-ea"/>
              </a:rPr>
              <a:t>If the operation satisfies the associative property (e.g., a + (b + c) = (a + b) + c), it can be parallelized using a tree structure.</a:t>
            </a:r>
          </a:p>
          <a:p>
            <a:pPr>
              <a:lnSpc>
                <a:spcPct val="100000"/>
              </a:lnSpc>
            </a:pPr>
            <a:r>
              <a:rPr lang="zh-CN" altLang="en-US">
                <a:sym typeface="+mn-ea"/>
              </a:rPr>
              <a:t>First, different Workers compute local reduction results, which are then combined by the Combiner function.</a:t>
            </a:r>
          </a:p>
        </p:txBody>
      </p:sp>
      <p:pic>
        <p:nvPicPr>
          <p:cNvPr id="2097167" name="图片 2"/>
          <p:cNvPicPr>
            <a:picLocks noChangeAspect="1"/>
          </p:cNvPicPr>
          <p:nvPr>
            <p:custDataLst>
              <p:tags r:id="rId2"/>
            </p:custDataLst>
          </p:nvPr>
        </p:nvPicPr>
        <p:blipFill>
          <a:blip r:embed="rId5"/>
          <a:stretch>
            <a:fillRect/>
          </a:stretch>
        </p:blipFill>
        <p:spPr>
          <a:xfrm>
            <a:off x="1012825" y="3225800"/>
            <a:ext cx="6087745" cy="2833370"/>
          </a:xfrm>
          <a:prstGeom prst="rect">
            <a:avLst/>
          </a:prstGeom>
        </p:spPr>
      </p:pic>
      <p:sp>
        <p:nvSpPr>
          <p:cNvPr id="1048706" name="文本框 9"/>
          <p:cNvSpPr txBox="1"/>
          <p:nvPr/>
        </p:nvSpPr>
        <p:spPr>
          <a:xfrm>
            <a:off x="8025702" y="4035044"/>
            <a:ext cx="683637" cy="358140"/>
          </a:xfrm>
          <a:prstGeom prst="rect">
            <a:avLst/>
          </a:prstGeom>
          <a:noFill/>
        </p:spPr>
        <p:txBody>
          <a:bodyPr wrap="none" rtlCol="0" anchor="t">
            <a:spAutoFit/>
          </a:bodyPr>
          <a:lstStyle/>
          <a:p>
            <a:pPr algn="l"/>
            <a:r>
              <a:rPr lang="en-US" altLang="zh-CN" i="1">
                <a:latin typeface="DejaVu Math TeX Gyre" panose="02000503000000000000" charset="0"/>
                <a:cs typeface="DejaVu Math TeX Gyre" panose="02000503000000000000" charset="0"/>
              </a:rPr>
              <a:t>O(N)</a:t>
            </a:r>
            <a:endParaRPr lang="zh-CN" altLang="en-US" i="1">
              <a:latin typeface="DejaVu Math TeX Gyre" panose="02000503000000000000" charset="0"/>
              <a:cs typeface="DejaVu Math TeX Gyre" panose="02000503000000000000" charset="0"/>
            </a:endParaRPr>
          </a:p>
        </p:txBody>
      </p:sp>
      <p:sp>
        <p:nvSpPr>
          <p:cNvPr id="1048707" name="文本框 10"/>
          <p:cNvSpPr txBox="1"/>
          <p:nvPr>
            <p:custDataLst>
              <p:tags r:id="rId3"/>
            </p:custDataLst>
          </p:nvPr>
        </p:nvSpPr>
        <p:spPr>
          <a:xfrm>
            <a:off x="7938707" y="5082159"/>
            <a:ext cx="1015524" cy="358140"/>
          </a:xfrm>
          <a:prstGeom prst="rect">
            <a:avLst/>
          </a:prstGeom>
          <a:noFill/>
        </p:spPr>
        <p:txBody>
          <a:bodyPr wrap="none" rtlCol="0" anchor="t">
            <a:spAutoFit/>
          </a:bodyPr>
          <a:lstStyle/>
          <a:p>
            <a:pPr algn="l"/>
            <a:r>
              <a:rPr lang="en-US" altLang="zh-CN" i="1">
                <a:latin typeface="DejaVu Math TeX Gyre" panose="02000503000000000000" charset="0"/>
                <a:cs typeface="DejaVu Math TeX Gyre" panose="02000503000000000000" charset="0"/>
              </a:rPr>
              <a:t>O(logN)</a:t>
            </a:r>
            <a:endParaRPr lang="zh-CN" altLang="en-US" i="1">
              <a:latin typeface="DejaVu Math TeX Gyre" panose="02000503000000000000" charset="0"/>
              <a:cs typeface="DejaVu Math TeX Gyre" panose="02000503000000000000" charset="0"/>
            </a:endParaRPr>
          </a:p>
        </p:txBody>
      </p:sp>
      <p:sp>
        <p:nvSpPr>
          <p:cNvPr id="1048708" name="下箭头 11"/>
          <p:cNvSpPr/>
          <p:nvPr/>
        </p:nvSpPr>
        <p:spPr>
          <a:xfrm>
            <a:off x="8343265" y="4479925"/>
            <a:ext cx="172085" cy="524510"/>
          </a:xfrm>
          <a:prstGeom prst="downArrow">
            <a:avLst/>
          </a:prstGeom>
          <a:solidFill>
            <a:schemeClr val="accent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9" name="标题 1"/>
          <p:cNvSpPr>
            <a:spLocks noGrp="1"/>
          </p:cNvSpPr>
          <p:nvPr>
            <p:ph type="title"/>
          </p:nvPr>
        </p:nvSpPr>
        <p:spPr/>
        <p:txBody>
          <a:bodyPr/>
          <a:lstStyle/>
          <a:p>
            <a:r>
              <a:rPr lang="zh-CN" altLang="en-US"/>
              <a:t>reduced objective</a:t>
            </a:r>
          </a:p>
        </p:txBody>
      </p:sp>
      <p:sp>
        <p:nvSpPr>
          <p:cNvPr id="1048710" name="页脚占位符 3"/>
          <p:cNvSpPr>
            <a:spLocks noGrp="1"/>
          </p:cNvSpPr>
          <p:nvPr>
            <p:ph type="ftr" sz="quarter" idx="11"/>
          </p:nvPr>
        </p:nvSpPr>
        <p:spPr/>
        <p:txBody>
          <a:bodyPr/>
          <a:lstStyle/>
          <a:p>
            <a:endParaRPr lang="zh-CN" altLang="en-US"/>
          </a:p>
        </p:txBody>
      </p:sp>
      <p:sp>
        <p:nvSpPr>
          <p:cNvPr id="1048673" name="灯片编号占位符 4"/>
          <p:cNvSpPr>
            <a:spLocks noGrp="1"/>
          </p:cNvSpPr>
          <p:nvPr>
            <p:ph type="sldNum" sz="quarter" idx="12"/>
          </p:nvPr>
        </p:nvSpPr>
        <p:spPr/>
        <p:txBody>
          <a:bodyPr/>
          <a:lstStyle/>
          <a:p>
            <a:fld id="{B33F7469-D28B-482F-B1B6-3B8E7CF51519}" type="slidenum">
              <a:rPr lang="zh-CN" altLang="en-US" smtClean="0"/>
              <a:t>16</a:t>
            </a:fld>
            <a:endParaRPr lang="zh-CN" altLang="en-US" dirty="0"/>
          </a:p>
        </p:txBody>
      </p:sp>
      <p:sp>
        <p:nvSpPr>
          <p:cNvPr id="2" name="内容占位符 1"/>
          <p:cNvSpPr>
            <a:spLocks noGrp="1"/>
          </p:cNvSpPr>
          <p:nvPr>
            <p:ph sz="quarter" idx="13"/>
          </p:nvPr>
        </p:nvSpPr>
        <p:spPr/>
        <p:txBody>
          <a:bodyPr/>
          <a:lstStyle/>
          <a:p>
            <a:r>
              <a:rPr lang="zh-CN" altLang="en-US"/>
              <a:t>Objective: Achieve optimal peak GPU performance</a:t>
            </a:r>
          </a:p>
          <a:p>
            <a:r>
              <a:rPr lang="zh-CN" altLang="en-US"/>
              <a:t>Bottleneck: Memory Access Bottleneck</a:t>
            </a:r>
          </a:p>
          <a:p>
            <a:pPr lvl="1"/>
            <a:r>
              <a:rPr lang="zh-CN" altLang="en-US"/>
              <a:t>Very low arithmetic intensity, with only one operation (e.g., addition) per loaded element</a:t>
            </a:r>
          </a:p>
          <a:p>
            <a:pPr lvl="1"/>
            <a:r>
              <a:rPr lang="zh-CN" altLang="en-US"/>
              <a:t>Ratio: 1 FLOP per Element</a:t>
            </a:r>
          </a:p>
          <a:p>
            <a:r>
              <a:rPr lang="zh-CN" altLang="en-US"/>
              <a:t>Conclusion: The optimization objective of reduction is to maximize bandwidth utilization</a:t>
            </a:r>
          </a:p>
          <a:p>
            <a:endParaRPr lang="zh-CN" altLang="en-US"/>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8" name="标题 1"/>
          <p:cNvSpPr>
            <a:spLocks noGrp="1"/>
          </p:cNvSpPr>
          <p:nvPr>
            <p:ph type="title"/>
          </p:nvPr>
        </p:nvSpPr>
        <p:spPr/>
        <p:txBody>
          <a:bodyPr/>
          <a:lstStyle/>
          <a:p>
            <a:r>
              <a:rPr lang="en-US" altLang="zh-CN"/>
              <a:t>Triton example: vector addition</a:t>
            </a:r>
            <a:endParaRPr lang="zh-CN" altLang="en-US"/>
          </a:p>
        </p:txBody>
      </p:sp>
      <p:sp>
        <p:nvSpPr>
          <p:cNvPr id="1048719" name="页脚占位符 3"/>
          <p:cNvSpPr>
            <a:spLocks noGrp="1"/>
          </p:cNvSpPr>
          <p:nvPr>
            <p:ph type="ftr" sz="quarter" idx="11"/>
          </p:nvPr>
        </p:nvSpPr>
        <p:spPr/>
        <p:txBody>
          <a:bodyPr/>
          <a:lstStyle/>
          <a:p>
            <a:endParaRPr lang="zh-CN" altLang="en-US" dirty="0"/>
          </a:p>
        </p:txBody>
      </p:sp>
      <p:sp>
        <p:nvSpPr>
          <p:cNvPr id="1048720" name="灯片编号占位符 4"/>
          <p:cNvSpPr>
            <a:spLocks noGrp="1"/>
          </p:cNvSpPr>
          <p:nvPr>
            <p:ph type="sldNum" sz="quarter" idx="12"/>
          </p:nvPr>
        </p:nvSpPr>
        <p:spPr/>
        <p:txBody>
          <a:bodyPr/>
          <a:lstStyle/>
          <a:p>
            <a:fld id="{B33F7469-D28B-482F-B1B6-3B8E7CF51519}" type="slidenum">
              <a:rPr lang="zh-CN" altLang="en-US" smtClean="0"/>
              <a:t>17</a:t>
            </a:fld>
            <a:endParaRPr lang="zh-CN" altLang="en-US" dirty="0"/>
          </a:p>
        </p:txBody>
      </p:sp>
      <p:sp>
        <p:nvSpPr>
          <p:cNvPr id="1048721" name="内容占位符 2"/>
          <p:cNvSpPr>
            <a:spLocks noGrp="1"/>
          </p:cNvSpPr>
          <p:nvPr>
            <p:custDataLst>
              <p:tags r:id="rId1"/>
            </p:custDataLst>
          </p:nvPr>
        </p:nvSpPr>
        <p:spPr>
          <a:xfrm>
            <a:off x="878840" y="1386840"/>
            <a:ext cx="9850120" cy="1102360"/>
          </a:xfrm>
          <a:prstGeom prst="rect">
            <a:avLst/>
          </a:prstGeom>
        </p:spPr>
        <p:txBody>
          <a:bodyPr vert="horz" lIns="91440" tIns="45720" rIns="91440" bIns="45720" rtlCol="0" anchor="t">
            <a:noAutofit/>
          </a:bodyPr>
          <a:lst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a:lstStyle>
          <a:p>
            <a:r>
              <a:rPr lang="zh-CN" altLang="en-US">
                <a:sym typeface="+mn-ea"/>
              </a:rPr>
              <a:t>This is the simplest parallel mode: each thread processes one or more independent data points without needing to communicate with each other.</a:t>
            </a:r>
          </a:p>
        </p:txBody>
      </p:sp>
      <p:pic>
        <p:nvPicPr>
          <p:cNvPr id="2097168" name="图片 8"/>
          <p:cNvPicPr>
            <a:picLocks noChangeAspect="1"/>
          </p:cNvPicPr>
          <p:nvPr>
            <p:custDataLst>
              <p:tags r:id="rId2"/>
            </p:custDataLst>
          </p:nvPr>
        </p:nvPicPr>
        <p:blipFill>
          <a:blip r:embed="rId4"/>
          <a:stretch>
            <a:fillRect/>
          </a:stretch>
        </p:blipFill>
        <p:spPr>
          <a:xfrm>
            <a:off x="1764665" y="2363470"/>
            <a:ext cx="7940675" cy="3632200"/>
          </a:xfrm>
          <a:prstGeom prst="rect">
            <a:avLst/>
          </a:prstGeom>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2" name="标题 1"/>
          <p:cNvSpPr>
            <a:spLocks noGrp="1"/>
          </p:cNvSpPr>
          <p:nvPr>
            <p:ph type="title"/>
          </p:nvPr>
        </p:nvSpPr>
        <p:spPr/>
        <p:txBody>
          <a:bodyPr/>
          <a:lstStyle/>
          <a:p>
            <a:r>
              <a:rPr lang="en-US" altLang="zh-CN"/>
              <a:t>Triton example: Sum</a:t>
            </a:r>
            <a:endParaRPr lang="zh-CN" altLang="en-US"/>
          </a:p>
        </p:txBody>
      </p:sp>
      <p:sp>
        <p:nvSpPr>
          <p:cNvPr id="1048723" name="页脚占位符 3"/>
          <p:cNvSpPr>
            <a:spLocks noGrp="1"/>
          </p:cNvSpPr>
          <p:nvPr>
            <p:ph type="ftr" sz="quarter" idx="11"/>
          </p:nvPr>
        </p:nvSpPr>
        <p:spPr/>
        <p:txBody>
          <a:bodyPr/>
          <a:lstStyle/>
          <a:p>
            <a:endParaRPr lang="zh-CN" altLang="en-US" dirty="0"/>
          </a:p>
        </p:txBody>
      </p:sp>
      <p:sp>
        <p:nvSpPr>
          <p:cNvPr id="1048724" name="灯片编号占位符 4"/>
          <p:cNvSpPr>
            <a:spLocks noGrp="1"/>
          </p:cNvSpPr>
          <p:nvPr>
            <p:ph type="sldNum" sz="quarter" idx="12"/>
          </p:nvPr>
        </p:nvSpPr>
        <p:spPr/>
        <p:txBody>
          <a:bodyPr/>
          <a:lstStyle/>
          <a:p>
            <a:fld id="{B33F7469-D28B-482F-B1B6-3B8E7CF51519}" type="slidenum">
              <a:rPr lang="zh-CN" altLang="en-US" smtClean="0"/>
              <a:t>18</a:t>
            </a:fld>
            <a:endParaRPr lang="zh-CN" altLang="en-US" dirty="0"/>
          </a:p>
        </p:txBody>
      </p:sp>
      <p:pic>
        <p:nvPicPr>
          <p:cNvPr id="2097169" name="内容占位符 5"/>
          <p:cNvPicPr>
            <a:picLocks noGrp="1" noChangeAspect="1"/>
          </p:cNvPicPr>
          <p:nvPr>
            <p:ph sz="quarter" idx="13"/>
            <p:custDataLst>
              <p:tags r:id="rId1"/>
            </p:custDataLst>
          </p:nvPr>
        </p:nvPicPr>
        <p:blipFill>
          <a:blip r:embed="rId4"/>
          <a:stretch>
            <a:fillRect/>
          </a:stretch>
        </p:blipFill>
        <p:spPr>
          <a:xfrm>
            <a:off x="1327566" y="2731847"/>
            <a:ext cx="8496737" cy="3187864"/>
          </a:xfrm>
          <a:prstGeom prst="rect">
            <a:avLst/>
          </a:prstGeom>
        </p:spPr>
      </p:pic>
      <p:sp>
        <p:nvSpPr>
          <p:cNvPr id="1048725" name="内容占位符 2"/>
          <p:cNvSpPr>
            <a:spLocks noGrp="1"/>
          </p:cNvSpPr>
          <p:nvPr>
            <p:custDataLst>
              <p:tags r:id="rId2"/>
            </p:custDataLst>
          </p:nvPr>
        </p:nvSpPr>
        <p:spPr>
          <a:xfrm>
            <a:off x="878840" y="1386840"/>
            <a:ext cx="10301605" cy="948055"/>
          </a:xfrm>
          <a:prstGeom prst="rect">
            <a:avLst/>
          </a:prstGeom>
        </p:spPr>
        <p:txBody>
          <a:bodyPr vert="horz" lIns="91440" tIns="45720" rIns="91440" bIns="45720" rtlCol="0" anchor="t">
            <a:noAutofit/>
          </a:bodyPr>
          <a:lst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a:lstStyle>
          <a:p>
            <a:r>
              <a:rPr lang="zh-CN" altLang="en-US">
                <a:sym typeface="+mn-ea"/>
              </a:rPr>
              <a:t>Reduction is relatively more complex and requires a tree-like parallel structure. However, Triton abstracts the underlying tree-based exchange logic and encapsulates it within the tl.sum function, enabling direct invocation.</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t>reduction of massive data</a:t>
            </a:r>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1048673" name="灯片编号占位符 4"/>
          <p:cNvSpPr>
            <a:spLocks noGrp="1"/>
          </p:cNvSpPr>
          <p:nvPr>
            <p:ph type="sldNum" sz="quarter" idx="12"/>
          </p:nvPr>
        </p:nvSpPr>
        <p:spPr/>
        <p:txBody>
          <a:bodyPr/>
          <a:lstStyle/>
          <a:p>
            <a:fld id="{B33F7469-D28B-482F-B1B6-3B8E7CF51519}" type="slidenum">
              <a:rPr lang="zh-CN" altLang="en-US" smtClean="0"/>
              <a:t>19</a:t>
            </a:fld>
            <a:endParaRPr lang="zh-CN" altLang="en-US" dirty="0"/>
          </a:p>
        </p:txBody>
      </p:sp>
      <p:sp>
        <p:nvSpPr>
          <p:cNvPr id="3" name="内容占位符 2"/>
          <p:cNvSpPr>
            <a:spLocks noGrp="1"/>
          </p:cNvSpPr>
          <p:nvPr>
            <p:ph sz="quarter" idx="13"/>
          </p:nvPr>
        </p:nvSpPr>
        <p:spPr/>
        <p:txBody>
          <a:bodyPr/>
          <a:lstStyle/>
          <a:p>
            <a:r>
              <a:rPr lang="zh-CN" altLang="en-US"/>
              <a:t>Question: How do different threads operate on separate SMs and share intermediate results?</a:t>
            </a:r>
          </a:p>
          <a:p>
            <a:r>
              <a:rPr lang="zh-CN" altLang="en-US"/>
              <a:t>ideal global synchronization</a:t>
            </a:r>
          </a:p>
          <a:p>
            <a:pPr lvl="1"/>
            <a:r>
              <a:rPr lang="zh-CN" altLang="en-US"/>
              <a:t>If CUDA supports Global Barrier:</a:t>
            </a:r>
          </a:p>
          <a:p>
            <a:pPr lvl="2"/>
            <a:r>
              <a:rPr lang="zh-CN" altLang="en-US"/>
              <a:t>All blocks sync automatically after the first round of reduction</a:t>
            </a:r>
          </a:p>
          <a:p>
            <a:pPr lvl="2"/>
            <a:r>
              <a:rPr lang="zh-CN" altLang="en-US"/>
              <a:t>Continue the recursive reduction until a single value is obtained</a:t>
            </a:r>
          </a:p>
          <a:p>
            <a:pPr lvl="0"/>
            <a:r>
              <a:rPr lang="zh-CN" altLang="en-US"/>
              <a:t>Why doesnt CUDA support global synchronization on the device side?</a:t>
            </a:r>
          </a:p>
          <a:p>
            <a:pPr lvl="1"/>
            <a:r>
              <a:rPr lang="zh-CN" altLang="en-US"/>
              <a:t>The hardware cost is prohibitively high: over 80 SMs,and if each supports multiple resident blocks, global synchronization requires massive hardware logic.</a:t>
            </a:r>
          </a:p>
          <a:p>
            <a:pPr lvl="1"/>
            <a:r>
              <a:rPr lang="zh-CN" altLang="en-US"/>
              <a:t>Deadlock risk: If the number of blocks initiated by the programmer exceeds the GPUs concurrent execution capacity (SM × number of resident blocks per SM), some blocks may be suspended. If running blocks wait for synchronization from suspended blocks, a deadlock may occur.</a:t>
            </a:r>
          </a:p>
          <a:p>
            <a:endParaRPr lang="zh-CN" altLang="en-US"/>
          </a:p>
          <a:p>
            <a:pPr lvl="1"/>
            <a:endParaRPr lang="zh-CN" altLang="en-US"/>
          </a:p>
          <a:p>
            <a:endParaRPr lang="zh-CN" altLang="en-US"/>
          </a:p>
          <a:p>
            <a:endParaRPr lang="zh-CN" altLang="en-US"/>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3" name="标题 1"/>
          <p:cNvSpPr>
            <a:spLocks noGrp="1"/>
          </p:cNvSpPr>
          <p:nvPr>
            <p:ph type="title"/>
          </p:nvPr>
        </p:nvSpPr>
        <p:spPr/>
        <p:txBody>
          <a:bodyPr/>
          <a:lstStyle/>
          <a:p>
            <a:r>
              <a:rPr lang="zh-CN" altLang="en-US"/>
              <a:t>Solution: Kernel Decomposition</a:t>
            </a:r>
          </a:p>
        </p:txBody>
      </p:sp>
      <p:sp>
        <p:nvSpPr>
          <p:cNvPr id="1048734" name="页脚占位符 3"/>
          <p:cNvSpPr>
            <a:spLocks noGrp="1"/>
          </p:cNvSpPr>
          <p:nvPr>
            <p:ph type="ftr" sz="quarter" idx="11"/>
          </p:nvPr>
        </p:nvSpPr>
        <p:spPr/>
        <p:txBody>
          <a:bodyPr/>
          <a:lstStyle/>
          <a:p>
            <a:endParaRPr lang="zh-CN" altLang="en-US"/>
          </a:p>
        </p:txBody>
      </p:sp>
      <p:sp>
        <p:nvSpPr>
          <p:cNvPr id="1048735" name="灯片编号占位符 4"/>
          <p:cNvSpPr>
            <a:spLocks noGrp="1"/>
          </p:cNvSpPr>
          <p:nvPr>
            <p:ph type="sldNum" sz="quarter" idx="12"/>
          </p:nvPr>
        </p:nvSpPr>
        <p:spPr/>
        <p:txBody>
          <a:bodyPr/>
          <a:lstStyle/>
          <a:p>
            <a:r>
              <a:rPr lang="en-US" altLang="zh-CN" dirty="0"/>
              <a:t>19</a:t>
            </a:r>
          </a:p>
        </p:txBody>
      </p:sp>
      <p:sp>
        <p:nvSpPr>
          <p:cNvPr id="2" name="内容占位符 1"/>
          <p:cNvSpPr>
            <a:spLocks noGrp="1"/>
          </p:cNvSpPr>
          <p:nvPr>
            <p:ph sz="quarter" idx="13"/>
          </p:nvPr>
        </p:nvSpPr>
        <p:spPr/>
        <p:txBody>
          <a:bodyPr/>
          <a:lstStyle/>
          <a:p>
            <a:r>
              <a:rPr lang="zh-CN" altLang="en-US"/>
              <a:t>Since synchronization cannot be performed within the Kernel, we can achieve it by terminating the Kernel. The end of the Launch process naturally serves as a global synchronization point.</a:t>
            </a:r>
          </a:p>
          <a:p>
            <a:r>
              <a:rPr lang="zh-CN" altLang="en-US"/>
              <a:t>Multi-level reduction:</a:t>
            </a:r>
          </a:p>
          <a:p>
            <a:pPr lvl="1"/>
            <a:r>
              <a:rPr lang="zh-CN" altLang="en-US"/>
              <a:t>Level 0: Launch a large number of Blocks, each reducing a portion of the data, and write the results to global memory</a:t>
            </a:r>
          </a:p>
          <a:p>
            <a:pPr lvl="1"/>
            <a:r>
              <a:rPr lang="zh-CN" altLang="en-US"/>
              <a:t>Level 1: Start a small number of Blocks and read the Level 0 results for secondary reduction</a:t>
            </a:r>
          </a:p>
          <a:p>
            <a:pPr lvl="1"/>
            <a:endParaRPr lang="zh-CN" altLang="en-US"/>
          </a:p>
          <a:p>
            <a:endParaRPr lang="zh-CN" altLang="en-US"/>
          </a:p>
        </p:txBody>
      </p:sp>
      <p:pic>
        <p:nvPicPr>
          <p:cNvPr id="3" name="内容占位符 5"/>
          <p:cNvPicPr>
            <a:picLocks noChangeAspect="1"/>
          </p:cNvPicPr>
          <p:nvPr>
            <p:custDataLst>
              <p:tags r:id="rId1"/>
            </p:custDataLst>
          </p:nvPr>
        </p:nvPicPr>
        <p:blipFill>
          <a:blip r:embed="rId3"/>
          <a:stretch>
            <a:fillRect/>
          </a:stretch>
        </p:blipFill>
        <p:spPr>
          <a:xfrm>
            <a:off x="1932305" y="4163060"/>
            <a:ext cx="7903845" cy="2110105"/>
          </a:xfrm>
          <a:prstGeom prst="rect">
            <a:avLst/>
          </a:prstGeom>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8" name="标题 1"/>
          <p:cNvSpPr>
            <a:spLocks noGrp="1"/>
          </p:cNvSpPr>
          <p:nvPr>
            <p:ph type="title"/>
          </p:nvPr>
        </p:nvSpPr>
        <p:spPr/>
        <p:txBody>
          <a:bodyPr/>
          <a:lstStyle/>
          <a:p>
            <a:r>
              <a:rPr lang="zh-CN" altLang="en-US"/>
              <a:t>activation function</a:t>
            </a:r>
          </a:p>
        </p:txBody>
      </p:sp>
      <p:sp>
        <p:nvSpPr>
          <p:cNvPr id="1048740" name="页脚占位符 3"/>
          <p:cNvSpPr>
            <a:spLocks noGrp="1"/>
          </p:cNvSpPr>
          <p:nvPr>
            <p:ph type="ftr" sz="quarter" idx="11"/>
          </p:nvPr>
        </p:nvSpPr>
        <p:spPr/>
        <p:txBody>
          <a:bodyPr/>
          <a:lstStyle/>
          <a:p>
            <a:endParaRPr lang="zh-CN" altLang="en-US" dirty="0"/>
          </a:p>
        </p:txBody>
      </p:sp>
      <p:sp>
        <p:nvSpPr>
          <p:cNvPr id="1048741" name="灯片编号占位符 4"/>
          <p:cNvSpPr>
            <a:spLocks noGrp="1"/>
          </p:cNvSpPr>
          <p:nvPr>
            <p:ph type="sldNum" sz="quarter" idx="12"/>
          </p:nvPr>
        </p:nvSpPr>
        <p:spPr/>
        <p:txBody>
          <a:bodyPr/>
          <a:lstStyle/>
          <a:p>
            <a:fld id="{B33F7469-D28B-482F-B1B6-3B8E7CF51519}" type="slidenum">
              <a:rPr lang="zh-CN" altLang="en-US" smtClean="0"/>
              <a:t>21</a:t>
            </a:fld>
            <a:endParaRPr lang="zh-CN" altLang="en-US" dirty="0"/>
          </a:p>
        </p:txBody>
      </p:sp>
      <p:sp>
        <p:nvSpPr>
          <p:cNvPr id="1048739" name="内容占位符 2"/>
          <p:cNvSpPr>
            <a:spLocks noGrp="1"/>
          </p:cNvSpPr>
          <p:nvPr>
            <p:ph sz="quarter" idx="13"/>
          </p:nvPr>
        </p:nvSpPr>
        <p:spPr/>
        <p:txBody>
          <a:bodyPr>
            <a:noAutofit/>
          </a:bodyPr>
          <a:lstStyle/>
          <a:p>
            <a:r>
              <a:rPr lang="zh-CN" altLang="en-US"/>
              <a:t>Definition: Introduces nonlinear capabilities to neural networks, enabling the model to fit complex function mappings.</a:t>
            </a:r>
          </a:p>
        </p:txBody>
      </p:sp>
      <p:pic>
        <p:nvPicPr>
          <p:cNvPr id="2097171" name="图片 5"/>
          <p:cNvPicPr>
            <a:picLocks noChangeAspect="1"/>
          </p:cNvPicPr>
          <p:nvPr>
            <p:custDataLst>
              <p:tags r:id="rId1"/>
            </p:custDataLst>
          </p:nvPr>
        </p:nvPicPr>
        <p:blipFill>
          <a:blip r:embed="rId7"/>
          <a:stretch>
            <a:fillRect/>
          </a:stretch>
        </p:blipFill>
        <p:spPr>
          <a:xfrm>
            <a:off x="945515" y="2223770"/>
            <a:ext cx="4269105" cy="3513455"/>
          </a:xfrm>
          <a:prstGeom prst="rect">
            <a:avLst/>
          </a:prstGeom>
        </p:spPr>
      </p:pic>
      <p:sp>
        <p:nvSpPr>
          <p:cNvPr id="1048742" name="内容占位符 2"/>
          <p:cNvSpPr>
            <a:spLocks noGrp="1"/>
          </p:cNvSpPr>
          <p:nvPr>
            <p:custDataLst>
              <p:tags r:id="rId2"/>
            </p:custDataLst>
          </p:nvPr>
        </p:nvSpPr>
        <p:spPr>
          <a:xfrm>
            <a:off x="5527040" y="2720340"/>
            <a:ext cx="5198745" cy="602615"/>
          </a:xfrm>
          <a:prstGeom prst="rect">
            <a:avLst/>
          </a:prstGeom>
        </p:spPr>
        <p:txBody>
          <a:bodyPr vert="horz" lIns="91440" tIns="45720" rIns="91440" bIns="45720" rtlCol="0" anchor="t">
            <a:normAutofit/>
          </a:bodyPr>
          <a:lst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a:lstStyle>
          <a:p>
            <a:r>
              <a:rPr lang="zh-CN" altLang="en-US"/>
              <a:t>computational formula ：</a:t>
            </a:r>
          </a:p>
        </p:txBody>
      </p:sp>
      <p:pic>
        <p:nvPicPr>
          <p:cNvPr id="2097172" name="图片 10"/>
          <p:cNvPicPr>
            <a:picLocks noChangeAspect="1"/>
          </p:cNvPicPr>
          <p:nvPr>
            <p:custDataLst>
              <p:tags r:id="rId3"/>
            </p:custDataLst>
          </p:nvPr>
        </p:nvPicPr>
        <p:blipFill>
          <a:blip r:embed="rId8"/>
          <a:stretch>
            <a:fillRect/>
          </a:stretch>
        </p:blipFill>
        <p:spPr>
          <a:xfrm>
            <a:off x="7212965" y="3230880"/>
            <a:ext cx="3512820" cy="563880"/>
          </a:xfrm>
          <a:prstGeom prst="rect">
            <a:avLst/>
          </a:prstGeom>
        </p:spPr>
      </p:pic>
      <p:sp>
        <p:nvSpPr>
          <p:cNvPr id="1048743" name="内容占位符 2"/>
          <p:cNvSpPr>
            <a:spLocks noGrp="1"/>
          </p:cNvSpPr>
          <p:nvPr>
            <p:custDataLst>
              <p:tags r:id="rId4"/>
            </p:custDataLst>
          </p:nvPr>
        </p:nvSpPr>
        <p:spPr>
          <a:xfrm>
            <a:off x="5532755" y="2117725"/>
            <a:ext cx="11277600" cy="602615"/>
          </a:xfrm>
          <a:prstGeom prst="rect">
            <a:avLst/>
          </a:prstGeom>
        </p:spPr>
        <p:txBody>
          <a:bodyPr vert="horz" lIns="91440" tIns="45720" rIns="91440" bIns="45720" rtlCol="0" anchor="t">
            <a:normAutofit/>
          </a:bodyPr>
          <a:lst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a:lstStyle>
          <a:p>
            <a:r>
              <a:rPr lang="zh-CN" altLang="en-US"/>
              <a:t>Take GELU as an example</a:t>
            </a:r>
          </a:p>
        </p:txBody>
      </p:sp>
      <p:sp>
        <p:nvSpPr>
          <p:cNvPr id="1048744" name="内容占位符 2"/>
          <p:cNvSpPr>
            <a:spLocks noGrp="1"/>
          </p:cNvSpPr>
          <p:nvPr>
            <p:custDataLst>
              <p:tags r:id="rId5"/>
            </p:custDataLst>
          </p:nvPr>
        </p:nvSpPr>
        <p:spPr>
          <a:xfrm>
            <a:off x="5412740" y="3794760"/>
            <a:ext cx="6388100" cy="1522095"/>
          </a:xfrm>
          <a:prstGeom prst="rect">
            <a:avLst/>
          </a:prstGeom>
        </p:spPr>
        <p:txBody>
          <a:bodyPr vert="horz" lIns="91440" tIns="45720" rIns="91440" bIns="45720" rtlCol="0" anchor="t">
            <a:noAutofit/>
          </a:bodyPr>
          <a:lstStyle>
            <a:lvl1pPr marL="360045" marR="0" indent="-360045" algn="l" defTabSz="342900" rtl="0" eaLnBrk="1" fontAlgn="auto" latinLnBrk="0" hangingPunct="1">
              <a:lnSpc>
                <a:spcPct val="100000"/>
              </a:lnSpc>
              <a:spcBef>
                <a:spcPts val="1500"/>
              </a:spcBef>
              <a:spcAft>
                <a:spcPts val="0"/>
              </a:spcAft>
              <a:buClr>
                <a:srgbClr val="8B0012"/>
              </a:buClr>
              <a:buSzTx/>
              <a:buFont typeface="文泉驿微米黑" panose="020B0606030804020204" charset="-122"/>
              <a:buChar char="■"/>
              <a:defRPr sz="2400" b="0" i="0" kern="1200" baseline="0">
                <a:solidFill>
                  <a:schemeClr val="tx1">
                    <a:lumMod val="75000"/>
                    <a:lumOff val="25000"/>
                  </a:schemeClr>
                </a:solidFill>
                <a:latin typeface="Calibri" panose="020F0502020204030204" charset="0"/>
                <a:ea typeface="微软雅黑" panose="020B0503020204020204" charset="-122"/>
                <a:cs typeface="+mn-cs"/>
              </a:defRPr>
            </a:lvl1pPr>
            <a:lvl2pPr marL="557530" marR="0" indent="-214630" algn="l" defTabSz="342900" rtl="0" eaLnBrk="1" fontAlgn="auto" latinLnBrk="0" hangingPunct="1">
              <a:lnSpc>
                <a:spcPct val="100000"/>
              </a:lnSpc>
              <a:spcBef>
                <a:spcPts val="750"/>
              </a:spcBef>
              <a:spcAft>
                <a:spcPts val="0"/>
              </a:spcAft>
              <a:buClr>
                <a:srgbClr val="8B0012"/>
              </a:buClr>
              <a:buSzPct val="75000"/>
              <a:buFont typeface="文泉驿微米黑" panose="020B0606030804020204" charset="-122"/>
              <a:buChar char="♦"/>
              <a:defRPr sz="2000" kern="1200" baseline="0">
                <a:solidFill>
                  <a:schemeClr val="tx1">
                    <a:lumMod val="75000"/>
                    <a:lumOff val="25000"/>
                  </a:schemeClr>
                </a:solidFill>
                <a:latin typeface="Calibri" panose="020F0502020204030204" charset="0"/>
                <a:ea typeface="微软雅黑" panose="020B0503020204020204" charset="-122"/>
                <a:cs typeface="+mn-cs"/>
              </a:defRPr>
            </a:lvl2pPr>
            <a:lvl3pPr marL="8572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600" kern="1200" baseline="0">
                <a:solidFill>
                  <a:schemeClr val="tx1">
                    <a:lumMod val="75000"/>
                    <a:lumOff val="25000"/>
                  </a:schemeClr>
                </a:solidFill>
                <a:latin typeface="Calibri" panose="020F0502020204030204" charset="0"/>
                <a:ea typeface="微软雅黑" panose="020B0503020204020204" charset="-122"/>
                <a:cs typeface="+mn-cs"/>
              </a:defRPr>
            </a:lvl3pPr>
            <a:lvl4pPr marL="1200150" marR="0" indent="-171450" algn="l" defTabSz="342900" rtl="0" eaLnBrk="1" fontAlgn="auto" latinLnBrk="0" hangingPunct="1">
              <a:lnSpc>
                <a:spcPct val="100000"/>
              </a:lnSpc>
              <a:spcBef>
                <a:spcPts val="750"/>
              </a:spcBef>
              <a:spcAft>
                <a:spcPts val="0"/>
              </a:spcAft>
              <a:buClr>
                <a:srgbClr val="8B0012"/>
              </a:buClr>
              <a:buSzTx/>
              <a:buFont typeface="文泉驿微米黑" panose="020B0606030804020204" charset="-122"/>
              <a:buChar char="●"/>
              <a:defRPr sz="1200" kern="1200" baseline="0">
                <a:solidFill>
                  <a:schemeClr val="tx1">
                    <a:lumMod val="75000"/>
                    <a:lumOff val="25000"/>
                  </a:schemeClr>
                </a:solidFill>
                <a:latin typeface="Calibri" panose="020F0502020204030204" charset="0"/>
                <a:ea typeface="微软雅黑" panose="020B0503020204020204" charset="-122"/>
                <a:cs typeface="+mn-cs"/>
              </a:defRPr>
            </a:lvl4pPr>
            <a:lvl5pPr marL="1543050" marR="0" indent="-171450" algn="l" defTabSz="342900" rtl="0" eaLnBrk="1" fontAlgn="auto" latinLnBrk="0" hangingPunct="1">
              <a:lnSpc>
                <a:spcPct val="100000"/>
              </a:lnSpc>
              <a:spcBef>
                <a:spcPts val="750"/>
              </a:spcBef>
              <a:spcAft>
                <a:spcPts val="0"/>
              </a:spcAft>
              <a:buClr>
                <a:srgbClr val="549E39"/>
              </a:buClr>
              <a:buSzTx/>
              <a:buFont typeface="Wingdings 3" panose="05040102010807070707"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Font typeface="Wingdings 3" panose="05040102010807070707" charset="2"/>
              <a:buChar char=""/>
              <a:defRPr sz="900" kern="1200">
                <a:solidFill>
                  <a:schemeClr val="tx1">
                    <a:lumMod val="75000"/>
                    <a:lumOff val="25000"/>
                  </a:schemeClr>
                </a:solidFill>
                <a:latin typeface="+mn-lt"/>
                <a:ea typeface="+mn-ea"/>
                <a:cs typeface="+mn-cs"/>
              </a:defRPr>
            </a:lvl9pPr>
          </a:lstStyle>
          <a:p>
            <a:pPr>
              <a:lnSpc>
                <a:spcPct val="125000"/>
              </a:lnSpc>
              <a:buClr>
                <a:srgbClr val="D9D9D9"/>
              </a:buClr>
            </a:pPr>
            <a:r>
              <a:rPr lang="zh-CN" altLang="en-US" sz="2000">
                <a:sym typeface="+mn-ea"/>
              </a:rPr>
              <a:t>Due to the inclusion of transcendental functions, the computational intensity is high. When executed independently, it is constrained by memory bandwidth. However, when integrated with GEMM, the complex erf calculations significantly reduce kernel latency.</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5" name="标题 1"/>
          <p:cNvSpPr>
            <a:spLocks noGrp="1"/>
          </p:cNvSpPr>
          <p:nvPr>
            <p:ph type="title"/>
          </p:nvPr>
        </p:nvSpPr>
        <p:spPr/>
        <p:txBody>
          <a:bodyPr/>
          <a:lstStyle/>
          <a:p>
            <a:r>
              <a:rPr lang="zh-CN" altLang="en-US"/>
              <a:t>LayerNorm</a:t>
            </a:r>
          </a:p>
        </p:txBody>
      </p:sp>
      <p:sp>
        <p:nvSpPr>
          <p:cNvPr id="1048747" name="页脚占位符 3"/>
          <p:cNvSpPr>
            <a:spLocks noGrp="1"/>
          </p:cNvSpPr>
          <p:nvPr>
            <p:ph type="ftr" sz="quarter" idx="11"/>
          </p:nvPr>
        </p:nvSpPr>
        <p:spPr/>
        <p:txBody>
          <a:bodyPr/>
          <a:lstStyle/>
          <a:p>
            <a:endParaRPr lang="zh-CN" altLang="en-US"/>
          </a:p>
        </p:txBody>
      </p:sp>
      <p:sp>
        <p:nvSpPr>
          <p:cNvPr id="1048673" name="灯片编号占位符 4"/>
          <p:cNvSpPr>
            <a:spLocks noGrp="1"/>
          </p:cNvSpPr>
          <p:nvPr>
            <p:ph type="sldNum" sz="quarter" idx="12"/>
          </p:nvPr>
        </p:nvSpPr>
        <p:spPr/>
        <p:txBody>
          <a:bodyPr/>
          <a:lstStyle/>
          <a:p>
            <a:fld id="{B33F7469-D28B-482F-B1B6-3B8E7CF51519}" type="slidenum">
              <a:rPr lang="zh-CN" altLang="en-US" smtClean="0"/>
              <a:t>22</a:t>
            </a:fld>
            <a:endParaRPr lang="zh-CN" altLang="en-US" dirty="0"/>
          </a:p>
        </p:txBody>
      </p:sp>
      <p:sp>
        <p:nvSpPr>
          <p:cNvPr id="1048746" name="内容占位符 2"/>
          <p:cNvSpPr>
            <a:spLocks noGrp="1"/>
          </p:cNvSpPr>
          <p:nvPr>
            <p:ph sz="quarter" idx="13"/>
          </p:nvPr>
        </p:nvSpPr>
        <p:spPr/>
        <p:txBody>
          <a:bodyPr/>
          <a:lstStyle/>
          <a:p>
            <a:r>
              <a:rPr lang="en-US" altLang="zh-CN"/>
              <a:t>LayerNorm is a core component of modern neural networks like Transformers, whose core idea is to normalize all features of a single sample.</a:t>
            </a:r>
            <a:endParaRPr lang="zh-CN" altLang="en-US"/>
          </a:p>
          <a:p>
            <a:r>
              <a:rPr lang="zh-CN" altLang="en-US"/>
              <a:t>Formula: For the input x, the output y is</a:t>
            </a:r>
          </a:p>
          <a:p>
            <a:endParaRPr lang="zh-CN" altLang="en-US"/>
          </a:p>
          <a:p>
            <a:endParaRPr lang="zh-CN" altLang="en-US"/>
          </a:p>
          <a:p>
            <a:endParaRPr lang="zh-CN" altLang="en-US"/>
          </a:p>
          <a:p>
            <a:r>
              <a:rPr lang="zh-CN" altLang="en-US"/>
              <a:t>Computational dependencies: Calculating mean and variance requires traversing the entire row of data, which is essentially a Reduction operation.</a:t>
            </a:r>
          </a:p>
        </p:txBody>
      </p:sp>
      <p:pic>
        <p:nvPicPr>
          <p:cNvPr id="2097173" name="图片 5"/>
          <p:cNvPicPr>
            <a:picLocks noChangeAspect="1"/>
          </p:cNvPicPr>
          <p:nvPr>
            <p:custDataLst>
              <p:tags r:id="rId1"/>
            </p:custDataLst>
          </p:nvPr>
        </p:nvPicPr>
        <p:blipFill>
          <a:blip r:embed="rId3"/>
          <a:stretch>
            <a:fillRect/>
          </a:stretch>
        </p:blipFill>
        <p:spPr>
          <a:xfrm>
            <a:off x="3996690" y="3042285"/>
            <a:ext cx="3619500" cy="939800"/>
          </a:xfrm>
          <a:prstGeom prst="rect">
            <a:avLst/>
          </a:prstGeom>
        </p:spPr>
      </p:pic>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The Solution:</a:t>
            </a:r>
            <a:r>
              <a:rPr lang="x-none" altLang="zh-CN">
                <a:sym typeface="+mn-ea"/>
              </a:rPr>
              <a:t> </a:t>
            </a:r>
            <a:r>
              <a:rPr>
                <a:sym typeface="+mn-ea"/>
              </a:rPr>
              <a:t>FlagOS,</a:t>
            </a:r>
            <a:r>
              <a:rPr lang="x-none" altLang="zh-CN">
                <a:sym typeface="+mn-ea"/>
              </a:rPr>
              <a:t> </a:t>
            </a:r>
            <a:r>
              <a:rPr>
                <a:sym typeface="+mn-ea"/>
              </a:rPr>
              <a:t>a Unified AI Software Stack</a:t>
            </a:r>
            <a:endParaRPr lang="zh-CN" altLang="en-US"/>
          </a:p>
        </p:txBody>
      </p:sp>
      <p:pic>
        <p:nvPicPr>
          <p:cNvPr id="7" name="内容占位符 6" descr="flagos-architecture-e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2170" y="1318260"/>
            <a:ext cx="9408795" cy="4853305"/>
          </a:xfrm>
          <a:prstGeom prst="rect">
            <a:avLst/>
          </a:prstGeom>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사각형: 둥근 모서리 832"/>
          <p:cNvSpPr/>
          <p:nvPr>
            <p:custDataLst>
              <p:tags r:id="rId1"/>
            </p:custDataLst>
          </p:nvPr>
        </p:nvSpPr>
        <p:spPr>
          <a:xfrm>
            <a:off x="89535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사각형: 둥근 모서리 832"/>
          <p:cNvSpPr/>
          <p:nvPr>
            <p:custDataLst>
              <p:tags r:id="rId2"/>
            </p:custDataLst>
          </p:nvPr>
        </p:nvSpPr>
        <p:spPr>
          <a:xfrm>
            <a:off x="440023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사각형: 둥근 모서리 832"/>
          <p:cNvSpPr/>
          <p:nvPr>
            <p:custDataLst>
              <p:tags r:id="rId3"/>
            </p:custDataLst>
          </p:nvPr>
        </p:nvSpPr>
        <p:spPr>
          <a:xfrm>
            <a:off x="7905111" y="1861819"/>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사각형: 둥근 모서리 832"/>
          <p:cNvSpPr/>
          <p:nvPr>
            <p:custDataLst>
              <p:tags r:id="rId4"/>
            </p:custDataLst>
          </p:nvPr>
        </p:nvSpPr>
        <p:spPr>
          <a:xfrm>
            <a:off x="89535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사각형: 둥근 모서리 832"/>
          <p:cNvSpPr/>
          <p:nvPr>
            <p:custDataLst>
              <p:tags r:id="rId5"/>
            </p:custDataLst>
          </p:nvPr>
        </p:nvSpPr>
        <p:spPr>
          <a:xfrm>
            <a:off x="440023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사각형: 둥근 모서리 832"/>
          <p:cNvSpPr/>
          <p:nvPr>
            <p:custDataLst>
              <p:tags r:id="rId6"/>
            </p:custDataLst>
          </p:nvPr>
        </p:nvSpPr>
        <p:spPr>
          <a:xfrm>
            <a:off x="7905111" y="3755727"/>
            <a:ext cx="3162940" cy="1506517"/>
          </a:xfrm>
          <a:prstGeom prst="roundRect">
            <a:avLst>
              <a:gd name="adj" fmla="val 6813"/>
            </a:avLst>
          </a:prstGeom>
          <a:solidFill>
            <a:schemeClr val="bg1"/>
          </a:solidFill>
          <a:ln>
            <a:noFill/>
          </a:ln>
          <a:effectLst>
            <a:outerShdw blurRad="190500" dist="635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사각형: 둥근 모서리 72"/>
          <p:cNvSpPr/>
          <p:nvPr>
            <p:custDataLst>
              <p:tags r:id="rId7"/>
            </p:custDataLst>
          </p:nvPr>
        </p:nvSpPr>
        <p:spPr>
          <a:xfrm>
            <a:off x="2298364" y="1689569"/>
            <a:ext cx="356915" cy="356915"/>
          </a:xfrm>
          <a:prstGeom prst="ellipse">
            <a:avLst/>
          </a:prstGeom>
          <a:blipFill rotWithShape="1">
            <a:blip r:embed="rId18"/>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1" name="사각형: 둥근 모서리 72"/>
          <p:cNvSpPr/>
          <p:nvPr>
            <p:custDataLst>
              <p:tags r:id="rId8"/>
            </p:custDataLst>
          </p:nvPr>
        </p:nvSpPr>
        <p:spPr>
          <a:xfrm>
            <a:off x="5803244" y="1689569"/>
            <a:ext cx="356915" cy="356915"/>
          </a:xfrm>
          <a:prstGeom prst="ellipse">
            <a:avLst/>
          </a:prstGeom>
          <a:blipFill rotWithShape="1">
            <a:blip r:embed="rId19"/>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2" name="사각형: 둥근 모서리 72"/>
          <p:cNvSpPr/>
          <p:nvPr>
            <p:custDataLst>
              <p:tags r:id="rId9"/>
            </p:custDataLst>
          </p:nvPr>
        </p:nvSpPr>
        <p:spPr>
          <a:xfrm>
            <a:off x="9308124" y="1689569"/>
            <a:ext cx="356915" cy="356915"/>
          </a:xfrm>
          <a:prstGeom prst="ellipse">
            <a:avLst/>
          </a:prstGeom>
          <a:blipFill rotWithShape="1">
            <a:blip r:embed="rId20"/>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5" name="사각형: 둥근 모서리 72"/>
          <p:cNvSpPr/>
          <p:nvPr>
            <p:custDataLst>
              <p:tags r:id="rId10"/>
            </p:custDataLst>
          </p:nvPr>
        </p:nvSpPr>
        <p:spPr>
          <a:xfrm>
            <a:off x="2298364" y="3577269"/>
            <a:ext cx="356915" cy="356915"/>
          </a:xfrm>
          <a:prstGeom prst="ellipse">
            <a:avLst/>
          </a:prstGeom>
          <a:blipFill rotWithShape="1">
            <a:blip r:embed="rId21"/>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6" name="사각형: 둥근 모서리 72"/>
          <p:cNvSpPr/>
          <p:nvPr>
            <p:custDataLst>
              <p:tags r:id="rId11"/>
            </p:custDataLst>
          </p:nvPr>
        </p:nvSpPr>
        <p:spPr>
          <a:xfrm>
            <a:off x="5803244" y="3577269"/>
            <a:ext cx="356915" cy="356915"/>
          </a:xfrm>
          <a:prstGeom prst="ellipse">
            <a:avLst/>
          </a:prstGeom>
          <a:blipFill rotWithShape="1">
            <a:blip r:embed="rId22"/>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7" name="사각형: 둥근 모서리 72"/>
          <p:cNvSpPr/>
          <p:nvPr>
            <p:custDataLst>
              <p:tags r:id="rId12"/>
            </p:custDataLst>
          </p:nvPr>
        </p:nvSpPr>
        <p:spPr>
          <a:xfrm>
            <a:off x="9308124" y="3577269"/>
            <a:ext cx="356915" cy="356915"/>
          </a:xfrm>
          <a:prstGeom prst="ellipse">
            <a:avLst/>
          </a:prstGeom>
          <a:blipFill rotWithShape="1">
            <a:blip r:embed="rId2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bg1"/>
              </a:solidFill>
              <a:latin typeface="+mj-lt"/>
            </a:endParaRPr>
          </a:p>
        </p:txBody>
      </p:sp>
      <p:sp>
        <p:nvSpPr>
          <p:cNvPr id="28" name="object 3"/>
          <p:cNvSpPr txBox="1"/>
          <p:nvPr>
            <p:custDataLst>
              <p:tags r:id="rId13"/>
            </p:custDataLst>
          </p:nvPr>
        </p:nvSpPr>
        <p:spPr>
          <a:xfrm>
            <a:off x="1219842" y="251790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4" action="ppaction://hlinkfile"/>
              </a:rPr>
              <a:t>https://github.com/flagos-ai</a:t>
            </a:r>
          </a:p>
          <a:p>
            <a:endParaRPr lang="en-US" altLang="ko-KR" sz="1600" dirty="0"/>
          </a:p>
        </p:txBody>
      </p:sp>
      <p:sp>
        <p:nvSpPr>
          <p:cNvPr id="36" name="object 3"/>
          <p:cNvSpPr txBox="1"/>
          <p:nvPr>
            <p:custDataLst>
              <p:tags r:id="rId14"/>
            </p:custDataLst>
          </p:nvPr>
        </p:nvSpPr>
        <p:spPr>
          <a:xfrm>
            <a:off x="8015605" y="2341245"/>
            <a:ext cx="2882265"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zh-CN" sz="1600" dirty="0">
                <a:hlinkClick r:id="rId25" action="ppaction://hlinkfile"/>
              </a:rPr>
              <a:t>https://space.bilibili.com/3546791834290849</a:t>
            </a:r>
            <a:endParaRPr lang="en-US" altLang="zh-CN" sz="1600" dirty="0"/>
          </a:p>
        </p:txBody>
      </p:sp>
      <p:sp>
        <p:nvSpPr>
          <p:cNvPr id="42" name="object 3"/>
          <p:cNvSpPr txBox="1"/>
          <p:nvPr>
            <p:custDataLst>
              <p:tags r:id="rId15"/>
            </p:custDataLst>
          </p:nvPr>
        </p:nvSpPr>
        <p:spPr>
          <a:xfrm>
            <a:off x="1219842" y="4403854"/>
            <a:ext cx="2513958" cy="76644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6" action="ppaction://hlinkfile"/>
              </a:rPr>
              <a:t>https://www.zhihu.com/people/95-22-20-18/posts</a:t>
            </a:r>
            <a:endParaRPr lang="en-US" altLang="ko-KR" sz="1600" dirty="0"/>
          </a:p>
        </p:txBody>
      </p:sp>
      <p:sp>
        <p:nvSpPr>
          <p:cNvPr id="45" name="object 3"/>
          <p:cNvSpPr txBox="1"/>
          <p:nvPr>
            <p:custDataLst>
              <p:tags r:id="rId16"/>
            </p:custDataLst>
          </p:nvPr>
        </p:nvSpPr>
        <p:spPr>
          <a:xfrm>
            <a:off x="4724722" y="4403854"/>
            <a:ext cx="2513958" cy="396875"/>
          </a:xfrm>
          <a:prstGeom prst="rect">
            <a:avLst/>
          </a:prstGeom>
        </p:spPr>
        <p:txBody>
          <a:bodyPr vert="horz" wrap="square" lIns="0" tIns="14400" rIns="0" bIns="14400" rtlCol="0">
            <a:spAutoFit/>
          </a:bodyPr>
          <a:lstStyle>
            <a:defPPr>
              <a:defRPr lang="ko-KR"/>
            </a:defPPr>
            <a:lvl1pPr>
              <a:lnSpc>
                <a:spcPct val="150000"/>
              </a:lnSpc>
              <a:defRPr sz="1000">
                <a:solidFill>
                  <a:schemeClr val="bg2">
                    <a:lumMod val="50000"/>
                  </a:schemeClr>
                </a:solidFill>
                <a:cs typeface="Calibri" panose="020F0502020204030204" charset="0"/>
              </a:defRPr>
            </a:lvl1pPr>
          </a:lstStyle>
          <a:p>
            <a:r>
              <a:rPr lang="en-US" altLang="ko-KR" sz="1600" dirty="0">
                <a:hlinkClick r:id="rId27" action="ppaction://hlinkfile"/>
              </a:rPr>
              <a:t>https://flagos.io/Home</a:t>
            </a:r>
            <a:endParaRPr lang="en-US" altLang="ko-KR" sz="1600" dirty="0"/>
          </a:p>
        </p:txBody>
      </p:sp>
      <p:pic>
        <p:nvPicPr>
          <p:cNvPr id="54" name="图片 53" descr="weixin-DL0TqDNO"/>
          <p:cNvPicPr>
            <a:picLocks noChangeAspect="1"/>
          </p:cNvPicPr>
          <p:nvPr/>
        </p:nvPicPr>
        <p:blipFill>
          <a:blip r:embed="rId28"/>
          <a:stretch>
            <a:fillRect/>
          </a:stretch>
        </p:blipFill>
        <p:spPr>
          <a:xfrm>
            <a:off x="5408930" y="2046605"/>
            <a:ext cx="1255395" cy="1255395"/>
          </a:xfrm>
          <a:prstGeom prst="rect">
            <a:avLst/>
          </a:prstGeom>
        </p:spPr>
      </p:pic>
      <p:pic>
        <p:nvPicPr>
          <p:cNvPr id="55" name="图片 54" descr="feishu-qrcode-C75xQn56"/>
          <p:cNvPicPr>
            <a:picLocks noChangeAspect="1"/>
          </p:cNvPicPr>
          <p:nvPr/>
        </p:nvPicPr>
        <p:blipFill>
          <a:blip r:embed="rId29"/>
          <a:stretch>
            <a:fillRect/>
          </a:stretch>
        </p:blipFill>
        <p:spPr>
          <a:xfrm>
            <a:off x="8903970" y="3953510"/>
            <a:ext cx="1299210" cy="1308735"/>
          </a:xfrm>
          <a:prstGeom prst="rect">
            <a:avLst/>
          </a:prstGeom>
        </p:spPr>
      </p:pic>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그림 개체 틀 4"/>
          <p:cNvPicPr>
            <a:picLocks noGrp="1" noChangeAspect="1"/>
          </p:cNvPicPr>
          <p:nvPr>
            <p:ph type="pic" sz="quarter" idx="10"/>
          </p:nvPr>
        </p:nvPicPr>
        <p:blipFill>
          <a:blip r:embed="rId2"/>
          <a:srcRect l="2306" r="2306"/>
          <a:stretch>
            <a:fillRect/>
          </a:stretch>
        </p:blipFill>
        <p:spPr/>
      </p:pic>
      <p:sp>
        <p:nvSpPr>
          <p:cNvPr id="3" name="제목 2"/>
          <p:cNvSpPr>
            <a:spLocks noGrp="1"/>
          </p:cNvSpPr>
          <p:nvPr>
            <p:ph type="ctrTitle"/>
          </p:nvPr>
        </p:nvSpPr>
        <p:spPr>
          <a:xfrm>
            <a:off x="5625465" y="2373630"/>
            <a:ext cx="5739130" cy="2664460"/>
          </a:xfrm>
        </p:spPr>
        <p:txBody>
          <a:bodyPr/>
          <a:lstStyle/>
          <a:p>
            <a:pPr algn="l"/>
            <a:r>
              <a:rPr altLang="zh-CN" dirty="0">
                <a:latin typeface="微软雅黑" panose="020B0503020204020204" charset="-122"/>
                <a:ea typeface="微软雅黑" panose="020B0503020204020204" charset="-122"/>
                <a:cs typeface="微软雅黑" panose="020B0503020204020204" charset="-122"/>
              </a:rPr>
              <a:t>Thanks for your time</a:t>
            </a:r>
            <a:r>
              <a:rPr lang="zh-CN" altLang="en-US" dirty="0">
                <a:latin typeface="微软雅黑" panose="020B0503020204020204" charset="-122"/>
                <a:ea typeface="微软雅黑" panose="020B0503020204020204" charset="-122"/>
                <a:cs typeface="微软雅黑" panose="020B0503020204020204" charset="-122"/>
              </a:rPr>
              <a:t>！</a:t>
            </a:r>
            <a:endParaRPr kumimoji="1" lang="ko-KR" altLang="en-US" dirty="0">
              <a:latin typeface="微软雅黑" panose="020B0503020204020204" charset="-122"/>
              <a:ea typeface="微软雅黑" panose="020B0503020204020204" charset="-122"/>
              <a:cs typeface="微软雅黑" panose="020B0503020204020204" charset="-122"/>
            </a:endParaRPr>
          </a:p>
        </p:txBody>
      </p:sp>
      <p:grpSp>
        <p:nvGrpSpPr>
          <p:cNvPr id="2" name="组合 1"/>
          <p:cNvGrpSpPr/>
          <p:nvPr/>
        </p:nvGrpSpPr>
        <p:grpSpPr>
          <a:xfrm>
            <a:off x="9247450" y="217531"/>
            <a:ext cx="2580450" cy="547850"/>
            <a:chOff x="9247450" y="217531"/>
            <a:chExt cx="2580450" cy="547850"/>
          </a:xfrm>
        </p:grpSpPr>
        <p:pic>
          <p:nvPicPr>
            <p:cNvPr id="4" name="图片 3"/>
            <p:cNvPicPr>
              <a:picLocks noChangeAspect="1"/>
            </p:cNvPicPr>
            <p:nvPr/>
          </p:nvPicPr>
          <p:blipFill>
            <a:blip r:embed="rId3"/>
            <a:stretch>
              <a:fillRect/>
            </a:stretch>
          </p:blipFill>
          <p:spPr>
            <a:xfrm>
              <a:off x="9247450" y="319584"/>
              <a:ext cx="1096400" cy="336123"/>
            </a:xfrm>
            <a:prstGeom prst="rect">
              <a:avLst/>
            </a:prstGeom>
          </p:spPr>
        </p:pic>
        <p:pic>
          <p:nvPicPr>
            <p:cNvPr id="8" name="图片 7"/>
            <p:cNvPicPr>
              <a:picLocks noChangeAspect="1"/>
            </p:cNvPicPr>
            <p:nvPr/>
          </p:nvPicPr>
          <p:blipFill>
            <a:blip r:embed="rId4"/>
            <a:srcRect l="13229" t="29812" r="10431" b="29796"/>
            <a:stretch>
              <a:fillRect/>
            </a:stretch>
          </p:blipFill>
          <p:spPr>
            <a:xfrm>
              <a:off x="10553199" y="217531"/>
              <a:ext cx="1274701" cy="547850"/>
            </a:xfrm>
            <a:prstGeom prst="rect">
              <a:avLst/>
            </a:prstGeom>
          </p:spPr>
        </p:pic>
      </p:gr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WPP_GENERATETEXT" val="1"/>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 name="WPP_GENERATETEXT" val="1"/>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 name="WPP_GENERATETEXT" val="1"/>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TABLE_ENDDRAG_ORIGIN_RECT" val="672*274"/>
  <p:tag name="TABLE_ENDDRAG_RECT" val="144*147*672*274"/>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TABLE_ENDDRAG_ORIGIN_RECT" val="687*70"/>
  <p:tag name="TABLE_ENDDRAG_RECT" val="121*404*687*70"/>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281.3129921259843,&quot;left&quot;:70.50007874015748,&quot;top&quot;:173.18692913385826,&quot;width&quot;:801.0000000000001}"/>
</p:tagLst>
</file>

<file path=ppt/theme/theme1.xml><?xml version="1.0" encoding="utf-8"?>
<a:theme xmlns:a="http://schemas.openxmlformats.org/drawingml/2006/main" name="母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微软雅黑+Arial">
      <a:majorFont>
        <a:latin typeface="Arial"/>
        <a:ea typeface="微软雅黑"/>
        <a:cs typeface=""/>
      </a:majorFont>
      <a:minorFont>
        <a:latin typeface="Arial"/>
        <a:ea typeface="微软雅黑"/>
        <a:cs typeface=""/>
      </a:minorFont>
    </a:fontScheme>
    <a:fmtScheme name="极端阴影">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1255</Words>
  <Application>Microsoft Office PowerPoint</Application>
  <PresentationFormat>宽屏</PresentationFormat>
  <Paragraphs>139</Paragraphs>
  <Slides>25</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25</vt:i4>
      </vt:variant>
    </vt:vector>
  </HeadingPairs>
  <TitlesOfParts>
    <vt:vector size="38" baseType="lpstr">
      <vt:lpstr>Ebrima</vt:lpstr>
      <vt:lpstr>Calibri Light</vt:lpstr>
      <vt:lpstr>微软雅黑</vt:lpstr>
      <vt:lpstr>文泉驿微米黑</vt:lpstr>
      <vt:lpstr>DejaVu Math TeX Gyre</vt:lpstr>
      <vt:lpstr>等线</vt:lpstr>
      <vt:lpstr>Montserrat SemiBold</vt:lpstr>
      <vt:lpstr>Calibri</vt:lpstr>
      <vt:lpstr>Arial</vt:lpstr>
      <vt:lpstr>Wingdings 3</vt:lpstr>
      <vt:lpstr>Arial Bold</vt:lpstr>
      <vt:lpstr>Garamond</vt:lpstr>
      <vt:lpstr>母版</vt:lpstr>
      <vt:lpstr>Hardware and Software Fundamentals of  Intelligent Computing  Systems</vt:lpstr>
      <vt:lpstr>Lecture 14: Normalization and Activation Functions</vt:lpstr>
      <vt:lpstr>PowerPoint 演示文稿</vt:lpstr>
      <vt:lpstr>GPU core metrics</vt:lpstr>
      <vt:lpstr>Roofline Model</vt:lpstr>
      <vt:lpstr>Operator Type</vt:lpstr>
      <vt:lpstr>PowerPoint 演示文稿</vt:lpstr>
      <vt:lpstr>Element-wise</vt:lpstr>
      <vt:lpstr>Reduction</vt:lpstr>
      <vt:lpstr>Element-wise vs Reduction</vt:lpstr>
      <vt:lpstr>Review: GPU Memory Hierarchy</vt:lpstr>
      <vt:lpstr>Data Competition in Reduction Process</vt:lpstr>
      <vt:lpstr>Solution: Atomic Operations</vt:lpstr>
      <vt:lpstr>The Performance Bottleneck of Atomic Operations</vt:lpstr>
      <vt:lpstr>Reduction Parallelism</vt:lpstr>
      <vt:lpstr>reduced objective</vt:lpstr>
      <vt:lpstr>Triton example: vector addition</vt:lpstr>
      <vt:lpstr>Triton example: Sum</vt:lpstr>
      <vt:lpstr>reduction of massive data</vt:lpstr>
      <vt:lpstr>Solution: Kernel Decomposition</vt:lpstr>
      <vt:lpstr>activation function</vt:lpstr>
      <vt:lpstr>LayerNorm</vt:lpstr>
      <vt:lpstr>The Solution: FlagOS, a Unified AI Software Stack</vt:lpstr>
      <vt:lpstr>PowerPoint 演示文稿</vt:lpstr>
      <vt:lpstr>Thanks for your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14: Normalization and Activation Functions</dc:title>
  <dc:creator>王丰</dc:creator>
  <cp:lastModifiedBy>Xiang Li</cp:lastModifiedBy>
  <cp:revision>10</cp:revision>
  <dcterms:created xsi:type="dcterms:W3CDTF">2026-03-10T08:17:00Z</dcterms:created>
  <dcterms:modified xsi:type="dcterms:W3CDTF">2026-03-17T14:53:49Z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A51A7C53E7274C57A46A306AB0428FC3_13</vt:lpwstr>
  </property>
  <property fmtid="{D5CDD505-2E9C-101B-9397-08002B2CF9AE}" pid="3" name="KSOProductBuildVer">
    <vt:lpwstr>2052-12.1.0.19302</vt:lpwstr>
  </property>
</Properties>
</file>