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37" r:id="rId2"/>
    <p:sldId id="25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301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277" r:id="rId27"/>
    <p:sldId id="338" r:id="rId28"/>
    <p:sldId id="339" r:id="rId29"/>
  </p:sldIdLst>
  <p:sldSz cx="12192000" cy="6858000"/>
  <p:notesSz cx="6858000" cy="9144000"/>
  <p:embeddedFontLst>
    <p:embeddedFont>
      <p:font typeface="Ebrima" panose="02000000000000000000" pitchFamily="2" charset="0"/>
      <p:regular r:id="rId32"/>
      <p:bold r:id="rId33"/>
    </p:embeddedFont>
    <p:embeddedFont>
      <p:font typeface="Garamond" panose="02020404030301010803" pitchFamily="18" charset="0"/>
      <p:regular r:id="rId34"/>
      <p:bold r:id="rId35"/>
      <p:italic r:id="rId36"/>
    </p:embeddedFont>
    <p:embeddedFont>
      <p:font typeface="Montserrat SemiBold" panose="00000700000000000000" pitchFamily="2" charset="0"/>
      <p:bold r:id="rId37"/>
      <p:boldItalic r:id="rId38"/>
    </p:embeddedFont>
    <p:embeddedFont>
      <p:font typeface="Wingdings 3" panose="05040102010807070707" pitchFamily="18" charset="2"/>
      <p:regular r:id="rId39"/>
    </p:embeddedFont>
    <p:embeddedFont>
      <p:font typeface="等线" panose="02010600030101010101" pitchFamily="2" charset="-122"/>
      <p:regular r:id="rId40"/>
      <p:bold r:id="rId41"/>
    </p:embeddedFont>
    <p:embeddedFont>
      <p:font typeface="微软雅黑" panose="020B0503020204020204" pitchFamily="34" charset="-122"/>
      <p:regular r:id="rId42"/>
      <p:bold r:id="rId4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5"/>
    <p:restoredTop sz="91926" autoAdjust="0"/>
  </p:normalViewPr>
  <p:slideViewPr>
    <p:cSldViewPr snapToGrid="0" snapToObjects="1">
      <p:cViewPr varScale="1">
        <p:scale>
          <a:sx n="56" d="100"/>
          <a:sy n="56" d="100"/>
        </p:scale>
        <p:origin x="896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81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1048882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83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75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104887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87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7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7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255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10458260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0293090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17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6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image" Target="../media/image18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13" Type="http://schemas.openxmlformats.org/officeDocument/2006/relationships/tags" Target="../tags/tag53.xml"/><Relationship Id="rId18" Type="http://schemas.openxmlformats.org/officeDocument/2006/relationships/image" Target="../media/image29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43.xml"/><Relationship Id="rId21" Type="http://schemas.openxmlformats.org/officeDocument/2006/relationships/image" Target="../media/image32.png"/><Relationship Id="rId7" Type="http://schemas.openxmlformats.org/officeDocument/2006/relationships/tags" Target="../tags/tag47.xml"/><Relationship Id="rId12" Type="http://schemas.openxmlformats.org/officeDocument/2006/relationships/tags" Target="../tags/tag52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42.xml"/><Relationship Id="rId16" Type="http://schemas.openxmlformats.org/officeDocument/2006/relationships/tags" Target="../tags/tag56.xml"/><Relationship Id="rId20" Type="http://schemas.openxmlformats.org/officeDocument/2006/relationships/image" Target="../media/image31.png"/><Relationship Id="rId29" Type="http://schemas.openxmlformats.org/officeDocument/2006/relationships/image" Target="../media/image36.png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tags" Target="../tags/tag51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45.xml"/><Relationship Id="rId15" Type="http://schemas.openxmlformats.org/officeDocument/2006/relationships/tags" Target="../tags/tag55.xml"/><Relationship Id="rId23" Type="http://schemas.openxmlformats.org/officeDocument/2006/relationships/image" Target="../media/image34.png"/><Relationship Id="rId28" Type="http://schemas.openxmlformats.org/officeDocument/2006/relationships/image" Target="../media/image35.jpeg"/><Relationship Id="rId10" Type="http://schemas.openxmlformats.org/officeDocument/2006/relationships/tags" Target="../tags/tag50.xml"/><Relationship Id="rId19" Type="http://schemas.openxmlformats.org/officeDocument/2006/relationships/image" Target="../media/image30.png"/><Relationship Id="rId4" Type="http://schemas.openxmlformats.org/officeDocument/2006/relationships/tags" Target="../tags/tag44.xml"/><Relationship Id="rId9" Type="http://schemas.openxmlformats.org/officeDocument/2006/relationships/tags" Target="../tags/tag49.xml"/><Relationship Id="rId14" Type="http://schemas.openxmlformats.org/officeDocument/2006/relationships/tags" Target="../tags/tag54.xml"/><Relationship Id="rId22" Type="http://schemas.openxmlformats.org/officeDocument/2006/relationships/image" Target="../media/image33.png"/><Relationship Id="rId27" Type="http://schemas.openxmlformats.org/officeDocument/2006/relationships/hyperlink" Target="https://flagos.io/Home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x-none" altLang="zh-CN" sz="5100">
                <a:sym typeface="+mn-ea"/>
              </a:rPr>
              <a:t>Lecture 15: Operator Fusion</a:t>
            </a:r>
            <a:endParaRPr lang="zh-CN" altLang="en-US" sz="510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9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/>
              <a:t>O</a:t>
            </a:r>
            <a:r>
              <a:rPr lang="zh-CN" altLang="en-US"/>
              <a:t>perator </a:t>
            </a:r>
            <a:r>
              <a:rPr lang="en-US" altLang="zh-CN"/>
              <a:t>F</a:t>
            </a:r>
            <a:r>
              <a:rPr lang="zh-CN" altLang="en-US"/>
              <a:t>usion</a:t>
            </a:r>
          </a:p>
          <a:p>
            <a:r>
              <a:rPr lang="zh-CN" altLang="en-US"/>
              <a:t>Example: Fused Softmax</a:t>
            </a:r>
            <a:endParaRPr lang="en-US" altLang="zh-CN"/>
          </a:p>
        </p:txBody>
      </p:sp>
      <p:sp>
        <p:nvSpPr>
          <p:cNvPr id="1048750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x-none" altLang="zh-CN"/>
              <a:t>Outline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From Comput</a:t>
            </a:r>
            <a:r>
              <a:rPr lang="en-US" altLang="zh-CN">
                <a:sym typeface="+mn-ea"/>
              </a:rPr>
              <a:t>e</a:t>
            </a:r>
            <a:r>
              <a:rPr>
                <a:sym typeface="+mn-ea"/>
              </a:rPr>
              <a:t> Graph to Execution: Lifecycle of Operators</a:t>
            </a:r>
            <a:endParaRPr lang="zh-CN" altLang="en-US"/>
          </a:p>
        </p:txBody>
      </p:sp>
      <p:sp>
        <p:nvSpPr>
          <p:cNvPr id="104875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7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1048752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/>
              <a:t>Frame layer:</a:t>
            </a:r>
          </a:p>
          <a:p>
            <a:pPr lvl="1"/>
            <a:r>
              <a:rPr lang="zh-CN" altLang="en-US"/>
              <a:t>Data graph normalization: Break down high-level composite operators in deep neural networks (e.g., TransformerBlock) into fine-grained primitives (MatMul, Softmax, LayerNorm), and establish standardized IR frameworks (e.g., MLIR, XLA HLO).</a:t>
            </a:r>
          </a:p>
          <a:p>
            <a:pPr lvl="1"/>
            <a:r>
              <a:rPr lang="zh-CN" altLang="en-US"/>
              <a:t>Calculate the tensor lifecycle through data stream analysis and determine the parallel strategy</a:t>
            </a:r>
          </a:p>
          <a:p>
            <a:pPr lvl="1"/>
            <a:r>
              <a:rPr lang="zh-CN" altLang="en-US"/>
              <a:t>Convert the optimized compute graph Lowering into device-specific code and insert necessary synchronization primitives</a:t>
            </a:r>
          </a:p>
        </p:txBody>
      </p:sp>
      <p:pic>
        <p:nvPicPr>
          <p:cNvPr id="2097174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71625" y="3983355"/>
            <a:ext cx="3073400" cy="2131060"/>
          </a:xfrm>
          <a:prstGeom prst="rect">
            <a:avLst/>
          </a:prstGeom>
        </p:spPr>
      </p:pic>
      <p:pic>
        <p:nvPicPr>
          <p:cNvPr id="2097175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176010" y="3747770"/>
            <a:ext cx="3783330" cy="25323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Comput</a:t>
            </a:r>
            <a:r>
              <a:rPr lang="en-US" altLang="zh-CN"/>
              <a:t>e</a:t>
            </a:r>
            <a:r>
              <a:t> Graph to Execution: Lifecycle of Operators</a:t>
            </a:r>
            <a:endParaRPr lang="zh-CN" altLang="en-US"/>
          </a:p>
        </p:txBody>
      </p:sp>
      <p:sp>
        <p:nvSpPr>
          <p:cNvPr id="104875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7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1048756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/>
              <a:t>Runtime layer:</a:t>
            </a:r>
          </a:p>
          <a:p>
            <a:pPr lvl="1"/>
            <a:r>
              <a:rPr lang="zh-CN" altLang="en-US"/>
              <a:t>Prepare parameters for each operator (device pointer, shared memory size, Stream ID, and other context)</a:t>
            </a:r>
          </a:p>
          <a:p>
            <a:pPr lvl="1"/>
            <a:r>
              <a:rPr lang="zh-CN" altLang="en-US"/>
              <a:t>Initiate Kernel Launch</a:t>
            </a:r>
          </a:p>
          <a:p>
            <a:r>
              <a:rPr lang="zh-CN" altLang="en-US"/>
              <a:t>hardware layer ：</a:t>
            </a:r>
          </a:p>
          <a:p>
            <a:pPr lvl="1"/>
            <a:r>
              <a:rPr lang="zh-CN" altLang="en-US"/>
              <a:t>GPU reads data from Global Memory---&gt; compute unit processes---&gt; writes back to Global Memory</a:t>
            </a:r>
          </a:p>
        </p:txBody>
      </p:sp>
      <p:pic>
        <p:nvPicPr>
          <p:cNvPr id="2097176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060065" y="4037330"/>
            <a:ext cx="5466080" cy="21399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Kernel Launch Optimization: CUDA Graph</a:t>
            </a:r>
            <a:endParaRPr lang="zh-CN" altLang="en-US"/>
          </a:p>
        </p:txBody>
      </p:sp>
      <p:sp>
        <p:nvSpPr>
          <p:cNvPr id="104876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7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/>
              <a:t>Record a series of GPU operations (Kernels, Memcpys) as a static topology diagram</a:t>
            </a:r>
          </a:p>
          <a:p>
            <a:pPr lvl="1"/>
            <a:r>
              <a:rPr lang="zh-CN" altLang="en-US"/>
              <a:t>Capture the execution sequence, parameters, video memory addresses, and scheduling paths of all kernels during the phase.</a:t>
            </a:r>
          </a:p>
          <a:p>
            <a:pPr lvl="1"/>
            <a:r>
              <a:rPr lang="zh-CN" altLang="en-US"/>
              <a:t>During the replay phase, the CPU only needs to issue a single ultra-lightweight instruction to trigger the entire graphs automatic transfer on the GPU.</a:t>
            </a:r>
          </a:p>
          <a:p>
            <a:endParaRPr lang="zh-CN" altLang="en-US"/>
          </a:p>
          <a:p>
            <a:pPr lvl="1"/>
            <a:endParaRPr lang="zh-CN" altLang="en-US"/>
          </a:p>
          <a:p>
            <a:endParaRPr lang="zh-CN" altLang="en-US"/>
          </a:p>
        </p:txBody>
      </p:sp>
      <p:pic>
        <p:nvPicPr>
          <p:cNvPr id="2097177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56310" y="4015105"/>
            <a:ext cx="4911725" cy="1689100"/>
          </a:xfrm>
          <a:prstGeom prst="rect">
            <a:avLst/>
          </a:prstGeom>
        </p:spPr>
      </p:pic>
      <p:pic>
        <p:nvPicPr>
          <p:cNvPr id="2097178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rcRect l="3764" r="3764"/>
          <a:stretch>
            <a:fillRect/>
          </a:stretch>
        </p:blipFill>
        <p:spPr>
          <a:xfrm>
            <a:off x="6106160" y="3867785"/>
            <a:ext cx="5332730" cy="1983105"/>
          </a:xfrm>
          <a:prstGeom prst="rect">
            <a:avLst/>
          </a:prstGeom>
        </p:spPr>
      </p:pic>
      <p:sp>
        <p:nvSpPr>
          <p:cNvPr id="1048764" name="文本框 11"/>
          <p:cNvSpPr txBox="1"/>
          <p:nvPr/>
        </p:nvSpPr>
        <p:spPr>
          <a:xfrm>
            <a:off x="914400" y="3388360"/>
            <a:ext cx="2438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minimal GPU kernel</a:t>
            </a:r>
          </a:p>
        </p:txBody>
      </p:sp>
      <p:sp>
        <p:nvSpPr>
          <p:cNvPr id="1048765" name="文本框 12"/>
          <p:cNvSpPr txBox="1"/>
          <p:nvPr>
            <p:custDataLst>
              <p:tags r:id="rId3"/>
            </p:custDataLst>
          </p:nvPr>
        </p:nvSpPr>
        <p:spPr>
          <a:xfrm>
            <a:off x="6106160" y="3387090"/>
            <a:ext cx="36506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general-purpose GPU kernel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</a:t>
            </a:r>
            <a:r>
              <a:rPr lang="zh-CN" altLang="en-US"/>
              <a:t>ata transfer between operators</a:t>
            </a:r>
          </a:p>
        </p:txBody>
      </p:sp>
      <p:sp>
        <p:nvSpPr>
          <p:cNvPr id="104876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7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/>
              <a:t>Default mode: Conv results must be written back to global video memory, then Scale reads them out</a:t>
            </a:r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0"/>
            <a:r>
              <a:rPr lang="zh-CN" altLang="en-US"/>
              <a:t>Operator fusion: Element-wise operations can seamlessly integrate with other operators, significantly reducing both memory access and kernel startup overhead.</a:t>
            </a:r>
          </a:p>
        </p:txBody>
      </p:sp>
      <p:pic>
        <p:nvPicPr>
          <p:cNvPr id="2097180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38630" y="4667250"/>
            <a:ext cx="8534400" cy="1219200"/>
          </a:xfrm>
          <a:prstGeom prst="rect">
            <a:avLst/>
          </a:prstGeom>
        </p:spPr>
      </p:pic>
      <p:pic>
        <p:nvPicPr>
          <p:cNvPr id="3" name="内容占位符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186940" y="2046605"/>
            <a:ext cx="8086090" cy="14681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Computation Graph Global Optimization: Operator Fusion</a:t>
            </a:r>
          </a:p>
        </p:txBody>
      </p:sp>
      <p:sp>
        <p:nvSpPr>
          <p:cNvPr id="104877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7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  <a:ea typeface="微软雅黑" panose="020B0503020204020204" charset="-122"/>
              </a:rPr>
              <a:t>7</a:t>
            </a:r>
            <a:endParaRPr lang="zh-CN" altLang="en-US"/>
          </a:p>
        </p:txBody>
      </p:sp>
      <p:sp>
        <p:nvSpPr>
          <p:cNvPr id="1048772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/>
              <a:t>Definition: A technique that merges multiple independent operators (or kernels) in a computational graph into a single operator for execution.</a:t>
            </a:r>
          </a:p>
          <a:p>
            <a:r>
              <a:rPr lang="zh-CN" altLang="en-US"/>
              <a:t>Typical scenarios in deep learning:</a:t>
            </a:r>
          </a:p>
          <a:p>
            <a:pPr lvl="1"/>
            <a:r>
              <a:rPr lang="zh-CN" altLang="en-US"/>
              <a:t>Vertical Fusion: Conv + Bias + ReLU</a:t>
            </a:r>
          </a:p>
          <a:p>
            <a:pPr lvl="1"/>
            <a:r>
              <a:rPr lang="zh-CN" altLang="en-US"/>
              <a:t>Horizontal Fusion: Merge multiple GEMMs with the same input but different parameters</a:t>
            </a:r>
          </a:p>
          <a:p>
            <a:pPr lvl="1"/>
            <a:r>
              <a:rPr lang="zh-CN" altLang="en-US"/>
              <a:t>Reduction Fusion: Mean + Var + Scale in LayerNorm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Advantages of Operator Fusion</a:t>
            </a:r>
          </a:p>
        </p:txBody>
      </p:sp>
      <p:sp>
        <p:nvSpPr>
          <p:cNvPr id="104877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7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  <a:ea typeface="微软雅黑" panose="020B0503020204020204" charset="-122"/>
              </a:rPr>
              <a:t>8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/>
              <a:t>Reduce memory bandwidth usage: Eliminate read and write operations on global memory for intermediate results. Data remains in registers or shared memory.</a:t>
            </a:r>
          </a:p>
          <a:p>
            <a:r>
              <a:rPr lang="zh-CN" altLang="en-US"/>
              <a:t>Reduce Kernel Launch overhead: Minimize the number of handshakes between CPU and GPU</a:t>
            </a:r>
          </a:p>
          <a:p>
            <a:r>
              <a:rPr lang="zh-CN" altLang="en-US"/>
              <a:t>Enhance cache utilization: Data is continuously accessed in SRAM for higher efficiency</a:t>
            </a:r>
          </a:p>
          <a:p>
            <a:r>
              <a:rPr lang="zh-CN" altLang="en-US"/>
              <a:t>Increase computational density: Boost the instruction stream per task to better mask memory latency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Problems of Operator Fusion</a:t>
            </a:r>
          </a:p>
        </p:txBody>
      </p:sp>
      <p:sp>
        <p:nvSpPr>
          <p:cNvPr id="104878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7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  <a:ea typeface="微软雅黑" panose="020B0503020204020204" charset="-122"/>
              </a:rPr>
              <a:t>9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/>
              <a:t>Core contradiction-Register pressure</a:t>
            </a:r>
          </a:p>
          <a:p>
            <a:pPr lvl="1"/>
            <a:r>
              <a:rPr lang="zh-CN" altLang="en-US"/>
              <a:t>The total number of registers in a GPU SM is fixed (for example, A100 has 256KB per SM).</a:t>
            </a:r>
          </a:p>
          <a:p>
            <a:pPr lvl="1"/>
            <a:r>
              <a:rPr lang="zh-CN" altLang="en-US"/>
              <a:t>Single-threading requires more intermediate states → Single-threading registers ↑ → Each thread block occupies registers ↑ → Concurrent thread blocks decrease → Reduced active Warp count in SM (Occupancy decreases)</a:t>
            </a:r>
          </a:p>
          <a:p>
            <a:r>
              <a:rPr lang="zh-CN" altLang="en-US"/>
              <a:t>Instruction cache pressure:</a:t>
            </a:r>
          </a:p>
          <a:p>
            <a:pPr lvl="1"/>
            <a:r>
              <a:rPr lang="zh-CN" altLang="en-US"/>
              <a:t>The merged kernel may exceed the hardware instruction cache limit.</a:t>
            </a:r>
          </a:p>
          <a:p>
            <a:endParaRPr lang="zh-CN" altLang="en-US"/>
          </a:p>
          <a:p>
            <a:r>
              <a:rPr lang="zh-CN" altLang="en-US"/>
              <a:t>Finding the sweet spot between saving memory bandwidth and maintaining sufficient computational parallelism</a:t>
            </a:r>
          </a:p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A Negative Example: The Greedy Merging of XLA</a:t>
            </a:r>
          </a:p>
        </p:txBody>
      </p:sp>
      <p:sp>
        <p:nvSpPr>
          <p:cNvPr id="104878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zh-CN" altLang="en-US"/>
              <a:t>https://github.com/openxla/xla/discussions/766</a:t>
            </a:r>
          </a:p>
        </p:txBody>
      </p:sp>
      <p:sp>
        <p:nvSpPr>
          <p:cNvPr id="104877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1048789" name="内容占位符 9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Scene description</a:t>
            </a:r>
          </a:p>
          <a:p>
            <a:pPr lvl="1"/>
            <a:r>
              <a:rPr lang="zh-CN" altLang="en-US"/>
              <a:t>The inputs forced layout is {3,2,1,0}, and the operator (Custom-call) has a forced layout of {1,0,2,3}.</a:t>
            </a:r>
          </a:p>
          <a:p>
            <a:pPr lvl="1"/>
            <a:r>
              <a:rPr lang="zh-CN" altLang="en-US"/>
              <a:t>When computing Add, XLA detects that the two inputs have different layouts. To align them, it must insert a Copy operation.</a:t>
            </a:r>
          </a:p>
          <a:p>
            <a:pPr lvl="0"/>
            <a:r>
              <a:rPr lang="zh-CN" altLang="en-US"/>
              <a:t>To reduce kernel boot overhead, XLA forcibly merges Add and Copy operations. However, inconsistent I/O layouts disrupt memory merge access, causing memory access to become random and erratic, resulting in a 9-fold performance degradation.</a:t>
            </a:r>
          </a:p>
        </p:txBody>
      </p:sp>
      <p:pic>
        <p:nvPicPr>
          <p:cNvPr id="2097181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38580" y="4187190"/>
            <a:ext cx="2621915" cy="2240915"/>
          </a:xfrm>
          <a:prstGeom prst="rect">
            <a:avLst/>
          </a:prstGeom>
        </p:spPr>
      </p:pic>
      <p:pic>
        <p:nvPicPr>
          <p:cNvPr id="2097182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197985" y="4748530"/>
            <a:ext cx="7413625" cy="9150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A negative example: Fused Adam</a:t>
            </a:r>
            <a:endParaRPr lang="en-US" altLang="zh-CN"/>
          </a:p>
        </p:txBody>
      </p:sp>
      <p:sp>
        <p:nvSpPr>
          <p:cNvPr id="1048792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https://github.com/pytorch/pytorch/issues/121857</a:t>
            </a:r>
          </a:p>
        </p:txBody>
      </p:sp>
      <p:sp>
        <p:nvSpPr>
          <p:cNvPr id="104877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1048794" name="内容占位符 9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Pytorchs auto-enabled Fused AdamW algorithm experiences a dramatic performance drop on A40 GPUs. Potential causes include:</a:t>
            </a:r>
            <a:endParaRPr lang="zh-CN" altLang="en-US"/>
          </a:p>
          <a:p>
            <a:pPr lvl="1"/>
            <a:r>
              <a:rPr lang="en-US" altLang="zh-CN"/>
              <a:t>The number of registers used in Fuse mode is approximately double that of standard mode.</a:t>
            </a:r>
          </a:p>
          <a:p>
            <a:pPr lvl="1"/>
            <a:r>
              <a:rPr lang="en-US" altLang="zh-CN"/>
              <a:t>Fused AdamW is triggered per-tensor, causing excessive Kernel launches</a:t>
            </a:r>
            <a:endParaRPr lang="zh-CN" altLang="en-US"/>
          </a:p>
        </p:txBody>
      </p:sp>
      <p:pic>
        <p:nvPicPr>
          <p:cNvPr id="209718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835150" y="3155950"/>
            <a:ext cx="6289675" cy="1409700"/>
          </a:xfrm>
          <a:prstGeom prst="rect">
            <a:avLst/>
          </a:prstGeom>
        </p:spPr>
      </p:pic>
      <p:pic>
        <p:nvPicPr>
          <p:cNvPr id="2097184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972310" y="4683125"/>
            <a:ext cx="6185535" cy="13868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5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/>
              <a:t>operator fusion</a:t>
            </a:r>
          </a:p>
          <a:p>
            <a:r>
              <a:rPr lang="zh-CN" altLang="en-US"/>
              <a:t>Example: Fused Softmax</a:t>
            </a:r>
            <a:endParaRPr lang="en-US" altLang="zh-CN"/>
          </a:p>
        </p:txBody>
      </p:sp>
      <p:sp>
        <p:nvSpPr>
          <p:cNvPr id="1048796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x-none" altLang="zh-CN"/>
              <a:t>Outline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Softmax</a:t>
            </a:r>
            <a:endParaRPr lang="en-US" altLang="zh-CN"/>
          </a:p>
        </p:txBody>
      </p:sp>
      <p:sp>
        <p:nvSpPr>
          <p:cNvPr id="104879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9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14</a:t>
            </a:fld>
            <a:endParaRPr lang="zh-CN" altLang="en-US" dirty="0"/>
          </a:p>
        </p:txBody>
      </p:sp>
      <p:pic>
        <p:nvPicPr>
          <p:cNvPr id="2097185" name="内容占位符 10"/>
          <p:cNvPicPr>
            <a:picLocks noGrp="1" noChangeAspect="1"/>
          </p:cNvPicPr>
          <p:nvPr>
            <p:ph sz="quarter" idx="13"/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552338" y="1534205"/>
            <a:ext cx="9220674" cy="4432528"/>
          </a:xfrm>
          <a:prstGeom prst="rect">
            <a:avLst/>
          </a:prstGeom>
        </p:spPr>
      </p:pic>
      <p:sp>
        <p:nvSpPr>
          <p:cNvPr id="1048800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38810" y="5109210"/>
            <a:ext cx="11075670" cy="9639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60045" marR="0" indent="-360045" algn="l" defTabSz="3429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■"/>
              <a:defRPr sz="2400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1pPr>
            <a:lvl2pPr marL="557530" marR="0" indent="-21463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Pct val="75000"/>
              <a:buFont typeface="文泉驿微米黑" panose="020B0606030804020204" charset="-122"/>
              <a:buChar char="♦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2pPr>
            <a:lvl3pPr marL="8572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▶"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3pPr>
            <a:lvl4pPr marL="12001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●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4pPr>
            <a:lvl5pPr marL="15430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>
                <a:sym typeface="+mn-ea"/>
              </a:rPr>
              <a:t>Performance bottleneck: Total reads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5MN+2M elements, writes 3MN+2M elements. Frequent global memory reads/writes cause significant bandwidth waste.</a:t>
            </a:r>
          </a:p>
        </p:txBody>
      </p:sp>
      <p:pic>
        <p:nvPicPr>
          <p:cNvPr id="2097186" name="图片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081010" y="2777490"/>
            <a:ext cx="3552825" cy="963930"/>
          </a:xfrm>
          <a:prstGeom prst="rect">
            <a:avLst/>
          </a:prstGeom>
        </p:spPr>
      </p:pic>
      <p:sp>
        <p:nvSpPr>
          <p:cNvPr id="1048801" name="内容占位符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023225" y="2010410"/>
            <a:ext cx="3528060" cy="6318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60045" marR="0" indent="-360045" algn="l" defTabSz="3429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■"/>
              <a:defRPr sz="2400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1pPr>
            <a:lvl2pPr marL="557530" marR="0" indent="-21463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Pct val="75000"/>
              <a:buFont typeface="文泉驿微米黑" panose="020B0606030804020204" charset="-122"/>
              <a:buChar char="♦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2pPr>
            <a:lvl3pPr marL="8572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▶"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3pPr>
            <a:lvl4pPr marL="12001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●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4pPr>
            <a:lvl5pPr marL="15430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>
                <a:sym typeface="+mn-ea"/>
              </a:rPr>
              <a:t>F</a:t>
            </a:r>
            <a:r>
              <a:rPr lang="zh-CN" altLang="en-US">
                <a:sym typeface="+mn-ea"/>
              </a:rPr>
              <a:t>ormula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Softmax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/>
              <a:t>Basic Idea of Operator Fusion</a:t>
            </a:r>
          </a:p>
          <a:p>
            <a:pPr lvl="1"/>
            <a:r>
              <a:rPr lang="zh-CN" altLang="en-US"/>
              <a:t>Load: All threads collaborate in parallel to read data from Global Memory and write it to Shared Memory</a:t>
            </a:r>
          </a:p>
          <a:p>
            <a:pPr lvl="1"/>
            <a:r>
              <a:rPr lang="zh-CN" altLang="en-US"/>
              <a:t>Sync &amp; Reduce: Perform multiple iterations within Shared Memory, which is fully executed at high speed on-chip without consuming video memory bandwidth.</a:t>
            </a:r>
          </a:p>
          <a:p>
            <a:pPr lvl="2"/>
            <a:r>
              <a:rPr lang="en-US" altLang="zh-CN"/>
              <a:t>CUDA: Synchronize with __syncthreads() at each step</a:t>
            </a:r>
            <a:endParaRPr lang="zh-CN" altLang="en-US"/>
          </a:p>
          <a:p>
            <a:pPr lvl="2"/>
            <a:r>
              <a:rPr lang="en-US" altLang="zh-CN"/>
              <a:t>Triton: Automatic</a:t>
            </a:r>
            <a:endParaRPr lang="zh-CN" altLang="en-US"/>
          </a:p>
          <a:p>
            <a:pPr lvl="1"/>
            <a:r>
              <a:rPr lang="zh-CN" altLang="en-US"/>
              <a:t>Write: Only the final result is written back to Global Memory.</a:t>
            </a:r>
          </a:p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Softmax_kernel</a:t>
            </a:r>
          </a:p>
        </p:txBody>
      </p:sp>
      <p:sp>
        <p:nvSpPr>
          <p:cNvPr id="104881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7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1048812" name="内容占位符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SRAM Residency: The entire row of data remains on-chip after loading until the computation is completed.</a:t>
            </a:r>
            <a:endParaRPr lang="zh-CN" altLang="en-US"/>
          </a:p>
        </p:txBody>
      </p:sp>
      <p:pic>
        <p:nvPicPr>
          <p:cNvPr id="2097187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51230" y="2216150"/>
            <a:ext cx="8053705" cy="4301490"/>
          </a:xfrm>
          <a:prstGeom prst="rect">
            <a:avLst/>
          </a:prstGeom>
        </p:spPr>
      </p:pic>
      <p:sp>
        <p:nvSpPr>
          <p:cNvPr id="1048813" name="矩形 2"/>
          <p:cNvSpPr/>
          <p:nvPr/>
        </p:nvSpPr>
        <p:spPr>
          <a:xfrm>
            <a:off x="1482090" y="4676775"/>
            <a:ext cx="4272915" cy="17970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814" name="矩形 9"/>
          <p:cNvSpPr/>
          <p:nvPr>
            <p:custDataLst>
              <p:tags r:id="rId2"/>
            </p:custDataLst>
          </p:nvPr>
        </p:nvSpPr>
        <p:spPr>
          <a:xfrm>
            <a:off x="1482090" y="3537585"/>
            <a:ext cx="5426075" cy="78930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815" name="文本框 10"/>
          <p:cNvSpPr txBox="1"/>
          <p:nvPr/>
        </p:nvSpPr>
        <p:spPr>
          <a:xfrm>
            <a:off x="6254750" y="4582160"/>
            <a:ext cx="1147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loading</a:t>
            </a:r>
          </a:p>
        </p:txBody>
      </p:sp>
      <p:sp>
        <p:nvSpPr>
          <p:cNvPr id="1048816" name="文本框 11"/>
          <p:cNvSpPr txBox="1"/>
          <p:nvPr>
            <p:custDataLst>
              <p:tags r:id="rId3"/>
            </p:custDataLst>
          </p:nvPr>
        </p:nvSpPr>
        <p:spPr>
          <a:xfrm>
            <a:off x="7048500" y="3748405"/>
            <a:ext cx="1555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memory pointer calculation</a:t>
            </a:r>
          </a:p>
        </p:txBody>
      </p:sp>
      <p:sp>
        <p:nvSpPr>
          <p:cNvPr id="1048817" name="矩形 12"/>
          <p:cNvSpPr/>
          <p:nvPr>
            <p:custDataLst>
              <p:tags r:id="rId4"/>
            </p:custDataLst>
          </p:nvPr>
        </p:nvSpPr>
        <p:spPr>
          <a:xfrm>
            <a:off x="1482090" y="6278245"/>
            <a:ext cx="4272915" cy="17970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818" name="文本框 13"/>
          <p:cNvSpPr txBox="1"/>
          <p:nvPr>
            <p:custDataLst>
              <p:tags r:id="rId5"/>
            </p:custDataLst>
          </p:nvPr>
        </p:nvSpPr>
        <p:spPr>
          <a:xfrm>
            <a:off x="6319520" y="6089650"/>
            <a:ext cx="2244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Data writeback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Softmax_kernel</a:t>
            </a:r>
          </a:p>
        </p:txBody>
      </p:sp>
      <p:sp>
        <p:nvSpPr>
          <p:cNvPr id="104882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7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1048822" name="内容占位符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/>
              <a:t>Operator Fusion: Merge Max, Sub, Exp, and Sum into a Kernel</a:t>
            </a:r>
          </a:p>
        </p:txBody>
      </p:sp>
      <p:pic>
        <p:nvPicPr>
          <p:cNvPr id="209718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51230" y="1878330"/>
            <a:ext cx="8053705" cy="4301490"/>
          </a:xfrm>
          <a:prstGeom prst="rect">
            <a:avLst/>
          </a:prstGeom>
        </p:spPr>
      </p:pic>
      <p:sp>
        <p:nvSpPr>
          <p:cNvPr id="1048823" name="矩形 2"/>
          <p:cNvSpPr/>
          <p:nvPr/>
        </p:nvSpPr>
        <p:spPr>
          <a:xfrm>
            <a:off x="1482090" y="4459605"/>
            <a:ext cx="6150610" cy="100647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824" name="文本框 10"/>
          <p:cNvSpPr txBox="1"/>
          <p:nvPr/>
        </p:nvSpPr>
        <p:spPr>
          <a:xfrm>
            <a:off x="7749540" y="4627880"/>
            <a:ext cx="1226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operator fusion</a:t>
            </a:r>
          </a:p>
        </p:txBody>
      </p:sp>
      <p:pic>
        <p:nvPicPr>
          <p:cNvPr id="2097189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214485" y="4231640"/>
            <a:ext cx="2444750" cy="1160780"/>
          </a:xfrm>
          <a:prstGeom prst="rect">
            <a:avLst/>
          </a:prstGeom>
        </p:spPr>
      </p:pic>
      <p:sp>
        <p:nvSpPr>
          <p:cNvPr id="1048825" name="文本框 8"/>
          <p:cNvSpPr txBox="1"/>
          <p:nvPr/>
        </p:nvSpPr>
        <p:spPr>
          <a:xfrm>
            <a:off x="9186545" y="2595880"/>
            <a:ext cx="243776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Internal Automatic Realization of Parallel Tree Structure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SoftMax  Host</a:t>
            </a:r>
          </a:p>
        </p:txBody>
      </p:sp>
      <p:sp>
        <p:nvSpPr>
          <p:cNvPr id="104882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82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18</a:t>
            </a:fld>
            <a:endParaRPr lang="zh-CN" altLang="en-US" dirty="0"/>
          </a:p>
        </p:txBody>
      </p:sp>
      <p:pic>
        <p:nvPicPr>
          <p:cNvPr id="2097190" name="内容占位符 5"/>
          <p:cNvPicPr>
            <a:picLocks noGrp="1" noChangeAspect="1"/>
          </p:cNvPicPr>
          <p:nvPr>
            <p:ph sz="quarter" idx="13"/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98500" y="1256665"/>
            <a:ext cx="6463030" cy="4082415"/>
          </a:xfrm>
          <a:prstGeom prst="rect">
            <a:avLst/>
          </a:prstGeom>
        </p:spPr>
      </p:pic>
      <p:sp>
        <p:nvSpPr>
          <p:cNvPr id="1048829" name="内容占位符 6"/>
          <p:cNvSpPr/>
          <p:nvPr>
            <p:custDataLst>
              <p:tags r:id="rId2"/>
            </p:custDataLst>
          </p:nvPr>
        </p:nvSpPr>
        <p:spPr>
          <a:xfrm>
            <a:off x="7687310" y="1256665"/>
            <a:ext cx="3954145" cy="467042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7500" lnSpcReduction="10000"/>
          </a:bodyPr>
          <a:lstStyle>
            <a:lvl1pPr marL="360045" marR="0" indent="-360045" algn="l" defTabSz="3429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■"/>
              <a:defRPr sz="2400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1pPr>
            <a:lvl2pPr marL="557530" marR="0" indent="-21463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Pct val="75000"/>
              <a:buFont typeface="文泉驿微米黑" panose="020B0606030804020204" charset="-122"/>
              <a:buChar char="♦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2pPr>
            <a:lvl3pPr marL="8572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▶"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3pPr>
            <a:lvl4pPr marL="12001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●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4pPr>
            <a:lvl5pPr marL="15430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4800">
                <a:sym typeface="+mn-ea"/>
              </a:rPr>
              <a:t>static kernel specialization</a:t>
            </a:r>
          </a:p>
          <a:p>
            <a:pPr lvl="1">
              <a:lnSpc>
                <a:spcPct val="150000"/>
              </a:lnSpc>
              <a:spcBef>
                <a:spcPts val="1200"/>
              </a:spcBef>
              <a:buClr>
                <a:srgbClr val="D9D9D9"/>
              </a:buClr>
              <a:buFont typeface="Wingdings" panose="05000000000000000000" charset="0"/>
              <a:buChar char=""/>
            </a:pPr>
            <a:r>
              <a:rPr lang="zh-CN" altLang="en-US" sz="4000">
                <a:sym typeface="+mn-ea"/>
              </a:rPr>
              <a:t>Align input dimensions to the 2nd power</a:t>
            </a:r>
            <a:endParaRPr lang="zh-CN" altLang="en-US" sz="4000"/>
          </a:p>
          <a:p>
            <a:pPr lvl="1">
              <a:lnSpc>
                <a:spcPct val="150000"/>
              </a:lnSpc>
              <a:spcBef>
                <a:spcPts val="1200"/>
              </a:spcBef>
              <a:buClr>
                <a:srgbClr val="D9D9D9"/>
              </a:buClr>
              <a:buFont typeface="Wingdings" panose="05000000000000000000" charset="0"/>
              <a:buChar char=""/>
            </a:pPr>
            <a:r>
              <a:rPr lang="zh-CN" altLang="en-US" sz="4000">
                <a:sym typeface="+mn-ea"/>
              </a:rPr>
              <a:t>Ensure the kernel parameter BLOCK_SIZE is a compile-time constant to allow the compiler to perform full loop unrolling and eliminate runtime branch overhead.</a:t>
            </a:r>
            <a:endParaRPr lang="zh-CN" altLang="en-US" sz="400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SoftMax  Host</a:t>
            </a:r>
          </a:p>
        </p:txBody>
      </p:sp>
      <p:sp>
        <p:nvSpPr>
          <p:cNvPr id="1048832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83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19</a:t>
            </a:fld>
            <a:endParaRPr lang="zh-CN" altLang="en-US" dirty="0"/>
          </a:p>
        </p:txBody>
      </p:sp>
      <p:pic>
        <p:nvPicPr>
          <p:cNvPr id="2097191" name="内容占位符 5"/>
          <p:cNvPicPr>
            <a:picLocks noGrp="1" noChangeAspect="1"/>
          </p:cNvPicPr>
          <p:nvPr>
            <p:ph sz="quarter" idx="13"/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23875" y="1271905"/>
            <a:ext cx="6798945" cy="4294505"/>
          </a:xfrm>
          <a:prstGeom prst="rect">
            <a:avLst/>
          </a:prstGeom>
        </p:spPr>
      </p:pic>
      <p:sp>
        <p:nvSpPr>
          <p:cNvPr id="1048834" name="内容占位符 6"/>
          <p:cNvSpPr/>
          <p:nvPr>
            <p:custDataLst>
              <p:tags r:id="rId2"/>
            </p:custDataLst>
          </p:nvPr>
        </p:nvSpPr>
        <p:spPr>
          <a:xfrm>
            <a:off x="7832725" y="1363345"/>
            <a:ext cx="3968750" cy="34093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60045" marR="0" indent="-360045" algn="l" defTabSz="3429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■"/>
              <a:defRPr sz="2400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1pPr>
            <a:lvl2pPr marL="557530" marR="0" indent="-21463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Pct val="75000"/>
              <a:buFont typeface="文泉驿微米黑" panose="020B0606030804020204" charset="-122"/>
              <a:buChar char="♦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2pPr>
            <a:lvl3pPr marL="8572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▶"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3pPr>
            <a:lvl4pPr marL="12001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●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4pPr>
            <a:lvl5pPr marL="15430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>
                <a:sym typeface="+mn-ea"/>
              </a:rPr>
              <a:t>hardware-aware utilization</a:t>
            </a:r>
          </a:p>
          <a:p>
            <a:pPr lvl="1">
              <a:lnSpc>
                <a:spcPct val="150000"/>
              </a:lnSpc>
              <a:spcBef>
                <a:spcPts val="1200"/>
              </a:spcBef>
              <a:buClr>
                <a:srgbClr val="D9D9D9"/>
              </a:buClr>
              <a:buFont typeface="Wingdings" panose="05000000000000000000" charset="0"/>
              <a:buChar char=""/>
            </a:pPr>
            <a:r>
              <a:rPr lang="zh-CN" altLang="en-US">
                <a:sym typeface="+mn-ea"/>
              </a:rPr>
              <a:t>Detect the actual consumption of registers and SRAM by the warmup kernel</a:t>
            </a:r>
          </a:p>
          <a:p>
            <a:pPr lvl="1">
              <a:lnSpc>
                <a:spcPct val="150000"/>
              </a:lnSpc>
              <a:spcBef>
                <a:spcPts val="1200"/>
              </a:spcBef>
              <a:buClr>
                <a:srgbClr val="D9D9D9"/>
              </a:buClr>
              <a:buFont typeface="Wingdings" panose="05000000000000000000" charset="0"/>
              <a:buChar char=""/>
            </a:pPr>
            <a:r>
              <a:rPr lang="zh-CN" altLang="en-US">
                <a:sym typeface="+mn-ea"/>
              </a:rPr>
              <a:t>Maximize the number of active warps per SM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SoftMax  Host</a:t>
            </a:r>
          </a:p>
        </p:txBody>
      </p:sp>
      <p:sp>
        <p:nvSpPr>
          <p:cNvPr id="104883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83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20</a:t>
            </a:fld>
            <a:endParaRPr lang="zh-CN" altLang="en-US" dirty="0"/>
          </a:p>
        </p:txBody>
      </p:sp>
      <p:pic>
        <p:nvPicPr>
          <p:cNvPr id="2097192" name="内容占位符 5"/>
          <p:cNvPicPr>
            <a:picLocks noGrp="1" noChangeAspect="1"/>
          </p:cNvPicPr>
          <p:nvPr>
            <p:ph sz="quarter" idx="13"/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23677" y="1341120"/>
            <a:ext cx="7683896" cy="4852988"/>
          </a:xfrm>
          <a:prstGeom prst="rect">
            <a:avLst/>
          </a:prstGeom>
        </p:spPr>
      </p:pic>
      <p:sp>
        <p:nvSpPr>
          <p:cNvPr id="1048839" name="内容占位符 6"/>
          <p:cNvSpPr/>
          <p:nvPr>
            <p:custDataLst>
              <p:tags r:id="rId2"/>
            </p:custDataLst>
          </p:nvPr>
        </p:nvSpPr>
        <p:spPr>
          <a:xfrm>
            <a:off x="8341360" y="1236980"/>
            <a:ext cx="3968750" cy="34093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60045" marR="0" indent="-360045" algn="l" defTabSz="3429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■"/>
              <a:defRPr sz="2400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1pPr>
            <a:lvl2pPr marL="557530" marR="0" indent="-21463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Pct val="75000"/>
              <a:buFont typeface="文泉驿微米黑" panose="020B0606030804020204" charset="-122"/>
              <a:buChar char="♦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2pPr>
            <a:lvl3pPr marL="8572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▶"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3pPr>
            <a:lvl4pPr marL="12001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●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4pPr>
            <a:lvl5pPr marL="15430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>
                <a:sym typeface="+mn-ea"/>
              </a:rPr>
              <a:t>Persistent Grid Startup</a:t>
            </a:r>
          </a:p>
          <a:p>
            <a:pPr lvl="1">
              <a:lnSpc>
                <a:spcPct val="120000"/>
              </a:lnSpc>
              <a:spcBef>
                <a:spcPts val="1200"/>
              </a:spcBef>
              <a:buClr>
                <a:srgbClr val="D9D9D9"/>
              </a:buClr>
              <a:buFont typeface="Wingdings" panose="05000000000000000000" charset="0"/>
              <a:buChar char=""/>
            </a:pPr>
            <a:r>
              <a:rPr lang="zh-CN" altLang="en-US">
                <a:sym typeface="+mn-ea"/>
              </a:rPr>
              <a:t>Decouple grid size from data volume</a:t>
            </a:r>
          </a:p>
          <a:p>
            <a:pPr lvl="1">
              <a:lnSpc>
                <a:spcPct val="120000"/>
              </a:lnSpc>
              <a:spcBef>
                <a:spcPts val="1200"/>
              </a:spcBef>
              <a:buClr>
                <a:srgbClr val="D9D9D9"/>
              </a:buClr>
              <a:buFont typeface="Wingdings" panose="05000000000000000000" charset="0"/>
              <a:buChar char=""/>
            </a:pPr>
            <a:r>
              <a:rPr lang="zh-CN" altLang="en-US">
                <a:sym typeface="+mn-ea"/>
              </a:rPr>
              <a:t>Each Block processes multiple rows of data serially through the Grid-Stride Loop.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</a:t>
            </a:r>
            <a:r>
              <a:t>ptimization </a:t>
            </a:r>
            <a:r>
              <a:rPr lang="en-US" altLang="zh-CN"/>
              <a:t>Behind</a:t>
            </a:r>
            <a:r>
              <a:t>: Continuous addressing</a:t>
            </a:r>
          </a:p>
        </p:txBody>
      </p:sp>
      <p:sp>
        <p:nvSpPr>
          <p:cNvPr id="1048842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7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1048844" name="内容占位符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/>
              <a:t>Interleaved addressing may cause bank conflicts.</a:t>
            </a:r>
          </a:p>
        </p:txBody>
      </p:sp>
      <p:pic>
        <p:nvPicPr>
          <p:cNvPr id="2097193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41680" y="1998980"/>
            <a:ext cx="6737985" cy="3708400"/>
          </a:xfrm>
          <a:prstGeom prst="rect">
            <a:avLst/>
          </a:prstGeom>
        </p:spPr>
      </p:pic>
      <p:pic>
        <p:nvPicPr>
          <p:cNvPr id="2097194" name="图片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rcRect t="-12" r="31029"/>
          <a:stretch>
            <a:fillRect/>
          </a:stretch>
        </p:blipFill>
        <p:spPr>
          <a:xfrm>
            <a:off x="8136890" y="1323975"/>
            <a:ext cx="2333625" cy="50323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O</a:t>
            </a:r>
            <a:r>
              <a:rPr>
                <a:sym typeface="+mn-ea"/>
              </a:rPr>
              <a:t>ptimization </a:t>
            </a:r>
            <a:r>
              <a:rPr lang="en-US" altLang="zh-CN">
                <a:sym typeface="+mn-ea"/>
              </a:rPr>
              <a:t>Behind</a:t>
            </a:r>
            <a:r>
              <a:t>: Continuous addressing</a:t>
            </a:r>
          </a:p>
        </p:txBody>
      </p:sp>
      <p:sp>
        <p:nvSpPr>
          <p:cNvPr id="104884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7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1048848" name="内容占位符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/>
              <a:t>Continuous addressing (where adjacent threads access contiguous data) maximizes memory bandwidth.</a:t>
            </a:r>
          </a:p>
        </p:txBody>
      </p:sp>
      <p:pic>
        <p:nvPicPr>
          <p:cNvPr id="2097195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41680" y="2172970"/>
            <a:ext cx="6321425" cy="3549015"/>
          </a:xfrm>
          <a:prstGeom prst="rect">
            <a:avLst/>
          </a:prstGeom>
        </p:spPr>
      </p:pic>
      <p:pic>
        <p:nvPicPr>
          <p:cNvPr id="2097196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219950" y="5067935"/>
            <a:ext cx="4279900" cy="553085"/>
          </a:xfrm>
          <a:prstGeom prst="rect">
            <a:avLst/>
          </a:prstGeom>
        </p:spPr>
      </p:pic>
      <p:sp>
        <p:nvSpPr>
          <p:cNvPr id="1048849" name="文本框 9"/>
          <p:cNvSpPr txBox="1"/>
          <p:nvPr/>
        </p:nvSpPr>
        <p:spPr>
          <a:xfrm>
            <a:off x="7219950" y="3613150"/>
            <a:ext cx="4397375" cy="1308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</a:rPr>
              <a:t>Compared to CUDA, Triton makes it much harder to write erroneous code by explicitly calling tl.arange().</a:t>
            </a:r>
            <a:endParaRPr lang="en-US" altLang="zh-CN" sz="220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微软雅黑" panose="020B0503020204020204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</a:rPr>
              <a:t>Continuous index was generated automatically</a:t>
            </a:r>
            <a:endParaRPr lang="zh-CN" altLang="en-US" sz="220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O</a:t>
            </a:r>
            <a:r>
              <a:rPr>
                <a:sym typeface="+mn-ea"/>
              </a:rPr>
              <a:t>ptimization </a:t>
            </a:r>
            <a:r>
              <a:rPr lang="en-US" altLang="zh-CN">
                <a:sym typeface="+mn-ea"/>
              </a:rPr>
              <a:t>Behind</a:t>
            </a:r>
            <a:r>
              <a:rPr lang="zh-CN" altLang="en-US"/>
              <a:t>: Algorithm Cascading</a:t>
            </a:r>
          </a:p>
        </p:txBody>
      </p:sp>
      <p:sp>
        <p:nvSpPr>
          <p:cNvPr id="104885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5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  <a:ea typeface="微软雅黑" panose="020B0503020204020204" charset="-122"/>
              </a:rPr>
              <a:t>2</a:t>
            </a:r>
            <a:r>
              <a:rPr lang="en-US" altLang="zh-CN">
                <a:solidFill>
                  <a:schemeClr val="bg1"/>
                </a:solidFill>
                <a:ea typeface="微软雅黑" panose="020B0503020204020204" charset="-122"/>
                <a:cs typeface="Arial" panose="020B0604020202020204" pitchFamily="34" charset="0"/>
              </a:rPr>
              <a:t>2</a:t>
            </a:r>
            <a:endParaRPr lang="zh-CN" altLang="en-US"/>
          </a:p>
        </p:txBody>
      </p:sp>
      <p:sp>
        <p:nvSpPr>
          <p:cNvPr id="1048853" name="内容占位符 6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A single thread processes multiple data sets, increasing the workload per thread, hiding latency, and reducing Block startup overhead.</a:t>
            </a:r>
          </a:p>
          <a:p>
            <a:pPr lvl="1"/>
            <a:r>
              <a:rPr lang="zh-CN" altLang="en-US"/>
              <a:t>If BLOCK_SIZE is significantly larger than the number of physical threads, the Triton compiler automatically executes a loop within each physical thread to process BLOCK_SIZE divided by the number of threads.</a:t>
            </a:r>
          </a:p>
          <a:p>
            <a:pPr lvl="0"/>
            <a:r>
              <a:rPr lang="zh-CN" altLang="en-US"/>
              <a:t>theoretical analysis</a:t>
            </a:r>
          </a:p>
          <a:p>
            <a:pPr lvl="1"/>
            <a:r>
              <a:rPr lang="zh-CN" altLang="en-US"/>
              <a:t>Simple solution: Allocate O(N) threads, with time complexity O(log N) and total cost O(N log N).</a:t>
            </a:r>
          </a:p>
          <a:p>
            <a:pPr lvl="1"/>
            <a:r>
              <a:rPr lang="zh-CN" altLang="en-US"/>
              <a:t>Brent theorem optimization: Using O(N/log N) threads, each thread processes O(log N) elements serially, then all threads collaborate to perform O(log N) parallel reduction steps</a:t>
            </a:r>
          </a:p>
          <a:p>
            <a:pPr lvl="1"/>
            <a:r>
              <a:rPr lang="zh-CN" altLang="en-US"/>
              <a:t>Total cost = O(N/log N) × O(log N) = O(N) → Cost-efficient</a:t>
            </a:r>
          </a:p>
          <a:p>
            <a:pPr lvl="0"/>
            <a:endParaRPr lang="zh-CN" altLang="en-US"/>
          </a:p>
          <a:p>
            <a:pPr lvl="1"/>
            <a:endParaRPr lang="zh-CN" altLang="en-US"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Performance Comparison</a:t>
            </a:r>
          </a:p>
        </p:txBody>
      </p:sp>
      <p:sp>
        <p:nvSpPr>
          <p:cNvPr id="104885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7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24</a:t>
            </a:fld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97197" name="图片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12775" y="2479040"/>
            <a:ext cx="4352925" cy="3168015"/>
          </a:xfrm>
          <a:prstGeom prst="rect">
            <a:avLst/>
          </a:prstGeom>
        </p:spPr>
      </p:pic>
      <p:pic>
        <p:nvPicPr>
          <p:cNvPr id="2097198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150485" y="1375410"/>
            <a:ext cx="6461125" cy="42716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References</a:t>
            </a:r>
            <a:endParaRPr lang="x-none"/>
          </a:p>
        </p:txBody>
      </p:sp>
      <p:sp>
        <p:nvSpPr>
          <p:cNvPr id="104886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7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  <a:ea typeface="微软雅黑" panose="020B0503020204020204" charset="-122"/>
              </a:rPr>
              <a:t>2</a:t>
            </a:r>
            <a:r>
              <a:rPr lang="en-US" altLang="zh-CN">
                <a:solidFill>
                  <a:schemeClr val="bg1"/>
                </a:solidFill>
                <a:ea typeface="微软雅黑" panose="020B0503020204020204" charset="-122"/>
                <a:cs typeface="Arial" panose="020B0604020202020204" pitchFamily="34" charset="0"/>
              </a:rPr>
              <a:t>4</a:t>
            </a:r>
            <a:endParaRPr lang="zh-CN" altLang="en-US"/>
          </a:p>
        </p:txBody>
      </p:sp>
      <p:sp>
        <p:nvSpPr>
          <p:cNvPr id="1048862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/>
              <a:t>https://docs.flagos.io</a:t>
            </a:r>
            <a:endParaRPr lang="zh-CN" altLang="en-US"/>
          </a:p>
          <a:p>
            <a:r>
              <a:rPr lang="zh-CN" altLang="en-US"/>
              <a:t>https://developer.download.nvidia.com/assets/cuda/files/reduction.pdf</a:t>
            </a:r>
          </a:p>
          <a:p>
            <a:r>
              <a:rPr lang="zh-CN" altLang="en-US"/>
              <a:t>https://www.bu.edu/pasi/files/2011/07/Lecture31.pdf</a:t>
            </a:r>
          </a:p>
          <a:p>
            <a:r>
              <a:rPr lang="zh-CN" altLang="en-US"/>
              <a:t>http://fleetwood.dev/posts/layernorm-as-fast-as-possible</a:t>
            </a:r>
          </a:p>
          <a:p>
            <a:r>
              <a:rPr lang="zh-CN" altLang="en-US"/>
              <a:t>https://gfxcourses.stanford.edu/cs149/fall25</a:t>
            </a:r>
          </a:p>
          <a:p>
            <a:r>
              <a:rPr lang="zh-CN" altLang="en-US"/>
              <a:t>https://triton-lang.org/main/getting-started/tutorials/</a:t>
            </a: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1383</Words>
  <Application>Microsoft Office PowerPoint</Application>
  <PresentationFormat>宽屏</PresentationFormat>
  <Paragraphs>142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0" baseType="lpstr">
      <vt:lpstr>Wingdings</vt:lpstr>
      <vt:lpstr>Calibri Light</vt:lpstr>
      <vt:lpstr>Ebrima</vt:lpstr>
      <vt:lpstr>微软雅黑</vt:lpstr>
      <vt:lpstr>文泉驿微米黑</vt:lpstr>
      <vt:lpstr>Montserrat SemiBold</vt:lpstr>
      <vt:lpstr>等线</vt:lpstr>
      <vt:lpstr>Calibri</vt:lpstr>
      <vt:lpstr>Arial</vt:lpstr>
      <vt:lpstr>Wingdings 3</vt:lpstr>
      <vt:lpstr>Garamond</vt:lpstr>
      <vt:lpstr>母版</vt:lpstr>
      <vt:lpstr>Hardware and Software Fundamentals of  Intelligent Computing  Systems</vt:lpstr>
      <vt:lpstr>Lecture 15: Operator Fusion</vt:lpstr>
      <vt:lpstr>PowerPoint 演示文稿</vt:lpstr>
      <vt:lpstr>From Compute Graph to Execution: Lifecycle of Operators</vt:lpstr>
      <vt:lpstr>From Compute Graph to Execution: Lifecycle of Operators</vt:lpstr>
      <vt:lpstr>Kernel Launch Optimization: CUDA Graph</vt:lpstr>
      <vt:lpstr>Data transfer between operators</vt:lpstr>
      <vt:lpstr>Computation Graph Global Optimization: Operator Fusion</vt:lpstr>
      <vt:lpstr>Advantages of Operator Fusion</vt:lpstr>
      <vt:lpstr>Problems of Operator Fusion</vt:lpstr>
      <vt:lpstr>A Negative Example: The Greedy Merging of XLA</vt:lpstr>
      <vt:lpstr>A negative example: Fused Adam</vt:lpstr>
      <vt:lpstr>PowerPoint 演示文稿</vt:lpstr>
      <vt:lpstr>Example: Softmax</vt:lpstr>
      <vt:lpstr>Example: Softmax</vt:lpstr>
      <vt:lpstr>Softmax_kernel</vt:lpstr>
      <vt:lpstr>Softmax_kernel</vt:lpstr>
      <vt:lpstr>SoftMax  Host</vt:lpstr>
      <vt:lpstr>SoftMax  Host</vt:lpstr>
      <vt:lpstr>SoftMax  Host</vt:lpstr>
      <vt:lpstr>Optimization Behind: Continuous addressing</vt:lpstr>
      <vt:lpstr>Optimization Behind: Continuous addressing</vt:lpstr>
      <vt:lpstr>Optimization Behind: Algorithm Cascading</vt:lpstr>
      <vt:lpstr>Performance Comparison</vt:lpstr>
      <vt:lpstr>References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15: Operator Fusion</dc:title>
  <dc:creator>王丰</dc:creator>
  <cp:lastModifiedBy>Xiang Li</cp:lastModifiedBy>
  <cp:revision>4</cp:revision>
  <dcterms:created xsi:type="dcterms:W3CDTF">2026-03-10T08:53:00Z</dcterms:created>
  <dcterms:modified xsi:type="dcterms:W3CDTF">2026-03-17T14:53:59Z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6576f554ed6648558371c67847fd38a9_23</vt:lpwstr>
  </property>
  <property fmtid="{D5CDD505-2E9C-101B-9397-08002B2CF9AE}" pid="3" name="KSOProductBuildVer">
    <vt:lpwstr>2052-12.1.0.19302</vt:lpwstr>
  </property>
</Properties>
</file>